
<file path=[Content_Types].xml><?xml version="1.0" encoding="utf-8"?>
<Types xmlns="http://schemas.openxmlformats.org/package/2006/content-types">
  <Default Extension="bin" ContentType="application/vnd.openxmlformats-officedocument.presentationml.printerSettings"/>
  <Default Extension="jpeg" ContentType="image/jpeg"/>
  <Default Extension="jp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ppt/charts/chart1.xml" ContentType="application/vnd.openxmlformats-officedocument.drawingml.chart+xml"/>
  <Override PartName="/ppt/charts/chart10.xml" ContentType="application/vnd.openxmlformats-officedocument.drawingml.chart+xml"/>
  <Override PartName="/ppt/charts/chart100.xml" ContentType="application/vnd.openxmlformats-officedocument.drawingml.chart+xml"/>
  <Override PartName="/ppt/charts/chart101.xml" ContentType="application/vnd.openxmlformats-officedocument.drawingml.chart+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charts/chart149.xml" ContentType="application/vnd.openxmlformats-officedocument.drawingml.chart+xml"/>
  <Override PartName="/ppt/charts/chart15.xml" ContentType="application/vnd.openxmlformats-officedocument.drawingml.chart+xml"/>
  <Override PartName="/ppt/charts/chart150.xml" ContentType="application/vnd.openxmlformats-officedocument.drawingml.chart+xml"/>
  <Override PartName="/ppt/charts/chart151.xml" ContentType="application/vnd.openxmlformats-officedocument.drawingml.chart+xml"/>
  <Override PartName="/ppt/charts/chart152.xml" ContentType="application/vnd.openxmlformats-officedocument.drawingml.chart+xml"/>
  <Override PartName="/ppt/charts/chart153.xml" ContentType="application/vnd.openxmlformats-officedocument.drawingml.chart+xml"/>
  <Override PartName="/ppt/charts/chart154.xml" ContentType="application/vnd.openxmlformats-officedocument.drawingml.chart+xml"/>
  <Override PartName="/ppt/charts/chart155.xml" ContentType="application/vnd.openxmlformats-officedocument.drawingml.chart+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xml" ContentType="application/vnd.openxmlformats-officedocument.drawingml.chart+xml"/>
  <Override PartName="/ppt/charts/chart20.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charts/chart217.xml" ContentType="application/vnd.openxmlformats-officedocument.drawingml.chart+xml"/>
  <Override PartName="/ppt/charts/chart218.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chart9.xml" ContentType="application/vnd.openxmlformats-officedocument.drawingml.chart+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xml" ContentType="application/vnd.openxmlformats-officedocument.presentationml.notesSlide+xml"/>
  <Override PartName="/ppt/notesSlides/notesSlide170.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9.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3.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3.xml" ContentType="application/vnd.openxmlformats-officedocument.presentationml.notesSlide+xml"/>
  <Override PartName="/ppt/notesSlides/notesSlide235.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4.xml" ContentType="application/vnd.openxmlformats-officedocument.presentationml.notesSlide+xml"/>
  <Override PartName="/ppt/notesSlides/notesSlide240.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xml" ContentType="application/vnd.openxmlformats-officedocument.presentationml.notesSlide+xml"/>
  <Override PartName="/ppt/notesSlides/notesSlide250.xml" ContentType="application/vnd.openxmlformats-officedocument.presentationml.notesSlide+xml"/>
  <Override PartName="/ppt/notesSlides/notesSlide255.xml" ContentType="application/vnd.openxmlformats-officedocument.presentationml.notesSlide+xml"/>
  <Override PartName="/ppt/notesSlides/notesSlide257.xml" ContentType="application/vnd.openxmlformats-officedocument.presentationml.notesSlide+xml"/>
  <Override PartName="/ppt/notesSlides/notesSlide259.xml" ContentType="application/vnd.openxmlformats-officedocument.presentationml.notesSlide+xml"/>
  <Override PartName="/ppt/notesSlides/notesSlide26.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4.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9.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7"/>
    <p:sldId id="257" r:id="rId8"/>
    <p:sldId id="258" r:id="rId9"/>
    <p:sldId id="259" r:id="rId10"/>
    <p:sldId id="260" r:id="rId12"/>
    <p:sldId id="261" r:id="rId13"/>
    <p:sldId id="262" r:id="rId14"/>
    <p:sldId id="263" r:id="rId15"/>
    <p:sldId id="264" r:id="rId16"/>
    <p:sldId id="265" r:id="rId17"/>
    <p:sldId id="630" r:id="rId382"/>
    <p:sldId id="622" r:id="rId374"/>
    <p:sldId id="623" r:id="rId375"/>
    <p:sldId id="624" r:id="rId376"/>
    <p:sldId id="625" r:id="rId377"/>
    <p:sldId id="626" r:id="rId378"/>
    <p:sldId id="627" r:id="rId379"/>
    <p:sldId id="628" r:id="rId380"/>
    <p:sldId id="629" r:id="rId381"/>
    <p:sldId id="639" r:id="rId391"/>
    <p:sldId id="631" r:id="rId383"/>
    <p:sldId id="632" r:id="rId384"/>
    <p:sldId id="633" r:id="rId385"/>
    <p:sldId id="634" r:id="rId386"/>
    <p:sldId id="635" r:id="rId387"/>
    <p:sldId id="636" r:id="rId388"/>
    <p:sldId id="637" r:id="rId389"/>
    <p:sldId id="638" r:id="rId390"/>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2" r:id="rId44"/>
    <p:sldId id="293" r:id="rId45"/>
    <p:sldId id="296" r:id="rId48"/>
    <p:sldId id="297" r:id="rId49"/>
    <p:sldId id="298" r:id="rId50"/>
    <p:sldId id="299" r:id="rId51"/>
    <p:sldId id="301" r:id="rId53"/>
    <p:sldId id="302" r:id="rId54"/>
    <p:sldId id="305" r:id="rId57"/>
    <p:sldId id="306" r:id="rId58"/>
    <p:sldId id="307" r:id="rId59"/>
    <p:sldId id="308" r:id="rId60"/>
    <p:sldId id="309" r:id="rId61"/>
    <p:sldId id="311" r:id="rId63"/>
    <p:sldId id="312" r:id="rId64"/>
    <p:sldId id="315" r:id="rId67"/>
    <p:sldId id="316" r:id="rId68"/>
    <p:sldId id="317" r:id="rId69"/>
    <p:sldId id="318" r:id="rId70"/>
    <p:sldId id="319" r:id="rId71"/>
    <p:sldId id="321" r:id="rId73"/>
    <p:sldId id="322" r:id="rId74"/>
    <p:sldId id="325" r:id="rId77"/>
    <p:sldId id="326" r:id="rId78"/>
    <p:sldId id="327" r:id="rId79"/>
    <p:sldId id="328" r:id="rId80"/>
    <p:sldId id="329" r:id="rId81"/>
    <p:sldId id="330" r:id="rId82"/>
    <p:sldId id="331" r:id="rId83"/>
    <p:sldId id="333" r:id="rId85"/>
    <p:sldId id="334" r:id="rId86"/>
    <p:sldId id="337" r:id="rId89"/>
    <p:sldId id="338" r:id="rId90"/>
    <p:sldId id="339" r:id="rId91"/>
    <p:sldId id="340" r:id="rId92"/>
    <p:sldId id="341" r:id="rId93"/>
    <p:sldId id="343" r:id="rId95"/>
    <p:sldId id="344" r:id="rId96"/>
    <p:sldId id="347" r:id="rId99"/>
    <p:sldId id="348" r:id="rId100"/>
    <p:sldId id="349" r:id="rId101"/>
    <p:sldId id="350" r:id="rId102"/>
    <p:sldId id="351" r:id="rId103"/>
    <p:sldId id="355" r:id="rId107"/>
    <p:sldId id="356" r:id="rId108"/>
    <p:sldId id="357" r:id="rId109"/>
    <p:sldId id="362" r:id="rId114"/>
    <p:sldId id="363" r:id="rId115"/>
    <p:sldId id="364" r:id="rId116"/>
    <p:sldId id="365" r:id="rId117"/>
    <p:sldId id="366" r:id="rId118"/>
    <p:sldId id="368" r:id="rId120"/>
    <p:sldId id="369" r:id="rId121"/>
    <p:sldId id="372" r:id="rId124"/>
    <p:sldId id="373" r:id="rId125"/>
    <p:sldId id="374" r:id="rId126"/>
    <p:sldId id="375" r:id="rId127"/>
    <p:sldId id="376" r:id="rId128"/>
    <p:sldId id="377" r:id="rId129"/>
    <p:sldId id="378" r:id="rId130"/>
    <p:sldId id="379" r:id="rId131"/>
    <p:sldId id="380" r:id="rId132"/>
    <p:sldId id="381" r:id="rId133"/>
    <p:sldId id="382" r:id="rId134"/>
    <p:sldId id="383" r:id="rId135"/>
    <p:sldId id="384" r:id="rId136"/>
    <p:sldId id="385" r:id="rId137"/>
    <p:sldId id="386" r:id="rId138"/>
    <p:sldId id="387" r:id="rId139"/>
    <p:sldId id="388" r:id="rId140"/>
    <p:sldId id="389" r:id="rId141"/>
    <p:sldId id="390" r:id="rId142"/>
    <p:sldId id="391" r:id="rId143"/>
    <p:sldId id="392" r:id="rId144"/>
    <p:sldId id="393" r:id="rId145"/>
    <p:sldId id="394" r:id="rId146"/>
    <p:sldId id="395" r:id="rId147"/>
    <p:sldId id="396" r:id="rId148"/>
    <p:sldId id="397" r:id="rId149"/>
    <p:sldId id="398" r:id="rId150"/>
    <p:sldId id="399" r:id="rId151"/>
    <p:sldId id="400" r:id="rId152"/>
    <p:sldId id="401" r:id="rId153"/>
    <p:sldId id="402" r:id="rId154"/>
    <p:sldId id="403" r:id="rId155"/>
    <p:sldId id="404" r:id="rId156"/>
    <p:sldId id="405" r:id="rId157"/>
    <p:sldId id="406" r:id="rId158"/>
    <p:sldId id="407" r:id="rId159"/>
    <p:sldId id="408" r:id="rId160"/>
    <p:sldId id="409" r:id="rId161"/>
    <p:sldId id="410" r:id="rId162"/>
    <p:sldId id="411" r:id="rId163"/>
    <p:sldId id="413" r:id="rId165"/>
    <p:sldId id="414" r:id="rId166"/>
    <p:sldId id="417" r:id="rId169"/>
    <p:sldId id="418" r:id="rId170"/>
    <p:sldId id="419" r:id="rId171"/>
    <p:sldId id="420" r:id="rId172"/>
    <p:sldId id="422" r:id="rId174"/>
    <p:sldId id="423" r:id="rId175"/>
    <p:sldId id="426" r:id="rId178"/>
    <p:sldId id="427" r:id="rId179"/>
    <p:sldId id="428" r:id="rId180"/>
    <p:sldId id="429" r:id="rId181"/>
    <p:sldId id="430" r:id="rId182"/>
    <p:sldId id="432" r:id="rId184"/>
    <p:sldId id="433" r:id="rId185"/>
    <p:sldId id="436" r:id="rId188"/>
    <p:sldId id="437" r:id="rId189"/>
    <p:sldId id="438" r:id="rId190"/>
    <p:sldId id="439" r:id="rId191"/>
    <p:sldId id="440" r:id="rId192"/>
    <p:sldId id="442" r:id="rId194"/>
    <p:sldId id="443" r:id="rId195"/>
    <p:sldId id="446" r:id="rId198"/>
    <p:sldId id="447" r:id="rId199"/>
    <p:sldId id="448" r:id="rId200"/>
    <p:sldId id="449" r:id="rId201"/>
    <p:sldId id="450" r:id="rId202"/>
    <p:sldId id="451" r:id="rId203"/>
    <p:sldId id="452" r:id="rId204"/>
    <p:sldId id="454" r:id="rId206"/>
    <p:sldId id="455" r:id="rId207"/>
    <p:sldId id="458" r:id="rId210"/>
    <p:sldId id="459" r:id="rId211"/>
    <p:sldId id="460" r:id="rId212"/>
    <p:sldId id="461" r:id="rId213"/>
    <p:sldId id="462" r:id="rId214"/>
    <p:sldId id="464" r:id="rId216"/>
    <p:sldId id="465" r:id="rId217"/>
    <p:sldId id="468" r:id="rId220"/>
    <p:sldId id="469" r:id="rId221"/>
    <p:sldId id="470" r:id="rId222"/>
    <p:sldId id="471" r:id="rId223"/>
    <p:sldId id="472" r:id="rId224"/>
    <p:sldId id="475" r:id="rId227"/>
    <p:sldId id="476" r:id="rId228"/>
    <p:sldId id="477" r:id="rId229"/>
    <p:sldId id="482" r:id="rId234"/>
    <p:sldId id="483" r:id="rId235"/>
    <p:sldId id="484" r:id="rId236"/>
    <p:sldId id="485" r:id="rId237"/>
    <p:sldId id="486" r:id="rId238"/>
    <p:sldId id="488" r:id="rId240"/>
    <p:sldId id="489" r:id="rId241"/>
    <p:sldId id="492" r:id="rId244"/>
    <p:sldId id="493" r:id="rId245"/>
    <p:sldId id="494" r:id="rId246"/>
    <p:sldId id="495" r:id="rId247"/>
    <p:sldId id="496" r:id="rId248"/>
    <p:sldId id="497" r:id="rId249"/>
    <p:sldId id="498" r:id="rId250"/>
    <p:sldId id="499" r:id="rId251"/>
    <p:sldId id="500" r:id="rId252"/>
    <p:sldId id="501" r:id="rId253"/>
    <p:sldId id="502" r:id="rId254"/>
    <p:sldId id="503" r:id="rId255"/>
    <p:sldId id="504" r:id="rId256"/>
    <p:sldId id="505" r:id="rId257"/>
    <p:sldId id="506" r:id="rId258"/>
    <p:sldId id="507" r:id="rId259"/>
    <p:sldId id="508" r:id="rId260"/>
    <p:sldId id="509" r:id="rId261"/>
    <p:sldId id="510" r:id="rId262"/>
    <p:sldId id="511" r:id="rId263"/>
    <p:sldId id="512" r:id="rId264"/>
    <p:sldId id="513" r:id="rId265"/>
    <p:sldId id="514" r:id="rId266"/>
    <p:sldId id="515" r:id="rId267"/>
    <p:sldId id="516" r:id="rId268"/>
    <p:sldId id="517" r:id="rId269"/>
    <p:sldId id="519" r:id="rId271"/>
    <p:sldId id="520" r:id="rId272"/>
    <p:sldId id="521" r:id="rId273"/>
    <p:sldId id="523" r:id="rId275"/>
    <p:sldId id="524" r:id="rId276"/>
    <p:sldId id="525" r:id="rId277"/>
    <p:sldId id="527" r:id="rId279"/>
    <p:sldId id="528" r:id="rId280"/>
    <p:sldId id="530" r:id="rId282"/>
    <p:sldId id="532" r:id="rId284"/>
    <p:sldId id="533" r:id="rId285"/>
    <p:sldId id="534" r:id="rId286"/>
    <p:sldId id="536" r:id="rId288"/>
    <p:sldId id="539" r:id="rId291"/>
    <p:sldId id="540" r:id="rId292"/>
    <p:sldId id="541" r:id="rId293"/>
    <p:sldId id="543" r:id="rId295"/>
    <p:sldId id="544" r:id="rId296"/>
    <p:sldId id="545" r:id="rId297"/>
    <p:sldId id="546" r:id="rId298"/>
    <p:sldId id="547" r:id="rId299"/>
    <p:sldId id="548" r:id="rId300"/>
    <p:sldId id="553" r:id="rId305"/>
    <p:sldId id="554" r:id="rId306"/>
    <p:sldId id="556" r:id="rId308"/>
    <p:sldId id="558" r:id="rId310"/>
    <p:sldId id="559" r:id="rId311"/>
    <p:sldId id="560" r:id="rId312"/>
    <p:sldId id="561" r:id="rId313"/>
    <p:sldId id="562" r:id="rId314"/>
    <p:sldId id="563" r:id="rId315"/>
    <p:sldId id="564" r:id="rId316"/>
    <p:sldId id="565" r:id="rId317"/>
    <p:sldId id="566" r:id="rId318"/>
    <p:sldId id="567" r:id="rId319"/>
    <p:sldId id="568" r:id="rId320"/>
    <p:sldId id="569" r:id="rId321"/>
    <p:sldId id="570" r:id="rId322"/>
    <p:sldId id="571" r:id="rId323"/>
    <p:sldId id="572" r:id="rId324"/>
    <p:sldId id="573" r:id="rId325"/>
    <p:sldId id="574" r:id="rId326"/>
    <p:sldId id="575" r:id="rId327"/>
    <p:sldId id="576" r:id="rId328"/>
    <p:sldId id="577" r:id="rId329"/>
    <p:sldId id="578" r:id="rId330"/>
    <p:sldId id="579" r:id="rId331"/>
    <p:sldId id="580" r:id="rId332"/>
    <p:sldId id="581" r:id="rId333"/>
    <p:sldId id="582" r:id="rId334"/>
    <p:sldId id="583" r:id="rId335"/>
    <p:sldId id="584" r:id="rId336"/>
    <p:sldId id="585" r:id="rId337"/>
    <p:sldId id="600" r:id="rId352"/>
    <p:sldId id="601" r:id="rId353"/>
    <p:sldId id="602" r:id="rId354"/>
    <p:sldId id="603" r:id="rId355"/>
    <p:sldId id="604" r:id="rId356"/>
    <p:sldId id="605" r:id="rId357"/>
    <p:sldId id="606" r:id="rId358"/>
    <p:sldId id="607" r:id="rId359"/>
    <p:sldId id="608" r:id="rId360"/>
    <p:sldId id="609" r:id="rId361"/>
    <p:sldId id="610" r:id="rId362"/>
    <p:sldId id="611" r:id="rId363"/>
    <p:sldId id="586" r:id="rId338"/>
    <p:sldId id="587" r:id="rId339"/>
    <p:sldId id="588" r:id="rId340"/>
    <p:sldId id="589" r:id="rId341"/>
    <p:sldId id="590" r:id="rId342"/>
    <p:sldId id="591" r:id="rId343"/>
    <p:sldId id="592" r:id="rId344"/>
    <p:sldId id="593" r:id="rId345"/>
    <p:sldId id="594" r:id="rId346"/>
    <p:sldId id="595" r:id="rId347"/>
    <p:sldId id="596" r:id="rId348"/>
    <p:sldId id="597" r:id="rId349"/>
    <p:sldId id="598" r:id="rId350"/>
    <p:sldId id="599" r:id="rId351"/>
    <p:sldId id="640" r:id="rId309"/>
  </p:sldIdLst>
  <p:sldSz cx="12192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snapToObjects="1">
      <p:cViewPr varScale="1">
        <p:scale>
          <a:sx n="124" d="100"/>
          <a:sy n="124" d="100"/>
        </p:scale>
        <p:origin x="-1512" y="-112"/>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printerSettings" Target="printerSettings/printerSettings1.bin"/><Relationship Id="rId3" Type="http://schemas.openxmlformats.org/officeDocument/2006/relationships/presProps" Target="presProps.xml"/><Relationship Id="rId4" Type="http://schemas.openxmlformats.org/officeDocument/2006/relationships/viewProps" Target="viewProps.xml"/><Relationship Id="rId5" Type="http://schemas.openxmlformats.org/officeDocument/2006/relationships/theme" Target="theme/theme1.xml"/><Relationship Id="rId6" Type="http://schemas.openxmlformats.org/officeDocument/2006/relationships/tableStyles" Target="tableStyles.xml"/><Relationship Id="rId7" Type="http://schemas.openxmlformats.org/officeDocument/2006/relationships/slide" Target="slides/slide1.xml"/><Relationship Id="rId8" Type="http://schemas.openxmlformats.org/officeDocument/2006/relationships/slide" Target="slides/slide2.xml"/><Relationship Id="rId9" Type="http://schemas.openxmlformats.org/officeDocument/2006/relationships/slide" Target="slides/slide3.xml"/><Relationship Id="rId10" Type="http://schemas.openxmlformats.org/officeDocument/2006/relationships/slide" Target="slides/slide4.xml"/><Relationship Id="rId11" Type="http://schemas.openxmlformats.org/officeDocument/2006/relationships/notesMaster" Target="notesMasters/notesMaster1.xml"/><Relationship Id="rId12" Type="http://schemas.openxmlformats.org/officeDocument/2006/relationships/slide" Target="slides/slide5.xml"/><Relationship Id="rId13" Type="http://schemas.openxmlformats.org/officeDocument/2006/relationships/slide" Target="slides/slide6.xml"/><Relationship Id="rId14" Type="http://schemas.openxmlformats.org/officeDocument/2006/relationships/slide" Target="slides/slide7.xml"/><Relationship Id="rId15" Type="http://schemas.openxmlformats.org/officeDocument/2006/relationships/slide" Target="slides/slide8.xml"/><Relationship Id="rId16" Type="http://schemas.openxmlformats.org/officeDocument/2006/relationships/slide" Target="slides/slide9.xml"/><Relationship Id="rId17" Type="http://schemas.openxmlformats.org/officeDocument/2006/relationships/slide" Target="slides/slide10.xml"/><Relationship Id="rId18" Type="http://schemas.openxmlformats.org/officeDocument/2006/relationships/slide" Target="slides/slide29.xml"/><Relationship Id="rId19" Type="http://schemas.openxmlformats.org/officeDocument/2006/relationships/slide" Target="slides/slide30.xml"/><Relationship Id="rId20" Type="http://schemas.openxmlformats.org/officeDocument/2006/relationships/slide" Target="slides/slide31.xml"/><Relationship Id="rId21" Type="http://schemas.openxmlformats.org/officeDocument/2006/relationships/slide" Target="slides/slide32.xml"/><Relationship Id="rId22" Type="http://schemas.openxmlformats.org/officeDocument/2006/relationships/slide" Target="slides/slide33.xml"/><Relationship Id="rId23" Type="http://schemas.openxmlformats.org/officeDocument/2006/relationships/slide" Target="slides/slide34.xml"/><Relationship Id="rId24" Type="http://schemas.openxmlformats.org/officeDocument/2006/relationships/slide" Target="slides/slide35.xml"/><Relationship Id="rId25" Type="http://schemas.openxmlformats.org/officeDocument/2006/relationships/slide" Target="slides/slide36.xml"/><Relationship Id="rId26" Type="http://schemas.openxmlformats.org/officeDocument/2006/relationships/slide" Target="slides/slide37.xml"/><Relationship Id="rId27" Type="http://schemas.openxmlformats.org/officeDocument/2006/relationships/slide" Target="slides/slide38.xml"/><Relationship Id="rId28" Type="http://schemas.openxmlformats.org/officeDocument/2006/relationships/slide" Target="slides/slide39.xml"/><Relationship Id="rId29" Type="http://schemas.openxmlformats.org/officeDocument/2006/relationships/slide" Target="slides/slide40.xml"/><Relationship Id="rId30" Type="http://schemas.openxmlformats.org/officeDocument/2006/relationships/slide" Target="slides/slide41.xml"/><Relationship Id="rId31" Type="http://schemas.openxmlformats.org/officeDocument/2006/relationships/slide" Target="slides/slide42.xml"/><Relationship Id="rId32" Type="http://schemas.openxmlformats.org/officeDocument/2006/relationships/slide" Target="slides/slide43.xml"/><Relationship Id="rId33" Type="http://schemas.openxmlformats.org/officeDocument/2006/relationships/slide" Target="slides/slide44.xml"/><Relationship Id="rId34" Type="http://schemas.openxmlformats.org/officeDocument/2006/relationships/slide" Target="slides/slide45.xml"/><Relationship Id="rId35" Type="http://schemas.openxmlformats.org/officeDocument/2006/relationships/slide" Target="slides/slide46.xml"/><Relationship Id="rId36" Type="http://schemas.openxmlformats.org/officeDocument/2006/relationships/slide" Target="slides/slide47.xml"/><Relationship Id="rId37" Type="http://schemas.openxmlformats.org/officeDocument/2006/relationships/slide" Target="slides/slide48.xml"/><Relationship Id="rId38" Type="http://schemas.openxmlformats.org/officeDocument/2006/relationships/slide" Target="slides/slide49.xml"/><Relationship Id="rId39" Type="http://schemas.openxmlformats.org/officeDocument/2006/relationships/slide" Target="slides/slide50.xml"/><Relationship Id="rId40" Type="http://schemas.openxmlformats.org/officeDocument/2006/relationships/slide" Target="slides/slide51.xml"/><Relationship Id="rId41" Type="http://schemas.openxmlformats.org/officeDocument/2006/relationships/slide" Target="slides/slide52.xml"/><Relationship Id="rId42" Type="http://schemas.openxmlformats.org/officeDocument/2006/relationships/slide" Target="slides/slide53.xml"/><Relationship Id="rId44" Type="http://schemas.openxmlformats.org/officeDocument/2006/relationships/slide" Target="slides/slide54.xml"/><Relationship Id="rId45" Type="http://schemas.openxmlformats.org/officeDocument/2006/relationships/slide" Target="slides/slide55.xml"/><Relationship Id="rId48" Type="http://schemas.openxmlformats.org/officeDocument/2006/relationships/slide" Target="slides/slide56.xml"/><Relationship Id="rId49" Type="http://schemas.openxmlformats.org/officeDocument/2006/relationships/slide" Target="slides/slide57.xml"/><Relationship Id="rId50" Type="http://schemas.openxmlformats.org/officeDocument/2006/relationships/slide" Target="slides/slide58.xml"/><Relationship Id="rId51" Type="http://schemas.openxmlformats.org/officeDocument/2006/relationships/slide" Target="slides/slide59.xml"/><Relationship Id="rId53" Type="http://schemas.openxmlformats.org/officeDocument/2006/relationships/slide" Target="slides/slide60.xml"/><Relationship Id="rId54" Type="http://schemas.openxmlformats.org/officeDocument/2006/relationships/slide" Target="slides/slide61.xml"/><Relationship Id="rId57" Type="http://schemas.openxmlformats.org/officeDocument/2006/relationships/slide" Target="slides/slide62.xml"/><Relationship Id="rId58" Type="http://schemas.openxmlformats.org/officeDocument/2006/relationships/slide" Target="slides/slide63.xml"/><Relationship Id="rId59" Type="http://schemas.openxmlformats.org/officeDocument/2006/relationships/slide" Target="slides/slide64.xml"/><Relationship Id="rId60" Type="http://schemas.openxmlformats.org/officeDocument/2006/relationships/slide" Target="slides/slide65.xml"/><Relationship Id="rId61" Type="http://schemas.openxmlformats.org/officeDocument/2006/relationships/slide" Target="slides/slide66.xml"/><Relationship Id="rId63" Type="http://schemas.openxmlformats.org/officeDocument/2006/relationships/slide" Target="slides/slide67.xml"/><Relationship Id="rId64" Type="http://schemas.openxmlformats.org/officeDocument/2006/relationships/slide" Target="slides/slide68.xml"/><Relationship Id="rId67" Type="http://schemas.openxmlformats.org/officeDocument/2006/relationships/slide" Target="slides/slide69.xml"/><Relationship Id="rId68" Type="http://schemas.openxmlformats.org/officeDocument/2006/relationships/slide" Target="slides/slide70.xml"/><Relationship Id="rId69" Type="http://schemas.openxmlformats.org/officeDocument/2006/relationships/slide" Target="slides/slide71.xml"/><Relationship Id="rId70" Type="http://schemas.openxmlformats.org/officeDocument/2006/relationships/slide" Target="slides/slide72.xml"/><Relationship Id="rId71" Type="http://schemas.openxmlformats.org/officeDocument/2006/relationships/slide" Target="slides/slide73.xml"/><Relationship Id="rId73" Type="http://schemas.openxmlformats.org/officeDocument/2006/relationships/slide" Target="slides/slide74.xml"/><Relationship Id="rId74"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5" Type="http://schemas.openxmlformats.org/officeDocument/2006/relationships/slide" Target="slides/slide83.xml"/><Relationship Id="rId86" Type="http://schemas.openxmlformats.org/officeDocument/2006/relationships/slide" Target="slides/slide84.xml"/><Relationship Id="rId89" Type="http://schemas.openxmlformats.org/officeDocument/2006/relationships/slide" Target="slides/slide85.xml"/><Relationship Id="rId90" Type="http://schemas.openxmlformats.org/officeDocument/2006/relationships/slide" Target="slides/slide86.xml"/><Relationship Id="rId91" Type="http://schemas.openxmlformats.org/officeDocument/2006/relationships/slide" Target="slides/slide87.xml"/><Relationship Id="rId92" Type="http://schemas.openxmlformats.org/officeDocument/2006/relationships/slide" Target="slides/slide88.xml"/><Relationship Id="rId93" Type="http://schemas.openxmlformats.org/officeDocument/2006/relationships/slide" Target="slides/slide89.xml"/><Relationship Id="rId95" Type="http://schemas.openxmlformats.org/officeDocument/2006/relationships/slide" Target="slides/slide90.xml"/><Relationship Id="rId96" Type="http://schemas.openxmlformats.org/officeDocument/2006/relationships/slide" Target="slides/slide91.xml"/><Relationship Id="rId99" Type="http://schemas.openxmlformats.org/officeDocument/2006/relationships/slide" Target="slides/slide92.xml"/><Relationship Id="rId100" Type="http://schemas.openxmlformats.org/officeDocument/2006/relationships/slide" Target="slides/slide93.xml"/><Relationship Id="rId101" Type="http://schemas.openxmlformats.org/officeDocument/2006/relationships/slide" Target="slides/slide94.xml"/><Relationship Id="rId102" Type="http://schemas.openxmlformats.org/officeDocument/2006/relationships/slide" Target="slides/slide95.xml"/><Relationship Id="rId103" Type="http://schemas.openxmlformats.org/officeDocument/2006/relationships/slide" Target="slides/slide96.xml"/><Relationship Id="rId107" Type="http://schemas.openxmlformats.org/officeDocument/2006/relationships/slide" Target="slides/slide97.xml"/><Relationship Id="rId108" Type="http://schemas.openxmlformats.org/officeDocument/2006/relationships/slide" Target="slides/slide98.xml"/><Relationship Id="rId109" Type="http://schemas.openxmlformats.org/officeDocument/2006/relationships/slide" Target="slides/slide99.xml"/><Relationship Id="rId114" Type="http://schemas.openxmlformats.org/officeDocument/2006/relationships/slide" Target="slides/slide100.xml"/><Relationship Id="rId115" Type="http://schemas.openxmlformats.org/officeDocument/2006/relationships/slide" Target="slides/slide101.xml"/><Relationship Id="rId116" Type="http://schemas.openxmlformats.org/officeDocument/2006/relationships/slide" Target="slides/slide102.xml"/><Relationship Id="rId117" Type="http://schemas.openxmlformats.org/officeDocument/2006/relationships/slide" Target="slides/slide103.xml"/><Relationship Id="rId118" Type="http://schemas.openxmlformats.org/officeDocument/2006/relationships/slide" Target="slides/slide104.xml"/><Relationship Id="rId120" Type="http://schemas.openxmlformats.org/officeDocument/2006/relationships/slide" Target="slides/slide105.xml"/><Relationship Id="rId121" Type="http://schemas.openxmlformats.org/officeDocument/2006/relationships/slide" Target="slides/slide106.xml"/><Relationship Id="rId124" Type="http://schemas.openxmlformats.org/officeDocument/2006/relationships/slide" Target="slides/slide107.xml"/><Relationship Id="rId125" Type="http://schemas.openxmlformats.org/officeDocument/2006/relationships/slide" Target="slides/slide108.xml"/><Relationship Id="rId126" Type="http://schemas.openxmlformats.org/officeDocument/2006/relationships/slide" Target="slides/slide109.xml"/><Relationship Id="rId127" Type="http://schemas.openxmlformats.org/officeDocument/2006/relationships/slide" Target="slides/slide110.xml"/><Relationship Id="rId128" Type="http://schemas.openxmlformats.org/officeDocument/2006/relationships/slide" Target="slides/slide111.xml"/><Relationship Id="rId129" Type="http://schemas.openxmlformats.org/officeDocument/2006/relationships/slide" Target="slides/slide112.xml"/><Relationship Id="rId130" Type="http://schemas.openxmlformats.org/officeDocument/2006/relationships/slide" Target="slides/slide113.xml"/><Relationship Id="rId131" Type="http://schemas.openxmlformats.org/officeDocument/2006/relationships/slide" Target="slides/slide114.xml"/><Relationship Id="rId132" Type="http://schemas.openxmlformats.org/officeDocument/2006/relationships/slide" Target="slides/slide115.xml"/><Relationship Id="rId133" Type="http://schemas.openxmlformats.org/officeDocument/2006/relationships/slide" Target="slides/slide116.xml"/><Relationship Id="rId134" Type="http://schemas.openxmlformats.org/officeDocument/2006/relationships/slide" Target="slides/slide117.xml"/><Relationship Id="rId135" Type="http://schemas.openxmlformats.org/officeDocument/2006/relationships/slide" Target="slides/slide118.xml"/><Relationship Id="rId136" Type="http://schemas.openxmlformats.org/officeDocument/2006/relationships/slide" Target="slides/slide119.xml"/><Relationship Id="rId137" Type="http://schemas.openxmlformats.org/officeDocument/2006/relationships/slide" Target="slides/slide120.xml"/><Relationship Id="rId138" Type="http://schemas.openxmlformats.org/officeDocument/2006/relationships/slide" Target="slides/slide121.xml"/><Relationship Id="rId139" Type="http://schemas.openxmlformats.org/officeDocument/2006/relationships/slide" Target="slides/slide122.xml"/><Relationship Id="rId140" Type="http://schemas.openxmlformats.org/officeDocument/2006/relationships/slide" Target="slides/slide123.xml"/><Relationship Id="rId141" Type="http://schemas.openxmlformats.org/officeDocument/2006/relationships/slide" Target="slides/slide124.xml"/><Relationship Id="rId142" Type="http://schemas.openxmlformats.org/officeDocument/2006/relationships/slide" Target="slides/slide125.xml"/><Relationship Id="rId143" Type="http://schemas.openxmlformats.org/officeDocument/2006/relationships/slide" Target="slides/slide126.xml"/><Relationship Id="rId144" Type="http://schemas.openxmlformats.org/officeDocument/2006/relationships/slide" Target="slides/slide127.xml"/><Relationship Id="rId145" Type="http://schemas.openxmlformats.org/officeDocument/2006/relationships/slide" Target="slides/slide128.xml"/><Relationship Id="rId146" Type="http://schemas.openxmlformats.org/officeDocument/2006/relationships/slide" Target="slides/slide129.xml"/><Relationship Id="rId147" Type="http://schemas.openxmlformats.org/officeDocument/2006/relationships/slide" Target="slides/slide130.xml"/><Relationship Id="rId148" Type="http://schemas.openxmlformats.org/officeDocument/2006/relationships/slide" Target="slides/slide131.xml"/><Relationship Id="rId149" Type="http://schemas.openxmlformats.org/officeDocument/2006/relationships/slide" Target="slides/slide132.xml"/><Relationship Id="rId150" Type="http://schemas.openxmlformats.org/officeDocument/2006/relationships/slide" Target="slides/slide133.xml"/><Relationship Id="rId151" Type="http://schemas.openxmlformats.org/officeDocument/2006/relationships/slide" Target="slides/slide134.xml"/><Relationship Id="rId152" Type="http://schemas.openxmlformats.org/officeDocument/2006/relationships/slide" Target="slides/slide135.xml"/><Relationship Id="rId153" Type="http://schemas.openxmlformats.org/officeDocument/2006/relationships/slide" Target="slides/slide136.xml"/><Relationship Id="rId154" Type="http://schemas.openxmlformats.org/officeDocument/2006/relationships/slide" Target="slides/slide137.xml"/><Relationship Id="rId155" Type="http://schemas.openxmlformats.org/officeDocument/2006/relationships/slide" Target="slides/slide138.xml"/><Relationship Id="rId156" Type="http://schemas.openxmlformats.org/officeDocument/2006/relationships/slide" Target="slides/slide139.xml"/><Relationship Id="rId157" Type="http://schemas.openxmlformats.org/officeDocument/2006/relationships/slide" Target="slides/slide140.xml"/><Relationship Id="rId158" Type="http://schemas.openxmlformats.org/officeDocument/2006/relationships/slide" Target="slides/slide141.xml"/><Relationship Id="rId159" Type="http://schemas.openxmlformats.org/officeDocument/2006/relationships/slide" Target="slides/slide142.xml"/><Relationship Id="rId160" Type="http://schemas.openxmlformats.org/officeDocument/2006/relationships/slide" Target="slides/slide143.xml"/><Relationship Id="rId161" Type="http://schemas.openxmlformats.org/officeDocument/2006/relationships/slide" Target="slides/slide144.xml"/><Relationship Id="rId162" Type="http://schemas.openxmlformats.org/officeDocument/2006/relationships/slide" Target="slides/slide145.xml"/><Relationship Id="rId163" Type="http://schemas.openxmlformats.org/officeDocument/2006/relationships/slide" Target="slides/slide146.xml"/><Relationship Id="rId165" Type="http://schemas.openxmlformats.org/officeDocument/2006/relationships/slide" Target="slides/slide147.xml"/><Relationship Id="rId166" Type="http://schemas.openxmlformats.org/officeDocument/2006/relationships/slide" Target="slides/slide148.xml"/><Relationship Id="rId169" Type="http://schemas.openxmlformats.org/officeDocument/2006/relationships/slide" Target="slides/slide149.xml"/><Relationship Id="rId170" Type="http://schemas.openxmlformats.org/officeDocument/2006/relationships/slide" Target="slides/slide150.xml"/><Relationship Id="rId171" Type="http://schemas.openxmlformats.org/officeDocument/2006/relationships/slide" Target="slides/slide151.xml"/><Relationship Id="rId172" Type="http://schemas.openxmlformats.org/officeDocument/2006/relationships/slide" Target="slides/slide152.xml"/><Relationship Id="rId174" Type="http://schemas.openxmlformats.org/officeDocument/2006/relationships/slide" Target="slides/slide153.xml"/><Relationship Id="rId175" Type="http://schemas.openxmlformats.org/officeDocument/2006/relationships/slide" Target="slides/slide154.xml"/><Relationship Id="rId178" Type="http://schemas.openxmlformats.org/officeDocument/2006/relationships/slide" Target="slides/slide155.xml"/><Relationship Id="rId179" Type="http://schemas.openxmlformats.org/officeDocument/2006/relationships/slide" Target="slides/slide156.xml"/><Relationship Id="rId180" Type="http://schemas.openxmlformats.org/officeDocument/2006/relationships/slide" Target="slides/slide157.xml"/><Relationship Id="rId181" Type="http://schemas.openxmlformats.org/officeDocument/2006/relationships/slide" Target="slides/slide158.xml"/><Relationship Id="rId182" Type="http://schemas.openxmlformats.org/officeDocument/2006/relationships/slide" Target="slides/slide159.xml"/><Relationship Id="rId184" Type="http://schemas.openxmlformats.org/officeDocument/2006/relationships/slide" Target="slides/slide160.xml"/><Relationship Id="rId185" Type="http://schemas.openxmlformats.org/officeDocument/2006/relationships/slide" Target="slides/slide161.xml"/><Relationship Id="rId188" Type="http://schemas.openxmlformats.org/officeDocument/2006/relationships/slide" Target="slides/slide162.xml"/><Relationship Id="rId189" Type="http://schemas.openxmlformats.org/officeDocument/2006/relationships/slide" Target="slides/slide163.xml"/><Relationship Id="rId190" Type="http://schemas.openxmlformats.org/officeDocument/2006/relationships/slide" Target="slides/slide164.xml"/><Relationship Id="rId191" Type="http://schemas.openxmlformats.org/officeDocument/2006/relationships/slide" Target="slides/slide165.xml"/><Relationship Id="rId192" Type="http://schemas.openxmlformats.org/officeDocument/2006/relationships/slide" Target="slides/slide166.xml"/><Relationship Id="rId194" Type="http://schemas.openxmlformats.org/officeDocument/2006/relationships/slide" Target="slides/slide167.xml"/><Relationship Id="rId195" Type="http://schemas.openxmlformats.org/officeDocument/2006/relationships/slide" Target="slides/slide168.xml"/><Relationship Id="rId198" Type="http://schemas.openxmlformats.org/officeDocument/2006/relationships/slide" Target="slides/slide169.xml"/><Relationship Id="rId199" Type="http://schemas.openxmlformats.org/officeDocument/2006/relationships/slide" Target="slides/slide170.xml"/><Relationship Id="rId200" Type="http://schemas.openxmlformats.org/officeDocument/2006/relationships/slide" Target="slides/slide171.xml"/><Relationship Id="rId201" Type="http://schemas.openxmlformats.org/officeDocument/2006/relationships/slide" Target="slides/slide172.xml"/><Relationship Id="rId202" Type="http://schemas.openxmlformats.org/officeDocument/2006/relationships/slide" Target="slides/slide173.xml"/><Relationship Id="rId203" Type="http://schemas.openxmlformats.org/officeDocument/2006/relationships/slide" Target="slides/slide174.xml"/><Relationship Id="rId204" Type="http://schemas.openxmlformats.org/officeDocument/2006/relationships/slide" Target="slides/slide175.xml"/><Relationship Id="rId206" Type="http://schemas.openxmlformats.org/officeDocument/2006/relationships/slide" Target="slides/slide176.xml"/><Relationship Id="rId207" Type="http://schemas.openxmlformats.org/officeDocument/2006/relationships/slide" Target="slides/slide177.xml"/><Relationship Id="rId210" Type="http://schemas.openxmlformats.org/officeDocument/2006/relationships/slide" Target="slides/slide178.xml"/><Relationship Id="rId211" Type="http://schemas.openxmlformats.org/officeDocument/2006/relationships/slide" Target="slides/slide179.xml"/><Relationship Id="rId212" Type="http://schemas.openxmlformats.org/officeDocument/2006/relationships/slide" Target="slides/slide180.xml"/><Relationship Id="rId213" Type="http://schemas.openxmlformats.org/officeDocument/2006/relationships/slide" Target="slides/slide181.xml"/><Relationship Id="rId214" Type="http://schemas.openxmlformats.org/officeDocument/2006/relationships/slide" Target="slides/slide182.xml"/><Relationship Id="rId216" Type="http://schemas.openxmlformats.org/officeDocument/2006/relationships/slide" Target="slides/slide183.xml"/><Relationship Id="rId217" Type="http://schemas.openxmlformats.org/officeDocument/2006/relationships/slide" Target="slides/slide184.xml"/><Relationship Id="rId220" Type="http://schemas.openxmlformats.org/officeDocument/2006/relationships/slide" Target="slides/slide185.xml"/><Relationship Id="rId221" Type="http://schemas.openxmlformats.org/officeDocument/2006/relationships/slide" Target="slides/slide186.xml"/><Relationship Id="rId222" Type="http://schemas.openxmlformats.org/officeDocument/2006/relationships/slide" Target="slides/slide187.xml"/><Relationship Id="rId223" Type="http://schemas.openxmlformats.org/officeDocument/2006/relationships/slide" Target="slides/slide188.xml"/><Relationship Id="rId224" Type="http://schemas.openxmlformats.org/officeDocument/2006/relationships/slide" Target="slides/slide189.xml"/><Relationship Id="rId227" Type="http://schemas.openxmlformats.org/officeDocument/2006/relationships/slide" Target="slides/slide190.xml"/><Relationship Id="rId228" Type="http://schemas.openxmlformats.org/officeDocument/2006/relationships/slide" Target="slides/slide191.xml"/><Relationship Id="rId229" Type="http://schemas.openxmlformats.org/officeDocument/2006/relationships/slide" Target="slides/slide192.xml"/><Relationship Id="rId234" Type="http://schemas.openxmlformats.org/officeDocument/2006/relationships/slide" Target="slides/slide193.xml"/><Relationship Id="rId235" Type="http://schemas.openxmlformats.org/officeDocument/2006/relationships/slide" Target="slides/slide194.xml"/><Relationship Id="rId236" Type="http://schemas.openxmlformats.org/officeDocument/2006/relationships/slide" Target="slides/slide195.xml"/><Relationship Id="rId237" Type="http://schemas.openxmlformats.org/officeDocument/2006/relationships/slide" Target="slides/slide196.xml"/><Relationship Id="rId238" Type="http://schemas.openxmlformats.org/officeDocument/2006/relationships/slide" Target="slides/slide197.xml"/><Relationship Id="rId240" Type="http://schemas.openxmlformats.org/officeDocument/2006/relationships/slide" Target="slides/slide198.xml"/><Relationship Id="rId241" Type="http://schemas.openxmlformats.org/officeDocument/2006/relationships/slide" Target="slides/slide199.xml"/><Relationship Id="rId244" Type="http://schemas.openxmlformats.org/officeDocument/2006/relationships/slide" Target="slides/slide200.xml"/><Relationship Id="rId245" Type="http://schemas.openxmlformats.org/officeDocument/2006/relationships/slide" Target="slides/slide201.xml"/><Relationship Id="rId246" Type="http://schemas.openxmlformats.org/officeDocument/2006/relationships/slide" Target="slides/slide202.xml"/><Relationship Id="rId247" Type="http://schemas.openxmlformats.org/officeDocument/2006/relationships/slide" Target="slides/slide203.xml"/><Relationship Id="rId248" Type="http://schemas.openxmlformats.org/officeDocument/2006/relationships/slide" Target="slides/slide204.xml"/><Relationship Id="rId249" Type="http://schemas.openxmlformats.org/officeDocument/2006/relationships/slide" Target="slides/slide205.xml"/><Relationship Id="rId250" Type="http://schemas.openxmlformats.org/officeDocument/2006/relationships/slide" Target="slides/slide206.xml"/><Relationship Id="rId251" Type="http://schemas.openxmlformats.org/officeDocument/2006/relationships/slide" Target="slides/slide207.xml"/><Relationship Id="rId252" Type="http://schemas.openxmlformats.org/officeDocument/2006/relationships/slide" Target="slides/slide208.xml"/><Relationship Id="rId253" Type="http://schemas.openxmlformats.org/officeDocument/2006/relationships/slide" Target="slides/slide209.xml"/><Relationship Id="rId254" Type="http://schemas.openxmlformats.org/officeDocument/2006/relationships/slide" Target="slides/slide210.xml"/><Relationship Id="rId255" Type="http://schemas.openxmlformats.org/officeDocument/2006/relationships/slide" Target="slides/slide211.xml"/><Relationship Id="rId256" Type="http://schemas.openxmlformats.org/officeDocument/2006/relationships/slide" Target="slides/slide212.xml"/><Relationship Id="rId257" Type="http://schemas.openxmlformats.org/officeDocument/2006/relationships/slide" Target="slides/slide213.xml"/><Relationship Id="rId258" Type="http://schemas.openxmlformats.org/officeDocument/2006/relationships/slide" Target="slides/slide214.xml"/><Relationship Id="rId259" Type="http://schemas.openxmlformats.org/officeDocument/2006/relationships/slide" Target="slides/slide215.xml"/><Relationship Id="rId260" Type="http://schemas.openxmlformats.org/officeDocument/2006/relationships/slide" Target="slides/slide216.xml"/><Relationship Id="rId261" Type="http://schemas.openxmlformats.org/officeDocument/2006/relationships/slide" Target="slides/slide217.xml"/><Relationship Id="rId262" Type="http://schemas.openxmlformats.org/officeDocument/2006/relationships/slide" Target="slides/slide218.xml"/><Relationship Id="rId263" Type="http://schemas.openxmlformats.org/officeDocument/2006/relationships/slide" Target="slides/slide219.xml"/><Relationship Id="rId264" Type="http://schemas.openxmlformats.org/officeDocument/2006/relationships/slide" Target="slides/slide220.xml"/><Relationship Id="rId265" Type="http://schemas.openxmlformats.org/officeDocument/2006/relationships/slide" Target="slides/slide221.xml"/><Relationship Id="rId266" Type="http://schemas.openxmlformats.org/officeDocument/2006/relationships/slide" Target="slides/slide222.xml"/><Relationship Id="rId267" Type="http://schemas.openxmlformats.org/officeDocument/2006/relationships/slide" Target="slides/slide223.xml"/><Relationship Id="rId268" Type="http://schemas.openxmlformats.org/officeDocument/2006/relationships/slide" Target="slides/slide224.xml"/><Relationship Id="rId269" Type="http://schemas.openxmlformats.org/officeDocument/2006/relationships/slide" Target="slides/slide225.xml"/><Relationship Id="rId271" Type="http://schemas.openxmlformats.org/officeDocument/2006/relationships/slide" Target="slides/slide226.xml"/><Relationship Id="rId272" Type="http://schemas.openxmlformats.org/officeDocument/2006/relationships/slide" Target="slides/slide227.xml"/><Relationship Id="rId273" Type="http://schemas.openxmlformats.org/officeDocument/2006/relationships/slide" Target="slides/slide228.xml"/><Relationship Id="rId275" Type="http://schemas.openxmlformats.org/officeDocument/2006/relationships/slide" Target="slides/slide229.xml"/><Relationship Id="rId276" Type="http://schemas.openxmlformats.org/officeDocument/2006/relationships/slide" Target="slides/slide230.xml"/><Relationship Id="rId277" Type="http://schemas.openxmlformats.org/officeDocument/2006/relationships/slide" Target="slides/slide231.xml"/><Relationship Id="rId279" Type="http://schemas.openxmlformats.org/officeDocument/2006/relationships/slide" Target="slides/slide232.xml"/><Relationship Id="rId280" Type="http://schemas.openxmlformats.org/officeDocument/2006/relationships/slide" Target="slides/slide233.xml"/><Relationship Id="rId282" Type="http://schemas.openxmlformats.org/officeDocument/2006/relationships/slide" Target="slides/slide234.xml"/><Relationship Id="rId284" Type="http://schemas.openxmlformats.org/officeDocument/2006/relationships/slide" Target="slides/slide235.xml"/><Relationship Id="rId285" Type="http://schemas.openxmlformats.org/officeDocument/2006/relationships/slide" Target="slides/slide236.xml"/><Relationship Id="rId286" Type="http://schemas.openxmlformats.org/officeDocument/2006/relationships/slide" Target="slides/slide237.xml"/><Relationship Id="rId288" Type="http://schemas.openxmlformats.org/officeDocument/2006/relationships/slide" Target="slides/slide238.xml"/><Relationship Id="rId291" Type="http://schemas.openxmlformats.org/officeDocument/2006/relationships/slide" Target="slides/slide239.xml"/><Relationship Id="rId292" Type="http://schemas.openxmlformats.org/officeDocument/2006/relationships/slide" Target="slides/slide240.xml"/><Relationship Id="rId293" Type="http://schemas.openxmlformats.org/officeDocument/2006/relationships/slide" Target="slides/slide241.xml"/><Relationship Id="rId295" Type="http://schemas.openxmlformats.org/officeDocument/2006/relationships/slide" Target="slides/slide242.xml"/><Relationship Id="rId296" Type="http://schemas.openxmlformats.org/officeDocument/2006/relationships/slide" Target="slides/slide243.xml"/><Relationship Id="rId297" Type="http://schemas.openxmlformats.org/officeDocument/2006/relationships/slide" Target="slides/slide244.xml"/><Relationship Id="rId298" Type="http://schemas.openxmlformats.org/officeDocument/2006/relationships/slide" Target="slides/slide245.xml"/><Relationship Id="rId299" Type="http://schemas.openxmlformats.org/officeDocument/2006/relationships/slide" Target="slides/slide246.xml"/><Relationship Id="rId300" Type="http://schemas.openxmlformats.org/officeDocument/2006/relationships/slide" Target="slides/slide247.xml"/><Relationship Id="rId305" Type="http://schemas.openxmlformats.org/officeDocument/2006/relationships/slide" Target="slides/slide248.xml"/><Relationship Id="rId306" Type="http://schemas.openxmlformats.org/officeDocument/2006/relationships/slide" Target="slides/slide249.xml"/><Relationship Id="rId308" Type="http://schemas.openxmlformats.org/officeDocument/2006/relationships/slide" Target="slides/slide250.xml"/><Relationship Id="rId309" Type="http://schemas.openxmlformats.org/officeDocument/2006/relationships/slide" Target="slides/slide305.xml"/><Relationship Id="rId310" Type="http://schemas.openxmlformats.org/officeDocument/2006/relationships/slide" Target="slides/slide251.xml"/><Relationship Id="rId311" Type="http://schemas.openxmlformats.org/officeDocument/2006/relationships/slide" Target="slides/slide252.xml"/><Relationship Id="rId312" Type="http://schemas.openxmlformats.org/officeDocument/2006/relationships/slide" Target="slides/slide253.xml"/><Relationship Id="rId313" Type="http://schemas.openxmlformats.org/officeDocument/2006/relationships/slide" Target="slides/slide254.xml"/><Relationship Id="rId314" Type="http://schemas.openxmlformats.org/officeDocument/2006/relationships/slide" Target="slides/slide255.xml"/><Relationship Id="rId315" Type="http://schemas.openxmlformats.org/officeDocument/2006/relationships/slide" Target="slides/slide256.xml"/><Relationship Id="rId316" Type="http://schemas.openxmlformats.org/officeDocument/2006/relationships/slide" Target="slides/slide257.xml"/><Relationship Id="rId317" Type="http://schemas.openxmlformats.org/officeDocument/2006/relationships/slide" Target="slides/slide258.xml"/><Relationship Id="rId318" Type="http://schemas.openxmlformats.org/officeDocument/2006/relationships/slide" Target="slides/slide259.xml"/><Relationship Id="rId319" Type="http://schemas.openxmlformats.org/officeDocument/2006/relationships/slide" Target="slides/slide260.xml"/><Relationship Id="rId320" Type="http://schemas.openxmlformats.org/officeDocument/2006/relationships/slide" Target="slides/slide261.xml"/><Relationship Id="rId321" Type="http://schemas.openxmlformats.org/officeDocument/2006/relationships/slide" Target="slides/slide262.xml"/><Relationship Id="rId322" Type="http://schemas.openxmlformats.org/officeDocument/2006/relationships/slide" Target="slides/slide263.xml"/><Relationship Id="rId323" Type="http://schemas.openxmlformats.org/officeDocument/2006/relationships/slide" Target="slides/slide264.xml"/><Relationship Id="rId324" Type="http://schemas.openxmlformats.org/officeDocument/2006/relationships/slide" Target="slides/slide265.xml"/><Relationship Id="rId325" Type="http://schemas.openxmlformats.org/officeDocument/2006/relationships/slide" Target="slides/slide266.xml"/><Relationship Id="rId326" Type="http://schemas.openxmlformats.org/officeDocument/2006/relationships/slide" Target="slides/slide267.xml"/><Relationship Id="rId327" Type="http://schemas.openxmlformats.org/officeDocument/2006/relationships/slide" Target="slides/slide268.xml"/><Relationship Id="rId328" Type="http://schemas.openxmlformats.org/officeDocument/2006/relationships/slide" Target="slides/slide269.xml"/><Relationship Id="rId329" Type="http://schemas.openxmlformats.org/officeDocument/2006/relationships/slide" Target="slides/slide270.xml"/><Relationship Id="rId330" Type="http://schemas.openxmlformats.org/officeDocument/2006/relationships/slide" Target="slides/slide271.xml"/><Relationship Id="rId331" Type="http://schemas.openxmlformats.org/officeDocument/2006/relationships/slide" Target="slides/slide272.xml"/><Relationship Id="rId332" Type="http://schemas.openxmlformats.org/officeDocument/2006/relationships/slide" Target="slides/slide273.xml"/><Relationship Id="rId333" Type="http://schemas.openxmlformats.org/officeDocument/2006/relationships/slide" Target="slides/slide274.xml"/><Relationship Id="rId334" Type="http://schemas.openxmlformats.org/officeDocument/2006/relationships/slide" Target="slides/slide275.xml"/><Relationship Id="rId335" Type="http://schemas.openxmlformats.org/officeDocument/2006/relationships/slide" Target="slides/slide276.xml"/><Relationship Id="rId336" Type="http://schemas.openxmlformats.org/officeDocument/2006/relationships/slide" Target="slides/slide277.xml"/><Relationship Id="rId337" Type="http://schemas.openxmlformats.org/officeDocument/2006/relationships/slide" Target="slides/slide278.xml"/><Relationship Id="rId338" Type="http://schemas.openxmlformats.org/officeDocument/2006/relationships/slide" Target="slides/slide291.xml"/><Relationship Id="rId339" Type="http://schemas.openxmlformats.org/officeDocument/2006/relationships/slide" Target="slides/slide292.xml"/><Relationship Id="rId340" Type="http://schemas.openxmlformats.org/officeDocument/2006/relationships/slide" Target="slides/slide293.xml"/><Relationship Id="rId341" Type="http://schemas.openxmlformats.org/officeDocument/2006/relationships/slide" Target="slides/slide294.xml"/><Relationship Id="rId342" Type="http://schemas.openxmlformats.org/officeDocument/2006/relationships/slide" Target="slides/slide295.xml"/><Relationship Id="rId343" Type="http://schemas.openxmlformats.org/officeDocument/2006/relationships/slide" Target="slides/slide296.xml"/><Relationship Id="rId344" Type="http://schemas.openxmlformats.org/officeDocument/2006/relationships/slide" Target="slides/slide297.xml"/><Relationship Id="rId345" Type="http://schemas.openxmlformats.org/officeDocument/2006/relationships/slide" Target="slides/slide298.xml"/><Relationship Id="rId346" Type="http://schemas.openxmlformats.org/officeDocument/2006/relationships/slide" Target="slides/slide299.xml"/><Relationship Id="rId347" Type="http://schemas.openxmlformats.org/officeDocument/2006/relationships/slide" Target="slides/slide300.xml"/><Relationship Id="rId348" Type="http://schemas.openxmlformats.org/officeDocument/2006/relationships/slide" Target="slides/slide301.xml"/><Relationship Id="rId349" Type="http://schemas.openxmlformats.org/officeDocument/2006/relationships/slide" Target="slides/slide302.xml"/><Relationship Id="rId350" Type="http://schemas.openxmlformats.org/officeDocument/2006/relationships/slide" Target="slides/slide303.xml"/><Relationship Id="rId351" Type="http://schemas.openxmlformats.org/officeDocument/2006/relationships/slide" Target="slides/slide304.xml"/><Relationship Id="rId352" Type="http://schemas.openxmlformats.org/officeDocument/2006/relationships/slide" Target="slides/slide279.xml"/><Relationship Id="rId353" Type="http://schemas.openxmlformats.org/officeDocument/2006/relationships/slide" Target="slides/slide280.xml"/><Relationship Id="rId354" Type="http://schemas.openxmlformats.org/officeDocument/2006/relationships/slide" Target="slides/slide281.xml"/><Relationship Id="rId355" Type="http://schemas.openxmlformats.org/officeDocument/2006/relationships/slide" Target="slides/slide282.xml"/><Relationship Id="rId356" Type="http://schemas.openxmlformats.org/officeDocument/2006/relationships/slide" Target="slides/slide283.xml"/><Relationship Id="rId357" Type="http://schemas.openxmlformats.org/officeDocument/2006/relationships/slide" Target="slides/slide284.xml"/><Relationship Id="rId358" Type="http://schemas.openxmlformats.org/officeDocument/2006/relationships/slide" Target="slides/slide285.xml"/><Relationship Id="rId359" Type="http://schemas.openxmlformats.org/officeDocument/2006/relationships/slide" Target="slides/slide286.xml"/><Relationship Id="rId360" Type="http://schemas.openxmlformats.org/officeDocument/2006/relationships/slide" Target="slides/slide287.xml"/><Relationship Id="rId361" Type="http://schemas.openxmlformats.org/officeDocument/2006/relationships/slide" Target="slides/slide288.xml"/><Relationship Id="rId362" Type="http://schemas.openxmlformats.org/officeDocument/2006/relationships/slide" Target="slides/slide289.xml"/><Relationship Id="rId363" Type="http://schemas.openxmlformats.org/officeDocument/2006/relationships/slide" Target="slides/slide290.xml"/><Relationship Id="rId374" Type="http://schemas.openxmlformats.org/officeDocument/2006/relationships/slide" Target="slides/slide12.xml"/><Relationship Id="rId375" Type="http://schemas.openxmlformats.org/officeDocument/2006/relationships/slide" Target="slides/slide13.xml"/><Relationship Id="rId376" Type="http://schemas.openxmlformats.org/officeDocument/2006/relationships/slide" Target="slides/slide14.xml"/><Relationship Id="rId377" Type="http://schemas.openxmlformats.org/officeDocument/2006/relationships/slide" Target="slides/slide15.xml"/><Relationship Id="rId378" Type="http://schemas.openxmlformats.org/officeDocument/2006/relationships/slide" Target="slides/slide16.xml"/><Relationship Id="rId379" Type="http://schemas.openxmlformats.org/officeDocument/2006/relationships/slide" Target="slides/slide17.xml"/><Relationship Id="rId380" Type="http://schemas.openxmlformats.org/officeDocument/2006/relationships/slide" Target="slides/slide18.xml"/><Relationship Id="rId381" Type="http://schemas.openxmlformats.org/officeDocument/2006/relationships/slide" Target="slides/slide19.xml"/><Relationship Id="rId382" Type="http://schemas.openxmlformats.org/officeDocument/2006/relationships/slide" Target="slides/slide11.xml"/><Relationship Id="rId383" Type="http://schemas.openxmlformats.org/officeDocument/2006/relationships/slide" Target="slides/slide21.xml"/><Relationship Id="rId384" Type="http://schemas.openxmlformats.org/officeDocument/2006/relationships/slide" Target="slides/slide22.xml"/><Relationship Id="rId385" Type="http://schemas.openxmlformats.org/officeDocument/2006/relationships/slide" Target="slides/slide23.xml"/><Relationship Id="rId386" Type="http://schemas.openxmlformats.org/officeDocument/2006/relationships/slide" Target="slides/slide24.xml"/><Relationship Id="rId387" Type="http://schemas.openxmlformats.org/officeDocument/2006/relationships/slide" Target="slides/slide25.xml"/><Relationship Id="rId388" Type="http://schemas.openxmlformats.org/officeDocument/2006/relationships/slide" Target="slides/slide26.xml"/><Relationship Id="rId389" Type="http://schemas.openxmlformats.org/officeDocument/2006/relationships/slide" Target="slides/slide27.xml"/><Relationship Id="rId390" Type="http://schemas.openxmlformats.org/officeDocument/2006/relationships/slide" Target="slides/slide28.xml"/><Relationship Id="rId391" Type="http://schemas.openxmlformats.org/officeDocument/2006/relationships/slide" Target="slides/slide20.xml"/></Relationships>
</file>

<file path=ppt/charts/_rels/chart1.xml.rels><?xml version='1.0' encoding='UTF-8' standalone='yes'?>
<Relationships xmlns="http://schemas.openxmlformats.org/package/2006/relationships"><Relationship Id="rId2" Type="http://schemas.openxmlformats.org/officeDocument/2006/relationships/image" Target="../media/image3.png"/></Relationships>
</file>

<file path=ppt/charts/_rels/chart3.xml.rels><?xml version='1.0' encoding='UTF-8' standalone='yes'?>
<Relationships xmlns="http://schemas.openxmlformats.org/package/2006/relationships"><Relationship Id="rId2" Type="http://schemas.openxmlformats.org/officeDocument/2006/relationships/image" Target="../media/image4.png"/></Relationships>
</file>

<file path=ppt/charts/_rels/chart5.xml.rels><?xml version='1.0' encoding='UTF-8' standalone='yes'?>
<Relationships xmlns="http://schemas.openxmlformats.org/package/2006/relationships"><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11.png"/><Relationship Id="rId9" Type="http://schemas.openxmlformats.org/officeDocument/2006/relationships/image" Target="../media/image12.png"/><Relationship Id="rId10" Type="http://schemas.openxmlformats.org/officeDocument/2006/relationships/image" Target="../media/image13.png"/><Relationship Id="rId11" Type="http://schemas.openxmlformats.org/officeDocument/2006/relationships/image" Target="../media/image14.png"/></Relationships>
</file>

<file path=ppt/charts/_rels/chart6.xml.rels><?xml version='1.0' encoding='UTF-8' standalone='yes'?>
<Relationships xmlns="http://schemas.openxmlformats.org/package/2006/relationships"><Relationship Id="rId2" Type="http://schemas.openxmlformats.org/officeDocument/2006/relationships/image" Target="../media/image15.png"/><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png"/><Relationship Id="rId9" Type="http://schemas.openxmlformats.org/officeDocument/2006/relationships/image" Target="../media/image22.png"/><Relationship Id="rId10" Type="http://schemas.openxmlformats.org/officeDocument/2006/relationships/image" Target="../media/image23.png"/><Relationship Id="rId11" Type="http://schemas.openxmlformats.org/officeDocument/2006/relationships/image" Target="../media/image24.png"/><Relationship Id="rId12" Type="http://schemas.openxmlformats.org/officeDocument/2006/relationships/image" Target="../media/image25.png"/><Relationship Id="rId13" Type="http://schemas.openxmlformats.org/officeDocument/2006/relationships/image" Target="../media/image26.png"/><Relationship Id="rId14" Type="http://schemas.openxmlformats.org/officeDocument/2006/relationships/image" Target="../media/image27.png"/><Relationship Id="rId15" Type="http://schemas.openxmlformats.org/officeDocument/2006/relationships/image" Target="../media/image28.png"/><Relationship Id="rId16" Type="http://schemas.openxmlformats.org/officeDocument/2006/relationships/image" Target="../media/image29.png"/><Relationship Id="rId17" Type="http://schemas.openxmlformats.org/officeDocument/2006/relationships/image" Target="../media/image30.png"/><Relationship Id="rId18" Type="http://schemas.openxmlformats.org/officeDocument/2006/relationships/image" Target="../media/image31.png"/><Relationship Id="rId19" Type="http://schemas.openxmlformats.org/officeDocument/2006/relationships/image" Target="../media/image32.png"/><Relationship Id="rId20" Type="http://schemas.openxmlformats.org/officeDocument/2006/relationships/image" Target="../media/image33.png"/><Relationship Id="rId21" Type="http://schemas.openxmlformats.org/officeDocument/2006/relationships/image" Target="../media/image34.png"/></Relationships>
</file>

<file path=ppt/charts/_rels/chart7.xml.rels><?xml version='1.0' encoding='UTF-8' standalone='yes'?>
<Relationships xmlns="http://schemas.openxmlformats.org/package/2006/relationships"><Relationship Id="rId2" Type="http://schemas.openxmlformats.org/officeDocument/2006/relationships/image" Target="../media/image35.png"/><Relationship Id="rId3" Type="http://schemas.openxmlformats.org/officeDocument/2006/relationships/image" Target="../media/image36.png"/><Relationship Id="rId4" Type="http://schemas.openxmlformats.org/officeDocument/2006/relationships/image" Target="../media/image37.png"/><Relationship Id="rId5" Type="http://schemas.openxmlformats.org/officeDocument/2006/relationships/image" Target="../media/image38.png"/><Relationship Id="rId6" Type="http://schemas.openxmlformats.org/officeDocument/2006/relationships/image" Target="../media/image39.png"/><Relationship Id="rId7" Type="http://schemas.openxmlformats.org/officeDocument/2006/relationships/image" Target="../media/image40.png"/><Relationship Id="rId8" Type="http://schemas.openxmlformats.org/officeDocument/2006/relationships/image" Target="../media/image41.png"/><Relationship Id="rId9" Type="http://schemas.openxmlformats.org/officeDocument/2006/relationships/image" Target="../media/image42.png"/><Relationship Id="rId10" Type="http://schemas.openxmlformats.org/officeDocument/2006/relationships/image" Target="../media/image43.png"/><Relationship Id="rId11" Type="http://schemas.openxmlformats.org/officeDocument/2006/relationships/image" Target="../media/image44.png"/></Relationships>
</file>

<file path=ppt/charts/_rels/chart8.xml.rels><?xml version='1.0' encoding='UTF-8' standalone='yes'?>
<Relationships xmlns="http://schemas.openxmlformats.org/package/2006/relationships"><Relationship Id="rId2" Type="http://schemas.openxmlformats.org/officeDocument/2006/relationships/image" Target="../media/image45.png"/><Relationship Id="rId3" Type="http://schemas.openxmlformats.org/officeDocument/2006/relationships/image" Target="../media/image46.png"/><Relationship Id="rId4" Type="http://schemas.openxmlformats.org/officeDocument/2006/relationships/image" Target="../media/image47.png"/><Relationship Id="rId5" Type="http://schemas.openxmlformats.org/officeDocument/2006/relationships/image" Target="../media/image48.png"/><Relationship Id="rId6" Type="http://schemas.openxmlformats.org/officeDocument/2006/relationships/image" Target="../media/image49.png"/><Relationship Id="rId7" Type="http://schemas.openxmlformats.org/officeDocument/2006/relationships/image" Target="../media/image50.png"/><Relationship Id="rId8" Type="http://schemas.openxmlformats.org/officeDocument/2006/relationships/image" Target="../media/image51.png"/><Relationship Id="rId9" Type="http://schemas.openxmlformats.org/officeDocument/2006/relationships/image" Target="../media/image52.png"/><Relationship Id="rId10" Type="http://schemas.openxmlformats.org/officeDocument/2006/relationships/image" Target="../media/image53.png"/><Relationship Id="rId11" Type="http://schemas.openxmlformats.org/officeDocument/2006/relationships/image" Target="../media/image54.png"/></Relationships>
</file>

<file path=ppt/charts/_rels/chart9.xml.rels><?xml version='1.0' encoding='UTF-8' standalone='yes'?>
<Relationships xmlns="http://schemas.openxmlformats.org/package/2006/relationships"><Relationship Id="rId2" Type="http://schemas.openxmlformats.org/officeDocument/2006/relationships/image" Target="../media/image55.png"/><Relationship Id="rId3" Type="http://schemas.openxmlformats.org/officeDocument/2006/relationships/image" Target="../media/image56.png"/></Relationships>
</file>

<file path=ppt/charts/_rels/chart11.xml.rels><?xml version='1.0' encoding='UTF-8' standalone='yes'?>
<Relationships xmlns="http://schemas.openxmlformats.org/package/2006/relationships"><Relationship Id="rId2" Type="http://schemas.openxmlformats.org/officeDocument/2006/relationships/image" Target="../media/image75.png"/><Relationship Id="rId3" Type="http://schemas.openxmlformats.org/officeDocument/2006/relationships/image" Target="../media/image76.png"/><Relationship Id="rId4" Type="http://schemas.openxmlformats.org/officeDocument/2006/relationships/image" Target="../media/image77.png"/><Relationship Id="rId5" Type="http://schemas.openxmlformats.org/officeDocument/2006/relationships/image" Target="../media/image78.png"/><Relationship Id="rId6" Type="http://schemas.openxmlformats.org/officeDocument/2006/relationships/image" Target="../media/image79.png"/><Relationship Id="rId7" Type="http://schemas.openxmlformats.org/officeDocument/2006/relationships/image" Target="../media/image80.png"/><Relationship Id="rId8" Type="http://schemas.openxmlformats.org/officeDocument/2006/relationships/image" Target="../media/image81.png"/><Relationship Id="rId9" Type="http://schemas.openxmlformats.org/officeDocument/2006/relationships/image" Target="../media/image82.png"/><Relationship Id="rId10" Type="http://schemas.openxmlformats.org/officeDocument/2006/relationships/image" Target="../media/image83.png"/><Relationship Id="rId11" Type="http://schemas.openxmlformats.org/officeDocument/2006/relationships/image" Target="../media/image84.png"/><Relationship Id="rId12" Type="http://schemas.openxmlformats.org/officeDocument/2006/relationships/image" Target="../media/image85.png"/></Relationships>
</file>

<file path=ppt/charts/_rels/chart12.xml.rels><?xml version='1.0' encoding='UTF-8' standalone='yes'?>
<Relationships xmlns="http://schemas.openxmlformats.org/package/2006/relationships"><Relationship Id="rId2" Type="http://schemas.openxmlformats.org/officeDocument/2006/relationships/image" Target="../media/image87.png"/><Relationship Id="rId3" Type="http://schemas.openxmlformats.org/officeDocument/2006/relationships/image" Target="../media/image88.png"/><Relationship Id="rId4" Type="http://schemas.openxmlformats.org/officeDocument/2006/relationships/image" Target="../media/image89.png"/><Relationship Id="rId5" Type="http://schemas.openxmlformats.org/officeDocument/2006/relationships/image" Target="../media/image90.png"/><Relationship Id="rId6" Type="http://schemas.openxmlformats.org/officeDocument/2006/relationships/image" Target="../media/image91.png"/><Relationship Id="rId7" Type="http://schemas.openxmlformats.org/officeDocument/2006/relationships/image" Target="../media/image92.png"/><Relationship Id="rId8" Type="http://schemas.openxmlformats.org/officeDocument/2006/relationships/image" Target="../media/image93.png"/><Relationship Id="rId9" Type="http://schemas.openxmlformats.org/officeDocument/2006/relationships/image" Target="../media/image94.png"/><Relationship Id="rId10" Type="http://schemas.openxmlformats.org/officeDocument/2006/relationships/image" Target="../media/image95.png"/><Relationship Id="rId11" Type="http://schemas.openxmlformats.org/officeDocument/2006/relationships/image" Target="../media/image96.png"/><Relationship Id="rId12" Type="http://schemas.openxmlformats.org/officeDocument/2006/relationships/image" Target="../media/image97.png"/></Relationships>
</file>

<file path=ppt/charts/_rels/chart13.xml.rels><?xml version='1.0' encoding='UTF-8' standalone='yes'?>
<Relationships xmlns="http://schemas.openxmlformats.org/package/2006/relationships"><Relationship Id="rId2" Type="http://schemas.openxmlformats.org/officeDocument/2006/relationships/image" Target="../media/image98.png"/></Relationships>
</file>

<file path=ppt/charts/_rels/chart14.xml.rels><?xml version='1.0' encoding='UTF-8' standalone='yes'?>
<Relationships xmlns="http://schemas.openxmlformats.org/package/2006/relationships"><Relationship Id="rId2" Type="http://schemas.openxmlformats.org/officeDocument/2006/relationships/image" Target="../media/image99.png"/></Relationships>
</file>

<file path=ppt/charts/_rels/chart15.xml.rels><?xml version='1.0' encoding='UTF-8' standalone='yes'?>
<Relationships xmlns="http://schemas.openxmlformats.org/package/2006/relationships"><Relationship Id="rId2" Type="http://schemas.openxmlformats.org/officeDocument/2006/relationships/image" Target="../media/image104.png"/><Relationship Id="rId3" Type="http://schemas.openxmlformats.org/officeDocument/2006/relationships/image" Target="../media/image105.png"/><Relationship Id="rId4" Type="http://schemas.openxmlformats.org/officeDocument/2006/relationships/image" Target="../media/image106.png"/><Relationship Id="rId5" Type="http://schemas.openxmlformats.org/officeDocument/2006/relationships/image" Target="../media/image107.png"/><Relationship Id="rId6" Type="http://schemas.openxmlformats.org/officeDocument/2006/relationships/image" Target="../media/image108.png"/><Relationship Id="rId7" Type="http://schemas.openxmlformats.org/officeDocument/2006/relationships/image" Target="../media/image109.png"/><Relationship Id="rId8" Type="http://schemas.openxmlformats.org/officeDocument/2006/relationships/image" Target="../media/image110.png"/><Relationship Id="rId9" Type="http://schemas.openxmlformats.org/officeDocument/2006/relationships/image" Target="../media/image111.png"/><Relationship Id="rId10" Type="http://schemas.openxmlformats.org/officeDocument/2006/relationships/image" Target="../media/image112.png"/><Relationship Id="rId11" Type="http://schemas.openxmlformats.org/officeDocument/2006/relationships/image" Target="../media/image113.png"/></Relationships>
</file>

<file path=ppt/charts/_rels/chart19.xml.rels><?xml version='1.0' encoding='UTF-8' standalone='yes'?>
<Relationships xmlns="http://schemas.openxmlformats.org/package/2006/relationships"><Relationship Id="rId2" Type="http://schemas.openxmlformats.org/officeDocument/2006/relationships/image" Target="../media/image114.png"/><Relationship Id="rId3" Type="http://schemas.openxmlformats.org/officeDocument/2006/relationships/image" Target="../media/image115.png"/><Relationship Id="rId4" Type="http://schemas.openxmlformats.org/officeDocument/2006/relationships/image" Target="../media/image116.png"/><Relationship Id="rId5" Type="http://schemas.openxmlformats.org/officeDocument/2006/relationships/image" Target="../media/image117.png"/><Relationship Id="rId6" Type="http://schemas.openxmlformats.org/officeDocument/2006/relationships/image" Target="../media/image118.png"/><Relationship Id="rId7" Type="http://schemas.openxmlformats.org/officeDocument/2006/relationships/image" Target="../media/image119.png"/></Relationships>
</file>

<file path=ppt/charts/_rels/chart20.xml.rels><?xml version='1.0' encoding='UTF-8' standalone='yes'?>
<Relationships xmlns="http://schemas.openxmlformats.org/package/2006/relationships"><Relationship Id="rId2" Type="http://schemas.openxmlformats.org/officeDocument/2006/relationships/image" Target="../media/image123.png"/><Relationship Id="rId3" Type="http://schemas.openxmlformats.org/officeDocument/2006/relationships/image" Target="../media/image124.png"/><Relationship Id="rId4" Type="http://schemas.openxmlformats.org/officeDocument/2006/relationships/image" Target="../media/image125.png"/><Relationship Id="rId5" Type="http://schemas.openxmlformats.org/officeDocument/2006/relationships/image" Target="../media/image126.png"/><Relationship Id="rId6" Type="http://schemas.openxmlformats.org/officeDocument/2006/relationships/image" Target="../media/image127.png"/><Relationship Id="rId7" Type="http://schemas.openxmlformats.org/officeDocument/2006/relationships/image" Target="../media/image128.png"/><Relationship Id="rId8" Type="http://schemas.openxmlformats.org/officeDocument/2006/relationships/image" Target="../media/image129.png"/><Relationship Id="rId9" Type="http://schemas.openxmlformats.org/officeDocument/2006/relationships/image" Target="../media/image130.png"/><Relationship Id="rId10" Type="http://schemas.openxmlformats.org/officeDocument/2006/relationships/image" Target="../media/image131.png"/><Relationship Id="rId11" Type="http://schemas.openxmlformats.org/officeDocument/2006/relationships/image" Target="../media/image132.png"/><Relationship Id="rId12" Type="http://schemas.openxmlformats.org/officeDocument/2006/relationships/image" Target="../media/image133.png"/><Relationship Id="rId13" Type="http://schemas.openxmlformats.org/officeDocument/2006/relationships/image" Target="../media/image134.png"/></Relationships>
</file>

<file path=ppt/charts/_rels/chart24.xml.rels><?xml version='1.0' encoding='UTF-8' standalone='yes'?>
<Relationships xmlns="http://schemas.openxmlformats.org/package/2006/relationships"><Relationship Id="rId2" Type="http://schemas.openxmlformats.org/officeDocument/2006/relationships/image" Target="../media/image135.png"/><Relationship Id="rId3" Type="http://schemas.openxmlformats.org/officeDocument/2006/relationships/image" Target="../media/image136.png"/><Relationship Id="rId4" Type="http://schemas.openxmlformats.org/officeDocument/2006/relationships/image" Target="../media/image137.png"/><Relationship Id="rId5" Type="http://schemas.openxmlformats.org/officeDocument/2006/relationships/image" Target="../media/image138.png"/><Relationship Id="rId6" Type="http://schemas.openxmlformats.org/officeDocument/2006/relationships/image" Target="../media/image139.png"/><Relationship Id="rId7" Type="http://schemas.openxmlformats.org/officeDocument/2006/relationships/image" Target="../media/image140.png"/></Relationships>
</file>

<file path=ppt/charts/_rels/chart25.xml.rels><?xml version='1.0' encoding='UTF-8' standalone='yes'?>
<Relationships xmlns="http://schemas.openxmlformats.org/package/2006/relationships"><Relationship Id="rId2" Type="http://schemas.openxmlformats.org/officeDocument/2006/relationships/image" Target="../media/image158.png"/><Relationship Id="rId3" Type="http://schemas.openxmlformats.org/officeDocument/2006/relationships/image" Target="../media/image159.png"/><Relationship Id="rId4" Type="http://schemas.openxmlformats.org/officeDocument/2006/relationships/image" Target="../media/image160.png"/><Relationship Id="rId5" Type="http://schemas.openxmlformats.org/officeDocument/2006/relationships/image" Target="../media/image161.png"/><Relationship Id="rId6" Type="http://schemas.openxmlformats.org/officeDocument/2006/relationships/image" Target="../media/image162.png"/><Relationship Id="rId7" Type="http://schemas.openxmlformats.org/officeDocument/2006/relationships/image" Target="../media/image163.png"/><Relationship Id="rId8" Type="http://schemas.openxmlformats.org/officeDocument/2006/relationships/image" Target="../media/image164.png"/><Relationship Id="rId9" Type="http://schemas.openxmlformats.org/officeDocument/2006/relationships/image" Target="../media/image165.png"/><Relationship Id="rId10" Type="http://schemas.openxmlformats.org/officeDocument/2006/relationships/image" Target="../media/image166.png"/><Relationship Id="rId11" Type="http://schemas.openxmlformats.org/officeDocument/2006/relationships/image" Target="../media/image167.png"/><Relationship Id="rId12" Type="http://schemas.openxmlformats.org/officeDocument/2006/relationships/image" Target="../media/image168.png"/><Relationship Id="rId13" Type="http://schemas.openxmlformats.org/officeDocument/2006/relationships/image" Target="../media/image169.png"/><Relationship Id="rId14" Type="http://schemas.openxmlformats.org/officeDocument/2006/relationships/image" Target="../media/image170.png"/><Relationship Id="rId15" Type="http://schemas.openxmlformats.org/officeDocument/2006/relationships/image" Target="../media/image171.png"/><Relationship Id="rId16" Type="http://schemas.openxmlformats.org/officeDocument/2006/relationships/image" Target="../media/image172.png"/><Relationship Id="rId17" Type="http://schemas.openxmlformats.org/officeDocument/2006/relationships/image" Target="../media/image173.png"/><Relationship Id="rId18" Type="http://schemas.openxmlformats.org/officeDocument/2006/relationships/image" Target="../media/image174.png"/><Relationship Id="rId19" Type="http://schemas.openxmlformats.org/officeDocument/2006/relationships/image" Target="../media/image175.png"/><Relationship Id="rId20" Type="http://schemas.openxmlformats.org/officeDocument/2006/relationships/image" Target="../media/image176.png"/><Relationship Id="rId21" Type="http://schemas.openxmlformats.org/officeDocument/2006/relationships/image" Target="../media/image177.png"/><Relationship Id="rId22" Type="http://schemas.openxmlformats.org/officeDocument/2006/relationships/image" Target="../media/image178.png"/><Relationship Id="rId23" Type="http://schemas.openxmlformats.org/officeDocument/2006/relationships/image" Target="../media/image179.png"/><Relationship Id="rId24" Type="http://schemas.openxmlformats.org/officeDocument/2006/relationships/image" Target="../media/image180.png"/><Relationship Id="rId25" Type="http://schemas.openxmlformats.org/officeDocument/2006/relationships/image" Target="../media/image181.png"/><Relationship Id="rId26" Type="http://schemas.openxmlformats.org/officeDocument/2006/relationships/image" Target="../media/image182.png"/><Relationship Id="rId27" Type="http://schemas.openxmlformats.org/officeDocument/2006/relationships/image" Target="../media/image183.png"/><Relationship Id="rId28" Type="http://schemas.openxmlformats.org/officeDocument/2006/relationships/image" Target="../media/image184.png"/><Relationship Id="rId29" Type="http://schemas.openxmlformats.org/officeDocument/2006/relationships/image" Target="../media/image185.png"/><Relationship Id="rId30" Type="http://schemas.openxmlformats.org/officeDocument/2006/relationships/image" Target="../media/image186.png"/><Relationship Id="rId31" Type="http://schemas.openxmlformats.org/officeDocument/2006/relationships/image" Target="../media/image187.png"/><Relationship Id="rId32" Type="http://schemas.openxmlformats.org/officeDocument/2006/relationships/image" Target="../media/image188.png"/><Relationship Id="rId33" Type="http://schemas.openxmlformats.org/officeDocument/2006/relationships/image" Target="../media/image189.png"/><Relationship Id="rId34" Type="http://schemas.openxmlformats.org/officeDocument/2006/relationships/image" Target="../media/image190.png"/><Relationship Id="rId35" Type="http://schemas.openxmlformats.org/officeDocument/2006/relationships/image" Target="../media/image191.png"/><Relationship Id="rId36" Type="http://schemas.openxmlformats.org/officeDocument/2006/relationships/image" Target="../media/image192.png"/></Relationships>
</file>

<file path=ppt/charts/_rels/chart33.xml.rels><?xml version='1.0' encoding='UTF-8' standalone='yes'?>
<Relationships xmlns="http://schemas.openxmlformats.org/package/2006/relationships"><Relationship Id="rId2" Type="http://schemas.openxmlformats.org/officeDocument/2006/relationships/image" Target="../media/image193.png"/><Relationship Id="rId3" Type="http://schemas.openxmlformats.org/officeDocument/2006/relationships/image" Target="../media/image194.png"/><Relationship Id="rId4" Type="http://schemas.openxmlformats.org/officeDocument/2006/relationships/image" Target="../media/image195.png"/><Relationship Id="rId5" Type="http://schemas.openxmlformats.org/officeDocument/2006/relationships/image" Target="../media/image196.png"/><Relationship Id="rId6" Type="http://schemas.openxmlformats.org/officeDocument/2006/relationships/image" Target="../media/image197.png"/><Relationship Id="rId7" Type="http://schemas.openxmlformats.org/officeDocument/2006/relationships/image" Target="../media/image198.png"/><Relationship Id="rId8" Type="http://schemas.openxmlformats.org/officeDocument/2006/relationships/image" Target="../media/image199.png"/><Relationship Id="rId9" Type="http://schemas.openxmlformats.org/officeDocument/2006/relationships/image" Target="../media/image200.png"/><Relationship Id="rId10" Type="http://schemas.openxmlformats.org/officeDocument/2006/relationships/image" Target="../media/image201.png"/><Relationship Id="rId11" Type="http://schemas.openxmlformats.org/officeDocument/2006/relationships/image" Target="../media/image202.png"/><Relationship Id="rId12" Type="http://schemas.openxmlformats.org/officeDocument/2006/relationships/image" Target="../media/image203.png"/><Relationship Id="rId13" Type="http://schemas.openxmlformats.org/officeDocument/2006/relationships/image" Target="../media/image204.png"/><Relationship Id="rId14" Type="http://schemas.openxmlformats.org/officeDocument/2006/relationships/image" Target="../media/image205.png"/><Relationship Id="rId15" Type="http://schemas.openxmlformats.org/officeDocument/2006/relationships/image" Target="../media/image206.png"/><Relationship Id="rId16" Type="http://schemas.openxmlformats.org/officeDocument/2006/relationships/image" Target="../media/image207.png"/><Relationship Id="rId17" Type="http://schemas.openxmlformats.org/officeDocument/2006/relationships/image" Target="../media/image208.png"/><Relationship Id="rId18" Type="http://schemas.openxmlformats.org/officeDocument/2006/relationships/image" Target="../media/image209.png"/><Relationship Id="rId19" Type="http://schemas.openxmlformats.org/officeDocument/2006/relationships/image" Target="../media/image210.png"/></Relationships>
</file>

<file path=ppt/charts/_rels/chart34.xml.rels><?xml version='1.0' encoding='UTF-8' standalone='yes'?>
<Relationships xmlns="http://schemas.openxmlformats.org/package/2006/relationships"><Relationship Id="rId2" Type="http://schemas.openxmlformats.org/officeDocument/2006/relationships/image" Target="../media/image233.png"/><Relationship Id="rId3" Type="http://schemas.openxmlformats.org/officeDocument/2006/relationships/image" Target="../media/image234.png"/><Relationship Id="rId4" Type="http://schemas.openxmlformats.org/officeDocument/2006/relationships/image" Target="../media/image235.png"/><Relationship Id="rId5" Type="http://schemas.openxmlformats.org/officeDocument/2006/relationships/image" Target="../media/image236.png"/><Relationship Id="rId6" Type="http://schemas.openxmlformats.org/officeDocument/2006/relationships/image" Target="../media/image237.png"/><Relationship Id="rId7" Type="http://schemas.openxmlformats.org/officeDocument/2006/relationships/image" Target="../media/image238.png"/><Relationship Id="rId8" Type="http://schemas.openxmlformats.org/officeDocument/2006/relationships/image" Target="../media/image239.png"/><Relationship Id="rId9" Type="http://schemas.openxmlformats.org/officeDocument/2006/relationships/image" Target="../media/image240.png"/><Relationship Id="rId10" Type="http://schemas.openxmlformats.org/officeDocument/2006/relationships/image" Target="../media/image241.png"/><Relationship Id="rId11" Type="http://schemas.openxmlformats.org/officeDocument/2006/relationships/image" Target="../media/image242.png"/><Relationship Id="rId12" Type="http://schemas.openxmlformats.org/officeDocument/2006/relationships/image" Target="../media/image243.png"/><Relationship Id="rId13" Type="http://schemas.openxmlformats.org/officeDocument/2006/relationships/image" Target="../media/image244.png"/><Relationship Id="rId14" Type="http://schemas.openxmlformats.org/officeDocument/2006/relationships/image" Target="../media/image245.png"/><Relationship Id="rId15" Type="http://schemas.openxmlformats.org/officeDocument/2006/relationships/image" Target="../media/image246.png"/><Relationship Id="rId16" Type="http://schemas.openxmlformats.org/officeDocument/2006/relationships/image" Target="../media/image247.png"/><Relationship Id="rId17" Type="http://schemas.openxmlformats.org/officeDocument/2006/relationships/image" Target="../media/image248.png"/><Relationship Id="rId18" Type="http://schemas.openxmlformats.org/officeDocument/2006/relationships/image" Target="../media/image249.png"/><Relationship Id="rId19" Type="http://schemas.openxmlformats.org/officeDocument/2006/relationships/image" Target="../media/image250.png"/><Relationship Id="rId20" Type="http://schemas.openxmlformats.org/officeDocument/2006/relationships/image" Target="../media/image251.png"/><Relationship Id="rId21" Type="http://schemas.openxmlformats.org/officeDocument/2006/relationships/image" Target="../media/image252.png"/><Relationship Id="rId22" Type="http://schemas.openxmlformats.org/officeDocument/2006/relationships/image" Target="../media/image253.png"/><Relationship Id="rId23" Type="http://schemas.openxmlformats.org/officeDocument/2006/relationships/image" Target="../media/image254.png"/><Relationship Id="rId24" Type="http://schemas.openxmlformats.org/officeDocument/2006/relationships/image" Target="../media/image255.png"/><Relationship Id="rId25" Type="http://schemas.openxmlformats.org/officeDocument/2006/relationships/image" Target="../media/image256.png"/><Relationship Id="rId26" Type="http://schemas.openxmlformats.org/officeDocument/2006/relationships/image" Target="../media/image257.png"/><Relationship Id="rId27" Type="http://schemas.openxmlformats.org/officeDocument/2006/relationships/image" Target="../media/image258.png"/><Relationship Id="rId28" Type="http://schemas.openxmlformats.org/officeDocument/2006/relationships/image" Target="../media/image259.png"/><Relationship Id="rId29" Type="http://schemas.openxmlformats.org/officeDocument/2006/relationships/image" Target="../media/image260.png"/><Relationship Id="rId30" Type="http://schemas.openxmlformats.org/officeDocument/2006/relationships/image" Target="../media/image261.png"/><Relationship Id="rId31" Type="http://schemas.openxmlformats.org/officeDocument/2006/relationships/image" Target="../media/image262.png"/><Relationship Id="rId32" Type="http://schemas.openxmlformats.org/officeDocument/2006/relationships/image" Target="../media/image263.png"/><Relationship Id="rId33" Type="http://schemas.openxmlformats.org/officeDocument/2006/relationships/image" Target="../media/image264.png"/><Relationship Id="rId34" Type="http://schemas.openxmlformats.org/officeDocument/2006/relationships/image" Target="../media/image265.png"/><Relationship Id="rId35" Type="http://schemas.openxmlformats.org/officeDocument/2006/relationships/image" Target="../media/image266.png"/><Relationship Id="rId36" Type="http://schemas.openxmlformats.org/officeDocument/2006/relationships/image" Target="../media/image267.png"/><Relationship Id="rId37" Type="http://schemas.openxmlformats.org/officeDocument/2006/relationships/image" Target="../media/image268.png"/><Relationship Id="rId38" Type="http://schemas.openxmlformats.org/officeDocument/2006/relationships/image" Target="../media/image269.png"/><Relationship Id="rId39" Type="http://schemas.openxmlformats.org/officeDocument/2006/relationships/image" Target="../media/image270.png"/><Relationship Id="rId40" Type="http://schemas.openxmlformats.org/officeDocument/2006/relationships/image" Target="../media/image271.png"/><Relationship Id="rId41" Type="http://schemas.openxmlformats.org/officeDocument/2006/relationships/image" Target="../media/image272.png"/><Relationship Id="rId42" Type="http://schemas.openxmlformats.org/officeDocument/2006/relationships/image" Target="../media/image273.png"/><Relationship Id="rId43" Type="http://schemas.openxmlformats.org/officeDocument/2006/relationships/image" Target="../media/image274.png"/><Relationship Id="rId44" Type="http://schemas.openxmlformats.org/officeDocument/2006/relationships/image" Target="../media/image275.png"/></Relationships>
</file>

<file path=ppt/charts/_rels/chart44.xml.rels><?xml version='1.0' encoding='UTF-8' standalone='yes'?>
<Relationships xmlns="http://schemas.openxmlformats.org/package/2006/relationships"><Relationship Id="rId2" Type="http://schemas.openxmlformats.org/officeDocument/2006/relationships/image" Target="../media/image276.png"/><Relationship Id="rId3" Type="http://schemas.openxmlformats.org/officeDocument/2006/relationships/image" Target="../media/image277.png"/><Relationship Id="rId4" Type="http://schemas.openxmlformats.org/officeDocument/2006/relationships/image" Target="../media/image278.png"/><Relationship Id="rId5" Type="http://schemas.openxmlformats.org/officeDocument/2006/relationships/image" Target="../media/image279.png"/><Relationship Id="rId6" Type="http://schemas.openxmlformats.org/officeDocument/2006/relationships/image" Target="../media/image280.png"/><Relationship Id="rId7" Type="http://schemas.openxmlformats.org/officeDocument/2006/relationships/image" Target="../media/image281.png"/><Relationship Id="rId8" Type="http://schemas.openxmlformats.org/officeDocument/2006/relationships/image" Target="../media/image282.png"/><Relationship Id="rId9" Type="http://schemas.openxmlformats.org/officeDocument/2006/relationships/image" Target="../media/image283.png"/><Relationship Id="rId10" Type="http://schemas.openxmlformats.org/officeDocument/2006/relationships/image" Target="../media/image284.png"/><Relationship Id="rId11" Type="http://schemas.openxmlformats.org/officeDocument/2006/relationships/image" Target="../media/image285.png"/><Relationship Id="rId12" Type="http://schemas.openxmlformats.org/officeDocument/2006/relationships/image" Target="../media/image286.png"/><Relationship Id="rId13" Type="http://schemas.openxmlformats.org/officeDocument/2006/relationships/image" Target="../media/image287.png"/><Relationship Id="rId14" Type="http://schemas.openxmlformats.org/officeDocument/2006/relationships/image" Target="../media/image288.png"/><Relationship Id="rId15" Type="http://schemas.openxmlformats.org/officeDocument/2006/relationships/image" Target="../media/image289.png"/><Relationship Id="rId16" Type="http://schemas.openxmlformats.org/officeDocument/2006/relationships/image" Target="../media/image290.png"/><Relationship Id="rId17" Type="http://schemas.openxmlformats.org/officeDocument/2006/relationships/image" Target="../media/image291.png"/><Relationship Id="rId18" Type="http://schemas.openxmlformats.org/officeDocument/2006/relationships/image" Target="../media/image292.png"/><Relationship Id="rId19" Type="http://schemas.openxmlformats.org/officeDocument/2006/relationships/image" Target="../media/image293.png"/><Relationship Id="rId20" Type="http://schemas.openxmlformats.org/officeDocument/2006/relationships/image" Target="../media/image294.png"/><Relationship Id="rId21" Type="http://schemas.openxmlformats.org/officeDocument/2006/relationships/image" Target="../media/image295.png"/><Relationship Id="rId22" Type="http://schemas.openxmlformats.org/officeDocument/2006/relationships/image" Target="../media/image296.png"/><Relationship Id="rId23" Type="http://schemas.openxmlformats.org/officeDocument/2006/relationships/image" Target="../media/image297.png"/></Relationships>
</file>

<file path=ppt/charts/_rels/chart45.xml.rels><?xml version='1.0' encoding='UTF-8' standalone='yes'?>
<Relationships xmlns="http://schemas.openxmlformats.org/package/2006/relationships"><Relationship Id="rId2" Type="http://schemas.openxmlformats.org/officeDocument/2006/relationships/image" Target="../media/image321.png"/><Relationship Id="rId3" Type="http://schemas.openxmlformats.org/officeDocument/2006/relationships/image" Target="../media/image322.png"/><Relationship Id="rId4" Type="http://schemas.openxmlformats.org/officeDocument/2006/relationships/image" Target="../media/image323.png"/><Relationship Id="rId5" Type="http://schemas.openxmlformats.org/officeDocument/2006/relationships/image" Target="../media/image324.png"/><Relationship Id="rId6" Type="http://schemas.openxmlformats.org/officeDocument/2006/relationships/image" Target="../media/image325.png"/><Relationship Id="rId7" Type="http://schemas.openxmlformats.org/officeDocument/2006/relationships/image" Target="../media/image326.png"/><Relationship Id="rId8" Type="http://schemas.openxmlformats.org/officeDocument/2006/relationships/image" Target="../media/image327.png"/><Relationship Id="rId9" Type="http://schemas.openxmlformats.org/officeDocument/2006/relationships/image" Target="../media/image328.png"/><Relationship Id="rId10" Type="http://schemas.openxmlformats.org/officeDocument/2006/relationships/image" Target="../media/image329.png"/><Relationship Id="rId11" Type="http://schemas.openxmlformats.org/officeDocument/2006/relationships/image" Target="../media/image330.png"/><Relationship Id="rId12" Type="http://schemas.openxmlformats.org/officeDocument/2006/relationships/image" Target="../media/image331.png"/><Relationship Id="rId13" Type="http://schemas.openxmlformats.org/officeDocument/2006/relationships/image" Target="../media/image332.png"/><Relationship Id="rId14" Type="http://schemas.openxmlformats.org/officeDocument/2006/relationships/image" Target="../media/image333.png"/><Relationship Id="rId15" Type="http://schemas.openxmlformats.org/officeDocument/2006/relationships/image" Target="../media/image334.png"/><Relationship Id="rId16" Type="http://schemas.openxmlformats.org/officeDocument/2006/relationships/image" Target="../media/image335.png"/><Relationship Id="rId17" Type="http://schemas.openxmlformats.org/officeDocument/2006/relationships/image" Target="../media/image336.png"/><Relationship Id="rId18" Type="http://schemas.openxmlformats.org/officeDocument/2006/relationships/image" Target="../media/image337.png"/><Relationship Id="rId19" Type="http://schemas.openxmlformats.org/officeDocument/2006/relationships/image" Target="../media/image338.png"/><Relationship Id="rId20" Type="http://schemas.openxmlformats.org/officeDocument/2006/relationships/image" Target="../media/image339.png"/><Relationship Id="rId21" Type="http://schemas.openxmlformats.org/officeDocument/2006/relationships/image" Target="../media/image340.png"/><Relationship Id="rId22" Type="http://schemas.openxmlformats.org/officeDocument/2006/relationships/image" Target="../media/image341.png"/><Relationship Id="rId23" Type="http://schemas.openxmlformats.org/officeDocument/2006/relationships/image" Target="../media/image342.png"/><Relationship Id="rId24" Type="http://schemas.openxmlformats.org/officeDocument/2006/relationships/image" Target="../media/image343.png"/><Relationship Id="rId25" Type="http://schemas.openxmlformats.org/officeDocument/2006/relationships/image" Target="../media/image344.png"/><Relationship Id="rId26" Type="http://schemas.openxmlformats.org/officeDocument/2006/relationships/image" Target="../media/image345.png"/><Relationship Id="rId27" Type="http://schemas.openxmlformats.org/officeDocument/2006/relationships/image" Target="../media/image346.png"/><Relationship Id="rId28" Type="http://schemas.openxmlformats.org/officeDocument/2006/relationships/image" Target="../media/image347.png"/><Relationship Id="rId29" Type="http://schemas.openxmlformats.org/officeDocument/2006/relationships/image" Target="../media/image348.png"/><Relationship Id="rId30" Type="http://schemas.openxmlformats.org/officeDocument/2006/relationships/image" Target="../media/image349.png"/><Relationship Id="rId31" Type="http://schemas.openxmlformats.org/officeDocument/2006/relationships/image" Target="../media/image350.png"/><Relationship Id="rId32" Type="http://schemas.openxmlformats.org/officeDocument/2006/relationships/image" Target="../media/image351.png"/><Relationship Id="rId33" Type="http://schemas.openxmlformats.org/officeDocument/2006/relationships/image" Target="../media/image352.png"/><Relationship Id="rId34" Type="http://schemas.openxmlformats.org/officeDocument/2006/relationships/image" Target="../media/image353.png"/><Relationship Id="rId35" Type="http://schemas.openxmlformats.org/officeDocument/2006/relationships/image" Target="../media/image354.png"/><Relationship Id="rId36" Type="http://schemas.openxmlformats.org/officeDocument/2006/relationships/image" Target="../media/image355.png"/><Relationship Id="rId37" Type="http://schemas.openxmlformats.org/officeDocument/2006/relationships/image" Target="../media/image356.png"/><Relationship Id="rId38" Type="http://schemas.openxmlformats.org/officeDocument/2006/relationships/image" Target="../media/image357.png"/><Relationship Id="rId39" Type="http://schemas.openxmlformats.org/officeDocument/2006/relationships/image" Target="../media/image358.png"/><Relationship Id="rId40" Type="http://schemas.openxmlformats.org/officeDocument/2006/relationships/image" Target="../media/image359.png"/><Relationship Id="rId41" Type="http://schemas.openxmlformats.org/officeDocument/2006/relationships/image" Target="../media/image360.png"/><Relationship Id="rId42" Type="http://schemas.openxmlformats.org/officeDocument/2006/relationships/image" Target="../media/image361.png"/><Relationship Id="rId43" Type="http://schemas.openxmlformats.org/officeDocument/2006/relationships/image" Target="../media/image362.png"/><Relationship Id="rId44" Type="http://schemas.openxmlformats.org/officeDocument/2006/relationships/image" Target="../media/image363.png"/></Relationships>
</file>

<file path=ppt/charts/_rels/chart56.xml.rels><?xml version='1.0' encoding='UTF-8' standalone='yes'?>
<Relationships xmlns="http://schemas.openxmlformats.org/package/2006/relationships"><Relationship Id="rId2" Type="http://schemas.openxmlformats.org/officeDocument/2006/relationships/image" Target="../media/image364.png"/><Relationship Id="rId3" Type="http://schemas.openxmlformats.org/officeDocument/2006/relationships/image" Target="../media/image365.png"/><Relationship Id="rId4" Type="http://schemas.openxmlformats.org/officeDocument/2006/relationships/image" Target="../media/image366.png"/><Relationship Id="rId5" Type="http://schemas.openxmlformats.org/officeDocument/2006/relationships/image" Target="../media/image367.png"/><Relationship Id="rId6" Type="http://schemas.openxmlformats.org/officeDocument/2006/relationships/image" Target="../media/image368.png"/><Relationship Id="rId7" Type="http://schemas.openxmlformats.org/officeDocument/2006/relationships/image" Target="../media/image369.png"/><Relationship Id="rId8" Type="http://schemas.openxmlformats.org/officeDocument/2006/relationships/image" Target="../media/image370.png"/><Relationship Id="rId9" Type="http://schemas.openxmlformats.org/officeDocument/2006/relationships/image" Target="../media/image371.png"/><Relationship Id="rId10" Type="http://schemas.openxmlformats.org/officeDocument/2006/relationships/image" Target="../media/image372.png"/><Relationship Id="rId11" Type="http://schemas.openxmlformats.org/officeDocument/2006/relationships/image" Target="../media/image373.png"/><Relationship Id="rId12" Type="http://schemas.openxmlformats.org/officeDocument/2006/relationships/image" Target="../media/image374.png"/><Relationship Id="rId13" Type="http://schemas.openxmlformats.org/officeDocument/2006/relationships/image" Target="../media/image375.png"/><Relationship Id="rId14" Type="http://schemas.openxmlformats.org/officeDocument/2006/relationships/image" Target="../media/image376.png"/><Relationship Id="rId15" Type="http://schemas.openxmlformats.org/officeDocument/2006/relationships/image" Target="../media/image377.png"/><Relationship Id="rId16" Type="http://schemas.openxmlformats.org/officeDocument/2006/relationships/image" Target="../media/image378.png"/><Relationship Id="rId17" Type="http://schemas.openxmlformats.org/officeDocument/2006/relationships/image" Target="../media/image379.png"/><Relationship Id="rId18" Type="http://schemas.openxmlformats.org/officeDocument/2006/relationships/image" Target="../media/image380.png"/><Relationship Id="rId19" Type="http://schemas.openxmlformats.org/officeDocument/2006/relationships/image" Target="../media/image381.png"/><Relationship Id="rId20" Type="http://schemas.openxmlformats.org/officeDocument/2006/relationships/image" Target="../media/image382.png"/><Relationship Id="rId21" Type="http://schemas.openxmlformats.org/officeDocument/2006/relationships/image" Target="../media/image383.png"/><Relationship Id="rId22" Type="http://schemas.openxmlformats.org/officeDocument/2006/relationships/image" Target="../media/image384.png"/><Relationship Id="rId23" Type="http://schemas.openxmlformats.org/officeDocument/2006/relationships/image" Target="../media/image385.png"/><Relationship Id="rId24" Type="http://schemas.openxmlformats.org/officeDocument/2006/relationships/image" Target="../media/image386.png"/><Relationship Id="rId25" Type="http://schemas.openxmlformats.org/officeDocument/2006/relationships/image" Target="../media/image387.png"/><Relationship Id="rId26" Type="http://schemas.openxmlformats.org/officeDocument/2006/relationships/image" Target="../media/image388.png"/><Relationship Id="rId27" Type="http://schemas.openxmlformats.org/officeDocument/2006/relationships/image" Target="../media/image389.png"/><Relationship Id="rId28" Type="http://schemas.openxmlformats.org/officeDocument/2006/relationships/image" Target="../media/image390.png"/></Relationships>
</file>

<file path=ppt/charts/_rels/chart57.xml.rels><?xml version='1.0' encoding='UTF-8' standalone='yes'?>
<Relationships xmlns="http://schemas.openxmlformats.org/package/2006/relationships"><Relationship Id="rId2" Type="http://schemas.openxmlformats.org/officeDocument/2006/relationships/image" Target="../media/image405.png"/><Relationship Id="rId3" Type="http://schemas.openxmlformats.org/officeDocument/2006/relationships/image" Target="../media/image406.png"/><Relationship Id="rId4" Type="http://schemas.openxmlformats.org/officeDocument/2006/relationships/image" Target="../media/image407.png"/><Relationship Id="rId5" Type="http://schemas.openxmlformats.org/officeDocument/2006/relationships/image" Target="../media/image408.png"/><Relationship Id="rId6" Type="http://schemas.openxmlformats.org/officeDocument/2006/relationships/image" Target="../media/image409.png"/><Relationship Id="rId7" Type="http://schemas.openxmlformats.org/officeDocument/2006/relationships/image" Target="../media/image410.png"/><Relationship Id="rId8" Type="http://schemas.openxmlformats.org/officeDocument/2006/relationships/image" Target="../media/image411.png"/><Relationship Id="rId9" Type="http://schemas.openxmlformats.org/officeDocument/2006/relationships/image" Target="../media/image412.png"/><Relationship Id="rId10" Type="http://schemas.openxmlformats.org/officeDocument/2006/relationships/image" Target="../media/image413.png"/><Relationship Id="rId11" Type="http://schemas.openxmlformats.org/officeDocument/2006/relationships/image" Target="../media/image414.png"/><Relationship Id="rId12" Type="http://schemas.openxmlformats.org/officeDocument/2006/relationships/image" Target="../media/image415.png"/><Relationship Id="rId13" Type="http://schemas.openxmlformats.org/officeDocument/2006/relationships/image" Target="../media/image416.png"/><Relationship Id="rId14" Type="http://schemas.openxmlformats.org/officeDocument/2006/relationships/image" Target="../media/image417.png"/><Relationship Id="rId15" Type="http://schemas.openxmlformats.org/officeDocument/2006/relationships/image" Target="../media/image418.png"/><Relationship Id="rId16" Type="http://schemas.openxmlformats.org/officeDocument/2006/relationships/image" Target="../media/image419.png"/><Relationship Id="rId17" Type="http://schemas.openxmlformats.org/officeDocument/2006/relationships/image" Target="../media/image420.png"/><Relationship Id="rId18" Type="http://schemas.openxmlformats.org/officeDocument/2006/relationships/image" Target="../media/image421.png"/><Relationship Id="rId19" Type="http://schemas.openxmlformats.org/officeDocument/2006/relationships/image" Target="../media/image422.png"/><Relationship Id="rId20" Type="http://schemas.openxmlformats.org/officeDocument/2006/relationships/image" Target="../media/image423.png"/><Relationship Id="rId21" Type="http://schemas.openxmlformats.org/officeDocument/2006/relationships/image" Target="../media/image424.png"/><Relationship Id="rId22" Type="http://schemas.openxmlformats.org/officeDocument/2006/relationships/image" Target="../media/image425.png"/><Relationship Id="rId23" Type="http://schemas.openxmlformats.org/officeDocument/2006/relationships/image" Target="../media/image426.png"/><Relationship Id="rId24" Type="http://schemas.openxmlformats.org/officeDocument/2006/relationships/image" Target="../media/image427.png"/><Relationship Id="rId25" Type="http://schemas.openxmlformats.org/officeDocument/2006/relationships/image" Target="../media/image428.png"/><Relationship Id="rId26" Type="http://schemas.openxmlformats.org/officeDocument/2006/relationships/image" Target="../media/image429.png"/><Relationship Id="rId27" Type="http://schemas.openxmlformats.org/officeDocument/2006/relationships/image" Target="../media/image430.png"/><Relationship Id="rId28" Type="http://schemas.openxmlformats.org/officeDocument/2006/relationships/image" Target="../media/image431.png"/><Relationship Id="rId29" Type="http://schemas.openxmlformats.org/officeDocument/2006/relationships/image" Target="../media/image432.png"/></Relationships>
</file>

<file path=ppt/charts/_rels/chart64.xml.rels><?xml version='1.0' encoding='UTF-8' standalone='yes'?>
<Relationships xmlns="http://schemas.openxmlformats.org/package/2006/relationships"><Relationship Id="rId2" Type="http://schemas.openxmlformats.org/officeDocument/2006/relationships/image" Target="../media/image433.png"/><Relationship Id="rId3" Type="http://schemas.openxmlformats.org/officeDocument/2006/relationships/image" Target="../media/image434.png"/><Relationship Id="rId4" Type="http://schemas.openxmlformats.org/officeDocument/2006/relationships/image" Target="../media/image435.png"/><Relationship Id="rId5" Type="http://schemas.openxmlformats.org/officeDocument/2006/relationships/image" Target="../media/image436.png"/><Relationship Id="rId6" Type="http://schemas.openxmlformats.org/officeDocument/2006/relationships/image" Target="../media/image437.png"/><Relationship Id="rId7" Type="http://schemas.openxmlformats.org/officeDocument/2006/relationships/image" Target="../media/image438.png"/><Relationship Id="rId8" Type="http://schemas.openxmlformats.org/officeDocument/2006/relationships/image" Target="../media/image439.png"/><Relationship Id="rId9" Type="http://schemas.openxmlformats.org/officeDocument/2006/relationships/image" Target="../media/image440.png"/><Relationship Id="rId10" Type="http://schemas.openxmlformats.org/officeDocument/2006/relationships/image" Target="../media/image441.png"/><Relationship Id="rId11" Type="http://schemas.openxmlformats.org/officeDocument/2006/relationships/image" Target="../media/image442.png"/><Relationship Id="rId12" Type="http://schemas.openxmlformats.org/officeDocument/2006/relationships/image" Target="../media/image443.png"/><Relationship Id="rId13" Type="http://schemas.openxmlformats.org/officeDocument/2006/relationships/image" Target="../media/image444.png"/><Relationship Id="rId14" Type="http://schemas.openxmlformats.org/officeDocument/2006/relationships/image" Target="../media/image445.png"/><Relationship Id="rId15" Type="http://schemas.openxmlformats.org/officeDocument/2006/relationships/image" Target="../media/image446.png"/><Relationship Id="rId16" Type="http://schemas.openxmlformats.org/officeDocument/2006/relationships/image" Target="../media/image447.png"/></Relationships>
</file>

<file path=ppt/charts/_rels/chart65.xml.rels><?xml version='1.0' encoding='UTF-8' standalone='yes'?>
<Relationships xmlns="http://schemas.openxmlformats.org/package/2006/relationships"><Relationship Id="rId2" Type="http://schemas.openxmlformats.org/officeDocument/2006/relationships/image" Target="../media/image464.png"/><Relationship Id="rId3" Type="http://schemas.openxmlformats.org/officeDocument/2006/relationships/image" Target="../media/image465.png"/><Relationship Id="rId4" Type="http://schemas.openxmlformats.org/officeDocument/2006/relationships/image" Target="../media/image466.png"/><Relationship Id="rId5" Type="http://schemas.openxmlformats.org/officeDocument/2006/relationships/image" Target="../media/image467.png"/><Relationship Id="rId6" Type="http://schemas.openxmlformats.org/officeDocument/2006/relationships/image" Target="../media/image468.png"/><Relationship Id="rId7" Type="http://schemas.openxmlformats.org/officeDocument/2006/relationships/image" Target="../media/image469.png"/><Relationship Id="rId8" Type="http://schemas.openxmlformats.org/officeDocument/2006/relationships/image" Target="../media/image470.png"/><Relationship Id="rId9" Type="http://schemas.openxmlformats.org/officeDocument/2006/relationships/image" Target="../media/image471.png"/><Relationship Id="rId10" Type="http://schemas.openxmlformats.org/officeDocument/2006/relationships/image" Target="../media/image472.png"/><Relationship Id="rId11" Type="http://schemas.openxmlformats.org/officeDocument/2006/relationships/image" Target="../media/image473.png"/><Relationship Id="rId12" Type="http://schemas.openxmlformats.org/officeDocument/2006/relationships/image" Target="../media/image474.png"/><Relationship Id="rId13" Type="http://schemas.openxmlformats.org/officeDocument/2006/relationships/image" Target="../media/image475.png"/><Relationship Id="rId14" Type="http://schemas.openxmlformats.org/officeDocument/2006/relationships/image" Target="../media/image476.png"/><Relationship Id="rId15" Type="http://schemas.openxmlformats.org/officeDocument/2006/relationships/image" Target="../media/image477.png"/><Relationship Id="rId16" Type="http://schemas.openxmlformats.org/officeDocument/2006/relationships/image" Target="../media/image478.png"/><Relationship Id="rId17" Type="http://schemas.openxmlformats.org/officeDocument/2006/relationships/image" Target="../media/image479.png"/><Relationship Id="rId18" Type="http://schemas.openxmlformats.org/officeDocument/2006/relationships/image" Target="../media/image480.png"/><Relationship Id="rId19" Type="http://schemas.openxmlformats.org/officeDocument/2006/relationships/image" Target="../media/image481.png"/><Relationship Id="rId20" Type="http://schemas.openxmlformats.org/officeDocument/2006/relationships/image" Target="../media/image482.png"/><Relationship Id="rId21" Type="http://schemas.openxmlformats.org/officeDocument/2006/relationships/image" Target="../media/image483.png"/><Relationship Id="rId22" Type="http://schemas.openxmlformats.org/officeDocument/2006/relationships/image" Target="../media/image484.png"/><Relationship Id="rId23" Type="http://schemas.openxmlformats.org/officeDocument/2006/relationships/image" Target="../media/image485.png"/><Relationship Id="rId24" Type="http://schemas.openxmlformats.org/officeDocument/2006/relationships/image" Target="../media/image486.png"/><Relationship Id="rId25" Type="http://schemas.openxmlformats.org/officeDocument/2006/relationships/image" Target="../media/image487.png"/><Relationship Id="rId26" Type="http://schemas.openxmlformats.org/officeDocument/2006/relationships/image" Target="../media/image488.png"/><Relationship Id="rId27" Type="http://schemas.openxmlformats.org/officeDocument/2006/relationships/image" Target="../media/image489.png"/><Relationship Id="rId28" Type="http://schemas.openxmlformats.org/officeDocument/2006/relationships/image" Target="../media/image490.png"/><Relationship Id="rId29" Type="http://schemas.openxmlformats.org/officeDocument/2006/relationships/image" Target="../media/image491.png"/></Relationships>
</file>

<file path=ppt/charts/_rels/chart73.xml.rels><?xml version='1.0' encoding='UTF-8' standalone='yes'?>
<Relationships xmlns="http://schemas.openxmlformats.org/package/2006/relationships"><Relationship Id="rId2" Type="http://schemas.openxmlformats.org/officeDocument/2006/relationships/image" Target="../media/image492.png"/><Relationship Id="rId3" Type="http://schemas.openxmlformats.org/officeDocument/2006/relationships/image" Target="../media/image493.png"/><Relationship Id="rId4" Type="http://schemas.openxmlformats.org/officeDocument/2006/relationships/image" Target="../media/image494.png"/><Relationship Id="rId5" Type="http://schemas.openxmlformats.org/officeDocument/2006/relationships/image" Target="../media/image495.png"/><Relationship Id="rId6" Type="http://schemas.openxmlformats.org/officeDocument/2006/relationships/image" Target="../media/image496.png"/><Relationship Id="rId7" Type="http://schemas.openxmlformats.org/officeDocument/2006/relationships/image" Target="../media/image497.png"/><Relationship Id="rId8" Type="http://schemas.openxmlformats.org/officeDocument/2006/relationships/image" Target="../media/image498.png"/><Relationship Id="rId9" Type="http://schemas.openxmlformats.org/officeDocument/2006/relationships/image" Target="../media/image499.png"/><Relationship Id="rId10" Type="http://schemas.openxmlformats.org/officeDocument/2006/relationships/image" Target="../media/image500.png"/><Relationship Id="rId11" Type="http://schemas.openxmlformats.org/officeDocument/2006/relationships/image" Target="../media/image501.png"/><Relationship Id="rId12" Type="http://schemas.openxmlformats.org/officeDocument/2006/relationships/image" Target="../media/image502.png"/><Relationship Id="rId13" Type="http://schemas.openxmlformats.org/officeDocument/2006/relationships/image" Target="../media/image503.png"/><Relationship Id="rId14" Type="http://schemas.openxmlformats.org/officeDocument/2006/relationships/image" Target="../media/image504.png"/><Relationship Id="rId15" Type="http://schemas.openxmlformats.org/officeDocument/2006/relationships/image" Target="../media/image505.png"/><Relationship Id="rId16" Type="http://schemas.openxmlformats.org/officeDocument/2006/relationships/image" Target="../media/image506.png"/><Relationship Id="rId17" Type="http://schemas.openxmlformats.org/officeDocument/2006/relationships/image" Target="../media/image507.png"/><Relationship Id="rId18" Type="http://schemas.openxmlformats.org/officeDocument/2006/relationships/image" Target="../media/image508.png"/></Relationships>
</file>

<file path=ppt/charts/_rels/chart74.xml.rels><?xml version='1.0' encoding='UTF-8' standalone='yes'?>
<Relationships xmlns="http://schemas.openxmlformats.org/package/2006/relationships"><Relationship Id="rId2" Type="http://schemas.openxmlformats.org/officeDocument/2006/relationships/image" Target="../media/image522.png"/><Relationship Id="rId3" Type="http://schemas.openxmlformats.org/officeDocument/2006/relationships/image" Target="../media/image523.png"/><Relationship Id="rId4" Type="http://schemas.openxmlformats.org/officeDocument/2006/relationships/image" Target="../media/image524.png"/><Relationship Id="rId5" Type="http://schemas.openxmlformats.org/officeDocument/2006/relationships/image" Target="../media/image525.png"/><Relationship Id="rId6" Type="http://schemas.openxmlformats.org/officeDocument/2006/relationships/image" Target="../media/image526.png"/><Relationship Id="rId7" Type="http://schemas.openxmlformats.org/officeDocument/2006/relationships/image" Target="../media/image527.png"/><Relationship Id="rId8" Type="http://schemas.openxmlformats.org/officeDocument/2006/relationships/image" Target="../media/image528.png"/><Relationship Id="rId9" Type="http://schemas.openxmlformats.org/officeDocument/2006/relationships/image" Target="../media/image529.png"/><Relationship Id="rId10" Type="http://schemas.openxmlformats.org/officeDocument/2006/relationships/image" Target="../media/image530.png"/><Relationship Id="rId11" Type="http://schemas.openxmlformats.org/officeDocument/2006/relationships/image" Target="../media/image531.png"/><Relationship Id="rId12" Type="http://schemas.openxmlformats.org/officeDocument/2006/relationships/image" Target="../media/image532.png"/><Relationship Id="rId13" Type="http://schemas.openxmlformats.org/officeDocument/2006/relationships/image" Target="../media/image533.png"/><Relationship Id="rId14" Type="http://schemas.openxmlformats.org/officeDocument/2006/relationships/image" Target="../media/image534.png"/><Relationship Id="rId15" Type="http://schemas.openxmlformats.org/officeDocument/2006/relationships/image" Target="../media/image535.png"/><Relationship Id="rId16" Type="http://schemas.openxmlformats.org/officeDocument/2006/relationships/image" Target="../media/image536.png"/><Relationship Id="rId17" Type="http://schemas.openxmlformats.org/officeDocument/2006/relationships/image" Target="../media/image537.png"/><Relationship Id="rId18" Type="http://schemas.openxmlformats.org/officeDocument/2006/relationships/image" Target="../media/image538.png"/><Relationship Id="rId19" Type="http://schemas.openxmlformats.org/officeDocument/2006/relationships/image" Target="../media/image539.png"/><Relationship Id="rId20" Type="http://schemas.openxmlformats.org/officeDocument/2006/relationships/image" Target="../media/image540.png"/><Relationship Id="rId21" Type="http://schemas.openxmlformats.org/officeDocument/2006/relationships/image" Target="../media/image541.png"/><Relationship Id="rId22" Type="http://schemas.openxmlformats.org/officeDocument/2006/relationships/image" Target="../media/image542.png"/><Relationship Id="rId23" Type="http://schemas.openxmlformats.org/officeDocument/2006/relationships/image" Target="../media/image543.png"/><Relationship Id="rId24" Type="http://schemas.openxmlformats.org/officeDocument/2006/relationships/image" Target="../media/image544.png"/><Relationship Id="rId25" Type="http://schemas.openxmlformats.org/officeDocument/2006/relationships/image" Target="../media/image545.png"/><Relationship Id="rId26" Type="http://schemas.openxmlformats.org/officeDocument/2006/relationships/image" Target="../media/image546.png"/><Relationship Id="rId27" Type="http://schemas.openxmlformats.org/officeDocument/2006/relationships/image" Target="../media/image547.png"/><Relationship Id="rId28" Type="http://schemas.openxmlformats.org/officeDocument/2006/relationships/image" Target="../media/image548.png"/><Relationship Id="rId29" Type="http://schemas.openxmlformats.org/officeDocument/2006/relationships/image" Target="../media/image549.png"/><Relationship Id="rId30" Type="http://schemas.openxmlformats.org/officeDocument/2006/relationships/image" Target="../media/image550.png"/><Relationship Id="rId31" Type="http://schemas.openxmlformats.org/officeDocument/2006/relationships/image" Target="../media/image551.png"/><Relationship Id="rId32" Type="http://schemas.openxmlformats.org/officeDocument/2006/relationships/image" Target="../media/image552.png"/><Relationship Id="rId33" Type="http://schemas.openxmlformats.org/officeDocument/2006/relationships/image" Target="../media/image553.png"/><Relationship Id="rId34" Type="http://schemas.openxmlformats.org/officeDocument/2006/relationships/image" Target="../media/image554.png"/><Relationship Id="rId35" Type="http://schemas.openxmlformats.org/officeDocument/2006/relationships/image" Target="../media/image555.png"/><Relationship Id="rId36" Type="http://schemas.openxmlformats.org/officeDocument/2006/relationships/image" Target="../media/image556.png"/><Relationship Id="rId37" Type="http://schemas.openxmlformats.org/officeDocument/2006/relationships/image" Target="../media/image557.png"/><Relationship Id="rId38" Type="http://schemas.openxmlformats.org/officeDocument/2006/relationships/image" Target="../media/image558.png"/><Relationship Id="rId39" Type="http://schemas.openxmlformats.org/officeDocument/2006/relationships/image" Target="../media/image559.png"/></Relationships>
</file>

<file path=ppt/charts/_rels/chart83.xml.rels><?xml version='1.0' encoding='UTF-8' standalone='yes'?>
<Relationships xmlns="http://schemas.openxmlformats.org/package/2006/relationships"><Relationship Id="rId2" Type="http://schemas.openxmlformats.org/officeDocument/2006/relationships/image" Target="../media/image560.png"/><Relationship Id="rId3" Type="http://schemas.openxmlformats.org/officeDocument/2006/relationships/image" Target="../media/image561.png"/><Relationship Id="rId4" Type="http://schemas.openxmlformats.org/officeDocument/2006/relationships/image" Target="../media/image562.png"/><Relationship Id="rId5" Type="http://schemas.openxmlformats.org/officeDocument/2006/relationships/image" Target="../media/image563.png"/><Relationship Id="rId6" Type="http://schemas.openxmlformats.org/officeDocument/2006/relationships/image" Target="../media/image564.png"/><Relationship Id="rId7" Type="http://schemas.openxmlformats.org/officeDocument/2006/relationships/image" Target="../media/image565.png"/><Relationship Id="rId8" Type="http://schemas.openxmlformats.org/officeDocument/2006/relationships/image" Target="../media/image566.png"/><Relationship Id="rId9" Type="http://schemas.openxmlformats.org/officeDocument/2006/relationships/image" Target="../media/image567.png"/><Relationship Id="rId10" Type="http://schemas.openxmlformats.org/officeDocument/2006/relationships/image" Target="../media/image568.png"/><Relationship Id="rId11" Type="http://schemas.openxmlformats.org/officeDocument/2006/relationships/image" Target="../media/image569.png"/><Relationship Id="rId12" Type="http://schemas.openxmlformats.org/officeDocument/2006/relationships/image" Target="../media/image570.png"/><Relationship Id="rId13" Type="http://schemas.openxmlformats.org/officeDocument/2006/relationships/image" Target="../media/image571.png"/><Relationship Id="rId14" Type="http://schemas.openxmlformats.org/officeDocument/2006/relationships/image" Target="../media/image572.png"/><Relationship Id="rId15" Type="http://schemas.openxmlformats.org/officeDocument/2006/relationships/image" Target="../media/image573.png"/><Relationship Id="rId16" Type="http://schemas.openxmlformats.org/officeDocument/2006/relationships/image" Target="../media/image574.png"/><Relationship Id="rId17" Type="http://schemas.openxmlformats.org/officeDocument/2006/relationships/image" Target="../media/image575.png"/><Relationship Id="rId18" Type="http://schemas.openxmlformats.org/officeDocument/2006/relationships/image" Target="../media/image576.png"/><Relationship Id="rId19" Type="http://schemas.openxmlformats.org/officeDocument/2006/relationships/image" Target="../media/image577.png"/><Relationship Id="rId20" Type="http://schemas.openxmlformats.org/officeDocument/2006/relationships/image" Target="../media/image578.png"/><Relationship Id="rId21" Type="http://schemas.openxmlformats.org/officeDocument/2006/relationships/image" Target="../media/image579.png"/></Relationships>
</file>

<file path=ppt/charts/_rels/chart87.xml.rels><?xml version='1.0' encoding='UTF-8' standalone='yes'?>
<Relationships xmlns="http://schemas.openxmlformats.org/package/2006/relationships"><Relationship Id="rId2" Type="http://schemas.openxmlformats.org/officeDocument/2006/relationships/image" Target="../media/image580.png"/></Relationships>
</file>

<file path=ppt/charts/_rels/chart89.xml.rels><?xml version='1.0' encoding='UTF-8' standalone='yes'?>
<Relationships xmlns="http://schemas.openxmlformats.org/package/2006/relationships"><Relationship Id="rId2" Type="http://schemas.openxmlformats.org/officeDocument/2006/relationships/image" Target="../media/image581.png"/></Relationships>
</file>

<file path=ppt/charts/_rels/chart91.xml.rels><?xml version='1.0' encoding='UTF-8' standalone='yes'?>
<Relationships xmlns="http://schemas.openxmlformats.org/package/2006/relationships"><Relationship Id="rId2" Type="http://schemas.openxmlformats.org/officeDocument/2006/relationships/image" Target="../media/image582.png"/><Relationship Id="rId3" Type="http://schemas.openxmlformats.org/officeDocument/2006/relationships/image" Target="../media/image583.png"/><Relationship Id="rId4" Type="http://schemas.openxmlformats.org/officeDocument/2006/relationships/image" Target="../media/image584.png"/><Relationship Id="rId5" Type="http://schemas.openxmlformats.org/officeDocument/2006/relationships/image" Target="../media/image585.png"/><Relationship Id="rId6" Type="http://schemas.openxmlformats.org/officeDocument/2006/relationships/image" Target="../media/image586.png"/><Relationship Id="rId7" Type="http://schemas.openxmlformats.org/officeDocument/2006/relationships/image" Target="../media/image587.png"/><Relationship Id="rId8" Type="http://schemas.openxmlformats.org/officeDocument/2006/relationships/image" Target="../media/image588.png"/><Relationship Id="rId9" Type="http://schemas.openxmlformats.org/officeDocument/2006/relationships/image" Target="../media/image589.png"/><Relationship Id="rId10" Type="http://schemas.openxmlformats.org/officeDocument/2006/relationships/image" Target="../media/image590.png"/><Relationship Id="rId11" Type="http://schemas.openxmlformats.org/officeDocument/2006/relationships/image" Target="../media/image591.png"/></Relationships>
</file>

<file path=ppt/charts/_rels/chart92.xml.rels><?xml version='1.0' encoding='UTF-8' standalone='yes'?>
<Relationships xmlns="http://schemas.openxmlformats.org/package/2006/relationships"><Relationship Id="rId2" Type="http://schemas.openxmlformats.org/officeDocument/2006/relationships/image" Target="../media/image592.png"/><Relationship Id="rId3" Type="http://schemas.openxmlformats.org/officeDocument/2006/relationships/image" Target="../media/image593.png"/><Relationship Id="rId4" Type="http://schemas.openxmlformats.org/officeDocument/2006/relationships/image" Target="../media/image594.png"/><Relationship Id="rId5" Type="http://schemas.openxmlformats.org/officeDocument/2006/relationships/image" Target="../media/image595.png"/><Relationship Id="rId6" Type="http://schemas.openxmlformats.org/officeDocument/2006/relationships/image" Target="../media/image596.png"/><Relationship Id="rId7" Type="http://schemas.openxmlformats.org/officeDocument/2006/relationships/image" Target="../media/image597.png"/><Relationship Id="rId8" Type="http://schemas.openxmlformats.org/officeDocument/2006/relationships/image" Target="../media/image598.png"/><Relationship Id="rId9" Type="http://schemas.openxmlformats.org/officeDocument/2006/relationships/image" Target="../media/image599.png"/><Relationship Id="rId10" Type="http://schemas.openxmlformats.org/officeDocument/2006/relationships/image" Target="../media/image600.png"/><Relationship Id="rId11" Type="http://schemas.openxmlformats.org/officeDocument/2006/relationships/image" Target="../media/image601.png"/><Relationship Id="rId12" Type="http://schemas.openxmlformats.org/officeDocument/2006/relationships/image" Target="../media/image602.png"/><Relationship Id="rId13" Type="http://schemas.openxmlformats.org/officeDocument/2006/relationships/image" Target="../media/image603.png"/><Relationship Id="rId14" Type="http://schemas.openxmlformats.org/officeDocument/2006/relationships/image" Target="../media/image604.png"/><Relationship Id="rId15" Type="http://schemas.openxmlformats.org/officeDocument/2006/relationships/image" Target="../media/image605.png"/><Relationship Id="rId16" Type="http://schemas.openxmlformats.org/officeDocument/2006/relationships/image" Target="../media/image606.png"/><Relationship Id="rId17" Type="http://schemas.openxmlformats.org/officeDocument/2006/relationships/image" Target="../media/image607.png"/><Relationship Id="rId18" Type="http://schemas.openxmlformats.org/officeDocument/2006/relationships/image" Target="../media/image608.png"/><Relationship Id="rId19" Type="http://schemas.openxmlformats.org/officeDocument/2006/relationships/image" Target="../media/image609.png"/><Relationship Id="rId20" Type="http://schemas.openxmlformats.org/officeDocument/2006/relationships/image" Target="../media/image610.png"/><Relationship Id="rId21" Type="http://schemas.openxmlformats.org/officeDocument/2006/relationships/image" Target="../media/image611.png"/><Relationship Id="rId22" Type="http://schemas.openxmlformats.org/officeDocument/2006/relationships/image" Target="../media/image612.png"/><Relationship Id="rId23" Type="http://schemas.openxmlformats.org/officeDocument/2006/relationships/image" Target="../media/image613.png"/></Relationships>
</file>

<file path=ppt/charts/_rels/chart93.xml.rels><?xml version='1.0' encoding='UTF-8' standalone='yes'?>
<Relationships xmlns="http://schemas.openxmlformats.org/package/2006/relationships"><Relationship Id="rId2" Type="http://schemas.openxmlformats.org/officeDocument/2006/relationships/image" Target="../media/image614.png"/><Relationship Id="rId3" Type="http://schemas.openxmlformats.org/officeDocument/2006/relationships/image" Target="../media/image615.png"/></Relationships>
</file>

<file path=ppt/charts/_rels/chart94.xml.rels><?xml version='1.0' encoding='UTF-8' standalone='yes'?>
<Relationships xmlns="http://schemas.openxmlformats.org/package/2006/relationships"><Relationship Id="rId2" Type="http://schemas.openxmlformats.org/officeDocument/2006/relationships/image" Target="../media/image616.png"/><Relationship Id="rId3" Type="http://schemas.openxmlformats.org/officeDocument/2006/relationships/image" Target="../media/image617.png"/></Relationships>
</file>

<file path=ppt/charts/_rels/chart95.xml.rels><?xml version='1.0' encoding='UTF-8' standalone='yes'?>
<Relationships xmlns="http://schemas.openxmlformats.org/package/2006/relationships"><Relationship Id="rId2" Type="http://schemas.openxmlformats.org/officeDocument/2006/relationships/image" Target="../media/image618.png"/><Relationship Id="rId3" Type="http://schemas.openxmlformats.org/officeDocument/2006/relationships/image" Target="../media/image619.png"/></Relationships>
</file>

<file path=ppt/charts/_rels/chart97.xml.rels><?xml version='1.0' encoding='UTF-8' standalone='yes'?>
<Relationships xmlns="http://schemas.openxmlformats.org/package/2006/relationships"><Relationship Id="rId2" Type="http://schemas.openxmlformats.org/officeDocument/2006/relationships/image" Target="../media/image620.png"/><Relationship Id="rId3" Type="http://schemas.openxmlformats.org/officeDocument/2006/relationships/image" Target="../media/image621.png"/><Relationship Id="rId4" Type="http://schemas.openxmlformats.org/officeDocument/2006/relationships/image" Target="../media/image622.png"/><Relationship Id="rId5" Type="http://schemas.openxmlformats.org/officeDocument/2006/relationships/image" Target="../media/image623.png"/></Relationships>
</file>

<file path=ppt/charts/_rels/chart98.xml.rels><?xml version='1.0' encoding='UTF-8' standalone='yes'?>
<Relationships xmlns="http://schemas.openxmlformats.org/package/2006/relationships"><Relationship Id="rId2" Type="http://schemas.openxmlformats.org/officeDocument/2006/relationships/image" Target="../media/image624.png"/><Relationship Id="rId3" Type="http://schemas.openxmlformats.org/officeDocument/2006/relationships/image" Target="../media/image625.png"/><Relationship Id="rId4" Type="http://schemas.openxmlformats.org/officeDocument/2006/relationships/image" Target="../media/image626.png"/><Relationship Id="rId5" Type="http://schemas.openxmlformats.org/officeDocument/2006/relationships/image" Target="../media/image627.png"/></Relationships>
</file>

<file path=ppt/charts/_rels/chart99.xml.rels><?xml version='1.0' encoding='UTF-8' standalone='yes'?>
<Relationships xmlns="http://schemas.openxmlformats.org/package/2006/relationships"><Relationship Id="rId2" Type="http://schemas.openxmlformats.org/officeDocument/2006/relationships/image" Target="../media/image628.png"/><Relationship Id="rId3" Type="http://schemas.openxmlformats.org/officeDocument/2006/relationships/image" Target="../media/image629.png"/><Relationship Id="rId4" Type="http://schemas.openxmlformats.org/officeDocument/2006/relationships/image" Target="../media/image630.png"/><Relationship Id="rId5" Type="http://schemas.openxmlformats.org/officeDocument/2006/relationships/image" Target="../media/image631.png"/><Relationship Id="rId6" Type="http://schemas.openxmlformats.org/officeDocument/2006/relationships/image" Target="../media/image632.png"/><Relationship Id="rId7" Type="http://schemas.openxmlformats.org/officeDocument/2006/relationships/image" Target="../media/image633.png"/><Relationship Id="rId8" Type="http://schemas.openxmlformats.org/officeDocument/2006/relationships/image" Target="../media/image634.png"/><Relationship Id="rId9" Type="http://schemas.openxmlformats.org/officeDocument/2006/relationships/image" Target="../media/image635.png"/><Relationship Id="rId10" Type="http://schemas.openxmlformats.org/officeDocument/2006/relationships/image" Target="../media/image636.png"/><Relationship Id="rId11" Type="http://schemas.openxmlformats.org/officeDocument/2006/relationships/image" Target="../media/image637.png"/><Relationship Id="rId12" Type="http://schemas.openxmlformats.org/officeDocument/2006/relationships/image" Target="../media/image638.png"/><Relationship Id="rId13" Type="http://schemas.openxmlformats.org/officeDocument/2006/relationships/image" Target="../media/image639.png"/><Relationship Id="rId14" Type="http://schemas.openxmlformats.org/officeDocument/2006/relationships/image" Target="../media/image640.png"/><Relationship Id="rId15" Type="http://schemas.openxmlformats.org/officeDocument/2006/relationships/image" Target="../media/image641.png"/><Relationship Id="rId16" Type="http://schemas.openxmlformats.org/officeDocument/2006/relationships/image" Target="../media/image642.png"/><Relationship Id="rId17" Type="http://schemas.openxmlformats.org/officeDocument/2006/relationships/image" Target="../media/image643.png"/><Relationship Id="rId18" Type="http://schemas.openxmlformats.org/officeDocument/2006/relationships/image" Target="../media/image644.png"/><Relationship Id="rId19" Type="http://schemas.openxmlformats.org/officeDocument/2006/relationships/image" Target="../media/image645.png"/><Relationship Id="rId20" Type="http://schemas.openxmlformats.org/officeDocument/2006/relationships/image" Target="../media/image646.png"/><Relationship Id="rId21" Type="http://schemas.openxmlformats.org/officeDocument/2006/relationships/image" Target="../media/image647.png"/><Relationship Id="rId22" Type="http://schemas.openxmlformats.org/officeDocument/2006/relationships/image" Target="../media/image648.png"/><Relationship Id="rId23" Type="http://schemas.openxmlformats.org/officeDocument/2006/relationships/image" Target="../media/image649.png"/><Relationship Id="rId24" Type="http://schemas.openxmlformats.org/officeDocument/2006/relationships/image" Target="../media/image650.png"/><Relationship Id="rId25" Type="http://schemas.openxmlformats.org/officeDocument/2006/relationships/image" Target="../media/image651.png"/><Relationship Id="rId26" Type="http://schemas.openxmlformats.org/officeDocument/2006/relationships/image" Target="../media/image652.png"/><Relationship Id="rId27" Type="http://schemas.openxmlformats.org/officeDocument/2006/relationships/image" Target="../media/image653.png"/><Relationship Id="rId28" Type="http://schemas.openxmlformats.org/officeDocument/2006/relationships/image" Target="../media/image654.png"/><Relationship Id="rId29" Type="http://schemas.openxmlformats.org/officeDocument/2006/relationships/image" Target="../media/image655.png"/><Relationship Id="rId30" Type="http://schemas.openxmlformats.org/officeDocument/2006/relationships/image" Target="../media/image656.png"/><Relationship Id="rId31" Type="http://schemas.openxmlformats.org/officeDocument/2006/relationships/image" Target="../media/image657.png"/><Relationship Id="rId32" Type="http://schemas.openxmlformats.org/officeDocument/2006/relationships/image" Target="../media/image658.png"/><Relationship Id="rId33" Type="http://schemas.openxmlformats.org/officeDocument/2006/relationships/image" Target="../media/image659.png"/></Relationships>
</file>

<file path=ppt/charts/_rels/chart100.xml.rels><?xml version='1.0' encoding='UTF-8' standalone='yes'?>
<Relationships xmlns="http://schemas.openxmlformats.org/package/2006/relationships"><Relationship Id="rId2" Type="http://schemas.openxmlformats.org/officeDocument/2006/relationships/image" Target="../media/image660.png"/><Relationship Id="rId3" Type="http://schemas.openxmlformats.org/officeDocument/2006/relationships/image" Target="../media/image661.png"/><Relationship Id="rId4" Type="http://schemas.openxmlformats.org/officeDocument/2006/relationships/image" Target="../media/image662.png"/><Relationship Id="rId5" Type="http://schemas.openxmlformats.org/officeDocument/2006/relationships/image" Target="../media/image663.png"/><Relationship Id="rId6" Type="http://schemas.openxmlformats.org/officeDocument/2006/relationships/image" Target="../media/image664.png"/><Relationship Id="rId7" Type="http://schemas.openxmlformats.org/officeDocument/2006/relationships/image" Target="../media/image665.png"/><Relationship Id="rId8" Type="http://schemas.openxmlformats.org/officeDocument/2006/relationships/image" Target="../media/image666.png"/><Relationship Id="rId9" Type="http://schemas.openxmlformats.org/officeDocument/2006/relationships/image" Target="../media/image667.png"/><Relationship Id="rId10" Type="http://schemas.openxmlformats.org/officeDocument/2006/relationships/image" Target="../media/image668.png"/><Relationship Id="rId11" Type="http://schemas.openxmlformats.org/officeDocument/2006/relationships/image" Target="../media/image669.png"/><Relationship Id="rId12" Type="http://schemas.openxmlformats.org/officeDocument/2006/relationships/image" Target="../media/image670.png"/><Relationship Id="rId13" Type="http://schemas.openxmlformats.org/officeDocument/2006/relationships/image" Target="../media/image671.png"/><Relationship Id="rId14" Type="http://schemas.openxmlformats.org/officeDocument/2006/relationships/image" Target="../media/image672.png"/><Relationship Id="rId15" Type="http://schemas.openxmlformats.org/officeDocument/2006/relationships/image" Target="../media/image673.png"/><Relationship Id="rId16" Type="http://schemas.openxmlformats.org/officeDocument/2006/relationships/image" Target="../media/image674.png"/><Relationship Id="rId17" Type="http://schemas.openxmlformats.org/officeDocument/2006/relationships/image" Target="../media/image675.png"/><Relationship Id="rId18" Type="http://schemas.openxmlformats.org/officeDocument/2006/relationships/image" Target="../media/image676.png"/><Relationship Id="rId19" Type="http://schemas.openxmlformats.org/officeDocument/2006/relationships/image" Target="../media/image677.png"/><Relationship Id="rId20" Type="http://schemas.openxmlformats.org/officeDocument/2006/relationships/image" Target="../media/image678.png"/><Relationship Id="rId21" Type="http://schemas.openxmlformats.org/officeDocument/2006/relationships/image" Target="../media/image679.png"/><Relationship Id="rId22" Type="http://schemas.openxmlformats.org/officeDocument/2006/relationships/image" Target="../media/image680.png"/><Relationship Id="rId23" Type="http://schemas.openxmlformats.org/officeDocument/2006/relationships/image" Target="../media/image681.png"/><Relationship Id="rId24" Type="http://schemas.openxmlformats.org/officeDocument/2006/relationships/image" Target="../media/image682.png"/><Relationship Id="rId25" Type="http://schemas.openxmlformats.org/officeDocument/2006/relationships/image" Target="../media/image683.png"/><Relationship Id="rId26" Type="http://schemas.openxmlformats.org/officeDocument/2006/relationships/image" Target="../media/image684.png"/><Relationship Id="rId27" Type="http://schemas.openxmlformats.org/officeDocument/2006/relationships/image" Target="../media/image685.png"/><Relationship Id="rId28" Type="http://schemas.openxmlformats.org/officeDocument/2006/relationships/image" Target="../media/image686.png"/><Relationship Id="rId29" Type="http://schemas.openxmlformats.org/officeDocument/2006/relationships/image" Target="../media/image687.png"/><Relationship Id="rId30" Type="http://schemas.openxmlformats.org/officeDocument/2006/relationships/image" Target="../media/image688.png"/><Relationship Id="rId31" Type="http://schemas.openxmlformats.org/officeDocument/2006/relationships/image" Target="../media/image689.png"/><Relationship Id="rId32" Type="http://schemas.openxmlformats.org/officeDocument/2006/relationships/image" Target="../media/image690.png"/><Relationship Id="rId33" Type="http://schemas.openxmlformats.org/officeDocument/2006/relationships/image" Target="../media/image691.png"/></Relationships>
</file>

<file path=ppt/charts/_rels/chart101.xml.rels><?xml version='1.0' encoding='UTF-8' standalone='yes'?>
<Relationships xmlns="http://schemas.openxmlformats.org/package/2006/relationships"><Relationship Id="rId2" Type="http://schemas.openxmlformats.org/officeDocument/2006/relationships/image" Target="../media/image697.png"/><Relationship Id="rId3" Type="http://schemas.openxmlformats.org/officeDocument/2006/relationships/image" Target="../media/image698.png"/><Relationship Id="rId4" Type="http://schemas.openxmlformats.org/officeDocument/2006/relationships/image" Target="../media/image699.png"/><Relationship Id="rId5" Type="http://schemas.openxmlformats.org/officeDocument/2006/relationships/image" Target="../media/image700.png"/></Relationships>
</file>

<file path=ppt/charts/_rels/chart105.xml.rels><?xml version='1.0' encoding='UTF-8' standalone='yes'?>
<Relationships xmlns="http://schemas.openxmlformats.org/package/2006/relationships"><Relationship Id="rId2" Type="http://schemas.openxmlformats.org/officeDocument/2006/relationships/image" Target="../media/image701.png"/><Relationship Id="rId3" Type="http://schemas.openxmlformats.org/officeDocument/2006/relationships/image" Target="../media/image702.png"/><Relationship Id="rId4" Type="http://schemas.openxmlformats.org/officeDocument/2006/relationships/image" Target="../media/image703.png"/><Relationship Id="rId5" Type="http://schemas.openxmlformats.org/officeDocument/2006/relationships/image" Target="../media/image704.png"/><Relationship Id="rId6" Type="http://schemas.openxmlformats.org/officeDocument/2006/relationships/image" Target="../media/image705.png"/><Relationship Id="rId7" Type="http://schemas.openxmlformats.org/officeDocument/2006/relationships/image" Target="../media/image706.png"/></Relationships>
</file>

<file path=ppt/charts/_rels/chart106.xml.rels><?xml version='1.0' encoding='UTF-8' standalone='yes'?>
<Relationships xmlns="http://schemas.openxmlformats.org/package/2006/relationships"><Relationship Id="rId2" Type="http://schemas.openxmlformats.org/officeDocument/2006/relationships/image" Target="../media/image711.png"/><Relationship Id="rId3" Type="http://schemas.openxmlformats.org/officeDocument/2006/relationships/image" Target="../media/image712.png"/><Relationship Id="rId4" Type="http://schemas.openxmlformats.org/officeDocument/2006/relationships/image" Target="../media/image713.png"/><Relationship Id="rId5" Type="http://schemas.openxmlformats.org/officeDocument/2006/relationships/image" Target="../media/image714.png"/></Relationships>
</file>

<file path=ppt/charts/_rels/chart110.xml.rels><?xml version='1.0' encoding='UTF-8' standalone='yes'?>
<Relationships xmlns="http://schemas.openxmlformats.org/package/2006/relationships"><Relationship Id="rId2" Type="http://schemas.openxmlformats.org/officeDocument/2006/relationships/image" Target="../media/image715.png"/><Relationship Id="rId3" Type="http://schemas.openxmlformats.org/officeDocument/2006/relationships/image" Target="../media/image716.png"/><Relationship Id="rId4" Type="http://schemas.openxmlformats.org/officeDocument/2006/relationships/image" Target="../media/image717.png"/><Relationship Id="rId5" Type="http://schemas.openxmlformats.org/officeDocument/2006/relationships/image" Target="../media/image718.png"/><Relationship Id="rId6" Type="http://schemas.openxmlformats.org/officeDocument/2006/relationships/image" Target="../media/image719.png"/><Relationship Id="rId7" Type="http://schemas.openxmlformats.org/officeDocument/2006/relationships/image" Target="../media/image720.png"/></Relationships>
</file>

<file path=ppt/charts/_rels/chart111.xml.rels><?xml version='1.0' encoding='UTF-8' standalone='yes'?>
<Relationships xmlns="http://schemas.openxmlformats.org/package/2006/relationships"><Relationship Id="rId2" Type="http://schemas.openxmlformats.org/officeDocument/2006/relationships/image" Target="../media/image735.png"/><Relationship Id="rId3" Type="http://schemas.openxmlformats.org/officeDocument/2006/relationships/image" Target="../media/image736.png"/><Relationship Id="rId4" Type="http://schemas.openxmlformats.org/officeDocument/2006/relationships/image" Target="../media/image737.png"/><Relationship Id="rId5" Type="http://schemas.openxmlformats.org/officeDocument/2006/relationships/image" Target="../media/image738.png"/><Relationship Id="rId6" Type="http://schemas.openxmlformats.org/officeDocument/2006/relationships/image" Target="../media/image739.png"/><Relationship Id="rId7" Type="http://schemas.openxmlformats.org/officeDocument/2006/relationships/image" Target="../media/image740.png"/><Relationship Id="rId8" Type="http://schemas.openxmlformats.org/officeDocument/2006/relationships/image" Target="../media/image741.png"/><Relationship Id="rId9" Type="http://schemas.openxmlformats.org/officeDocument/2006/relationships/image" Target="../media/image742.png"/><Relationship Id="rId10" Type="http://schemas.openxmlformats.org/officeDocument/2006/relationships/image" Target="../media/image743.png"/><Relationship Id="rId11" Type="http://schemas.openxmlformats.org/officeDocument/2006/relationships/image" Target="../media/image744.png"/><Relationship Id="rId12" Type="http://schemas.openxmlformats.org/officeDocument/2006/relationships/image" Target="../media/image745.png"/><Relationship Id="rId13" Type="http://schemas.openxmlformats.org/officeDocument/2006/relationships/image" Target="../media/image746.png"/></Relationships>
</file>

<file path=ppt/charts/_rels/chart119.xml.rels><?xml version='1.0' encoding='UTF-8' standalone='yes'?>
<Relationships xmlns="http://schemas.openxmlformats.org/package/2006/relationships"><Relationship Id="rId2" Type="http://schemas.openxmlformats.org/officeDocument/2006/relationships/image" Target="../media/image747.png"/><Relationship Id="rId3" Type="http://schemas.openxmlformats.org/officeDocument/2006/relationships/image" Target="../media/image748.png"/><Relationship Id="rId4" Type="http://schemas.openxmlformats.org/officeDocument/2006/relationships/image" Target="../media/image749.png"/><Relationship Id="rId5" Type="http://schemas.openxmlformats.org/officeDocument/2006/relationships/image" Target="../media/image750.png"/><Relationship Id="rId6" Type="http://schemas.openxmlformats.org/officeDocument/2006/relationships/image" Target="../media/image751.png"/><Relationship Id="rId7" Type="http://schemas.openxmlformats.org/officeDocument/2006/relationships/image" Target="../media/image752.png"/><Relationship Id="rId8" Type="http://schemas.openxmlformats.org/officeDocument/2006/relationships/image" Target="../media/image753.png"/><Relationship Id="rId9" Type="http://schemas.openxmlformats.org/officeDocument/2006/relationships/image" Target="../media/image754.png"/><Relationship Id="rId10" Type="http://schemas.openxmlformats.org/officeDocument/2006/relationships/image" Target="../media/image755.png"/><Relationship Id="rId11" Type="http://schemas.openxmlformats.org/officeDocument/2006/relationships/image" Target="../media/image756.png"/><Relationship Id="rId12" Type="http://schemas.openxmlformats.org/officeDocument/2006/relationships/image" Target="../media/image757.png"/><Relationship Id="rId13" Type="http://schemas.openxmlformats.org/officeDocument/2006/relationships/image" Target="../media/image758.png"/><Relationship Id="rId14" Type="http://schemas.openxmlformats.org/officeDocument/2006/relationships/image" Target="../media/image759.png"/><Relationship Id="rId15" Type="http://schemas.openxmlformats.org/officeDocument/2006/relationships/image" Target="../media/image760.png"/><Relationship Id="rId16" Type="http://schemas.openxmlformats.org/officeDocument/2006/relationships/image" Target="../media/image761.png"/><Relationship Id="rId17" Type="http://schemas.openxmlformats.org/officeDocument/2006/relationships/image" Target="../media/image762.png"/><Relationship Id="rId18" Type="http://schemas.openxmlformats.org/officeDocument/2006/relationships/image" Target="../media/image763.png"/><Relationship Id="rId19" Type="http://schemas.openxmlformats.org/officeDocument/2006/relationships/image" Target="../media/image764.png"/></Relationships>
</file>

<file path=ppt/charts/_rels/chart120.xml.rels><?xml version='1.0' encoding='UTF-8' standalone='yes'?>
<Relationships xmlns="http://schemas.openxmlformats.org/package/2006/relationships"><Relationship Id="rId2" Type="http://schemas.openxmlformats.org/officeDocument/2006/relationships/image" Target="../media/image784.png"/><Relationship Id="rId3" Type="http://schemas.openxmlformats.org/officeDocument/2006/relationships/image" Target="../media/image785.png"/><Relationship Id="rId4" Type="http://schemas.openxmlformats.org/officeDocument/2006/relationships/image" Target="../media/image786.png"/><Relationship Id="rId5" Type="http://schemas.openxmlformats.org/officeDocument/2006/relationships/image" Target="../media/image787.png"/><Relationship Id="rId6" Type="http://schemas.openxmlformats.org/officeDocument/2006/relationships/image" Target="../media/image788.png"/><Relationship Id="rId7" Type="http://schemas.openxmlformats.org/officeDocument/2006/relationships/image" Target="../media/image789.png"/><Relationship Id="rId8" Type="http://schemas.openxmlformats.org/officeDocument/2006/relationships/image" Target="../media/image790.png"/><Relationship Id="rId9" Type="http://schemas.openxmlformats.org/officeDocument/2006/relationships/image" Target="../media/image791.png"/><Relationship Id="rId10" Type="http://schemas.openxmlformats.org/officeDocument/2006/relationships/image" Target="../media/image792.png"/><Relationship Id="rId11" Type="http://schemas.openxmlformats.org/officeDocument/2006/relationships/image" Target="../media/image793.png"/><Relationship Id="rId12" Type="http://schemas.openxmlformats.org/officeDocument/2006/relationships/image" Target="../media/image794.png"/><Relationship Id="rId13" Type="http://schemas.openxmlformats.org/officeDocument/2006/relationships/image" Target="../media/image795.png"/><Relationship Id="rId14" Type="http://schemas.openxmlformats.org/officeDocument/2006/relationships/image" Target="../media/image796.png"/><Relationship Id="rId15" Type="http://schemas.openxmlformats.org/officeDocument/2006/relationships/image" Target="../media/image797.png"/><Relationship Id="rId16" Type="http://schemas.openxmlformats.org/officeDocument/2006/relationships/image" Target="../media/image798.png"/></Relationships>
</file>

<file path=ppt/charts/_rels/chart130.xml.rels><?xml version='1.0' encoding='UTF-8' standalone='yes'?>
<Relationships xmlns="http://schemas.openxmlformats.org/package/2006/relationships"><Relationship Id="rId2" Type="http://schemas.openxmlformats.org/officeDocument/2006/relationships/image" Target="../media/image799.png"/><Relationship Id="rId3" Type="http://schemas.openxmlformats.org/officeDocument/2006/relationships/image" Target="../media/image800.png"/><Relationship Id="rId4" Type="http://schemas.openxmlformats.org/officeDocument/2006/relationships/image" Target="../media/image801.png"/><Relationship Id="rId5" Type="http://schemas.openxmlformats.org/officeDocument/2006/relationships/image" Target="../media/image802.png"/><Relationship Id="rId6" Type="http://schemas.openxmlformats.org/officeDocument/2006/relationships/image" Target="../media/image803.png"/><Relationship Id="rId7" Type="http://schemas.openxmlformats.org/officeDocument/2006/relationships/image" Target="../media/image804.png"/><Relationship Id="rId8" Type="http://schemas.openxmlformats.org/officeDocument/2006/relationships/image" Target="../media/image805.png"/><Relationship Id="rId9" Type="http://schemas.openxmlformats.org/officeDocument/2006/relationships/image" Target="../media/image806.png"/><Relationship Id="rId10" Type="http://schemas.openxmlformats.org/officeDocument/2006/relationships/image" Target="../media/image807.png"/><Relationship Id="rId11" Type="http://schemas.openxmlformats.org/officeDocument/2006/relationships/image" Target="../media/image808.png"/><Relationship Id="rId12" Type="http://schemas.openxmlformats.org/officeDocument/2006/relationships/image" Target="../media/image809.png"/><Relationship Id="rId13" Type="http://schemas.openxmlformats.org/officeDocument/2006/relationships/image" Target="../media/image810.png"/><Relationship Id="rId14" Type="http://schemas.openxmlformats.org/officeDocument/2006/relationships/image" Target="../media/image811.png"/><Relationship Id="rId15" Type="http://schemas.openxmlformats.org/officeDocument/2006/relationships/image" Target="../media/image812.png"/><Relationship Id="rId16" Type="http://schemas.openxmlformats.org/officeDocument/2006/relationships/image" Target="../media/image813.png"/><Relationship Id="rId17" Type="http://schemas.openxmlformats.org/officeDocument/2006/relationships/image" Target="../media/image814.png"/><Relationship Id="rId18" Type="http://schemas.openxmlformats.org/officeDocument/2006/relationships/image" Target="../media/image815.png"/><Relationship Id="rId19" Type="http://schemas.openxmlformats.org/officeDocument/2006/relationships/image" Target="../media/image816.png"/><Relationship Id="rId20" Type="http://schemas.openxmlformats.org/officeDocument/2006/relationships/image" Target="../media/image817.png"/><Relationship Id="rId21" Type="http://schemas.openxmlformats.org/officeDocument/2006/relationships/image" Target="../media/image818.png"/><Relationship Id="rId22" Type="http://schemas.openxmlformats.org/officeDocument/2006/relationships/image" Target="../media/image819.png"/></Relationships>
</file>

<file path=ppt/charts/_rels/chart131.xml.rels><?xml version='1.0' encoding='UTF-8' standalone='yes'?>
<Relationships xmlns="http://schemas.openxmlformats.org/package/2006/relationships"><Relationship Id="rId2" Type="http://schemas.openxmlformats.org/officeDocument/2006/relationships/image" Target="../media/image841.png"/><Relationship Id="rId3" Type="http://schemas.openxmlformats.org/officeDocument/2006/relationships/image" Target="../media/image842.png"/><Relationship Id="rId4" Type="http://schemas.openxmlformats.org/officeDocument/2006/relationships/image" Target="../media/image843.png"/><Relationship Id="rId5" Type="http://schemas.openxmlformats.org/officeDocument/2006/relationships/image" Target="../media/image844.png"/><Relationship Id="rId6" Type="http://schemas.openxmlformats.org/officeDocument/2006/relationships/image" Target="../media/image845.png"/><Relationship Id="rId7" Type="http://schemas.openxmlformats.org/officeDocument/2006/relationships/image" Target="../media/image846.png"/><Relationship Id="rId8" Type="http://schemas.openxmlformats.org/officeDocument/2006/relationships/image" Target="../media/image847.png"/><Relationship Id="rId9" Type="http://schemas.openxmlformats.org/officeDocument/2006/relationships/image" Target="../media/image848.png"/><Relationship Id="rId10" Type="http://schemas.openxmlformats.org/officeDocument/2006/relationships/image" Target="../media/image849.png"/><Relationship Id="rId11" Type="http://schemas.openxmlformats.org/officeDocument/2006/relationships/image" Target="../media/image850.png"/><Relationship Id="rId12" Type="http://schemas.openxmlformats.org/officeDocument/2006/relationships/image" Target="../media/image851.png"/><Relationship Id="rId13" Type="http://schemas.openxmlformats.org/officeDocument/2006/relationships/image" Target="../media/image852.png"/><Relationship Id="rId14" Type="http://schemas.openxmlformats.org/officeDocument/2006/relationships/image" Target="../media/image853.png"/><Relationship Id="rId15" Type="http://schemas.openxmlformats.org/officeDocument/2006/relationships/image" Target="../media/image854.png"/><Relationship Id="rId16" Type="http://schemas.openxmlformats.org/officeDocument/2006/relationships/image" Target="../media/image855.png"/><Relationship Id="rId17" Type="http://schemas.openxmlformats.org/officeDocument/2006/relationships/image" Target="../media/image856.png"/><Relationship Id="rId18" Type="http://schemas.openxmlformats.org/officeDocument/2006/relationships/image" Target="../media/image857.png"/></Relationships>
</file>

<file path=ppt/charts/_rels/chart142.xml.rels><?xml version='1.0' encoding='UTF-8' standalone='yes'?>
<Relationships xmlns="http://schemas.openxmlformats.org/package/2006/relationships"><Relationship Id="rId2" Type="http://schemas.openxmlformats.org/officeDocument/2006/relationships/image" Target="../media/image858.png"/><Relationship Id="rId3" Type="http://schemas.openxmlformats.org/officeDocument/2006/relationships/image" Target="../media/image859.png"/><Relationship Id="rId4" Type="http://schemas.openxmlformats.org/officeDocument/2006/relationships/image" Target="../media/image860.png"/><Relationship Id="rId5" Type="http://schemas.openxmlformats.org/officeDocument/2006/relationships/image" Target="../media/image861.png"/><Relationship Id="rId6" Type="http://schemas.openxmlformats.org/officeDocument/2006/relationships/image" Target="../media/image862.png"/><Relationship Id="rId7" Type="http://schemas.openxmlformats.org/officeDocument/2006/relationships/image" Target="../media/image863.png"/><Relationship Id="rId8" Type="http://schemas.openxmlformats.org/officeDocument/2006/relationships/image" Target="../media/image864.png"/><Relationship Id="rId9" Type="http://schemas.openxmlformats.org/officeDocument/2006/relationships/image" Target="../media/image865.png"/><Relationship Id="rId10" Type="http://schemas.openxmlformats.org/officeDocument/2006/relationships/image" Target="../media/image866.png"/><Relationship Id="rId11" Type="http://schemas.openxmlformats.org/officeDocument/2006/relationships/image" Target="../media/image867.png"/><Relationship Id="rId12" Type="http://schemas.openxmlformats.org/officeDocument/2006/relationships/image" Target="../media/image868.png"/><Relationship Id="rId13" Type="http://schemas.openxmlformats.org/officeDocument/2006/relationships/image" Target="../media/image869.png"/><Relationship Id="rId14" Type="http://schemas.openxmlformats.org/officeDocument/2006/relationships/image" Target="../media/image870.png"/><Relationship Id="rId15" Type="http://schemas.openxmlformats.org/officeDocument/2006/relationships/image" Target="../media/image871.png"/><Relationship Id="rId16" Type="http://schemas.openxmlformats.org/officeDocument/2006/relationships/image" Target="../media/image872.png"/><Relationship Id="rId17" Type="http://schemas.openxmlformats.org/officeDocument/2006/relationships/image" Target="../media/image873.png"/><Relationship Id="rId18" Type="http://schemas.openxmlformats.org/officeDocument/2006/relationships/image" Target="../media/image874.png"/><Relationship Id="rId19" Type="http://schemas.openxmlformats.org/officeDocument/2006/relationships/image" Target="../media/image875.png"/><Relationship Id="rId20" Type="http://schemas.openxmlformats.org/officeDocument/2006/relationships/image" Target="../media/image876.png"/><Relationship Id="rId21" Type="http://schemas.openxmlformats.org/officeDocument/2006/relationships/image" Target="../media/image877.png"/><Relationship Id="rId22" Type="http://schemas.openxmlformats.org/officeDocument/2006/relationships/image" Target="../media/image878.png"/><Relationship Id="rId23" Type="http://schemas.openxmlformats.org/officeDocument/2006/relationships/image" Target="../media/image879.png"/><Relationship Id="rId24" Type="http://schemas.openxmlformats.org/officeDocument/2006/relationships/image" Target="../media/image880.png"/><Relationship Id="rId25" Type="http://schemas.openxmlformats.org/officeDocument/2006/relationships/image" Target="../media/image881.png"/><Relationship Id="rId26" Type="http://schemas.openxmlformats.org/officeDocument/2006/relationships/image" Target="../media/image882.png"/><Relationship Id="rId27" Type="http://schemas.openxmlformats.org/officeDocument/2006/relationships/image" Target="../media/image883.png"/><Relationship Id="rId28" Type="http://schemas.openxmlformats.org/officeDocument/2006/relationships/image" Target="../media/image884.png"/></Relationships>
</file>

<file path=ppt/charts/_rels/chart143.xml.rels><?xml version='1.0' encoding='UTF-8' standalone='yes'?>
<Relationships xmlns="http://schemas.openxmlformats.org/package/2006/relationships"><Relationship Id="rId2" Type="http://schemas.openxmlformats.org/officeDocument/2006/relationships/image" Target="../media/image896.png"/><Relationship Id="rId3" Type="http://schemas.openxmlformats.org/officeDocument/2006/relationships/image" Target="../media/image897.png"/><Relationship Id="rId4" Type="http://schemas.openxmlformats.org/officeDocument/2006/relationships/image" Target="../media/image898.png"/><Relationship Id="rId5" Type="http://schemas.openxmlformats.org/officeDocument/2006/relationships/image" Target="../media/image899.png"/><Relationship Id="rId6" Type="http://schemas.openxmlformats.org/officeDocument/2006/relationships/image" Target="../media/image900.png"/><Relationship Id="rId7" Type="http://schemas.openxmlformats.org/officeDocument/2006/relationships/image" Target="../media/image901.png"/><Relationship Id="rId8" Type="http://schemas.openxmlformats.org/officeDocument/2006/relationships/image" Target="../media/image902.png"/><Relationship Id="rId9" Type="http://schemas.openxmlformats.org/officeDocument/2006/relationships/image" Target="../media/image903.png"/><Relationship Id="rId10" Type="http://schemas.openxmlformats.org/officeDocument/2006/relationships/image" Target="../media/image904.png"/><Relationship Id="rId11" Type="http://schemas.openxmlformats.org/officeDocument/2006/relationships/image" Target="../media/image905.png"/></Relationships>
</file>

<file path=ppt/charts/_rels/chart150.xml.rels><?xml version='1.0' encoding='UTF-8' standalone='yes'?>
<Relationships xmlns="http://schemas.openxmlformats.org/package/2006/relationships"><Relationship Id="rId2" Type="http://schemas.openxmlformats.org/officeDocument/2006/relationships/image" Target="../media/image906.png"/><Relationship Id="rId3" Type="http://schemas.openxmlformats.org/officeDocument/2006/relationships/image" Target="../media/image907.png"/><Relationship Id="rId4" Type="http://schemas.openxmlformats.org/officeDocument/2006/relationships/image" Target="../media/image908.png"/><Relationship Id="rId5" Type="http://schemas.openxmlformats.org/officeDocument/2006/relationships/image" Target="../media/image909.png"/><Relationship Id="rId6" Type="http://schemas.openxmlformats.org/officeDocument/2006/relationships/image" Target="../media/image910.png"/><Relationship Id="rId7" Type="http://schemas.openxmlformats.org/officeDocument/2006/relationships/image" Target="../media/image911.png"/><Relationship Id="rId8" Type="http://schemas.openxmlformats.org/officeDocument/2006/relationships/image" Target="../media/image912.png"/><Relationship Id="rId9" Type="http://schemas.openxmlformats.org/officeDocument/2006/relationships/image" Target="../media/image913.png"/><Relationship Id="rId10" Type="http://schemas.openxmlformats.org/officeDocument/2006/relationships/image" Target="../media/image914.png"/><Relationship Id="rId11" Type="http://schemas.openxmlformats.org/officeDocument/2006/relationships/image" Target="../media/image915.png"/><Relationship Id="rId12" Type="http://schemas.openxmlformats.org/officeDocument/2006/relationships/image" Target="../media/image916.png"/><Relationship Id="rId13" Type="http://schemas.openxmlformats.org/officeDocument/2006/relationships/image" Target="../media/image917.png"/><Relationship Id="rId14" Type="http://schemas.openxmlformats.org/officeDocument/2006/relationships/image" Target="../media/image918.png"/><Relationship Id="rId15" Type="http://schemas.openxmlformats.org/officeDocument/2006/relationships/image" Target="../media/image919.png"/><Relationship Id="rId16" Type="http://schemas.openxmlformats.org/officeDocument/2006/relationships/image" Target="../media/image920.png"/></Relationships>
</file>

<file path=ppt/charts/_rels/chart151.xml.rels><?xml version='1.0' encoding='UTF-8' standalone='yes'?>
<Relationships xmlns="http://schemas.openxmlformats.org/package/2006/relationships"><Relationship Id="rId2" Type="http://schemas.openxmlformats.org/officeDocument/2006/relationships/image" Target="../media/image932.png"/><Relationship Id="rId3" Type="http://schemas.openxmlformats.org/officeDocument/2006/relationships/image" Target="../media/image933.png"/><Relationship Id="rId4" Type="http://schemas.openxmlformats.org/officeDocument/2006/relationships/image" Target="../media/image934.png"/><Relationship Id="rId5" Type="http://schemas.openxmlformats.org/officeDocument/2006/relationships/image" Target="../media/image935.png"/><Relationship Id="rId6" Type="http://schemas.openxmlformats.org/officeDocument/2006/relationships/image" Target="../media/image936.png"/><Relationship Id="rId7" Type="http://schemas.openxmlformats.org/officeDocument/2006/relationships/image" Target="../media/image937.png"/><Relationship Id="rId8" Type="http://schemas.openxmlformats.org/officeDocument/2006/relationships/image" Target="../media/image938.png"/><Relationship Id="rId9" Type="http://schemas.openxmlformats.org/officeDocument/2006/relationships/image" Target="../media/image939.png"/><Relationship Id="rId10" Type="http://schemas.openxmlformats.org/officeDocument/2006/relationships/image" Target="../media/image940.png"/><Relationship Id="rId11" Type="http://schemas.openxmlformats.org/officeDocument/2006/relationships/image" Target="../media/image941.png"/><Relationship Id="rId12" Type="http://schemas.openxmlformats.org/officeDocument/2006/relationships/image" Target="../media/image942.png"/><Relationship Id="rId13" Type="http://schemas.openxmlformats.org/officeDocument/2006/relationships/image" Target="../media/image943.png"/></Relationships>
</file>

<file path=ppt/charts/_rels/chart159.xml.rels><?xml version='1.0' encoding='UTF-8' standalone='yes'?>
<Relationships xmlns="http://schemas.openxmlformats.org/package/2006/relationships"><Relationship Id="rId2" Type="http://schemas.openxmlformats.org/officeDocument/2006/relationships/image" Target="../media/image944.png"/><Relationship Id="rId3" Type="http://schemas.openxmlformats.org/officeDocument/2006/relationships/image" Target="../media/image945.png"/><Relationship Id="rId4" Type="http://schemas.openxmlformats.org/officeDocument/2006/relationships/image" Target="../media/image946.png"/><Relationship Id="rId5" Type="http://schemas.openxmlformats.org/officeDocument/2006/relationships/image" Target="../media/image947.png"/><Relationship Id="rId6" Type="http://schemas.openxmlformats.org/officeDocument/2006/relationships/image" Target="../media/image948.png"/><Relationship Id="rId7" Type="http://schemas.openxmlformats.org/officeDocument/2006/relationships/image" Target="../media/image949.png"/><Relationship Id="rId8" Type="http://schemas.openxmlformats.org/officeDocument/2006/relationships/image" Target="../media/image950.png"/><Relationship Id="rId9" Type="http://schemas.openxmlformats.org/officeDocument/2006/relationships/image" Target="../media/image951.png"/><Relationship Id="rId10" Type="http://schemas.openxmlformats.org/officeDocument/2006/relationships/image" Target="../media/image952.png"/><Relationship Id="rId11" Type="http://schemas.openxmlformats.org/officeDocument/2006/relationships/image" Target="../media/image953.png"/><Relationship Id="rId12" Type="http://schemas.openxmlformats.org/officeDocument/2006/relationships/image" Target="../media/image954.png"/><Relationship Id="rId13" Type="http://schemas.openxmlformats.org/officeDocument/2006/relationships/image" Target="../media/image955.png"/><Relationship Id="rId14" Type="http://schemas.openxmlformats.org/officeDocument/2006/relationships/image" Target="../media/image956.png"/><Relationship Id="rId15" Type="http://schemas.openxmlformats.org/officeDocument/2006/relationships/image" Target="../media/image957.png"/><Relationship Id="rId16" Type="http://schemas.openxmlformats.org/officeDocument/2006/relationships/image" Target="../media/image958.png"/><Relationship Id="rId17" Type="http://schemas.openxmlformats.org/officeDocument/2006/relationships/image" Target="../media/image959.png"/><Relationship Id="rId18" Type="http://schemas.openxmlformats.org/officeDocument/2006/relationships/image" Target="../media/image960.png"/><Relationship Id="rId19" Type="http://schemas.openxmlformats.org/officeDocument/2006/relationships/image" Target="../media/image961.png"/></Relationships>
</file>

<file path=ppt/charts/_rels/chart160.xml.rels><?xml version='1.0' encoding='UTF-8' standalone='yes'?>
<Relationships xmlns="http://schemas.openxmlformats.org/package/2006/relationships"><Relationship Id="rId2" Type="http://schemas.openxmlformats.org/officeDocument/2006/relationships/image" Target="../media/image977.png"/><Relationship Id="rId3" Type="http://schemas.openxmlformats.org/officeDocument/2006/relationships/image" Target="../media/image978.png"/><Relationship Id="rId4" Type="http://schemas.openxmlformats.org/officeDocument/2006/relationships/image" Target="../media/image979.png"/><Relationship Id="rId5" Type="http://schemas.openxmlformats.org/officeDocument/2006/relationships/image" Target="../media/image980.png"/><Relationship Id="rId6" Type="http://schemas.openxmlformats.org/officeDocument/2006/relationships/image" Target="../media/image981.png"/><Relationship Id="rId7" Type="http://schemas.openxmlformats.org/officeDocument/2006/relationships/image" Target="../media/image982.png"/><Relationship Id="rId8" Type="http://schemas.openxmlformats.org/officeDocument/2006/relationships/image" Target="../media/image983.png"/><Relationship Id="rId9" Type="http://schemas.openxmlformats.org/officeDocument/2006/relationships/image" Target="../media/image984.png"/><Relationship Id="rId10" Type="http://schemas.openxmlformats.org/officeDocument/2006/relationships/image" Target="../media/image985.png"/><Relationship Id="rId11" Type="http://schemas.openxmlformats.org/officeDocument/2006/relationships/image" Target="../media/image986.png"/><Relationship Id="rId12" Type="http://schemas.openxmlformats.org/officeDocument/2006/relationships/image" Target="../media/image987.png"/><Relationship Id="rId13" Type="http://schemas.openxmlformats.org/officeDocument/2006/relationships/image" Target="../media/image988.png"/><Relationship Id="rId14" Type="http://schemas.openxmlformats.org/officeDocument/2006/relationships/image" Target="../media/image989.png"/><Relationship Id="rId15" Type="http://schemas.openxmlformats.org/officeDocument/2006/relationships/image" Target="../media/image990.png"/></Relationships>
</file>

<file path=ppt/charts/_rels/chart169.xml.rels><?xml version='1.0' encoding='UTF-8' standalone='yes'?>
<Relationships xmlns="http://schemas.openxmlformats.org/package/2006/relationships"><Relationship Id="rId2" Type="http://schemas.openxmlformats.org/officeDocument/2006/relationships/image" Target="../media/image991.png"/><Relationship Id="rId3" Type="http://schemas.openxmlformats.org/officeDocument/2006/relationships/image" Target="../media/image992.png"/><Relationship Id="rId4" Type="http://schemas.openxmlformats.org/officeDocument/2006/relationships/image" Target="../media/image993.png"/><Relationship Id="rId5" Type="http://schemas.openxmlformats.org/officeDocument/2006/relationships/image" Target="../media/image994.png"/><Relationship Id="rId6" Type="http://schemas.openxmlformats.org/officeDocument/2006/relationships/image" Target="../media/image995.png"/><Relationship Id="rId7" Type="http://schemas.openxmlformats.org/officeDocument/2006/relationships/image" Target="../media/image996.png"/><Relationship Id="rId8" Type="http://schemas.openxmlformats.org/officeDocument/2006/relationships/image" Target="../media/image997.png"/><Relationship Id="rId9" Type="http://schemas.openxmlformats.org/officeDocument/2006/relationships/image" Target="../media/image998.png"/><Relationship Id="rId10" Type="http://schemas.openxmlformats.org/officeDocument/2006/relationships/image" Target="../media/image999.png"/><Relationship Id="rId11" Type="http://schemas.openxmlformats.org/officeDocument/2006/relationships/image" Target="../media/image1000.png"/><Relationship Id="rId12" Type="http://schemas.openxmlformats.org/officeDocument/2006/relationships/image" Target="../media/image1001.png"/><Relationship Id="rId13" Type="http://schemas.openxmlformats.org/officeDocument/2006/relationships/image" Target="../media/image1002.png"/><Relationship Id="rId14" Type="http://schemas.openxmlformats.org/officeDocument/2006/relationships/image" Target="../media/image1003.png"/><Relationship Id="rId15" Type="http://schemas.openxmlformats.org/officeDocument/2006/relationships/image" Target="../media/image1004.png"/><Relationship Id="rId16" Type="http://schemas.openxmlformats.org/officeDocument/2006/relationships/image" Target="../media/image1005.png"/><Relationship Id="rId17" Type="http://schemas.openxmlformats.org/officeDocument/2006/relationships/image" Target="../media/image1006.png"/><Relationship Id="rId18" Type="http://schemas.openxmlformats.org/officeDocument/2006/relationships/image" Target="../media/image1007.png"/><Relationship Id="rId19" Type="http://schemas.openxmlformats.org/officeDocument/2006/relationships/image" Target="../media/image1008.png"/></Relationships>
</file>

<file path=ppt/charts/_rels/chart209.xml.rels><?xml version='1.0' encoding='UTF-8' standalone='yes'?>
<Relationships xmlns="http://schemas.openxmlformats.org/package/2006/relationships"><Relationship Id="rId2" Type="http://schemas.openxmlformats.org/officeDocument/2006/relationships/image" Target="../media/image1009.png"/><Relationship Id="rId3" Type="http://schemas.openxmlformats.org/officeDocument/2006/relationships/image" Target="../media/image1010.png"/><Relationship Id="rId4" Type="http://schemas.openxmlformats.org/officeDocument/2006/relationships/image" Target="../media/image1011.png"/><Relationship Id="rId5" Type="http://schemas.openxmlformats.org/officeDocument/2006/relationships/image" Target="../media/image1012.png"/><Relationship Id="rId6" Type="http://schemas.openxmlformats.org/officeDocument/2006/relationships/image" Target="../media/image1013.png"/><Relationship Id="rId7" Type="http://schemas.openxmlformats.org/officeDocument/2006/relationships/image" Target="../media/image1014.png"/><Relationship Id="rId8" Type="http://schemas.openxmlformats.org/officeDocument/2006/relationships/image" Target="../media/image1015.png"/><Relationship Id="rId9" Type="http://schemas.openxmlformats.org/officeDocument/2006/relationships/image" Target="../media/image1016.png"/><Relationship Id="rId10" Type="http://schemas.openxmlformats.org/officeDocument/2006/relationships/image" Target="../media/image1017.png"/><Relationship Id="rId11" Type="http://schemas.openxmlformats.org/officeDocument/2006/relationships/image" Target="../media/image1018.png"/></Relationships>
</file>

<file path=ppt/charts/_rels/chart210.xml.rels><?xml version='1.0' encoding='UTF-8' standalone='yes'?>
<Relationships xmlns="http://schemas.openxmlformats.org/package/2006/relationships"><Relationship Id="rId2" Type="http://schemas.openxmlformats.org/officeDocument/2006/relationships/image" Target="../media/image1019.png"/><Relationship Id="rId3" Type="http://schemas.openxmlformats.org/officeDocument/2006/relationships/image" Target="../media/image1020.png"/><Relationship Id="rId4" Type="http://schemas.openxmlformats.org/officeDocument/2006/relationships/image" Target="../media/image1021.png"/><Relationship Id="rId5" Type="http://schemas.openxmlformats.org/officeDocument/2006/relationships/image" Target="../media/image1022.png"/><Relationship Id="rId6" Type="http://schemas.openxmlformats.org/officeDocument/2006/relationships/image" Target="../media/image1023.png"/><Relationship Id="rId7" Type="http://schemas.openxmlformats.org/officeDocument/2006/relationships/image" Target="../media/image1024.png"/><Relationship Id="rId8" Type="http://schemas.openxmlformats.org/officeDocument/2006/relationships/image" Target="../media/image1025.png"/><Relationship Id="rId9" Type="http://schemas.openxmlformats.org/officeDocument/2006/relationships/image" Target="../media/image1026.png"/><Relationship Id="rId10" Type="http://schemas.openxmlformats.org/officeDocument/2006/relationships/image" Target="../media/image1027.png"/><Relationship Id="rId11" Type="http://schemas.openxmlformats.org/officeDocument/2006/relationships/image" Target="../media/image1028.png"/><Relationship Id="rId12" Type="http://schemas.openxmlformats.org/officeDocument/2006/relationships/image" Target="../media/image1029.png"/></Relationships>
</file>

<file path=ppt/charts/_rels/chart211.xml.rels><?xml version='1.0' encoding='UTF-8' standalone='yes'?>
<Relationships xmlns="http://schemas.openxmlformats.org/package/2006/relationships"><Relationship Id="rId2" Type="http://schemas.openxmlformats.org/officeDocument/2006/relationships/image" Target="../media/image1030.png"/><Relationship Id="rId3" Type="http://schemas.openxmlformats.org/officeDocument/2006/relationships/image" Target="../media/image1031.png"/><Relationship Id="rId4" Type="http://schemas.openxmlformats.org/officeDocument/2006/relationships/image" Target="../media/image1032.png"/><Relationship Id="rId5" Type="http://schemas.openxmlformats.org/officeDocument/2006/relationships/image" Target="../media/image1033.png"/><Relationship Id="rId6" Type="http://schemas.openxmlformats.org/officeDocument/2006/relationships/image" Target="../media/image1034.png"/><Relationship Id="rId7" Type="http://schemas.openxmlformats.org/officeDocument/2006/relationships/image" Target="../media/image1035.png"/><Relationship Id="rId8" Type="http://schemas.openxmlformats.org/officeDocument/2006/relationships/image" Target="../media/image1036.png"/><Relationship Id="rId9" Type="http://schemas.openxmlformats.org/officeDocument/2006/relationships/image" Target="../media/image1037.png"/><Relationship Id="rId10" Type="http://schemas.openxmlformats.org/officeDocument/2006/relationships/image" Target="../media/image1038.png"/><Relationship Id="rId11" Type="http://schemas.openxmlformats.org/officeDocument/2006/relationships/image" Target="../media/image1039.png"/></Relationships>
</file>

<file path=ppt/charts/_rels/chart212.xml.rels><?xml version='1.0' encoding='UTF-8' standalone='yes'?>
<Relationships xmlns="http://schemas.openxmlformats.org/package/2006/relationships"><Relationship Id="rId2" Type="http://schemas.openxmlformats.org/officeDocument/2006/relationships/image" Target="../media/image1040.png"/><Relationship Id="rId3" Type="http://schemas.openxmlformats.org/officeDocument/2006/relationships/image" Target="../media/image1041.png"/><Relationship Id="rId4" Type="http://schemas.openxmlformats.org/officeDocument/2006/relationships/image" Target="../media/image1042.png"/><Relationship Id="rId5" Type="http://schemas.openxmlformats.org/officeDocument/2006/relationships/image" Target="../media/image1043.png"/><Relationship Id="rId6" Type="http://schemas.openxmlformats.org/officeDocument/2006/relationships/image" Target="../media/image1044.png"/><Relationship Id="rId7" Type="http://schemas.openxmlformats.org/officeDocument/2006/relationships/image" Target="../media/image1045.png"/><Relationship Id="rId8" Type="http://schemas.openxmlformats.org/officeDocument/2006/relationships/image" Target="../media/image1046.png"/><Relationship Id="rId9" Type="http://schemas.openxmlformats.org/officeDocument/2006/relationships/image" Target="../media/image1047.png"/><Relationship Id="rId10" Type="http://schemas.openxmlformats.org/officeDocument/2006/relationships/image" Target="../media/image1048.png"/><Relationship Id="rId11" Type="http://schemas.openxmlformats.org/officeDocument/2006/relationships/image" Target="../media/image1049.png"/></Relationships>
</file>

<file path=ppt/charts/_rels/chart213.xml.rels><?xml version='1.0' encoding='UTF-8' standalone='yes'?>
<Relationships xmlns="http://schemas.openxmlformats.org/package/2006/relationships"><Relationship Id="rId2" Type="http://schemas.openxmlformats.org/officeDocument/2006/relationships/image" Target="../media/image1050.png"/><Relationship Id="rId3" Type="http://schemas.openxmlformats.org/officeDocument/2006/relationships/image" Target="../media/image1051.png"/><Relationship Id="rId4" Type="http://schemas.openxmlformats.org/officeDocument/2006/relationships/image" Target="../media/image1052.png"/><Relationship Id="rId5" Type="http://schemas.openxmlformats.org/officeDocument/2006/relationships/image" Target="../media/image1053.png"/><Relationship Id="rId6" Type="http://schemas.openxmlformats.org/officeDocument/2006/relationships/image" Target="../media/image1054.png"/><Relationship Id="rId7" Type="http://schemas.openxmlformats.org/officeDocument/2006/relationships/image" Target="../media/image1055.png"/><Relationship Id="rId8" Type="http://schemas.openxmlformats.org/officeDocument/2006/relationships/image" Target="../media/image1056.png"/><Relationship Id="rId9" Type="http://schemas.openxmlformats.org/officeDocument/2006/relationships/image" Target="../media/image1057.png"/><Relationship Id="rId10" Type="http://schemas.openxmlformats.org/officeDocument/2006/relationships/image" Target="../media/image1058.png"/></Relationships>
</file>

<file path=ppt/charts/_rels/chart214.xml.rels><?xml version='1.0' encoding='UTF-8' standalone='yes'?>
<Relationships xmlns="http://schemas.openxmlformats.org/package/2006/relationships"><Relationship Id="rId2" Type="http://schemas.openxmlformats.org/officeDocument/2006/relationships/image" Target="../media/image1059.png"/><Relationship Id="rId3" Type="http://schemas.openxmlformats.org/officeDocument/2006/relationships/image" Target="../media/image1060.png"/><Relationship Id="rId4" Type="http://schemas.openxmlformats.org/officeDocument/2006/relationships/image" Target="../media/image1061.png"/><Relationship Id="rId5" Type="http://schemas.openxmlformats.org/officeDocument/2006/relationships/image" Target="../media/image1062.png"/><Relationship Id="rId6" Type="http://schemas.openxmlformats.org/officeDocument/2006/relationships/image" Target="../media/image1063.png"/><Relationship Id="rId7" Type="http://schemas.openxmlformats.org/officeDocument/2006/relationships/image" Target="../media/image1064.png"/><Relationship Id="rId8" Type="http://schemas.openxmlformats.org/officeDocument/2006/relationships/image" Target="../media/image1065.png"/><Relationship Id="rId9" Type="http://schemas.openxmlformats.org/officeDocument/2006/relationships/image" Target="../media/image1066.png"/><Relationship Id="rId10" Type="http://schemas.openxmlformats.org/officeDocument/2006/relationships/image" Target="../media/image1067.png"/><Relationship Id="rId11" Type="http://schemas.openxmlformats.org/officeDocument/2006/relationships/image" Target="../media/image1068.png"/><Relationship Id="rId12" Type="http://schemas.openxmlformats.org/officeDocument/2006/relationships/image" Target="../media/image1069.png"/></Relationships>
</file>

<file path=ppt/charts/_rels/chart215.xml.rels><?xml version='1.0' encoding='UTF-8' standalone='yes'?>
<Relationships xmlns="http://schemas.openxmlformats.org/package/2006/relationships"><Relationship Id="rId2" Type="http://schemas.openxmlformats.org/officeDocument/2006/relationships/image" Target="../media/image1070.png"/><Relationship Id="rId3" Type="http://schemas.openxmlformats.org/officeDocument/2006/relationships/image" Target="../media/image1071.png"/><Relationship Id="rId4" Type="http://schemas.openxmlformats.org/officeDocument/2006/relationships/image" Target="../media/image1072.png"/><Relationship Id="rId5" Type="http://schemas.openxmlformats.org/officeDocument/2006/relationships/image" Target="../media/image1073.png"/></Relationships>
</file>

<file path=ppt/charts/_rels/chart216.xml.rels><?xml version='1.0' encoding='UTF-8' standalone='yes'?>
<Relationships xmlns="http://schemas.openxmlformats.org/package/2006/relationships"><Relationship Id="rId2" Type="http://schemas.openxmlformats.org/officeDocument/2006/relationships/image" Target="../media/image1074.png"/><Relationship Id="rId3" Type="http://schemas.openxmlformats.org/officeDocument/2006/relationships/image" Target="../media/image1075.png"/><Relationship Id="rId4" Type="http://schemas.openxmlformats.org/officeDocument/2006/relationships/image" Target="../media/image1076.png"/><Relationship Id="rId5" Type="http://schemas.openxmlformats.org/officeDocument/2006/relationships/image" Target="../media/image1077.png"/><Relationship Id="rId6" Type="http://schemas.openxmlformats.org/officeDocument/2006/relationships/image" Target="../media/image1078.png"/></Relationships>
</file>

<file path=ppt/charts/_rels/chart217.xml.rels><?xml version='1.0' encoding='UTF-8' standalone='yes'?>
<Relationships xmlns="http://schemas.openxmlformats.org/package/2006/relationships"><Relationship Id="rId2" Type="http://schemas.openxmlformats.org/officeDocument/2006/relationships/image" Target="../media/image1079.png"/><Relationship Id="rId3" Type="http://schemas.openxmlformats.org/officeDocument/2006/relationships/image" Target="../media/image1080.png"/></Relationships>
</file>

<file path=ppt/charts/_rels/chart218.xml.rels><?xml version='1.0' encoding='UTF-8' standalone='yes'?>
<Relationships xmlns="http://schemas.openxmlformats.org/package/2006/relationships"><Relationship Id="rId2" Type="http://schemas.openxmlformats.org/officeDocument/2006/relationships/image" Target="../media/image1081.png"/><Relationship Id="rId3" Type="http://schemas.openxmlformats.org/officeDocument/2006/relationships/image" Target="../media/image1082.png"/><Relationship Id="rId4" Type="http://schemas.openxmlformats.org/officeDocument/2006/relationships/image" Target="../media/image1083.png"/><Relationship Id="rId5" Type="http://schemas.openxmlformats.org/officeDocument/2006/relationships/image" Target="../media/image1084.png"/><Relationship Id="rId6" Type="http://schemas.openxmlformats.org/officeDocument/2006/relationships/image" Target="../media/image1085.png"/><Relationship Id="rId7" Type="http://schemas.openxmlformats.org/officeDocument/2006/relationships/image" Target="../media/image1086.png"/><Relationship Id="rId8" Type="http://schemas.openxmlformats.org/officeDocument/2006/relationships/image" Target="../media/image1087.png"/><Relationship Id="rId9" Type="http://schemas.openxmlformats.org/officeDocument/2006/relationships/image" Target="../media/image1088.png"/><Relationship Id="rId10" Type="http://schemas.openxmlformats.org/officeDocument/2006/relationships/image" Target="../media/image1089.png"/><Relationship Id="rId11" Type="http://schemas.openxmlformats.org/officeDocument/2006/relationships/image" Target="../media/image1090.png"/></Relationships>
</file>

<file path=ppt/charts/chart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4.0670845061816285</c:v>
                </c:pt>
                <c:pt idx="1">
                  <c:v>6.5315846945621425</c:v>
                </c:pt>
                <c:pt idx="2">
                  <c:v>5.703667080487174</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621691796822029"/>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674128.267</c:v>
                </c:pt>
                <c:pt idx="2">
                  <c:v>0.0</c:v>
                </c:pt>
                <c:pt idx="3">
                  <c:v>822828.786</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0,,&quot;M&quot;"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674128.267</c:v>
                </c:pt>
                <c:pt idx="1">
                  <c:v>148700.51899999997</c:v>
                </c:pt>
                <c:pt idx="2">
                  <c:v>822828.786</c:v>
                </c:pt>
                <c:pt idx="3">
                  <c:v>726320.782</c:v>
                </c:pt>
                <c:pt idx="4">
                  <c:v>1549149.568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quot;M&quot;"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4.7058329281571165</c:v>
                </c:pt>
                <c:pt idx="1">
                  <c:v>7.130068588453287</c:v>
                </c:pt>
                <c:pt idx="2">
                  <c:v>6.3158169219047045</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9.41169053675834"/>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2680.6459999999997</c:v>
                </c:pt>
                <c:pt idx="2">
                  <c:v>0.0</c:v>
                </c:pt>
                <c:pt idx="3">
                  <c:v>3373.602</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2680.6459999999997</c:v>
                </c:pt>
                <c:pt idx="1">
                  <c:v>692.9560000000001</c:v>
                </c:pt>
                <c:pt idx="2">
                  <c:v>3373.602</c:v>
                </c:pt>
                <c:pt idx="3">
                  <c:v>3343.898</c:v>
                </c:pt>
                <c:pt idx="4">
                  <c:v>6717.5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2680.6459999999997</c:v>
                </c:pt>
                <c:pt idx="1">
                  <c:v>2790.3540000000003</c:v>
                </c:pt>
                <c:pt idx="2">
                  <c:v>2904.846</c:v>
                </c:pt>
                <c:pt idx="3">
                  <c:v>3024.339</c:v>
                </c:pt>
                <c:pt idx="4">
                  <c:v>3149.0699999999997</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674128.267</c:v>
                </c:pt>
                <c:pt idx="1">
                  <c:v>697335.698</c:v>
                </c:pt>
                <c:pt idx="2">
                  <c:v>721467.5360000001</c:v>
                </c:pt>
                <c:pt idx="3">
                  <c:v>746564.385</c:v>
                </c:pt>
                <c:pt idx="4">
                  <c:v>772668.7270000001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3716"/>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1061903"/>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1"/>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3373.602</c:v>
                </c:pt>
                <c:pt idx="1">
                  <c:v>3614.143</c:v>
                </c:pt>
                <c:pt idx="2">
                  <c:v>3871.831</c:v>
                </c:pt>
                <c:pt idx="3">
                  <c:v>4147.896</c:v>
                </c:pt>
                <c:pt idx="4">
                  <c:v>4443.643</c:v>
                </c:pt>
                <c:pt idx="5">
                  <c:v>4760.482</c:v>
                </c:pt>
                <c:pt idx="6">
                  <c:v>5099.901</c:v>
                </c:pt>
                <c:pt idx="7">
                  <c:v>5463.533</c:v>
                </c:pt>
                <c:pt idx="8">
                  <c:v>5853.0869999999995</c:v>
                </c:pt>
                <c:pt idx="9">
                  <c:v>6270.414000000001</c:v>
                </c:pt>
                <c:pt idx="10">
                  <c:v>6717.5</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MM&quot;;&quot;MMMMMMMMMMM&quot;;&quot;MM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MM&quot;;&quot;MMMMMMMMMMM&quot;;&quot;MM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MM&quot;;&quot;MMMMMMMMMMM&quot;;&quot;MM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MM&quot;;&quot;MMMMMMMMMMM&quot;;&quot;MM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MM&quot;;&quot;MMMMMMMMMMM&quot;;&quot;MM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MM&quot;;&quot;MMMMMMMMMMM&quot;;&quot;MM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MM&quot;;&quot;MMMMMMMMMMM&quot;;&quot;MM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M&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822828.786</c:v>
                </c:pt>
                <c:pt idx="1">
                  <c:v>876301.956</c:v>
                </c:pt>
                <c:pt idx="2">
                  <c:v>933314.382</c:v>
                </c:pt>
                <c:pt idx="3">
                  <c:v>994105.943</c:v>
                </c:pt>
                <c:pt idx="4">
                  <c:v>1058929.0019999999</c:v>
                </c:pt>
                <c:pt idx="5">
                  <c:v>1128057.512</c:v>
                </c:pt>
                <c:pt idx="6">
                  <c:v>1201781.4710000001</c:v>
                </c:pt>
                <c:pt idx="7">
                  <c:v>1280409.599</c:v>
                </c:pt>
                <c:pt idx="8">
                  <c:v>1364273.513</c:v>
                </c:pt>
                <c:pt idx="9">
                  <c:v>1453727.131</c:v>
                </c:pt>
                <c:pt idx="10">
                  <c:v>1549149.568</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7927"/>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196962"/>
          <c:min val="0"/>
        </c:scaling>
        <c:delete val="0"/>
        <c:axPos val="r"/>
        <c:numFmt formatCode="#,##0,,&quot;M&quot;"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China</c:v>
                </c:pt>
                <c:pt idx="1">
                  <c:v>Malaysia</c:v>
                </c:pt>
                <c:pt idx="2">
                  <c:v>Spain</c:v>
                </c:pt>
                <c:pt idx="3">
                  <c:v>Thailand</c:v>
                </c:pt>
                <c:pt idx="4">
                  <c:v>Brazil</c:v>
                </c:pt>
                <c:pt idx="5">
                  <c:v>France</c:v>
                </c:pt>
                <c:pt idx="6">
                  <c:v>Netherlands</c:v>
                </c:pt>
                <c:pt idx="7">
                  <c:v>Germany</c:v>
                </c:pt>
                <c:pt idx="8">
                  <c:v>Saudi Arabia</c:v>
                </c:pt>
                <c:pt idx="9">
                  <c:v>India</c:v>
                </c:pt>
              </c:strCache>
            </c:strRef>
          </c:cat>
          <c:val>
            <c:numRef>
              <c:numCache>
                <c:formatCode>General</c:formatCode>
                <c:ptCount val="10"/>
                <c:pt idx="0">
                  <c:v>101.14240752754529</c:v>
                </c:pt>
                <c:pt idx="1">
                  <c:v>104.25088139684246</c:v>
                </c:pt>
                <c:pt idx="2">
                  <c:v>110.28985336067439</c:v>
                </c:pt>
                <c:pt idx="3">
                  <c:v>112.8889861790354</c:v>
                </c:pt>
                <c:pt idx="4">
                  <c:v>113.26653591517174</c:v>
                </c:pt>
                <c:pt idx="5">
                  <c:v>116.42089985950727</c:v>
                </c:pt>
                <c:pt idx="6">
                  <c:v>119.78996018837738</c:v>
                </c:pt>
                <c:pt idx="7">
                  <c:v>122.18681143332677</c:v>
                </c:pt>
                <c:pt idx="8">
                  <c:v>122.46030648246153</c:v>
                </c:pt>
                <c:pt idx="9">
                  <c:v>125.31349240373915</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10"/>
                <c:pt idx="0">
                  <c:v>UAE</c:v>
                </c:pt>
                <c:pt idx="1">
                  <c:v>Japan</c:v>
                </c:pt>
                <c:pt idx="2">
                  <c:v>France</c:v>
                </c:pt>
                <c:pt idx="3">
                  <c:v>U.K.</c:v>
                </c:pt>
                <c:pt idx="4">
                  <c:v>Brazil</c:v>
                </c:pt>
                <c:pt idx="5">
                  <c:v>India</c:v>
                </c:pt>
                <c:pt idx="6">
                  <c:v>China</c:v>
                </c:pt>
                <c:pt idx="7">
                  <c:v>Canada</c:v>
                </c:pt>
                <c:pt idx="8">
                  <c:v>Germany</c:v>
                </c:pt>
                <c:pt idx="9">
                  <c:v>U.S.</c:v>
                </c:pt>
              </c:strCache>
            </c:strRef>
          </c:cat>
          <c:val>
            <c:numRef>
              <c:numCache>
                <c:formatCode>General</c:formatCode>
                <c:ptCount val="10"/>
                <c:pt idx="0">
                  <c:v>2.862288263577418</c:v>
                </c:pt>
                <c:pt idx="1">
                  <c:v>3.1186058904906786</c:v>
                </c:pt>
                <c:pt idx="2">
                  <c:v>3.5249280929023548</c:v>
                </c:pt>
                <c:pt idx="3">
                  <c:v>3.63453071834129</c:v>
                </c:pt>
                <c:pt idx="4">
                  <c:v>5.900449116569945</c:v>
                </c:pt>
                <c:pt idx="5">
                  <c:v>6.651787823671655</c:v>
                </c:pt>
                <c:pt idx="6">
                  <c:v>7.61503490836144</c:v>
                </c:pt>
                <c:pt idx="7">
                  <c:v>9.398432607693174</c:v>
                </c:pt>
                <c:pt idx="8">
                  <c:v>13.345502763541232</c:v>
                </c:pt>
                <c:pt idx="9">
                  <c:v>17.909816627181808</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layout>
                <c:manualLayout>
                  <c:x val="0.0350"/>
                  <c:y val="0.0000"/>
                </c:manualLayout>
              </c:layout>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Matcha Powder</c:v>
                </c:pt>
                <c:pt idx="1">
                  <c:v>Matcha Tea</c:v>
                </c:pt>
              </c:strCache>
            </c:strRef>
          </c:cat>
          <c:val>
            <c:numRef>
              <c:numCache>
                <c:formatCode>General</c:formatCode>
                <c:ptCount val="2"/>
                <c:pt idx="0">
                  <c:v>684.691</c:v>
                </c:pt>
                <c:pt idx="1">
                  <c:v>6032.808999999999</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10.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0.08166414449110261</c:v>
                </c:pt>
                <c:pt idx="1">
                  <c:v>0.08249302401588378</c:v>
                </c:pt>
                <c:pt idx="2">
                  <c:v>0.08430013072756881</c:v>
                </c:pt>
                <c:pt idx="3">
                  <c:v>0.0853604991286402</c:v>
                </c:pt>
                <c:pt idx="4">
                  <c:v>0.08714520369100684</c:v>
                </c:pt>
                <c:pt idx="5">
                  <c:v>0.08980359207679145</c:v>
                </c:pt>
                <c:pt idx="6">
                  <c:v>0.09090876477649966</c:v>
                </c:pt>
                <c:pt idx="7">
                  <c:v>0.09259639335848652</c:v>
                </c:pt>
                <c:pt idx="8">
                  <c:v>0.09372396820751314</c:v>
                </c:pt>
                <c:pt idx="9">
                  <c:v>0.09535932510775705</c:v>
                </c:pt>
                <c:pt idx="10">
                  <c:v>0.09715896443633594</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0.06687330850614445</c:v>
                </c:pt>
                <c:pt idx="1">
                  <c:v>0.06637330850614445</c:v>
                </c:pt>
                <c:pt idx="2">
                  <c:v>0.06687330850614445</c:v>
                </c:pt>
                <c:pt idx="3">
                  <c:v>0.06987330850614444</c:v>
                </c:pt>
                <c:pt idx="4">
                  <c:v>0.07312330850614444</c:v>
                </c:pt>
                <c:pt idx="5">
                  <c:v>0.07387330850614444</c:v>
                </c:pt>
                <c:pt idx="6">
                  <c:v>0.07462330850614445</c:v>
                </c:pt>
                <c:pt idx="7">
                  <c:v>0.07362330850614444</c:v>
                </c:pt>
                <c:pt idx="8">
                  <c:v>0.07212330850614444</c:v>
                </c:pt>
                <c:pt idx="9">
                  <c:v>0.07262330850614444</c:v>
                </c:pt>
                <c:pt idx="10">
                  <c:v>0.07437330850614444</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0.04957372869129571</c:v>
                </c:pt>
                <c:pt idx="1">
                  <c:v>0.05109372869129571</c:v>
                </c:pt>
                <c:pt idx="2">
                  <c:v>0.05444372869129571</c:v>
                </c:pt>
                <c:pt idx="3">
                  <c:v>0.057493728691295716</c:v>
                </c:pt>
                <c:pt idx="4">
                  <c:v>0.05682372869129571</c:v>
                </c:pt>
                <c:pt idx="5">
                  <c:v>0.05430372869129571</c:v>
                </c:pt>
                <c:pt idx="6">
                  <c:v>0.05285372869129571</c:v>
                </c:pt>
                <c:pt idx="7">
                  <c:v>0.05473372869129571</c:v>
                </c:pt>
                <c:pt idx="8">
                  <c:v>0.054163728691295716</c:v>
                </c:pt>
                <c:pt idx="9">
                  <c:v>0.05247372869129571</c:v>
                </c:pt>
                <c:pt idx="10">
                  <c:v>0.050303728691295714</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South Asia &amp; Pacific</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19.469178123770696</c:v>
                </c:pt>
                <c:pt idx="1">
                  <c:v>22.361652428902204</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22.160651414059792</c:v>
                </c:pt>
                <c:pt idx="1">
                  <c:v>21.895318825664226</c:v>
                </c:pt>
              </c:numCache>
            </c:numRef>
          </c:val>
        </c:ser>
        <c:ser>
          <c:idx val="2"/>
          <c:order val="2"/>
          <c:tx>
            <c:strRef>
              <c:strCache>
                <c:ptCount val="1"/>
                <c:pt idx="0">
                  <c:v>North America</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24.12787172470167</c:v>
                </c:pt>
                <c:pt idx="1">
                  <c:v>20.23305027962284</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18.297036219634638</c:v>
                </c:pt>
                <c:pt idx="1">
                  <c:v>18.9750729737156</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8.332804000855653</c:v>
                </c:pt>
                <c:pt idx="1">
                  <c:v>8.906388630900745</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7.612458516977553</c:v>
                </c:pt>
                <c:pt idx="1">
                  <c:v>7.628516861194387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North America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32.99998043634075</c:v>
                </c:pt>
                <c:pt idx="1">
                  <c:v>30.166698920729434</c:v>
                </c:pt>
              </c:numCache>
            </c:numRef>
          </c:val>
        </c:ser>
        <c:ser>
          <c:idx val="1"/>
          <c:order val="1"/>
          <c:tx>
            <c:strRef>
              <c:strCache>
                <c:ptCount val="1"/>
                <c:pt idx="0">
                  <c:v>Europe</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26.999983993369703</c:v>
                </c:pt>
                <c:pt idx="1">
                  <c:v>28.493397841458872</c:v>
                </c:pt>
              </c:numCache>
            </c:numRef>
          </c:val>
        </c:ser>
        <c:ser>
          <c:idx val="2"/>
          <c:order val="2"/>
          <c:tx>
            <c:strRef>
              <c:strCache>
                <c:ptCount val="1"/>
                <c:pt idx="0">
                  <c:v>South Asia &amp; Pacific</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11.99999288594209</c:v>
                </c:pt>
                <c:pt idx="1">
                  <c:v>13.04178637886118</c:v>
                </c:pt>
              </c:numCache>
            </c:numRef>
          </c:val>
        </c:ser>
        <c:ser>
          <c:idx val="3"/>
          <c:order val="3"/>
          <c:tx>
            <c:strRef>
              <c:strCache>
                <c:ptCount val="1"/>
                <c:pt idx="0">
                  <c:v>East Asia</c:v>
                </c:pt>
              </c:strCache>
            </c:strRef>
          </c:tx>
          <c:spPr>
            <a:solidFill>
              <a:srgbClr val="40315E"/>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12.99999229310393</c:v>
                </c:pt>
                <c:pt idx="1">
                  <c:v>12.755474506885001</c:v>
                </c:pt>
              </c:numCache>
            </c:numRef>
          </c:val>
        </c:ser>
        <c:ser>
          <c:idx val="4"/>
          <c:order val="4"/>
          <c:tx>
            <c:strRef>
              <c:strCache>
                <c:ptCount val="1"/>
                <c:pt idx="0">
                  <c:v>Latin America</c:v>
                </c:pt>
              </c:strCache>
            </c:strRef>
          </c:tx>
          <c:spPr>
            <a:solidFill>
              <a:srgbClr val="A35313"/>
            </a:solidFill>
            <a:ln>
              <a:noFill/>
            </a:ln>
          </c:spPr>
          <c:dLbls>
            <c:dLbl>
              <c:idx val="0"/>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8.000024899202694</c:v>
                </c:pt>
                <c:pt idx="1">
                  <c:v>8.604153330852252</c:v>
                </c:pt>
              </c:numCache>
            </c:numRef>
          </c:val>
        </c:ser>
        <c:ser>
          <c:idx val="5"/>
          <c:order val="5"/>
          <c:tx>
            <c:strRef>
              <c:strCache>
                <c:ptCount val="1"/>
                <c:pt idx="0">
                  <c:v>Middle East &amp; Africa</c:v>
                </c:pt>
              </c:strCache>
            </c:strRef>
          </c:tx>
          <c:spPr>
            <a:solidFill>
              <a:srgbClr val="808080"/>
            </a:solidFill>
            <a:ln>
              <a:noFill/>
            </a:ln>
          </c:spPr>
          <c:dLbls>
            <c:dLbl>
              <c:idx val="0"/>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7.0000254920408524</c:v>
                </c:pt>
                <c:pt idx="1">
                  <c:v>6.938489021213249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176578.508</c:v>
                </c:pt>
                <c:pt idx="1">
                  <c:v>179741.257</c:v>
                </c:pt>
                <c:pt idx="2">
                  <c:v>182961.769</c:v>
                </c:pt>
                <c:pt idx="3">
                  <c:v>186241.124</c:v>
                </c:pt>
                <c:pt idx="4">
                  <c:v>189580.419</c:v>
                </c:pt>
                <c:pt idx="5">
                  <c:v>198531.074</c:v>
                </c:pt>
                <c:pt idx="6">
                  <c:v>207898.393</c:v>
                </c:pt>
                <c:pt idx="7">
                  <c:v>217686.479</c:v>
                </c:pt>
                <c:pt idx="8">
                  <c:v>227913.561</c:v>
                </c:pt>
                <c:pt idx="9">
                  <c:v>238597.694</c:v>
                </c:pt>
                <c:pt idx="10">
                  <c:v>249758.634</c:v>
                </c:pt>
                <c:pt idx="11">
                  <c:v>261416.316</c:v>
                </c:pt>
                <c:pt idx="12">
                  <c:v>273591.224</c:v>
                </c:pt>
                <c:pt idx="13">
                  <c:v>286305.036</c:v>
                </c:pt>
                <c:pt idx="14">
                  <c:v>299580.194</c:v>
                </c:pt>
                <c:pt idx="15">
                  <c:v>313440.211</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149916.731</c:v>
                </c:pt>
                <c:pt idx="1">
                  <c:v>154987.231</c:v>
                </c:pt>
                <c:pt idx="2">
                  <c:v>160247.733</c:v>
                </c:pt>
                <c:pt idx="3">
                  <c:v>165705.797</c:v>
                </c:pt>
                <c:pt idx="4">
                  <c:v>171369.299</c:v>
                </c:pt>
                <c:pt idx="5">
                  <c:v>182344.219</c:v>
                </c:pt>
                <c:pt idx="6">
                  <c:v>194016.384</c:v>
                </c:pt>
                <c:pt idx="7">
                  <c:v>206437.048</c:v>
                </c:pt>
                <c:pt idx="8">
                  <c:v>219654.47</c:v>
                </c:pt>
                <c:pt idx="9">
                  <c:v>233719.137</c:v>
                </c:pt>
                <c:pt idx="10">
                  <c:v>248685.682</c:v>
                </c:pt>
                <c:pt idx="11">
                  <c:v>264611.63</c:v>
                </c:pt>
                <c:pt idx="12">
                  <c:v>281557.904</c:v>
                </c:pt>
                <c:pt idx="13">
                  <c:v>299589.684</c:v>
                </c:pt>
                <c:pt idx="14">
                  <c:v>318776.196</c:v>
                </c:pt>
                <c:pt idx="15">
                  <c:v>339191.237</c:v>
                </c:pt>
              </c:numCache>
            </c:numRef>
          </c:val>
        </c:ser>
        <c:ser>
          <c:idx val="2"/>
          <c:order val="2"/>
          <c:tx>
            <c:strRef>
              <c:strCache>
                <c:ptCount val="1"/>
                <c:pt idx="0">
                  <c:v>South Asia &amp; Pacific</c:v>
                </c:pt>
              </c:strCache>
            </c:strRef>
          </c:tx>
          <c:spPr>
            <a:solidFill>
              <a:srgbClr val="008189"/>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122077.016</c:v>
                </c:pt>
                <c:pt idx="1">
                  <c:v>128141.216</c:v>
                </c:pt>
                <c:pt idx="2">
                  <c:v>134520.204</c:v>
                </c:pt>
                <c:pt idx="3">
                  <c:v>141230.861</c:v>
                </c:pt>
                <c:pt idx="4">
                  <c:v>148290.987</c:v>
                </c:pt>
                <c:pt idx="5">
                  <c:v>160198.002</c:v>
                </c:pt>
                <c:pt idx="6">
                  <c:v>173049.66</c:v>
                </c:pt>
                <c:pt idx="7">
                  <c:v>186930.806</c:v>
                </c:pt>
                <c:pt idx="8">
                  <c:v>201923.948</c:v>
                </c:pt>
                <c:pt idx="9">
                  <c:v>218117.36</c:v>
                </c:pt>
                <c:pt idx="10">
                  <c:v>235607.213</c:v>
                </c:pt>
                <c:pt idx="11">
                  <c:v>254496.749</c:v>
                </c:pt>
                <c:pt idx="12">
                  <c:v>274897.158</c:v>
                </c:pt>
                <c:pt idx="13">
                  <c:v>296928.798</c:v>
                </c:pt>
                <c:pt idx="14">
                  <c:v>320721.466</c:v>
                </c:pt>
                <c:pt idx="15">
                  <c:v>346415.442</c:v>
                </c:pt>
              </c:numCache>
            </c:numRef>
          </c:val>
        </c:ser>
        <c:ser>
          <c:idx val="3"/>
          <c:order val="3"/>
          <c:tx>
            <c:strRef>
              <c:strCache>
                <c:ptCount val="1"/>
                <c:pt idx="0">
                  <c:v>East Asia</c:v>
                </c:pt>
              </c:strCache>
            </c:strRef>
          </c:tx>
          <c:spPr>
            <a:solidFill>
              <a:srgbClr val="40315E"/>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120441.098</c:v>
                </c:pt>
                <c:pt idx="1">
                  <c:v>125220.929</c:v>
                </c:pt>
                <c:pt idx="2">
                  <c:v>130193.162</c:v>
                </c:pt>
                <c:pt idx="3">
                  <c:v>135365.636</c:v>
                </c:pt>
                <c:pt idx="4">
                  <c:v>140746.512</c:v>
                </c:pt>
                <c:pt idx="5">
                  <c:v>150553.281</c:v>
                </c:pt>
                <c:pt idx="6">
                  <c:v>161031.9</c:v>
                </c:pt>
                <c:pt idx="7">
                  <c:v>172225.485</c:v>
                </c:pt>
                <c:pt idx="8">
                  <c:v>184182.078</c:v>
                </c:pt>
                <c:pt idx="9">
                  <c:v>196952.141</c:v>
                </c:pt>
                <c:pt idx="10">
                  <c:v>210590.232</c:v>
                </c:pt>
                <c:pt idx="11">
                  <c:v>225153.957</c:v>
                </c:pt>
                <c:pt idx="12">
                  <c:v>240704.456</c:v>
                </c:pt>
                <c:pt idx="13">
                  <c:v>257307.164</c:v>
                </c:pt>
                <c:pt idx="14">
                  <c:v>275031.674</c:v>
                </c:pt>
                <c:pt idx="15">
                  <c:v>293952.261</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54022.127</c:v>
                </c:pt>
                <c:pt idx="1">
                  <c:v>56336.813</c:v>
                </c:pt>
                <c:pt idx="2">
                  <c:v>58752.183</c:v>
                </c:pt>
                <c:pt idx="3">
                  <c:v>61272.685</c:v>
                </c:pt>
                <c:pt idx="4">
                  <c:v>63902.957</c:v>
                </c:pt>
                <c:pt idx="5">
                  <c:v>68564.71</c:v>
                </c:pt>
                <c:pt idx="6">
                  <c:v>73556.699</c:v>
                </c:pt>
                <c:pt idx="7">
                  <c:v>78905.976</c:v>
                </c:pt>
                <c:pt idx="8">
                  <c:v>84637.802</c:v>
                </c:pt>
                <c:pt idx="9">
                  <c:v>90778.838</c:v>
                </c:pt>
                <c:pt idx="10">
                  <c:v>97357.964</c:v>
                </c:pt>
                <c:pt idx="11">
                  <c:v>104405.81</c:v>
                </c:pt>
                <c:pt idx="12">
                  <c:v>111955.022</c:v>
                </c:pt>
                <c:pt idx="13">
                  <c:v>120040.628</c:v>
                </c:pt>
                <c:pt idx="14">
                  <c:v>128700.031</c:v>
                </c:pt>
                <c:pt idx="15">
                  <c:v>137973.281</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51092.787</c:v>
                </c:pt>
                <c:pt idx="1">
                  <c:v>52908.252</c:v>
                </c:pt>
                <c:pt idx="2">
                  <c:v>54792.485</c:v>
                </c:pt>
                <c:pt idx="3">
                  <c:v>56748.282</c:v>
                </c:pt>
                <c:pt idx="4">
                  <c:v>58778.553</c:v>
                </c:pt>
                <c:pt idx="5">
                  <c:v>62637.5</c:v>
                </c:pt>
                <c:pt idx="6">
                  <c:v>66748.92</c:v>
                </c:pt>
                <c:pt idx="7">
                  <c:v>71128.588</c:v>
                </c:pt>
                <c:pt idx="8">
                  <c:v>75794.084</c:v>
                </c:pt>
                <c:pt idx="9">
                  <c:v>80763.832</c:v>
                </c:pt>
                <c:pt idx="10">
                  <c:v>86057.787</c:v>
                </c:pt>
                <c:pt idx="11">
                  <c:v>91697.009</c:v>
                </c:pt>
                <c:pt idx="12">
                  <c:v>97703.835</c:v>
                </c:pt>
                <c:pt idx="13">
                  <c:v>104102.203</c:v>
                </c:pt>
                <c:pt idx="14">
                  <c:v>110917.57</c:v>
                </c:pt>
                <c:pt idx="15">
                  <c:v>118177.136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North America</c:v>
                </c:pt>
              </c:strCache>
            </c:strRef>
          </c:tx>
          <c:spPr>
            <a:solidFill>
              <a:srgbClr val="3D85C6"/>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922.328</c:v>
                </c:pt>
                <c:pt idx="1">
                  <c:v>952.266</c:v>
                </c:pt>
                <c:pt idx="2">
                  <c:v>983.184</c:v>
                </c:pt>
                <c:pt idx="3">
                  <c:v>1015.118</c:v>
                </c:pt>
                <c:pt idx="4">
                  <c:v>1048.099</c:v>
                </c:pt>
                <c:pt idx="5">
                  <c:v>1113.288</c:v>
                </c:pt>
                <c:pt idx="6">
                  <c:v>1182.5</c:v>
                </c:pt>
                <c:pt idx="7">
                  <c:v>1255.901</c:v>
                </c:pt>
                <c:pt idx="8">
                  <c:v>1333.734</c:v>
                </c:pt>
                <c:pt idx="9">
                  <c:v>1416.259</c:v>
                </c:pt>
                <c:pt idx="10">
                  <c:v>1503.752</c:v>
                </c:pt>
                <c:pt idx="11">
                  <c:v>1596.503</c:v>
                </c:pt>
                <c:pt idx="12">
                  <c:v>1694.815</c:v>
                </c:pt>
                <c:pt idx="13">
                  <c:v>1799.011</c:v>
                </c:pt>
                <c:pt idx="14">
                  <c:v>1909.435</c:v>
                </c:pt>
                <c:pt idx="15">
                  <c:v>2026.448</c:v>
                </c:pt>
              </c:numCache>
            </c:numRef>
          </c:val>
        </c:ser>
        <c:ser>
          <c:idx val="1"/>
          <c:order val="1"/>
          <c:tx>
            <c:strRef>
              <c:strCache>
                <c:ptCount val="1"/>
                <c:pt idx="0">
                  <c:v>Europe</c:v>
                </c:pt>
              </c:strCache>
            </c:strRef>
          </c:tx>
          <c:spPr>
            <a:solidFill>
              <a:srgbClr val="9E7E0A"/>
            </a:solidFill>
            <a:ln>
              <a:noFill/>
            </a:ln>
          </c:spPr>
          <c:dLbls>
            <c:dLbl>
              <c:idx val="0"/>
              <c:numFmt formatCode="&quot;&quot;" sourceLinked="0"/>
              <c:dLblPos val="ctr"/>
              <c:showLegendKey val="0"/>
              <c:showVal val="1"/>
              <c:showCatName val="0"/>
              <c:showSerName val="0"/>
              <c:showPercent val="0"/>
              <c:showBubbleSize val="0"/>
            </c:dLbl>
            <c:dLbl>
              <c:idx val="1"/>
              <c:numFmt formatCode="&quot;&quot;" sourceLinked="0"/>
              <c:dLblPos val="ctr"/>
              <c:showLegendKey val="0"/>
              <c:showVal val="1"/>
              <c:showCatName val="0"/>
              <c:showSerName val="0"/>
              <c:showPercent val="0"/>
              <c:showBubbleSize val="0"/>
            </c:dLbl>
            <c:dLbl>
              <c:idx val="2"/>
              <c:numFmt formatCode="&quot;&quot;" sourceLinked="0"/>
              <c:dLblPos val="ctr"/>
              <c:showLegendKey val="0"/>
              <c:showVal val="1"/>
              <c:showCatName val="0"/>
              <c:showSerName val="0"/>
              <c:showPercent val="0"/>
              <c:showBubbleSize val="0"/>
            </c:dLbl>
            <c:dLbl>
              <c:idx val="3"/>
              <c:numFmt formatCode="&quot;&quot;" sourceLinked="0"/>
              <c:dLblPos val="ct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704.857</c:v>
                </c:pt>
                <c:pt idx="1">
                  <c:v>737.566</c:v>
                </c:pt>
                <c:pt idx="2">
                  <c:v>771.891</c:v>
                </c:pt>
                <c:pt idx="3">
                  <c:v>807.914</c:v>
                </c:pt>
                <c:pt idx="4">
                  <c:v>845.719</c:v>
                </c:pt>
                <c:pt idx="5">
                  <c:v>910.872</c:v>
                </c:pt>
                <c:pt idx="6">
                  <c:v>981.022</c:v>
                </c:pt>
                <c:pt idx="7">
                  <c:v>1056.592</c:v>
                </c:pt>
                <c:pt idx="8">
                  <c:v>1138.005</c:v>
                </c:pt>
                <c:pt idx="9">
                  <c:v>1225.705</c:v>
                </c:pt>
                <c:pt idx="10">
                  <c:v>1320.188</c:v>
                </c:pt>
                <c:pt idx="11">
                  <c:v>1421.964</c:v>
                </c:pt>
                <c:pt idx="12">
                  <c:v>1531.613</c:v>
                </c:pt>
                <c:pt idx="13">
                  <c:v>1649.73</c:v>
                </c:pt>
                <c:pt idx="14">
                  <c:v>1776.971</c:v>
                </c:pt>
                <c:pt idx="15">
                  <c:v>1914.044</c:v>
                </c:pt>
              </c:numCache>
            </c:numRef>
          </c:val>
        </c:ser>
        <c:ser>
          <c:idx val="2"/>
          <c:order val="2"/>
          <c:tx>
            <c:strRef>
              <c:strCache>
                <c:ptCount val="1"/>
                <c:pt idx="0">
                  <c:v>East Asia</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dLblPos val="ct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350.636</c:v>
                </c:pt>
                <c:pt idx="1">
                  <c:v>364.6</c:v>
                </c:pt>
                <c:pt idx="2">
                  <c:v>379.127</c:v>
                </c:pt>
                <c:pt idx="3">
                  <c:v>394.239</c:v>
                </c:pt>
                <c:pt idx="4">
                  <c:v>409.957</c:v>
                </c:pt>
                <c:pt idx="5">
                  <c:v>438.568</c:v>
                </c:pt>
                <c:pt idx="6">
                  <c:v>469.14</c:v>
                </c:pt>
                <c:pt idx="7">
                  <c:v>501.796</c:v>
                </c:pt>
                <c:pt idx="8">
                  <c:v>536.677</c:v>
                </c:pt>
                <c:pt idx="9">
                  <c:v>573.931</c:v>
                </c:pt>
                <c:pt idx="10">
                  <c:v>613.716</c:v>
                </c:pt>
                <c:pt idx="11">
                  <c:v>656.198</c:v>
                </c:pt>
                <c:pt idx="12">
                  <c:v>701.557</c:v>
                </c:pt>
                <c:pt idx="13">
                  <c:v>749.981</c:v>
                </c:pt>
                <c:pt idx="14">
                  <c:v>801.673</c:v>
                </c:pt>
                <c:pt idx="15">
                  <c:v>856.849</c:v>
                </c:pt>
              </c:numCache>
            </c:numRef>
          </c:val>
        </c:ser>
        <c:ser>
          <c:idx val="3"/>
          <c:order val="3"/>
          <c:tx>
            <c:strRef>
              <c:strCache>
                <c:ptCount val="1"/>
                <c:pt idx="0">
                  <c:v>South Asia &amp; Pacific</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dLblPos val="ctr"/>
              <c:showLegendKey val="0"/>
              <c:showVal val="1"/>
              <c:showCatName val="0"/>
              <c:showSerName val="0"/>
              <c:showPercent val="0"/>
              <c:showBubbleSize val="0"/>
            </c:dLbl>
            <c:dLbl>
              <c:idx val="6"/>
              <c:numFmt formatCode="&quot;&quot;" sourceLinked="0"/>
              <c:dLblPos val="ctr"/>
              <c:showLegendKey val="0"/>
              <c:showVal val="1"/>
              <c:showCatName val="0"/>
              <c:showSerName val="0"/>
              <c:showPercent val="0"/>
              <c:showBubbleSize val="0"/>
            </c:dLbl>
            <c:dLbl>
              <c:idx val="7"/>
              <c:numFmt formatCode="&quot;&quot;" sourceLinked="0"/>
              <c:dLblPos val="ctr"/>
              <c:showLegendKey val="0"/>
              <c:showVal val="1"/>
              <c:showCatName val="0"/>
              <c:showSerName val="0"/>
              <c:showPercent val="0"/>
              <c:showBubbleSize val="0"/>
            </c:dLbl>
            <c:dLbl>
              <c:idx val="8"/>
              <c:numFmt formatCode="&quot;&quot;" sourceLinked="0"/>
              <c:dLblPos val="ctr"/>
              <c:showLegendKey val="0"/>
              <c:showVal val="1"/>
              <c:showCatName val="0"/>
              <c:showSerName val="0"/>
              <c:showPercent val="0"/>
              <c:showBubbleSize val="0"/>
            </c:dLbl>
            <c:dLbl>
              <c:idx val="9"/>
              <c:numFmt formatCode="&quot;&quot;" sourceLinked="0"/>
              <c:dLblPos val="ctr"/>
              <c:showLegendKey val="0"/>
              <c:showVal val="1"/>
              <c:showCatName val="0"/>
              <c:showSerName val="0"/>
              <c:showPercent val="0"/>
              <c:showBubbleSize val="0"/>
            </c:dLbl>
            <c:dLbl>
              <c:idx val="10"/>
              <c:numFmt formatCode="&quot;&quot;" sourceLinked="0"/>
              <c:dLblPos val="ct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308.389</c:v>
                </c:pt>
                <c:pt idx="1">
                  <c:v>323.731</c:v>
                </c:pt>
                <c:pt idx="2">
                  <c:v>339.871</c:v>
                </c:pt>
                <c:pt idx="3">
                  <c:v>356.85</c:v>
                </c:pt>
                <c:pt idx="4">
                  <c:v>374.715</c:v>
                </c:pt>
                <c:pt idx="5">
                  <c:v>404.832</c:v>
                </c:pt>
                <c:pt idx="6">
                  <c:v>437.34</c:v>
                </c:pt>
                <c:pt idx="7">
                  <c:v>472.454</c:v>
                </c:pt>
                <c:pt idx="8">
                  <c:v>510.387</c:v>
                </c:pt>
                <c:pt idx="9">
                  <c:v>551.363</c:v>
                </c:pt>
                <c:pt idx="10">
                  <c:v>595.618</c:v>
                </c:pt>
                <c:pt idx="11">
                  <c:v>643.418</c:v>
                </c:pt>
                <c:pt idx="12">
                  <c:v>695.049</c:v>
                </c:pt>
                <c:pt idx="13">
                  <c:v>750.812</c:v>
                </c:pt>
                <c:pt idx="14">
                  <c:v>811.039</c:v>
                </c:pt>
                <c:pt idx="15">
                  <c:v>876.082</c:v>
                </c:pt>
              </c:numCache>
            </c:numRef>
          </c:val>
        </c:ser>
        <c:ser>
          <c:idx val="4"/>
          <c:order val="4"/>
          <c:tx>
            <c:strRef>
              <c:strCache>
                <c:ptCount val="1"/>
                <c:pt idx="0">
                  <c:v>Latin America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dLblPos val="ctr"/>
              <c:showLegendKey val="0"/>
              <c:showVal val="1"/>
              <c:showCatName val="0"/>
              <c:showSerName val="0"/>
              <c:showPercent val="0"/>
              <c:showBubbleSize val="0"/>
            </c:dLbl>
            <c:dLbl>
              <c:idx val="12"/>
              <c:numFmt formatCode="&quot;&quot;" sourceLinked="0"/>
              <c:dLblPos val="ctr"/>
              <c:showLegendKey val="0"/>
              <c:showVal val="1"/>
              <c:showCatName val="0"/>
              <c:showSerName val="0"/>
              <c:showPercent val="0"/>
              <c:showBubbleSize val="0"/>
            </c:dLbl>
            <c:dLbl>
              <c:idx val="13"/>
              <c:numFmt formatCode="&quot;&quot;" sourceLinked="0"/>
              <c:dLblPos val="ctr"/>
              <c:showLegendKey val="0"/>
              <c:showVal val="1"/>
              <c:showCatName val="0"/>
              <c:showSerName val="0"/>
              <c:showPercent val="0"/>
              <c:showBubbleSize val="0"/>
            </c:dLbl>
            <c:dLbl>
              <c:idx val="14"/>
              <c:numFmt formatCode="&quot;&quot;" sourceLinked="0"/>
              <c:dLblPos val="ctr"/>
              <c:showLegendKey val="0"/>
              <c:showVal val="1"/>
              <c:showCatName val="0"/>
              <c:showSerName val="0"/>
              <c:showPercent val="0"/>
              <c:showBubbleSize val="0"/>
            </c:dLbl>
            <c:dLbl>
              <c:idx val="15"/>
              <c:numFmt formatCode="&quot;&quot;" sourceLinked="0"/>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206.095</c:v>
                </c:pt>
                <c:pt idx="1">
                  <c:v>216.277</c:v>
                </c:pt>
                <c:pt idx="2">
                  <c:v>226.967</c:v>
                </c:pt>
                <c:pt idx="3">
                  <c:v>238.188</c:v>
                </c:pt>
                <c:pt idx="4">
                  <c:v>249.971</c:v>
                </c:pt>
                <c:pt idx="5">
                  <c:v>269.889</c:v>
                </c:pt>
                <c:pt idx="6">
                  <c:v>291.351</c:v>
                </c:pt>
                <c:pt idx="7">
                  <c:v>314.497</c:v>
                </c:pt>
                <c:pt idx="8">
                  <c:v>339.451</c:v>
                </c:pt>
                <c:pt idx="9">
                  <c:v>366.357</c:v>
                </c:pt>
                <c:pt idx="10">
                  <c:v>395.363</c:v>
                </c:pt>
                <c:pt idx="11">
                  <c:v>426.632</c:v>
                </c:pt>
                <c:pt idx="12">
                  <c:v>460.333</c:v>
                </c:pt>
                <c:pt idx="13">
                  <c:v>496.658</c:v>
                </c:pt>
                <c:pt idx="14">
                  <c:v>535.803</c:v>
                </c:pt>
                <c:pt idx="15">
                  <c:v>577.984</c:v>
                </c:pt>
              </c:numCache>
            </c:numRef>
          </c:val>
        </c:ser>
        <c:ser>
          <c:idx val="5"/>
          <c:order val="5"/>
          <c:tx>
            <c:strRef>
              <c:strCache>
                <c:ptCount val="1"/>
                <c:pt idx="0">
                  <c:v>Middle East &amp; Africa</c:v>
                </c:pt>
              </c:strCache>
            </c:strRef>
          </c:tx>
          <c:spPr>
            <a:solidFill>
              <a:srgbClr val="808080"/>
            </a:solidFill>
            <a:ln>
              <a:noFill/>
            </a:ln>
          </c:spPr>
          <c:dLbls>
            <c:dLbl>
              <c:layout>
                <c:manualLayout>
                  <c:x val="0"/>
                  <c:y val="-0.0830"/>
                </c:manualLayout>
              </c:layout>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6"/>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7"/>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8"/>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9"/>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3"/>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4"/>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dLbl>
              <c:layout>
                <c:manualLayout>
                  <c:x val="0"/>
                  <c:y val="-0.0830"/>
                </c:manualLayout>
              </c:layout>
              <c:idx val="15"/>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dLblPos val="inEnd"/>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188.341</c:v>
                </c:pt>
                <c:pt idx="1">
                  <c:v>195.914</c:v>
                </c:pt>
                <c:pt idx="2">
                  <c:v>203.806</c:v>
                </c:pt>
                <c:pt idx="3">
                  <c:v>212.03</c:v>
                </c:pt>
                <c:pt idx="4">
                  <c:v>220.609</c:v>
                </c:pt>
                <c:pt idx="5">
                  <c:v>236.153</c:v>
                </c:pt>
                <c:pt idx="6">
                  <c:v>252.79</c:v>
                </c:pt>
                <c:pt idx="7">
                  <c:v>270.591</c:v>
                </c:pt>
                <c:pt idx="8">
                  <c:v>289.642</c:v>
                </c:pt>
                <c:pt idx="9">
                  <c:v>310.028</c:v>
                </c:pt>
                <c:pt idx="10">
                  <c:v>331.845</c:v>
                </c:pt>
                <c:pt idx="11">
                  <c:v>355.186</c:v>
                </c:pt>
                <c:pt idx="12">
                  <c:v>380.166</c:v>
                </c:pt>
                <c:pt idx="13">
                  <c:v>406.895</c:v>
                </c:pt>
                <c:pt idx="14">
                  <c:v>435.493</c:v>
                </c:pt>
                <c:pt idx="15">
                  <c:v>466.093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Organic</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67.3335578950982</c:v>
                </c:pt>
                <c:pt idx="1">
                  <c:v>56.93323690621194</c:v>
                </c:pt>
                <c:pt idx="2">
                  <c:v>63.065020791294614</c:v>
                </c:pt>
                <c:pt idx="3">
                  <c:v>66.01722213217485</c:v>
                </c:pt>
                <c:pt idx="4">
                  <c:v>67.69807799611712</c:v>
                </c:pt>
                <c:pt idx="5">
                  <c:v>67.26400085272358</c:v>
                </c:pt>
              </c:numCache>
            </c:numRef>
          </c:val>
        </c:ser>
        <c:ser>
          <c:idx val="1"/>
          <c:order val="1"/>
          <c:tx>
            <c:strRef>
              <c:strCache>
                <c:ptCount val="1"/>
                <c:pt idx="0">
                  <c:v>Conventional</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32.66644210490182</c:v>
                </c:pt>
                <c:pt idx="1">
                  <c:v>43.06676309378806</c:v>
                </c:pt>
                <c:pt idx="2">
                  <c:v>36.93497920870538</c:v>
                </c:pt>
                <c:pt idx="3">
                  <c:v>33.982777867825156</c:v>
                </c:pt>
                <c:pt idx="4">
                  <c:v>32.30192200388288</c:v>
                </c:pt>
                <c:pt idx="5">
                  <c:v>32.735999147276424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Organic</c:v>
                </c:pt>
              </c:strCache>
            </c:strRef>
          </c:tx>
          <c:spPr>
            <a:solidFill>
              <a:srgbClr val="3D85C6"/>
            </a:solidFill>
          </c:spPr>
          <c:invertIfNegative val="0"/>
          <c:xVal>
            <c:numRef>
              <c:numCache>
                <c:formatCode>General</c:formatCode>
                <c:ptCount val="1"/>
                <c:pt idx="0">
                  <c:v>96.28063728963194</c:v>
                </c:pt>
              </c:numCache>
            </c:numRef>
          </c:xVal>
          <c:yVal>
            <c:numRef>
              <c:numCache>
                <c:formatCode>General</c:formatCode>
                <c:ptCount val="1"/>
                <c:pt idx="0">
                  <c:v>134.9136027308497</c:v>
                </c:pt>
              </c:numCache>
            </c:numRef>
          </c:yVal>
          <c:bubbleSize>
            <c:numRef>
              <c:numCache>
                <c:formatCode>General</c:formatCode>
                <c:ptCount val="1"/>
                <c:pt idx="0">
                  <c:v>4420.48</c:v>
                </c:pt>
              </c:numCache>
            </c:numRef>
          </c:bubbleSize>
          <c:bubble3D val="0"/>
        </c:ser>
        <c:ser>
          <c:idx val="1"/>
          <c:order val="1"/>
          <c:tx>
            <c:strRef>
              <c:strCache>
                <c:ptCount val="1"/>
                <c:pt idx="0">
                  <c:v>Conventional</c:v>
                </c:pt>
              </c:strCache>
            </c:strRef>
          </c:tx>
          <c:spPr>
            <a:solidFill>
              <a:srgbClr val="9E7E0A"/>
            </a:solidFill>
          </c:spPr>
          <c:invertIfNegative val="0"/>
          <c:xVal>
            <c:numRef>
              <c:numCache>
                <c:formatCode>General</c:formatCode>
                <c:ptCount val="1"/>
                <c:pt idx="0">
                  <c:v>107.45562007191198</c:v>
                </c:pt>
              </c:numCache>
            </c:numRef>
          </c:xVal>
          <c:yVal>
            <c:numRef>
              <c:numCache>
                <c:formatCode>General</c:formatCode>
                <c:ptCount val="1"/>
                <c:pt idx="0">
                  <c:v>65.0863972691503</c:v>
                </c:pt>
              </c:numCache>
            </c:numRef>
          </c:yVal>
          <c:bubbleSize>
            <c:numRef>
              <c:numCache>
                <c:formatCode>General</c:formatCode>
                <c:ptCount val="1"/>
                <c:pt idx="0">
                  <c:v>2297.02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2275.724</c:v>
                </c:pt>
                <c:pt idx="2">
                  <c:v>2598.272</c:v>
                </c:pt>
                <c:pt idx="3">
                  <c:v>2966.909</c:v>
                </c:pt>
                <c:pt idx="4">
                  <c:v>3388.252</c:v>
                </c:pt>
                <c:pt idx="5">
                  <c:v>3869.881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2275.724</c:v>
                </c:pt>
                <c:pt idx="1">
                  <c:v>322.5479999999998</c:v>
                </c:pt>
                <c:pt idx="2">
                  <c:v>368.63700000000017</c:v>
                </c:pt>
                <c:pt idx="3">
                  <c:v>421.34299999999985</c:v>
                </c:pt>
                <c:pt idx="4">
                  <c:v>481.6289999999999</c:v>
                </c:pt>
                <c:pt idx="5">
                  <c:v>550.5989999999997</c:v>
                </c:pt>
                <c:pt idx="6">
                  <c:v>4420.48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1097.878</c:v>
                </c:pt>
                <c:pt idx="2">
                  <c:v>1273.559</c:v>
                </c:pt>
                <c:pt idx="3">
                  <c:v>1476.734</c:v>
                </c:pt>
                <c:pt idx="4">
                  <c:v>1711.649</c:v>
                </c:pt>
                <c:pt idx="5">
                  <c:v>1983.206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1097.878</c:v>
                </c:pt>
                <c:pt idx="1">
                  <c:v>175.68100000000004</c:v>
                </c:pt>
                <c:pt idx="2">
                  <c:v>203.17499999999995</c:v>
                </c:pt>
                <c:pt idx="3">
                  <c:v>234.91499999999996</c:v>
                </c:pt>
                <c:pt idx="4">
                  <c:v>271.557</c:v>
                </c:pt>
                <c:pt idx="5">
                  <c:v>313.8140000000001</c:v>
                </c:pt>
                <c:pt idx="6">
                  <c:v>2297.02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Organic</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68.3784804110651</c:v>
                </c:pt>
                <c:pt idx="1">
                  <c:v>67.45680136542485</c:v>
                </c:pt>
                <c:pt idx="2">
                  <c:v>65.8054335690361</c:v>
                </c:pt>
              </c:numCache>
            </c:numRef>
          </c:val>
        </c:ser>
        <c:ser>
          <c:idx val="1"/>
          <c:order val="1"/>
          <c:tx>
            <c:strRef>
              <c:strCache>
                <c:ptCount val="1"/>
                <c:pt idx="0">
                  <c:v>Conventional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31.621519588934905</c:v>
                </c:pt>
                <c:pt idx="1">
                  <c:v>32.54319863457515</c:v>
                </c:pt>
                <c:pt idx="2">
                  <c:v>34.1945664309639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Matcha Powder</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9.206960842578626</c:v>
                </c:pt>
                <c:pt idx="1">
                  <c:v>10.878328811870226</c:v>
                </c:pt>
                <c:pt idx="2">
                  <c:v>8.139823936306161</c:v>
                </c:pt>
                <c:pt idx="3">
                  <c:v>9.826363285628513</c:v>
                </c:pt>
                <c:pt idx="4">
                  <c:v>9.886345350472613</c:v>
                </c:pt>
                <c:pt idx="5">
                  <c:v>11.539452283009483</c:v>
                </c:pt>
              </c:numCache>
            </c:numRef>
          </c:val>
        </c:ser>
        <c:ser>
          <c:idx val="1"/>
          <c:order val="1"/>
          <c:tx>
            <c:strRef>
              <c:strCache>
                <c:ptCount val="1"/>
                <c:pt idx="0">
                  <c:v>Matcha Tea</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90.79303915742138</c:v>
                </c:pt>
                <c:pt idx="1">
                  <c:v>89.12167118812977</c:v>
                </c:pt>
                <c:pt idx="2">
                  <c:v>91.86017606369384</c:v>
                </c:pt>
                <c:pt idx="3">
                  <c:v>90.17363671437148</c:v>
                </c:pt>
                <c:pt idx="4">
                  <c:v>90.11365464952739</c:v>
                </c:pt>
                <c:pt idx="5">
                  <c:v>88.46054771699052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Matcha Powder</c:v>
                </c:pt>
              </c:strCache>
            </c:strRef>
          </c:tx>
          <c:spPr>
            <a:solidFill>
              <a:srgbClr val="3D85C6"/>
            </a:solidFill>
          </c:spPr>
          <c:invertIfNegative val="0"/>
          <c:xVal>
            <c:numRef>
              <c:numCache>
                <c:formatCode>General</c:formatCode>
                <c:ptCount val="1"/>
                <c:pt idx="0">
                  <c:v>112.03115688899442</c:v>
                </c:pt>
              </c:numCache>
            </c:numRef>
          </c:xVal>
          <c:yVal>
            <c:numRef>
              <c:numCache>
                <c:formatCode>General</c:formatCode>
                <c:ptCount val="1"/>
                <c:pt idx="0">
                  <c:v>18.82261155880273</c:v>
                </c:pt>
              </c:numCache>
            </c:numRef>
          </c:yVal>
          <c:bubbleSize>
            <c:numRef>
              <c:numCache>
                <c:formatCode>General</c:formatCode>
                <c:ptCount val="1"/>
                <c:pt idx="0">
                  <c:v>684.691</c:v>
                </c:pt>
              </c:numCache>
            </c:numRef>
          </c:bubbleSize>
          <c:bubble3D val="0"/>
        </c:ser>
        <c:ser>
          <c:idx val="1"/>
          <c:order val="1"/>
          <c:tx>
            <c:strRef>
              <c:strCache>
                <c:ptCount val="1"/>
                <c:pt idx="0">
                  <c:v>Matcha Tea</c:v>
                </c:pt>
              </c:strCache>
            </c:strRef>
          </c:tx>
          <c:spPr>
            <a:solidFill>
              <a:srgbClr val="9E7E0A"/>
            </a:solidFill>
          </c:spPr>
          <c:invertIfNegative val="0"/>
          <c:xVal>
            <c:numRef>
              <c:numCache>
                <c:formatCode>General</c:formatCode>
                <c:ptCount val="1"/>
                <c:pt idx="0">
                  <c:v>98.69900538859851</c:v>
                </c:pt>
              </c:numCache>
            </c:numRef>
          </c:xVal>
          <c:yVal>
            <c:numRef>
              <c:numCache>
                <c:formatCode>General</c:formatCode>
                <c:ptCount val="1"/>
                <c:pt idx="0">
                  <c:v>181.17738844119725</c:v>
                </c:pt>
              </c:numCache>
            </c:numRef>
          </c:yVal>
          <c:bubbleSize>
            <c:numRef>
              <c:numCache>
                <c:formatCode>General</c:formatCode>
                <c:ptCount val="1"/>
                <c:pt idx="0">
                  <c:v>6032.808999999999</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0.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317.5</c:v>
                </c:pt>
                <c:pt idx="2">
                  <c:v>370.686</c:v>
                </c:pt>
                <c:pt idx="3">
                  <c:v>432.515</c:v>
                </c:pt>
                <c:pt idx="4">
                  <c:v>504.358</c:v>
                </c:pt>
                <c:pt idx="5">
                  <c:v>587.806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317.5</c:v>
                </c:pt>
                <c:pt idx="1">
                  <c:v>53.18599999999998</c:v>
                </c:pt>
                <c:pt idx="2">
                  <c:v>61.82900000000001</c:v>
                </c:pt>
                <c:pt idx="3">
                  <c:v>71.84300000000002</c:v>
                </c:pt>
                <c:pt idx="4">
                  <c:v>83.44800000000004</c:v>
                </c:pt>
                <c:pt idx="5">
                  <c:v>96.88499999999999</c:v>
                </c:pt>
                <c:pt idx="6">
                  <c:v>684.691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3056.102</c:v>
                </c:pt>
                <c:pt idx="2">
                  <c:v>3501.145</c:v>
                </c:pt>
                <c:pt idx="3">
                  <c:v>4011.1279999999997</c:v>
                </c:pt>
                <c:pt idx="4">
                  <c:v>4595.543</c:v>
                </c:pt>
                <c:pt idx="5">
                  <c:v>5265.281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3056.102</c:v>
                </c:pt>
                <c:pt idx="1">
                  <c:v>445.0430000000001</c:v>
                </c:pt>
                <c:pt idx="2">
                  <c:v>509.9829999999997</c:v>
                </c:pt>
                <c:pt idx="3">
                  <c:v>584.415</c:v>
                </c:pt>
                <c:pt idx="4">
                  <c:v>669.7380000000003</c:v>
                </c:pt>
                <c:pt idx="5">
                  <c:v>767.5279999999993</c:v>
                </c:pt>
                <c:pt idx="6">
                  <c:v>6032.808999999999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Tea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91.00977898611006</c:v>
                </c:pt>
                <c:pt idx="1">
                  <c:v>90.58869422059863</c:v>
                </c:pt>
                <c:pt idx="2">
                  <c:v>89.80735392631188</c:v>
                </c:pt>
              </c:numCache>
            </c:numRef>
          </c:val>
        </c:ser>
        <c:ser>
          <c:idx val="1"/>
          <c:order val="1"/>
          <c:tx>
            <c:strRef>
              <c:strCache>
                <c:ptCount val="1"/>
                <c:pt idx="0">
                  <c:v>Powder</c:v>
                </c:pt>
              </c:strCache>
            </c:strRef>
          </c:tx>
          <c:spPr>
            <a:solidFill>
              <a:srgbClr val="9E7E0A"/>
            </a:solidFill>
            <a:ln>
              <a:noFill/>
            </a:ln>
          </c:spPr>
          <c:dLbls>
            <c:dLbl>
              <c:idx val="0"/>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8.990221013889935</c:v>
                </c:pt>
                <c:pt idx="1">
                  <c:v>9.411305779401365</c:v>
                </c:pt>
                <c:pt idx="2">
                  <c:v>10.192646073688131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Powder</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5.3905551038097546</c:v>
                </c:pt>
                <c:pt idx="1">
                  <c:v>5.978366183146938</c:v>
                </c:pt>
                <c:pt idx="2">
                  <c:v>5.199165780668473</c:v>
                </c:pt>
                <c:pt idx="3">
                  <c:v>5.60130216121322</c:v>
                </c:pt>
                <c:pt idx="4">
                  <c:v>6.897542585227925</c:v>
                </c:pt>
                <c:pt idx="5">
                  <c:v>6.124213401972319</c:v>
                </c:pt>
              </c:numCache>
            </c:numRef>
          </c:val>
        </c:ser>
        <c:ser>
          <c:idx val="1"/>
          <c:order val="1"/>
          <c:tx>
            <c:strRef>
              <c:strCache>
                <c:ptCount val="1"/>
                <c:pt idx="0">
                  <c:v>Liquid</c:v>
                </c:pt>
              </c:strCache>
            </c:strRef>
          </c:tx>
          <c:spPr>
            <a:solidFill>
              <a:srgbClr val="9E7E0A"/>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42.83608636044738</c:v>
                </c:pt>
                <c:pt idx="1">
                  <c:v>42.131443084929685</c:v>
                </c:pt>
                <c:pt idx="2">
                  <c:v>43.15031003128907</c:v>
                </c:pt>
                <c:pt idx="3">
                  <c:v>42.263852013852585</c:v>
                </c:pt>
                <c:pt idx="4">
                  <c:v>38.42403831886832</c:v>
                </c:pt>
                <c:pt idx="5">
                  <c:v>36.53126060969736</c:v>
                </c:pt>
              </c:numCache>
            </c:numRef>
          </c:val>
        </c:ser>
        <c:ser>
          <c:idx val="2"/>
          <c:order val="2"/>
          <c:tx>
            <c:strRef>
              <c:strCache>
                <c:ptCount val="1"/>
                <c:pt idx="0">
                  <c:v>Granules</c:v>
                </c:pt>
              </c:strCache>
            </c:strRef>
          </c:tx>
          <c:spPr>
            <a:solidFill>
              <a:srgbClr val="008189"/>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4.1669795512912655</c:v>
                </c:pt>
                <c:pt idx="1">
                  <c:v>4.0016678662385115</c:v>
                </c:pt>
                <c:pt idx="2">
                  <c:v>4.4951911013492465</c:v>
                </c:pt>
                <c:pt idx="3">
                  <c:v>4.148584264943236</c:v>
                </c:pt>
                <c:pt idx="4">
                  <c:v>4.252148853422388</c:v>
                </c:pt>
                <c:pt idx="5">
                  <c:v>4.1865372316486775</c:v>
                </c:pt>
              </c:numCache>
            </c:numRef>
          </c:val>
        </c:ser>
        <c:ser>
          <c:idx val="3"/>
          <c:order val="3"/>
          <c:tx>
            <c:strRef>
              <c:strCache>
                <c:ptCount val="1"/>
                <c:pt idx="0">
                  <c:v>Blended</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19.81514418796249</c:v>
                </c:pt>
                <c:pt idx="1">
                  <c:v>18.791869671132762</c:v>
                </c:pt>
                <c:pt idx="2">
                  <c:v>18.015309581968353</c:v>
                </c:pt>
                <c:pt idx="3">
                  <c:v>20.393981385304116</c:v>
                </c:pt>
                <c:pt idx="4">
                  <c:v>22.122375452183963</c:v>
                </c:pt>
                <c:pt idx="5">
                  <c:v>23.06355751541614</c:v>
                </c:pt>
              </c:numCache>
            </c:numRef>
          </c:val>
        </c:ser>
        <c:ser>
          <c:idx val="4"/>
          <c:order val="4"/>
          <c:tx>
            <c:strRef>
              <c:strCache>
                <c:ptCount val="1"/>
                <c:pt idx="0">
                  <c:v>Ground</c:v>
                </c:pt>
              </c:strCache>
            </c:strRef>
          </c:tx>
          <c:spPr>
            <a:solidFill>
              <a:srgbClr val="A35313"/>
            </a:solidFill>
            <a:ln>
              <a:noFill/>
            </a:ln>
          </c:spPr>
          <c:dLbls>
            <c:dLbl>
              <c:idx val="0"/>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14.537871197379065</c:v>
                </c:pt>
                <c:pt idx="1">
                  <c:v>16.826936385782304</c:v>
                </c:pt>
                <c:pt idx="2">
                  <c:v>16.04168295697375</c:v>
                </c:pt>
                <c:pt idx="3">
                  <c:v>14.401848228818764</c:v>
                </c:pt>
                <c:pt idx="4">
                  <c:v>14.105840827065627</c:v>
                </c:pt>
                <c:pt idx="5">
                  <c:v>16.08494271750373</c:v>
                </c:pt>
              </c:numCache>
            </c:numRef>
          </c:val>
        </c:ser>
        <c:ser>
          <c:idx val="5"/>
          <c:order val="5"/>
          <c:tx>
            <c:strRef>
              <c:strCache>
                <c:ptCount val="1"/>
                <c:pt idx="0">
                  <c:v>Whole</c:v>
                </c:pt>
              </c:strCache>
            </c:strRef>
          </c:tx>
          <c:spPr>
            <a:solidFill>
              <a:srgbClr val="808080"/>
            </a:solidFill>
            <a:ln>
              <a:noFill/>
            </a:ln>
          </c:spPr>
          <c:dLbls>
            <c:dLbl>
              <c:idx val="0"/>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13.253363599110049</c:v>
                </c:pt>
                <c:pt idx="1">
                  <c:v>12.269716808769793</c:v>
                </c:pt>
                <c:pt idx="2">
                  <c:v>13.098340547751123</c:v>
                </c:pt>
                <c:pt idx="3">
                  <c:v>13.190431945868081</c:v>
                </c:pt>
                <c:pt idx="4">
                  <c:v>14.198053963231775</c:v>
                </c:pt>
                <c:pt idx="5">
                  <c:v>14.009488523761773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Powder</c:v>
                </c:pt>
              </c:strCache>
            </c:strRef>
          </c:tx>
          <c:spPr>
            <a:solidFill>
              <a:srgbClr val="3D85C6"/>
            </a:solidFill>
          </c:spPr>
          <c:invertIfNegative val="0"/>
          <c:xVal>
            <c:numRef>
              <c:numCache>
                <c:formatCode>General</c:formatCode>
                <c:ptCount val="1"/>
                <c:pt idx="0">
                  <c:v>121.8554553205175</c:v>
                </c:pt>
              </c:numCache>
            </c:numRef>
          </c:xVal>
          <c:yVal>
            <c:numRef>
              <c:numCache>
                <c:formatCode>General</c:formatCode>
                <c:ptCount val="1"/>
                <c:pt idx="0">
                  <c:v>31.65204431346674</c:v>
                </c:pt>
              </c:numCache>
            </c:numRef>
          </c:yVal>
          <c:bubbleSize>
            <c:numRef>
              <c:numCache>
                <c:formatCode>General</c:formatCode>
                <c:ptCount val="1"/>
                <c:pt idx="0">
                  <c:v>409.426</c:v>
                </c:pt>
              </c:numCache>
            </c:numRef>
          </c:bubbleSize>
          <c:bubble3D val="0"/>
        </c:ser>
        <c:ser>
          <c:idx val="1"/>
          <c:order val="1"/>
          <c:tx>
            <c:strRef>
              <c:strCache>
                <c:ptCount val="1"/>
                <c:pt idx="0">
                  <c:v>Liquid</c:v>
                </c:pt>
              </c:strCache>
            </c:strRef>
          </c:tx>
          <c:spPr>
            <a:solidFill>
              <a:srgbClr val="9E7E0A"/>
            </a:solidFill>
          </c:spPr>
          <c:invertIfNegative val="0"/>
          <c:xVal>
            <c:numRef>
              <c:numCache>
                <c:formatCode>General</c:formatCode>
                <c:ptCount val="1"/>
                <c:pt idx="0">
                  <c:v>134.02589773873436</c:v>
                </c:pt>
              </c:numCache>
            </c:numRef>
          </c:xVal>
          <c:yVal>
            <c:numRef>
              <c:numCache>
                <c:formatCode>General</c:formatCode>
                <c:ptCount val="1"/>
                <c:pt idx="0">
                  <c:v>189.84254811326292</c:v>
                </c:pt>
              </c:numCache>
            </c:numRef>
          </c:yVal>
          <c:bubbleSize>
            <c:numRef>
              <c:numCache>
                <c:formatCode>General</c:formatCode>
                <c:ptCount val="1"/>
                <c:pt idx="0">
                  <c:v>2658.908</c:v>
                </c:pt>
              </c:numCache>
            </c:numRef>
          </c:bubbleSize>
          <c:bubble3D val="0"/>
        </c:ser>
        <c:ser>
          <c:idx val="2"/>
          <c:order val="2"/>
          <c:tx>
            <c:strRef>
              <c:strCache>
                <c:ptCount val="1"/>
                <c:pt idx="0">
                  <c:v>Granules</c:v>
                </c:pt>
              </c:strCache>
            </c:strRef>
          </c:tx>
          <c:spPr>
            <a:solidFill>
              <a:srgbClr val="008189"/>
            </a:solidFill>
          </c:spPr>
          <c:invertIfNegative val="0"/>
          <c:xVal>
            <c:numRef>
              <c:numCache>
                <c:formatCode>General</c:formatCode>
                <c:ptCount val="1"/>
                <c:pt idx="0">
                  <c:v>91.829015448548</c:v>
                </c:pt>
              </c:numCache>
            </c:numRef>
          </c:xVal>
          <c:yVal>
            <c:numRef>
              <c:numCache>
                <c:formatCode>General</c:formatCode>
                <c:ptCount val="1"/>
                <c:pt idx="0">
                  <c:v>26.754193292510504</c:v>
                </c:pt>
              </c:numCache>
            </c:numRef>
          </c:yVal>
          <c:bubbleSize>
            <c:numRef>
              <c:numCache>
                <c:formatCode>General</c:formatCode>
                <c:ptCount val="1"/>
                <c:pt idx="0">
                  <c:v>283.639</c:v>
                </c:pt>
              </c:numCache>
            </c:numRef>
          </c:bubbleSize>
          <c:bubble3D val="0"/>
        </c:ser>
        <c:ser>
          <c:idx val="3"/>
          <c:order val="3"/>
          <c:tx>
            <c:strRef>
              <c:strCache>
                <c:ptCount val="1"/>
                <c:pt idx="0">
                  <c:v>Blended</c:v>
                </c:pt>
              </c:strCache>
            </c:strRef>
          </c:tx>
          <c:spPr>
            <a:solidFill>
              <a:srgbClr val="40315E"/>
            </a:solidFill>
          </c:spPr>
          <c:invertIfNegative val="0"/>
          <c:xVal>
            <c:numRef>
              <c:numCache>
                <c:formatCode>General</c:formatCode>
                <c:ptCount val="1"/>
                <c:pt idx="0">
                  <c:v>71.2507350729174</c:v>
                </c:pt>
              </c:numCache>
            </c:numRef>
          </c:xVal>
          <c:yVal>
            <c:numRef>
              <c:numCache>
                <c:formatCode>General</c:formatCode>
                <c:ptCount val="1"/>
                <c:pt idx="0">
                  <c:v>154.38430496543458</c:v>
                </c:pt>
              </c:numCache>
            </c:numRef>
          </c:yVal>
          <c:bubbleSize>
            <c:numRef>
              <c:numCache>
                <c:formatCode>General</c:formatCode>
                <c:ptCount val="1"/>
                <c:pt idx="0">
                  <c:v>1424.806</c:v>
                </c:pt>
              </c:numCache>
            </c:numRef>
          </c:bubbleSize>
          <c:bubble3D val="0"/>
        </c:ser>
        <c:ser>
          <c:idx val="4"/>
          <c:order val="4"/>
          <c:tx>
            <c:strRef>
              <c:strCache>
                <c:ptCount val="1"/>
                <c:pt idx="0">
                  <c:v>Ground</c:v>
                </c:pt>
              </c:strCache>
            </c:strRef>
          </c:tx>
          <c:spPr>
            <a:solidFill>
              <a:srgbClr val="A35313"/>
            </a:solidFill>
          </c:spPr>
          <c:invertIfNegative val="0"/>
          <c:xVal>
            <c:numRef>
              <c:numCache>
                <c:formatCode>General</c:formatCode>
                <c:ptCount val="1"/>
                <c:pt idx="0">
                  <c:v>76.27468258963137</c:v>
                </c:pt>
              </c:numCache>
            </c:numRef>
          </c:xVal>
          <c:yVal>
            <c:numRef>
              <c:numCache>
                <c:formatCode>General</c:formatCode>
                <c:ptCount val="1"/>
                <c:pt idx="0">
                  <c:v>107.30418110968634</c:v>
                </c:pt>
              </c:numCache>
            </c:numRef>
          </c:yVal>
          <c:bubbleSize>
            <c:numRef>
              <c:numCache>
                <c:formatCode>General</c:formatCode>
                <c:ptCount val="1"/>
                <c:pt idx="0">
                  <c:v>1024.587</c:v>
                </c:pt>
              </c:numCache>
            </c:numRef>
          </c:bubbleSize>
          <c:bubble3D val="0"/>
        </c:ser>
        <c:ser>
          <c:idx val="5"/>
          <c:order val="5"/>
          <c:tx>
            <c:strRef>
              <c:strCache>
                <c:ptCount val="1"/>
                <c:pt idx="0">
                  <c:v>Whole</c:v>
                </c:pt>
              </c:strCache>
            </c:strRef>
          </c:tx>
          <c:spPr>
            <a:solidFill>
              <a:srgbClr val="808080"/>
            </a:solidFill>
          </c:spPr>
          <c:invertIfNegative val="0"/>
          <c:xVal>
            <c:numRef>
              <c:numCache>
                <c:formatCode>General</c:formatCode>
                <c:ptCount val="1"/>
                <c:pt idx="0">
                  <c:v>85.66195540167027</c:v>
                </c:pt>
              </c:numCache>
            </c:numRef>
          </c:xVal>
          <c:yVal>
            <c:numRef>
              <c:numCache>
                <c:formatCode>General</c:formatCode>
                <c:ptCount val="1"/>
                <c:pt idx="0">
                  <c:v>90.06272820563896</c:v>
                </c:pt>
              </c:numCache>
            </c:numRef>
          </c:yVal>
          <c:bubbleSize>
            <c:numRef>
              <c:numCache>
                <c:formatCode>General</c:formatCode>
                <c:ptCount val="1"/>
                <c:pt idx="0">
                  <c:v>916.134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177.969</c:v>
                </c:pt>
                <c:pt idx="2">
                  <c:v>210.749</c:v>
                </c:pt>
                <c:pt idx="3">
                  <c:v>249.243</c:v>
                </c:pt>
                <c:pt idx="4">
                  <c:v>294.409</c:v>
                </c:pt>
                <c:pt idx="5">
                  <c:v>347.368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177.969</c:v>
                </c:pt>
                <c:pt idx="1">
                  <c:v>32.78</c:v>
                </c:pt>
                <c:pt idx="2">
                  <c:v>38.494</c:v>
                </c:pt>
                <c:pt idx="3">
                  <c:v>45.166</c:v>
                </c:pt>
                <c:pt idx="4">
                  <c:v>52.959</c:v>
                </c:pt>
                <c:pt idx="5">
                  <c:v>62.05799999999999</c:v>
                </c:pt>
                <c:pt idx="6">
                  <c:v>409.426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1067.422</c:v>
                </c:pt>
                <c:pt idx="2">
                  <c:v>1288.029</c:v>
                </c:pt>
                <c:pt idx="3">
                  <c:v>1549.664</c:v>
                </c:pt>
                <c:pt idx="4">
                  <c:v>1859.528</c:v>
                </c:pt>
                <c:pt idx="5">
                  <c:v>2225.996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1067.422</c:v>
                </c:pt>
                <c:pt idx="1">
                  <c:v>220.60699999999997</c:v>
                </c:pt>
                <c:pt idx="2">
                  <c:v>261.635</c:v>
                </c:pt>
                <c:pt idx="3">
                  <c:v>309.86400000000003</c:v>
                </c:pt>
                <c:pt idx="4">
                  <c:v>366.4680000000001</c:v>
                </c:pt>
                <c:pt idx="5">
                  <c:v>432.9119999999998</c:v>
                </c:pt>
                <c:pt idx="6">
                  <c:v>2658.908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150.43</c:v>
                </c:pt>
                <c:pt idx="2">
                  <c:v>170.778</c:v>
                </c:pt>
                <c:pt idx="3">
                  <c:v>193.875</c:v>
                </c:pt>
                <c:pt idx="4">
                  <c:v>220.095</c:v>
                </c:pt>
                <c:pt idx="5">
                  <c:v>249.858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150.43</c:v>
                </c:pt>
                <c:pt idx="1">
                  <c:v>20.347999999999985</c:v>
                </c:pt>
                <c:pt idx="2">
                  <c:v>23.09700000000001</c:v>
                </c:pt>
                <c:pt idx="3">
                  <c:v>26.22</c:v>
                </c:pt>
                <c:pt idx="4">
                  <c:v>29.763000000000005</c:v>
                </c:pt>
                <c:pt idx="5">
                  <c:v>33.781000000000006</c:v>
                </c:pt>
                <c:pt idx="6">
                  <c:v>283.639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868.052</c:v>
                </c:pt>
                <c:pt idx="2">
                  <c:v>960.419</c:v>
                </c:pt>
                <c:pt idx="3">
                  <c:v>1061.62</c:v>
                </c:pt>
                <c:pt idx="4">
                  <c:v>1172.302</c:v>
                </c:pt>
                <c:pt idx="5">
                  <c:v>1293.147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868.052</c:v>
                </c:pt>
                <c:pt idx="1">
                  <c:v>92.36699999999996</c:v>
                </c:pt>
                <c:pt idx="2">
                  <c:v>101.20099999999991</c:v>
                </c:pt>
                <c:pt idx="3">
                  <c:v>110.68200000000002</c:v>
                </c:pt>
                <c:pt idx="4">
                  <c:v>120.84500000000003</c:v>
                </c:pt>
                <c:pt idx="5">
                  <c:v>131.6590000000001</c:v>
                </c:pt>
                <c:pt idx="6">
                  <c:v>1424.806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603.336</c:v>
                </c:pt>
                <c:pt idx="2">
                  <c:v>671.534</c:v>
                </c:pt>
                <c:pt idx="3">
                  <c:v>747.021</c:v>
                </c:pt>
                <c:pt idx="4">
                  <c:v>830.503</c:v>
                </c:pt>
                <c:pt idx="5">
                  <c:v>922.754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603.336</c:v>
                </c:pt>
                <c:pt idx="1">
                  <c:v>68.19799999999998</c:v>
                </c:pt>
                <c:pt idx="2">
                  <c:v>75.48699999999997</c:v>
                </c:pt>
                <c:pt idx="3">
                  <c:v>83.48200000000008</c:v>
                </c:pt>
                <c:pt idx="4">
                  <c:v>92.25099999999998</c:v>
                </c:pt>
                <c:pt idx="5">
                  <c:v>101.83299999999997</c:v>
                </c:pt>
                <c:pt idx="6">
                  <c:v>1024.587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506.393</c:v>
                </c:pt>
                <c:pt idx="2">
                  <c:v>570.322</c:v>
                </c:pt>
                <c:pt idx="3">
                  <c:v>642.22</c:v>
                </c:pt>
                <c:pt idx="4">
                  <c:v>723.064</c:v>
                </c:pt>
                <c:pt idx="5">
                  <c:v>813.964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506.393</c:v>
                </c:pt>
                <c:pt idx="1">
                  <c:v>63.92900000000003</c:v>
                </c:pt>
                <c:pt idx="2">
                  <c:v>71.89800000000002</c:v>
                </c:pt>
                <c:pt idx="3">
                  <c:v>80.84399999999994</c:v>
                </c:pt>
                <c:pt idx="4">
                  <c:v>90.90000000000009</c:v>
                </c:pt>
                <c:pt idx="5">
                  <c:v>102.16999999999996</c:v>
                </c:pt>
                <c:pt idx="6">
                  <c:v>916.134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Liquid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27.48908285540127</c:v>
                </c:pt>
                <c:pt idx="1">
                  <c:v>31.640424685543817</c:v>
                </c:pt>
                <c:pt idx="2">
                  <c:v>39.58180870859695</c:v>
                </c:pt>
              </c:numCache>
            </c:numRef>
          </c:val>
        </c:ser>
        <c:ser>
          <c:idx val="1"/>
          <c:order val="1"/>
          <c:tx>
            <c:strRef>
              <c:strCache>
                <c:ptCount val="1"/>
                <c:pt idx="0">
                  <c:v>Blended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28.09214644529714</c:v>
                </c:pt>
                <c:pt idx="1">
                  <c:v>25.73071749423909</c:v>
                </c:pt>
                <c:pt idx="2">
                  <c:v>21.210360997394865</c:v>
                </c:pt>
              </c:numCache>
            </c:numRef>
          </c:val>
        </c:ser>
        <c:ser>
          <c:idx val="2"/>
          <c:order val="2"/>
          <c:tx>
            <c:strRef>
              <c:strCache>
                <c:ptCount val="1"/>
                <c:pt idx="0">
                  <c:v>Ground</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19.264647402156047</c:v>
                </c:pt>
                <c:pt idx="1">
                  <c:v>17.88403018494772</c:v>
                </c:pt>
                <c:pt idx="2">
                  <c:v>15.252504652028284</c:v>
                </c:pt>
              </c:numCache>
            </c:numRef>
          </c:val>
        </c:ser>
        <c:ser>
          <c:idx val="3"/>
          <c:order val="3"/>
          <c:tx>
            <c:strRef>
              <c:strCache>
                <c:ptCount val="1"/>
                <c:pt idx="0">
                  <c:v>Whole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15.72509014618118</c:v>
                </c:pt>
                <c:pt idx="1">
                  <c:v>15.010454700939825</c:v>
                </c:pt>
                <c:pt idx="2">
                  <c:v>13.638020096762189</c:v>
                </c:pt>
              </c:numCache>
            </c:numRef>
          </c:val>
        </c:ser>
        <c:ser>
          <c:idx val="4"/>
          <c:order val="4"/>
          <c:tx>
            <c:strRef>
              <c:strCache>
                <c:ptCount val="1"/>
                <c:pt idx="0">
                  <c:v>Powder</c:v>
                </c:pt>
              </c:strCache>
            </c:strRef>
          </c:tx>
          <c:spPr>
            <a:solidFill>
              <a:srgbClr val="A35313"/>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4.847003296966477</c:v>
                </c:pt>
                <c:pt idx="1">
                  <c:v>5.275340718911122</c:v>
                </c:pt>
                <c:pt idx="2">
                  <c:v>6.094916263490882</c:v>
                </c:pt>
              </c:numCache>
            </c:numRef>
          </c:val>
        </c:ser>
        <c:ser>
          <c:idx val="5"/>
          <c:order val="5"/>
          <c:tx>
            <c:strRef>
              <c:strCache>
                <c:ptCount val="1"/>
                <c:pt idx="0">
                  <c:v>Granules</c:v>
                </c:pt>
              </c:strCache>
            </c:strRef>
          </c:tx>
          <c:spPr>
            <a:solidFill>
              <a:srgbClr val="808080"/>
            </a:solidFill>
            <a:ln>
              <a:noFill/>
            </a:ln>
          </c:spPr>
          <c:dLbls>
            <c:dLbl>
              <c:idx val="0"/>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4.582029853997879</c:v>
                </c:pt>
                <c:pt idx="1">
                  <c:v>4.459032215418416</c:v>
                </c:pt>
                <c:pt idx="2">
                  <c:v>4.222389281726833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Unflavoured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16.804371659733143</c:v>
                </c:pt>
                <c:pt idx="1">
                  <c:v>14.786741501494852</c:v>
                </c:pt>
                <c:pt idx="2">
                  <c:v>15.486042464891714</c:v>
                </c:pt>
                <c:pt idx="3">
                  <c:v>15.48439529633071</c:v>
                </c:pt>
                <c:pt idx="4">
                  <c:v>15.774976959777309</c:v>
                </c:pt>
                <c:pt idx="5">
                  <c:v>14.127083448477334</c:v>
                </c:pt>
              </c:numCache>
            </c:numRef>
          </c:val>
        </c:ser>
        <c:ser>
          <c:idx val="1"/>
          <c:order val="1"/>
          <c:tx>
            <c:strRef>
              <c:strCache>
                <c:ptCount val="1"/>
                <c:pt idx="0">
                  <c:v>Vanilla</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15.161351919037614</c:v>
                </c:pt>
                <c:pt idx="1">
                  <c:v>16.731085981618868</c:v>
                </c:pt>
                <c:pt idx="2">
                  <c:v>14.786619345999119</c:v>
                </c:pt>
                <c:pt idx="3">
                  <c:v>16.323243714629452</c:v>
                </c:pt>
                <c:pt idx="4">
                  <c:v>16.037510109485464</c:v>
                </c:pt>
                <c:pt idx="5">
                  <c:v>19.44037053997931</c:v>
                </c:pt>
              </c:numCache>
            </c:numRef>
          </c:val>
        </c:ser>
        <c:ser>
          <c:idx val="2"/>
          <c:order val="2"/>
          <c:tx>
            <c:strRef>
              <c:strCache>
                <c:ptCount val="1"/>
                <c:pt idx="0">
                  <c:v>Lemon</c:v>
                </c:pt>
              </c:strCache>
            </c:strRef>
          </c:tx>
          <c:spPr>
            <a:solidFill>
              <a:srgbClr val="008189"/>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12.654985163905055</c:v>
                </c:pt>
                <c:pt idx="1">
                  <c:v>12.21365989369948</c:v>
                </c:pt>
                <c:pt idx="2">
                  <c:v>12.785800065122327</c:v>
                </c:pt>
                <c:pt idx="3">
                  <c:v>11.222237187843147</c:v>
                </c:pt>
                <c:pt idx="4">
                  <c:v>12.258913588193373</c:v>
                </c:pt>
                <c:pt idx="5">
                  <c:v>13.872055932350595</c:v>
                </c:pt>
              </c:numCache>
            </c:numRef>
          </c:val>
        </c:ser>
        <c:ser>
          <c:idx val="3"/>
          <c:order val="3"/>
          <c:tx>
            <c:strRef>
              <c:strCache>
                <c:ptCount val="1"/>
                <c:pt idx="0">
                  <c:v>Orange</c:v>
                </c:pt>
              </c:strCache>
            </c:strRef>
          </c:tx>
          <c:spPr>
            <a:solidFill>
              <a:srgbClr val="40315E"/>
            </a:solidFill>
            <a:ln>
              <a:noFill/>
            </a:ln>
          </c:spPr>
          <c:dLbls>
            <c:dLbl>
              <c:idx val="0"/>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19.070228473716615</c:v>
                </c:pt>
                <c:pt idx="1">
                  <c:v>18.689271675340493</c:v>
                </c:pt>
                <c:pt idx="2">
                  <c:v>17.468188677351552</c:v>
                </c:pt>
                <c:pt idx="3">
                  <c:v>16.905837581413614</c:v>
                </c:pt>
                <c:pt idx="4">
                  <c:v>18.545655167801783</c:v>
                </c:pt>
                <c:pt idx="5">
                  <c:v>14.985630028503072</c:v>
                </c:pt>
              </c:numCache>
            </c:numRef>
          </c:val>
        </c:ser>
        <c:ser>
          <c:idx val="4"/>
          <c:order val="4"/>
          <c:tx>
            <c:strRef>
              <c:strCache>
                <c:ptCount val="1"/>
                <c:pt idx="0">
                  <c:v>Mocha</c:v>
                </c:pt>
              </c:strCache>
            </c:strRef>
          </c:tx>
          <c:spPr>
            <a:solidFill>
              <a:srgbClr val="A35313"/>
            </a:solidFill>
            <a:ln>
              <a:noFill/>
            </a:ln>
          </c:spPr>
          <c:dLbls>
            <c:dLbl>
              <c:idx val="0"/>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11.06796283145209</c:v>
                </c:pt>
                <c:pt idx="1">
                  <c:v>12.901049163990699</c:v>
                </c:pt>
                <c:pt idx="2">
                  <c:v>12.743202127796144</c:v>
                </c:pt>
                <c:pt idx="3">
                  <c:v>13.195454306788633</c:v>
                </c:pt>
                <c:pt idx="4">
                  <c:v>12.480852059827257</c:v>
                </c:pt>
                <c:pt idx="5">
                  <c:v>13.045338444411106</c:v>
                </c:pt>
              </c:numCache>
            </c:numRef>
          </c:val>
        </c:ser>
        <c:ser>
          <c:idx val="5"/>
          <c:order val="5"/>
          <c:tx>
            <c:strRef>
              <c:strCache>
                <c:ptCount val="1"/>
                <c:pt idx="0">
                  <c:v>Cinnamon</c:v>
                </c:pt>
              </c:strCache>
            </c:strRef>
          </c:tx>
          <c:spPr>
            <a:solidFill>
              <a:srgbClr val="808080"/>
            </a:solidFill>
            <a:ln>
              <a:noFill/>
            </a:ln>
          </c:spPr>
          <c:dLbls>
            <c:dLbl>
              <c:idx val="0"/>
              <c:numFmt formatCode="&quot;MMM&quot;;&quot;MMM&quot;;&quot;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3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5.395704290774588</c:v>
                </c:pt>
                <c:pt idx="1">
                  <c:v>5.199797918281474</c:v>
                </c:pt>
                <c:pt idx="2">
                  <c:v>5.86486066973294</c:v>
                </c:pt>
                <c:pt idx="3">
                  <c:v>4.851486504687917</c:v>
                </c:pt>
                <c:pt idx="4">
                  <c:v>5.484513417664379</c:v>
                </c:pt>
                <c:pt idx="5">
                  <c:v>6.532662076697749</c:v>
                </c:pt>
              </c:numCache>
            </c:numRef>
          </c:val>
        </c:ser>
        <c:ser>
          <c:idx val="6"/>
          <c:order val="6"/>
          <c:tx>
            <c:strRef>
              <c:strCache>
                <c:ptCount val="1"/>
                <c:pt idx="0">
                  <c:v>Pumpkin Spice</c:v>
                </c:pt>
              </c:strCache>
            </c:strRef>
          </c:tx>
          <c:spPr>
            <a:solidFill>
              <a:srgbClr val="0E72AE"/>
            </a:solidFill>
            <a:ln>
              <a:noFill/>
            </a:ln>
          </c:spPr>
          <c:dLbls>
            <c:dLbl>
              <c:idx val="0"/>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4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14.542376735973292</c:v>
                </c:pt>
                <c:pt idx="1">
                  <c:v>14.861830085261877</c:v>
                </c:pt>
                <c:pt idx="2">
                  <c:v>16.215809319961856</c:v>
                </c:pt>
                <c:pt idx="3">
                  <c:v>17.91213607858625</c:v>
                </c:pt>
                <c:pt idx="4">
                  <c:v>15.337160483249079</c:v>
                </c:pt>
                <c:pt idx="5">
                  <c:v>13.455810363749771</c:v>
                </c:pt>
              </c:numCache>
            </c:numRef>
          </c:val>
        </c:ser>
        <c:ser>
          <c:idx val="7"/>
          <c:order val="7"/>
          <c:tx>
            <c:strRef>
              <c:strCache>
                <c:ptCount val="1"/>
                <c:pt idx="0">
                  <c:v>Other Flavours</c:v>
                </c:pt>
              </c:strCache>
            </c:strRef>
          </c:tx>
          <c:spPr>
            <a:solidFill>
              <a:srgbClr val="A86F00"/>
            </a:solidFill>
            <a:ln>
              <a:noFill/>
            </a:ln>
          </c:spPr>
          <c:dLbls>
            <c:dLbl>
              <c:idx val="0"/>
              <c:numFmt formatCode="&quot;MMM&quot;;&quot;MMM&quot;;&quot;MMM&quot;" sourceLinked="0"/>
              <c:spPr>
                <a:blipFill>
                  <a:blip r:embed="rId4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4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4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4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4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4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5.3030189254075895</c:v>
                </c:pt>
                <c:pt idx="1">
                  <c:v>4.616563780312258</c:v>
                </c:pt>
                <c:pt idx="2">
                  <c:v>4.649477329144341</c:v>
                </c:pt>
                <c:pt idx="3">
                  <c:v>4.105209329720277</c:v>
                </c:pt>
                <c:pt idx="4">
                  <c:v>4.08041821400135</c:v>
                </c:pt>
                <c:pt idx="5">
                  <c:v>4.54104916583105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Unflavoured</c:v>
                </c:pt>
              </c:strCache>
            </c:strRef>
          </c:tx>
          <c:spPr>
            <a:solidFill>
              <a:srgbClr val="3D85C6"/>
            </a:solidFill>
          </c:spPr>
          <c:invertIfNegative val="0"/>
          <c:xVal>
            <c:numRef>
              <c:numCache>
                <c:formatCode>General</c:formatCode>
                <c:ptCount val="1"/>
                <c:pt idx="0">
                  <c:v>105.12744937286126</c:v>
                </c:pt>
              </c:numCache>
            </c:numRef>
          </c:xVal>
          <c:yVal>
            <c:numRef>
              <c:numCache>
                <c:formatCode>General</c:formatCode>
                <c:ptCount val="1"/>
                <c:pt idx="0">
                  <c:v>117.44598206901703</c:v>
                </c:pt>
              </c:numCache>
            </c:numRef>
          </c:yVal>
          <c:bubbleSize>
            <c:numRef>
              <c:numCache>
                <c:formatCode>General</c:formatCode>
                <c:ptCount val="1"/>
                <c:pt idx="0">
                  <c:v>1020.355</c:v>
                </c:pt>
              </c:numCache>
            </c:numRef>
          </c:bubbleSize>
          <c:bubble3D val="0"/>
        </c:ser>
        <c:ser>
          <c:idx val="1"/>
          <c:order val="1"/>
          <c:tx>
            <c:strRef>
              <c:strCache>
                <c:ptCount val="1"/>
                <c:pt idx="0">
                  <c:v>Vanilla</c:v>
                </c:pt>
              </c:strCache>
            </c:strRef>
          </c:tx>
          <c:spPr>
            <a:solidFill>
              <a:srgbClr val="9E7E0A"/>
            </a:solidFill>
          </c:spPr>
          <c:invertIfNegative val="0"/>
          <c:xVal>
            <c:numRef>
              <c:numCache>
                <c:formatCode>General</c:formatCode>
                <c:ptCount val="1"/>
                <c:pt idx="0">
                  <c:v>81.71550924114915</c:v>
                </c:pt>
              </c:numCache>
            </c:numRef>
          </c:xVal>
          <c:yVal>
            <c:numRef>
              <c:numCache>
                <c:formatCode>General</c:formatCode>
                <c:ptCount val="1"/>
                <c:pt idx="0">
                  <c:v>153.17728647303386</c:v>
                </c:pt>
              </c:numCache>
            </c:numRef>
          </c:yVal>
          <c:bubbleSize>
            <c:numRef>
              <c:numCache>
                <c:formatCode>General</c:formatCode>
                <c:ptCount val="1"/>
                <c:pt idx="0">
                  <c:v>1137.987</c:v>
                </c:pt>
              </c:numCache>
            </c:numRef>
          </c:bubbleSize>
          <c:bubble3D val="0"/>
        </c:ser>
        <c:ser>
          <c:idx val="2"/>
          <c:order val="2"/>
          <c:tx>
            <c:strRef>
              <c:strCache>
                <c:ptCount val="1"/>
                <c:pt idx="0">
                  <c:v>Lemon</c:v>
                </c:pt>
              </c:strCache>
            </c:strRef>
          </c:tx>
          <c:spPr>
            <a:solidFill>
              <a:srgbClr val="008189"/>
            </a:solidFill>
          </c:spPr>
          <c:invertIfNegative val="0"/>
          <c:xVal>
            <c:numRef>
              <c:numCache>
                <c:formatCode>General</c:formatCode>
                <c:ptCount val="1"/>
                <c:pt idx="0">
                  <c:v>69.70818267518594</c:v>
                </c:pt>
              </c:numCache>
            </c:numRef>
          </c:xVal>
          <c:yVal>
            <c:numRef>
              <c:numCache>
                <c:formatCode>General</c:formatCode>
                <c:ptCount val="1"/>
                <c:pt idx="0">
                  <c:v>124.56169992785162</c:v>
                </c:pt>
              </c:numCache>
            </c:numRef>
          </c:yVal>
          <c:bubbleSize>
            <c:numRef>
              <c:numCache>
                <c:formatCode>General</c:formatCode>
                <c:ptCount val="1"/>
                <c:pt idx="0">
                  <c:v>853.199</c:v>
                </c:pt>
              </c:numCache>
            </c:numRef>
          </c:bubbleSize>
          <c:bubble3D val="0"/>
        </c:ser>
        <c:ser>
          <c:idx val="3"/>
          <c:order val="3"/>
          <c:tx>
            <c:strRef>
              <c:strCache>
                <c:ptCount val="1"/>
                <c:pt idx="0">
                  <c:v>Orange</c:v>
                </c:pt>
              </c:strCache>
            </c:strRef>
          </c:tx>
          <c:spPr>
            <a:solidFill>
              <a:srgbClr val="40315E"/>
            </a:solidFill>
          </c:spPr>
          <c:invertIfNegative val="0"/>
          <c:xVal>
            <c:numRef>
              <c:numCache>
                <c:formatCode>General</c:formatCode>
                <c:ptCount val="1"/>
                <c:pt idx="0">
                  <c:v>108.63386879991313</c:v>
                </c:pt>
              </c:numCache>
            </c:numRef>
          </c:xVal>
          <c:yVal>
            <c:numRef>
              <c:numCache>
                <c:formatCode>General</c:formatCode>
                <c:ptCount val="1"/>
                <c:pt idx="0">
                  <c:v>129.70445239242804</c:v>
                </c:pt>
              </c:numCache>
            </c:numRef>
          </c:yVal>
          <c:bubbleSize>
            <c:numRef>
              <c:numCache>
                <c:formatCode>General</c:formatCode>
                <c:ptCount val="1"/>
                <c:pt idx="0">
                  <c:v>1153.339</c:v>
                </c:pt>
              </c:numCache>
            </c:numRef>
          </c:bubbleSize>
          <c:bubble3D val="0"/>
        </c:ser>
        <c:ser>
          <c:idx val="4"/>
          <c:order val="4"/>
          <c:tx>
            <c:strRef>
              <c:strCache>
                <c:ptCount val="1"/>
                <c:pt idx="0">
                  <c:v>Mocha</c:v>
                </c:pt>
              </c:strCache>
            </c:strRef>
          </c:tx>
          <c:spPr>
            <a:solidFill>
              <a:srgbClr val="A35313"/>
            </a:solidFill>
          </c:spPr>
          <c:invertIfNegative val="0"/>
          <c:xVal>
            <c:numRef>
              <c:numCache>
                <c:formatCode>General</c:formatCode>
                <c:ptCount val="1"/>
                <c:pt idx="0">
                  <c:v>118.75087043102468</c:v>
                </c:pt>
              </c:numCache>
            </c:numRef>
          </c:xVal>
          <c:yVal>
            <c:numRef>
              <c:numCache>
                <c:formatCode>General</c:formatCode>
                <c:ptCount val="1"/>
                <c:pt idx="0">
                  <c:v>89.86169678580936</c:v>
                </c:pt>
              </c:numCache>
            </c:numRef>
          </c:yVal>
          <c:bubbleSize>
            <c:numRef>
              <c:numCache>
                <c:formatCode>General</c:formatCode>
                <c:ptCount val="1"/>
                <c:pt idx="0">
                  <c:v>854.192</c:v>
                </c:pt>
              </c:numCache>
            </c:numRef>
          </c:bubbleSize>
          <c:bubble3D val="0"/>
        </c:ser>
        <c:ser>
          <c:idx val="5"/>
          <c:order val="5"/>
          <c:tx>
            <c:strRef>
              <c:strCache>
                <c:ptCount val="1"/>
                <c:pt idx="0">
                  <c:v>Cinnamon</c:v>
                </c:pt>
              </c:strCache>
            </c:strRef>
          </c:tx>
          <c:spPr>
            <a:solidFill>
              <a:srgbClr val="808080"/>
            </a:solidFill>
          </c:spPr>
          <c:invertIfNegative val="0"/>
          <c:xVal>
            <c:numRef>
              <c:numCache>
                <c:formatCode>General</c:formatCode>
                <c:ptCount val="1"/>
                <c:pt idx="0">
                  <c:v>121.61891658206928</c:v>
                </c:pt>
              </c:numCache>
            </c:numRef>
          </c:xVal>
          <c:yVal>
            <c:numRef>
              <c:numCache>
                <c:formatCode>General</c:formatCode>
                <c:ptCount val="1"/>
                <c:pt idx="0">
                  <c:v>39.77920335593825</c:v>
                </c:pt>
              </c:numCache>
            </c:numRef>
          </c:yVal>
          <c:bubbleSize>
            <c:numRef>
              <c:numCache>
                <c:formatCode>General</c:formatCode>
                <c:ptCount val="1"/>
                <c:pt idx="0">
                  <c:v>385.316</c:v>
                </c:pt>
              </c:numCache>
            </c:numRef>
          </c:bubbleSize>
          <c:bubble3D val="0"/>
        </c:ser>
        <c:ser>
          <c:idx val="6"/>
          <c:order val="6"/>
          <c:tx>
            <c:strRef>
              <c:strCache>
                <c:ptCount val="1"/>
                <c:pt idx="0">
                  <c:v>Pumpkin Spice</c:v>
                </c:pt>
              </c:strCache>
            </c:strRef>
          </c:tx>
          <c:spPr>
            <a:solidFill>
              <a:srgbClr val="0E72AE"/>
            </a:solidFill>
          </c:spPr>
          <c:invertIfNegative val="0"/>
          <c:xVal>
            <c:numRef>
              <c:numCache>
                <c:formatCode>General</c:formatCode>
                <c:ptCount val="1"/>
                <c:pt idx="0">
                  <c:v>124.64336785192629</c:v>
                </c:pt>
              </c:numCache>
            </c:numRef>
          </c:xVal>
          <c:yVal>
            <c:numRef>
              <c:numCache>
                <c:formatCode>General</c:formatCode>
                <c:ptCount val="1"/>
                <c:pt idx="0">
                  <c:v>102.80904505036457</c:v>
                </c:pt>
              </c:numCache>
            </c:numRef>
          </c:yVal>
          <c:bubbleSize>
            <c:numRef>
              <c:numCache>
                <c:formatCode>General</c:formatCode>
                <c:ptCount val="1"/>
                <c:pt idx="0">
                  <c:v>1015.785</c:v>
                </c:pt>
              </c:numCache>
            </c:numRef>
          </c:bubbleSize>
          <c:bubble3D val="0"/>
        </c:ser>
        <c:ser>
          <c:idx val="7"/>
          <c:order val="7"/>
          <c:tx>
            <c:strRef>
              <c:strCache>
                <c:ptCount val="1"/>
                <c:pt idx="0">
                  <c:v>Other Flavours</c:v>
                </c:pt>
              </c:strCache>
            </c:strRef>
          </c:tx>
          <c:spPr>
            <a:solidFill>
              <a:srgbClr val="A86F00"/>
            </a:solidFill>
          </c:spPr>
          <c:invertIfNegative val="0"/>
          <c:xVal>
            <c:numRef>
              <c:numCache>
                <c:formatCode>General</c:formatCode>
                <c:ptCount val="1"/>
                <c:pt idx="0">
                  <c:v>72.26681357616826</c:v>
                </c:pt>
              </c:numCache>
            </c:numRef>
          </c:xVal>
          <c:yVal>
            <c:numRef>
              <c:numCache>
                <c:formatCode>General</c:formatCode>
                <c:ptCount val="1"/>
                <c:pt idx="0">
                  <c:v>42.6606339455573</c:v>
                </c:pt>
              </c:numCache>
            </c:numRef>
          </c:yVal>
          <c:bubbleSize>
            <c:numRef>
              <c:numCache>
                <c:formatCode>General</c:formatCode>
                <c:ptCount val="1"/>
                <c:pt idx="0">
                  <c:v>297.327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495.27</c:v>
                </c:pt>
                <c:pt idx="2">
                  <c:v>572.671</c:v>
                </c:pt>
                <c:pt idx="3">
                  <c:v>661.943</c:v>
                </c:pt>
                <c:pt idx="4">
                  <c:v>764.881</c:v>
                </c:pt>
                <c:pt idx="5">
                  <c:v>883.558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495.27</c:v>
                </c:pt>
                <c:pt idx="1">
                  <c:v>77.40100000000007</c:v>
                </c:pt>
                <c:pt idx="2">
                  <c:v>89.27199999999993</c:v>
                </c:pt>
                <c:pt idx="3">
                  <c:v>102.93799999999999</c:v>
                </c:pt>
                <c:pt idx="4">
                  <c:v>118.67700000000002</c:v>
                </c:pt>
                <c:pt idx="5">
                  <c:v>136.79700000000003</c:v>
                </c:pt>
                <c:pt idx="6">
                  <c:v>1020.355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645.949</c:v>
                </c:pt>
                <c:pt idx="2">
                  <c:v>723.053</c:v>
                </c:pt>
                <c:pt idx="3">
                  <c:v>809.563</c:v>
                </c:pt>
                <c:pt idx="4">
                  <c:v>906.657</c:v>
                </c:pt>
                <c:pt idx="5">
                  <c:v>1015.639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645.949</c:v>
                </c:pt>
                <c:pt idx="1">
                  <c:v>77.10400000000004</c:v>
                </c:pt>
                <c:pt idx="2">
                  <c:v>86.50999999999999</c:v>
                </c:pt>
                <c:pt idx="3">
                  <c:v>97.09400000000005</c:v>
                </c:pt>
                <c:pt idx="4">
                  <c:v>108.98199999999997</c:v>
                </c:pt>
                <c:pt idx="5">
                  <c:v>122.34800000000007</c:v>
                </c:pt>
                <c:pt idx="6">
                  <c:v>1137.987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525.277</c:v>
                </c:pt>
                <c:pt idx="2">
                  <c:v>579.041</c:v>
                </c:pt>
                <c:pt idx="3">
                  <c:v>638.191</c:v>
                </c:pt>
                <c:pt idx="4">
                  <c:v>703.23</c:v>
                </c:pt>
                <c:pt idx="5">
                  <c:v>774.702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525.277</c:v>
                </c:pt>
                <c:pt idx="1">
                  <c:v>53.76400000000001</c:v>
                </c:pt>
                <c:pt idx="2">
                  <c:v>59.14999999999998</c:v>
                </c:pt>
                <c:pt idx="3">
                  <c:v>65.03899999999999</c:v>
                </c:pt>
                <c:pt idx="4">
                  <c:v>71.47199999999998</c:v>
                </c:pt>
                <c:pt idx="5">
                  <c:v>78.49699999999996</c:v>
                </c:pt>
                <c:pt idx="6">
                  <c:v>853.199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546.964</c:v>
                </c:pt>
                <c:pt idx="2">
                  <c:v>635.616</c:v>
                </c:pt>
                <c:pt idx="3">
                  <c:v>738.237</c:v>
                </c:pt>
                <c:pt idx="4">
                  <c:v>856.996</c:v>
                </c:pt>
                <c:pt idx="5">
                  <c:v>994.405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546.964</c:v>
                </c:pt>
                <c:pt idx="1">
                  <c:v>88.65199999999993</c:v>
                </c:pt>
                <c:pt idx="2">
                  <c:v>102.62099999999998</c:v>
                </c:pt>
                <c:pt idx="3">
                  <c:v>118.75900000000001</c:v>
                </c:pt>
                <c:pt idx="4">
                  <c:v>137.409</c:v>
                </c:pt>
                <c:pt idx="5">
                  <c:v>158.93399999999997</c:v>
                </c:pt>
                <c:pt idx="6">
                  <c:v>1153.339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378.947</c:v>
                </c:pt>
                <c:pt idx="2">
                  <c:v>447.261</c:v>
                </c:pt>
                <c:pt idx="3">
                  <c:v>526.967</c:v>
                </c:pt>
                <c:pt idx="4">
                  <c:v>619.894</c:v>
                </c:pt>
                <c:pt idx="5">
                  <c:v>728.153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378.947</c:v>
                </c:pt>
                <c:pt idx="1">
                  <c:v>68.31400000000002</c:v>
                </c:pt>
                <c:pt idx="2">
                  <c:v>79.70599999999996</c:v>
                </c:pt>
                <c:pt idx="3">
                  <c:v>92.92700000000002</c:v>
                </c:pt>
                <c:pt idx="4">
                  <c:v>108.25900000000001</c:v>
                </c:pt>
                <c:pt idx="5">
                  <c:v>126.03899999999999</c:v>
                </c:pt>
                <c:pt idx="6">
                  <c:v>854.192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167.749</c:v>
                </c:pt>
                <c:pt idx="2">
                  <c:v>198.945</c:v>
                </c:pt>
                <c:pt idx="3">
                  <c:v>235.396</c:v>
                </c:pt>
                <c:pt idx="4">
                  <c:v>277.936</c:v>
                </c:pt>
                <c:pt idx="5">
                  <c:v>327.536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167.749</c:v>
                </c:pt>
                <c:pt idx="1">
                  <c:v>31.195999999999998</c:v>
                </c:pt>
                <c:pt idx="2">
                  <c:v>36.45099999999999</c:v>
                </c:pt>
                <c:pt idx="3">
                  <c:v>42.53999999999999</c:v>
                </c:pt>
                <c:pt idx="4">
                  <c:v>49.60000000000002</c:v>
                </c:pt>
                <c:pt idx="5">
                  <c:v>57.77999999999997</c:v>
                </c:pt>
                <c:pt idx="6">
                  <c:v>385.316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433.546</c:v>
                </c:pt>
                <c:pt idx="2">
                  <c:v>516.299</c:v>
                </c:pt>
                <c:pt idx="3">
                  <c:v>613.351</c:v>
                </c:pt>
                <c:pt idx="4">
                  <c:v>727.053</c:v>
                </c:pt>
                <c:pt idx="5">
                  <c:v>860.145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433.546</c:v>
                </c:pt>
                <c:pt idx="1">
                  <c:v>82.75299999999999</c:v>
                </c:pt>
                <c:pt idx="2">
                  <c:v>97.05200000000002</c:v>
                </c:pt>
                <c:pt idx="3">
                  <c:v>113.702</c:v>
                </c:pt>
                <c:pt idx="4">
                  <c:v>133.09199999999998</c:v>
                </c:pt>
                <c:pt idx="5">
                  <c:v>155.64</c:v>
                </c:pt>
                <c:pt idx="6">
                  <c:v>1015.785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179.9</c:v>
                </c:pt>
                <c:pt idx="2">
                  <c:v>198.945</c:v>
                </c:pt>
                <c:pt idx="3">
                  <c:v>219.995</c:v>
                </c:pt>
                <c:pt idx="4">
                  <c:v>243.254</c:v>
                </c:pt>
                <c:pt idx="5">
                  <c:v>268.949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179.9</c:v>
                </c:pt>
                <c:pt idx="1">
                  <c:v>19.044999999999987</c:v>
                </c:pt>
                <c:pt idx="2">
                  <c:v>21.05000000000001</c:v>
                </c:pt>
                <c:pt idx="3">
                  <c:v>23.258999999999986</c:v>
                </c:pt>
                <c:pt idx="4">
                  <c:v>25.69500000000002</c:v>
                </c:pt>
                <c:pt idx="5">
                  <c:v>28.377999999999986</c:v>
                </c:pt>
                <c:pt idx="6">
                  <c:v>297.327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Orange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15.67431880225886</c:v>
                </c:pt>
                <c:pt idx="1">
                  <c:v>16.213056549053505</c:v>
                </c:pt>
                <c:pt idx="2">
                  <c:v>17.169170078154075</c:v>
                </c:pt>
              </c:numCache>
            </c:numRef>
          </c:val>
        </c:ser>
        <c:ser>
          <c:idx val="1"/>
          <c:order val="1"/>
          <c:tx>
            <c:strRef>
              <c:strCache>
                <c:ptCount val="1"/>
                <c:pt idx="0">
                  <c:v>Vanilla</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20.40683477042474</c:v>
                </c:pt>
                <c:pt idx="1">
                  <c:v>19.147160809129232</c:v>
                </c:pt>
                <c:pt idx="2">
                  <c:v>16.940632675846672</c:v>
                </c:pt>
              </c:numCache>
            </c:numRef>
          </c:val>
        </c:ser>
        <c:ser>
          <c:idx val="2"/>
          <c:order val="2"/>
          <c:tx>
            <c:strRef>
              <c:strCache>
                <c:ptCount val="1"/>
                <c:pt idx="0">
                  <c:v>Unflavoured</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14.385413068342483</c:v>
                </c:pt>
                <c:pt idx="1">
                  <c:v>14.68074775862713</c:v>
                </c:pt>
                <c:pt idx="2">
                  <c:v>15.189505024190547</c:v>
                </c:pt>
              </c:numCache>
            </c:numRef>
          </c:val>
        </c:ser>
        <c:ser>
          <c:idx val="3"/>
          <c:order val="3"/>
          <c:tx>
            <c:strRef>
              <c:strCache>
                <c:ptCount val="1"/>
                <c:pt idx="0">
                  <c:v>Pumpkin Spice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11.567808655077918</c:v>
                </c:pt>
                <c:pt idx="1">
                  <c:v>12.851130631295572</c:v>
                </c:pt>
                <c:pt idx="2">
                  <c:v>15.121473762560475</c:v>
                </c:pt>
              </c:numCache>
            </c:numRef>
          </c:val>
        </c:ser>
        <c:ser>
          <c:idx val="4"/>
          <c:order val="4"/>
          <c:tx>
            <c:strRef>
              <c:strCache>
                <c:ptCount val="1"/>
                <c:pt idx="0">
                  <c:v>Mocha</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10.380072564598235</c:v>
                </c:pt>
                <c:pt idx="1">
                  <c:v>11.23271209822617</c:v>
                </c:pt>
                <c:pt idx="2">
                  <c:v>12.715921101600298</c:v>
                </c:pt>
              </c:numCache>
            </c:numRef>
          </c:val>
        </c:ser>
        <c:ser>
          <c:idx val="5"/>
          <c:order val="5"/>
          <c:tx>
            <c:strRef>
              <c:strCache>
                <c:ptCount val="1"/>
                <c:pt idx="0">
                  <c:v>Lemon</c:v>
                </c:pt>
              </c:strCache>
            </c:strRef>
          </c:tx>
          <c:spPr>
            <a:solidFill>
              <a:srgbClr val="808080"/>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17.21021723868053</c:v>
                </c:pt>
                <c:pt idx="1">
                  <c:v>15.570212490981453</c:v>
                </c:pt>
                <c:pt idx="2">
                  <c:v>12.701138816524004</c:v>
                </c:pt>
              </c:numCache>
            </c:numRef>
          </c:val>
        </c:ser>
        <c:ser>
          <c:idx val="6"/>
          <c:order val="6"/>
          <c:tx>
            <c:strRef>
              <c:strCache>
                <c:ptCount val="1"/>
                <c:pt idx="0">
                  <c:v>Cinnamon</c:v>
                </c:pt>
              </c:strCache>
            </c:strRef>
          </c:tx>
          <c:spPr>
            <a:solidFill>
              <a:srgbClr val="0E72A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4.524469101850823</c:v>
                </c:pt>
                <c:pt idx="1">
                  <c:v>4.972400419492281</c:v>
                </c:pt>
                <c:pt idx="2">
                  <c:v>5.736002977298101</c:v>
                </c:pt>
              </c:numCache>
            </c:numRef>
          </c:val>
        </c:ser>
        <c:ser>
          <c:idx val="7"/>
          <c:order val="7"/>
          <c:tx>
            <c:strRef>
              <c:strCache>
                <c:ptCount val="1"/>
                <c:pt idx="0">
                  <c:v>Other Flavours</c:v>
                </c:pt>
              </c:strCache>
            </c:strRef>
          </c:tx>
          <c:spPr>
            <a:solidFill>
              <a:srgbClr val="A86F00"/>
            </a:solidFill>
            <a:ln>
              <a:noFill/>
            </a:ln>
          </c:spPr>
          <c:dLbls>
            <c:dLbl>
              <c:idx val="0"/>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5.850865798766418</c:v>
                </c:pt>
                <c:pt idx="1">
                  <c:v>5.332579243194663</c:v>
                </c:pt>
                <c:pt idx="2">
                  <c:v>4.426155563825828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Pouches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17.405539237877417</c:v>
                </c:pt>
                <c:pt idx="1">
                  <c:v>20.928087974753627</c:v>
                </c:pt>
                <c:pt idx="2">
                  <c:v>15.648848280152045</c:v>
                </c:pt>
                <c:pt idx="3">
                  <c:v>16.798313399887224</c:v>
                </c:pt>
                <c:pt idx="4">
                  <c:v>16.980696368526534</c:v>
                </c:pt>
                <c:pt idx="5">
                  <c:v>20.439113167473334</c:v>
                </c:pt>
              </c:numCache>
            </c:numRef>
          </c:val>
        </c:ser>
        <c:ser>
          <c:idx val="1"/>
          <c:order val="1"/>
          <c:tx>
            <c:strRef>
              <c:strCache>
                <c:ptCount val="1"/>
                <c:pt idx="0">
                  <c:v>Tins and Cans</c:v>
                </c:pt>
              </c:strCache>
            </c:strRef>
          </c:tx>
          <c:spPr>
            <a:solidFill>
              <a:srgbClr val="9E7E0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3.150873323564181</c:v>
                </c:pt>
                <c:pt idx="1">
                  <c:v>2.518927859594729</c:v>
                </c:pt>
                <c:pt idx="2">
                  <c:v>2.8385398127324653</c:v>
                </c:pt>
                <c:pt idx="3">
                  <c:v>3.200385352056086</c:v>
                </c:pt>
                <c:pt idx="4">
                  <c:v>3.474893994077461</c:v>
                </c:pt>
                <c:pt idx="5">
                  <c:v>2.6087025179032475</c:v>
                </c:pt>
              </c:numCache>
            </c:numRef>
          </c:val>
        </c:ser>
        <c:ser>
          <c:idx val="2"/>
          <c:order val="2"/>
          <c:tx>
            <c:strRef>
              <c:strCache>
                <c:ptCount val="1"/>
                <c:pt idx="0">
                  <c:v>Jars</c:v>
                </c:pt>
              </c:strCache>
            </c:strRef>
          </c:tx>
          <c:spPr>
            <a:solidFill>
              <a:srgbClr val="008189"/>
            </a:solidFill>
            <a:ln>
              <a:noFill/>
            </a:ln>
          </c:spPr>
          <c:dLbls>
            <c:dLbl>
              <c:idx val="0"/>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6.805937870768279</c:v>
                </c:pt>
                <c:pt idx="1">
                  <c:v>7.050887221791606</c:v>
                </c:pt>
                <c:pt idx="2">
                  <c:v>8.607467593473297</c:v>
                </c:pt>
                <c:pt idx="3">
                  <c:v>8.334950381356995</c:v>
                </c:pt>
                <c:pt idx="4">
                  <c:v>9.090909090909092</c:v>
                </c:pt>
                <c:pt idx="5">
                  <c:v>8.301421995531097</c:v>
                </c:pt>
              </c:numCache>
            </c:numRef>
          </c:val>
        </c:ser>
        <c:ser>
          <c:idx val="3"/>
          <c:order val="3"/>
          <c:tx>
            <c:strRef>
              <c:strCache>
                <c:ptCount val="1"/>
                <c:pt idx="0">
                  <c:v>Boxes and Cartons</c:v>
                </c:pt>
              </c:strCache>
            </c:strRef>
          </c:tx>
          <c:spPr>
            <a:solidFill>
              <a:srgbClr val="40315E"/>
            </a:solidFill>
            <a:ln>
              <a:noFill/>
            </a:ln>
          </c:spPr>
          <c:dLbls>
            <c:dLbl>
              <c:idx val="0"/>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8.400469434211628</c:v>
                </c:pt>
                <c:pt idx="1">
                  <c:v>8.625671298859483</c:v>
                </c:pt>
                <c:pt idx="2">
                  <c:v>8.755218247322457</c:v>
                </c:pt>
                <c:pt idx="3">
                  <c:v>8.53310534858609</c:v>
                </c:pt>
                <c:pt idx="4">
                  <c:v>8.410726190202524</c:v>
                </c:pt>
                <c:pt idx="5">
                  <c:v>6.682530220365883</c:v>
                </c:pt>
              </c:numCache>
            </c:numRef>
          </c:val>
        </c:ser>
        <c:ser>
          <c:idx val="4"/>
          <c:order val="4"/>
          <c:tx>
            <c:strRef>
              <c:strCache>
                <c:ptCount val="1"/>
                <c:pt idx="0">
                  <c:v>Sachets and Stick Packs</c:v>
                </c:pt>
              </c:strCache>
            </c:strRef>
          </c:tx>
          <c:spPr>
            <a:solidFill>
              <a:srgbClr val="A35313"/>
            </a:solidFill>
            <a:ln>
              <a:noFill/>
            </a:ln>
          </c:spPr>
          <c:dLbls>
            <c:dLbl>
              <c:idx val="0"/>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12.010264046016566</c:v>
                </c:pt>
                <c:pt idx="1">
                  <c:v>13.025966116709112</c:v>
                </c:pt>
                <c:pt idx="2">
                  <c:v>13.294524472806762</c:v>
                </c:pt>
                <c:pt idx="3">
                  <c:v>11.813848475371024</c:v>
                </c:pt>
                <c:pt idx="4">
                  <c:v>12.592134768061761</c:v>
                </c:pt>
                <c:pt idx="5">
                  <c:v>12.663290644516909</c:v>
                </c:pt>
              </c:numCache>
            </c:numRef>
          </c:val>
        </c:ser>
        <c:ser>
          <c:idx val="5"/>
          <c:order val="5"/>
          <c:tx>
            <c:strRef>
              <c:strCache>
                <c:ptCount val="1"/>
                <c:pt idx="0">
                  <c:v>Bottles</c:v>
                </c:pt>
              </c:strCache>
            </c:strRef>
          </c:tx>
          <c:spPr>
            <a:solidFill>
              <a:srgbClr val="808080"/>
            </a:solidFill>
            <a:ln>
              <a:noFill/>
            </a:ln>
          </c:spPr>
          <c:dLbls>
            <c:dLbl>
              <c:idx val="0"/>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13.394966240642962</c:v>
                </c:pt>
                <c:pt idx="1">
                  <c:v>12.53339192780423</c:v>
                </c:pt>
                <c:pt idx="2">
                  <c:v>14.981052670890675</c:v>
                </c:pt>
                <c:pt idx="3">
                  <c:v>12.49346522357496</c:v>
                </c:pt>
                <c:pt idx="4">
                  <c:v>13.376756229219392</c:v>
                </c:pt>
                <c:pt idx="5">
                  <c:v>12.803881471421919</c:v>
                </c:pt>
              </c:numCache>
            </c:numRef>
          </c:val>
        </c:ser>
        <c:ser>
          <c:idx val="6"/>
          <c:order val="6"/>
          <c:tx>
            <c:strRef>
              <c:strCache>
                <c:ptCount val="1"/>
                <c:pt idx="0">
                  <c:v>Cups</c:v>
                </c:pt>
              </c:strCache>
            </c:strRef>
          </c:tx>
          <c:spPr>
            <a:solidFill>
              <a:srgbClr val="0E72AE"/>
            </a:solidFill>
            <a:ln>
              <a:noFill/>
            </a:ln>
          </c:spPr>
          <c:dLbls>
            <c:dLbl>
              <c:idx val="0"/>
              <c:numFmt formatCode="&quot;MMMM&quot;;&quot;MMMM&quot;;&quot;MMMM&quot;" sourceLinked="0"/>
              <c:spPr>
                <a:blipFill>
                  <a:blip r:embed="rId3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3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14.251018573546478</c:v>
                </c:pt>
                <c:pt idx="1">
                  <c:v>15.913416288340162</c:v>
                </c:pt>
                <c:pt idx="2">
                  <c:v>14.747289195645907</c:v>
                </c:pt>
                <c:pt idx="3">
                  <c:v>18.779406493912667</c:v>
                </c:pt>
                <c:pt idx="4">
                  <c:v>16.055430282689425</c:v>
                </c:pt>
                <c:pt idx="5">
                  <c:v>15.86164559860406</c:v>
                </c:pt>
              </c:numCache>
            </c:numRef>
          </c:val>
        </c:ser>
        <c:ser>
          <c:idx val="7"/>
          <c:order val="7"/>
          <c:tx>
            <c:strRef>
              <c:strCache>
                <c:ptCount val="1"/>
                <c:pt idx="0">
                  <c:v>Bulk Industrial Packaging</c:v>
                </c:pt>
              </c:strCache>
            </c:strRef>
          </c:tx>
          <c:spPr>
            <a:solidFill>
              <a:srgbClr val="A86F00"/>
            </a:solidFill>
            <a:ln>
              <a:noFill/>
            </a:ln>
          </c:spPr>
          <c:dLbls>
            <c:dLbl>
              <c:idx val="0"/>
              <c:numFmt formatCode="&quot;MMMM&quot;;&quot;MMMM&quot;;&quot;MMMM&quot;" sourceLinked="0"/>
              <c:spPr>
                <a:blipFill>
                  <a:blip r:embed="rId3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3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4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4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21.40109377313111</c:v>
                </c:pt>
                <c:pt idx="1">
                  <c:v>16.827801461632156</c:v>
                </c:pt>
                <c:pt idx="2">
                  <c:v>18.61669909167193</c:v>
                </c:pt>
                <c:pt idx="3">
                  <c:v>16.9428204209195</c:v>
                </c:pt>
                <c:pt idx="4">
                  <c:v>16.586661539651125</c:v>
                </c:pt>
                <c:pt idx="5">
                  <c:v>17.615009119404988</c:v>
                </c:pt>
              </c:numCache>
            </c:numRef>
          </c:val>
        </c:ser>
        <c:ser>
          <c:idx val="8"/>
          <c:order val="8"/>
          <c:tx>
            <c:strRef>
              <c:strCache>
                <c:ptCount val="1"/>
                <c:pt idx="0">
                  <c:v>Other Packaging Types</c:v>
                </c:pt>
              </c:strCache>
            </c:strRef>
          </c:tx>
          <c:spPr>
            <a:solidFill>
              <a:srgbClr val="0B2E4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4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4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4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3.179837500241368</c:v>
                </c:pt>
                <c:pt idx="1">
                  <c:v>2.575849850514893</c:v>
                </c:pt>
                <c:pt idx="2">
                  <c:v>2.5103606353044707</c:v>
                </c:pt>
                <c:pt idx="3">
                  <c:v>3.103704904335438</c:v>
                </c:pt>
                <c:pt idx="4">
                  <c:v>3.43179153666269</c:v>
                </c:pt>
                <c:pt idx="5">
                  <c:v>3.024405264778568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Pouches</c:v>
                </c:pt>
              </c:strCache>
            </c:strRef>
          </c:tx>
          <c:spPr>
            <a:solidFill>
              <a:srgbClr val="3D85C6"/>
            </a:solidFill>
          </c:spPr>
          <c:invertIfNegative val="0"/>
          <c:xVal>
            <c:numRef>
              <c:numCache>
                <c:formatCode>General</c:formatCode>
                <c:ptCount val="1"/>
                <c:pt idx="0">
                  <c:v>97.45638099227466</c:v>
                </c:pt>
              </c:numCache>
            </c:numRef>
          </c:xVal>
          <c:yVal>
            <c:numRef>
              <c:numCache>
                <c:formatCode>General</c:formatCode>
                <c:ptCount val="1"/>
                <c:pt idx="0">
                  <c:v>166.59380685688473</c:v>
                </c:pt>
              </c:numCache>
            </c:numRef>
          </c:yVal>
          <c:bubbleSize>
            <c:numRef>
              <c:numCache>
                <c:formatCode>General</c:formatCode>
                <c:ptCount val="1"/>
                <c:pt idx="0">
                  <c:v>1222.547</c:v>
                </c:pt>
              </c:numCache>
            </c:numRef>
          </c:bubbleSize>
          <c:bubble3D val="0"/>
        </c:ser>
        <c:ser>
          <c:idx val="1"/>
          <c:order val="1"/>
          <c:tx>
            <c:strRef>
              <c:strCache>
                <c:ptCount val="1"/>
                <c:pt idx="0">
                  <c:v>Tins and Cans</c:v>
                </c:pt>
              </c:strCache>
            </c:strRef>
          </c:tx>
          <c:spPr>
            <a:solidFill>
              <a:srgbClr val="9E7E0A"/>
            </a:solidFill>
          </c:spPr>
          <c:invertIfNegative val="0"/>
          <c:xVal>
            <c:numRef>
              <c:numCache>
                <c:formatCode>General</c:formatCode>
                <c:ptCount val="1"/>
                <c:pt idx="0">
                  <c:v>63.457247877215295</c:v>
                </c:pt>
              </c:numCache>
            </c:numRef>
          </c:xVal>
          <c:yVal>
            <c:numRef>
              <c:numCache>
                <c:formatCode>General</c:formatCode>
                <c:ptCount val="1"/>
                <c:pt idx="0">
                  <c:v>34.4444009696461</c:v>
                </c:pt>
              </c:numCache>
            </c:numRef>
          </c:yVal>
          <c:bubbleSize>
            <c:numRef>
              <c:numCache>
                <c:formatCode>General</c:formatCode>
                <c:ptCount val="1"/>
                <c:pt idx="0">
                  <c:v>200.98</c:v>
                </c:pt>
              </c:numCache>
            </c:numRef>
          </c:bubbleSize>
          <c:bubble3D val="0"/>
        </c:ser>
        <c:ser>
          <c:idx val="2"/>
          <c:order val="2"/>
          <c:tx>
            <c:strRef>
              <c:strCache>
                <c:ptCount val="1"/>
                <c:pt idx="0">
                  <c:v>Jars</c:v>
                </c:pt>
              </c:strCache>
            </c:strRef>
          </c:tx>
          <c:spPr>
            <a:solidFill>
              <a:srgbClr val="008189"/>
            </a:solidFill>
          </c:spPr>
          <c:invertIfNegative val="0"/>
          <c:xVal>
            <c:numRef>
              <c:numCache>
                <c:formatCode>General</c:formatCode>
                <c:ptCount val="1"/>
                <c:pt idx="0">
                  <c:v>78.28763284192263</c:v>
                </c:pt>
              </c:numCache>
            </c:numRef>
          </c:xVal>
          <c:yVal>
            <c:numRef>
              <c:numCache>
                <c:formatCode>General</c:formatCode>
                <c:ptCount val="1"/>
                <c:pt idx="0">
                  <c:v>87.01284265304562</c:v>
                </c:pt>
              </c:numCache>
            </c:numRef>
          </c:yVal>
          <c:bubbleSize>
            <c:numRef>
              <c:numCache>
                <c:formatCode>General</c:formatCode>
                <c:ptCount val="1"/>
                <c:pt idx="0">
                  <c:v>561.477</c:v>
                </c:pt>
              </c:numCache>
            </c:numRef>
          </c:bubbleSize>
          <c:bubble3D val="0"/>
        </c:ser>
        <c:ser>
          <c:idx val="3"/>
          <c:order val="3"/>
          <c:tx>
            <c:strRef>
              <c:strCache>
                <c:ptCount val="1"/>
                <c:pt idx="0">
                  <c:v>Boxes and Cartons</c:v>
                </c:pt>
              </c:strCache>
            </c:strRef>
          </c:tx>
          <c:spPr>
            <a:solidFill>
              <a:srgbClr val="40315E"/>
            </a:solidFill>
          </c:spPr>
          <c:invertIfNegative val="0"/>
          <c:xVal>
            <c:numRef>
              <c:numCache>
                <c:formatCode>General</c:formatCode>
                <c:ptCount val="1"/>
                <c:pt idx="0">
                  <c:v>78.90666794584995</c:v>
                </c:pt>
              </c:numCache>
            </c:numRef>
          </c:xVal>
          <c:yVal>
            <c:numRef>
              <c:numCache>
                <c:formatCode>General</c:formatCode>
                <c:ptCount val="1"/>
                <c:pt idx="0">
                  <c:v>82.59287847232723</c:v>
                </c:pt>
              </c:numCache>
            </c:numRef>
          </c:yVal>
          <c:bubbleSize>
            <c:numRef>
              <c:numCache>
                <c:formatCode>General</c:formatCode>
                <c:ptCount val="1"/>
                <c:pt idx="0">
                  <c:v>535.188</c:v>
                </c:pt>
              </c:numCache>
            </c:numRef>
          </c:bubbleSize>
          <c:bubble3D val="0"/>
        </c:ser>
        <c:ser>
          <c:idx val="4"/>
          <c:order val="4"/>
          <c:tx>
            <c:strRef>
              <c:strCache>
                <c:ptCount val="1"/>
                <c:pt idx="0">
                  <c:v>Sachets and Stick Packs</c:v>
                </c:pt>
              </c:strCache>
            </c:strRef>
          </c:tx>
          <c:spPr>
            <a:solidFill>
              <a:srgbClr val="A35313"/>
            </a:solidFill>
          </c:spPr>
          <c:invertIfNegative val="0"/>
          <c:xVal>
            <c:numRef>
              <c:numCache>
                <c:formatCode>General</c:formatCode>
                <c:ptCount val="1"/>
                <c:pt idx="0">
                  <c:v>121.0288378040113</c:v>
                </c:pt>
              </c:numCache>
            </c:numRef>
          </c:xVal>
          <c:yVal>
            <c:numRef>
              <c:numCache>
                <c:formatCode>General</c:formatCode>
                <c:ptCount val="1"/>
                <c:pt idx="0">
                  <c:v>98.67447315954875</c:v>
                </c:pt>
              </c:numCache>
            </c:numRef>
          </c:yVal>
          <c:bubbleSize>
            <c:numRef>
              <c:numCache>
                <c:formatCode>General</c:formatCode>
                <c:ptCount val="1"/>
                <c:pt idx="0">
                  <c:v>846.314</c:v>
                </c:pt>
              </c:numCache>
            </c:numRef>
          </c:bubbleSize>
          <c:bubble3D val="0"/>
        </c:ser>
        <c:ser>
          <c:idx val="5"/>
          <c:order val="5"/>
          <c:tx>
            <c:strRef>
              <c:strCache>
                <c:ptCount val="1"/>
                <c:pt idx="0">
                  <c:v>Bottles</c:v>
                </c:pt>
              </c:strCache>
            </c:strRef>
          </c:tx>
          <c:spPr>
            <a:solidFill>
              <a:srgbClr val="808080"/>
            </a:solidFill>
          </c:spPr>
          <c:invertIfNegative val="0"/>
          <c:xVal>
            <c:numRef>
              <c:numCache>
                <c:formatCode>General</c:formatCode>
                <c:ptCount val="1"/>
                <c:pt idx="0">
                  <c:v>94.09718255587165</c:v>
                </c:pt>
              </c:numCache>
            </c:numRef>
          </c:xVal>
          <c:yVal>
            <c:numRef>
              <c:numCache>
                <c:formatCode>General</c:formatCode>
                <c:ptCount val="1"/>
                <c:pt idx="0">
                  <c:v>123.77633757627603</c:v>
                </c:pt>
              </c:numCache>
            </c:numRef>
          </c:yVal>
          <c:bubbleSize>
            <c:numRef>
              <c:numCache>
                <c:formatCode>General</c:formatCode>
                <c:ptCount val="1"/>
                <c:pt idx="0">
                  <c:v>888.193</c:v>
                </c:pt>
              </c:numCache>
            </c:numRef>
          </c:bubbleSize>
          <c:bubble3D val="0"/>
        </c:ser>
        <c:ser>
          <c:idx val="6"/>
          <c:order val="6"/>
          <c:tx>
            <c:strRef>
              <c:strCache>
                <c:ptCount val="1"/>
                <c:pt idx="0">
                  <c:v>Cups</c:v>
                </c:pt>
              </c:strCache>
            </c:strRef>
          </c:tx>
          <c:spPr>
            <a:solidFill>
              <a:srgbClr val="0E72AE"/>
            </a:solidFill>
          </c:spPr>
          <c:invertIfNegative val="0"/>
          <c:xVal>
            <c:numRef>
              <c:numCache>
                <c:formatCode>General</c:formatCode>
                <c:ptCount val="1"/>
                <c:pt idx="0">
                  <c:v>102.01546146533333</c:v>
                </c:pt>
              </c:numCache>
            </c:numRef>
          </c:xVal>
          <c:yVal>
            <c:numRef>
              <c:numCache>
                <c:formatCode>General</c:formatCode>
                <c:ptCount val="1"/>
                <c:pt idx="0">
                  <c:v>142.50836346433277</c:v>
                </c:pt>
              </c:numCache>
            </c:numRef>
          </c:yVal>
          <c:bubbleSize>
            <c:numRef>
              <c:numCache>
                <c:formatCode>General</c:formatCode>
                <c:ptCount val="1"/>
                <c:pt idx="0">
                  <c:v>1078.021</c:v>
                </c:pt>
              </c:numCache>
            </c:numRef>
          </c:bubbleSize>
          <c:bubble3D val="0"/>
        </c:ser>
        <c:ser>
          <c:idx val="7"/>
          <c:order val="7"/>
          <c:tx>
            <c:strRef>
              <c:strCache>
                <c:ptCount val="1"/>
                <c:pt idx="0">
                  <c:v>Bulk Industrial Packaging</c:v>
                </c:pt>
              </c:strCache>
            </c:strRef>
          </c:tx>
          <c:spPr>
            <a:solidFill>
              <a:srgbClr val="A86F00"/>
            </a:solidFill>
          </c:spPr>
          <c:invertIfNegative val="0"/>
          <c:xVal>
            <c:numRef>
              <c:numCache>
                <c:formatCode>General</c:formatCode>
                <c:ptCount val="1"/>
                <c:pt idx="0">
                  <c:v>117.81056932518781</c:v>
                </c:pt>
              </c:numCache>
            </c:numRef>
          </c:xVal>
          <c:yVal>
            <c:numRef>
              <c:numCache>
                <c:formatCode>General</c:formatCode>
                <c:ptCount val="1"/>
                <c:pt idx="0">
                  <c:v>140.44831014446873</c:v>
                </c:pt>
              </c:numCache>
            </c:numRef>
          </c:yVal>
          <c:bubbleSize>
            <c:numRef>
              <c:numCache>
                <c:formatCode>General</c:formatCode>
                <c:ptCount val="1"/>
                <c:pt idx="0">
                  <c:v>1179.396</c:v>
                </c:pt>
              </c:numCache>
            </c:numRef>
          </c:bubbleSize>
          <c:bubble3D val="0"/>
        </c:ser>
        <c:ser>
          <c:idx val="8"/>
          <c:order val="8"/>
          <c:tx>
            <c:strRef>
              <c:strCache>
                <c:ptCount val="1"/>
                <c:pt idx="0">
                  <c:v>Other Packaging Types</c:v>
                </c:pt>
              </c:strCache>
            </c:strRef>
          </c:tx>
          <c:spPr>
            <a:solidFill>
              <a:srgbClr val="0B2E4A"/>
            </a:solidFill>
          </c:spPr>
          <c:invertIfNegative val="0"/>
          <c:xVal>
            <c:numRef>
              <c:numCache>
                <c:formatCode>General</c:formatCode>
                <c:ptCount val="1"/>
                <c:pt idx="0">
                  <c:v>121.01480897638214</c:v>
                </c:pt>
              </c:numCache>
            </c:numRef>
          </c:xVal>
          <c:yVal>
            <c:numRef>
              <c:numCache>
                <c:formatCode>General</c:formatCode>
                <c:ptCount val="1"/>
                <c:pt idx="0">
                  <c:v>23.94858670347006</c:v>
                </c:pt>
              </c:numCache>
            </c:numRef>
          </c:yVal>
          <c:bubbleSize>
            <c:numRef>
              <c:numCache>
                <c:formatCode>General</c:formatCode>
                <c:ptCount val="1"/>
                <c:pt idx="0">
                  <c:v>205.384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4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624.468</c:v>
                </c:pt>
                <c:pt idx="2">
                  <c:v>714.114</c:v>
                </c:pt>
                <c:pt idx="3">
                  <c:v>816.72</c:v>
                </c:pt>
                <c:pt idx="4">
                  <c:v>934.166</c:v>
                </c:pt>
                <c:pt idx="5">
                  <c:v>1068.617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624.468</c:v>
                </c:pt>
                <c:pt idx="1">
                  <c:v>89.64600000000007</c:v>
                </c:pt>
                <c:pt idx="2">
                  <c:v>102.606</c:v>
                </c:pt>
                <c:pt idx="3">
                  <c:v>117.44600000000003</c:v>
                </c:pt>
                <c:pt idx="4">
                  <c:v>134.4509999999999</c:v>
                </c:pt>
                <c:pt idx="5">
                  <c:v>153.93000000000006</c:v>
                </c:pt>
                <c:pt idx="6">
                  <c:v>1222.547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129.113</c:v>
                </c:pt>
                <c:pt idx="2">
                  <c:v>141.274</c:v>
                </c:pt>
                <c:pt idx="3">
                  <c:v>154.48</c:v>
                </c:pt>
                <c:pt idx="4">
                  <c:v>168.794</c:v>
                </c:pt>
                <c:pt idx="5">
                  <c:v>184.277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129.113</c:v>
                </c:pt>
                <c:pt idx="1">
                  <c:v>12.161000000000001</c:v>
                </c:pt>
                <c:pt idx="2">
                  <c:v>13.205999999999989</c:v>
                </c:pt>
                <c:pt idx="3">
                  <c:v>14.314000000000021</c:v>
                </c:pt>
                <c:pt idx="4">
                  <c:v>15.482999999999976</c:v>
                </c:pt>
                <c:pt idx="5">
                  <c:v>16.703000000000003</c:v>
                </c:pt>
                <c:pt idx="6">
                  <c:v>200.98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326.163</c:v>
                </c:pt>
                <c:pt idx="2">
                  <c:v>363.429</c:v>
                </c:pt>
                <c:pt idx="3">
                  <c:v>405.052</c:v>
                </c:pt>
                <c:pt idx="4">
                  <c:v>451.542</c:v>
                </c:pt>
                <c:pt idx="5">
                  <c:v>503.47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326.163</c:v>
                </c:pt>
                <c:pt idx="1">
                  <c:v>37.26599999999996</c:v>
                </c:pt>
                <c:pt idx="2">
                  <c:v>41.62300000000005</c:v>
                </c:pt>
                <c:pt idx="3">
                  <c:v>46.48999999999995</c:v>
                </c:pt>
                <c:pt idx="4">
                  <c:v>51.928000000000054</c:v>
                </c:pt>
                <c:pt idx="5">
                  <c:v>58.00699999999995</c:v>
                </c:pt>
                <c:pt idx="6">
                  <c:v>561.477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309.595</c:v>
                </c:pt>
                <c:pt idx="2">
                  <c:v>345.292</c:v>
                </c:pt>
                <c:pt idx="3">
                  <c:v>385.176</c:v>
                </c:pt>
                <c:pt idx="4">
                  <c:v>429.74</c:v>
                </c:pt>
                <c:pt idx="5">
                  <c:v>479.54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309.595</c:v>
                </c:pt>
                <c:pt idx="1">
                  <c:v>35.696999999999946</c:v>
                </c:pt>
                <c:pt idx="2">
                  <c:v>39.884000000000015</c:v>
                </c:pt>
                <c:pt idx="3">
                  <c:v>44.56400000000002</c:v>
                </c:pt>
                <c:pt idx="4">
                  <c:v>49.80000000000001</c:v>
                </c:pt>
                <c:pt idx="5">
                  <c:v>55.64799999999997</c:v>
                </c:pt>
                <c:pt idx="6">
                  <c:v>535.188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369.876</c:v>
                </c:pt>
                <c:pt idx="2">
                  <c:v>438.065</c:v>
                </c:pt>
                <c:pt idx="3">
                  <c:v>517.777</c:v>
                </c:pt>
                <c:pt idx="4">
                  <c:v>610.889</c:v>
                </c:pt>
                <c:pt idx="5">
                  <c:v>719.564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369.876</c:v>
                </c:pt>
                <c:pt idx="1">
                  <c:v>68.18900000000002</c:v>
                </c:pt>
                <c:pt idx="2">
                  <c:v>79.71200000000005</c:v>
                </c:pt>
                <c:pt idx="3">
                  <c:v>93.11199999999997</c:v>
                </c:pt>
                <c:pt idx="4">
                  <c:v>108.67499999999995</c:v>
                </c:pt>
                <c:pt idx="5">
                  <c:v>126.75</c:v>
                </c:pt>
                <c:pt idx="6">
                  <c:v>846.314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463.969</c:v>
                </c:pt>
                <c:pt idx="2">
                  <c:v>528.078</c:v>
                </c:pt>
                <c:pt idx="3">
                  <c:v>601.19</c:v>
                </c:pt>
                <c:pt idx="4">
                  <c:v>684.57</c:v>
                </c:pt>
                <c:pt idx="5">
                  <c:v>779.686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463.969</c:v>
                </c:pt>
                <c:pt idx="1">
                  <c:v>64.10899999999998</c:v>
                </c:pt>
                <c:pt idx="2">
                  <c:v>73.11200000000008</c:v>
                </c:pt>
                <c:pt idx="3">
                  <c:v>83.38</c:v>
                </c:pt>
                <c:pt idx="4">
                  <c:v>95.11599999999999</c:v>
                </c:pt>
                <c:pt idx="5">
                  <c:v>108.50699999999995</c:v>
                </c:pt>
                <c:pt idx="6">
                  <c:v>888.193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534.185</c:v>
                </c:pt>
                <c:pt idx="2">
                  <c:v>614.803</c:v>
                </c:pt>
                <c:pt idx="3">
                  <c:v>707.547</c:v>
                </c:pt>
                <c:pt idx="4">
                  <c:v>814.216</c:v>
                </c:pt>
                <c:pt idx="5">
                  <c:v>936.909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534.185</c:v>
                </c:pt>
                <c:pt idx="1">
                  <c:v>80.61800000000005</c:v>
                </c:pt>
                <c:pt idx="2">
                  <c:v>92.74400000000003</c:v>
                </c:pt>
                <c:pt idx="3">
                  <c:v>106.66899999999998</c:v>
                </c:pt>
                <c:pt idx="4">
                  <c:v>122.69299999999998</c:v>
                </c:pt>
                <c:pt idx="5">
                  <c:v>141.11199999999997</c:v>
                </c:pt>
                <c:pt idx="6">
                  <c:v>1078.021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526.463</c:v>
                </c:pt>
                <c:pt idx="2">
                  <c:v>620.472</c:v>
                </c:pt>
                <c:pt idx="3">
                  <c:v>730.067</c:v>
                </c:pt>
                <c:pt idx="4">
                  <c:v>857.757</c:v>
                </c:pt>
                <c:pt idx="5">
                  <c:v>1006.418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526.463</c:v>
                </c:pt>
                <c:pt idx="1">
                  <c:v>94.00900000000001</c:v>
                </c:pt>
                <c:pt idx="2">
                  <c:v>109.59500000000003</c:v>
                </c:pt>
                <c:pt idx="3">
                  <c:v>127.68999999999994</c:v>
                </c:pt>
                <c:pt idx="4">
                  <c:v>148.66100000000006</c:v>
                </c:pt>
                <c:pt idx="5">
                  <c:v>172.97799999999995</c:v>
                </c:pt>
                <c:pt idx="6">
                  <c:v>1179.396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89.77</c:v>
                </c:pt>
                <c:pt idx="2">
                  <c:v>106.304</c:v>
                </c:pt>
                <c:pt idx="3">
                  <c:v>125.634</c:v>
                </c:pt>
                <c:pt idx="4">
                  <c:v>148.227</c:v>
                </c:pt>
                <c:pt idx="5">
                  <c:v>174.606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89.77</c:v>
                </c:pt>
                <c:pt idx="1">
                  <c:v>16.534000000000006</c:v>
                </c:pt>
                <c:pt idx="2">
                  <c:v>19.33</c:v>
                </c:pt>
                <c:pt idx="3">
                  <c:v>22.593000000000004</c:v>
                </c:pt>
                <c:pt idx="4">
                  <c:v>26.37899999999999</c:v>
                </c:pt>
                <c:pt idx="5">
                  <c:v>30.77799999999999</c:v>
                </c:pt>
                <c:pt idx="6">
                  <c:v>205.384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Pouches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18.6888533584815</c:v>
                </c:pt>
                <c:pt idx="1">
                  <c:v>18.5104229840983</c:v>
                </c:pt>
                <c:pt idx="2">
                  <c:v>18.199434313360626</c:v>
                </c:pt>
              </c:numCache>
            </c:numRef>
          </c:val>
        </c:ser>
        <c:ser>
          <c:idx val="1"/>
          <c:order val="1"/>
          <c:tx>
            <c:strRef>
              <c:strCache>
                <c:ptCount val="1"/>
                <c:pt idx="0">
                  <c:v>Bulk Industrial Packaging</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14.481956961120565</c:v>
                </c:pt>
                <c:pt idx="1">
                  <c:v>15.605367793829858</c:v>
                </c:pt>
                <c:pt idx="2">
                  <c:v>17.55706736136956</c:v>
                </c:pt>
              </c:numCache>
            </c:numRef>
          </c:val>
        </c:ser>
        <c:ser>
          <c:idx val="2"/>
          <c:order val="2"/>
          <c:tx>
            <c:strRef>
              <c:strCache>
                <c:ptCount val="1"/>
                <c:pt idx="0">
                  <c:v>Cups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15.716733951443047</c:v>
                </c:pt>
                <c:pt idx="1">
                  <c:v>15.834262607148087</c:v>
                </c:pt>
                <c:pt idx="2">
                  <c:v>16.047949385932267</c:v>
                </c:pt>
              </c:numCache>
            </c:numRef>
          </c:val>
        </c:ser>
        <c:ser>
          <c:idx val="3"/>
          <c:order val="3"/>
          <c:tx>
            <c:strRef>
              <c:strCache>
                <c:ptCount val="1"/>
                <c:pt idx="0">
                  <c:v>Bottles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14.057507033752312</c:v>
                </c:pt>
                <c:pt idx="1">
                  <c:v>13.752926397364003</c:v>
                </c:pt>
                <c:pt idx="2">
                  <c:v>13.222076665426124</c:v>
                </c:pt>
              </c:numCache>
            </c:numRef>
          </c:val>
        </c:ser>
        <c:ser>
          <c:idx val="4"/>
          <c:order val="4"/>
          <c:tx>
            <c:strRef>
              <c:strCache>
                <c:ptCount val="1"/>
                <c:pt idx="0">
                  <c:v>Sachets and Stick Packs</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10.029671952208535</c:v>
                </c:pt>
                <c:pt idx="1">
                  <c:v>10.963830351060972</c:v>
                </c:pt>
                <c:pt idx="2">
                  <c:v>12.598645329363602</c:v>
                </c:pt>
              </c:numCache>
            </c:numRef>
          </c:val>
        </c:ser>
        <c:ser>
          <c:idx val="5"/>
          <c:order val="5"/>
          <c:tx>
            <c:strRef>
              <c:strCache>
                <c:ptCount val="1"/>
                <c:pt idx="0">
                  <c:v>Jars</c:v>
                </c:pt>
              </c:strCache>
            </c:strRef>
          </c:tx>
          <c:spPr>
            <a:solidFill>
              <a:srgbClr val="808080"/>
            </a:solidFill>
            <a:ln>
              <a:noFill/>
            </a:ln>
          </c:spPr>
          <c:dLbls>
            <c:dLbl>
              <c:idx val="0"/>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10.421219362795386</c:v>
                </c:pt>
                <c:pt idx="1">
                  <c:v>9.66809362811618</c:v>
                </c:pt>
                <c:pt idx="2">
                  <c:v>8.358422032005954</c:v>
                </c:pt>
              </c:numCache>
            </c:numRef>
          </c:val>
        </c:ser>
        <c:ser>
          <c:idx val="6"/>
          <c:order val="6"/>
          <c:tx>
            <c:strRef>
              <c:strCache>
                <c:ptCount val="1"/>
                <c:pt idx="0">
                  <c:v>Boxes and Cartons</c:v>
                </c:pt>
              </c:strCache>
            </c:strRef>
          </c:tx>
          <c:spPr>
            <a:solidFill>
              <a:srgbClr val="0E72A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9.867024590341282</c:v>
                </c:pt>
                <c:pt idx="1">
                  <c:v>9.176986496925247</c:v>
                </c:pt>
                <c:pt idx="2">
                  <c:v>7.9670710829921845</c:v>
                </c:pt>
              </c:numCache>
            </c:numRef>
          </c:val>
        </c:ser>
        <c:ser>
          <c:idx val="7"/>
          <c:order val="7"/>
          <c:tx>
            <c:strRef>
              <c:strCache>
                <c:ptCount val="1"/>
                <c:pt idx="0">
                  <c:v>Other Packaging Types</c:v>
                </c:pt>
              </c:strCache>
            </c:strRef>
          </c:tx>
          <c:spPr>
            <a:solidFill>
              <a:srgbClr val="A86F00"/>
            </a:solidFill>
            <a:ln>
              <a:noFill/>
            </a:ln>
          </c:spPr>
          <c:dLbls>
            <c:dLbl>
              <c:idx val="0"/>
              <c:numFmt formatCode="&quot;MMM&quot;;&quot;MMM&quot;;&quot;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2.4359799839292466</c:v>
                </c:pt>
                <c:pt idx="1">
                  <c:v>2.6609540781633396</c:v>
                </c:pt>
                <c:pt idx="2">
                  <c:v>3.057446966877558</c:v>
                </c:pt>
              </c:numCache>
            </c:numRef>
          </c:val>
        </c:ser>
        <c:ser>
          <c:idx val="8"/>
          <c:order val="8"/>
          <c:tx>
            <c:strRef>
              <c:strCache>
                <c:ptCount val="1"/>
                <c:pt idx="0">
                  <c:v>Tins and Cans</c:v>
                </c:pt>
              </c:strCache>
            </c:strRef>
          </c:tx>
          <c:spPr>
            <a:solidFill>
              <a:srgbClr val="0B2E4A"/>
            </a:solidFill>
            <a:ln>
              <a:noFill/>
            </a:ln>
          </c:spPr>
          <c:dLbls>
            <c:dLbl>
              <c:idx val="0"/>
              <c:numFmt formatCode="&quot;MMM&quot;;&quot;MMM&quot;;&quot;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4.301052805928123</c:v>
                </c:pt>
                <c:pt idx="1">
                  <c:v>3.8271556632940107</c:v>
                </c:pt>
                <c:pt idx="2">
                  <c:v>2.991886862672125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Ceremonial Grade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19.08159959493063</c:v>
                </c:pt>
                <c:pt idx="1">
                  <c:v>19.217313974089244</c:v>
                </c:pt>
                <c:pt idx="2">
                  <c:v>16.222928427295827</c:v>
                </c:pt>
                <c:pt idx="3">
                  <c:v>18.539474615389885</c:v>
                </c:pt>
                <c:pt idx="4">
                  <c:v>17.047204766452598</c:v>
                </c:pt>
                <c:pt idx="5">
                  <c:v>16.68076358238652</c:v>
                </c:pt>
              </c:numCache>
            </c:numRef>
          </c:val>
        </c:ser>
        <c:ser>
          <c:idx val="1"/>
          <c:order val="1"/>
          <c:tx>
            <c:strRef>
              <c:strCache>
                <c:ptCount val="1"/>
                <c:pt idx="0">
                  <c:v>Premium Grade</c:v>
                </c:pt>
              </c:strCache>
            </c:strRef>
          </c:tx>
          <c:spPr>
            <a:solidFill>
              <a:srgbClr val="9E7E0A"/>
            </a:solidFill>
            <a:ln>
              <a:noFill/>
            </a:ln>
          </c:spPr>
          <c:dLbls>
            <c:dLbl>
              <c:idx val="0"/>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9.480082301171656</c:v>
                </c:pt>
                <c:pt idx="1">
                  <c:v>10.626764754733694</c:v>
                </c:pt>
                <c:pt idx="2">
                  <c:v>10.203081289702155</c:v>
                </c:pt>
                <c:pt idx="3">
                  <c:v>10.670234064847813</c:v>
                </c:pt>
                <c:pt idx="4">
                  <c:v>9.352240596349928</c:v>
                </c:pt>
                <c:pt idx="5">
                  <c:v>10.43668527393745</c:v>
                </c:pt>
              </c:numCache>
            </c:numRef>
          </c:val>
        </c:ser>
        <c:ser>
          <c:idx val="2"/>
          <c:order val="2"/>
          <c:tx>
            <c:strRef>
              <c:strCache>
                <c:ptCount val="1"/>
                <c:pt idx="0">
                  <c:v>Standard Drinking Grade</c:v>
                </c:pt>
              </c:strCache>
            </c:strRef>
          </c:tx>
          <c:spPr>
            <a:solidFill>
              <a:srgbClr val="008189"/>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10.08489722008269</c:v>
                </c:pt>
                <c:pt idx="1">
                  <c:v>9.325863691728491</c:v>
                </c:pt>
                <c:pt idx="2">
                  <c:v>9.838489628861096</c:v>
                </c:pt>
                <c:pt idx="3">
                  <c:v>9.684025011357386</c:v>
                </c:pt>
                <c:pt idx="4">
                  <c:v>10.579537356508</c:v>
                </c:pt>
                <c:pt idx="5">
                  <c:v>10.835955326758938</c:v>
                </c:pt>
              </c:numCache>
            </c:numRef>
          </c:val>
        </c:ser>
        <c:ser>
          <c:idx val="3"/>
          <c:order val="3"/>
          <c:tx>
            <c:strRef>
              <c:strCache>
                <c:ptCount val="1"/>
                <c:pt idx="0">
                  <c:v>Culinary Grade</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49.59997253766952</c:v>
                </c:pt>
                <c:pt idx="1">
                  <c:v>45.29640958919278</c:v>
                </c:pt>
                <c:pt idx="2">
                  <c:v>51.42644736703901</c:v>
                </c:pt>
                <c:pt idx="3">
                  <c:v>48.5709100289699</c:v>
                </c:pt>
                <c:pt idx="4">
                  <c:v>50.73117441396332</c:v>
                </c:pt>
                <c:pt idx="5">
                  <c:v>47.889459783818786</c:v>
                </c:pt>
              </c:numCache>
            </c:numRef>
          </c:val>
        </c:ser>
        <c:ser>
          <c:idx val="4"/>
          <c:order val="4"/>
          <c:tx>
            <c:strRef>
              <c:strCache>
                <c:ptCount val="1"/>
                <c:pt idx="0">
                  <c:v>Industrial Grade</c:v>
                </c:pt>
              </c:strCache>
            </c:strRef>
          </c:tx>
          <c:spPr>
            <a:solidFill>
              <a:srgbClr val="A35313"/>
            </a:solidFill>
            <a:ln>
              <a:noFill/>
            </a:ln>
          </c:spPr>
          <c:dLbls>
            <c:dLbl>
              <c:idx val="0"/>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11.753448346145511</c:v>
                </c:pt>
                <c:pt idx="1">
                  <c:v>15.533647990255783</c:v>
                </c:pt>
                <c:pt idx="2">
                  <c:v>12.309053287101928</c:v>
                </c:pt>
                <c:pt idx="3">
                  <c:v>12.535356279435032</c:v>
                </c:pt>
                <c:pt idx="4">
                  <c:v>12.289842866726158</c:v>
                </c:pt>
                <c:pt idx="5">
                  <c:v>14.157136033098308</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Ceremonial Grade</c:v>
                </c:pt>
              </c:strCache>
            </c:strRef>
          </c:tx>
          <c:spPr>
            <a:solidFill>
              <a:srgbClr val="3D85C6"/>
            </a:solidFill>
          </c:spPr>
          <c:invertIfNegative val="0"/>
          <c:xVal>
            <c:numRef>
              <c:numCache>
                <c:formatCode>General</c:formatCode>
                <c:ptCount val="1"/>
                <c:pt idx="0">
                  <c:v>127.87205619907267</c:v>
                </c:pt>
              </c:numCache>
            </c:numRef>
          </c:xVal>
          <c:yVal>
            <c:numRef>
              <c:numCache>
                <c:formatCode>General</c:formatCode>
                <c:ptCount val="1"/>
                <c:pt idx="0">
                  <c:v>72.20131479646976</c:v>
                </c:pt>
              </c:numCache>
            </c:numRef>
          </c:yVal>
          <c:bubbleSize>
            <c:numRef>
              <c:numCache>
                <c:formatCode>General</c:formatCode>
                <c:ptCount val="1"/>
                <c:pt idx="0">
                  <c:v>1165.756</c:v>
                </c:pt>
              </c:numCache>
            </c:numRef>
          </c:bubbleSize>
          <c:bubble3D val="0"/>
        </c:ser>
        <c:ser>
          <c:idx val="1"/>
          <c:order val="1"/>
          <c:tx>
            <c:strRef>
              <c:strCache>
                <c:ptCount val="1"/>
                <c:pt idx="0">
                  <c:v>Premium Grade</c:v>
                </c:pt>
              </c:strCache>
            </c:strRef>
          </c:tx>
          <c:spPr>
            <a:solidFill>
              <a:srgbClr val="9E7E0A"/>
            </a:solidFill>
          </c:spPr>
          <c:invertIfNegative val="0"/>
          <c:xVal>
            <c:numRef>
              <c:numCache>
                <c:formatCode>General</c:formatCode>
                <c:ptCount val="1"/>
                <c:pt idx="0">
                  <c:v>109.63949162416309</c:v>
                </c:pt>
              </c:numCache>
            </c:numRef>
          </c:xVal>
          <c:yVal>
            <c:numRef>
              <c:numCache>
                <c:formatCode>General</c:formatCode>
                <c:ptCount val="1"/>
                <c:pt idx="0">
                  <c:v>47.26995063436647</c:v>
                </c:pt>
              </c:numCache>
            </c:numRef>
          </c:yVal>
          <c:bubbleSize>
            <c:numRef>
              <c:numCache>
                <c:formatCode>General</c:formatCode>
                <c:ptCount val="1"/>
                <c:pt idx="0">
                  <c:v>677.012</c:v>
                </c:pt>
              </c:numCache>
            </c:numRef>
          </c:bubbleSize>
          <c:bubble3D val="0"/>
        </c:ser>
        <c:ser>
          <c:idx val="2"/>
          <c:order val="2"/>
          <c:tx>
            <c:strRef>
              <c:strCache>
                <c:ptCount val="1"/>
                <c:pt idx="0">
                  <c:v>Standard Drinking Grade</c:v>
                </c:pt>
              </c:strCache>
            </c:strRef>
          </c:tx>
          <c:spPr>
            <a:solidFill>
              <a:srgbClr val="008189"/>
            </a:solidFill>
          </c:spPr>
          <c:invertIfNegative val="0"/>
          <c:xVal>
            <c:numRef>
              <c:numCache>
                <c:formatCode>General</c:formatCode>
                <c:ptCount val="1"/>
                <c:pt idx="0">
                  <c:v>80.55194440329704</c:v>
                </c:pt>
              </c:numCache>
            </c:numRef>
          </c:xVal>
          <c:yVal>
            <c:numRef>
              <c:numCache>
                <c:formatCode>General</c:formatCode>
                <c:ptCount val="1"/>
                <c:pt idx="0">
                  <c:v>58.68549402093074</c:v>
                </c:pt>
              </c:numCache>
            </c:numRef>
          </c:yVal>
          <c:bubbleSize>
            <c:numRef>
              <c:numCache>
                <c:formatCode>General</c:formatCode>
                <c:ptCount val="1"/>
                <c:pt idx="0">
                  <c:v>692.13</c:v>
                </c:pt>
              </c:numCache>
            </c:numRef>
          </c:bubbleSize>
          <c:bubble3D val="0"/>
        </c:ser>
        <c:ser>
          <c:idx val="3"/>
          <c:order val="3"/>
          <c:tx>
            <c:strRef>
              <c:strCache>
                <c:ptCount val="1"/>
                <c:pt idx="0">
                  <c:v>Culinary Grade</c:v>
                </c:pt>
              </c:strCache>
            </c:strRef>
          </c:tx>
          <c:spPr>
            <a:solidFill>
              <a:srgbClr val="40315E"/>
            </a:solidFill>
          </c:spPr>
          <c:invertIfNegative val="0"/>
          <c:xVal>
            <c:numRef>
              <c:numCache>
                <c:formatCode>General</c:formatCode>
                <c:ptCount val="1"/>
                <c:pt idx="0">
                  <c:v>96.27144338704427</c:v>
                </c:pt>
              </c:numCache>
            </c:numRef>
          </c:xVal>
          <c:yVal>
            <c:numRef>
              <c:numCache>
                <c:formatCode>General</c:formatCode>
                <c:ptCount val="1"/>
                <c:pt idx="0">
                  <c:v>251.8543977623916</c:v>
                </c:pt>
              </c:numCache>
            </c:numRef>
          </c:yVal>
          <c:bubbleSize>
            <c:numRef>
              <c:numCache>
                <c:formatCode>General</c:formatCode>
                <c:ptCount val="1"/>
                <c:pt idx="0">
                  <c:v>3300.628</c:v>
                </c:pt>
              </c:numCache>
            </c:numRef>
          </c:bubbleSize>
          <c:bubble3D val="0"/>
        </c:ser>
        <c:ser>
          <c:idx val="4"/>
          <c:order val="4"/>
          <c:tx>
            <c:strRef>
              <c:strCache>
                <c:ptCount val="1"/>
                <c:pt idx="0">
                  <c:v>Industrial Grade</c:v>
                </c:pt>
              </c:strCache>
            </c:strRef>
          </c:tx>
          <c:spPr>
            <a:solidFill>
              <a:srgbClr val="A35313"/>
            </a:solidFill>
          </c:spPr>
          <c:invertIfNegative val="0"/>
          <c:xVal>
            <c:numRef>
              <c:numCache>
                <c:formatCode>General</c:formatCode>
                <c:ptCount val="1"/>
                <c:pt idx="0">
                  <c:v>90.40918515621894</c:v>
                </c:pt>
              </c:numCache>
            </c:numRef>
          </c:xVal>
          <c:yVal>
            <c:numRef>
              <c:numCache>
                <c:formatCode>General</c:formatCode>
                <c:ptCount val="1"/>
                <c:pt idx="0">
                  <c:v>69.98884278584136</c:v>
                </c:pt>
              </c:numCache>
            </c:numRef>
          </c:yVal>
          <c:bubbleSize>
            <c:numRef>
              <c:numCache>
                <c:formatCode>General</c:formatCode>
                <c:ptCount val="1"/>
                <c:pt idx="0">
                  <c:v>881.974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6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487.157</c:v>
                </c:pt>
                <c:pt idx="2">
                  <c:v>582.209</c:v>
                </c:pt>
                <c:pt idx="3">
                  <c:v>694.394</c:v>
                </c:pt>
                <c:pt idx="4">
                  <c:v>826.66</c:v>
                </c:pt>
                <c:pt idx="5">
                  <c:v>982.442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487.157</c:v>
                </c:pt>
                <c:pt idx="1">
                  <c:v>95.05199999999996</c:v>
                </c:pt>
                <c:pt idx="2">
                  <c:v>112.18500000000006</c:v>
                </c:pt>
                <c:pt idx="3">
                  <c:v>132.26599999999996</c:v>
                </c:pt>
                <c:pt idx="4">
                  <c:v>155.78200000000004</c:v>
                </c:pt>
                <c:pt idx="5">
                  <c:v>183.31400000000008</c:v>
                </c:pt>
                <c:pt idx="6">
                  <c:v>1165.756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318.94</c:v>
                </c:pt>
                <c:pt idx="2">
                  <c:v>371.02</c:v>
                </c:pt>
                <c:pt idx="3">
                  <c:v>431.444</c:v>
                </c:pt>
                <c:pt idx="4">
                  <c:v>501.527</c:v>
                </c:pt>
                <c:pt idx="5">
                  <c:v>582.797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318.94</c:v>
                </c:pt>
                <c:pt idx="1">
                  <c:v>52.079999999999984</c:v>
                </c:pt>
                <c:pt idx="2">
                  <c:v>60.424000000000035</c:v>
                </c:pt>
                <c:pt idx="3">
                  <c:v>70.08299999999997</c:v>
                </c:pt>
                <c:pt idx="4">
                  <c:v>81.27000000000004</c:v>
                </c:pt>
                <c:pt idx="5">
                  <c:v>94.21499999999992</c:v>
                </c:pt>
                <c:pt idx="6">
                  <c:v>677.012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395.963</c:v>
                </c:pt>
                <c:pt idx="2">
                  <c:v>443.036</c:v>
                </c:pt>
                <c:pt idx="3">
                  <c:v>495.553</c:v>
                </c:pt>
                <c:pt idx="4">
                  <c:v>554.115</c:v>
                </c:pt>
                <c:pt idx="5">
                  <c:v>619.396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395.963</c:v>
                </c:pt>
                <c:pt idx="1">
                  <c:v>47.07299999999998</c:v>
                </c:pt>
                <c:pt idx="2">
                  <c:v>52.516999999999996</c:v>
                </c:pt>
                <c:pt idx="3">
                  <c:v>58.56200000000001</c:v>
                </c:pt>
                <c:pt idx="4">
                  <c:v>65.28099999999995</c:v>
                </c:pt>
                <c:pt idx="5">
                  <c:v>72.73400000000004</c:v>
                </c:pt>
                <c:pt idx="6">
                  <c:v>692.13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1699.313</c:v>
                </c:pt>
                <c:pt idx="2">
                  <c:v>1940.486</c:v>
                </c:pt>
                <c:pt idx="3">
                  <c:v>2215.965</c:v>
                </c:pt>
                <c:pt idx="4">
                  <c:v>2530.628</c:v>
                </c:pt>
                <c:pt idx="5">
                  <c:v>2890.062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1699.313</c:v>
                </c:pt>
                <c:pt idx="1">
                  <c:v>241.173</c:v>
                </c:pt>
                <c:pt idx="2">
                  <c:v>275.47900000000004</c:v>
                </c:pt>
                <c:pt idx="3">
                  <c:v>314.663</c:v>
                </c:pt>
                <c:pt idx="4">
                  <c:v>359.43399999999974</c:v>
                </c:pt>
                <c:pt idx="5">
                  <c:v>410.56600000000026</c:v>
                </c:pt>
                <c:pt idx="6">
                  <c:v>3300.628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472.229</c:v>
                </c:pt>
                <c:pt idx="2">
                  <c:v>535.08</c:v>
                </c:pt>
                <c:pt idx="3">
                  <c:v>606.287</c:v>
                </c:pt>
                <c:pt idx="4">
                  <c:v>686.971</c:v>
                </c:pt>
                <c:pt idx="5">
                  <c:v>778.39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472.229</c:v>
                </c:pt>
                <c:pt idx="1">
                  <c:v>62.851000000000056</c:v>
                </c:pt>
                <c:pt idx="2">
                  <c:v>71.207</c:v>
                </c:pt>
                <c:pt idx="3">
                  <c:v>80.68399999999997</c:v>
                </c:pt>
                <c:pt idx="4">
                  <c:v>91.41899999999998</c:v>
                </c:pt>
                <c:pt idx="5">
                  <c:v>103.58400000000006</c:v>
                </c:pt>
                <c:pt idx="6">
                  <c:v>881.974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Culinary Grade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51.01464348518977</c:v>
                </c:pt>
                <c:pt idx="1">
                  <c:v>50.37087955247833</c:v>
                </c:pt>
                <c:pt idx="2">
                  <c:v>49.13476739858579</c:v>
                </c:pt>
              </c:numCache>
            </c:numRef>
          </c:val>
        </c:ser>
        <c:ser>
          <c:idx val="1"/>
          <c:order val="1"/>
          <c:tx>
            <c:strRef>
              <c:strCache>
                <c:ptCount val="1"/>
                <c:pt idx="0">
                  <c:v>Ceremonial Grade</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12.91617766762191</c:v>
                </c:pt>
                <c:pt idx="1">
                  <c:v>14.440262959293952</c:v>
                </c:pt>
                <c:pt idx="2">
                  <c:v>17.354015630815038</c:v>
                </c:pt>
              </c:numCache>
            </c:numRef>
          </c:val>
        </c:ser>
        <c:ser>
          <c:idx val="2"/>
          <c:order val="2"/>
          <c:tx>
            <c:strRef>
              <c:strCache>
                <c:ptCount val="1"/>
                <c:pt idx="0">
                  <c:v>Industrial Grade</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14.452971410622665</c:v>
                </c:pt>
                <c:pt idx="1">
                  <c:v>13.997768557168271</c:v>
                </c:pt>
                <c:pt idx="2">
                  <c:v>13.129497580945293</c:v>
                </c:pt>
              </c:numCache>
            </c:numRef>
          </c:val>
        </c:ser>
        <c:ser>
          <c:idx val="3"/>
          <c:order val="3"/>
          <c:tx>
            <c:strRef>
              <c:strCache>
                <c:ptCount val="1"/>
                <c:pt idx="0">
                  <c:v>Standard Drinking Grade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12.491802349135247</c:v>
                </c:pt>
                <c:pt idx="1">
                  <c:v>11.737098804186148</c:v>
                </c:pt>
                <c:pt idx="2">
                  <c:v>10.303386676590993</c:v>
                </c:pt>
              </c:numCache>
            </c:numRef>
          </c:val>
        </c:ser>
        <c:ser>
          <c:idx val="4"/>
          <c:order val="4"/>
          <c:tx>
            <c:strRef>
              <c:strCache>
                <c:ptCount val="1"/>
                <c:pt idx="0">
                  <c:v>Premium Grade</c:v>
                </c:pt>
              </c:strCache>
            </c:strRef>
          </c:tx>
          <c:spPr>
            <a:solidFill>
              <a:srgbClr val="A35313"/>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9.124405087430418</c:v>
                </c:pt>
                <c:pt idx="1">
                  <c:v>9.453990126873293</c:v>
                </c:pt>
                <c:pt idx="2">
                  <c:v>10.078332713062894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Beverages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22.090441178048156</c:v>
                </c:pt>
                <c:pt idx="1">
                  <c:v>22.11047364632931</c:v>
                </c:pt>
                <c:pt idx="2">
                  <c:v>23.295936623605797</c:v>
                </c:pt>
                <c:pt idx="3">
                  <c:v>22.46034047041259</c:v>
                </c:pt>
                <c:pt idx="4">
                  <c:v>22.21077467393644</c:v>
                </c:pt>
                <c:pt idx="5">
                  <c:v>21.4193011614411</c:v>
                </c:pt>
              </c:numCache>
            </c:numRef>
          </c:val>
        </c:ser>
        <c:ser>
          <c:idx val="1"/>
          <c:order val="1"/>
          <c:tx>
            <c:strRef>
              <c:strCache>
                <c:ptCount val="1"/>
                <c:pt idx="0">
                  <c:v>Bakery and Confectionery</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13.668087699235986</c:v>
                </c:pt>
                <c:pt idx="1">
                  <c:v>13.658336562949838</c:v>
                </c:pt>
                <c:pt idx="2">
                  <c:v>13.452662020962855</c:v>
                </c:pt>
                <c:pt idx="3">
                  <c:v>13.586399446627142</c:v>
                </c:pt>
                <c:pt idx="4">
                  <c:v>13.24097042701213</c:v>
                </c:pt>
                <c:pt idx="5">
                  <c:v>14.566818393563516</c:v>
                </c:pt>
              </c:numCache>
            </c:numRef>
          </c:val>
        </c:ser>
        <c:ser>
          <c:idx val="2"/>
          <c:order val="2"/>
          <c:tx>
            <c:strRef>
              <c:strCache>
                <c:ptCount val="1"/>
                <c:pt idx="0">
                  <c:v>Dairy and Frozen Desserts</c:v>
                </c:pt>
              </c:strCache>
            </c:strRef>
          </c:tx>
          <c:spPr>
            <a:solidFill>
              <a:srgbClr val="008189"/>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17.047241644907775</c:v>
                </c:pt>
                <c:pt idx="1">
                  <c:v>18.602072029675558</c:v>
                </c:pt>
                <c:pt idx="2">
                  <c:v>15.075818493106722</c:v>
                </c:pt>
                <c:pt idx="3">
                  <c:v>16.13890023993188</c:v>
                </c:pt>
                <c:pt idx="4">
                  <c:v>16.967269299974298</c:v>
                </c:pt>
                <c:pt idx="5">
                  <c:v>16.15235130632515</c:v>
                </c:pt>
              </c:numCache>
            </c:numRef>
          </c:val>
        </c:ser>
        <c:ser>
          <c:idx val="3"/>
          <c:order val="3"/>
          <c:tx>
            <c:strRef>
              <c:strCache>
                <c:ptCount val="1"/>
                <c:pt idx="0">
                  <c:v>Other Food Products</c:v>
                </c:pt>
              </c:strCache>
            </c:strRef>
          </c:tx>
          <c:spPr>
            <a:solidFill>
              <a:srgbClr val="40315E"/>
            </a:solidFill>
            <a:ln>
              <a:noFill/>
            </a:ln>
          </c:spPr>
          <c:dLbls>
            <c:dLbl>
              <c:idx val="0"/>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14.768511863512218</c:v>
                </c:pt>
                <c:pt idx="1">
                  <c:v>13.276838113165763</c:v>
                </c:pt>
                <c:pt idx="2">
                  <c:v>13.896380809220762</c:v>
                </c:pt>
                <c:pt idx="3">
                  <c:v>13.957369287349813</c:v>
                </c:pt>
                <c:pt idx="4">
                  <c:v>13.25032235413606</c:v>
                </c:pt>
                <c:pt idx="5">
                  <c:v>13.160515345076703</c:v>
                </c:pt>
              </c:numCache>
            </c:numRef>
          </c:val>
        </c:ser>
        <c:ser>
          <c:idx val="4"/>
          <c:order val="4"/>
          <c:tx>
            <c:strRef>
              <c:strCache>
                <c:ptCount val="1"/>
                <c:pt idx="0">
                  <c:v>Dietary Supplements and Functional Nutrition</c:v>
                </c:pt>
              </c:strCache>
            </c:strRef>
          </c:tx>
          <c:spPr>
            <a:solidFill>
              <a:srgbClr val="A35313"/>
            </a:solidFill>
            <a:ln>
              <a:noFill/>
            </a:ln>
          </c:spPr>
          <c:dLbls>
            <c:dLbl>
              <c:idx val="0"/>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17.21201562778244</c:v>
                </c:pt>
                <c:pt idx="1">
                  <c:v>14.917540969992249</c:v>
                </c:pt>
                <c:pt idx="2">
                  <c:v>17.051312424943017</c:v>
                </c:pt>
                <c:pt idx="3">
                  <c:v>16.594907782604825</c:v>
                </c:pt>
                <c:pt idx="4">
                  <c:v>17.32849401581155</c:v>
                </c:pt>
                <c:pt idx="5">
                  <c:v>16.339131327327422</c:v>
                </c:pt>
              </c:numCache>
            </c:numRef>
          </c:val>
        </c:ser>
        <c:ser>
          <c:idx val="5"/>
          <c:order val="5"/>
          <c:tx>
            <c:strRef>
              <c:strCache>
                <c:ptCount val="1"/>
                <c:pt idx="0">
                  <c:v>Other Applications</c:v>
                </c:pt>
              </c:strCache>
            </c:strRef>
          </c:tx>
          <c:spPr>
            <a:solidFill>
              <a:srgbClr val="808080"/>
            </a:solidFill>
            <a:ln>
              <a:noFill/>
            </a:ln>
          </c:spPr>
          <c:dLbls>
            <c:dLbl>
              <c:idx val="0"/>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15.213701986513417</c:v>
                </c:pt>
                <c:pt idx="1">
                  <c:v>17.434738677887278</c:v>
                </c:pt>
                <c:pt idx="2">
                  <c:v>17.227889628160856</c:v>
                </c:pt>
                <c:pt idx="3">
                  <c:v>17.262082773073754</c:v>
                </c:pt>
                <c:pt idx="4">
                  <c:v>17.002169229129528</c:v>
                </c:pt>
                <c:pt idx="5">
                  <c:v>18.361882466266096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Beverages</c:v>
                </c:pt>
              </c:strCache>
            </c:strRef>
          </c:tx>
          <c:spPr>
            <a:solidFill>
              <a:srgbClr val="3D85C6"/>
            </a:solidFill>
          </c:spPr>
          <c:invertIfNegative val="0"/>
          <c:xVal>
            <c:numRef>
              <c:numCache>
                <c:formatCode>General</c:formatCode>
                <c:ptCount val="1"/>
                <c:pt idx="0">
                  <c:v>87.89930017579431</c:v>
                </c:pt>
              </c:numCache>
            </c:numRef>
          </c:xVal>
          <c:yVal>
            <c:numRef>
              <c:numCache>
                <c:formatCode>General</c:formatCode>
                <c:ptCount val="1"/>
                <c:pt idx="0">
                  <c:v>143.936955218784</c:v>
                </c:pt>
              </c:numCache>
            </c:numRef>
          </c:yVal>
          <c:bubbleSize>
            <c:numRef>
              <c:numCache>
                <c:formatCode>General</c:formatCode>
                <c:ptCount val="1"/>
                <c:pt idx="0">
                  <c:v>1486.3139999999999</c:v>
                </c:pt>
              </c:numCache>
            </c:numRef>
          </c:bubbleSize>
          <c:bubble3D val="0"/>
        </c:ser>
        <c:ser>
          <c:idx val="1"/>
          <c:order val="1"/>
          <c:tx>
            <c:strRef>
              <c:strCache>
                <c:ptCount val="1"/>
                <c:pt idx="0">
                  <c:v>Bakery and Confectionery</c:v>
                </c:pt>
              </c:strCache>
            </c:strRef>
          </c:tx>
          <c:spPr>
            <a:solidFill>
              <a:srgbClr val="9E7E0A"/>
            </a:solidFill>
          </c:spPr>
          <c:invertIfNegative val="0"/>
          <c:xVal>
            <c:numRef>
              <c:numCache>
                <c:formatCode>General</c:formatCode>
                <c:ptCount val="1"/>
                <c:pt idx="0">
                  <c:v>105.91353806933199</c:v>
                </c:pt>
              </c:numCache>
            </c:numRef>
          </c:xVal>
          <c:yVal>
            <c:numRef>
              <c:numCache>
                <c:formatCode>General</c:formatCode>
                <c:ptCount val="1"/>
                <c:pt idx="0">
                  <c:v>79.48679186222915</c:v>
                </c:pt>
              </c:numCache>
            </c:numRef>
          </c:yVal>
          <c:bubbleSize>
            <c:numRef>
              <c:numCache>
                <c:formatCode>General</c:formatCode>
                <c:ptCount val="1"/>
                <c:pt idx="0">
                  <c:v>925.573</c:v>
                </c:pt>
              </c:numCache>
            </c:numRef>
          </c:bubbleSize>
          <c:bubble3D val="0"/>
        </c:ser>
        <c:ser>
          <c:idx val="2"/>
          <c:order val="2"/>
          <c:tx>
            <c:strRef>
              <c:strCache>
                <c:ptCount val="1"/>
                <c:pt idx="0">
                  <c:v>Dairy and Frozen Desserts</c:v>
                </c:pt>
              </c:strCache>
            </c:strRef>
          </c:tx>
          <c:spPr>
            <a:solidFill>
              <a:srgbClr val="008189"/>
            </a:solidFill>
          </c:spPr>
          <c:invertIfNegative val="0"/>
          <c:xVal>
            <c:numRef>
              <c:numCache>
                <c:formatCode>General</c:formatCode>
                <c:ptCount val="1"/>
                <c:pt idx="0">
                  <c:v>101.94161672223869</c:v>
                </c:pt>
              </c:numCache>
            </c:numRef>
          </c:xVal>
          <c:yVal>
            <c:numRef>
              <c:numCache>
                <c:formatCode>General</c:formatCode>
                <c:ptCount val="1"/>
                <c:pt idx="0">
                  <c:v>97.83839350344233</c:v>
                </c:pt>
              </c:numCache>
            </c:numRef>
          </c:yVal>
          <c:bubbleSize>
            <c:numRef>
              <c:numCache>
                <c:formatCode>General</c:formatCode>
                <c:ptCount val="1"/>
                <c:pt idx="0">
                  <c:v>1109.62</c:v>
                </c:pt>
              </c:numCache>
            </c:numRef>
          </c:bubbleSize>
          <c:bubble3D val="0"/>
        </c:ser>
        <c:ser>
          <c:idx val="3"/>
          <c:order val="3"/>
          <c:tx>
            <c:strRef>
              <c:strCache>
                <c:ptCount val="1"/>
                <c:pt idx="0">
                  <c:v>Other Food Products</c:v>
                </c:pt>
              </c:strCache>
            </c:strRef>
          </c:tx>
          <c:spPr>
            <a:solidFill>
              <a:srgbClr val="40315E"/>
            </a:solidFill>
          </c:spPr>
          <c:invertIfNegative val="0"/>
          <c:xVal>
            <c:numRef>
              <c:numCache>
                <c:formatCode>General</c:formatCode>
                <c:ptCount val="1"/>
                <c:pt idx="0">
                  <c:v>74.7989673745334</c:v>
                </c:pt>
              </c:numCache>
            </c:numRef>
          </c:xVal>
          <c:yVal>
            <c:numRef>
              <c:numCache>
                <c:formatCode>General</c:formatCode>
                <c:ptCount val="1"/>
                <c:pt idx="0">
                  <c:v>95.96686271824596</c:v>
                </c:pt>
              </c:numCache>
            </c:numRef>
          </c:yVal>
          <c:bubbleSize>
            <c:numRef>
              <c:numCache>
                <c:formatCode>General</c:formatCode>
                <c:ptCount val="1"/>
                <c:pt idx="0">
                  <c:v>907.23</c:v>
                </c:pt>
              </c:numCache>
            </c:numRef>
          </c:bubbleSize>
          <c:bubble3D val="0"/>
        </c:ser>
        <c:ser>
          <c:idx val="4"/>
          <c:order val="4"/>
          <c:tx>
            <c:strRef>
              <c:strCache>
                <c:ptCount val="1"/>
                <c:pt idx="0">
                  <c:v>Dietary Supplements and Functional Nutrition</c:v>
                </c:pt>
              </c:strCache>
            </c:strRef>
          </c:tx>
          <c:spPr>
            <a:solidFill>
              <a:srgbClr val="A35313"/>
            </a:solidFill>
          </c:spPr>
          <c:invertIfNegative val="0"/>
          <c:xVal>
            <c:numRef>
              <c:numCache>
                <c:formatCode>General</c:formatCode>
                <c:ptCount val="1"/>
                <c:pt idx="0">
                  <c:v>112.98216973671553</c:v>
                </c:pt>
              </c:numCache>
            </c:numRef>
          </c:xVal>
          <c:yVal>
            <c:numRef>
              <c:numCache>
                <c:formatCode>General</c:formatCode>
                <c:ptCount val="1"/>
                <c:pt idx="0">
                  <c:v>91.84906814733927</c:v>
                </c:pt>
              </c:numCache>
            </c:numRef>
          </c:yVal>
          <c:bubbleSize>
            <c:numRef>
              <c:numCache>
                <c:formatCode>General</c:formatCode>
                <c:ptCount val="1"/>
                <c:pt idx="0">
                  <c:v>1120.713</c:v>
                </c:pt>
              </c:numCache>
            </c:numRef>
          </c:bubbleSize>
          <c:bubble3D val="0"/>
        </c:ser>
        <c:ser>
          <c:idx val="5"/>
          <c:order val="5"/>
          <c:tx>
            <c:strRef>
              <c:strCache>
                <c:ptCount val="1"/>
                <c:pt idx="0">
                  <c:v>Other Applications</c:v>
                </c:pt>
              </c:strCache>
            </c:strRef>
          </c:tx>
          <c:spPr>
            <a:solidFill>
              <a:srgbClr val="808080"/>
            </a:solidFill>
          </c:spPr>
          <c:invertIfNegative val="0"/>
          <c:xVal>
            <c:numRef>
              <c:numCache>
                <c:formatCode>General</c:formatCode>
                <c:ptCount val="1"/>
                <c:pt idx="0">
                  <c:v>120.80953782290302</c:v>
                </c:pt>
              </c:numCache>
            </c:numRef>
          </c:xVal>
          <c:yVal>
            <c:numRef>
              <c:numCache>
                <c:formatCode>General</c:formatCode>
                <c:ptCount val="1"/>
                <c:pt idx="0">
                  <c:v>90.92192854995938</c:v>
                </c:pt>
              </c:numCache>
            </c:numRef>
          </c:yVal>
          <c:bubbleSize>
            <c:numRef>
              <c:numCache>
                <c:formatCode>General</c:formatCode>
                <c:ptCount val="1"/>
                <c:pt idx="0">
                  <c:v>1168.05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5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809.31</c:v>
                </c:pt>
                <c:pt idx="2">
                  <c:v>913.65</c:v>
                </c:pt>
                <c:pt idx="3">
                  <c:v>1031.624</c:v>
                </c:pt>
                <c:pt idx="4">
                  <c:v>1164.9940000000001</c:v>
                </c:pt>
                <c:pt idx="5">
                  <c:v>1315.796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809.31</c:v>
                </c:pt>
                <c:pt idx="1">
                  <c:v>104.34000000000003</c:v>
                </c:pt>
                <c:pt idx="2">
                  <c:v>117.97400000000005</c:v>
                </c:pt>
                <c:pt idx="3">
                  <c:v>133.37000000000012</c:v>
                </c:pt>
                <c:pt idx="4">
                  <c:v>150.8019999999999</c:v>
                </c:pt>
                <c:pt idx="5">
                  <c:v>170.5179999999998</c:v>
                </c:pt>
                <c:pt idx="6">
                  <c:v>1486.3139999999999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446.928</c:v>
                </c:pt>
                <c:pt idx="2">
                  <c:v>517.292</c:v>
                </c:pt>
                <c:pt idx="3">
                  <c:v>598.54</c:v>
                </c:pt>
                <c:pt idx="4">
                  <c:v>692.339</c:v>
                </c:pt>
                <c:pt idx="5">
                  <c:v>800.623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446.928</c:v>
                </c:pt>
                <c:pt idx="1">
                  <c:v>70.36400000000003</c:v>
                </c:pt>
                <c:pt idx="2">
                  <c:v>81.24799999999993</c:v>
                </c:pt>
                <c:pt idx="3">
                  <c:v>93.79900000000009</c:v>
                </c:pt>
                <c:pt idx="4">
                  <c:v>108.28399999999999</c:v>
                </c:pt>
                <c:pt idx="5">
                  <c:v>124.94999999999993</c:v>
                </c:pt>
                <c:pt idx="6">
                  <c:v>925.573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550.113</c:v>
                </c:pt>
                <c:pt idx="2">
                  <c:v>633.059</c:v>
                </c:pt>
                <c:pt idx="3">
                  <c:v>728.4680000000001</c:v>
                </c:pt>
                <c:pt idx="4">
                  <c:v>838.208</c:v>
                </c:pt>
                <c:pt idx="5">
                  <c:v>964.444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550.113</c:v>
                </c:pt>
                <c:pt idx="1">
                  <c:v>82.94599999999991</c:v>
                </c:pt>
                <c:pt idx="2">
                  <c:v>95.4090000000001</c:v>
                </c:pt>
                <c:pt idx="3">
                  <c:v>109.7399999999999</c:v>
                </c:pt>
                <c:pt idx="4">
                  <c:v>126.23599999999999</c:v>
                </c:pt>
                <c:pt idx="5">
                  <c:v>145.17599999999993</c:v>
                </c:pt>
                <c:pt idx="6">
                  <c:v>1109.62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539.5899999999999</c:v>
                </c:pt>
                <c:pt idx="2">
                  <c:v>598.986</c:v>
                </c:pt>
                <c:pt idx="3">
                  <c:v>664.756</c:v>
                </c:pt>
                <c:pt idx="4">
                  <c:v>737.563</c:v>
                </c:pt>
                <c:pt idx="5">
                  <c:v>818.1320000000001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539.5899999999999</c:v>
                </c:pt>
                <c:pt idx="1">
                  <c:v>59.39600000000007</c:v>
                </c:pt>
                <c:pt idx="2">
                  <c:v>65.76999999999998</c:v>
                </c:pt>
                <c:pt idx="3">
                  <c:v>72.80700000000002</c:v>
                </c:pt>
                <c:pt idx="4">
                  <c:v>80.56900000000007</c:v>
                </c:pt>
                <c:pt idx="5">
                  <c:v>89.09799999999996</c:v>
                </c:pt>
                <c:pt idx="6">
                  <c:v>907.23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516.437</c:v>
                </c:pt>
                <c:pt idx="2">
                  <c:v>603.923</c:v>
                </c:pt>
                <c:pt idx="3">
                  <c:v>705.636</c:v>
                </c:pt>
                <c:pt idx="4">
                  <c:v>823.857</c:v>
                </c:pt>
                <c:pt idx="5">
                  <c:v>961.211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516.437</c:v>
                </c:pt>
                <c:pt idx="1">
                  <c:v>87.48599999999999</c:v>
                </c:pt>
                <c:pt idx="2">
                  <c:v>101.71299999999997</c:v>
                </c:pt>
                <c:pt idx="3">
                  <c:v>118.221</c:v>
                </c:pt>
                <c:pt idx="4">
                  <c:v>137.35400000000004</c:v>
                </c:pt>
                <c:pt idx="5">
                  <c:v>159.50199999999995</c:v>
                </c:pt>
                <c:pt idx="6">
                  <c:v>1120.713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511.22400000000005</c:v>
                </c:pt>
                <c:pt idx="2">
                  <c:v>604.9209999999999</c:v>
                </c:pt>
                <c:pt idx="3">
                  <c:v>714.6189999999999</c:v>
                </c:pt>
                <c:pt idx="4">
                  <c:v>842.94</c:v>
                </c:pt>
                <c:pt idx="5">
                  <c:v>992.881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511.22400000000005</c:v>
                </c:pt>
                <c:pt idx="1">
                  <c:v>93.69699999999989</c:v>
                </c:pt>
                <c:pt idx="2">
                  <c:v>109.69799999999998</c:v>
                </c:pt>
                <c:pt idx="3">
                  <c:v>128.32100000000014</c:v>
                </c:pt>
                <c:pt idx="4">
                  <c:v>149.94099999999992</c:v>
                </c:pt>
                <c:pt idx="5">
                  <c:v>175.16899999999998</c:v>
                </c:pt>
                <c:pt idx="6">
                  <c:v>1168.05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Beverages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25.015611908472806</c:v>
                </c:pt>
                <c:pt idx="1">
                  <c:v>23.989492536463995</c:v>
                </c:pt>
                <c:pt idx="2">
                  <c:v>22.12599925567547</c:v>
                </c:pt>
              </c:numCache>
            </c:numRef>
          </c:val>
        </c:ser>
        <c:ser>
          <c:idx val="1"/>
          <c:order val="1"/>
          <c:tx>
            <c:strRef>
              <c:strCache>
                <c:ptCount val="1"/>
                <c:pt idx="0">
                  <c:v>Applications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13.920450518270597</c:v>
                </c:pt>
                <c:pt idx="1">
                  <c:v>15.153654758326562</c:v>
                </c:pt>
                <c:pt idx="2">
                  <c:v>17.38816524004466</c:v>
                </c:pt>
              </c:numCache>
            </c:numRef>
          </c:val>
        </c:ser>
        <c:ser>
          <c:idx val="2"/>
          <c:order val="2"/>
          <c:tx>
            <c:strRef>
              <c:strCache>
                <c:ptCount val="1"/>
                <c:pt idx="0">
                  <c:v>Dietary Supplements and Functional Nutrition</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14.55018678333506</c:v>
                </c:pt>
                <c:pt idx="1">
                  <c:v>15.308178024556543</c:v>
                </c:pt>
                <c:pt idx="2">
                  <c:v>16.683483438779305</c:v>
                </c:pt>
              </c:numCache>
            </c:numRef>
          </c:val>
        </c:ser>
        <c:ser>
          <c:idx val="3"/>
          <c:order val="3"/>
          <c:tx>
            <c:strRef>
              <c:strCache>
                <c:ptCount val="1"/>
                <c:pt idx="0">
                  <c:v>Dairy and Frozen Desserts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16.19311166039828</c:v>
                </c:pt>
                <c:pt idx="1">
                  <c:v>16.30639891724039</c:v>
                </c:pt>
                <c:pt idx="2">
                  <c:v>16.518347599553405</c:v>
                </c:pt>
              </c:numCache>
            </c:numRef>
          </c:val>
        </c:ser>
        <c:ser>
          <c:idx val="4"/>
          <c:order val="4"/>
          <c:tx>
            <c:strRef>
              <c:strCache>
                <c:ptCount val="1"/>
                <c:pt idx="0">
                  <c:v>Bakery and Confectionery</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12.950721579798305</c:v>
                </c:pt>
                <c:pt idx="1">
                  <c:v>13.247798643704858</c:v>
                </c:pt>
                <c:pt idx="2">
                  <c:v>13.77853368068478</c:v>
                </c:pt>
              </c:numCache>
            </c:numRef>
          </c:val>
        </c:ser>
        <c:ser>
          <c:idx val="5"/>
          <c:order val="5"/>
          <c:tx>
            <c:strRef>
              <c:strCache>
                <c:ptCount val="1"/>
                <c:pt idx="0">
                  <c:v>Food Products</c:v>
                </c:pt>
              </c:strCache>
            </c:strRef>
          </c:tx>
          <c:spPr>
            <a:solidFill>
              <a:srgbClr val="808080"/>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17.369917549724956</c:v>
                </c:pt>
                <c:pt idx="1">
                  <c:v>15.994477119707659</c:v>
                </c:pt>
                <c:pt idx="2">
                  <c:v>13.505470785262375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B2B / Institutional and Ingredient Sales</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8.615447989993413</c:v>
                </c:pt>
                <c:pt idx="1">
                  <c:v>10.700815247480898</c:v>
                </c:pt>
                <c:pt idx="2">
                  <c:v>9.939674318345475</c:v>
                </c:pt>
                <c:pt idx="3">
                  <c:v>8.61711574943898</c:v>
                </c:pt>
                <c:pt idx="4">
                  <c:v>9.652076963747959</c:v>
                </c:pt>
                <c:pt idx="5">
                  <c:v>8.365326916851554</c:v>
                </c:pt>
              </c:numCache>
            </c:numRef>
          </c:val>
        </c:ser>
        <c:ser>
          <c:idx val="1"/>
          <c:order val="1"/>
          <c:tx>
            <c:strRef>
              <c:strCache>
                <c:ptCount val="1"/>
                <c:pt idx="0">
                  <c:v>Supermarkets and Hypermarkets</c:v>
                </c:pt>
              </c:strCache>
            </c:strRef>
          </c:tx>
          <c:spPr>
            <a:solidFill>
              <a:srgbClr val="9E7E0A"/>
            </a:solidFill>
            <a:ln>
              <a:noFill/>
            </a:ln>
          </c:spPr>
          <c:dLbls>
            <c:dLbl>
              <c:idx val="0"/>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29.581220915139255</c:v>
                </c:pt>
                <c:pt idx="1">
                  <c:v>28.44698123131436</c:v>
                </c:pt>
                <c:pt idx="2">
                  <c:v>27.478237122293432</c:v>
                </c:pt>
                <c:pt idx="3">
                  <c:v>27.42905344476887</c:v>
                </c:pt>
                <c:pt idx="4">
                  <c:v>26.042974978631626</c:v>
                </c:pt>
                <c:pt idx="5">
                  <c:v>23.62784537279022</c:v>
                </c:pt>
              </c:numCache>
            </c:numRef>
          </c:val>
        </c:ser>
        <c:ser>
          <c:idx val="2"/>
          <c:order val="2"/>
          <c:tx>
            <c:strRef>
              <c:strCache>
                <c:ptCount val="1"/>
                <c:pt idx="0">
                  <c:v>Convenience Stores</c:v>
                </c:pt>
              </c:strCache>
            </c:strRef>
          </c:tx>
          <c:spPr>
            <a:solidFill>
              <a:srgbClr val="008189"/>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17.209226484843153</c:v>
                </c:pt>
                <c:pt idx="1">
                  <c:v>17.98683008526187</c:v>
                </c:pt>
                <c:pt idx="2">
                  <c:v>19.10838432442589</c:v>
                </c:pt>
                <c:pt idx="3">
                  <c:v>21.345490490616175</c:v>
                </c:pt>
                <c:pt idx="4">
                  <c:v>20.975954575756877</c:v>
                </c:pt>
                <c:pt idx="5">
                  <c:v>21.759897120478783</c:v>
                </c:pt>
              </c:numCache>
            </c:numRef>
          </c:val>
        </c:ser>
        <c:ser>
          <c:idx val="3"/>
          <c:order val="3"/>
          <c:tx>
            <c:strRef>
              <c:strCache>
                <c:ptCount val="1"/>
                <c:pt idx="0">
                  <c:v>Specialty Tea and Health Food Stores</c:v>
                </c:pt>
              </c:strCache>
            </c:strRef>
          </c:tx>
          <c:spPr>
            <a:solidFill>
              <a:srgbClr val="40315E"/>
            </a:solidFill>
            <a:ln>
              <a:noFill/>
            </a:ln>
          </c:spPr>
          <c:dLbls>
            <c:dLbl>
              <c:idx val="0"/>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16.529533805485176</c:v>
                </c:pt>
                <c:pt idx="1">
                  <c:v>15.449043572140406</c:v>
                </c:pt>
                <c:pt idx="2">
                  <c:v>17.66904086951143</c:v>
                </c:pt>
                <c:pt idx="3">
                  <c:v>19.413936138398004</c:v>
                </c:pt>
                <c:pt idx="4">
                  <c:v>16.98163678577922</c:v>
                </c:pt>
                <c:pt idx="5">
                  <c:v>18.199035948615506</c:v>
                </c:pt>
              </c:numCache>
            </c:numRef>
          </c:val>
        </c:ser>
        <c:ser>
          <c:idx val="4"/>
          <c:order val="4"/>
          <c:tx>
            <c:strRef>
              <c:strCache>
                <c:ptCount val="1"/>
                <c:pt idx="0">
                  <c:v>Online Retail</c:v>
                </c:pt>
              </c:strCache>
            </c:strRef>
          </c:tx>
          <c:spPr>
            <a:solidFill>
              <a:srgbClr val="A35313"/>
            </a:solidFill>
            <a:ln>
              <a:noFill/>
            </a:ln>
          </c:spPr>
          <c:dLbls>
            <c:dLbl>
              <c:idx val="0"/>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M&quot;;&quot;MMMM&quot;;&quot;MMMM&quot;" sourceLinked="0"/>
              <c:spPr>
                <a:blipFill>
                  <a:blip r:embed="rId2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M&quot;;&quot;MMMM&quot;;&quot;MMMM&quot;" sourceLinked="0"/>
              <c:spPr>
                <a:blipFill>
                  <a:blip r:embed="rId2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4"/>
              <c:numFmt formatCode="&quot;MMMM&quot;;&quot;MMMM&quot;;&quot;MMMM&quot;" sourceLinked="0"/>
              <c:spPr>
                <a:blipFill>
                  <a:blip r:embed="rId2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M&quot;;&quot;MMMM&quot;;&quot;MMMM&quot;" sourceLinked="0"/>
              <c:spPr>
                <a:blipFill>
                  <a:blip r:embed="rId2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13.406981010227573</c:v>
                </c:pt>
                <c:pt idx="1">
                  <c:v>12.597753571033108</c:v>
                </c:pt>
                <c:pt idx="2">
                  <c:v>12.60980639529252</c:v>
                </c:pt>
                <c:pt idx="3">
                  <c:v>11.792731730591429</c:v>
                </c:pt>
                <c:pt idx="4">
                  <c:v>13.372890069402793</c:v>
                </c:pt>
                <c:pt idx="5">
                  <c:v>15.780074297489987</c:v>
                </c:pt>
              </c:numCache>
            </c:numRef>
          </c:val>
        </c:ser>
        <c:ser>
          <c:idx val="5"/>
          <c:order val="5"/>
          <c:tx>
            <c:strRef>
              <c:strCache>
                <c:ptCount val="1"/>
                <c:pt idx="0">
                  <c:v>Foodservice and HoReCa</c:v>
                </c:pt>
              </c:strCache>
            </c:strRef>
          </c:tx>
          <c:spPr>
            <a:solidFill>
              <a:srgbClr val="808080"/>
            </a:solidFill>
            <a:ln>
              <a:noFill/>
            </a:ln>
          </c:spPr>
          <c:dLbls>
            <c:dLbl>
              <c:idx val="0"/>
              <c:numFmt formatCode="&quot;MMM&quot;;&quot;MMM&quot;;&quot;MMM&quot;" sourceLinked="0"/>
              <c:spPr>
                <a:blipFill>
                  <a:blip r:embed="rId2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2"/>
              <c:numFmt formatCode="&quot;MMM&quot;;&quot;MMM&quot;;&quot;MMM&quot;" sourceLinked="0"/>
              <c:spPr>
                <a:blipFill>
                  <a:blip r:embed="rId3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3"/>
              <c:numFmt formatCode="&quot;MMM&quot;;&quot;MMM&quot;;&quot;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3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5"/>
              <c:numFmt formatCode="&quot;MMM&quot;;&quot;MMM&quot;;&quot;MMM&quot;" sourceLinked="0"/>
              <c:spPr>
                <a:blipFill>
                  <a:blip r:embed="rId3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8.883849360535343</c:v>
                </c:pt>
                <c:pt idx="1">
                  <c:v>10.177271343151368</c:v>
                </c:pt>
                <c:pt idx="2">
                  <c:v>8.036071699914455</c:v>
                </c:pt>
                <c:pt idx="3">
                  <c:v>6.964074139178754</c:v>
                </c:pt>
                <c:pt idx="4">
                  <c:v>7.43828250552234</c:v>
                </c:pt>
                <c:pt idx="5">
                  <c:v>7.101588592453395</c:v>
                </c:pt>
              </c:numCache>
            </c:numRef>
          </c:val>
        </c:ser>
        <c:ser>
          <c:idx val="6"/>
          <c:order val="6"/>
          <c:tx>
            <c:strRef>
              <c:strCache>
                <c:ptCount val="1"/>
                <c:pt idx="0">
                  <c:v>Other Retail Channels</c:v>
                </c:pt>
              </c:strCache>
            </c:strRef>
          </c:tx>
          <c:spPr>
            <a:solidFill>
              <a:srgbClr val="0E72AE"/>
            </a:solidFill>
            <a:ln>
              <a:noFill/>
            </a:ln>
          </c:spPr>
          <c:dLbls>
            <c:dLbl>
              <c:idx val="0"/>
              <c:numFmt formatCode="&quot;MMM&quot;;&quot;MMM&quot;;&quot;MMM&quot;" sourceLinked="0"/>
              <c:spPr>
                <a:blipFill>
                  <a:blip r:embed="rId3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3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quot;;&quot;MMM&quot;;&quot;MMM&quot;" sourceLinked="0"/>
              <c:spPr>
                <a:blipFill>
                  <a:blip r:embed="rId3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quot;;&quot;MMM&quot;;&quot;MMM&quot;" sourceLinked="0"/>
              <c:spPr>
                <a:blipFill>
                  <a:blip r:embed="rId3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quot;;&quot;MMM&quot;;&quot;MMM&quot;" sourceLinked="0"/>
              <c:spPr>
                <a:blipFill>
                  <a:blip r:embed="rId3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6"/>
                <c:pt idx="0">
                  <c:v>Middle East &amp; Africa</c:v>
                </c:pt>
                <c:pt idx="1">
                  <c:v>Latin America</c:v>
                </c:pt>
                <c:pt idx="2">
                  <c:v>East Asia</c:v>
                </c:pt>
                <c:pt idx="3">
                  <c:v>South Asia &amp; Pacific</c:v>
                </c:pt>
                <c:pt idx="4">
                  <c:v>Europe</c:v>
                </c:pt>
                <c:pt idx="5">
                  <c:v>North America</c:v>
                </c:pt>
              </c:strCache>
            </c:strRef>
          </c:cat>
          <c:val>
            <c:numRef>
              <c:numCache>
                <c:formatCode>General</c:formatCode>
                <c:ptCount val="6"/>
                <c:pt idx="0">
                  <c:v>5.773740433776093</c:v>
                </c:pt>
                <c:pt idx="1">
                  <c:v>4.641304949617982</c:v>
                </c:pt>
                <c:pt idx="2">
                  <c:v>5.158785270216807</c:v>
                </c:pt>
                <c:pt idx="3">
                  <c:v>4.437598307007792</c:v>
                </c:pt>
                <c:pt idx="4">
                  <c:v>5.536184121159179</c:v>
                </c:pt>
                <c:pt idx="5">
                  <c:v>5.166231751320536</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B2B / Institutional and Ingredient Sales</c:v>
                </c:pt>
              </c:strCache>
            </c:strRef>
          </c:tx>
          <c:spPr>
            <a:solidFill>
              <a:srgbClr val="3D85C6"/>
            </a:solidFill>
          </c:spPr>
          <c:invertIfNegative val="0"/>
          <c:xVal>
            <c:numRef>
              <c:numCache>
                <c:formatCode>General</c:formatCode>
                <c:ptCount val="1"/>
                <c:pt idx="0">
                  <c:v>117.60889067690907</c:v>
                </c:pt>
              </c:numCache>
            </c:numRef>
          </c:xVal>
          <c:yVal>
            <c:numRef>
              <c:numCache>
                <c:formatCode>General</c:formatCode>
                <c:ptCount val="1"/>
                <c:pt idx="0">
                  <c:v>57.2169153326326</c:v>
                </c:pt>
              </c:numCache>
            </c:numRef>
          </c:yVal>
          <c:bubbleSize>
            <c:numRef>
              <c:numCache>
                <c:formatCode>General</c:formatCode>
                <c:ptCount val="1"/>
                <c:pt idx="0">
                  <c:v>616.93</c:v>
                </c:pt>
              </c:numCache>
            </c:numRef>
          </c:bubbleSize>
          <c:bubble3D val="0"/>
        </c:ser>
        <c:ser>
          <c:idx val="1"/>
          <c:order val="1"/>
          <c:tx>
            <c:strRef>
              <c:strCache>
                <c:ptCount val="1"/>
                <c:pt idx="0">
                  <c:v>Supermarkets and Hypermarkets</c:v>
                </c:pt>
              </c:strCache>
            </c:strRef>
          </c:tx>
          <c:spPr>
            <a:solidFill>
              <a:srgbClr val="9E7E0A"/>
            </a:solidFill>
          </c:spPr>
          <c:invertIfNegative val="0"/>
          <c:xVal>
            <c:numRef>
              <c:numCache>
                <c:formatCode>General</c:formatCode>
                <c:ptCount val="1"/>
                <c:pt idx="0">
                  <c:v>105.50931340453296</c:v>
                </c:pt>
              </c:numCache>
            </c:numRef>
          </c:xVal>
          <c:yVal>
            <c:numRef>
              <c:numCache>
                <c:formatCode>General</c:formatCode>
                <c:ptCount val="1"/>
                <c:pt idx="0">
                  <c:v>176.34051082492837</c:v>
                </c:pt>
              </c:numCache>
            </c:numRef>
          </c:yVal>
          <c:bubbleSize>
            <c:numRef>
              <c:numCache>
                <c:formatCode>General</c:formatCode>
                <c:ptCount val="1"/>
                <c:pt idx="0">
                  <c:v>1755.323</c:v>
                </c:pt>
              </c:numCache>
            </c:numRef>
          </c:bubbleSize>
          <c:bubble3D val="0"/>
        </c:ser>
        <c:ser>
          <c:idx val="2"/>
          <c:order val="2"/>
          <c:tx>
            <c:strRef>
              <c:strCache>
                <c:ptCount val="1"/>
                <c:pt idx="0">
                  <c:v>Convenience Stores</c:v>
                </c:pt>
              </c:strCache>
            </c:strRef>
          </c:tx>
          <c:spPr>
            <a:solidFill>
              <a:srgbClr val="008189"/>
            </a:solidFill>
          </c:spPr>
          <c:invertIfNegative val="0"/>
          <c:xVal>
            <c:numRef>
              <c:numCache>
                <c:formatCode>General</c:formatCode>
                <c:ptCount val="1"/>
                <c:pt idx="0">
                  <c:v>108.07006022442656</c:v>
                </c:pt>
              </c:numCache>
            </c:numRef>
          </c:xVal>
          <c:yVal>
            <c:numRef>
              <c:numCache>
                <c:formatCode>General</c:formatCode>
                <c:ptCount val="1"/>
                <c:pt idx="0">
                  <c:v>136.0411512679919</c:v>
                </c:pt>
              </c:numCache>
            </c:numRef>
          </c:yVal>
          <c:bubbleSize>
            <c:numRef>
              <c:numCache>
                <c:formatCode>General</c:formatCode>
                <c:ptCount val="1"/>
                <c:pt idx="0">
                  <c:v>1377.348</c:v>
                </c:pt>
              </c:numCache>
            </c:numRef>
          </c:bubbleSize>
          <c:bubble3D val="0"/>
        </c:ser>
        <c:ser>
          <c:idx val="3"/>
          <c:order val="3"/>
          <c:tx>
            <c:strRef>
              <c:strCache>
                <c:ptCount val="1"/>
                <c:pt idx="0">
                  <c:v>Specialty Tea and Health Food Stores</c:v>
                </c:pt>
              </c:strCache>
            </c:strRef>
          </c:tx>
          <c:spPr>
            <a:solidFill>
              <a:srgbClr val="40315E"/>
            </a:solidFill>
          </c:spPr>
          <c:invertIfNegative val="0"/>
          <c:xVal>
            <c:numRef>
              <c:numCache>
                <c:formatCode>General</c:formatCode>
                <c:ptCount val="1"/>
                <c:pt idx="0">
                  <c:v>86.9255781126133</c:v>
                </c:pt>
              </c:numCache>
            </c:numRef>
          </c:xVal>
          <c:yVal>
            <c:numRef>
              <c:numCache>
                <c:formatCode>General</c:formatCode>
                <c:ptCount val="1"/>
                <c:pt idx="0">
                  <c:v>134.3797519683709</c:v>
                </c:pt>
              </c:numCache>
            </c:numRef>
          </c:yVal>
          <c:bubbleSize>
            <c:numRef>
              <c:numCache>
                <c:formatCode>General</c:formatCode>
                <c:ptCount val="1"/>
                <c:pt idx="0">
                  <c:v>1181.645</c:v>
                </c:pt>
              </c:numCache>
            </c:numRef>
          </c:bubbleSize>
          <c:bubble3D val="0"/>
        </c:ser>
        <c:ser>
          <c:idx val="4"/>
          <c:order val="4"/>
          <c:tx>
            <c:strRef>
              <c:strCache>
                <c:ptCount val="1"/>
                <c:pt idx="0">
                  <c:v>Online Retail</c:v>
                </c:pt>
              </c:strCache>
            </c:strRef>
          </c:tx>
          <c:spPr>
            <a:solidFill>
              <a:srgbClr val="A35313"/>
            </a:solidFill>
          </c:spPr>
          <c:invertIfNegative val="0"/>
          <c:xVal>
            <c:numRef>
              <c:numCache>
                <c:formatCode>General</c:formatCode>
                <c:ptCount val="1"/>
                <c:pt idx="0">
                  <c:v>88.78494397756258</c:v>
                </c:pt>
              </c:numCache>
            </c:numRef>
          </c:xVal>
          <c:yVal>
            <c:numRef>
              <c:numCache>
                <c:formatCode>General</c:formatCode>
                <c:ptCount val="1"/>
                <c:pt idx="0">
                  <c:v>103.59728266701289</c:v>
                </c:pt>
              </c:numCache>
            </c:numRef>
          </c:yVal>
          <c:bubbleSize>
            <c:numRef>
              <c:numCache>
                <c:formatCode>General</c:formatCode>
                <c:ptCount val="1"/>
                <c:pt idx="0">
                  <c:v>922.401</c:v>
                </c:pt>
              </c:numCache>
            </c:numRef>
          </c:bubbleSize>
          <c:bubble3D val="0"/>
        </c:ser>
        <c:ser>
          <c:idx val="5"/>
          <c:order val="5"/>
          <c:tx>
            <c:strRef>
              <c:strCache>
                <c:ptCount val="1"/>
                <c:pt idx="0">
                  <c:v>Foodservice and HoReCa</c:v>
                </c:pt>
              </c:strCache>
            </c:strRef>
          </c:tx>
          <c:spPr>
            <a:solidFill>
              <a:srgbClr val="808080"/>
            </a:solidFill>
          </c:spPr>
          <c:invertIfNegative val="0"/>
          <c:xVal>
            <c:numRef>
              <c:numCache>
                <c:formatCode>General</c:formatCode>
                <c:ptCount val="1"/>
                <c:pt idx="0">
                  <c:v>94.61054672055273</c:v>
                </c:pt>
              </c:numCache>
            </c:numRef>
          </c:xVal>
          <c:yVal>
            <c:numRef>
              <c:numCache>
                <c:formatCode>General</c:formatCode>
                <c:ptCount val="1"/>
                <c:pt idx="0">
                  <c:v>55.77836389710464</c:v>
                </c:pt>
              </c:numCache>
            </c:numRef>
          </c:yVal>
          <c:bubbleSize>
            <c:numRef>
              <c:numCache>
                <c:formatCode>General</c:formatCode>
                <c:ptCount val="1"/>
                <c:pt idx="0">
                  <c:v>516.38</c:v>
                </c:pt>
              </c:numCache>
            </c:numRef>
          </c:bubbleSize>
          <c:bubble3D val="0"/>
        </c:ser>
        <c:ser>
          <c:idx val="6"/>
          <c:order val="6"/>
          <c:tx>
            <c:strRef>
              <c:strCache>
                <c:ptCount val="1"/>
                <c:pt idx="0">
                  <c:v>Other Retail Channels</c:v>
                </c:pt>
              </c:strCache>
            </c:strRef>
          </c:tx>
          <c:spPr>
            <a:solidFill>
              <a:srgbClr val="0E72AE"/>
            </a:solidFill>
          </c:spPr>
          <c:invertIfNegative val="0"/>
          <c:xVal>
            <c:numRef>
              <c:numCache>
                <c:formatCode>General</c:formatCode>
                <c:ptCount val="1"/>
                <c:pt idx="0">
                  <c:v>98.19672059343708</c:v>
                </c:pt>
              </c:numCache>
            </c:numRef>
          </c:xVal>
          <c:yVal>
            <c:numRef>
              <c:numCache>
                <c:formatCode>General</c:formatCode>
                <c:ptCount val="1"/>
                <c:pt idx="0">
                  <c:v>36.64602404195871</c:v>
                </c:pt>
              </c:numCache>
            </c:numRef>
          </c:yVal>
          <c:bubbleSize>
            <c:numRef>
              <c:numCache>
                <c:formatCode>General</c:formatCode>
                <c:ptCount val="1"/>
                <c:pt idx="0">
                  <c:v>347.473</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275.753</c:v>
                </c:pt>
                <c:pt idx="2">
                  <c:v>325.111</c:v>
                </c:pt>
                <c:pt idx="3">
                  <c:v>382.526</c:v>
                </c:pt>
                <c:pt idx="4">
                  <c:v>449.282</c:v>
                </c:pt>
                <c:pt idx="5">
                  <c:v>526.841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275.753</c:v>
                </c:pt>
                <c:pt idx="1">
                  <c:v>49.358000000000004</c:v>
                </c:pt>
                <c:pt idx="2">
                  <c:v>57.41500000000002</c:v>
                </c:pt>
                <c:pt idx="3">
                  <c:v>66.75599999999997</c:v>
                </c:pt>
                <c:pt idx="4">
                  <c:v>77.55900000000003</c:v>
                </c:pt>
                <c:pt idx="5">
                  <c:v>90.08899999999994</c:v>
                </c:pt>
                <c:pt idx="6">
                  <c:v>616.93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849.861</c:v>
                </c:pt>
                <c:pt idx="2">
                  <c:v>983.488</c:v>
                </c:pt>
                <c:pt idx="3">
                  <c:v>1137.519</c:v>
                </c:pt>
                <c:pt idx="4">
                  <c:v>1315.05</c:v>
                </c:pt>
                <c:pt idx="5">
                  <c:v>1519.633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849.861</c:v>
                </c:pt>
                <c:pt idx="1">
                  <c:v>133.62700000000007</c:v>
                </c:pt>
                <c:pt idx="2">
                  <c:v>154.03099999999995</c:v>
                </c:pt>
                <c:pt idx="3">
                  <c:v>177.53099999999995</c:v>
                </c:pt>
                <c:pt idx="4">
                  <c:v>204.58300000000008</c:v>
                </c:pt>
                <c:pt idx="5">
                  <c:v>235.69000000000005</c:v>
                </c:pt>
                <c:pt idx="6">
                  <c:v>1755.323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655.641</c:v>
                </c:pt>
                <c:pt idx="2">
                  <c:v>761.744</c:v>
                </c:pt>
                <c:pt idx="3">
                  <c:v>884.268</c:v>
                </c:pt>
                <c:pt idx="4">
                  <c:v>1025.714</c:v>
                </c:pt>
                <c:pt idx="5">
                  <c:v>1188.966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655.641</c:v>
                </c:pt>
                <c:pt idx="1">
                  <c:v>106.10300000000007</c:v>
                </c:pt>
                <c:pt idx="2">
                  <c:v>122.524</c:v>
                </c:pt>
                <c:pt idx="3">
                  <c:v>141.4459999999999</c:v>
                </c:pt>
                <c:pt idx="4">
                  <c:v>163.25199999999995</c:v>
                </c:pt>
                <c:pt idx="5">
                  <c:v>188.38200000000006</c:v>
                </c:pt>
                <c:pt idx="6">
                  <c:v>1377.348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647.634</c:v>
                </c:pt>
                <c:pt idx="2">
                  <c:v>729.388</c:v>
                </c:pt>
                <c:pt idx="3">
                  <c:v>822.068</c:v>
                </c:pt>
                <c:pt idx="4">
                  <c:v>927.167</c:v>
                </c:pt>
                <c:pt idx="5">
                  <c:v>1046.383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647.634</c:v>
                </c:pt>
                <c:pt idx="1">
                  <c:v>81.75400000000002</c:v>
                </c:pt>
                <c:pt idx="2">
                  <c:v>92.67999999999995</c:v>
                </c:pt>
                <c:pt idx="3">
                  <c:v>105.09900000000005</c:v>
                </c:pt>
                <c:pt idx="4">
                  <c:v>119.21600000000001</c:v>
                </c:pt>
                <c:pt idx="5">
                  <c:v>135.26199999999994</c:v>
                </c:pt>
                <c:pt idx="6">
                  <c:v>1181.645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499.28</c:v>
                </c:pt>
                <c:pt idx="2">
                  <c:v>563.833</c:v>
                </c:pt>
                <c:pt idx="3">
                  <c:v>637.134</c:v>
                </c:pt>
                <c:pt idx="4">
                  <c:v>720.375</c:v>
                </c:pt>
                <c:pt idx="5">
                  <c:v>814.946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499.28</c:v>
                </c:pt>
                <c:pt idx="1">
                  <c:v>64.553</c:v>
                </c:pt>
                <c:pt idx="2">
                  <c:v>73.30100000000004</c:v>
                </c:pt>
                <c:pt idx="3">
                  <c:v>83.24099999999999</c:v>
                </c:pt>
                <c:pt idx="4">
                  <c:v>94.57100000000003</c:v>
                </c:pt>
                <c:pt idx="5">
                  <c:v>107.45499999999993</c:v>
                </c:pt>
                <c:pt idx="6">
                  <c:v>922.401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268.82</c:v>
                </c:pt>
                <c:pt idx="2">
                  <c:v>306.109</c:v>
                </c:pt>
                <c:pt idx="3">
                  <c:v>348.698</c:v>
                </c:pt>
                <c:pt idx="4">
                  <c:v>397.34</c:v>
                </c:pt>
                <c:pt idx="5">
                  <c:v>452.904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268.82</c:v>
                </c:pt>
                <c:pt idx="1">
                  <c:v>37.28899999999999</c:v>
                </c:pt>
                <c:pt idx="2">
                  <c:v>42.589</c:v>
                </c:pt>
                <c:pt idx="3">
                  <c:v>48.641999999999996</c:v>
                </c:pt>
                <c:pt idx="4">
                  <c:v>55.56400000000002</c:v>
                </c:pt>
                <c:pt idx="5">
                  <c:v>63.476</c:v>
                </c:pt>
                <c:pt idx="6">
                  <c:v>516.38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176.613</c:v>
                </c:pt>
                <c:pt idx="2">
                  <c:v>202.158</c:v>
                </c:pt>
                <c:pt idx="3">
                  <c:v>231.43</c:v>
                </c:pt>
                <c:pt idx="4">
                  <c:v>264.973</c:v>
                </c:pt>
                <c:pt idx="5">
                  <c:v>303.414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176.613</c:v>
                </c:pt>
                <c:pt idx="1">
                  <c:v>25.544999999999987</c:v>
                </c:pt>
                <c:pt idx="2">
                  <c:v>29.27200000000002</c:v>
                </c:pt>
                <c:pt idx="3">
                  <c:v>33.543000000000006</c:v>
                </c:pt>
                <c:pt idx="4">
                  <c:v>38.440999999999974</c:v>
                </c:pt>
                <c:pt idx="5">
                  <c:v>44.059000000000026</c:v>
                </c:pt>
                <c:pt idx="6">
                  <c:v>347.473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Supermarkets and Hypermarkets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24.607687848376848</c:v>
                </c:pt>
                <c:pt idx="1">
                  <c:v>25.191501546418337</c:v>
                </c:pt>
                <c:pt idx="2">
                  <c:v>26.13059918124302</c:v>
                </c:pt>
              </c:numCache>
            </c:numRef>
          </c:val>
        </c:ser>
        <c:ser>
          <c:idx val="1"/>
          <c:order val="1"/>
          <c:tx>
            <c:strRef>
              <c:strCache>
                <c:ptCount val="1"/>
                <c:pt idx="0">
                  <c:v>Convenience Stores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18.764730591059024</c:v>
                </c:pt>
                <c:pt idx="1">
                  <c:v>19.434450181141695</c:v>
                </c:pt>
                <c:pt idx="2">
                  <c:v>20.50387793077782</c:v>
                </c:pt>
              </c:numCache>
            </c:numRef>
          </c:val>
        </c:ser>
        <c:ser>
          <c:idx val="2"/>
          <c:order val="2"/>
          <c:tx>
            <c:strRef>
              <c:strCache>
                <c:ptCount val="1"/>
                <c:pt idx="0">
                  <c:v>Specialty Tea and Health Food Stores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20.196251202135606</c:v>
                </c:pt>
                <c:pt idx="1">
                  <c:v>19.197107424052984</c:v>
                </c:pt>
                <c:pt idx="2">
                  <c:v>17.590547078526235</c:v>
                </c:pt>
              </c:numCache>
            </c:numRef>
          </c:val>
        </c:ser>
        <c:ser>
          <c:idx val="3"/>
          <c:order val="3"/>
          <c:tx>
            <c:strRef>
              <c:strCache>
                <c:ptCount val="1"/>
                <c:pt idx="0">
                  <c:v>Online Retail</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15.457206956830557</c:v>
                </c:pt>
                <c:pt idx="1">
                  <c:v>14.799611809573268</c:v>
                </c:pt>
                <c:pt idx="2">
                  <c:v>13.731313732787493</c:v>
                </c:pt>
              </c:numCache>
            </c:numRef>
          </c:val>
        </c:ser>
        <c:ser>
          <c:idx val="4"/>
          <c:order val="4"/>
          <c:tx>
            <c:strRef>
              <c:strCache>
                <c:ptCount val="1"/>
                <c:pt idx="0">
                  <c:v>B2B / Institutional and Ingredient Sales</c:v>
                </c:pt>
              </c:strCache>
            </c:strRef>
          </c:tx>
          <c:spPr>
            <a:solidFill>
              <a:srgbClr val="A35313"/>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7.559297273866076</c:v>
                </c:pt>
                <c:pt idx="1">
                  <c:v>8.173845047518942</c:v>
                </c:pt>
                <c:pt idx="2">
                  <c:v>9.183922590249347</c:v>
                </c:pt>
              </c:numCache>
            </c:numRef>
          </c:val>
        </c:ser>
        <c:ser>
          <c:idx val="5"/>
          <c:order val="5"/>
          <c:tx>
            <c:strRef>
              <c:strCache>
                <c:ptCount val="1"/>
                <c:pt idx="0">
                  <c:v>Foodservice and HoReCa</c:v>
                </c:pt>
              </c:strCache>
            </c:strRef>
          </c:tx>
          <c:spPr>
            <a:solidFill>
              <a:srgbClr val="808080"/>
            </a:solidFill>
            <a:ln>
              <a:noFill/>
            </a:ln>
          </c:spPr>
          <c:dLbls>
            <c:dLbl>
              <c:idx val="0"/>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8.14068698365991</c:v>
                </c:pt>
                <c:pt idx="1">
                  <c:v>7.9683376995863755</c:v>
                </c:pt>
                <c:pt idx="2">
                  <c:v>7.687085969482693</c:v>
                </c:pt>
              </c:numCache>
            </c:numRef>
          </c:val>
        </c:ser>
        <c:ser>
          <c:idx val="6"/>
          <c:order val="6"/>
          <c:tx>
            <c:strRef>
              <c:strCache>
                <c:ptCount val="1"/>
                <c:pt idx="0">
                  <c:v>Other Retail Channels</c:v>
                </c:pt>
              </c:strCache>
            </c:strRef>
          </c:tx>
          <c:spPr>
            <a:solidFill>
              <a:srgbClr val="0E72A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5.274139144071989</c:v>
                </c:pt>
                <c:pt idx="1">
                  <c:v>5.235146291708387</c:v>
                </c:pt>
                <c:pt idx="2">
                  <c:v>5.172653516933382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Organic</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Matcha Powder</c:v>
                </c:pt>
                <c:pt idx="1">
                  <c:v>Matcha Tea</c:v>
                </c:pt>
              </c:strCache>
            </c:strRef>
          </c:cat>
          <c:val>
            <c:numRef>
              <c:numCache>
                <c:formatCode>General</c:formatCode>
                <c:ptCount val="2"/>
                <c:pt idx="0">
                  <c:v>68.69952755905511</c:v>
                </c:pt>
                <c:pt idx="1">
                  <c:v>67.32769390550447</c:v>
                </c:pt>
              </c:numCache>
            </c:numRef>
          </c:val>
        </c:ser>
        <c:ser>
          <c:idx val="1"/>
          <c:order val="1"/>
          <c:tx>
            <c:strRef>
              <c:strCache>
                <c:ptCount val="1"/>
                <c:pt idx="0">
                  <c:v>Conventional</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Matcha Powder</c:v>
                </c:pt>
                <c:pt idx="1">
                  <c:v>Matcha Tea</c:v>
                </c:pt>
              </c:strCache>
            </c:strRef>
          </c:cat>
          <c:val>
            <c:numRef>
              <c:numCache>
                <c:formatCode>General</c:formatCode>
                <c:ptCount val="2"/>
                <c:pt idx="0">
                  <c:v>31.300472440944883</c:v>
                </c:pt>
                <c:pt idx="1">
                  <c:v>32.67230609449554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Vanilla</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19.06937280154636</c:v>
                </c:pt>
                <c:pt idx="1">
                  <c:v>17.716031976076962</c:v>
                </c:pt>
                <c:pt idx="2">
                  <c:v>19.218650287172945</c:v>
                </c:pt>
                <c:pt idx="3">
                  <c:v>18.598936703319495</c:v>
                </c:pt>
                <c:pt idx="4">
                  <c:v>20.698616854649575</c:v>
                </c:pt>
                <c:pt idx="5">
                  <c:v>21.26123884508216</c:v>
                </c:pt>
              </c:numCache>
            </c:numRef>
          </c:val>
        </c:ser>
        <c:ser>
          <c:idx val="1"/>
          <c:order val="1"/>
          <c:tx>
            <c:strRef>
              <c:strCache>
                <c:ptCount val="1"/>
                <c:pt idx="0">
                  <c:v>Orange</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16.27951406448423</c:v>
                </c:pt>
                <c:pt idx="1">
                  <c:v>16.99832212721667</c:v>
                </c:pt>
                <c:pt idx="2">
                  <c:v>15.295947670708362</c:v>
                </c:pt>
                <c:pt idx="3">
                  <c:v>15.48242910875463</c:v>
                </c:pt>
                <c:pt idx="4">
                  <c:v>15.978187905558276</c:v>
                </c:pt>
                <c:pt idx="5">
                  <c:v>16.338955471167537</c:v>
                </c:pt>
              </c:numCache>
            </c:numRef>
          </c:val>
        </c:ser>
        <c:ser>
          <c:idx val="2"/>
          <c:order val="2"/>
          <c:tx>
            <c:strRef>
              <c:strCache>
                <c:ptCount val="1"/>
                <c:pt idx="0">
                  <c:v>Lemon</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17.85565782228066</c:v>
                </c:pt>
                <c:pt idx="1">
                  <c:v>15.917307384232867</c:v>
                </c:pt>
                <c:pt idx="2">
                  <c:v>17.200462667517552</c:v>
                </c:pt>
                <c:pt idx="3">
                  <c:v>15.008035205142534</c:v>
                </c:pt>
                <c:pt idx="4">
                  <c:v>15.088135115648853</c:v>
                </c:pt>
                <c:pt idx="5">
                  <c:v>15.088735779269378</c:v>
                </c:pt>
              </c:numCache>
            </c:numRef>
          </c:val>
        </c:ser>
        <c:ser>
          <c:idx val="3"/>
          <c:order val="3"/>
          <c:tx>
            <c:strRef>
              <c:strCache>
                <c:ptCount val="1"/>
                <c:pt idx="0">
                  <c:v>Unflavoured</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15.384399267275771</c:v>
                </c:pt>
                <c:pt idx="1">
                  <c:v>15.003705185292052</c:v>
                </c:pt>
                <c:pt idx="2">
                  <c:v>15.287970644543716</c:v>
                </c:pt>
                <c:pt idx="3">
                  <c:v>15.078192050042915</c:v>
                </c:pt>
                <c:pt idx="4">
                  <c:v>13.48670307540587</c:v>
                </c:pt>
                <c:pt idx="5">
                  <c:v>14.313248063255468</c:v>
                </c:pt>
              </c:numCache>
            </c:numRef>
          </c:val>
        </c:ser>
        <c:ser>
          <c:idx val="4"/>
          <c:order val="4"/>
          <c:tx>
            <c:strRef>
              <c:strCache>
                <c:ptCount val="1"/>
                <c:pt idx="0">
                  <c:v>Pumpkin Spice</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11.081892046795454</c:v>
                </c:pt>
                <c:pt idx="1">
                  <c:v>12.421036458835907</c:v>
                </c:pt>
                <c:pt idx="2">
                  <c:v>13.330940225483939</c:v>
                </c:pt>
                <c:pt idx="3">
                  <c:v>14.753558242277276</c:v>
                </c:pt>
                <c:pt idx="4">
                  <c:v>12.189911077593711</c:v>
                </c:pt>
                <c:pt idx="5">
                  <c:v>11.76442709289857</c:v>
                </c:pt>
              </c:numCache>
            </c:numRef>
          </c:val>
        </c:ser>
        <c:ser>
          <c:idx val="5"/>
          <c:order val="5"/>
          <c:tx>
            <c:strRef>
              <c:strCache>
                <c:ptCount val="1"/>
                <c:pt idx="0">
                  <c:v>Mocha</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10.057539080498522</c:v>
                </c:pt>
                <c:pt idx="1">
                  <c:v>11.286528395959241</c:v>
                </c:pt>
                <c:pt idx="2">
                  <c:v>10.477159115081898</c:v>
                </c:pt>
                <c:pt idx="3">
                  <c:v>11.042272667054508</c:v>
                </c:pt>
                <c:pt idx="4">
                  <c:v>12.165049267819704</c:v>
                </c:pt>
                <c:pt idx="5">
                  <c:v>10.972746356076629</c:v>
                </c:pt>
              </c:numCache>
            </c:numRef>
          </c:val>
        </c:ser>
        <c:ser>
          <c:idx val="6"/>
          <c:order val="6"/>
          <c:tx>
            <c:strRef>
              <c:strCache>
                <c:ptCount val="1"/>
                <c:pt idx="0">
                  <c:v>Other Flavours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5.139745794140453</c:v>
                </c:pt>
                <c:pt idx="1">
                  <c:v>5.456505996217057</c:v>
                </c:pt>
                <c:pt idx="2">
                  <c:v>4.66788981067858</c:v>
                </c:pt>
                <c:pt idx="3">
                  <c:v>5.378691442362523</c:v>
                </c:pt>
                <c:pt idx="4">
                  <c:v>5.1777205035345215</c:v>
                </c:pt>
                <c:pt idx="5">
                  <c:v>5.442237322543252</c:v>
                </c:pt>
              </c:numCache>
            </c:numRef>
          </c:val>
        </c:ser>
        <c:ser>
          <c:idx val="7"/>
          <c:order val="7"/>
          <c:tx>
            <c:strRef>
              <c:strCache>
                <c:ptCount val="1"/>
                <c:pt idx="0">
                  <c:v>Cinnamon</c:v>
                </c:pt>
              </c:strCache>
            </c:strRef>
          </c:tx>
          <c:spPr>
            <a:solidFill>
              <a:srgbClr val="A86F0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5.131879122978546</c:v>
                </c:pt>
                <c:pt idx="1">
                  <c:v>5.2005624761692415</c:v>
                </c:pt>
                <c:pt idx="2">
                  <c:v>4.520979578813019</c:v>
                </c:pt>
                <c:pt idx="3">
                  <c:v>4.657884581046133</c:v>
                </c:pt>
                <c:pt idx="4">
                  <c:v>5.215676199789504</c:v>
                </c:pt>
                <c:pt idx="5">
                  <c:v>4.818411069707004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Supermarkets and Hypermarkets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24.326830229105916</c:v>
                </c:pt>
                <c:pt idx="1">
                  <c:v>29.11170834850093</c:v>
                </c:pt>
                <c:pt idx="2">
                  <c:v>23.55134226953312</c:v>
                </c:pt>
                <c:pt idx="3">
                  <c:v>25.66692399375955</c:v>
                </c:pt>
                <c:pt idx="4">
                  <c:v>27.233795201081445</c:v>
                </c:pt>
                <c:pt idx="5">
                  <c:v>24.919713944556285</c:v>
                </c:pt>
                <c:pt idx="6">
                  <c:v>23.187255470899863</c:v>
                </c:pt>
                <c:pt idx="7">
                  <c:v>26.757676717407904</c:v>
                </c:pt>
                <c:pt idx="8">
                  <c:v>25.621602352731482</c:v>
                </c:pt>
              </c:numCache>
            </c:numRef>
          </c:val>
        </c:ser>
        <c:ser>
          <c:idx val="1"/>
          <c:order val="1"/>
          <c:tx>
            <c:strRef>
              <c:strCache>
                <c:ptCount val="1"/>
                <c:pt idx="0">
                  <c:v>Convenience Stores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20.449948836695377</c:v>
                </c:pt>
                <c:pt idx="1">
                  <c:v>18.806781656378522</c:v>
                </c:pt>
                <c:pt idx="2">
                  <c:v>21.823683790976318</c:v>
                </c:pt>
                <c:pt idx="3">
                  <c:v>19.11897232818572</c:v>
                </c:pt>
                <c:pt idx="4">
                  <c:v>18.358093950659008</c:v>
                </c:pt>
                <c:pt idx="5">
                  <c:v>17.884931223408614</c:v>
                </c:pt>
                <c:pt idx="6">
                  <c:v>20.50787173103203</c:v>
                </c:pt>
                <c:pt idx="7">
                  <c:v>17.938236757828676</c:v>
                </c:pt>
                <c:pt idx="8">
                  <c:v>20.511763657428034</c:v>
                </c:pt>
              </c:numCache>
            </c:numRef>
          </c:val>
        </c:ser>
        <c:ser>
          <c:idx val="2"/>
          <c:order val="2"/>
          <c:tx>
            <c:strRef>
              <c:strCache>
                <c:ptCount val="1"/>
                <c:pt idx="0">
                  <c:v>Specialty Tea and Health Food Stores</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20.722979930212933</c:v>
                </c:pt>
                <c:pt idx="1">
                  <c:v>17.339075073772587</c:v>
                </c:pt>
                <c:pt idx="2">
                  <c:v>18.02252854392269</c:v>
                </c:pt>
                <c:pt idx="3">
                  <c:v>20.05342498053897</c:v>
                </c:pt>
                <c:pt idx="4">
                  <c:v>18.193984454207506</c:v>
                </c:pt>
                <c:pt idx="5">
                  <c:v>21.137971316863734</c:v>
                </c:pt>
                <c:pt idx="6">
                  <c:v>18.703083172653923</c:v>
                </c:pt>
                <c:pt idx="7">
                  <c:v>17.987812985552615</c:v>
                </c:pt>
                <c:pt idx="8">
                  <c:v>16.70194278584796</c:v>
                </c:pt>
              </c:numCache>
            </c:numRef>
          </c:val>
        </c:ser>
        <c:ser>
          <c:idx val="3"/>
          <c:order val="3"/>
          <c:tx>
            <c:strRef>
              <c:strCache>
                <c:ptCount val="1"/>
                <c:pt idx="0">
                  <c:v>Online Retail</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13.484693444531452</c:v>
                </c:pt>
                <c:pt idx="1">
                  <c:v>13.508322167403747</c:v>
                </c:pt>
                <c:pt idx="2">
                  <c:v>15.405133613764857</c:v>
                </c:pt>
                <c:pt idx="3">
                  <c:v>14.356590749790858</c:v>
                </c:pt>
                <c:pt idx="4">
                  <c:v>15.418181818181816</c:v>
                </c:pt>
                <c:pt idx="5">
                  <c:v>15.389920813163036</c:v>
                </c:pt>
                <c:pt idx="6">
                  <c:v>15.095752447630991</c:v>
                </c:pt>
                <c:pt idx="7">
                  <c:v>15.157409271704323</c:v>
                </c:pt>
                <c:pt idx="8">
                  <c:v>15.673736743605737</c:v>
                </c:pt>
              </c:numCache>
            </c:numRef>
          </c:val>
        </c:ser>
        <c:ser>
          <c:idx val="4"/>
          <c:order val="4"/>
          <c:tx>
            <c:strRef>
              <c:strCache>
                <c:ptCount val="1"/>
                <c:pt idx="0">
                  <c:v>Foodservice and HoReCa</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7.201775582853327</c:v>
                </c:pt>
                <c:pt idx="1">
                  <c:v>8.186627218018325</c:v>
                </c:pt>
                <c:pt idx="2">
                  <c:v>8.030009443102243</c:v>
                </c:pt>
                <c:pt idx="3">
                  <c:v>8.516342423762813</c:v>
                </c:pt>
                <c:pt idx="4">
                  <c:v>7.036701588374451</c:v>
                </c:pt>
                <c:pt idx="5">
                  <c:v>7.711556450257133</c:v>
                </c:pt>
                <c:pt idx="6">
                  <c:v>8.459349669593214</c:v>
                </c:pt>
                <c:pt idx="7">
                  <c:v>8.867306662209238</c:v>
                </c:pt>
                <c:pt idx="8">
                  <c:v>7.84243828535781</c:v>
                </c:pt>
              </c:numCache>
            </c:numRef>
          </c:val>
        </c:ser>
        <c:ser>
          <c:idx val="5"/>
          <c:order val="5"/>
          <c:tx>
            <c:strRef>
              <c:strCache>
                <c:ptCount val="1"/>
                <c:pt idx="0">
                  <c:v>B2B / Institutional and Ingredient Sales</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8.739557161181224</c:v>
                </c:pt>
                <c:pt idx="1">
                  <c:v>7.780781176179005</c:v>
                </c:pt>
                <c:pt idx="2">
                  <c:v>7.487337658355919</c:v>
                </c:pt>
                <c:pt idx="3">
                  <c:v>7.360954543545882</c:v>
                </c:pt>
                <c:pt idx="4">
                  <c:v>8.357147685028727</c:v>
                </c:pt>
                <c:pt idx="5">
                  <c:v>8.095851851213236</c:v>
                </c:pt>
                <c:pt idx="6">
                  <c:v>8.676688069787902</c:v>
                </c:pt>
                <c:pt idx="7">
                  <c:v>8.014253640338714</c:v>
                </c:pt>
                <c:pt idx="8">
                  <c:v>7.696506550218339</c:v>
                </c:pt>
              </c:numCache>
            </c:numRef>
          </c:val>
        </c:ser>
        <c:ser>
          <c:idx val="6"/>
          <c:order val="6"/>
          <c:tx>
            <c:strRef>
              <c:strCache>
                <c:ptCount val="1"/>
                <c:pt idx="0">
                  <c:v>Other Retail Channels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5.074214815419772</c:v>
                </c:pt>
                <c:pt idx="1">
                  <c:v>5.266704359746888</c:v>
                </c:pt>
                <c:pt idx="2">
                  <c:v>5.679964680344858</c:v>
                </c:pt>
                <c:pt idx="3">
                  <c:v>4.926790980416224</c:v>
                </c:pt>
                <c:pt idx="4">
                  <c:v>5.40209530246705</c:v>
                </c:pt>
                <c:pt idx="5">
                  <c:v>4.860054400537971</c:v>
                </c:pt>
                <c:pt idx="6">
                  <c:v>5.369999438402067</c:v>
                </c:pt>
                <c:pt idx="7">
                  <c:v>5.277303964958535</c:v>
                </c:pt>
                <c:pt idx="8">
                  <c:v>5.952009624810621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2.3712791258185373</c:v>
                </c:pt>
                <c:pt idx="1">
                  <c:v>4.672506003843879</c:v>
                </c:pt>
                <c:pt idx="2">
                  <c:v>3.899739305564487</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6.167707925073921"/>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176578.508</c:v>
                </c:pt>
                <c:pt idx="2">
                  <c:v>0.0</c:v>
                </c:pt>
                <c:pt idx="3">
                  <c:v>198531.074</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176578.508</c:v>
                </c:pt>
                <c:pt idx="1">
                  <c:v>21952.56599999999</c:v>
                </c:pt>
                <c:pt idx="2">
                  <c:v>198531.074</c:v>
                </c:pt>
                <c:pt idx="3">
                  <c:v>114909.13700000002</c:v>
                </c:pt>
                <c:pt idx="4">
                  <c:v>313440.211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03E58"/>
            </a:solidFill>
            <a:ln>
              <a:noFill/>
            </a:ln>
          </c:spPr>
          <c:dLbls>
            <c:dLbl>
              <c:idx val="0"/>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quot;;&quot;M&quot;;&quot;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3"/>
                <c:pt idx="0">
                  <c:v>2021–2026</c:v>
                </c:pt>
                <c:pt idx="1">
                  <c:v>2026–2036</c:v>
                </c:pt>
                <c:pt idx="2">
                  <c:v>2021–2036</c:v>
                </c:pt>
              </c:strCache>
            </c:strRef>
          </c:cat>
          <c:val>
            <c:numRef>
              <c:numCache>
                <c:formatCode>General</c:formatCode>
                <c:ptCount val="3"/>
                <c:pt idx="0">
                  <c:v>3.835157729850791</c:v>
                </c:pt>
                <c:pt idx="1">
                  <c:v>6.17268334741099</c:v>
                </c:pt>
                <c:pt idx="2">
                  <c:v>5.387718982506828</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8.147942018582507"/>
          <c:min val="0.0"/>
        </c:scaling>
        <c:delete val="0"/>
        <c:axPos val="l"/>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5"/>
                <c:pt idx="0">
                  <c:v>2021</c:v>
                </c:pt>
                <c:pt idx="1">
                  <c:v>2021–2026</c:v>
                </c:pt>
                <c:pt idx="2">
                  <c:v>2026</c:v>
                </c:pt>
                <c:pt idx="3">
                  <c:v>2026–2036</c:v>
                </c:pt>
                <c:pt idx="4">
                  <c:v>2036</c:v>
                </c:pt>
              </c:strCache>
            </c:strRef>
          </c:cat>
          <c:val>
            <c:numRef>
              <c:numCache>
                <c:formatCode>General</c:formatCode>
                <c:ptCount val="5"/>
                <c:pt idx="0">
                  <c:v>0.0</c:v>
                </c:pt>
                <c:pt idx="1">
                  <c:v>922.328</c:v>
                </c:pt>
                <c:pt idx="2">
                  <c:v>0.0</c:v>
                </c:pt>
                <c:pt idx="3">
                  <c:v>1113.288</c:v>
                </c:pt>
                <c:pt idx="4">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E72AE"/>
              </a:solidFill>
            </c:spPr>
          </c:dPt>
          <c:dPt>
            <c:idx val="3"/>
            <c:spPr>
              <a:solidFill>
                <a:srgbClr val="008189"/>
              </a:solidFill>
            </c:spPr>
          </c:dPt>
          <c:dPt>
            <c:idx val="4"/>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5"/>
                <c:pt idx="0">
                  <c:v>2021</c:v>
                </c:pt>
                <c:pt idx="1">
                  <c:v>2021–2026</c:v>
                </c:pt>
                <c:pt idx="2">
                  <c:v>2026</c:v>
                </c:pt>
                <c:pt idx="3">
                  <c:v>2026–2036</c:v>
                </c:pt>
                <c:pt idx="4">
                  <c:v>2036</c:v>
                </c:pt>
              </c:strCache>
            </c:strRef>
          </c:cat>
          <c:val>
            <c:numRef>
              <c:numCache>
                <c:formatCode>General</c:formatCode>
                <c:ptCount val="5"/>
                <c:pt idx="0">
                  <c:v>922.328</c:v>
                </c:pt>
                <c:pt idx="1">
                  <c:v>190.96000000000004</c:v>
                </c:pt>
                <c:pt idx="2">
                  <c:v>1113.288</c:v>
                </c:pt>
                <c:pt idx="3">
                  <c:v>913.1599999999999</c:v>
                </c:pt>
                <c:pt idx="4">
                  <c:v>2026.4479999999999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922.328</c:v>
                </c:pt>
                <c:pt idx="1">
                  <c:v>952.2660000000001</c:v>
                </c:pt>
                <c:pt idx="2">
                  <c:v>983.184</c:v>
                </c:pt>
                <c:pt idx="3">
                  <c:v>1015.118</c:v>
                </c:pt>
                <c:pt idx="4">
                  <c:v>1048.099</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5"/>
                <c:pt idx="0">
                  <c:v>2021</c:v>
                </c:pt>
                <c:pt idx="1">
                  <c:v>2022</c:v>
                </c:pt>
                <c:pt idx="2">
                  <c:v>2023</c:v>
                </c:pt>
                <c:pt idx="3">
                  <c:v>2024</c:v>
                </c:pt>
                <c:pt idx="4">
                  <c:v>2025</c:v>
                </c:pt>
              </c:strCache>
            </c:strRef>
          </c:cat>
          <c:val>
            <c:numRef>
              <c:numCache>
                <c:formatCode>General</c:formatCode>
                <c:ptCount val="5"/>
                <c:pt idx="0">
                  <c:v>176578.508</c:v>
                </c:pt>
                <c:pt idx="1">
                  <c:v>179741.25699999998</c:v>
                </c:pt>
                <c:pt idx="2">
                  <c:v>182961.76899999997</c:v>
                </c:pt>
                <c:pt idx="3">
                  <c:v>186241.124</c:v>
                </c:pt>
                <c:pt idx="4">
                  <c:v>189580.419</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1237"/>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269063"/>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quot;;&quot;MMMMMMM&quot;;&quot;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quot;;&quot;MMMMMMM&quot;;&quot;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quot;;&quot;MMMMMMM&quot;;&quot;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quot;;&quot;MMMMMMM&quot;;&quot;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quot;;&quot;MMMMMMM&quot;;&quot;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quot;;&quot;MMMMMMM&quot;;&quot;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quot;;&quot;MMMMMMM&quot;;&quot;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quot;;&quot;MMMMMMM&quot;;&quot;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1113.288</c:v>
                </c:pt>
                <c:pt idx="1">
                  <c:v>1182.5</c:v>
                </c:pt>
                <c:pt idx="2">
                  <c:v>1255.9009999999998</c:v>
                </c:pt>
                <c:pt idx="3">
                  <c:v>1333.734</c:v>
                </c:pt>
                <c:pt idx="4">
                  <c:v>1416.259</c:v>
                </c:pt>
                <c:pt idx="5">
                  <c:v>1503.752</c:v>
                </c:pt>
                <c:pt idx="6">
                  <c:v>1596.5030000000002</c:v>
                </c:pt>
                <c:pt idx="7">
                  <c:v>1694.815</c:v>
                </c:pt>
                <c:pt idx="8">
                  <c:v>1799.011</c:v>
                </c:pt>
                <c:pt idx="9">
                  <c:v>1909.435</c:v>
                </c:pt>
                <c:pt idx="10">
                  <c:v>2026.4479999999999</c:v>
                </c:pt>
              </c:numCache>
            </c:numRef>
          </c:val>
        </c:ser>
        <c:gapWidth val="50"/>
        <c:axId val="-2068027336"/>
        <c:axId val="-2113994440"/>
      </c:barChart>
      <c:barChart>
        <c:barDir val="col"/>
        <c:grouping val="clustered"/>
        <c:varyColors val="0"/>
        <c:ser>
          <c:idx val="1"/>
          <c:order val="1"/>
          <c:tx>
            <c:strRef>
              <c:strCache>
                <c:ptCount val="1"/>
                <c:pt idx="0">
                  <c:v>Volume (MT)</c:v>
                </c:pt>
              </c:strCache>
            </c:strRef>
          </c:tx>
          <c:spPr>
            <a:solidFill>
              <a:srgbClr val="C55A11"/>
            </a:solidFill>
            <a:ln>
              <a:noFill/>
            </a:ln>
          </c:spPr>
          <c:dLbls>
            <c:dLbl>
              <c:idx val="0"/>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198531.074</c:v>
                </c:pt>
                <c:pt idx="1">
                  <c:v>207898.393</c:v>
                </c:pt>
                <c:pt idx="2">
                  <c:v>217686.479</c:v>
                </c:pt>
                <c:pt idx="3">
                  <c:v>227913.561</c:v>
                </c:pt>
                <c:pt idx="4">
                  <c:v>238597.694</c:v>
                </c:pt>
                <c:pt idx="5">
                  <c:v>249758.634</c:v>
                </c:pt>
                <c:pt idx="6">
                  <c:v>261416.316</c:v>
                </c:pt>
                <c:pt idx="7">
                  <c:v>273591.224</c:v>
                </c:pt>
                <c:pt idx="8">
                  <c:v>286305.03599999996</c:v>
                </c:pt>
                <c:pt idx="9">
                  <c:v>299580.194</c:v>
                </c:pt>
                <c:pt idx="10">
                  <c:v>313440.211</c:v>
                </c:pt>
              </c:numCache>
            </c:numRef>
          </c:val>
        </c:ser>
        <c:gapWidth val="219"/>
        <c:axId val="90210001"/>
        <c:axId val="90210002"/>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max val="2391"/>
          <c:min val="0"/>
        </c:scaling>
        <c:delete val="0"/>
        <c:axPos val="l"/>
        <c:numFmt formatCode="#,##0" sourceLinked="0"/>
        <c:majorTickMark val="none"/>
        <c:minorTickMark val="none"/>
        <c:tickLblPos val="none"/>
        <c:spPr>
          <a:ln>
            <a:noFill/>
          </a:ln>
        </c:spPr>
        <c:txPr>
          <a:bodyPr/>
          <a:lstStyle/>
          <a:p>
            <a:pPr>
              <a:defRPr sz="1100"/>
            </a:pPr>
          </a:p>
        </c:txPr>
        <c:crossAx val="-2068027336"/>
        <c:crosses val="autoZero"/>
      </c:valAx>
      <c:catAx>
        <c:axId val="90210001"/>
        <c:scaling>
          <c:orientation val="minMax"/>
        </c:scaling>
        <c:delete val="1"/>
        <c:axPos val="b"/>
        <c:crossAx val="90210002"/>
        <c:crosses val="autoZero"/>
      </c:catAx>
      <c:valAx>
        <c:axId val="90210002"/>
        <c:scaling>
          <c:orientation val="minMax"/>
          <c:max val="484569"/>
          <c:min val="0"/>
        </c:scaling>
        <c:delete val="0"/>
        <c:axPos val="r"/>
        <c:numFmt formatCode="#,##0" sourceLinked="0"/>
        <c:majorTickMark val="none"/>
        <c:minorTickMark val="none"/>
        <c:tickLblPos val="none"/>
        <c:spPr>
          <a:ln>
            <a:noFill/>
          </a:ln>
        </c:spPr>
        <c:crossAx val="90210001"/>
        <c:crosses val="max"/>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U.S.</c:v>
                </c:pt>
                <c:pt idx="1">
                  <c:v>Canada</c:v>
                </c:pt>
              </c:strCache>
            </c:strRef>
          </c:cat>
          <c:val>
            <c:numRef>
              <c:numCache>
                <c:formatCode>General</c:formatCode>
                <c:ptCount val="2"/>
                <c:pt idx="0">
                  <c:v>96.19358078977497</c:v>
                </c:pt>
                <c:pt idx="1">
                  <c:v>108.18580317673874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Index</c:v>
                </c:pt>
              </c:strCache>
            </c:strRef>
          </c:tx>
          <c:spPr>
            <a:solidFill>
              <a:srgbClr val="0E72AE"/>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34.416093565202154</c:v>
                </c:pt>
                <c:pt idx="1">
                  <c:v>65.58390643479785</c:v>
                </c:pt>
              </c:numCache>
            </c:numRef>
          </c:val>
        </c:ser>
        <c:dLbls>
          <c:numFmt formatCode="0.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layout>
                <c:manualLayout>
                  <c:x val="0.0350"/>
                  <c:y val="0.0000"/>
                </c:manualLayout>
              </c:layout>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MM&quot;;&quot;MMMMMMM&quot;;&quot;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Matcha Powder</c:v>
                </c:pt>
                <c:pt idx="1">
                  <c:v>Matcha Tea</c:v>
                </c:pt>
              </c:strCache>
            </c:strRef>
          </c:cat>
          <c:val>
            <c:numRef>
              <c:numCache>
                <c:formatCode>General</c:formatCode>
                <c:ptCount val="2"/>
                <c:pt idx="0">
                  <c:v>233.841</c:v>
                </c:pt>
                <c:pt idx="1">
                  <c:v>1792.607</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96.xml><?xml version="1.0" encoding="utf-8"?>
<c:chartSpace xmlns:c="http://schemas.openxmlformats.org/drawingml/2006/chart" xmlns:a="http://schemas.openxmlformats.org/drawingml/2006/main" xmlns:r="http://schemas.openxmlformats.org/officeDocument/2006/relationships">
  <c:date1904 val="0"/>
  <c:chart>
    <c:autoTitleDeleted val="1"/>
    <c:plotArea>
      <c:lineChart>
        <c:grouping val="standard"/>
        <c:varyColors val="0"/>
        <c:ser>
          <c:idx val="0"/>
          <c:order val="0"/>
          <c:tx>
            <c:strRef>
              <c:strCache>
                <c:ptCount val="1"/>
                <c:pt idx="0">
                  <c:v>Optimistic Scenario</c:v>
                </c:pt>
              </c:strCache>
            </c:strRef>
          </c:tx>
          <c:spPr>
            <a:ln w="28575">
              <a:solidFill>
                <a:srgbClr val="2E5F8A"/>
              </a:solidFill>
            </a:ln>
          </c:spPr>
          <c:marker>
            <c:symbol val="circle"/>
            <c:size val="6"/>
            <c:spPr>
              <a:solidFill>
                <a:srgbClr val="2E5F8A"/>
              </a:solidFill>
              <a:ln>
                <a:solidFill>
                  <a:srgbClr val="2E5F8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0.07938843559914907</c:v>
                </c:pt>
                <c:pt idx="1">
                  <c:v>0.08067843559914907</c:v>
                </c:pt>
                <c:pt idx="2">
                  <c:v>0.08147843559914907</c:v>
                </c:pt>
                <c:pt idx="3">
                  <c:v>0.08098843559914906</c:v>
                </c:pt>
                <c:pt idx="4">
                  <c:v>0.07935843559914907</c:v>
                </c:pt>
                <c:pt idx="5">
                  <c:v>0.07727843559914907</c:v>
                </c:pt>
                <c:pt idx="6">
                  <c:v>0.07576843559914906</c:v>
                </c:pt>
                <c:pt idx="7">
                  <c:v>0.07451843559914907</c:v>
                </c:pt>
                <c:pt idx="8">
                  <c:v>0.07393843559914906</c:v>
                </c:pt>
                <c:pt idx="9">
                  <c:v>0.07331843559914906</c:v>
                </c:pt>
                <c:pt idx="10">
                  <c:v>0.07266843559914907</c:v>
                </c:pt>
              </c:numCache>
            </c:numRef>
          </c:val>
          <c:smooth val="0"/>
        </c:ser>
        <c:ser>
          <c:idx val="1"/>
          <c:order val="1"/>
          <c:tx>
            <c:strRef>
              <c:strCache>
                <c:ptCount val="1"/>
                <c:pt idx="0">
                  <c:v>Likely Scenario</c:v>
                </c:pt>
              </c:strCache>
            </c:strRef>
          </c:tx>
          <c:spPr>
            <a:ln w="28575">
              <a:solidFill>
                <a:srgbClr val="8B1A1A"/>
              </a:solidFill>
            </a:ln>
          </c:spPr>
          <c:marker>
            <c:symbol val="circle"/>
            <c:size val="6"/>
            <c:spPr>
              <a:solidFill>
                <a:srgbClr val="8B1A1A"/>
              </a:solidFill>
              <a:ln>
                <a:solidFill>
                  <a:srgbClr val="8B1A1A"/>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0.06625535580073351</c:v>
                </c:pt>
                <c:pt idx="1">
                  <c:v>0.06392535580073351</c:v>
                </c:pt>
                <c:pt idx="2">
                  <c:v>0.06192535580073351</c:v>
                </c:pt>
                <c:pt idx="3">
                  <c:v>0.059585355800733514</c:v>
                </c:pt>
                <c:pt idx="4">
                  <c:v>0.05892535580073351</c:v>
                </c:pt>
                <c:pt idx="5">
                  <c:v>0.05892535580073351</c:v>
                </c:pt>
                <c:pt idx="6">
                  <c:v>0.06125535580073351</c:v>
                </c:pt>
                <c:pt idx="7">
                  <c:v>0.06292535580073351</c:v>
                </c:pt>
                <c:pt idx="8">
                  <c:v>0.06292535580073351</c:v>
                </c:pt>
                <c:pt idx="9">
                  <c:v>0.061965355800733514</c:v>
                </c:pt>
                <c:pt idx="10">
                  <c:v>0.06087535580073351</c:v>
                </c:pt>
              </c:numCache>
            </c:numRef>
          </c:val>
          <c:smooth val="0"/>
        </c:ser>
        <c:ser>
          <c:idx val="2"/>
          <c:order val="2"/>
          <c:tx>
            <c:strRef>
              <c:strCache>
                <c:ptCount val="1"/>
                <c:pt idx="0">
                  <c:v>Conservative Scenario</c:v>
                </c:pt>
              </c:strCache>
            </c:strRef>
          </c:tx>
          <c:spPr>
            <a:ln w="28575">
              <a:solidFill>
                <a:srgbClr val="A08000"/>
              </a:solidFill>
            </a:ln>
          </c:spPr>
          <c:marker>
            <c:symbol val="circle"/>
            <c:size val="6"/>
            <c:spPr>
              <a:solidFill>
                <a:srgbClr val="A08000"/>
              </a:solidFill>
              <a:ln>
                <a:solidFill>
                  <a:srgbClr val="A08000"/>
                </a:solidFill>
              </a:ln>
            </c:spPr>
          </c:marker>
          <c:cat>
            <c:strRef>
              <c:strCache>
                <c:ptCount val="11"/>
                <c:pt idx="0">
                  <c:v>2026</c:v>
                </c:pt>
                <c:pt idx="1">
                  <c:v>2027</c:v>
                </c:pt>
                <c:pt idx="2">
                  <c:v>2028</c:v>
                </c:pt>
                <c:pt idx="3">
                  <c:v>2029</c:v>
                </c:pt>
                <c:pt idx="4">
                  <c:v>2030</c:v>
                </c:pt>
                <c:pt idx="5">
                  <c:v>2031</c:v>
                </c:pt>
                <c:pt idx="6">
                  <c:v>2032</c:v>
                </c:pt>
                <c:pt idx="7">
                  <c:v>2033</c:v>
                </c:pt>
                <c:pt idx="8">
                  <c:v>2034</c:v>
                </c:pt>
                <c:pt idx="9">
                  <c:v>2035</c:v>
                </c:pt>
                <c:pt idx="10">
                  <c:v>2036</c:v>
                </c:pt>
              </c:strCache>
            </c:strRef>
          </c:cat>
          <c:val>
            <c:numRef>
              <c:numCache>
                <c:formatCode>General</c:formatCode>
                <c:ptCount val="11"/>
                <c:pt idx="0">
                  <c:v>0.039390758759884355</c:v>
                </c:pt>
                <c:pt idx="1">
                  <c:v>0.04123040388331377</c:v>
                </c:pt>
                <c:pt idx="2">
                  <c:v>0.04240866601674892</c:v>
                </c:pt>
                <c:pt idx="3">
                  <c:v>0.04423719545967423</c:v>
                </c:pt>
                <c:pt idx="4">
                  <c:v>0.04504864013647391</c:v>
                </c:pt>
                <c:pt idx="5">
                  <c:v>0.04647144724099937</c:v>
                </c:pt>
                <c:pt idx="6">
                  <c:v>0.04840001780846163</c:v>
                </c:pt>
                <c:pt idx="7">
                  <c:v>0.049200346804757204</c:v>
                </c:pt>
                <c:pt idx="8">
                  <c:v>0.049933981718028146</c:v>
                </c:pt>
                <c:pt idx="9">
                  <c:v>0.05080656263760041</c:v>
                </c:pt>
                <c:pt idx="10">
                  <c:v>0.05255728231699698</c:v>
                </c:pt>
              </c:numCache>
            </c:numRef>
          </c:val>
          <c:smooth val="0"/>
        </c:ser>
        <c:marker val="1"/>
        <c:smooth val="0"/>
        <c:axId val="2118791784"/>
        <c:axId val="2140495176"/>
      </c:lineChart>
      <c:catAx>
        <c:axId val="2118791784"/>
        <c:scaling>
          <c:orientation val="minMax"/>
        </c:scaling>
        <c:delete val="0"/>
        <c:axPos val="b"/>
        <c:majorTickMark val="out"/>
        <c:minorTickMark val="none"/>
        <c:tickLblPos val="nextTo"/>
        <c:spPr>
          <a:ln>
            <a:solidFill>
              <a:srgbClr val="C6D5E1"/>
            </a:solidFill>
          </a:ln>
        </c:spPr>
        <c:txPr>
          <a:bodyPr/>
          <a:lstStyle/>
          <a:p>
            <a:pPr>
              <a:defRPr sz="1100"/>
            </a:pPr>
          </a:p>
        </c:txPr>
        <c:crossAx val="2140495176"/>
        <c:crosses val="autoZero"/>
        <c:auto val="1"/>
        <c:lblAlgn val="ctr"/>
        <c:lblOffset val="100"/>
        <c:noMultiLvlLbl val="0"/>
        <c:tickLblSkip val="1"/>
        <c:tickMarkSkip val="1"/>
      </c:catAx>
      <c:valAx>
        <c:axId val="2140495176"/>
        <c:scaling>
          <c:min val="0.0"/>
        </c:scaling>
        <c:delete val="0"/>
        <c:axPos val="l"/>
        <c:numFmt formatCode="0.00%" sourceLinked="0"/>
        <c:majorTickMark val="out"/>
        <c:minorTickMark val="none"/>
        <c:tickLblPos val="nextTo"/>
        <c:spPr>
          <a:ln>
            <a:solidFill>
              <a:srgbClr val="C6D5E1"/>
            </a:solidFill>
          </a:ln>
        </c:spPr>
        <c:txPr>
          <a:bodyPr/>
          <a:lstStyle/>
          <a:p>
            <a:pPr>
              <a:defRPr sz="1100"/>
            </a:pPr>
          </a:p>
        </c:txPr>
        <c:crossAx val="2118791784"/>
        <c:crosses val="autoZero"/>
      </c:valAx>
    </c:plotArea>
    <c:legend>
      <c:legendPos val="b"/>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70.0230554336295</c:v>
                </c:pt>
                <c:pt idx="1">
                  <c:v>68.88583322195377</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29.9769445663705</c:v>
                </c:pt>
                <c:pt idx="1">
                  <c:v>31.114166778046226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U.S.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68.93580097872248</c:v>
                </c:pt>
                <c:pt idx="1">
                  <c:v>67.42536694748644</c:v>
                </c:pt>
              </c:numCache>
            </c:numRef>
          </c:val>
        </c:ser>
        <c:ser>
          <c:idx val="1"/>
          <c:order val="1"/>
          <c:tx>
            <c:strRef>
              <c:strCache>
                <c:ptCount val="1"/>
                <c:pt idx="0">
                  <c:v>Canada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2026</c:v>
                </c:pt>
                <c:pt idx="1">
                  <c:v>2036</c:v>
                </c:pt>
              </c:strCache>
            </c:strRef>
          </c:cat>
          <c:val>
            <c:numRef>
              <c:numCache>
                <c:formatCode>General</c:formatCode>
                <c:ptCount val="2"/>
                <c:pt idx="0">
                  <c:v>31.06419902127751</c:v>
                </c:pt>
                <c:pt idx="1">
                  <c:v>32.57463305251356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MMMM&quot;;&quot;MMMMMMMMM&quot;;&quot;MM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M&quot;;&quot;MMMMMMMMM&quot;;&quot;MMMM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M&quot;;&quot;MMMMMMMMM&quot;;&quot;MMMM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M&quot;;&quot;MMMMMMMMM&quot;;&quot;MMMM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M&quot;;&quot;MMMMMMMMM&quot;;&quot;MMMM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M&quot;;&quot;MMMMMMMMM&quot;;&quot;MMMM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M&quot;;&quot;MMMMMMMMM&quot;;&quot;MMMM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M&quot;;&quot;MMMMMMMMM&quot;;&quot;MMMM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M&quot;;&quot;MMMMMMMMM&quot;;&quot;MMMM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M&quot;;&quot;MMMMMMMMM&quot;;&quot;MMMM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M&quot;;&quot;MMMMMMMMM&quot;;&quot;MM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M&quot;;&quot;MMMMMMMMM&quot;;&quot;MM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M&quot;;&quot;MMMMMMMMM&quot;;&quot;MM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M&quot;;&quot;MMMMMMMMM&quot;;&quot;MM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M&quot;;&quot;MMMMMMMMM&quot;;&quot;MM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M&quot;;&quot;MMMMMMMMM&quot;;&quot;MM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124643.689</c:v>
                </c:pt>
                <c:pt idx="1">
                  <c:v>126673.933</c:v>
                </c:pt>
                <c:pt idx="2">
                  <c:v>128737.246</c:v>
                </c:pt>
                <c:pt idx="3">
                  <c:v>130834.168</c:v>
                </c:pt>
                <c:pt idx="4">
                  <c:v>132965.245</c:v>
                </c:pt>
                <c:pt idx="5">
                  <c:v>139017.524</c:v>
                </c:pt>
                <c:pt idx="6">
                  <c:v>145342.611</c:v>
                </c:pt>
                <c:pt idx="7">
                  <c:v>151939.755</c:v>
                </c:pt>
                <c:pt idx="8">
                  <c:v>158820.165</c:v>
                </c:pt>
                <c:pt idx="9">
                  <c:v>165994.842</c:v>
                </c:pt>
                <c:pt idx="10">
                  <c:v>173475.878</c:v>
                </c:pt>
                <c:pt idx="11">
                  <c:v>181275.394</c:v>
                </c:pt>
                <c:pt idx="12">
                  <c:v>189405.794</c:v>
                </c:pt>
                <c:pt idx="13">
                  <c:v>197880.208</c:v>
                </c:pt>
                <c:pt idx="14">
                  <c:v>206712.185</c:v>
                </c:pt>
                <c:pt idx="15">
                  <c:v>215915.901</c:v>
                </c:pt>
              </c:numCache>
            </c:numRef>
          </c:val>
        </c:ser>
        <c:ser>
          <c:idx val="1"/>
          <c:order val="1"/>
          <c:tx>
            <c:strRef>
              <c:strCache>
                <c:ptCount val="1"/>
                <c:pt idx="0">
                  <c:v>Canada</c:v>
                </c:pt>
              </c:strCache>
            </c:strRef>
          </c:tx>
          <c:spPr>
            <a:solidFill>
              <a:srgbClr val="9E7E0A"/>
            </a:solidFill>
            <a:ln>
              <a:noFill/>
            </a:ln>
          </c:spPr>
          <c:dLbls>
            <c:dLbl>
              <c:idx val="0"/>
              <c:numFmt formatCode="&quot;MMMMMMMM&quot;;&quot;MMMMMMMM&quot;;&quot;MMM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MMM&quot;;&quot;MMMMMMMM&quot;;&quot;MMM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MMM&quot;;&quot;MMMMMMMM&quot;;&quot;MMM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MMM&quot;;&quot;MMMMMMMM&quot;;&quot;MMM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MMM&quot;;&quot;MMMMMMMM&quot;;&quot;MMM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MMM&quot;;&quot;MMMMMMMM&quot;;&quot;MMM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MMM&quot;;&quot;MMMMMMMM&quot;;&quot;MMM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MMM&quot;;&quot;MMMMMMMM&quot;;&quot;MMM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MMM&quot;;&quot;MMMMMMMM&quot;;&quot;MMM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MMM&quot;;&quot;MMMMMMMM&quot;;&quot;MMM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M&quot;;&quot;MMMMMMMM&quot;;&quot;MMM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M&quot;;&quot;MMMMMMMM&quot;;&quot;MMM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M&quot;;&quot;MMMMMMMM&quot;;&quot;MMM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M&quot;;&quot;MMMMMMMM&quot;;&quot;MMM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M&quot;;&quot;MMMMMMMM&quot;;&quot;MMM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M&quot;;&quot;MMMMMMMM&quot;;&quot;MMM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51934.819</c:v>
                </c:pt>
                <c:pt idx="1">
                  <c:v>53067.324</c:v>
                </c:pt>
                <c:pt idx="2">
                  <c:v>54224.523</c:v>
                </c:pt>
                <c:pt idx="3">
                  <c:v>55406.956</c:v>
                </c:pt>
                <c:pt idx="4">
                  <c:v>56615.174</c:v>
                </c:pt>
                <c:pt idx="5">
                  <c:v>59513.55</c:v>
                </c:pt>
                <c:pt idx="6">
                  <c:v>62555.782</c:v>
                </c:pt>
                <c:pt idx="7">
                  <c:v>65746.724</c:v>
                </c:pt>
                <c:pt idx="8">
                  <c:v>69093.396</c:v>
                </c:pt>
                <c:pt idx="9">
                  <c:v>72602.852</c:v>
                </c:pt>
                <c:pt idx="10">
                  <c:v>76282.756</c:v>
                </c:pt>
                <c:pt idx="11">
                  <c:v>80140.922</c:v>
                </c:pt>
                <c:pt idx="12">
                  <c:v>84185.43</c:v>
                </c:pt>
                <c:pt idx="13">
                  <c:v>88424.828</c:v>
                </c:pt>
                <c:pt idx="14">
                  <c:v>92868.009</c:v>
                </c:pt>
                <c:pt idx="15">
                  <c:v>97524.31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U.S.</c:v>
                </c:pt>
              </c:strCache>
            </c:strRef>
          </c:tx>
          <c:spPr>
            <a:solidFill>
              <a:srgbClr val="3D85C6"/>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MM&quot;;&quot;MMMMMMM&quot;;&quot;MMM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MM&quot;;&quot;MMMMMMM&quot;;&quot;MMM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MM&quot;;&quot;MMMMMMM&quot;;&quot;MMM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MM&quot;;&quot;MMMMMMM&quot;;&quot;MMM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MM&quot;;&quot;MMMMMMM&quot;;&quot;MMM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MM&quot;;&quot;MMMMMMM&quot;;&quot;MMM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642.698</c:v>
                </c:pt>
                <c:pt idx="1">
                  <c:v>662.145</c:v>
                </c:pt>
                <c:pt idx="2">
                  <c:v>682.18</c:v>
                </c:pt>
                <c:pt idx="3">
                  <c:v>702.822</c:v>
                </c:pt>
                <c:pt idx="4">
                  <c:v>724.088</c:v>
                </c:pt>
                <c:pt idx="5">
                  <c:v>767.454</c:v>
                </c:pt>
                <c:pt idx="6">
                  <c:v>813.4</c:v>
                </c:pt>
                <c:pt idx="7">
                  <c:v>862.01</c:v>
                </c:pt>
                <c:pt idx="8">
                  <c:v>913.43</c:v>
                </c:pt>
                <c:pt idx="9">
                  <c:v>967.818</c:v>
                </c:pt>
                <c:pt idx="10">
                  <c:v>1025.339</c:v>
                </c:pt>
                <c:pt idx="11">
                  <c:v>1086.166</c:v>
                </c:pt>
                <c:pt idx="12">
                  <c:v>1150.482</c:v>
                </c:pt>
                <c:pt idx="13">
                  <c:v>1218.479</c:v>
                </c:pt>
                <c:pt idx="14">
                  <c:v>1290.36</c:v>
                </c:pt>
                <c:pt idx="15">
                  <c:v>1366.34</c:v>
                </c:pt>
              </c:numCache>
            </c:numRef>
          </c:val>
        </c:ser>
        <c:ser>
          <c:idx val="1"/>
          <c:order val="1"/>
          <c:tx>
            <c:strRef>
              <c:strCache>
                <c:ptCount val="1"/>
                <c:pt idx="0">
                  <c:v>Canada</c:v>
                </c:pt>
              </c:strCache>
            </c:strRef>
          </c:tx>
          <c:spPr>
            <a:solidFill>
              <a:srgbClr val="9E7E0A"/>
            </a:solidFill>
            <a:ln>
              <a:noFill/>
            </a:ln>
          </c:spPr>
          <c:dLbls>
            <c:dLbl>
              <c:idx val="0"/>
              <c:numFmt formatCode="&quot;MMMMM&quot;;&quot;MMMMM&quot;;&quot;M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numFmt formatCode="&quot;MMMMM&quot;;&quot;MMMMM&quot;;&quot;MM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numFmt formatCode="&quot;MMMMM&quot;;&quot;MMMMM&quot;;&quot;MM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numFmt formatCode="&quot;MMMMM&quot;;&quot;MMMMM&quot;;&quot;MM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numFmt formatCode="&quot;MMMMM&quot;;&quot;MMMMM&quot;;&quot;MM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numFmt formatCode="&quot;MMMMM&quot;;&quot;MMMMM&quot;;&quot;MM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numFmt formatCode="&quot;MMMMM&quot;;&quot;MMMMM&quot;;&quot;MM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1"/>
              <c:numFmt formatCode="&quot;MMMMM&quot;;&quot;MMMMM&quot;;&quot;MMMMM&quot;" sourceLinked="0"/>
              <c:spPr>
                <a:blipFill>
                  <a:blip r:embed="rId2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2"/>
              <c:numFmt formatCode="&quot;MMMMM&quot;;&quot;MMMMM&quot;;&quot;MMMMM&quot;" sourceLinked="0"/>
              <c:spPr>
                <a:blipFill>
                  <a:blip r:embed="rId3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3"/>
              <c:numFmt formatCode="&quot;MMMMM&quot;;&quot;MMMMM&quot;;&quot;MMMMM&quot;" sourceLinked="0"/>
              <c:spPr>
                <a:blipFill>
                  <a:blip r:embed="rId3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4"/>
              <c:numFmt formatCode="&quot;MMMMM&quot;;&quot;MMMMM&quot;;&quot;MMMMM&quot;" sourceLinked="0"/>
              <c:spPr>
                <a:blipFill>
                  <a:blip r:embed="rId3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5"/>
              <c:numFmt formatCode="&quot;MMMMM&quot;;&quot;MMMMM&quot;;&quot;MMMMM&quot;" sourceLinked="0"/>
              <c:spPr>
                <a:blipFill>
                  <a:blip r:embed="rId3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279.63</c:v>
                </c:pt>
                <c:pt idx="1">
                  <c:v>290.121</c:v>
                </c:pt>
                <c:pt idx="2">
                  <c:v>301.004</c:v>
                </c:pt>
                <c:pt idx="3">
                  <c:v>312.296</c:v>
                </c:pt>
                <c:pt idx="4">
                  <c:v>324.011</c:v>
                </c:pt>
                <c:pt idx="5">
                  <c:v>345.834</c:v>
                </c:pt>
                <c:pt idx="6">
                  <c:v>369.1</c:v>
                </c:pt>
                <c:pt idx="7">
                  <c:v>393.891</c:v>
                </c:pt>
                <c:pt idx="8">
                  <c:v>420.304</c:v>
                </c:pt>
                <c:pt idx="9">
                  <c:v>448.441</c:v>
                </c:pt>
                <c:pt idx="10">
                  <c:v>478.413</c:v>
                </c:pt>
                <c:pt idx="11">
                  <c:v>510.337</c:v>
                </c:pt>
                <c:pt idx="12">
                  <c:v>544.333</c:v>
                </c:pt>
                <c:pt idx="13">
                  <c:v>580.532</c:v>
                </c:pt>
                <c:pt idx="14">
                  <c:v>619.075</c:v>
                </c:pt>
                <c:pt idx="15">
                  <c:v>660.108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Organic</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67.65453531846305</c:v>
                </c:pt>
                <c:pt idx="1">
                  <c:v>67.07532532166225</c:v>
                </c:pt>
              </c:numCache>
            </c:numRef>
          </c:val>
        </c:ser>
        <c:ser>
          <c:idx val="1"/>
          <c:order val="1"/>
          <c:tx>
            <c:strRef>
              <c:strCache>
                <c:ptCount val="1"/>
                <c:pt idx="0">
                  <c:v>Conventional</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32.34546468153696</c:v>
                </c:pt>
                <c:pt idx="1">
                  <c:v>32.92467467833775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Organic</c:v>
                </c:pt>
              </c:strCache>
            </c:strRef>
          </c:tx>
          <c:spPr>
            <a:solidFill>
              <a:srgbClr val="3D85C6"/>
            </a:solidFill>
          </c:spPr>
          <c:invertIfNegative val="0"/>
          <c:xVal>
            <c:numRef>
              <c:numCache>
                <c:formatCode>General</c:formatCode>
                <c:ptCount val="1"/>
                <c:pt idx="0">
                  <c:v>95.98956559619432</c:v>
                </c:pt>
              </c:numCache>
            </c:numRef>
          </c:xVal>
          <c:yVal>
            <c:numRef>
              <c:numCache>
                <c:formatCode>General</c:formatCode>
                <c:ptCount val="1"/>
                <c:pt idx="0">
                  <c:v>137.70524787835672</c:v>
                </c:pt>
              </c:numCache>
            </c:numRef>
          </c:yVal>
          <c:bubbleSize>
            <c:numRef>
              <c:numCache>
                <c:formatCode>General</c:formatCode>
                <c:ptCount val="1"/>
                <c:pt idx="0">
                  <c:v>1363.07</c:v>
                </c:pt>
              </c:numCache>
            </c:numRef>
          </c:bubbleSize>
          <c:bubble3D val="0"/>
        </c:ser>
        <c:ser>
          <c:idx val="1"/>
          <c:order val="1"/>
          <c:tx>
            <c:strRef>
              <c:strCache>
                <c:ptCount val="1"/>
                <c:pt idx="0">
                  <c:v>Conventional</c:v>
                </c:pt>
              </c:strCache>
            </c:strRef>
          </c:tx>
          <c:spPr>
            <a:solidFill>
              <a:srgbClr val="9E7E0A"/>
            </a:solidFill>
          </c:spPr>
          <c:invertIfNegative val="0"/>
          <c:xVal>
            <c:numRef>
              <c:numCache>
                <c:formatCode>General</c:formatCode>
                <c:ptCount val="1"/>
                <c:pt idx="0">
                  <c:v>108.57772279339986</c:v>
                </c:pt>
              </c:numCache>
            </c:numRef>
          </c:xVal>
          <c:yVal>
            <c:numRef>
              <c:numCache>
                <c:formatCode>General</c:formatCode>
                <c:ptCount val="1"/>
                <c:pt idx="0">
                  <c:v>62.29475212164327</c:v>
                </c:pt>
              </c:numCache>
            </c:numRef>
          </c:yVal>
          <c:bubbleSize>
            <c:numRef>
              <c:numCache>
                <c:formatCode>General</c:formatCode>
                <c:ptCount val="1"/>
                <c:pt idx="0">
                  <c:v>663.378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1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75.0"/>
          <c:min val="25.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766.528</c:v>
                </c:pt>
                <c:pt idx="2">
                  <c:v>860.502</c:v>
                </c:pt>
                <c:pt idx="3">
                  <c:v>965.75</c:v>
                </c:pt>
                <c:pt idx="4">
                  <c:v>1083.593</c:v>
                </c:pt>
                <c:pt idx="5">
                  <c:v>1215.489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766.528</c:v>
                </c:pt>
                <c:pt idx="1">
                  <c:v>93.97399999999993</c:v>
                </c:pt>
                <c:pt idx="2">
                  <c:v>105.24800000000005</c:v>
                </c:pt>
                <c:pt idx="3">
                  <c:v>117.84300000000007</c:v>
                </c:pt>
                <c:pt idx="4">
                  <c:v>131.89599999999996</c:v>
                </c:pt>
                <c:pt idx="5">
                  <c:v>147.5809999999999</c:v>
                </c:pt>
                <c:pt idx="6">
                  <c:v>1363.07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346.76</c:v>
                </c:pt>
                <c:pt idx="2">
                  <c:v>395.399</c:v>
                </c:pt>
                <c:pt idx="3">
                  <c:v>450.509</c:v>
                </c:pt>
                <c:pt idx="4">
                  <c:v>512.91</c:v>
                </c:pt>
                <c:pt idx="5">
                  <c:v>583.522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346.76</c:v>
                </c:pt>
                <c:pt idx="1">
                  <c:v>48.63900000000001</c:v>
                </c:pt>
                <c:pt idx="2">
                  <c:v>55.110000000000014</c:v>
                </c:pt>
                <c:pt idx="3">
                  <c:v>62.400999999999954</c:v>
                </c:pt>
                <c:pt idx="4">
                  <c:v>70.61200000000008</c:v>
                </c:pt>
                <c:pt idx="5">
                  <c:v>79.856</c:v>
                </c:pt>
                <c:pt idx="6">
                  <c:v>663.378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Organic</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69.73679645418983</c:v>
                </c:pt>
                <c:pt idx="1">
                  <c:v>68.85262393917836</c:v>
                </c:pt>
                <c:pt idx="2">
                  <c:v>67.26400085272358</c:v>
                </c:pt>
              </c:numCache>
            </c:numRef>
          </c:val>
        </c:ser>
        <c:ser>
          <c:idx val="1"/>
          <c:order val="1"/>
          <c:tx>
            <c:strRef>
              <c:strCache>
                <c:ptCount val="1"/>
                <c:pt idx="0">
                  <c:v>Conventional</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30.263203545810164</c:v>
                </c:pt>
                <c:pt idx="1">
                  <c:v>31.147376060821635</c:v>
                </c:pt>
                <c:pt idx="2">
                  <c:v>32.735999147276424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Matcha Powder</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13.503699394644512</c:v>
                </c:pt>
                <c:pt idx="1">
                  <c:v>10.590482603158804</c:v>
                </c:pt>
              </c:numCache>
            </c:numRef>
          </c:val>
        </c:ser>
        <c:ser>
          <c:idx val="1"/>
          <c:order val="1"/>
          <c:tx>
            <c:strRef>
              <c:strCache>
                <c:ptCount val="1"/>
                <c:pt idx="0">
                  <c:v>Matcha Tea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86.49630060535549</c:v>
                </c:pt>
                <c:pt idx="1">
                  <c:v>89.4095173968412</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07.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Matcha Powder</c:v>
                </c:pt>
              </c:strCache>
            </c:strRef>
          </c:tx>
          <c:spPr>
            <a:solidFill>
              <a:srgbClr val="3D85C6"/>
            </a:solidFill>
          </c:spPr>
          <c:invertIfNegative val="0"/>
          <c:xVal>
            <c:numRef>
              <c:numCache>
                <c:formatCode>General</c:formatCode>
                <c:ptCount val="1"/>
                <c:pt idx="0">
                  <c:v>115.738539573532</c:v>
                </c:pt>
              </c:numCache>
            </c:numRef>
          </c:xVal>
          <c:yVal>
            <c:numRef>
              <c:numCache>
                <c:formatCode>General</c:formatCode>
                <c:ptCount val="1"/>
                <c:pt idx="0">
                  <c:v>21.069660321498127</c:v>
                </c:pt>
              </c:numCache>
            </c:numRef>
          </c:yVal>
          <c:bubbleSize>
            <c:numRef>
              <c:numCache>
                <c:formatCode>General</c:formatCode>
                <c:ptCount val="1"/>
                <c:pt idx="0">
                  <c:v>233.841</c:v>
                </c:pt>
              </c:numCache>
            </c:numRef>
          </c:bubbleSize>
          <c:bubble3D val="0"/>
        </c:ser>
        <c:ser>
          <c:idx val="1"/>
          <c:order val="1"/>
          <c:tx>
            <c:strRef>
              <c:strCache>
                <c:ptCount val="1"/>
                <c:pt idx="0">
                  <c:v>Matcha Tea</c:v>
                </c:pt>
              </c:strCache>
            </c:strRef>
          </c:tx>
          <c:spPr>
            <a:solidFill>
              <a:srgbClr val="9E7E0A"/>
            </a:solidFill>
          </c:spPr>
          <c:invertIfNegative val="0"/>
          <c:xVal>
            <c:numRef>
              <c:numCache>
                <c:formatCode>General</c:formatCode>
                <c:ptCount val="1"/>
                <c:pt idx="0">
                  <c:v>98.05870193366046</c:v>
                </c:pt>
              </c:numCache>
            </c:numRef>
          </c:xVal>
          <c:yVal>
            <c:numRef>
              <c:numCache>
                <c:formatCode>General</c:formatCode>
                <c:ptCount val="1"/>
                <c:pt idx="0">
                  <c:v>178.9303396785019</c:v>
                </c:pt>
              </c:numCache>
            </c:numRef>
          </c:yVal>
          <c:bubbleSize>
            <c:numRef>
              <c:numCache>
                <c:formatCode>General</c:formatCode>
                <c:ptCount val="1"/>
                <c:pt idx="0">
                  <c:v>1792.607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25.0"/>
          <c:min val="9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0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117.283</c:v>
                </c:pt>
                <c:pt idx="2">
                  <c:v>134.898</c:v>
                </c:pt>
                <c:pt idx="3">
                  <c:v>155.006</c:v>
                </c:pt>
                <c:pt idx="4">
                  <c:v>177.939</c:v>
                </c:pt>
                <c:pt idx="5">
                  <c:v>204.077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117.283</c:v>
                </c:pt>
                <c:pt idx="1">
                  <c:v>17.614999999999995</c:v>
                </c:pt>
                <c:pt idx="2">
                  <c:v>20.108000000000004</c:v>
                </c:pt>
                <c:pt idx="3">
                  <c:v>22.932999999999993</c:v>
                </c:pt>
                <c:pt idx="4">
                  <c:v>26.138000000000005</c:v>
                </c:pt>
                <c:pt idx="5">
                  <c:v>29.76400000000001</c:v>
                </c:pt>
                <c:pt idx="6">
                  <c:v>233.841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0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996.0049999999999</c:v>
                </c:pt>
                <c:pt idx="2">
                  <c:v>1121.003</c:v>
                </c:pt>
                <c:pt idx="3">
                  <c:v>1261.253</c:v>
                </c:pt>
                <c:pt idx="4">
                  <c:v>1418.564</c:v>
                </c:pt>
                <c:pt idx="5">
                  <c:v>1594.934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996.0049999999999</c:v>
                </c:pt>
                <c:pt idx="1">
                  <c:v>124.99800000000005</c:v>
                </c:pt>
                <c:pt idx="2">
                  <c:v>140.25</c:v>
                </c:pt>
                <c:pt idx="3">
                  <c:v>157.31100000000015</c:v>
                </c:pt>
                <c:pt idx="4">
                  <c:v>176.3699999999999</c:v>
                </c:pt>
                <c:pt idx="5">
                  <c:v>197.673</c:v>
                </c:pt>
                <c:pt idx="6">
                  <c:v>1792.607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Tea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89.99347303779133</c:v>
                </c:pt>
                <c:pt idx="1">
                  <c:v>89.46516983925095</c:v>
                </c:pt>
                <c:pt idx="2">
                  <c:v>88.46054771699052</c:v>
                </c:pt>
              </c:numCache>
            </c:numRef>
          </c:val>
        </c:ser>
        <c:ser>
          <c:idx val="1"/>
          <c:order val="1"/>
          <c:tx>
            <c:strRef>
              <c:strCache>
                <c:ptCount val="1"/>
                <c:pt idx="0">
                  <c:v>Powder</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10.006526962208673</c:v>
                </c:pt>
                <c:pt idx="1">
                  <c:v>10.534830160749063</c:v>
                </c:pt>
                <c:pt idx="2">
                  <c:v>11.539452283009483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Powder</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5.248535088197689</c:v>
                </c:pt>
                <c:pt idx="1">
                  <c:v>6.5472722748364225</c:v>
                </c:pt>
              </c:numCache>
            </c:numRef>
          </c:val>
        </c:ser>
        <c:ser>
          <c:idx val="1"/>
          <c:order val="1"/>
          <c:tx>
            <c:strRef>
              <c:strCache>
                <c:ptCount val="1"/>
                <c:pt idx="0">
                  <c:v>Liquid</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38.75532488623074</c:v>
                </c:pt>
                <c:pt idx="1">
                  <c:v>35.45676771520997</c:v>
                </c:pt>
              </c:numCache>
            </c:numRef>
          </c:val>
        </c:ser>
        <c:ser>
          <c:idx val="2"/>
          <c:order val="2"/>
          <c:tx>
            <c:strRef>
              <c:strCache>
                <c:ptCount val="1"/>
                <c:pt idx="0">
                  <c:v>Granules</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3.9243578323547053</c:v>
                </c:pt>
                <c:pt idx="1">
                  <c:v>4.313201692111773</c:v>
                </c:pt>
              </c:numCache>
            </c:numRef>
          </c:val>
        </c:ser>
        <c:ser>
          <c:idx val="3"/>
          <c:order val="3"/>
          <c:tx>
            <c:strRef>
              <c:strCache>
                <c:ptCount val="1"/>
                <c:pt idx="0">
                  <c:v>Blended</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22.95412265871645</c:v>
                </c:pt>
                <c:pt idx="1">
                  <c:v>23.116427829090853</c:v>
                </c:pt>
              </c:numCache>
            </c:numRef>
          </c:val>
        </c:ser>
        <c:ser>
          <c:idx val="4"/>
          <c:order val="4"/>
          <c:tx>
            <c:strRef>
              <c:strCache>
                <c:ptCount val="1"/>
                <c:pt idx="0">
                  <c:v>Ground</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13.454010555848436</c:v>
                </c:pt>
                <c:pt idx="1">
                  <c:v>17.35600216637147</c:v>
                </c:pt>
              </c:numCache>
            </c:numRef>
          </c:val>
        </c:ser>
        <c:ser>
          <c:idx val="5"/>
          <c:order val="5"/>
          <c:tx>
            <c:strRef>
              <c:strCache>
                <c:ptCount val="1"/>
                <c:pt idx="0">
                  <c:v>Whole</c:v>
                </c:pt>
              </c:strCache>
            </c:strRef>
          </c:tx>
          <c:spPr>
            <a:solidFill>
              <a:srgbClr val="808080"/>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15.663648978651977</c:v>
                </c:pt>
                <c:pt idx="1">
                  <c:v>13.210328322379494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1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Powder</c:v>
                </c:pt>
              </c:strCache>
            </c:strRef>
          </c:tx>
          <c:spPr>
            <a:solidFill>
              <a:srgbClr val="3D85C6"/>
            </a:solidFill>
          </c:spPr>
          <c:invertIfNegative val="0"/>
          <c:xVal>
            <c:numRef>
              <c:numCache>
                <c:formatCode>General</c:formatCode>
                <c:ptCount val="1"/>
                <c:pt idx="0">
                  <c:v>126.13852071020135</c:v>
                </c:pt>
              </c:numCache>
            </c:numRef>
          </c:xVal>
          <c:yVal>
            <c:numRef>
              <c:numCache>
                <c:formatCode>General</c:formatCode>
                <c:ptCount val="1"/>
                <c:pt idx="0">
                  <c:v>31.600987345592518</c:v>
                </c:pt>
              </c:numCache>
            </c:numRef>
          </c:yVal>
          <c:bubbleSize>
            <c:numRef>
              <c:numCache>
                <c:formatCode>General</c:formatCode>
                <c:ptCount val="1"/>
                <c:pt idx="0">
                  <c:v>124.104</c:v>
                </c:pt>
              </c:numCache>
            </c:numRef>
          </c:bubbleSize>
          <c:bubble3D val="0"/>
        </c:ser>
        <c:ser>
          <c:idx val="1"/>
          <c:order val="1"/>
          <c:tx>
            <c:strRef>
              <c:strCache>
                <c:ptCount val="1"/>
                <c:pt idx="0">
                  <c:v>Liquid</c:v>
                </c:pt>
              </c:strCache>
            </c:strRef>
          </c:tx>
          <c:spPr>
            <a:solidFill>
              <a:srgbClr val="9E7E0A"/>
            </a:solidFill>
          </c:spPr>
          <c:invertIfNegative val="0"/>
          <c:xVal>
            <c:numRef>
              <c:numCache>
                <c:formatCode>General</c:formatCode>
                <c:ptCount val="1"/>
                <c:pt idx="0">
                  <c:v>140.74182874120055</c:v>
                </c:pt>
              </c:numCache>
            </c:numRef>
          </c:xVal>
          <c:yVal>
            <c:numRef>
              <c:numCache>
                <c:formatCode>General</c:formatCode>
                <c:ptCount val="1"/>
                <c:pt idx="0">
                  <c:v>173.4386789402203</c:v>
                </c:pt>
              </c:numCache>
            </c:numRef>
          </c:yVal>
          <c:bubbleSize>
            <c:numRef>
              <c:numCache>
                <c:formatCode>General</c:formatCode>
                <c:ptCount val="1"/>
                <c:pt idx="0">
                  <c:v>740.287</c:v>
                </c:pt>
              </c:numCache>
            </c:numRef>
          </c:bubbleSize>
          <c:bubble3D val="0"/>
        </c:ser>
        <c:ser>
          <c:idx val="2"/>
          <c:order val="2"/>
          <c:tx>
            <c:strRef>
              <c:strCache>
                <c:ptCount val="1"/>
                <c:pt idx="0">
                  <c:v>Granules</c:v>
                </c:pt>
              </c:strCache>
            </c:strRef>
          </c:tx>
          <c:spPr>
            <a:solidFill>
              <a:srgbClr val="008189"/>
            </a:solidFill>
          </c:spPr>
          <c:invertIfNegative val="0"/>
          <c:xVal>
            <c:numRef>
              <c:numCache>
                <c:formatCode>General</c:formatCode>
                <c:ptCount val="1"/>
                <c:pt idx="0">
                  <c:v>92.41245887670908</c:v>
                </c:pt>
              </c:numCache>
            </c:numRef>
          </c:xVal>
          <c:yVal>
            <c:numRef>
              <c:numCache>
                <c:formatCode>General</c:formatCode>
                <c:ptCount val="1"/>
                <c:pt idx="0">
                  <c:v>26.254661866471213</c:v>
                </c:pt>
              </c:numCache>
            </c:numRef>
          </c:yVal>
          <c:bubbleSize>
            <c:numRef>
              <c:numCache>
                <c:formatCode>General</c:formatCode>
                <c:ptCount val="1"/>
                <c:pt idx="0">
                  <c:v>84.838</c:v>
                </c:pt>
              </c:numCache>
            </c:numRef>
          </c:bubbleSize>
          <c:bubble3D val="0"/>
        </c:ser>
        <c:ser>
          <c:idx val="3"/>
          <c:order val="3"/>
          <c:tx>
            <c:strRef>
              <c:strCache>
                <c:ptCount val="1"/>
                <c:pt idx="0">
                  <c:v>Blended</c:v>
                </c:pt>
              </c:strCache>
            </c:strRef>
          </c:tx>
          <c:spPr>
            <a:solidFill>
              <a:srgbClr val="40315E"/>
            </a:solidFill>
          </c:spPr>
          <c:invertIfNegative val="0"/>
          <c:xVal>
            <c:numRef>
              <c:numCache>
                <c:formatCode>General</c:formatCode>
                <c:ptCount val="1"/>
                <c:pt idx="0">
                  <c:v>68.93921614235529</c:v>
                </c:pt>
              </c:numCache>
            </c:numRef>
          </c:xVal>
          <c:yVal>
            <c:numRef>
              <c:numCache>
                <c:formatCode>General</c:formatCode>
                <c:ptCount val="1"/>
                <c:pt idx="0">
                  <c:v>166.04274904606896</c:v>
                </c:pt>
              </c:numCache>
            </c:numRef>
          </c:yVal>
          <c:bubbleSize>
            <c:numRef>
              <c:numCache>
                <c:formatCode>General</c:formatCode>
                <c:ptCount val="1"/>
                <c:pt idx="0">
                  <c:v>467.371</c:v>
                </c:pt>
              </c:numCache>
            </c:numRef>
          </c:bubbleSize>
          <c:bubble3D val="0"/>
        </c:ser>
        <c:ser>
          <c:idx val="4"/>
          <c:order val="4"/>
          <c:tx>
            <c:strRef>
              <c:strCache>
                <c:ptCount val="1"/>
                <c:pt idx="0">
                  <c:v>Ground</c:v>
                </c:pt>
              </c:strCache>
            </c:strRef>
          </c:tx>
          <c:spPr>
            <a:solidFill>
              <a:srgbClr val="A35313"/>
            </a:solidFill>
          </c:spPr>
          <c:invertIfNegative val="0"/>
          <c:xVal>
            <c:numRef>
              <c:numCache>
                <c:formatCode>General</c:formatCode>
                <c:ptCount val="1"/>
                <c:pt idx="0">
                  <c:v>75.28195545594502</c:v>
                </c:pt>
              </c:numCache>
            </c:numRef>
          </c:xVal>
          <c:yVal>
            <c:numRef>
              <c:numCache>
                <c:formatCode>General</c:formatCode>
                <c:ptCount val="1"/>
                <c:pt idx="0">
                  <c:v>111.54094897277254</c:v>
                </c:pt>
              </c:numCache>
            </c:numRef>
          </c:yVal>
          <c:bubbleSize>
            <c:numRef>
              <c:numCache>
                <c:formatCode>General</c:formatCode>
                <c:ptCount val="1"/>
                <c:pt idx="0">
                  <c:v>325.953</c:v>
                </c:pt>
              </c:numCache>
            </c:numRef>
          </c:bubbleSize>
          <c:bubble3D val="0"/>
        </c:ser>
        <c:ser>
          <c:idx val="5"/>
          <c:order val="5"/>
          <c:tx>
            <c:strRef>
              <c:strCache>
                <c:ptCount val="1"/>
                <c:pt idx="0">
                  <c:v>Whole</c:v>
                </c:pt>
              </c:strCache>
            </c:strRef>
          </c:tx>
          <c:spPr>
            <a:solidFill>
              <a:srgbClr val="808080"/>
            </a:solidFill>
          </c:spPr>
          <c:invertIfNegative val="0"/>
          <c:xVal>
            <c:numRef>
              <c:numCache>
                <c:formatCode>General</c:formatCode>
                <c:ptCount val="1"/>
                <c:pt idx="0">
                  <c:v>86.17433259120666</c:v>
                </c:pt>
              </c:numCache>
            </c:numRef>
          </c:xVal>
          <c:yVal>
            <c:numRef>
              <c:numCache>
                <c:formatCode>General</c:formatCode>
                <c:ptCount val="1"/>
                <c:pt idx="0">
                  <c:v>91.12197382887447</c:v>
                </c:pt>
              </c:numCache>
            </c:numRef>
          </c:yVal>
          <c:bubbleSize>
            <c:numRef>
              <c:numCache>
                <c:formatCode>General</c:formatCode>
                <c:ptCount val="1"/>
                <c:pt idx="0">
                  <c:v>283.895</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6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1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58.635</c:v>
                </c:pt>
                <c:pt idx="2">
                  <c:v>68.341</c:v>
                </c:pt>
                <c:pt idx="3">
                  <c:v>79.518</c:v>
                </c:pt>
                <c:pt idx="4">
                  <c:v>92.375</c:v>
                </c:pt>
                <c:pt idx="5">
                  <c:v>107.148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58.635</c:v>
                </c:pt>
                <c:pt idx="1">
                  <c:v>9.705999999999996</c:v>
                </c:pt>
                <c:pt idx="2">
                  <c:v>11.177000000000007</c:v>
                </c:pt>
                <c:pt idx="3">
                  <c:v>12.857</c:v>
                </c:pt>
                <c:pt idx="4">
                  <c:v>14.772999999999996</c:v>
                </c:pt>
                <c:pt idx="5">
                  <c:v>16.956000000000003</c:v>
                </c:pt>
                <c:pt idx="6">
                  <c:v>124.104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321.812</c:v>
                </c:pt>
                <c:pt idx="2">
                  <c:v>382.474</c:v>
                </c:pt>
                <c:pt idx="3">
                  <c:v>453.066</c:v>
                </c:pt>
                <c:pt idx="4">
                  <c:v>535.074</c:v>
                </c:pt>
                <c:pt idx="5">
                  <c:v>630.173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321.812</c:v>
                </c:pt>
                <c:pt idx="1">
                  <c:v>60.66199999999998</c:v>
                </c:pt>
                <c:pt idx="2">
                  <c:v>70.59199999999998</c:v>
                </c:pt>
                <c:pt idx="3">
                  <c:v>82.00799999999998</c:v>
                </c:pt>
                <c:pt idx="4">
                  <c:v>95.09900000000005</c:v>
                </c:pt>
                <c:pt idx="5">
                  <c:v>110.11400000000003</c:v>
                </c:pt>
                <c:pt idx="6">
                  <c:v>740.287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48.715</c:v>
                </c:pt>
                <c:pt idx="2">
                  <c:v>54.474</c:v>
                </c:pt>
                <c:pt idx="3">
                  <c:v>60.89</c:v>
                </c:pt>
                <c:pt idx="4">
                  <c:v>68.034</c:v>
                </c:pt>
                <c:pt idx="5">
                  <c:v>75.988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48.715</c:v>
                </c:pt>
                <c:pt idx="1">
                  <c:v>5.758999999999993</c:v>
                </c:pt>
                <c:pt idx="2">
                  <c:v>6.416000000000004</c:v>
                </c:pt>
                <c:pt idx="3">
                  <c:v>7.1440000000000055</c:v>
                </c:pt>
                <c:pt idx="4">
                  <c:v>7.9539999999999935</c:v>
                </c:pt>
                <c:pt idx="5">
                  <c:v>8.849999999999994</c:v>
                </c:pt>
                <c:pt idx="6">
                  <c:v>84.838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308.089</c:v>
                </c:pt>
                <c:pt idx="2">
                  <c:v>335.799</c:v>
                </c:pt>
                <c:pt idx="3">
                  <c:v>365.52</c:v>
                </c:pt>
                <c:pt idx="4">
                  <c:v>397.319</c:v>
                </c:pt>
                <c:pt idx="5">
                  <c:v>431.255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308.089</c:v>
                </c:pt>
                <c:pt idx="1">
                  <c:v>27.70999999999998</c:v>
                </c:pt>
                <c:pt idx="2">
                  <c:v>29.721000000000004</c:v>
                </c:pt>
                <c:pt idx="3">
                  <c:v>31.799000000000035</c:v>
                </c:pt>
                <c:pt idx="4">
                  <c:v>33.93599999999998</c:v>
                </c:pt>
                <c:pt idx="5">
                  <c:v>36.115999999999985</c:v>
                </c:pt>
                <c:pt idx="6">
                  <c:v>467.371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206.962</c:v>
                </c:pt>
                <c:pt idx="2">
                  <c:v>227.076</c:v>
                </c:pt>
                <c:pt idx="3">
                  <c:v>248.914</c:v>
                </c:pt>
                <c:pt idx="4">
                  <c:v>272.594</c:v>
                </c:pt>
                <c:pt idx="5">
                  <c:v>298.234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206.962</c:v>
                </c:pt>
                <c:pt idx="1">
                  <c:v>20.114000000000004</c:v>
                </c:pt>
                <c:pt idx="2">
                  <c:v>21.837999999999994</c:v>
                </c:pt>
                <c:pt idx="3">
                  <c:v>23.680000000000007</c:v>
                </c:pt>
                <c:pt idx="4">
                  <c:v>25.639999999999986</c:v>
                </c:pt>
                <c:pt idx="5">
                  <c:v>27.718999999999994</c:v>
                </c:pt>
                <c:pt idx="6">
                  <c:v>325.953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169.075</c:v>
                </c:pt>
                <c:pt idx="2">
                  <c:v>187.737</c:v>
                </c:pt>
                <c:pt idx="3">
                  <c:v>208.351</c:v>
                </c:pt>
                <c:pt idx="4">
                  <c:v>231.107</c:v>
                </c:pt>
                <c:pt idx="5">
                  <c:v>256.213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169.075</c:v>
                </c:pt>
                <c:pt idx="1">
                  <c:v>18.662000000000006</c:v>
                </c:pt>
                <c:pt idx="2">
                  <c:v>20.614000000000004</c:v>
                </c:pt>
                <c:pt idx="3">
                  <c:v>22.756</c:v>
                </c:pt>
                <c:pt idx="4">
                  <c:v>25.106000000000023</c:v>
                </c:pt>
                <c:pt idx="5">
                  <c:v>27.68199999999996</c:v>
                </c:pt>
                <c:pt idx="6">
                  <c:v>283.895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1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Liquid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24.986555758905727</c:v>
                </c:pt>
                <c:pt idx="1">
                  <c:v>28.906446490036718</c:v>
                </c:pt>
                <c:pt idx="2">
                  <c:v>36.53126060969736</c:v>
                </c:pt>
              </c:numCache>
            </c:numRef>
          </c:val>
        </c:ser>
        <c:ser>
          <c:idx val="1"/>
          <c:order val="1"/>
          <c:tx>
            <c:strRef>
              <c:strCache>
                <c:ptCount val="1"/>
                <c:pt idx="0">
                  <c:v>Blended</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30.04473462802821</c:v>
                </c:pt>
                <c:pt idx="1">
                  <c:v>27.673791507678157</c:v>
                </c:pt>
                <c:pt idx="2">
                  <c:v>23.06355751541614</c:v>
                </c:pt>
              </c:numCache>
            </c:numRef>
          </c:val>
        </c:ser>
        <c:ser>
          <c:idx val="2"/>
          <c:order val="2"/>
          <c:tx>
            <c:strRef>
              <c:strCache>
                <c:ptCount val="1"/>
                <c:pt idx="0">
                  <c:v>Ground</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19.882839944141345</c:v>
                </c:pt>
                <c:pt idx="1">
                  <c:v>18.590158162128755</c:v>
                </c:pt>
                <c:pt idx="2">
                  <c:v>16.08494271750373</c:v>
                </c:pt>
              </c:numCache>
            </c:numRef>
          </c:val>
        </c:ser>
        <c:ser>
          <c:idx val="3"/>
          <c:order val="3"/>
          <c:tx>
            <c:strRef>
              <c:strCache>
                <c:ptCount val="1"/>
                <c:pt idx="0">
                  <c:v>Whole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15.79047800782368</c:v>
                </c:pt>
                <c:pt idx="1">
                  <c:v>15.186995638145746</c:v>
                </c:pt>
                <c:pt idx="2">
                  <c:v>14.009488523761773</c:v>
                </c:pt>
              </c:numCache>
            </c:numRef>
          </c:val>
        </c:ser>
        <c:ser>
          <c:idx val="4"/>
          <c:order val="4"/>
          <c:tx>
            <c:strRef>
              <c:strCache>
                <c:ptCount val="1"/>
                <c:pt idx="0">
                  <c:v>Powder</c:v>
                </c:pt>
              </c:strCache>
            </c:strRef>
          </c:tx>
          <c:spPr>
            <a:solidFill>
              <a:srgbClr val="A35313"/>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4.8226878073743835</c:v>
                </c:pt>
                <c:pt idx="1">
                  <c:v>5.266831224265419</c:v>
                </c:pt>
                <c:pt idx="2">
                  <c:v>6.124213401972319</c:v>
                </c:pt>
              </c:numCache>
            </c:numRef>
          </c:val>
        </c:ser>
        <c:ser>
          <c:idx val="5"/>
          <c:order val="5"/>
          <c:tx>
            <c:strRef>
              <c:strCache>
                <c:ptCount val="1"/>
                <c:pt idx="0">
                  <c:v>Granules</c:v>
                </c:pt>
              </c:strCache>
            </c:strRef>
          </c:tx>
          <c:spPr>
            <a:solidFill>
              <a:srgbClr val="808080"/>
            </a:solidFill>
            <a:ln>
              <a:noFill/>
            </a:ln>
          </c:spPr>
          <c:dLbls>
            <c:dLbl>
              <c:idx val="0"/>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4.472703853726657</c:v>
                </c:pt>
                <c:pt idx="1">
                  <c:v>4.375776977745202</c:v>
                </c:pt>
                <c:pt idx="2">
                  <c:v>4.1865372316486775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Unflavoured</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12.304350197240451</c:v>
                </c:pt>
                <c:pt idx="1">
                  <c:v>15.007684763675222</c:v>
                </c:pt>
              </c:numCache>
            </c:numRef>
          </c:val>
        </c:ser>
        <c:ser>
          <c:idx val="1"/>
          <c:order val="1"/>
          <c:tx>
            <c:strRef>
              <c:strCache>
                <c:ptCount val="1"/>
                <c:pt idx="0">
                  <c:v>Vanilla</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16.88299490386422</c:v>
                </c:pt>
                <c:pt idx="1">
                  <c:v>20.675893262291964</c:v>
                </c:pt>
              </c:numCache>
            </c:numRef>
          </c:val>
        </c:ser>
        <c:ser>
          <c:idx val="2"/>
          <c:order val="2"/>
          <c:tx>
            <c:strRef>
              <c:strCache>
                <c:ptCount val="1"/>
                <c:pt idx="0">
                  <c:v>Lemon</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11.821398922600546</c:v>
                </c:pt>
                <c:pt idx="1">
                  <c:v>14.862772077228215</c:v>
                </c:pt>
              </c:numCache>
            </c:numRef>
          </c:val>
        </c:ser>
        <c:ser>
          <c:idx val="3"/>
          <c:order val="3"/>
          <c:tx>
            <c:strRef>
              <c:strCache>
                <c:ptCount val="1"/>
                <c:pt idx="0">
                  <c:v>Orange</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15.819835542062815</c:v>
                </c:pt>
                <c:pt idx="1">
                  <c:v>14.58260755009734</c:v>
                </c:pt>
              </c:numCache>
            </c:numRef>
          </c:val>
        </c:ser>
        <c:ser>
          <c:idx val="4"/>
          <c:order val="4"/>
          <c:tx>
            <c:strRef>
              <c:strCache>
                <c:ptCount val="1"/>
                <c:pt idx="0">
                  <c:v>Mocha</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16.27112533100644</c:v>
                </c:pt>
                <c:pt idx="1">
                  <c:v>11.486891988816838</c:v>
                </c:pt>
              </c:numCache>
            </c:numRef>
          </c:val>
        </c:ser>
        <c:ser>
          <c:idx val="5"/>
          <c:order val="5"/>
          <c:tx>
            <c:strRef>
              <c:strCache>
                <c:ptCount val="1"/>
                <c:pt idx="0">
                  <c:v>Cinnamon</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6.544535136674605</c:v>
                </c:pt>
                <c:pt idx="1">
                  <c:v>6.526925948153462</c:v>
                </c:pt>
              </c:numCache>
            </c:numRef>
          </c:val>
        </c:ser>
        <c:ser>
          <c:idx val="6"/>
          <c:order val="6"/>
          <c:tx>
            <c:strRef>
              <c:strCache>
                <c:ptCount val="1"/>
                <c:pt idx="0">
                  <c:v>Pumpkin Spice</c:v>
                </c:pt>
              </c:strCache>
            </c:strRef>
          </c:tx>
          <c:spPr>
            <a:solidFill>
              <a:srgbClr val="0E72AE"/>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15.425506129300057</c:v>
                </c:pt>
                <c:pt idx="1">
                  <c:v>12.504208322965003</c:v>
                </c:pt>
              </c:numCache>
            </c:numRef>
          </c:val>
        </c:ser>
        <c:ser>
          <c:idx val="7"/>
          <c:order val="7"/>
          <c:tx>
            <c:strRef>
              <c:strCache>
                <c:ptCount val="1"/>
                <c:pt idx="0">
                  <c:v>Other Flavours</c:v>
                </c:pt>
              </c:strCache>
            </c:strRef>
          </c:tx>
          <c:spPr>
            <a:solidFill>
              <a:srgbClr val="A86F00"/>
            </a:solidFill>
            <a:ln>
              <a:noFill/>
            </a:ln>
          </c:spPr>
          <c:dLbls>
            <c:dLbl>
              <c:idx val="0"/>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4.930253837250874</c:v>
                </c:pt>
                <c:pt idx="1">
                  <c:v>4.3530160867719605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2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Unflavoured</c:v>
                </c:pt>
              </c:strCache>
            </c:strRef>
          </c:tx>
          <c:spPr>
            <a:solidFill>
              <a:srgbClr val="3D85C6"/>
            </a:solidFill>
          </c:spPr>
          <c:invertIfNegative val="0"/>
          <c:xVal>
            <c:numRef>
              <c:numCache>
                <c:formatCode>General</c:formatCode>
                <c:ptCount val="1"/>
                <c:pt idx="0">
                  <c:v>107.09438735444809</c:v>
                </c:pt>
              </c:numCache>
            </c:numRef>
          </c:xVal>
          <c:yVal>
            <c:numRef>
              <c:numCache>
                <c:formatCode>General</c:formatCode>
                <c:ptCount val="1"/>
                <c:pt idx="0">
                  <c:v>108.45926660486774</c:v>
                </c:pt>
              </c:numCache>
            </c:numRef>
          </c:yVal>
          <c:bubbleSize>
            <c:numRef>
              <c:numCache>
                <c:formatCode>General</c:formatCode>
                <c:ptCount val="1"/>
                <c:pt idx="0">
                  <c:v>286.278</c:v>
                </c:pt>
              </c:numCache>
            </c:numRef>
          </c:bubbleSize>
          <c:bubble3D val="0"/>
        </c:ser>
        <c:ser>
          <c:idx val="1"/>
          <c:order val="1"/>
          <c:tx>
            <c:strRef>
              <c:strCache>
                <c:ptCount val="1"/>
                <c:pt idx="0">
                  <c:v>Vanilla</c:v>
                </c:pt>
              </c:strCache>
            </c:strRef>
          </c:tx>
          <c:spPr>
            <a:solidFill>
              <a:srgbClr val="9E7E0A"/>
            </a:solidFill>
          </c:spPr>
          <c:invertIfNegative val="0"/>
          <c:xVal>
            <c:numRef>
              <c:numCache>
                <c:formatCode>General</c:formatCode>
                <c:ptCount val="1"/>
                <c:pt idx="0">
                  <c:v>80.85266923365786</c:v>
                </c:pt>
              </c:numCache>
            </c:numRef>
          </c:xVal>
          <c:yVal>
            <c:numRef>
              <c:numCache>
                <c:formatCode>General</c:formatCode>
                <c:ptCount val="1"/>
                <c:pt idx="0">
                  <c:v>173.94456780276082</c:v>
                </c:pt>
              </c:numCache>
            </c:numRef>
          </c:yVal>
          <c:bubbleSize>
            <c:numRef>
              <c:numCache>
                <c:formatCode>General</c:formatCode>
                <c:ptCount val="1"/>
                <c:pt idx="0">
                  <c:v>393.949</c:v>
                </c:pt>
              </c:numCache>
            </c:numRef>
          </c:bubbleSize>
          <c:bubble3D val="0"/>
        </c:ser>
        <c:ser>
          <c:idx val="2"/>
          <c:order val="2"/>
          <c:tx>
            <c:strRef>
              <c:strCache>
                <c:ptCount val="1"/>
                <c:pt idx="0">
                  <c:v>Lemon</c:v>
                </c:pt>
              </c:strCache>
            </c:strRef>
          </c:tx>
          <c:spPr>
            <a:solidFill>
              <a:srgbClr val="008189"/>
            </a:solidFill>
          </c:spPr>
          <c:invertIfNegative val="0"/>
          <c:xVal>
            <c:numRef>
              <c:numCache>
                <c:formatCode>General</c:formatCode>
                <c:ptCount val="1"/>
                <c:pt idx="0">
                  <c:v>66.5673840929162</c:v>
                </c:pt>
              </c:numCache>
            </c:numRef>
          </c:xVal>
          <c:yVal>
            <c:numRef>
              <c:numCache>
                <c:formatCode>General</c:formatCode>
                <c:ptCount val="1"/>
                <c:pt idx="0">
                  <c:v>135.04430120507902</c:v>
                </c:pt>
              </c:numCache>
            </c:numRef>
          </c:yVal>
          <c:bubbleSize>
            <c:numRef>
              <c:numCache>
                <c:formatCode>General</c:formatCode>
                <c:ptCount val="1"/>
                <c:pt idx="0">
                  <c:v>281.11</c:v>
                </c:pt>
              </c:numCache>
            </c:numRef>
          </c:bubbleSize>
          <c:bubble3D val="0"/>
        </c:ser>
        <c:ser>
          <c:idx val="3"/>
          <c:order val="3"/>
          <c:tx>
            <c:strRef>
              <c:strCache>
                <c:ptCount val="1"/>
                <c:pt idx="0">
                  <c:v>Orange</c:v>
                </c:pt>
              </c:strCache>
            </c:strRef>
          </c:tx>
          <c:spPr>
            <a:solidFill>
              <a:srgbClr val="40315E"/>
            </a:solidFill>
          </c:spPr>
          <c:invertIfNegative val="0"/>
          <c:xVal>
            <c:numRef>
              <c:numCache>
                <c:formatCode>General</c:formatCode>
                <c:ptCount val="1"/>
                <c:pt idx="0">
                  <c:v>110.47203283816445</c:v>
                </c:pt>
              </c:numCache>
            </c:numRef>
          </c:xVal>
          <c:yVal>
            <c:numRef>
              <c:numCache>
                <c:formatCode>General</c:formatCode>
                <c:ptCount val="1"/>
                <c:pt idx="0">
                  <c:v>112.82471382068253</c:v>
                </c:pt>
              </c:numCache>
            </c:numRef>
          </c:yVal>
          <c:bubbleSize>
            <c:numRef>
              <c:numCache>
                <c:formatCode>General</c:formatCode>
                <c:ptCount val="1"/>
                <c:pt idx="0">
                  <c:v>303.676</c:v>
                </c:pt>
              </c:numCache>
            </c:numRef>
          </c:bubbleSize>
          <c:bubble3D val="0"/>
        </c:ser>
        <c:ser>
          <c:idx val="4"/>
          <c:order val="4"/>
          <c:tx>
            <c:strRef>
              <c:strCache>
                <c:ptCount val="1"/>
                <c:pt idx="0">
                  <c:v>Mocha</c:v>
                </c:pt>
              </c:strCache>
            </c:strRef>
          </c:tx>
          <c:spPr>
            <a:solidFill>
              <a:srgbClr val="A35313"/>
            </a:solidFill>
          </c:spPr>
          <c:invertIfNegative val="0"/>
          <c:xVal>
            <c:numRef>
              <c:numCache>
                <c:formatCode>General</c:formatCode>
                <c:ptCount val="1"/>
                <c:pt idx="0">
                  <c:v>123.70763935098066</c:v>
                </c:pt>
              </c:numCache>
            </c:numRef>
          </c:xVal>
          <c:yVal>
            <c:numRef>
              <c:numCache>
                <c:formatCode>General</c:formatCode>
                <c:ptCount val="1"/>
                <c:pt idx="0">
                  <c:v>91.01113099216016</c:v>
                </c:pt>
              </c:numCache>
            </c:numRef>
          </c:yVal>
          <c:bubbleSize>
            <c:numRef>
              <c:numCache>
                <c:formatCode>General</c:formatCode>
                <c:ptCount val="1"/>
                <c:pt idx="0">
                  <c:v>264.357</c:v>
                </c:pt>
              </c:numCache>
            </c:numRef>
          </c:bubbleSize>
          <c:bubble3D val="0"/>
        </c:ser>
        <c:ser>
          <c:idx val="5"/>
          <c:order val="5"/>
          <c:tx>
            <c:strRef>
              <c:strCache>
                <c:ptCount val="1"/>
                <c:pt idx="0">
                  <c:v>Cinnamon</c:v>
                </c:pt>
              </c:strCache>
            </c:strRef>
          </c:tx>
          <c:spPr>
            <a:solidFill>
              <a:srgbClr val="808080"/>
            </a:solidFill>
          </c:spPr>
          <c:invertIfNegative val="0"/>
          <c:xVal>
            <c:numRef>
              <c:numCache>
                <c:formatCode>General</c:formatCode>
                <c:ptCount val="1"/>
                <c:pt idx="0">
                  <c:v>127.63530208590097</c:v>
                </c:pt>
              </c:numCache>
            </c:numRef>
          </c:xVal>
          <c:yVal>
            <c:numRef>
              <c:numCache>
                <c:formatCode>General</c:formatCode>
                <c:ptCount val="1"/>
                <c:pt idx="0">
                  <c:v>44.56133543162237</c:v>
                </c:pt>
              </c:numCache>
            </c:numRef>
          </c:yVal>
          <c:bubbleSize>
            <c:numRef>
              <c:numCache>
                <c:formatCode>General</c:formatCode>
                <c:ptCount val="1"/>
                <c:pt idx="0">
                  <c:v>132.381</c:v>
                </c:pt>
              </c:numCache>
            </c:numRef>
          </c:bubbleSize>
          <c:bubble3D val="0"/>
        </c:ser>
        <c:ser>
          <c:idx val="6"/>
          <c:order val="6"/>
          <c:tx>
            <c:strRef>
              <c:strCache>
                <c:ptCount val="1"/>
                <c:pt idx="0">
                  <c:v>Pumpkin Spice</c:v>
                </c:pt>
              </c:strCache>
            </c:strRef>
          </c:tx>
          <c:spPr>
            <a:solidFill>
              <a:srgbClr val="0E72AE"/>
            </a:solidFill>
          </c:spPr>
          <c:invertIfNegative val="0"/>
          <c:xVal>
            <c:numRef>
              <c:numCache>
                <c:formatCode>General</c:formatCode>
                <c:ptCount val="1"/>
                <c:pt idx="0">
                  <c:v>128.95943056242083</c:v>
                </c:pt>
              </c:numCache>
            </c:numRef>
          </c:xVal>
          <c:yVal>
            <c:numRef>
              <c:numCache>
                <c:formatCode>General</c:formatCode>
                <c:ptCount val="1"/>
                <c:pt idx="0">
                  <c:v>91.09376908760356</c:v>
                </c:pt>
              </c:numCache>
            </c:numRef>
          </c:yVal>
          <c:bubbleSize>
            <c:numRef>
              <c:numCache>
                <c:formatCode>General</c:formatCode>
                <c:ptCount val="1"/>
                <c:pt idx="0">
                  <c:v>272.675</c:v>
                </c:pt>
              </c:numCache>
            </c:numRef>
          </c:bubbleSize>
          <c:bubble3D val="0"/>
        </c:ser>
        <c:ser>
          <c:idx val="7"/>
          <c:order val="7"/>
          <c:tx>
            <c:strRef>
              <c:strCache>
                <c:ptCount val="1"/>
                <c:pt idx="0">
                  <c:v>Other Flavours</c:v>
                </c:pt>
              </c:strCache>
            </c:strRef>
          </c:tx>
          <c:spPr>
            <a:solidFill>
              <a:srgbClr val="A86F00"/>
            </a:solidFill>
          </c:spPr>
          <c:invertIfNegative val="0"/>
          <c:xVal>
            <c:numRef>
              <c:numCache>
                <c:formatCode>General</c:formatCode>
                <c:ptCount val="1"/>
                <c:pt idx="0">
                  <c:v>71.00372051013579</c:v>
                </c:pt>
              </c:numCache>
            </c:numRef>
          </c:xVal>
          <c:yVal>
            <c:numRef>
              <c:numCache>
                <c:formatCode>General</c:formatCode>
                <c:ptCount val="1"/>
                <c:pt idx="0">
                  <c:v>43.0609150552238</c:v>
                </c:pt>
              </c:numCache>
            </c:numRef>
          </c:yVal>
          <c:bubbleSize>
            <c:numRef>
              <c:numCache>
                <c:formatCode>General</c:formatCode>
                <c:ptCount val="1"/>
                <c:pt idx="0">
                  <c:v>92.022</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50.0"/>
          <c:min val="5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25.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2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150.933</c:v>
                </c:pt>
                <c:pt idx="2">
                  <c:v>171.807</c:v>
                </c:pt>
                <c:pt idx="3">
                  <c:v>195.417</c:v>
                </c:pt>
                <c:pt idx="4">
                  <c:v>222.103</c:v>
                </c:pt>
                <c:pt idx="5">
                  <c:v>252.247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150.933</c:v>
                </c:pt>
                <c:pt idx="1">
                  <c:v>20.873999999999995</c:v>
                </c:pt>
                <c:pt idx="2">
                  <c:v>23.610000000000014</c:v>
                </c:pt>
                <c:pt idx="3">
                  <c:v>26.686000000000007</c:v>
                </c:pt>
                <c:pt idx="4">
                  <c:v>30.144000000000005</c:v>
                </c:pt>
                <c:pt idx="5">
                  <c:v>34.031000000000006</c:v>
                </c:pt>
                <c:pt idx="6">
                  <c:v>286.278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242.063</c:v>
                </c:pt>
                <c:pt idx="2">
                  <c:v>266.92</c:v>
                </c:pt>
                <c:pt idx="3">
                  <c:v>294.28</c:v>
                </c:pt>
                <c:pt idx="4">
                  <c:v>324.391</c:v>
                </c:pt>
                <c:pt idx="5">
                  <c:v>357.516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242.063</c:v>
                </c:pt>
                <c:pt idx="1">
                  <c:v>24.857000000000028</c:v>
                </c:pt>
                <c:pt idx="2">
                  <c:v>27.359999999999957</c:v>
                </c:pt>
                <c:pt idx="3">
                  <c:v>30.111000000000047</c:v>
                </c:pt>
                <c:pt idx="4">
                  <c:v>33.125</c:v>
                </c:pt>
                <c:pt idx="5">
                  <c:v>36.43299999999999</c:v>
                </c:pt>
                <c:pt idx="6">
                  <c:v>393.949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187.929</c:v>
                </c:pt>
                <c:pt idx="2">
                  <c:v>203.955</c:v>
                </c:pt>
                <c:pt idx="3">
                  <c:v>221.21</c:v>
                </c:pt>
                <c:pt idx="4">
                  <c:v>239.771</c:v>
                </c:pt>
                <c:pt idx="5">
                  <c:v>259.712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187.929</c:v>
                </c:pt>
                <c:pt idx="1">
                  <c:v>16.02600000000001</c:v>
                </c:pt>
                <c:pt idx="2">
                  <c:v>17.254999999999995</c:v>
                </c:pt>
                <c:pt idx="3">
                  <c:v>18.56099999999998</c:v>
                </c:pt>
                <c:pt idx="4">
                  <c:v>19.941000000000003</c:v>
                </c:pt>
                <c:pt idx="5">
                  <c:v>21.398000000000025</c:v>
                </c:pt>
                <c:pt idx="6">
                  <c:v>281.11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157.008</c:v>
                </c:pt>
                <c:pt idx="2">
                  <c:v>179.483</c:v>
                </c:pt>
                <c:pt idx="3">
                  <c:v>204.979</c:v>
                </c:pt>
                <c:pt idx="4">
                  <c:v>233.879</c:v>
                </c:pt>
                <c:pt idx="5">
                  <c:v>266.617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157.008</c:v>
                </c:pt>
                <c:pt idx="1">
                  <c:v>22.474999999999994</c:v>
                </c:pt>
                <c:pt idx="2">
                  <c:v>25.49600000000001</c:v>
                </c:pt>
                <c:pt idx="3">
                  <c:v>28.899999999999977</c:v>
                </c:pt>
                <c:pt idx="4">
                  <c:v>32.73800000000003</c:v>
                </c:pt>
                <c:pt idx="5">
                  <c:v>37.05899999999997</c:v>
                </c:pt>
                <c:pt idx="6">
                  <c:v>303.676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126.652</c:v>
                </c:pt>
                <c:pt idx="2">
                  <c:v>147.321</c:v>
                </c:pt>
                <c:pt idx="3">
                  <c:v>170.995</c:v>
                </c:pt>
                <c:pt idx="4">
                  <c:v>198.079</c:v>
                </c:pt>
                <c:pt idx="5">
                  <c:v>229.028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126.652</c:v>
                </c:pt>
                <c:pt idx="1">
                  <c:v>20.668999999999997</c:v>
                </c:pt>
                <c:pt idx="2">
                  <c:v>23.674000000000007</c:v>
                </c:pt>
                <c:pt idx="3">
                  <c:v>27.084000000000003</c:v>
                </c:pt>
                <c:pt idx="4">
                  <c:v>30.948999999999984</c:v>
                </c:pt>
                <c:pt idx="5">
                  <c:v>35.329000000000036</c:v>
                </c:pt>
                <c:pt idx="6">
                  <c:v>264.357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62.012</c:v>
                </c:pt>
                <c:pt idx="2">
                  <c:v>72.533</c:v>
                </c:pt>
                <c:pt idx="3">
                  <c:v>84.607</c:v>
                </c:pt>
                <c:pt idx="4">
                  <c:v>98.444</c:v>
                </c:pt>
                <c:pt idx="5">
                  <c:v>114.28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62.012</c:v>
                </c:pt>
                <c:pt idx="1">
                  <c:v>10.521</c:v>
                </c:pt>
                <c:pt idx="2">
                  <c:v>12.073999999999998</c:v>
                </c:pt>
                <c:pt idx="3">
                  <c:v>13.837000000000003</c:v>
                </c:pt>
                <c:pt idx="4">
                  <c:v>15.835999999999999</c:v>
                </c:pt>
                <c:pt idx="5">
                  <c:v>18.101</c:v>
                </c:pt>
                <c:pt idx="6">
                  <c:v>132.381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126.767</c:v>
                </c:pt>
                <c:pt idx="2">
                  <c:v>148.53</c:v>
                </c:pt>
                <c:pt idx="3">
                  <c:v>173.531</c:v>
                </c:pt>
                <c:pt idx="4">
                  <c:v>202.213</c:v>
                </c:pt>
                <c:pt idx="5">
                  <c:v>235.074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126.767</c:v>
                </c:pt>
                <c:pt idx="1">
                  <c:v>21.763000000000005</c:v>
                </c:pt>
                <c:pt idx="2">
                  <c:v>25.001000000000005</c:v>
                </c:pt>
                <c:pt idx="3">
                  <c:v>28.681999999999988</c:v>
                </c:pt>
                <c:pt idx="4">
                  <c:v>32.86100000000002</c:v>
                </c:pt>
                <c:pt idx="5">
                  <c:v>37.601</c:v>
                </c:pt>
                <c:pt idx="6">
                  <c:v>272.675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2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59.924</c:v>
                </c:pt>
                <c:pt idx="2">
                  <c:v>65.352</c:v>
                </c:pt>
                <c:pt idx="3">
                  <c:v>71.24</c:v>
                </c:pt>
                <c:pt idx="4">
                  <c:v>77.623</c:v>
                </c:pt>
                <c:pt idx="5">
                  <c:v>84.537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59.924</c:v>
                </c:pt>
                <c:pt idx="1">
                  <c:v>5.428000000000004</c:v>
                </c:pt>
                <c:pt idx="2">
                  <c:v>5.887999999999991</c:v>
                </c:pt>
                <c:pt idx="3">
                  <c:v>6.38300000000001</c:v>
                </c:pt>
                <c:pt idx="4">
                  <c:v>6.9140000000000015</c:v>
                </c:pt>
                <c:pt idx="5">
                  <c:v>7.484999999999999</c:v>
                </c:pt>
                <c:pt idx="6">
                  <c:v>92.022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Vanilla</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23.039851332714605</c:v>
                </c:pt>
                <c:pt idx="1">
                  <c:v>21.743070975345102</c:v>
                </c:pt>
                <c:pt idx="2">
                  <c:v>19.440370539979316</c:v>
                </c:pt>
              </c:numCache>
            </c:numRef>
          </c:val>
        </c:ser>
        <c:ser>
          <c:idx val="1"/>
          <c:order val="1"/>
          <c:tx>
            <c:strRef>
              <c:strCache>
                <c:ptCount val="1"/>
                <c:pt idx="0">
                  <c:v>Orange</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13.604162510516865</c:v>
                </c:pt>
                <c:pt idx="1">
                  <c:v>14.103089227585317</c:v>
                </c:pt>
                <c:pt idx="2">
                  <c:v>14.985630028503074</c:v>
                </c:pt>
              </c:numCache>
            </c:numRef>
          </c:val>
        </c:ser>
        <c:ser>
          <c:idx val="2"/>
          <c:order val="2"/>
          <c:tx>
            <c:strRef>
              <c:strCache>
                <c:ptCount val="1"/>
                <c:pt idx="0">
                  <c:v>Unflavoured</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13.229892185860127</c:v>
                </c:pt>
                <c:pt idx="1">
                  <c:v>13.557408325608467</c:v>
                </c:pt>
                <c:pt idx="2">
                  <c:v>14.127083448477338</c:v>
                </c:pt>
              </c:numCache>
            </c:numRef>
          </c:val>
        </c:ser>
        <c:ser>
          <c:idx val="3"/>
          <c:order val="3"/>
          <c:tx>
            <c:strRef>
              <c:strCache>
                <c:ptCount val="1"/>
                <c:pt idx="0">
                  <c:v>Lemon</c:v>
                </c:pt>
              </c:strCache>
            </c:strRef>
          </c:tx>
          <c:spPr>
            <a:solidFill>
              <a:srgbClr val="40315E"/>
            </a:solidFill>
            <a:ln>
              <a:noFill/>
            </a:ln>
          </c:spPr>
          <c:dLbls>
            <c:dLbl>
              <c:idx val="0"/>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18.579073821894163</c:v>
                </c:pt>
                <c:pt idx="1">
                  <c:v>16.880537650634878</c:v>
                </c:pt>
                <c:pt idx="2">
                  <c:v>13.872055932350596</c:v>
                </c:pt>
              </c:numCache>
            </c:numRef>
          </c:val>
        </c:ser>
        <c:ser>
          <c:idx val="4"/>
          <c:order val="4"/>
          <c:tx>
            <c:strRef>
              <c:strCache>
                <c:ptCount val="1"/>
                <c:pt idx="0">
                  <c:v>Pumpkin Spice</c:v>
                </c:pt>
              </c:strCache>
            </c:strRef>
          </c:tx>
          <c:spPr>
            <a:solidFill>
              <a:srgbClr val="A35313"/>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10.222827454007684</c:v>
                </c:pt>
                <c:pt idx="1">
                  <c:v>11.386721135950445</c:v>
                </c:pt>
                <c:pt idx="2">
                  <c:v>13.455810363749773</c:v>
                </c:pt>
              </c:numCache>
            </c:numRef>
          </c:val>
        </c:ser>
        <c:ser>
          <c:idx val="5"/>
          <c:order val="5"/>
          <c:tx>
            <c:strRef>
              <c:strCache>
                <c:ptCount val="1"/>
                <c:pt idx="0">
                  <c:v>Mocha</c:v>
                </c:pt>
              </c:strCache>
            </c:strRef>
          </c:tx>
          <c:spPr>
            <a:solidFill>
              <a:srgbClr val="808080"/>
            </a:solidFill>
            <a:ln>
              <a:noFill/>
            </a:ln>
          </c:spPr>
          <c:dLbls>
            <c:dLbl>
              <c:idx val="0"/>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10.441621635687087</c:v>
                </c:pt>
                <c:pt idx="1">
                  <c:v>11.37639137402002</c:v>
                </c:pt>
                <c:pt idx="2">
                  <c:v>13.045338444411108</c:v>
                </c:pt>
              </c:numCache>
            </c:numRef>
          </c:val>
        </c:ser>
        <c:ser>
          <c:idx val="6"/>
          <c:order val="6"/>
          <c:tx>
            <c:strRef>
              <c:strCache>
                <c:ptCount val="1"/>
                <c:pt idx="0">
                  <c:v>Cinnamon</c:v>
                </c:pt>
              </c:strCache>
            </c:strRef>
          </c:tx>
          <c:spPr>
            <a:solidFill>
              <a:srgbClr val="0E72AE"/>
            </a:solidFill>
            <a:ln>
              <a:noFill/>
            </a:ln>
          </c:spPr>
          <c:dLbls>
            <c:dLbl>
              <c:idx val="0"/>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5.025760900677416</c:v>
                </c:pt>
                <c:pt idx="1">
                  <c:v>5.570166928952796</c:v>
                </c:pt>
                <c:pt idx="2">
                  <c:v>6.53266207669775</c:v>
                </c:pt>
              </c:numCache>
            </c:numRef>
          </c:val>
        </c:ser>
        <c:ser>
          <c:idx val="7"/>
          <c:order val="7"/>
          <c:tx>
            <c:strRef>
              <c:strCache>
                <c:ptCount val="1"/>
                <c:pt idx="0">
                  <c:v>Other Flavours</c:v>
                </c:pt>
              </c:strCache>
            </c:strRef>
          </c:tx>
          <c:spPr>
            <a:solidFill>
              <a:srgbClr val="A86F00"/>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5.856810158642045</c:v>
                </c:pt>
                <c:pt idx="1">
                  <c:v>5.382614381902975</c:v>
                </c:pt>
                <c:pt idx="2">
                  <c:v>4.54104916583105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Pouches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19.23654917074176</c:v>
                </c:pt>
                <c:pt idx="1">
                  <c:v>21.020097486716335</c:v>
                </c:pt>
              </c:numCache>
            </c:numRef>
          </c:val>
        </c:ser>
        <c:ser>
          <c:idx val="1"/>
          <c:order val="1"/>
          <c:tx>
            <c:strRef>
              <c:strCache>
                <c:ptCount val="1"/>
                <c:pt idx="0">
                  <c:v>Tins and Cans</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3.2553763929538806</c:v>
                </c:pt>
                <c:pt idx="1">
                  <c:v>2.296280574381193</c:v>
                </c:pt>
              </c:numCache>
            </c:numRef>
          </c:val>
        </c:ser>
        <c:ser>
          <c:idx val="2"/>
          <c:order val="2"/>
          <c:tx>
            <c:strRef>
              <c:strCache>
                <c:ptCount val="1"/>
                <c:pt idx="0">
                  <c:v>Jars</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7.256691329297631</c:v>
                </c:pt>
                <c:pt idx="1">
                  <c:v>8.806153665998213</c:v>
                </c:pt>
              </c:numCache>
            </c:numRef>
          </c:val>
        </c:ser>
        <c:ser>
          <c:idx val="3"/>
          <c:order val="3"/>
          <c:tx>
            <c:strRef>
              <c:strCache>
                <c:ptCount val="1"/>
                <c:pt idx="0">
                  <c:v>Boxes and Cartons</c:v>
                </c:pt>
              </c:strCache>
            </c:strRef>
          </c:tx>
          <c:spPr>
            <a:solidFill>
              <a:srgbClr val="40315E"/>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7.339405067049635</c:v>
                </c:pt>
                <c:pt idx="1">
                  <c:v>6.365179969846451</c:v>
                </c:pt>
              </c:numCache>
            </c:numRef>
          </c:val>
        </c:ser>
        <c:ser>
          <c:idx val="4"/>
          <c:order val="4"/>
          <c:tx>
            <c:strRef>
              <c:strCache>
                <c:ptCount val="1"/>
                <c:pt idx="0">
                  <c:v>Sachets and Stick Packs</c:v>
                </c:pt>
              </c:strCache>
            </c:strRef>
          </c:tx>
          <c:spPr>
            <a:solidFill>
              <a:srgbClr val="A35313"/>
            </a:solidFill>
            <a:ln>
              <a:noFill/>
            </a:ln>
          </c:spPr>
          <c:dLbls>
            <c:dLbl>
              <c:idx val="0"/>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11.536748532058391</c:v>
                </c:pt>
                <c:pt idx="1">
                  <c:v>13.20754716981132</c:v>
                </c:pt>
              </c:numCache>
            </c:numRef>
          </c:val>
        </c:ser>
        <c:ser>
          <c:idx val="5"/>
          <c:order val="5"/>
          <c:tx>
            <c:strRef>
              <c:strCache>
                <c:ptCount val="1"/>
                <c:pt idx="0">
                  <c:v>Bottles</c:v>
                </c:pt>
              </c:strCache>
            </c:strRef>
          </c:tx>
          <c:spPr>
            <a:solidFill>
              <a:srgbClr val="808080"/>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13.574596884146231</c:v>
                </c:pt>
                <c:pt idx="1">
                  <c:v>12.431532415065064</c:v>
                </c:pt>
              </c:numCache>
            </c:numRef>
          </c:val>
        </c:ser>
        <c:ser>
          <c:idx val="6"/>
          <c:order val="6"/>
          <c:tx>
            <c:strRef>
              <c:strCache>
                <c:ptCount val="1"/>
                <c:pt idx="0">
                  <c:v>Cups</c:v>
                </c:pt>
              </c:strCache>
            </c:strRef>
          </c:tx>
          <c:spPr>
            <a:solidFill>
              <a:srgbClr val="0E72AE"/>
            </a:solidFill>
            <a:ln>
              <a:noFill/>
            </a:ln>
          </c:spPr>
          <c:dLbls>
            <c:dLbl>
              <c:idx val="0"/>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19.30517430481073</c:v>
                </c:pt>
                <c:pt idx="1">
                  <c:v>14.198003425208949</c:v>
                </c:pt>
              </c:numCache>
            </c:numRef>
          </c:val>
        </c:ser>
        <c:ser>
          <c:idx val="7"/>
          <c:order val="7"/>
          <c:tx>
            <c:strRef>
              <c:strCache>
                <c:ptCount val="1"/>
                <c:pt idx="0">
                  <c:v>Bulk Industrial Packaging</c:v>
                </c:pt>
              </c:strCache>
            </c:strRef>
          </c:tx>
          <c:spPr>
            <a:solidFill>
              <a:srgbClr val="A86F00"/>
            </a:solidFill>
            <a:ln>
              <a:noFill/>
            </a:ln>
          </c:spPr>
          <c:dLbls>
            <c:dLbl>
              <c:idx val="0"/>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15.782871893690123</c:v>
                </c:pt>
                <c:pt idx="1">
                  <c:v>18.500153695273504</c:v>
                </c:pt>
              </c:numCache>
            </c:numRef>
          </c:val>
        </c:ser>
        <c:ser>
          <c:idx val="8"/>
          <c:order val="8"/>
          <c:tx>
            <c:strRef>
              <c:strCache>
                <c:ptCount val="1"/>
                <c:pt idx="0">
                  <c:v>Other Packaging Types</c:v>
                </c:pt>
              </c:strCache>
            </c:strRef>
          </c:tx>
          <c:spPr>
            <a:solidFill>
              <a:srgbClr val="0B2E4A"/>
            </a:solidFill>
            <a:ln>
              <a:noFill/>
            </a:ln>
          </c:spPr>
          <c:dLbls>
            <c:dLbl>
              <c:idx val="0"/>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2.7125864252516254</c:v>
                </c:pt>
                <c:pt idx="1">
                  <c:v>3.1750515976989613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3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Pouches</c:v>
                </c:pt>
              </c:strCache>
            </c:strRef>
          </c:tx>
          <c:spPr>
            <a:solidFill>
              <a:srgbClr val="3D85C6"/>
            </a:solidFill>
          </c:spPr>
          <c:invertIfNegative val="0"/>
          <c:xVal>
            <c:numRef>
              <c:numCache>
                <c:formatCode>General</c:formatCode>
                <c:ptCount val="1"/>
                <c:pt idx="0">
                  <c:v>96.88678468364772</c:v>
                </c:pt>
              </c:numCache>
            </c:numRef>
          </c:xVal>
          <c:yVal>
            <c:numRef>
              <c:numCache>
                <c:formatCode>General</c:formatCode>
                <c:ptCount val="1"/>
                <c:pt idx="0">
                  <c:v>187.3148727014034</c:v>
                </c:pt>
              </c:numCache>
            </c:numRef>
          </c:yVal>
          <c:bubbleSize>
            <c:numRef>
              <c:numCache>
                <c:formatCode>General</c:formatCode>
                <c:ptCount val="1"/>
                <c:pt idx="0">
                  <c:v>414.188</c:v>
                </c:pt>
              </c:numCache>
            </c:numRef>
          </c:bubbleSize>
          <c:bubble3D val="0"/>
        </c:ser>
        <c:ser>
          <c:idx val="1"/>
          <c:order val="1"/>
          <c:tx>
            <c:strRef>
              <c:strCache>
                <c:ptCount val="1"/>
                <c:pt idx="0">
                  <c:v>Tins and Cans</c:v>
                </c:pt>
              </c:strCache>
            </c:strRef>
          </c:tx>
          <c:spPr>
            <a:solidFill>
              <a:srgbClr val="9E7E0A"/>
            </a:solidFill>
          </c:spPr>
          <c:invertIfNegative val="0"/>
          <c:xVal>
            <c:numRef>
              <c:numCache>
                <c:formatCode>General</c:formatCode>
                <c:ptCount val="1"/>
                <c:pt idx="0">
                  <c:v>56.83251230244625</c:v>
                </c:pt>
              </c:numCache>
            </c:numRef>
          </c:xVal>
          <c:yVal>
            <c:numRef>
              <c:numCache>
                <c:formatCode>General</c:formatCode>
                <c:ptCount val="1"/>
                <c:pt idx="0">
                  <c:v>30.272759609373317</c:v>
                </c:pt>
              </c:numCache>
            </c:numRef>
          </c:yVal>
          <c:bubbleSize>
            <c:numRef>
              <c:numCache>
                <c:formatCode>General</c:formatCode>
                <c:ptCount val="1"/>
                <c:pt idx="0">
                  <c:v>52.864</c:v>
                </c:pt>
              </c:numCache>
            </c:numRef>
          </c:bubbleSize>
          <c:bubble3D val="0"/>
        </c:ser>
        <c:ser>
          <c:idx val="2"/>
          <c:order val="2"/>
          <c:tx>
            <c:strRef>
              <c:strCache>
                <c:ptCount val="1"/>
                <c:pt idx="0">
                  <c:v>Jars</c:v>
                </c:pt>
              </c:strCache>
            </c:strRef>
          </c:tx>
          <c:spPr>
            <a:solidFill>
              <a:srgbClr val="008189"/>
            </a:solidFill>
          </c:spPr>
          <c:invertIfNegative val="0"/>
          <c:xVal>
            <c:numRef>
              <c:numCache>
                <c:formatCode>General</c:formatCode>
                <c:ptCount val="1"/>
                <c:pt idx="0">
                  <c:v>74.23459744228941</c:v>
                </c:pt>
              </c:numCache>
            </c:numRef>
          </c:xVal>
          <c:yVal>
            <c:numRef>
              <c:numCache>
                <c:formatCode>General</c:formatCode>
                <c:ptCount val="1"/>
                <c:pt idx="0">
                  <c:v>86.88452583698019</c:v>
                </c:pt>
              </c:numCache>
            </c:numRef>
          </c:yVal>
          <c:bubbleSize>
            <c:numRef>
              <c:numCache>
                <c:formatCode>General</c:formatCode>
                <c:ptCount val="1"/>
                <c:pt idx="0">
                  <c:v>168.224</c:v>
                </c:pt>
              </c:numCache>
            </c:numRef>
          </c:bubbleSize>
          <c:bubble3D val="0"/>
        </c:ser>
        <c:ser>
          <c:idx val="3"/>
          <c:order val="3"/>
          <c:tx>
            <c:strRef>
              <c:strCache>
                <c:ptCount val="1"/>
                <c:pt idx="0">
                  <c:v>Boxes and Cartons</c:v>
                </c:pt>
              </c:strCache>
            </c:strRef>
          </c:tx>
          <c:spPr>
            <a:solidFill>
              <a:srgbClr val="40315E"/>
            </a:solidFill>
          </c:spPr>
          <c:invertIfNegative val="0"/>
          <c:xVal>
            <c:numRef>
              <c:numCache>
                <c:formatCode>General</c:formatCode>
                <c:ptCount val="1"/>
                <c:pt idx="0">
                  <c:v>74.75815308521622</c:v>
                </c:pt>
              </c:numCache>
            </c:numRef>
          </c:xVal>
          <c:yVal>
            <c:numRef>
              <c:numCache>
                <c:formatCode>General</c:formatCode>
                <c:ptCount val="1"/>
                <c:pt idx="0">
                  <c:v>69.72508461422382</c:v>
                </c:pt>
              </c:numCache>
            </c:numRef>
          </c:yVal>
          <c:bubbleSize>
            <c:numRef>
              <c:numCache>
                <c:formatCode>General</c:formatCode>
                <c:ptCount val="1"/>
                <c:pt idx="0">
                  <c:v>135.418</c:v>
                </c:pt>
              </c:numCache>
            </c:numRef>
          </c:bubbleSize>
          <c:bubble3D val="0"/>
        </c:ser>
        <c:ser>
          <c:idx val="4"/>
          <c:order val="4"/>
          <c:tx>
            <c:strRef>
              <c:strCache>
                <c:ptCount val="1"/>
                <c:pt idx="0">
                  <c:v>Sachets and Stick Packs</c:v>
                </c:pt>
              </c:strCache>
            </c:strRef>
          </c:tx>
          <c:spPr>
            <a:solidFill>
              <a:srgbClr val="A35313"/>
            </a:solidFill>
          </c:spPr>
          <c:invertIfNegative val="0"/>
          <c:xVal>
            <c:numRef>
              <c:numCache>
                <c:formatCode>General</c:formatCode>
                <c:ptCount val="1"/>
                <c:pt idx="0">
                  <c:v>123.17502620494223</c:v>
                </c:pt>
              </c:numCache>
            </c:numRef>
          </c:xVal>
          <c:yVal>
            <c:numRef>
              <c:numCache>
                <c:formatCode>General</c:formatCode>
                <c:ptCount val="1"/>
                <c:pt idx="0">
                  <c:v>99.69307133464117</c:v>
                </c:pt>
              </c:numCache>
            </c:numRef>
          </c:yVal>
          <c:bubbleSize>
            <c:numRef>
              <c:numCache>
                <c:formatCode>General</c:formatCode>
                <c:ptCount val="1"/>
                <c:pt idx="0">
                  <c:v>256.615</c:v>
                </c:pt>
              </c:numCache>
            </c:numRef>
          </c:bubbleSize>
          <c:bubble3D val="0"/>
        </c:ser>
        <c:ser>
          <c:idx val="5"/>
          <c:order val="5"/>
          <c:tx>
            <c:strRef>
              <c:strCache>
                <c:ptCount val="1"/>
                <c:pt idx="0">
                  <c:v>Bottles</c:v>
                </c:pt>
              </c:strCache>
            </c:strRef>
          </c:tx>
          <c:spPr>
            <a:solidFill>
              <a:srgbClr val="808080"/>
            </a:solidFill>
          </c:spPr>
          <c:invertIfNegative val="0"/>
          <c:xVal>
            <c:numRef>
              <c:numCache>
                <c:formatCode>General</c:formatCode>
                <c:ptCount val="1"/>
                <c:pt idx="0">
                  <c:v>92.78916824335155</c:v>
                </c:pt>
              </c:numCache>
            </c:numRef>
          </c:xVal>
          <c:yVal>
            <c:numRef>
              <c:numCache>
                <c:formatCode>General</c:formatCode>
                <c:ptCount val="1"/>
                <c:pt idx="0">
                  <c:v>120.17914501907863</c:v>
                </c:pt>
              </c:numCache>
            </c:numRef>
          </c:yVal>
          <c:bubbleSize>
            <c:numRef>
              <c:numCache>
                <c:formatCode>General</c:formatCode>
                <c:ptCount val="1"/>
                <c:pt idx="0">
                  <c:v>259.464</c:v>
                </c:pt>
              </c:numCache>
            </c:numRef>
          </c:bubbleSize>
          <c:bubble3D val="0"/>
        </c:ser>
        <c:ser>
          <c:idx val="6"/>
          <c:order val="6"/>
          <c:tx>
            <c:strRef>
              <c:strCache>
                <c:ptCount val="1"/>
                <c:pt idx="0">
                  <c:v>Cups</c:v>
                </c:pt>
              </c:strCache>
            </c:strRef>
          </c:tx>
          <c:spPr>
            <a:solidFill>
              <a:srgbClr val="0E72AE"/>
            </a:solidFill>
          </c:spPr>
          <c:invertIfNegative val="0"/>
          <c:xVal>
            <c:numRef>
              <c:numCache>
                <c:formatCode>General</c:formatCode>
                <c:ptCount val="1"/>
                <c:pt idx="0">
                  <c:v>102.4016534135312</c:v>
                </c:pt>
              </c:numCache>
            </c:numRef>
          </c:xVal>
          <c:yVal>
            <c:numRef>
              <c:numCache>
                <c:formatCode>General</c:formatCode>
                <c:ptCount val="1"/>
                <c:pt idx="0">
                  <c:v>140.77678013236468</c:v>
                </c:pt>
              </c:numCache>
            </c:numRef>
          </c:yVal>
          <c:bubbleSize>
            <c:numRef>
              <c:numCache>
                <c:formatCode>General</c:formatCode>
                <c:ptCount val="1"/>
                <c:pt idx="0">
                  <c:v>321.428</c:v>
                </c:pt>
              </c:numCache>
            </c:numRef>
          </c:bubbleSize>
          <c:bubble3D val="0"/>
        </c:ser>
        <c:ser>
          <c:idx val="7"/>
          <c:order val="7"/>
          <c:tx>
            <c:strRef>
              <c:strCache>
                <c:ptCount val="1"/>
                <c:pt idx="0">
                  <c:v>Bulk Industrial Packaging</c:v>
                </c:pt>
              </c:strCache>
            </c:strRef>
          </c:tx>
          <c:spPr>
            <a:solidFill>
              <a:srgbClr val="A86F00"/>
            </a:solidFill>
          </c:spPr>
          <c:invertIfNegative val="0"/>
          <c:xVal>
            <c:numRef>
              <c:numCache>
                <c:formatCode>General</c:formatCode>
                <c:ptCount val="1"/>
                <c:pt idx="0">
                  <c:v>119.9205832305267</c:v>
                </c:pt>
              </c:numCache>
            </c:numRef>
          </c:xVal>
          <c:yVal>
            <c:numRef>
              <c:numCache>
                <c:formatCode>General</c:formatCode>
                <c:ptCount val="1"/>
                <c:pt idx="0">
                  <c:v>141.2917412206006</c:v>
                </c:pt>
              </c:numCache>
            </c:numRef>
          </c:yVal>
          <c:bubbleSize>
            <c:numRef>
              <c:numCache>
                <c:formatCode>General</c:formatCode>
                <c:ptCount val="1"/>
                <c:pt idx="0">
                  <c:v>356.959</c:v>
                </c:pt>
              </c:numCache>
            </c:numRef>
          </c:bubbleSize>
          <c:bubble3D val="0"/>
        </c:ser>
        <c:ser>
          <c:idx val="8"/>
          <c:order val="8"/>
          <c:tx>
            <c:strRef>
              <c:strCache>
                <c:ptCount val="1"/>
                <c:pt idx="0">
                  <c:v>Other Packaging Types</c:v>
                </c:pt>
              </c:strCache>
            </c:strRef>
          </c:tx>
          <c:spPr>
            <a:solidFill>
              <a:srgbClr val="0B2E4A"/>
            </a:solidFill>
          </c:spPr>
          <c:invertIfNegative val="0"/>
          <c:xVal>
            <c:numRef>
              <c:numCache>
                <c:formatCode>General</c:formatCode>
                <c:ptCount val="1"/>
                <c:pt idx="0">
                  <c:v>122.79422451668151</c:v>
                </c:pt>
              </c:numCache>
            </c:numRef>
          </c:xVal>
          <c:yVal>
            <c:numRef>
              <c:numCache>
                <c:formatCode>General</c:formatCode>
                <c:ptCount val="1"/>
                <c:pt idx="0">
                  <c:v>23.862019531334212</c:v>
                </c:pt>
              </c:numCache>
            </c:numRef>
          </c:yVal>
          <c:bubbleSize>
            <c:numRef>
              <c:numCache>
                <c:formatCode>General</c:formatCode>
                <c:ptCount val="1"/>
                <c:pt idx="0">
                  <c:v>61.288</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4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5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3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231.706</c:v>
                </c:pt>
                <c:pt idx="2">
                  <c:v>260.38</c:v>
                </c:pt>
                <c:pt idx="3">
                  <c:v>292.53</c:v>
                </c:pt>
                <c:pt idx="4">
                  <c:v>328.568</c:v>
                </c:pt>
                <c:pt idx="5">
                  <c:v>368.952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231.706</c:v>
                </c:pt>
                <c:pt idx="1">
                  <c:v>28.674000000000007</c:v>
                </c:pt>
                <c:pt idx="2">
                  <c:v>32.14999999999998</c:v>
                </c:pt>
                <c:pt idx="3">
                  <c:v>36.03800000000001</c:v>
                </c:pt>
                <c:pt idx="4">
                  <c:v>40.384000000000015</c:v>
                </c:pt>
                <c:pt idx="5">
                  <c:v>45.23599999999999</c:v>
                </c:pt>
                <c:pt idx="6">
                  <c:v>414.188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37.447</c:v>
                </c:pt>
                <c:pt idx="2">
                  <c:v>40.211</c:v>
                </c:pt>
                <c:pt idx="3">
                  <c:v>43.133</c:v>
                </c:pt>
                <c:pt idx="4">
                  <c:v>46.217</c:v>
                </c:pt>
                <c:pt idx="5">
                  <c:v>49.461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37.447</c:v>
                </c:pt>
                <c:pt idx="1">
                  <c:v>2.763999999999996</c:v>
                </c:pt>
                <c:pt idx="2">
                  <c:v>2.922000000000004</c:v>
                </c:pt>
                <c:pt idx="3">
                  <c:v>3.083999999999996</c:v>
                </c:pt>
                <c:pt idx="4">
                  <c:v>3.2439999999999998</c:v>
                </c:pt>
                <c:pt idx="5">
                  <c:v>3.4029999999999987</c:v>
                </c:pt>
                <c:pt idx="6">
                  <c:v>52.864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107.475</c:v>
                </c:pt>
                <c:pt idx="2">
                  <c:v>117.585</c:v>
                </c:pt>
                <c:pt idx="3">
                  <c:v>128.63</c:v>
                </c:pt>
                <c:pt idx="4">
                  <c:v>140.691</c:v>
                </c:pt>
                <c:pt idx="5">
                  <c:v>153.857</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107.475</c:v>
                </c:pt>
                <c:pt idx="1">
                  <c:v>10.11</c:v>
                </c:pt>
                <c:pt idx="2">
                  <c:v>11.045000000000002</c:v>
                </c:pt>
                <c:pt idx="3">
                  <c:v>12.061000000000007</c:v>
                </c:pt>
                <c:pt idx="4">
                  <c:v>13.165999999999997</c:v>
                </c:pt>
                <c:pt idx="5">
                  <c:v>14.36699999999999</c:v>
                </c:pt>
                <c:pt idx="6">
                  <c:v>168.224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86.249</c:v>
                </c:pt>
                <c:pt idx="2">
                  <c:v>94.423</c:v>
                </c:pt>
                <c:pt idx="3">
                  <c:v>103.357</c:v>
                </c:pt>
                <c:pt idx="4">
                  <c:v>113.118</c:v>
                </c:pt>
                <c:pt idx="5">
                  <c:v>123.779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86.249</c:v>
                </c:pt>
                <c:pt idx="1">
                  <c:v>8.174000000000007</c:v>
                </c:pt>
                <c:pt idx="2">
                  <c:v>8.933999999999997</c:v>
                </c:pt>
                <c:pt idx="3">
                  <c:v>9.760999999999996</c:v>
                </c:pt>
                <c:pt idx="4">
                  <c:v>10.661000000000001</c:v>
                </c:pt>
                <c:pt idx="5">
                  <c:v>11.63900000000001</c:v>
                </c:pt>
                <c:pt idx="6">
                  <c:v>135.418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123.319</c:v>
                </c:pt>
                <c:pt idx="2">
                  <c:v>143.409</c:v>
                </c:pt>
                <c:pt idx="3">
                  <c:v>166.377</c:v>
                </c:pt>
                <c:pt idx="4">
                  <c:v>192.606</c:v>
                </c:pt>
                <c:pt idx="5">
                  <c:v>222.524</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123.319</c:v>
                </c:pt>
                <c:pt idx="1">
                  <c:v>20.08999999999999</c:v>
                </c:pt>
                <c:pt idx="2">
                  <c:v>22.968000000000018</c:v>
                </c:pt>
                <c:pt idx="3">
                  <c:v>26.228999999999985</c:v>
                </c:pt>
                <c:pt idx="4">
                  <c:v>29.918000000000006</c:v>
                </c:pt>
                <c:pt idx="5">
                  <c:v>34.09100000000001</c:v>
                </c:pt>
                <c:pt idx="6">
                  <c:v>256.615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148.66</c:v>
                </c:pt>
                <c:pt idx="2">
                  <c:v>166.215</c:v>
                </c:pt>
                <c:pt idx="3">
                  <c:v>185.824</c:v>
                </c:pt>
                <c:pt idx="4">
                  <c:v>207.723</c:v>
                </c:pt>
                <c:pt idx="5">
                  <c:v>232.173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148.66</c:v>
                </c:pt>
                <c:pt idx="1">
                  <c:v>17.555000000000007</c:v>
                </c:pt>
                <c:pt idx="2">
                  <c:v>19.60900000000001</c:v>
                </c:pt>
                <c:pt idx="3">
                  <c:v>21.899</c:v>
                </c:pt>
                <c:pt idx="4">
                  <c:v>24.44999999999999</c:v>
                </c:pt>
                <c:pt idx="5">
                  <c:v>27.290999999999997</c:v>
                </c:pt>
                <c:pt idx="6">
                  <c:v>259.464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3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174.139</c:v>
                </c:pt>
                <c:pt idx="2">
                  <c:v>197.018</c:v>
                </c:pt>
                <c:pt idx="3">
                  <c:v>222.806</c:v>
                </c:pt>
                <c:pt idx="4">
                  <c:v>251.864</c:v>
                </c:pt>
                <c:pt idx="5">
                  <c:v>284.588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174.139</c:v>
                </c:pt>
                <c:pt idx="1">
                  <c:v>22.87899999999999</c:v>
                </c:pt>
                <c:pt idx="2">
                  <c:v>25.78800000000001</c:v>
                </c:pt>
                <c:pt idx="3">
                  <c:v>29.057999999999993</c:v>
                </c:pt>
                <c:pt idx="4">
                  <c:v>32.72400000000002</c:v>
                </c:pt>
                <c:pt idx="5">
                  <c:v>36.839999999999975</c:v>
                </c:pt>
                <c:pt idx="6">
                  <c:v>321.428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174.776</c:v>
                </c:pt>
                <c:pt idx="2">
                  <c:v>202.353</c:v>
                </c:pt>
                <c:pt idx="3">
                  <c:v>233.818</c:v>
                </c:pt>
                <c:pt idx="4">
                  <c:v>269.68</c:v>
                </c:pt>
                <c:pt idx="5">
                  <c:v>310.512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174.776</c:v>
                </c:pt>
                <c:pt idx="1">
                  <c:v>27.576999999999998</c:v>
                </c:pt>
                <c:pt idx="2">
                  <c:v>31.465000000000003</c:v>
                </c:pt>
                <c:pt idx="3">
                  <c:v>35.861999999999995</c:v>
                </c:pt>
                <c:pt idx="4">
                  <c:v>40.831999999999994</c:v>
                </c:pt>
                <c:pt idx="5">
                  <c:v>46.447</c:v>
                </c:pt>
                <c:pt idx="6">
                  <c:v>356.959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29.517</c:v>
                </c:pt>
                <c:pt idx="2">
                  <c:v>34.307</c:v>
                </c:pt>
                <c:pt idx="3">
                  <c:v>39.784</c:v>
                </c:pt>
                <c:pt idx="4">
                  <c:v>46.036</c:v>
                </c:pt>
                <c:pt idx="5">
                  <c:v>53.165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29.517</c:v>
                </c:pt>
                <c:pt idx="1">
                  <c:v>4.790000000000003</c:v>
                </c:pt>
                <c:pt idx="2">
                  <c:v>5.476999999999997</c:v>
                </c:pt>
                <c:pt idx="3">
                  <c:v>6.2520000000000024</c:v>
                </c:pt>
                <c:pt idx="4">
                  <c:v>7.128999999999998</c:v>
                </c:pt>
                <c:pt idx="5">
                  <c:v>8.122999999999998</c:v>
                </c:pt>
                <c:pt idx="6">
                  <c:v>61.288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Pouches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21.02798570573592</c:v>
                </c:pt>
                <c:pt idx="1">
                  <c:v>20.81276363348927</c:v>
                </c:pt>
                <c:pt idx="2">
                  <c:v>20.439113167473334</c:v>
                </c:pt>
              </c:numCache>
            </c:numRef>
          </c:val>
        </c:ser>
        <c:ser>
          <c:idx val="1"/>
          <c:order val="1"/>
          <c:tx>
            <c:strRef>
              <c:strCache>
                <c:ptCount val="1"/>
                <c:pt idx="0">
                  <c:v>Bulk Industrial Packaging</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14.59101317535627</c:v>
                </c:pt>
                <c:pt idx="1">
                  <c:v>15.699082357844512</c:v>
                </c:pt>
                <c:pt idx="2">
                  <c:v>17.615009119404988</c:v>
                </c:pt>
              </c:numCache>
            </c:numRef>
          </c:val>
        </c:ser>
        <c:ser>
          <c:idx val="2"/>
          <c:order val="2"/>
          <c:tx>
            <c:strRef>
              <c:strCache>
                <c:ptCount val="1"/>
                <c:pt idx="0">
                  <c:v>Cups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15.52397845451943</c:v>
                </c:pt>
                <c:pt idx="1">
                  <c:v>15.64186445915163</c:v>
                </c:pt>
                <c:pt idx="2">
                  <c:v>15.86164559860406</c:v>
                </c:pt>
              </c:numCache>
            </c:numRef>
          </c:val>
        </c:ser>
        <c:ser>
          <c:idx val="3"/>
          <c:order val="3"/>
          <c:tx>
            <c:strRef>
              <c:strCache>
                <c:ptCount val="1"/>
                <c:pt idx="0">
                  <c:v>Bottles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13.671383715988236</c:v>
                </c:pt>
                <c:pt idx="1">
                  <c:v>13.35323833545318</c:v>
                </c:pt>
                <c:pt idx="2">
                  <c:v>12.803881471421919</c:v>
                </c:pt>
              </c:numCache>
            </c:numRef>
          </c:val>
        </c:ser>
        <c:ser>
          <c:idx val="4"/>
          <c:order val="4"/>
          <c:tx>
            <c:strRef>
              <c:strCache>
                <c:ptCount val="1"/>
                <c:pt idx="0">
                  <c:v>Sachets and Stick Packs</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10.160702049596239</c:v>
                </c:pt>
                <c:pt idx="1">
                  <c:v>11.077007926071241</c:v>
                </c:pt>
                <c:pt idx="2">
                  <c:v>12.663290644516909</c:v>
                </c:pt>
              </c:numCache>
            </c:numRef>
          </c:val>
        </c:ser>
        <c:ser>
          <c:idx val="5"/>
          <c:order val="5"/>
          <c:tx>
            <c:strRef>
              <c:strCache>
                <c:ptCount val="1"/>
                <c:pt idx="0">
                  <c:v>Jars</c:v>
                </c:pt>
              </c:strCache>
            </c:strRef>
          </c:tx>
          <c:spPr>
            <a:solidFill>
              <a:srgbClr val="808080"/>
            </a:solidFill>
            <a:ln>
              <a:noFill/>
            </a:ln>
          </c:spPr>
          <c:dLbls>
            <c:dLbl>
              <c:idx val="0"/>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10.43403214474677</c:v>
                </c:pt>
                <c:pt idx="1">
                  <c:v>9.65383620410891</c:v>
                </c:pt>
                <c:pt idx="2">
                  <c:v>8.301421995531097</c:v>
                </c:pt>
              </c:numCache>
            </c:numRef>
          </c:val>
        </c:ser>
        <c:ser>
          <c:idx val="6"/>
          <c:order val="6"/>
          <c:tx>
            <c:strRef>
              <c:strCache>
                <c:ptCount val="1"/>
                <c:pt idx="0">
                  <c:v>Boxes and Cartons</c:v>
                </c:pt>
              </c:strCache>
            </c:strRef>
          </c:tx>
          <c:spPr>
            <a:solidFill>
              <a:srgbClr val="0E72AE"/>
            </a:solidFill>
            <a:ln>
              <a:noFill/>
            </a:ln>
          </c:spPr>
          <c:dLbls>
            <c:dLbl>
              <c:idx val="0"/>
              <c:numFmt formatCode="&quot;MMM&quot;;&quot;MMM&quot;;&quot;MMM&quot;" sourceLinked="0"/>
              <c:spPr>
                <a:blipFill>
                  <a:blip r:embed="rId2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8.359715849459194</c:v>
                </c:pt>
                <c:pt idx="1">
                  <c:v>7.747231623802646</c:v>
                </c:pt>
                <c:pt idx="2">
                  <c:v>6.682530220365883</c:v>
                </c:pt>
              </c:numCache>
            </c:numRef>
          </c:val>
        </c:ser>
        <c:ser>
          <c:idx val="7"/>
          <c:order val="7"/>
          <c:tx>
            <c:strRef>
              <c:strCache>
                <c:ptCount val="1"/>
                <c:pt idx="0">
                  <c:v>Other Packaging Types</c:v>
                </c:pt>
              </c:strCache>
            </c:strRef>
          </c:tx>
          <c:spPr>
            <a:solidFill>
              <a:srgbClr val="A86F00"/>
            </a:solidFill>
            <a:ln>
              <a:noFill/>
            </a:ln>
          </c:spPr>
          <c:dLbls>
            <c:dLbl>
              <c:idx val="0"/>
              <c:numFmt formatCode="&quot;MMM&quot;;&quot;MMM&quot;;&quot;MMM&quot;" sourceLinked="0"/>
              <c:spPr>
                <a:blipFill>
                  <a:blip r:embed="rId2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2.435467642747482</c:v>
                </c:pt>
                <c:pt idx="1">
                  <c:v>2.6513355034815786</c:v>
                </c:pt>
                <c:pt idx="2">
                  <c:v>3.024405264778568</c:v>
                </c:pt>
              </c:numCache>
            </c:numRef>
          </c:val>
        </c:ser>
        <c:ser>
          <c:idx val="8"/>
          <c:order val="8"/>
          <c:tx>
            <c:strRef>
              <c:strCache>
                <c:ptCount val="1"/>
                <c:pt idx="0">
                  <c:v>Tins and Cans</c:v>
                </c:pt>
              </c:strCache>
            </c:strRef>
          </c:tx>
          <c:spPr>
            <a:solidFill>
              <a:srgbClr val="0B2E4A"/>
            </a:solidFill>
            <a:ln>
              <a:noFill/>
            </a:ln>
          </c:spPr>
          <c:dLbls>
            <c:dLbl>
              <c:idx val="0"/>
              <c:numFmt formatCode="&quot;MMM&quot;;&quot;MMM&quot;;&quot;MMM&quot;" sourceLinked="0"/>
              <c:spPr>
                <a:blipFill>
                  <a:blip r:embed="rId2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2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2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3.7957212618504474</c:v>
                </c:pt>
                <c:pt idx="1">
                  <c:v>3.363639956597035</c:v>
                </c:pt>
                <c:pt idx="2">
                  <c:v>2.6087025179032475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Ceremonial Grade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15.032388639434757</c:v>
                </c:pt>
                <c:pt idx="1">
                  <c:v>17.477128679538037</c:v>
                </c:pt>
              </c:numCache>
            </c:numRef>
          </c:val>
        </c:ser>
        <c:ser>
          <c:idx val="1"/>
          <c:order val="1"/>
          <c:tx>
            <c:strRef>
              <c:strCache>
                <c:ptCount val="1"/>
                <c:pt idx="0">
                  <c:v>Premium Grade</c:v>
                </c:pt>
              </c:strCache>
            </c:strRef>
          </c:tx>
          <c:spPr>
            <a:solidFill>
              <a:srgbClr val="9E7E0A"/>
            </a:solidFill>
            <a:ln>
              <a:noFill/>
            </a:ln>
          </c:spPr>
          <c:dLbls>
            <c:dLbl>
              <c:idx val="0"/>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7.451810915789537</c:v>
                </c:pt>
                <c:pt idx="1">
                  <c:v>11.87874174802758</c:v>
                </c:pt>
              </c:numCache>
            </c:numRef>
          </c:val>
        </c:ser>
        <c:ser>
          <c:idx val="2"/>
          <c:order val="2"/>
          <c:tx>
            <c:strRef>
              <c:strCache>
                <c:ptCount val="1"/>
                <c:pt idx="0">
                  <c:v>Standard Drinking Grade</c:v>
                </c:pt>
              </c:strCache>
            </c:strRef>
          </c:tx>
          <c:spPr>
            <a:solidFill>
              <a:srgbClr val="008189"/>
            </a:solidFill>
            <a:ln>
              <a:noFill/>
            </a:ln>
          </c:spPr>
          <c:dLbls>
            <c:dLbl>
              <c:idx val="0"/>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9.371648275736696</c:v>
                </c:pt>
                <c:pt idx="1">
                  <c:v>11.543393298886077</c:v>
                </c:pt>
              </c:numCache>
            </c:numRef>
          </c:val>
        </c:ser>
        <c:ser>
          <c:idx val="3"/>
          <c:order val="3"/>
          <c:tx>
            <c:strRef>
              <c:strCache>
                <c:ptCount val="1"/>
                <c:pt idx="0">
                  <c:v>Culinary Grade</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55.001151326752584</c:v>
                </c:pt>
                <c:pt idx="1">
                  <c:v>44.453649896804606</c:v>
                </c:pt>
              </c:numCache>
            </c:numRef>
          </c:val>
        </c:ser>
        <c:ser>
          <c:idx val="4"/>
          <c:order val="4"/>
          <c:tx>
            <c:strRef>
              <c:strCache>
                <c:ptCount val="1"/>
                <c:pt idx="0">
                  <c:v>Industrial Grade</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13.143000842286412</c:v>
                </c:pt>
                <c:pt idx="1">
                  <c:v>14.64708637674371</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44.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Ceremonial Grade</c:v>
                </c:pt>
              </c:strCache>
            </c:strRef>
          </c:tx>
          <c:spPr>
            <a:solidFill>
              <a:srgbClr val="3D85C6"/>
            </a:solidFill>
          </c:spPr>
          <c:invertIfNegative val="0"/>
          <c:xVal>
            <c:numRef>
              <c:numCache>
                <c:formatCode>General</c:formatCode>
                <c:ptCount val="1"/>
                <c:pt idx="0">
                  <c:v>131.625175653974</c:v>
                </c:pt>
              </c:numCache>
            </c:numRef>
          </c:xVal>
          <c:yVal>
            <c:numRef>
              <c:numCache>
                <c:formatCode>General</c:formatCode>
                <c:ptCount val="1"/>
                <c:pt idx="0">
                  <c:v>69.51211187042347</c:v>
                </c:pt>
              </c:numCache>
            </c:numRef>
          </c:yVal>
          <c:bubbleSize>
            <c:numRef>
              <c:numCache>
                <c:formatCode>General</c:formatCode>
                <c:ptCount val="1"/>
                <c:pt idx="0">
                  <c:v>338.027</c:v>
                </c:pt>
              </c:numCache>
            </c:numRef>
          </c:bubbleSize>
          <c:bubble3D val="0"/>
        </c:ser>
        <c:ser>
          <c:idx val="1"/>
          <c:order val="1"/>
          <c:tx>
            <c:strRef>
              <c:strCache>
                <c:ptCount val="1"/>
                <c:pt idx="0">
                  <c:v>Premium Grade</c:v>
                </c:pt>
              </c:strCache>
            </c:strRef>
          </c:tx>
          <c:spPr>
            <a:solidFill>
              <a:srgbClr val="9E7E0A"/>
            </a:solidFill>
          </c:spPr>
          <c:invertIfNegative val="0"/>
          <c:xVal>
            <c:numRef>
              <c:numCache>
                <c:formatCode>General</c:formatCode>
                <c:ptCount val="1"/>
                <c:pt idx="0">
                  <c:v>110.8136501730943</c:v>
                </c:pt>
              </c:numCache>
            </c:numRef>
          </c:xVal>
          <c:yVal>
            <c:numRef>
              <c:numCache>
                <c:formatCode>General</c:formatCode>
                <c:ptCount val="1"/>
                <c:pt idx="0">
                  <c:v>49.01337299961915</c:v>
                </c:pt>
              </c:numCache>
            </c:numRef>
          </c:yVal>
          <c:bubbleSize>
            <c:numRef>
              <c:numCache>
                <c:formatCode>General</c:formatCode>
                <c:ptCount val="1"/>
                <c:pt idx="0">
                  <c:v>211.494</c:v>
                </c:pt>
              </c:numCache>
            </c:numRef>
          </c:bubbleSize>
          <c:bubble3D val="0"/>
        </c:ser>
        <c:ser>
          <c:idx val="2"/>
          <c:order val="2"/>
          <c:tx>
            <c:strRef>
              <c:strCache>
                <c:ptCount val="1"/>
                <c:pt idx="0">
                  <c:v>Standard Drinking Grade</c:v>
                </c:pt>
              </c:strCache>
            </c:strRef>
          </c:tx>
          <c:spPr>
            <a:solidFill>
              <a:srgbClr val="008189"/>
            </a:solidFill>
          </c:spPr>
          <c:invertIfNegative val="0"/>
          <c:xVal>
            <c:numRef>
              <c:numCache>
                <c:formatCode>General</c:formatCode>
                <c:ptCount val="1"/>
                <c:pt idx="0">
                  <c:v>78.27063924783346</c:v>
                </c:pt>
              </c:numCache>
            </c:numRef>
          </c:xVal>
          <c:yVal>
            <c:numRef>
              <c:numCache>
                <c:formatCode>General</c:formatCode>
                <c:ptCount val="1"/>
                <c:pt idx="0">
                  <c:v>61.52496029778458</c:v>
                </c:pt>
              </c:numCache>
            </c:numRef>
          </c:yVal>
          <c:bubbleSize>
            <c:numRef>
              <c:numCache>
                <c:formatCode>General</c:formatCode>
                <c:ptCount val="1"/>
                <c:pt idx="0">
                  <c:v>219.585</c:v>
                </c:pt>
              </c:numCache>
            </c:numRef>
          </c:bubbleSize>
          <c:bubble3D val="0"/>
        </c:ser>
        <c:ser>
          <c:idx val="3"/>
          <c:order val="3"/>
          <c:tx>
            <c:strRef>
              <c:strCache>
                <c:ptCount val="1"/>
                <c:pt idx="0">
                  <c:v>Culinary Grade</c:v>
                </c:pt>
              </c:strCache>
            </c:strRef>
          </c:tx>
          <c:spPr>
            <a:solidFill>
              <a:srgbClr val="40315E"/>
            </a:solidFill>
          </c:spPr>
          <c:invertIfNegative val="0"/>
          <c:xVal>
            <c:numRef>
              <c:numCache>
                <c:formatCode>General</c:formatCode>
                <c:ptCount val="1"/>
                <c:pt idx="0">
                  <c:v>96.12903423929606</c:v>
                </c:pt>
              </c:numCache>
            </c:numRef>
          </c:xVal>
          <c:yVal>
            <c:numRef>
              <c:numCache>
                <c:formatCode>General</c:formatCode>
                <c:ptCount val="1"/>
                <c:pt idx="0">
                  <c:v>244.90338528754464</c:v>
                </c:pt>
              </c:numCache>
            </c:numRef>
          </c:yVal>
          <c:bubbleSize>
            <c:numRef>
              <c:numCache>
                <c:formatCode>General</c:formatCode>
                <c:ptCount val="1"/>
                <c:pt idx="0">
                  <c:v>970.455</c:v>
                </c:pt>
              </c:numCache>
            </c:numRef>
          </c:bubbleSize>
          <c:bubble3D val="0"/>
        </c:ser>
        <c:ser>
          <c:idx val="4"/>
          <c:order val="4"/>
          <c:tx>
            <c:strRef>
              <c:strCache>
                <c:ptCount val="1"/>
                <c:pt idx="0">
                  <c:v>Industrial Grade</c:v>
                </c:pt>
              </c:strCache>
            </c:strRef>
          </c:tx>
          <c:spPr>
            <a:solidFill>
              <a:srgbClr val="A35313"/>
            </a:solidFill>
          </c:spPr>
          <c:invertIfNegative val="0"/>
          <c:xVal>
            <c:numRef>
              <c:numCache>
                <c:formatCode>General</c:formatCode>
                <c:ptCount val="1"/>
                <c:pt idx="0">
                  <c:v>89.97623304898937</c:v>
                </c:pt>
              </c:numCache>
            </c:numRef>
          </c:xVal>
          <c:yVal>
            <c:numRef>
              <c:numCache>
                <c:formatCode>General</c:formatCode>
                <c:ptCount val="1"/>
                <c:pt idx="0">
                  <c:v>75.04616954462817</c:v>
                </c:pt>
              </c:numCache>
            </c:numRef>
          </c:yVal>
          <c:bubbleSize>
            <c:numRef>
              <c:numCache>
                <c:formatCode>General</c:formatCode>
                <c:ptCount val="1"/>
                <c:pt idx="0">
                  <c:v>286.887</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5.0"/>
          <c:min val="60.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3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4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154.774</c:v>
                </c:pt>
                <c:pt idx="2">
                  <c:v>181.758</c:v>
                </c:pt>
                <c:pt idx="3">
                  <c:v>212.934</c:v>
                </c:pt>
                <c:pt idx="4">
                  <c:v>248.902</c:v>
                </c:pt>
                <c:pt idx="5">
                  <c:v>290.343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154.774</c:v>
                </c:pt>
                <c:pt idx="1">
                  <c:v>26.98400000000001</c:v>
                </c:pt>
                <c:pt idx="2">
                  <c:v>31.175999999999988</c:v>
                </c:pt>
                <c:pt idx="3">
                  <c:v>35.96799999999999</c:v>
                </c:pt>
                <c:pt idx="4">
                  <c:v>41.44100000000003</c:v>
                </c:pt>
                <c:pt idx="5">
                  <c:v>47.68399999999997</c:v>
                </c:pt>
                <c:pt idx="6">
                  <c:v>338.027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109.132</c:v>
                </c:pt>
                <c:pt idx="2">
                  <c:v>124.756</c:v>
                </c:pt>
                <c:pt idx="3">
                  <c:v>142.509</c:v>
                </c:pt>
                <c:pt idx="4">
                  <c:v>162.669</c:v>
                </c:pt>
                <c:pt idx="5">
                  <c:v>185.548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109.132</c:v>
                </c:pt>
                <c:pt idx="1">
                  <c:v>15.623999999999995</c:v>
                </c:pt>
                <c:pt idx="2">
                  <c:v>17.752999999999986</c:v>
                </c:pt>
                <c:pt idx="3">
                  <c:v>20.160000000000025</c:v>
                </c:pt>
                <c:pt idx="4">
                  <c:v>22.87899999999999</c:v>
                </c:pt>
                <c:pt idx="5">
                  <c:v>25.945999999999998</c:v>
                </c:pt>
                <c:pt idx="6">
                  <c:v>211.494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136.99</c:v>
                </c:pt>
                <c:pt idx="2">
                  <c:v>150.753</c:v>
                </c:pt>
                <c:pt idx="3">
                  <c:v>165.788</c:v>
                </c:pt>
                <c:pt idx="4">
                  <c:v>182.197</c:v>
                </c:pt>
                <c:pt idx="5">
                  <c:v>200.091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136.99</c:v>
                </c:pt>
                <c:pt idx="1">
                  <c:v>13.762999999999977</c:v>
                </c:pt>
                <c:pt idx="2">
                  <c:v>15.035000000000025</c:v>
                </c:pt>
                <c:pt idx="3">
                  <c:v>16.408999999999992</c:v>
                </c:pt>
                <c:pt idx="4">
                  <c:v>17.894000000000005</c:v>
                </c:pt>
                <c:pt idx="5">
                  <c:v>19.494</c:v>
                </c:pt>
                <c:pt idx="6">
                  <c:v>219.585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545.296</c:v>
                </c:pt>
                <c:pt idx="2">
                  <c:v>612.327</c:v>
                </c:pt>
                <c:pt idx="3">
                  <c:v>687.377</c:v>
                </c:pt>
                <c:pt idx="4">
                  <c:v>771.376</c:v>
                </c:pt>
                <c:pt idx="5">
                  <c:v>865.351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545.296</c:v>
                </c:pt>
                <c:pt idx="1">
                  <c:v>67.03099999999995</c:v>
                </c:pt>
                <c:pt idx="2">
                  <c:v>75.04999999999995</c:v>
                </c:pt>
                <c:pt idx="3">
                  <c:v>83.99900000000002</c:v>
                </c:pt>
                <c:pt idx="4">
                  <c:v>93.97500000000002</c:v>
                </c:pt>
                <c:pt idx="5">
                  <c:v>105.10400000000004</c:v>
                </c:pt>
                <c:pt idx="6">
                  <c:v>970.455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4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167.096</c:v>
                </c:pt>
                <c:pt idx="2">
                  <c:v>186.307</c:v>
                </c:pt>
                <c:pt idx="3">
                  <c:v>207.651</c:v>
                </c:pt>
                <c:pt idx="4">
                  <c:v>231.359</c:v>
                </c:pt>
                <c:pt idx="5">
                  <c:v>257.678</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167.096</c:v>
                </c:pt>
                <c:pt idx="1">
                  <c:v>19.210999999999984</c:v>
                </c:pt>
                <c:pt idx="2">
                  <c:v>21.344000000000023</c:v>
                </c:pt>
                <c:pt idx="3">
                  <c:v>23.708</c:v>
                </c:pt>
                <c:pt idx="4">
                  <c:v>26.31899999999999</c:v>
                </c:pt>
                <c:pt idx="5">
                  <c:v>29.209000000000003</c:v>
                </c:pt>
                <c:pt idx="6">
                  <c:v>286.887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Culinary Grade</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49.55590635869235</c:v>
                </c:pt>
                <c:pt idx="1">
                  <c:v>48.980677057508935</c:v>
                </c:pt>
                <c:pt idx="2">
                  <c:v>47.889459783818786</c:v>
                </c:pt>
              </c:numCache>
            </c:numRef>
          </c:val>
        </c:ser>
        <c:ser>
          <c:idx val="1"/>
          <c:order val="1"/>
          <c:tx>
            <c:strRef>
              <c:strCache>
                <c:ptCount val="1"/>
                <c:pt idx="0">
                  <c:v>Ceremonial Grade</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12.445247243930575</c:v>
                </c:pt>
                <c:pt idx="1">
                  <c:v>13.902422374084694</c:v>
                </c:pt>
                <c:pt idx="2">
                  <c:v>16.680763582386522</c:v>
                </c:pt>
              </c:numCache>
            </c:numRef>
          </c:val>
        </c:ser>
        <c:ser>
          <c:idx val="2"/>
          <c:order val="2"/>
          <c:tx>
            <c:strRef>
              <c:strCache>
                <c:ptCount val="1"/>
                <c:pt idx="0">
                  <c:v>Industrial Grade</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15.456106721253176</c:v>
                </c:pt>
                <c:pt idx="1">
                  <c:v>15.009233908925633</c:v>
                </c:pt>
                <c:pt idx="2">
                  <c:v>14.157136033098308</c:v>
                </c:pt>
              </c:numCache>
            </c:numRef>
          </c:val>
        </c:ser>
        <c:ser>
          <c:idx val="3"/>
          <c:order val="3"/>
          <c:tx>
            <c:strRef>
              <c:strCache>
                <c:ptCount val="1"/>
                <c:pt idx="0">
                  <c:v>Standard Drinking Grade</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13.076367626267443</c:v>
                </c:pt>
                <c:pt idx="1">
                  <c:v>12.304992059556916</c:v>
                </c:pt>
                <c:pt idx="2">
                  <c:v>10.83595532675894</c:v>
                </c:pt>
              </c:numCache>
            </c:numRef>
          </c:val>
        </c:ser>
        <c:ser>
          <c:idx val="4"/>
          <c:order val="4"/>
          <c:tx>
            <c:strRef>
              <c:strCache>
                <c:ptCount val="1"/>
                <c:pt idx="0">
                  <c:v>Premium Grade</c:v>
                </c:pt>
              </c:strCache>
            </c:strRef>
          </c:tx>
          <c:spPr>
            <a:solidFill>
              <a:srgbClr val="A35313"/>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9.46637204985645</c:v>
                </c:pt>
                <c:pt idx="1">
                  <c:v>9.80267459992383</c:v>
                </c:pt>
                <c:pt idx="2">
                  <c:v>10.436685273937451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Beverages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20.376514146170024</c:v>
                </c:pt>
                <c:pt idx="1">
                  <c:v>21.923093812667418</c:v>
                </c:pt>
              </c:numCache>
            </c:numRef>
          </c:val>
        </c:ser>
        <c:ser>
          <c:idx val="1"/>
          <c:order val="1"/>
          <c:tx>
            <c:strRef>
              <c:strCache>
                <c:ptCount val="1"/>
                <c:pt idx="0">
                  <c:v>Bakery and Confectionery</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14.955734516170082</c:v>
                </c:pt>
                <c:pt idx="1">
                  <c:v>14.378924718591273</c:v>
                </c:pt>
              </c:numCache>
            </c:numRef>
          </c:val>
        </c:ser>
        <c:ser>
          <c:idx val="2"/>
          <c:order val="2"/>
          <c:tx>
            <c:strRef>
              <c:strCache>
                <c:ptCount val="1"/>
                <c:pt idx="0">
                  <c:v>Dairy and Frozen Desserts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15.878462312227699</c:v>
                </c:pt>
                <c:pt idx="1">
                  <c:v>16.284672921820338</c:v>
                </c:pt>
              </c:numCache>
            </c:numRef>
          </c:val>
        </c:ser>
        <c:ser>
          <c:idx val="3"/>
          <c:order val="3"/>
          <c:tx>
            <c:strRef>
              <c:strCache>
                <c:ptCount val="1"/>
                <c:pt idx="0">
                  <c:v>Other Food Products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13.944233367873139</c:v>
                </c:pt>
                <c:pt idx="1">
                  <c:v>12.781884450429615</c:v>
                </c:pt>
              </c:numCache>
            </c:numRef>
          </c:val>
        </c:ser>
        <c:ser>
          <c:idx val="4"/>
          <c:order val="4"/>
          <c:tx>
            <c:strRef>
              <c:strCache>
                <c:ptCount val="1"/>
                <c:pt idx="0">
                  <c:v>Dietary Supplements and Functional Nutrition</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18.01993007204882</c:v>
                </c:pt>
                <c:pt idx="1">
                  <c:v>15.52710159989461</c:v>
                </c:pt>
              </c:numCache>
            </c:numRef>
          </c:val>
        </c:ser>
        <c:ser>
          <c:idx val="5"/>
          <c:order val="5"/>
          <c:tx>
            <c:strRef>
              <c:strCache>
                <c:ptCount val="1"/>
                <c:pt idx="0">
                  <c:v>Other Applications</c:v>
                </c:pt>
              </c:strCache>
            </c:strRef>
          </c:tx>
          <c:spPr>
            <a:solidFill>
              <a:srgbClr val="808080"/>
            </a:solidFill>
            <a:ln>
              <a:noFill/>
            </a:ln>
          </c:spPr>
          <c:dLbls>
            <c:dLbl>
              <c:idx val="0"/>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16.82512558551025</c:v>
                </c:pt>
                <c:pt idx="1">
                  <c:v>19.104322496596744</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52.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Beverages</c:v>
                </c:pt>
              </c:strCache>
            </c:strRef>
          </c:tx>
          <c:spPr>
            <a:solidFill>
              <a:srgbClr val="3D85C6"/>
            </a:solidFill>
          </c:spPr>
          <c:invertIfNegative val="0"/>
          <c:xVal>
            <c:numRef>
              <c:numCache>
                <c:formatCode>General</c:formatCode>
                <c:ptCount val="1"/>
                <c:pt idx="0">
                  <c:v>85.59136570434745</c:v>
                </c:pt>
              </c:numCache>
            </c:numRef>
          </c:xVal>
          <c:yVal>
            <c:numRef>
              <c:numCache>
                <c:formatCode>General</c:formatCode>
                <c:ptCount val="1"/>
                <c:pt idx="0">
                  <c:v>139.79455450880633</c:v>
                </c:pt>
              </c:numCache>
            </c:numRef>
          </c:yVal>
          <c:bubbleSize>
            <c:numRef>
              <c:numCache>
                <c:formatCode>General</c:formatCode>
                <c:ptCount val="1"/>
                <c:pt idx="0">
                  <c:v>434.051</c:v>
                </c:pt>
              </c:numCache>
            </c:numRef>
          </c:bubbleSize>
          <c:bubble3D val="0"/>
        </c:ser>
        <c:ser>
          <c:idx val="1"/>
          <c:order val="1"/>
          <c:tx>
            <c:strRef>
              <c:strCache>
                <c:ptCount val="1"/>
                <c:pt idx="0">
                  <c:v>Bakery and Confectionery</c:v>
                </c:pt>
              </c:strCache>
            </c:strRef>
          </c:tx>
          <c:spPr>
            <a:solidFill>
              <a:srgbClr val="9E7E0A"/>
            </a:solidFill>
          </c:spPr>
          <c:invertIfNegative val="0"/>
          <c:xVal>
            <c:numRef>
              <c:numCache>
                <c:formatCode>General</c:formatCode>
                <c:ptCount val="1"/>
                <c:pt idx="0">
                  <c:v>107.7372600975752</c:v>
                </c:pt>
              </c:numCache>
            </c:numRef>
          </c:xVal>
          <c:yVal>
            <c:numRef>
              <c:numCache>
                <c:formatCode>General</c:formatCode>
                <c:ptCount val="1"/>
                <c:pt idx="0">
                  <c:v>83.56489964860845</c:v>
                </c:pt>
              </c:numCache>
            </c:numRef>
          </c:yVal>
          <c:bubbleSize>
            <c:numRef>
              <c:numCache>
                <c:formatCode>General</c:formatCode>
                <c:ptCount val="1"/>
                <c:pt idx="0">
                  <c:v>295.189</c:v>
                </c:pt>
              </c:numCache>
            </c:numRef>
          </c:bubbleSize>
          <c:bubble3D val="0"/>
        </c:ser>
        <c:ser>
          <c:idx val="2"/>
          <c:order val="2"/>
          <c:tx>
            <c:strRef>
              <c:strCache>
                <c:ptCount val="1"/>
                <c:pt idx="0">
                  <c:v>Dairy and Frozen Desserts</c:v>
                </c:pt>
              </c:strCache>
            </c:strRef>
          </c:tx>
          <c:spPr>
            <a:solidFill>
              <a:srgbClr val="008189"/>
            </a:solidFill>
          </c:spPr>
          <c:invertIfNegative val="0"/>
          <c:xVal>
            <c:numRef>
              <c:numCache>
                <c:formatCode>General</c:formatCode>
                <c:ptCount val="1"/>
                <c:pt idx="0">
                  <c:v>101.75758600615741</c:v>
                </c:pt>
              </c:numCache>
            </c:numRef>
          </c:xVal>
          <c:yVal>
            <c:numRef>
              <c:numCache>
                <c:formatCode>General</c:formatCode>
                <c:ptCount val="1"/>
                <c:pt idx="0">
                  <c:v>95.9293552072779</c:v>
                </c:pt>
              </c:numCache>
            </c:numRef>
          </c:yVal>
          <c:bubbleSize>
            <c:numRef>
              <c:numCache>
                <c:formatCode>General</c:formatCode>
                <c:ptCount val="1"/>
                <c:pt idx="0">
                  <c:v>327.31899999999996</c:v>
                </c:pt>
              </c:numCache>
            </c:numRef>
          </c:bubbleSize>
          <c:bubble3D val="0"/>
        </c:ser>
        <c:ser>
          <c:idx val="3"/>
          <c:order val="3"/>
          <c:tx>
            <c:strRef>
              <c:strCache>
                <c:ptCount val="1"/>
                <c:pt idx="0">
                  <c:v>Other Food Products</c:v>
                </c:pt>
              </c:strCache>
            </c:strRef>
          </c:tx>
          <c:spPr>
            <a:solidFill>
              <a:srgbClr val="40315E"/>
            </a:solidFill>
          </c:spPr>
          <c:invertIfNegative val="0"/>
          <c:xVal>
            <c:numRef>
              <c:numCache>
                <c:formatCode>General</c:formatCode>
                <c:ptCount val="1"/>
                <c:pt idx="0">
                  <c:v>69.77886793737446</c:v>
                </c:pt>
              </c:numCache>
            </c:numRef>
          </c:xVal>
          <c:yVal>
            <c:numRef>
              <c:numCache>
                <c:formatCode>General</c:formatCode>
                <c:ptCount val="1"/>
                <c:pt idx="0">
                  <c:v>94.27749153857764</c:v>
                </c:pt>
              </c:numCache>
            </c:numRef>
          </c:yVal>
          <c:bubbleSize>
            <c:numRef>
              <c:numCache>
                <c:formatCode>General</c:formatCode>
                <c:ptCount val="1"/>
                <c:pt idx="0">
                  <c:v>266.691</c:v>
                </c:pt>
              </c:numCache>
            </c:numRef>
          </c:bubbleSize>
          <c:bubble3D val="0"/>
        </c:ser>
        <c:ser>
          <c:idx val="4"/>
          <c:order val="4"/>
          <c:tx>
            <c:strRef>
              <c:strCache>
                <c:ptCount val="1"/>
                <c:pt idx="0">
                  <c:v>Dietary Supplements and Functional Nutrition</c:v>
                </c:pt>
              </c:strCache>
            </c:strRef>
          </c:tx>
          <c:spPr>
            <a:solidFill>
              <a:srgbClr val="A35313"/>
            </a:solidFill>
          </c:spPr>
          <c:invertIfNegative val="0"/>
          <c:xVal>
            <c:numRef>
              <c:numCache>
                <c:formatCode>General</c:formatCode>
                <c:ptCount val="1"/>
                <c:pt idx="0">
                  <c:v>114.74688434616054</c:v>
                </c:pt>
              </c:numCache>
            </c:numRef>
          </c:xVal>
          <c:yVal>
            <c:numRef>
              <c:numCache>
                <c:formatCode>General</c:formatCode>
                <c:ptCount val="1"/>
                <c:pt idx="0">
                  <c:v>90.01282686959709</c:v>
                </c:pt>
              </c:numCache>
            </c:numRef>
          </c:yVal>
          <c:bubbleSize>
            <c:numRef>
              <c:numCache>
                <c:formatCode>General</c:formatCode>
                <c:ptCount val="1"/>
                <c:pt idx="0">
                  <c:v>331.104</c:v>
                </c:pt>
              </c:numCache>
            </c:numRef>
          </c:bubbleSize>
          <c:bubble3D val="0"/>
        </c:ser>
        <c:ser>
          <c:idx val="5"/>
          <c:order val="5"/>
          <c:tx>
            <c:strRef>
              <c:strCache>
                <c:ptCount val="1"/>
                <c:pt idx="0">
                  <c:v>Other Applications</c:v>
                </c:pt>
              </c:strCache>
            </c:strRef>
          </c:tx>
          <c:spPr>
            <a:solidFill>
              <a:srgbClr val="808080"/>
            </a:solidFill>
          </c:spPr>
          <c:invertIfNegative val="0"/>
          <c:xVal>
            <c:numRef>
              <c:numCache>
                <c:formatCode>General</c:formatCode>
                <c:ptCount val="1"/>
                <c:pt idx="0">
                  <c:v>123.08402914064507</c:v>
                </c:pt>
              </c:numCache>
            </c:numRef>
          </c:xVal>
          <c:yVal>
            <c:numRef>
              <c:numCache>
                <c:formatCode>General</c:formatCode>
                <c:ptCount val="1"/>
                <c:pt idx="0">
                  <c:v>96.42087222713259</c:v>
                </c:pt>
              </c:numCache>
            </c:numRef>
          </c:yVal>
          <c:bubbleSize>
            <c:numRef>
              <c:numCache>
                <c:formatCode>General</c:formatCode>
                <c:ptCount val="1"/>
                <c:pt idx="0">
                  <c:v>372.094</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40.0"/>
          <c:min val="5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160.0"/>
          <c:min val="6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5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259.38599999999997</c:v>
                </c:pt>
                <c:pt idx="2">
                  <c:v>287.622</c:v>
                </c:pt>
                <c:pt idx="3">
                  <c:v>318.877</c:v>
                </c:pt>
                <c:pt idx="4">
                  <c:v>353.466</c:v>
                </c:pt>
                <c:pt idx="5">
                  <c:v>391.73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259.38599999999997</c:v>
                </c:pt>
                <c:pt idx="1">
                  <c:v>28.236000000000047</c:v>
                </c:pt>
                <c:pt idx="2">
                  <c:v>31.254999999999995</c:v>
                </c:pt>
                <c:pt idx="3">
                  <c:v>34.589</c:v>
                </c:pt>
                <c:pt idx="4">
                  <c:v>38.26400000000001</c:v>
                </c:pt>
                <c:pt idx="5">
                  <c:v>42.32099999999997</c:v>
                </c:pt>
                <c:pt idx="6">
                  <c:v>434.051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155.053</c:v>
                </c:pt>
                <c:pt idx="2">
                  <c:v>176.61</c:v>
                </c:pt>
                <c:pt idx="3">
                  <c:v>201.018</c:v>
                </c:pt>
                <c:pt idx="4">
                  <c:v>228.641</c:v>
                </c:pt>
                <c:pt idx="5">
                  <c:v>259.882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155.053</c:v>
                </c:pt>
                <c:pt idx="1">
                  <c:v>21.557000000000016</c:v>
                </c:pt>
                <c:pt idx="2">
                  <c:v>24.407999999999987</c:v>
                </c:pt>
                <c:pt idx="3">
                  <c:v>27.62299999999999</c:v>
                </c:pt>
                <c:pt idx="4">
                  <c:v>31.241000000000014</c:v>
                </c:pt>
                <c:pt idx="5">
                  <c:v>35.307000000000016</c:v>
                </c:pt>
                <c:pt idx="6">
                  <c:v>295.189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177.995</c:v>
                </c:pt>
                <c:pt idx="2">
                  <c:v>201.226</c:v>
                </c:pt>
                <c:pt idx="3">
                  <c:v>227.39600000000002</c:v>
                </c:pt>
                <c:pt idx="4">
                  <c:v>256.856</c:v>
                </c:pt>
                <c:pt idx="5">
                  <c:v>290.015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177.995</c:v>
                </c:pt>
                <c:pt idx="1">
                  <c:v>23.230999999999995</c:v>
                </c:pt>
                <c:pt idx="2">
                  <c:v>26.170000000000016</c:v>
                </c:pt>
                <c:pt idx="3">
                  <c:v>29.45999999999998</c:v>
                </c:pt>
                <c:pt idx="4">
                  <c:v>33.15899999999999</c:v>
                </c:pt>
                <c:pt idx="5">
                  <c:v>37.303999999999974</c:v>
                </c:pt>
                <c:pt idx="6">
                  <c:v>327.31899999999996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174.93</c:v>
                </c:pt>
                <c:pt idx="2">
                  <c:v>190.595</c:v>
                </c:pt>
                <c:pt idx="3">
                  <c:v>207.522</c:v>
                </c:pt>
                <c:pt idx="4">
                  <c:v>225.79</c:v>
                </c:pt>
                <c:pt idx="5">
                  <c:v>245.485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174.93</c:v>
                </c:pt>
                <c:pt idx="1">
                  <c:v>15.664999999999992</c:v>
                </c:pt>
                <c:pt idx="2">
                  <c:v>16.926999999999992</c:v>
                </c:pt>
                <c:pt idx="3">
                  <c:v>18.268</c:v>
                </c:pt>
                <c:pt idx="4">
                  <c:v>19.69500000000002</c:v>
                </c:pt>
                <c:pt idx="5">
                  <c:v>21.20599999999996</c:v>
                </c:pt>
                <c:pt idx="6">
                  <c:v>266.691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167.017</c:v>
                </c:pt>
                <c:pt idx="2">
                  <c:v>191.938</c:v>
                </c:pt>
                <c:pt idx="3">
                  <c:v>220.322</c:v>
                </c:pt>
                <c:pt idx="4">
                  <c:v>252.62599999999998</c:v>
                </c:pt>
                <c:pt idx="5">
                  <c:v>289.363</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167.017</c:v>
                </c:pt>
                <c:pt idx="1">
                  <c:v>24.920999999999992</c:v>
                </c:pt>
                <c:pt idx="2">
                  <c:v>28.384000000000015</c:v>
                </c:pt>
                <c:pt idx="3">
                  <c:v>32.303999999999974</c:v>
                </c:pt>
                <c:pt idx="4">
                  <c:v>36.73700000000002</c:v>
                </c:pt>
                <c:pt idx="5">
                  <c:v>41.740999999999985</c:v>
                </c:pt>
                <c:pt idx="6">
                  <c:v>331.104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178.90699999999998</c:v>
                </c:pt>
                <c:pt idx="2">
                  <c:v>207.91000000000003</c:v>
                </c:pt>
                <c:pt idx="3">
                  <c:v>241.124</c:v>
                </c:pt>
                <c:pt idx="4">
                  <c:v>279.124</c:v>
                </c:pt>
                <c:pt idx="5">
                  <c:v>322.536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178.90699999999998</c:v>
                </c:pt>
                <c:pt idx="1">
                  <c:v>29.003000000000043</c:v>
                </c:pt>
                <c:pt idx="2">
                  <c:v>33.21399999999997</c:v>
                </c:pt>
                <c:pt idx="3">
                  <c:v>38.00000000000003</c:v>
                </c:pt>
                <c:pt idx="4">
                  <c:v>43.41199999999998</c:v>
                </c:pt>
                <c:pt idx="5">
                  <c:v>49.55799999999999</c:v>
                </c:pt>
                <c:pt idx="6">
                  <c:v>372.094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5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Beverages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24.34491851055156</c:v>
                </c:pt>
                <c:pt idx="1">
                  <c:v>23.299092418134386</c:v>
                </c:pt>
                <c:pt idx="2">
                  <c:v>21.4193011614411</c:v>
                </c:pt>
              </c:numCache>
            </c:numRef>
          </c:val>
        </c:ser>
        <c:ser>
          <c:idx val="1"/>
          <c:order val="1"/>
          <c:tx>
            <c:strRef>
              <c:strCache>
                <c:ptCount val="1"/>
                <c:pt idx="0">
                  <c:v>Applications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14.795495745548221</c:v>
                </c:pt>
                <c:pt idx="1">
                  <c:v>16.070145371188765</c:v>
                </c:pt>
                <c:pt idx="2">
                  <c:v>18.361882466266096</c:v>
                </c:pt>
              </c:numCache>
            </c:numRef>
          </c:val>
        </c:ser>
        <c:ser>
          <c:idx val="2"/>
          <c:order val="2"/>
          <c:tx>
            <c:strRef>
              <c:strCache>
                <c:ptCount val="1"/>
                <c:pt idx="0">
                  <c:v>Dietary Supplements and Functional Nutrition</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14.268026125196243</c:v>
                </c:pt>
                <c:pt idx="1">
                  <c:v>15.002137811599514</c:v>
                </c:pt>
                <c:pt idx="2">
                  <c:v>16.339131327327422</c:v>
                </c:pt>
              </c:numCache>
            </c:numRef>
          </c:val>
        </c:ser>
        <c:ser>
          <c:idx val="3"/>
          <c:order val="3"/>
          <c:tx>
            <c:strRef>
              <c:strCache>
                <c:ptCount val="1"/>
                <c:pt idx="0">
                  <c:v>Dairy and Frozen Desserts</c:v>
                </c:pt>
              </c:strCache>
            </c:strRef>
          </c:tx>
          <c:spPr>
            <a:solidFill>
              <a:srgbClr val="40315E"/>
            </a:solidFill>
            <a:ln>
              <a:noFill/>
            </a:ln>
          </c:spPr>
          <c:dLbls>
            <c:dLbl>
              <c:idx val="0"/>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15.899441413466791</c:v>
                </c:pt>
                <c:pt idx="1">
                  <c:v>15.988225867879649</c:v>
                </c:pt>
                <c:pt idx="2">
                  <c:v>16.15235130632515</c:v>
                </c:pt>
              </c:numCache>
            </c:numRef>
          </c:val>
        </c:ser>
        <c:ser>
          <c:idx val="4"/>
          <c:order val="4"/>
          <c:tx>
            <c:strRef>
              <c:strCache>
                <c:ptCount val="1"/>
                <c:pt idx="0">
                  <c:v>Bakery and Confectionery</c:v>
                </c:pt>
              </c:strCache>
            </c:strRef>
          </c:tx>
          <c:spPr>
            <a:solidFill>
              <a:srgbClr val="A35313"/>
            </a:solidFill>
            <a:ln>
              <a:noFill/>
            </a:ln>
          </c:spPr>
          <c:dLbls>
            <c:dLbl>
              <c:idx val="0"/>
              <c:numFmt formatCode="&quot;MMMM&quot;;&quot;MMMM&quot;;&quot;M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13.572395069866683</c:v>
                </c:pt>
                <c:pt idx="1">
                  <c:v>13.927483274768074</c:v>
                </c:pt>
                <c:pt idx="2">
                  <c:v>14.566818393563516</c:v>
                </c:pt>
              </c:numCache>
            </c:numRef>
          </c:val>
        </c:ser>
        <c:ser>
          <c:idx val="5"/>
          <c:order val="5"/>
          <c:tx>
            <c:strRef>
              <c:strCache>
                <c:ptCount val="1"/>
                <c:pt idx="0">
                  <c:v>Food Products</c:v>
                </c:pt>
              </c:strCache>
            </c:strRef>
          </c:tx>
          <c:spPr>
            <a:solidFill>
              <a:srgbClr val="808080"/>
            </a:solidFill>
            <a:ln>
              <a:noFill/>
            </a:ln>
          </c:spPr>
          <c:dLbls>
            <c:dLbl>
              <c:idx val="0"/>
              <c:numFmt formatCode="&quot;MMMM&quot;;&quot;MMMM&quot;;&quot;M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17.119723135370496</c:v>
                </c:pt>
                <c:pt idx="1">
                  <c:v>15.712915256429605</c:v>
                </c:pt>
                <c:pt idx="2">
                  <c:v>13.160515345076703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B2B / Institutional and Ingredient Sales</c:v>
                </c:pt>
              </c:strCache>
            </c:strRef>
          </c:tx>
          <c:spPr>
            <a:solidFill>
              <a:srgbClr val="3D85C6"/>
            </a:solidFill>
            <a:ln>
              <a:noFill/>
            </a:ln>
          </c:spPr>
          <c:dLbls>
            <c:dLbl>
              <c:idx val="0"/>
              <c:numFmt formatCode="&quot;MMM&quot;;&quot;MMM&quot;;&quot;MMM&quot;" sourceLinked="0"/>
              <c:spPr>
                <a:blipFill>
                  <a:blip r:embed="rId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3"/>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9.20773570385452</c:v>
                </c:pt>
                <c:pt idx="1">
                  <c:v>7.958341262057759</c:v>
                </c:pt>
              </c:numCache>
            </c:numRef>
          </c:val>
        </c:ser>
        <c:ser>
          <c:idx val="1"/>
          <c:order val="1"/>
          <c:tx>
            <c:strRef>
              <c:strCache>
                <c:ptCount val="1"/>
                <c:pt idx="0">
                  <c:v>Supermarkets and Hypermarkets</c:v>
                </c:pt>
              </c:strCache>
            </c:strRef>
          </c:tx>
          <c:spPr>
            <a:solidFill>
              <a:srgbClr val="9E7E0A"/>
            </a:solidFill>
            <a:ln>
              <a:noFill/>
            </a:ln>
          </c:spPr>
          <c:dLbls>
            <c:dLbl>
              <c:idx val="0"/>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23.427681530901</c:v>
                </c:pt>
                <c:pt idx="1">
                  <c:v>23.724548794589925</c:v>
                </c:pt>
              </c:numCache>
            </c:numRef>
          </c:val>
        </c:ser>
        <c:ser>
          <c:idx val="2"/>
          <c:order val="2"/>
          <c:tx>
            <c:strRef>
              <c:strCache>
                <c:ptCount val="1"/>
                <c:pt idx="0">
                  <c:v>Convenience Stores</c:v>
                </c:pt>
              </c:strCache>
            </c:strRef>
          </c:tx>
          <c:spPr>
            <a:solidFill>
              <a:srgbClr val="008189"/>
            </a:solidFill>
            <a:ln>
              <a:noFill/>
            </a:ln>
          </c:spPr>
          <c:dLbls>
            <c:dLbl>
              <c:idx val="0"/>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20.33424833512092</c:v>
                </c:pt>
                <c:pt idx="1">
                  <c:v>22.44865845982698</c:v>
                </c:pt>
              </c:numCache>
            </c:numRef>
          </c:val>
        </c:ser>
        <c:ser>
          <c:idx val="3"/>
          <c:order val="3"/>
          <c:tx>
            <c:strRef>
              <c:strCache>
                <c:ptCount val="1"/>
                <c:pt idx="0">
                  <c:v>Specialty Tea and Health Food Stores</c:v>
                </c:pt>
              </c:strCache>
            </c:strRef>
          </c:tx>
          <c:spPr>
            <a:solidFill>
              <a:srgbClr val="40315E"/>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15.472013670490284</c:v>
                </c:pt>
                <c:pt idx="1">
                  <c:v>19.516518582490445</c:v>
                </c:pt>
              </c:numCache>
            </c:numRef>
          </c:val>
        </c:ser>
        <c:ser>
          <c:idx val="4"/>
          <c:order val="4"/>
          <c:tx>
            <c:strRef>
              <c:strCache>
                <c:ptCount val="1"/>
                <c:pt idx="0">
                  <c:v>Online Retail</c:v>
                </c:pt>
              </c:strCache>
            </c:strRef>
          </c:tx>
          <c:spPr>
            <a:solidFill>
              <a:srgbClr val="A35313"/>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16.95101407648445</c:v>
                </c:pt>
                <c:pt idx="1">
                  <c:v>15.214368312425893</c:v>
                </c:pt>
              </c:numCache>
            </c:numRef>
          </c:val>
        </c:ser>
        <c:ser>
          <c:idx val="5"/>
          <c:order val="5"/>
          <c:tx>
            <c:strRef>
              <c:strCache>
                <c:ptCount val="1"/>
                <c:pt idx="0">
                  <c:v>Foodservice and HoReCa</c:v>
                </c:pt>
              </c:strCache>
            </c:strRef>
          </c:tx>
          <c:spPr>
            <a:solidFill>
              <a:srgbClr val="808080"/>
            </a:solidFill>
            <a:ln>
              <a:noFill/>
            </a:ln>
          </c:spPr>
          <c:dLbls>
            <c:dLbl>
              <c:idx val="0"/>
              <c:numFmt formatCode="&quot;MMM&quot;;&quot;MMM&quot;;&quot;MMM&quot;" sourceLinked="0"/>
              <c:spPr>
                <a:blipFill>
                  <a:blip r:embed="rId12"/>
                  <a:stretch>
                    <a:fillRect/>
                  </a:stretch>
                </a:blipFill>
              </c:spPr>
              <c:txPr>
                <a:bodyPr/>
                <a:lstStyle/>
                <a:p>
                  <a:pPr>
                    <a:defRPr>
                      <a:solidFill>
                        <a:srgbClr val="FFFFFF">
                          <a:alpha val="0"/>
                        </a:srgbClr>
                      </a:solidFill>
                    </a:defRPr>
                  </a:pPr>
                  <a:endParaRPr lang="en-US"/>
                </a:p>
              </c:txPr>
              <c:dLblPos val="ctr"/>
              <c:showLegendKey val="0"/>
              <c:showVal val="1"/>
              <c:showCatName val="0"/>
              <c:showSerName val="0"/>
              <c:showPercent val="0"/>
              <c:showBubbleSize val="0"/>
            </c:dLbl>
            <c:dLbl>
              <c:idx val="1"/>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8.683124579614244</c:v>
                </c:pt>
                <c:pt idx="1">
                  <c:v>6.337514820615659</c:v>
                </c:pt>
              </c:numCache>
            </c:numRef>
          </c:val>
        </c:ser>
        <c:ser>
          <c:idx val="6"/>
          <c:order val="6"/>
          <c:tx>
            <c:strRef>
              <c:strCache>
                <c:ptCount val="1"/>
                <c:pt idx="0">
                  <c:v>Other Retail Channels</c:v>
                </c:pt>
              </c:strCache>
            </c:strRef>
          </c:tx>
          <c:spPr>
            <a:solidFill>
              <a:srgbClr val="0E72AE"/>
            </a:solidFill>
            <a:ln>
              <a:noFill/>
            </a:ln>
          </c:spPr>
          <c:dLbls>
            <c:dLbl>
              <c:idx val="0"/>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Canada</c:v>
                </c:pt>
                <c:pt idx="1">
                  <c:v>U.S.</c:v>
                </c:pt>
              </c:strCache>
            </c:strRef>
          </c:cat>
          <c:val>
            <c:numRef>
              <c:numCache>
                <c:formatCode>General</c:formatCode>
                <c:ptCount val="2"/>
                <c:pt idx="0">
                  <c:v>5.924182103534573</c:v>
                </c:pt>
                <c:pt idx="1">
                  <c:v>4.8000497679933245</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tickLblSkip val="1"/>
        <c:noMultiLvlLbl val="0"/>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61.xml><?xml version="1.0" encoding="utf-8"?>
<c:chartSpace xmlns:c="http://schemas.openxmlformats.org/drawingml/2006/chart" xmlns:a="http://schemas.openxmlformats.org/drawingml/2006/main" xmlns:r="http://schemas.openxmlformats.org/officeDocument/2006/relationships">
  <c:chart>
    <c:autoTitleDeleted val="1"/>
    <c:plotArea>
      <c:layout/>
      <c:bubbleChart>
        <c:varyColors val="0"/>
        <c:ser>
          <c:idx val="0"/>
          <c:order val="0"/>
          <c:tx>
            <c:strRef>
              <c:strCache>
                <c:ptCount val="1"/>
                <c:pt idx="0">
                  <c:v>B2B / Institutional and Ingredient Sales</c:v>
                </c:pt>
              </c:strCache>
            </c:strRef>
          </c:tx>
          <c:spPr>
            <a:solidFill>
              <a:srgbClr val="3D85C6"/>
            </a:solidFill>
          </c:spPr>
          <c:invertIfNegative val="0"/>
          <c:xVal>
            <c:numRef>
              <c:numCache>
                <c:formatCode>General</c:formatCode>
                <c:ptCount val="1"/>
                <c:pt idx="0">
                  <c:v>119.46783208232303</c:v>
                </c:pt>
              </c:numCache>
            </c:numRef>
          </c:xVal>
          <c:yVal>
            <c:numRef>
              <c:numCache>
                <c:formatCode>General</c:formatCode>
                <c:ptCount val="1"/>
                <c:pt idx="0">
                  <c:v>52.324196434345836</c:v>
                </c:pt>
              </c:numCache>
            </c:numRef>
          </c:yVal>
          <c:bubbleSize>
            <c:numRef>
              <c:numCache>
                <c:formatCode>General</c:formatCode>
                <c:ptCount val="1"/>
                <c:pt idx="0">
                  <c:v>169.519</c:v>
                </c:pt>
              </c:numCache>
            </c:numRef>
          </c:bubbleSize>
          <c:bubble3D val="0"/>
        </c:ser>
        <c:ser>
          <c:idx val="1"/>
          <c:order val="1"/>
          <c:tx>
            <c:strRef>
              <c:strCache>
                <c:ptCount val="1"/>
                <c:pt idx="0">
                  <c:v>Supermarkets and Hypermarkets</c:v>
                </c:pt>
              </c:strCache>
            </c:strRef>
          </c:tx>
          <c:spPr>
            <a:solidFill>
              <a:srgbClr val="9E7E0A"/>
            </a:solidFill>
          </c:spPr>
          <c:invertIfNegative val="0"/>
          <c:xVal>
            <c:numRef>
              <c:numCache>
                <c:formatCode>General</c:formatCode>
                <c:ptCount val="1"/>
                <c:pt idx="0">
                  <c:v>106.45368197298069</c:v>
                </c:pt>
              </c:numCache>
            </c:numRef>
          </c:xVal>
          <c:yVal>
            <c:numRef>
              <c:numCache>
                <c:formatCode>General</c:formatCode>
                <c:ptCount val="1"/>
                <c:pt idx="0">
                  <c:v>159.31537930885813</c:v>
                </c:pt>
              </c:numCache>
            </c:numRef>
          </c:yVal>
          <c:bubbleSize>
            <c:numRef>
              <c:numCache>
                <c:formatCode>General</c:formatCode>
                <c:ptCount val="1"/>
                <c:pt idx="0">
                  <c:v>478.806</c:v>
                </c:pt>
              </c:numCache>
            </c:numRef>
          </c:bubbleSize>
          <c:bubble3D val="0"/>
        </c:ser>
        <c:ser>
          <c:idx val="2"/>
          <c:order val="2"/>
          <c:tx>
            <c:strRef>
              <c:strCache>
                <c:ptCount val="1"/>
                <c:pt idx="0">
                  <c:v>Convenience Stores</c:v>
                </c:pt>
              </c:strCache>
            </c:strRef>
          </c:tx>
          <c:spPr>
            <a:solidFill>
              <a:srgbClr val="008189"/>
            </a:solidFill>
          </c:spPr>
          <c:invertIfNegative val="0"/>
          <c:xVal>
            <c:numRef>
              <c:numCache>
                <c:formatCode>General</c:formatCode>
                <c:ptCount val="1"/>
                <c:pt idx="0">
                  <c:v>109.59066942350685</c:v>
                </c:pt>
              </c:numCache>
            </c:numRef>
          </c:xVal>
          <c:yVal>
            <c:numRef>
              <c:numCache>
                <c:formatCode>General</c:formatCode>
                <c:ptCount val="1"/>
                <c:pt idx="0">
                  <c:v>144.0809565898492</c:v>
                </c:pt>
              </c:numCache>
            </c:numRef>
          </c:yVal>
          <c:bubbleSize>
            <c:numRef>
              <c:numCache>
                <c:formatCode>General</c:formatCode>
                <c:ptCount val="1"/>
                <c:pt idx="0">
                  <c:v>440.953</c:v>
                </c:pt>
              </c:numCache>
            </c:numRef>
          </c:bubbleSize>
          <c:bubble3D val="0"/>
        </c:ser>
        <c:ser>
          <c:idx val="3"/>
          <c:order val="3"/>
          <c:tx>
            <c:strRef>
              <c:strCache>
                <c:ptCount val="1"/>
                <c:pt idx="0">
                  <c:v>Specialty Tea and Health Food Stores</c:v>
                </c:pt>
              </c:strCache>
            </c:strRef>
          </c:tx>
          <c:spPr>
            <a:solidFill>
              <a:srgbClr val="40315E"/>
            </a:solidFill>
          </c:spPr>
          <c:invertIfNegative val="0"/>
          <c:xVal>
            <c:numRef>
              <c:numCache>
                <c:formatCode>General</c:formatCode>
                <c:ptCount val="1"/>
                <c:pt idx="0">
                  <c:v>85.24569276576473</c:v>
                </c:pt>
              </c:numCache>
            </c:numRef>
          </c:xVal>
          <c:yVal>
            <c:numRef>
              <c:numCache>
                <c:formatCode>General</c:formatCode>
                <c:ptCount val="1"/>
                <c:pt idx="0">
                  <c:v>138.85463599715442</c:v>
                </c:pt>
              </c:numCache>
            </c:numRef>
          </c:yVal>
          <c:bubbleSize>
            <c:numRef>
              <c:numCache>
                <c:formatCode>General</c:formatCode>
                <c:ptCount val="1"/>
                <c:pt idx="0">
                  <c:v>368.794</c:v>
                </c:pt>
              </c:numCache>
            </c:numRef>
          </c:bubbleSize>
          <c:bubble3D val="0"/>
        </c:ser>
        <c:ser>
          <c:idx val="4"/>
          <c:order val="4"/>
          <c:tx>
            <c:strRef>
              <c:strCache>
                <c:ptCount val="1"/>
                <c:pt idx="0">
                  <c:v>Online Retail</c:v>
                </c:pt>
              </c:strCache>
            </c:strRef>
          </c:tx>
          <c:spPr>
            <a:solidFill>
              <a:srgbClr val="A35313"/>
            </a:solidFill>
          </c:spPr>
          <c:invertIfNegative val="0"/>
          <c:xVal>
            <c:numRef>
              <c:numCache>
                <c:formatCode>General</c:formatCode>
                <c:ptCount val="1"/>
                <c:pt idx="0">
                  <c:v>88.90341098866871</c:v>
                </c:pt>
              </c:numCache>
            </c:numRef>
          </c:xVal>
          <c:yVal>
            <c:numRef>
              <c:numCache>
                <c:formatCode>General</c:formatCode>
                <c:ptCount val="1"/>
                <c:pt idx="0">
                  <c:v>117.84623565510456</c:v>
                </c:pt>
              </c:numCache>
            </c:numRef>
          </c:yVal>
          <c:bubbleSize>
            <c:numRef>
              <c:numCache>
                <c:formatCode>General</c:formatCode>
                <c:ptCount val="1"/>
                <c:pt idx="0">
                  <c:v>319.775</c:v>
                </c:pt>
              </c:numCache>
            </c:numRef>
          </c:bubbleSize>
          <c:bubble3D val="0"/>
        </c:ser>
        <c:ser>
          <c:idx val="5"/>
          <c:order val="5"/>
          <c:tx>
            <c:strRef>
              <c:strCache>
                <c:ptCount val="1"/>
                <c:pt idx="0">
                  <c:v>Foodservice and HoReCa</c:v>
                </c:pt>
              </c:strCache>
            </c:strRef>
          </c:tx>
          <c:spPr>
            <a:solidFill>
              <a:srgbClr val="808080"/>
            </a:solidFill>
          </c:spPr>
          <c:invertIfNegative val="0"/>
          <c:xVal>
            <c:numRef>
              <c:numCache>
                <c:formatCode>General</c:formatCode>
                <c:ptCount val="1"/>
                <c:pt idx="0">
                  <c:v>95.13605286101125</c:v>
                </c:pt>
              </c:numCache>
            </c:numRef>
          </c:xVal>
          <c:yVal>
            <c:numRef>
              <c:numCache>
                <c:formatCode>General</c:formatCode>
                <c:ptCount val="1"/>
                <c:pt idx="0">
                  <c:v>51.13896853285045</c:v>
                </c:pt>
              </c:numCache>
            </c:numRef>
          </c:yVal>
          <c:bubbleSize>
            <c:numRef>
              <c:numCache>
                <c:formatCode>General</c:formatCode>
                <c:ptCount val="1"/>
                <c:pt idx="0">
                  <c:v>143.91</c:v>
                </c:pt>
              </c:numCache>
            </c:numRef>
          </c:bubbleSize>
          <c:bubble3D val="0"/>
        </c:ser>
        <c:ser>
          <c:idx val="6"/>
          <c:order val="6"/>
          <c:tx>
            <c:strRef>
              <c:strCache>
                <c:ptCount val="1"/>
                <c:pt idx="0">
                  <c:v>Other Retail Channels</c:v>
                </c:pt>
              </c:strCache>
            </c:strRef>
          </c:tx>
          <c:spPr>
            <a:solidFill>
              <a:srgbClr val="0E72AE"/>
            </a:solidFill>
          </c:spPr>
          <c:invertIfNegative val="0"/>
          <c:xVal>
            <c:numRef>
              <c:numCache>
                <c:formatCode>General</c:formatCode>
                <c:ptCount val="1"/>
                <c:pt idx="0">
                  <c:v>98.69272476915918</c:v>
                </c:pt>
              </c:numCache>
            </c:numRef>
          </c:xVal>
          <c:yVal>
            <c:numRef>
              <c:numCache>
                <c:formatCode>General</c:formatCode>
                <c:ptCount val="1"/>
                <c:pt idx="0">
                  <c:v>36.4396274818376</c:v>
                </c:pt>
              </c:numCache>
            </c:numRef>
          </c:yVal>
          <c:bubbleSize>
            <c:numRef>
              <c:numCache>
                <c:formatCode>General</c:formatCode>
                <c:ptCount val="1"/>
                <c:pt idx="0">
                  <c:v>104.691</c:v>
                </c:pt>
              </c:numCache>
            </c:numRef>
          </c:bubbleSize>
          <c:bubble3D val="0"/>
        </c:ser>
        <c:dLbls>
          <c:showLegendKey val="0"/>
          <c:showVal val="0"/>
          <c:showCatName val="0"/>
          <c:showSerName val="0"/>
          <c:showPercent val="0"/>
          <c:showBubbleSize val="0"/>
        </c:dLbls>
        <c:bubbleScale val="55"/>
        <c:showNegBubbles val="0"/>
        <c:axId val="-2115720072"/>
        <c:axId val="-2115723560"/>
      </c:bubbleChart>
      <c:valAx>
        <c:axId val="-2115720072"/>
        <c:scaling>
          <c:orientation val="minMax"/>
          <c:max val="130.0"/>
          <c:min val="75.0"/>
        </c:scaling>
        <c:delete val="0"/>
        <c:axPos val="b"/>
        <c:title>
          <c:tx>
            <c:rich>
              <a:bodyPr/>
              <a:lstStyle/>
              <a:p>
                <a:r>
                  <a:rPr sz="1100" b="0">
                    <a:solidFill>
                      <a:srgbClr val="6C7A89"/>
                    </a:solidFill>
                    <a:latin typeface="Calibri"/>
                  </a:rPr>
                  <a:t>CAGR Index (100 = segment average growth)</a:t>
                </a:r>
              </a:p>
            </c:rich>
          </c:tx>
          <c:layout/>
          <c:overlay val="0"/>
        </c:title>
        <c:numFmt formatCode="General" sourceLinked="1"/>
        <c:majorTickMark val="out"/>
        <c:minorTickMark val="none"/>
        <c:tickLblPos val="nextTo"/>
        <c:spPr>
          <a:ln>
            <a:solidFill>
              <a:srgbClr val="C6D5E1"/>
            </a:solidFill>
          </a:ln>
        </c:spPr>
        <c:txPr>
          <a:bodyPr/>
          <a:lstStyle/>
          <a:p>
            <a:pPr>
              <a:defRPr sz="1100"/>
            </a:pPr>
          </a:p>
        </c:txPr>
        <c:crossAx val="-2115723560"/>
        <c:crosses val="autoZero"/>
        <c:crossBetween val="midCat"/>
      </c:valAx>
      <c:valAx>
        <c:axId val="-2115723560"/>
        <c:scaling>
          <c:orientation val="minMax"/>
          <c:max val="200.0"/>
          <c:min val="0.0"/>
        </c:scaling>
        <c:delete val="0"/>
        <c:axPos val="l"/>
        <c:title>
          <c:tx>
            <c:rich>
              <a:bodyPr/>
              <a:lstStyle/>
              <a:p>
                <a:r>
                  <a:rPr sz="1100" b="0">
                    <a:solidFill>
                      <a:srgbClr val="6C7A89"/>
                    </a:solidFill>
                    <a:latin typeface="Calibri"/>
                  </a:rPr>
                  <a:t>Market Share Index (100 = equal share)</a:t>
                </a:r>
              </a:p>
            </c:rich>
          </c:tx>
          <c:layout/>
          <c:overlay val="0"/>
        </c:title>
        <c:numFmt formatCode="General" sourceLinked="1"/>
        <c:majorTickMark val="out"/>
        <c:minorTickMark val="none"/>
        <c:tickLblPos val="none"/>
        <c:spPr>
          <a:ln>
            <a:solidFill>
              <a:srgbClr val="C6D5E1"/>
            </a:solidFill>
          </a:ln>
        </c:spPr>
        <c:txPr>
          <a:bodyPr/>
          <a:lstStyle/>
          <a:p>
            <a:pPr>
              <a:defRPr sz="1100"/>
            </a:pPr>
          </a:p>
        </c:txPr>
        <c:crossAx val="-2115720072"/>
        <c:crosses val="autoZero"/>
        <c:crossBetween val="midCat"/>
      </c:valAx>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lang="en-US"/>
    </a:p>
  </c:txPr>
</c:chartSpace>
</file>

<file path=ppt/charts/chart16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83.217</c:v>
                </c:pt>
                <c:pt idx="2">
                  <c:v>96.365</c:v>
                </c:pt>
                <c:pt idx="3">
                  <c:v>111.322</c:v>
                </c:pt>
                <c:pt idx="4">
                  <c:v>128.32</c:v>
                </c:pt>
                <c:pt idx="5">
                  <c:v>147.621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83.217</c:v>
                </c:pt>
                <c:pt idx="1">
                  <c:v>13.147999999999996</c:v>
                </c:pt>
                <c:pt idx="2">
                  <c:v>14.957000000000008</c:v>
                </c:pt>
                <c:pt idx="3">
                  <c:v>16.99799999999999</c:v>
                </c:pt>
                <c:pt idx="4">
                  <c:v>19.301000000000016</c:v>
                </c:pt>
                <c:pt idx="5">
                  <c:v>21.897999999999996</c:v>
                </c:pt>
                <c:pt idx="6">
                  <c:v>169.519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253.377</c:v>
                </c:pt>
                <c:pt idx="2">
                  <c:v>288.272</c:v>
                </c:pt>
                <c:pt idx="3">
                  <c:v>327.674</c:v>
                </c:pt>
                <c:pt idx="4">
                  <c:v>372.134</c:v>
                </c:pt>
                <c:pt idx="5">
                  <c:v>422.282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253.377</c:v>
                </c:pt>
                <c:pt idx="1">
                  <c:v>34.89499999999998</c:v>
                </c:pt>
                <c:pt idx="2">
                  <c:v>39.40199999999999</c:v>
                </c:pt>
                <c:pt idx="3">
                  <c:v>44.460000000000036</c:v>
                </c:pt>
                <c:pt idx="4">
                  <c:v>50.14799999999997</c:v>
                </c:pt>
                <c:pt idx="5">
                  <c:v>56.524</c:v>
                </c:pt>
                <c:pt idx="6">
                  <c:v>478.806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229.148</c:v>
                </c:pt>
                <c:pt idx="2">
                  <c:v>261.818</c:v>
                </c:pt>
                <c:pt idx="3">
                  <c:v>298.766</c:v>
                </c:pt>
                <c:pt idx="4">
                  <c:v>340.529</c:v>
                </c:pt>
                <c:pt idx="5">
                  <c:v>387.701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229.148</c:v>
                </c:pt>
                <c:pt idx="1">
                  <c:v>32.66999999999999</c:v>
                </c:pt>
                <c:pt idx="2">
                  <c:v>36.948000000000036</c:v>
                </c:pt>
                <c:pt idx="3">
                  <c:v>41.76299999999998</c:v>
                </c:pt>
                <c:pt idx="4">
                  <c:v>47.172000000000025</c:v>
                </c:pt>
                <c:pt idx="5">
                  <c:v>53.25199999999995</c:v>
                </c:pt>
                <c:pt idx="6">
                  <c:v>440.953</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220.836</c:v>
                </c:pt>
                <c:pt idx="2">
                  <c:v>244.543</c:v>
                </c:pt>
                <c:pt idx="3">
                  <c:v>270.886</c:v>
                </c:pt>
                <c:pt idx="4">
                  <c:v>300.158</c:v>
                </c:pt>
                <c:pt idx="5">
                  <c:v>332.675</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220.836</c:v>
                </c:pt>
                <c:pt idx="1">
                  <c:v>23.706999999999994</c:v>
                </c:pt>
                <c:pt idx="2">
                  <c:v>26.343000000000018</c:v>
                </c:pt>
                <c:pt idx="3">
                  <c:v>29.27199999999999</c:v>
                </c:pt>
                <c:pt idx="4">
                  <c:v>32.516999999999996</c:v>
                </c:pt>
                <c:pt idx="5">
                  <c:v>36.11899999999997</c:v>
                </c:pt>
                <c:pt idx="6">
                  <c:v>368.794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187.424</c:v>
                </c:pt>
                <c:pt idx="2">
                  <c:v>208.47</c:v>
                </c:pt>
                <c:pt idx="3">
                  <c:v>231.938</c:v>
                </c:pt>
                <c:pt idx="4">
                  <c:v>258.103</c:v>
                </c:pt>
                <c:pt idx="5">
                  <c:v>287.269</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187.424</c:v>
                </c:pt>
                <c:pt idx="1">
                  <c:v>21.045999999999992</c:v>
                </c:pt>
                <c:pt idx="2">
                  <c:v>23.46799999999999</c:v>
                </c:pt>
                <c:pt idx="3">
                  <c:v>26.16500000000002</c:v>
                </c:pt>
                <c:pt idx="4">
                  <c:v>29.165999999999997</c:v>
                </c:pt>
                <c:pt idx="5">
                  <c:v>32.50599999999997</c:v>
                </c:pt>
                <c:pt idx="6">
                  <c:v>319.775</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81.332</c:v>
                </c:pt>
                <c:pt idx="2">
                  <c:v>91.17</c:v>
                </c:pt>
                <c:pt idx="3">
                  <c:v>102.197</c:v>
                </c:pt>
                <c:pt idx="4">
                  <c:v>114.557</c:v>
                </c:pt>
                <c:pt idx="5">
                  <c:v>128.402</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81.332</c:v>
                </c:pt>
                <c:pt idx="1">
                  <c:v>9.838000000000008</c:v>
                </c:pt>
                <c:pt idx="2">
                  <c:v>11.027000000000001</c:v>
                </c:pt>
                <c:pt idx="3">
                  <c:v>12.36</c:v>
                </c:pt>
                <c:pt idx="4">
                  <c:v>13.844999999999985</c:v>
                </c:pt>
                <c:pt idx="5">
                  <c:v>15.50800000000001</c:v>
                </c:pt>
                <c:pt idx="6">
                  <c:v>143.91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0.0</c:v>
                </c:pt>
                <c:pt idx="1">
                  <c:v>57.954</c:v>
                </c:pt>
                <c:pt idx="2">
                  <c:v>65.263</c:v>
                </c:pt>
                <c:pt idx="3">
                  <c:v>73.476</c:v>
                </c:pt>
                <c:pt idx="4">
                  <c:v>82.702</c:v>
                </c:pt>
                <c:pt idx="5">
                  <c:v>93.061</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2028</c:v>
                </c:pt>
                <c:pt idx="2">
                  <c:v>2030</c:v>
                </c:pt>
                <c:pt idx="3">
                  <c:v>2032</c:v>
                </c:pt>
                <c:pt idx="4">
                  <c:v>2034</c:v>
                </c:pt>
                <c:pt idx="5">
                  <c:v>2036</c:v>
                </c:pt>
                <c:pt idx="6">
                  <c:v>2036 Total</c:v>
                </c:pt>
              </c:strCache>
            </c:strRef>
          </c:cat>
          <c:val>
            <c:numRef>
              <c:numCache>
                <c:formatCode>General</c:formatCode>
                <c:ptCount val="7"/>
                <c:pt idx="0">
                  <c:v>57.954</c:v>
                </c:pt>
                <c:pt idx="1">
                  <c:v>7.309000000000005</c:v>
                </c:pt>
                <c:pt idx="2">
                  <c:v>8.212999999999994</c:v>
                </c:pt>
                <c:pt idx="3">
                  <c:v>9.225999999999999</c:v>
                </c:pt>
                <c:pt idx="4">
                  <c:v>10.359000000000009</c:v>
                </c:pt>
                <c:pt idx="5">
                  <c:v>11.629999999999995</c:v>
                </c:pt>
                <c:pt idx="6">
                  <c:v>104.691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6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Supermarkets and Hypermarkets</c:v>
                </c:pt>
              </c:strCache>
            </c:strRef>
          </c:tx>
          <c:spPr>
            <a:solidFill>
              <a:srgbClr val="3D85C6"/>
            </a:solidFill>
            <a:ln>
              <a:noFill/>
            </a:ln>
          </c:spPr>
          <c:dLbls>
            <c:dLbl>
              <c:idx val="0"/>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22.218017885177506</c:v>
                </c:pt>
                <c:pt idx="1">
                  <c:v>22.759339901265445</c:v>
                </c:pt>
                <c:pt idx="2">
                  <c:v>23.627845372790222</c:v>
                </c:pt>
              </c:numCache>
            </c:numRef>
          </c:val>
        </c:ser>
        <c:ser>
          <c:idx val="1"/>
          <c:order val="1"/>
          <c:tx>
            <c:strRef>
              <c:strCache>
                <c:ptCount val="1"/>
                <c:pt idx="0">
                  <c:v>Convenience Stores</c:v>
                </c:pt>
              </c:strCache>
            </c:strRef>
          </c:tx>
          <c:spPr>
            <a:solidFill>
              <a:srgbClr val="9E7E0A"/>
            </a:solidFill>
            <a:ln>
              <a:noFill/>
            </a:ln>
          </c:spPr>
          <c:dLbls>
            <c:dLbl>
              <c:idx val="0"/>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19.845326174636355</c:v>
                </c:pt>
                <c:pt idx="1">
                  <c:v>20.582993798549882</c:v>
                </c:pt>
                <c:pt idx="2">
                  <c:v>21.759897120478787</c:v>
                </c:pt>
              </c:numCache>
            </c:numRef>
          </c:val>
        </c:ser>
        <c:ser>
          <c:idx val="2"/>
          <c:order val="2"/>
          <c:tx>
            <c:strRef>
              <c:strCache>
                <c:ptCount val="1"/>
                <c:pt idx="0">
                  <c:v>Specialty Tea and Health Food Stores</c:v>
                </c:pt>
              </c:strCache>
            </c:strRef>
          </c:tx>
          <c:spPr>
            <a:solidFill>
              <a:srgbClr val="008189"/>
            </a:solidFill>
            <a:ln>
              <a:noFill/>
            </a:ln>
          </c:spPr>
          <c:dLbls>
            <c:dLbl>
              <c:idx val="0"/>
              <c:numFmt formatCode="&quot;MMMM&quot;;&quot;MMMM&quot;;&quot;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20.850608460330815</c:v>
                </c:pt>
                <c:pt idx="1">
                  <c:v>19.836376571022058</c:v>
                </c:pt>
                <c:pt idx="2">
                  <c:v>18.199035948615506</c:v>
                </c:pt>
              </c:numCache>
            </c:numRef>
          </c:val>
        </c:ser>
        <c:ser>
          <c:idx val="3"/>
          <c:order val="3"/>
          <c:tx>
            <c:strRef>
              <c:strCache>
                <c:ptCount val="1"/>
                <c:pt idx="0">
                  <c:v>Online Retail</c:v>
                </c:pt>
              </c:strCache>
            </c:strRef>
          </c:tx>
          <c:spPr>
            <a:solidFill>
              <a:srgbClr val="40315E"/>
            </a:solidFill>
            <a:ln>
              <a:noFill/>
            </a:ln>
          </c:spPr>
          <c:dLbls>
            <c:dLbl>
              <c:idx val="0"/>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17.493126089634057</c:v>
                </c:pt>
                <c:pt idx="1">
                  <c:v>16.835176522157795</c:v>
                </c:pt>
                <c:pt idx="2">
                  <c:v>15.78007429748999</c:v>
                </c:pt>
              </c:numCache>
            </c:numRef>
          </c:val>
        </c:ser>
        <c:ser>
          <c:idx val="4"/>
          <c:order val="4"/>
          <c:tx>
            <c:strRef>
              <c:strCache>
                <c:ptCount val="1"/>
                <c:pt idx="0">
                  <c:v>B2B / Institutional and Ingredient Sales</c:v>
                </c:pt>
              </c:strCache>
            </c:strRef>
          </c:tx>
          <c:spPr>
            <a:solidFill>
              <a:srgbClr val="A35313"/>
            </a:solidFill>
            <a:ln>
              <a:noFill/>
            </a:ln>
          </c:spPr>
          <c:dLbls>
            <c:dLbl>
              <c:idx val="0"/>
              <c:numFmt formatCode="&quot;MMM&quot;;&quot;MMM&quot;;&quot;MMM&quot;" sourceLinked="0"/>
              <c:spPr>
                <a:blipFill>
                  <a:blip r:embed="rId1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6.924976797841984</c:v>
                </c:pt>
                <c:pt idx="1">
                  <c:v>7.474885204906548</c:v>
                </c:pt>
                <c:pt idx="2">
                  <c:v>8.365326916851554</c:v>
                </c:pt>
              </c:numCache>
            </c:numRef>
          </c:val>
        </c:ser>
        <c:ser>
          <c:idx val="5"/>
          <c:order val="5"/>
          <c:tx>
            <c:strRef>
              <c:strCache>
                <c:ptCount val="1"/>
                <c:pt idx="0">
                  <c:v>Foodservice and HoReCa</c:v>
                </c:pt>
              </c:strCache>
            </c:strRef>
          </c:tx>
          <c:spPr>
            <a:solidFill>
              <a:srgbClr val="808080"/>
            </a:solidFill>
            <a:ln>
              <a:noFill/>
            </a:ln>
          </c:spPr>
          <c:dLbls>
            <c:dLbl>
              <c:idx val="0"/>
              <c:numFmt formatCode="&quot;MMM&quot;;&quot;MMM&quot;;&quot;MMM&quot;" sourceLinked="0"/>
              <c:spPr>
                <a:blipFill>
                  <a:blip r:embed="rId1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7.435749538125265</c:v>
                </c:pt>
                <c:pt idx="1">
                  <c:v>7.30556693326435</c:v>
                </c:pt>
                <c:pt idx="2">
                  <c:v>7.101588592453396</c:v>
                </c:pt>
              </c:numCache>
            </c:numRef>
          </c:val>
        </c:ser>
        <c:ser>
          <c:idx val="6"/>
          <c:order val="6"/>
          <c:tx>
            <c:strRef>
              <c:strCache>
                <c:ptCount val="1"/>
                <c:pt idx="0">
                  <c:v>Other Retail Channels</c:v>
                </c:pt>
              </c:strCache>
            </c:strRef>
          </c:tx>
          <c:spPr>
            <a:solidFill>
              <a:srgbClr val="0E72AE"/>
            </a:solidFill>
            <a:ln>
              <a:noFill/>
            </a:ln>
          </c:spPr>
          <c:dLbls>
            <c:dLbl>
              <c:idx val="0"/>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quot;;&quot;MMM&quot;;&quot;MMM&quot;" sourceLinked="0"/>
              <c:spPr>
                <a:blipFill>
                  <a:blip r:embed="rId1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3"/>
                <c:pt idx="0">
                  <c:v>2021</c:v>
                </c:pt>
                <c:pt idx="1">
                  <c:v>2026</c:v>
                </c:pt>
                <c:pt idx="2">
                  <c:v>2036</c:v>
                </c:pt>
              </c:strCache>
            </c:strRef>
          </c:cat>
          <c:val>
            <c:numRef>
              <c:numCache>
                <c:formatCode>General</c:formatCode>
                <c:ptCount val="3"/>
                <c:pt idx="0">
                  <c:v>5.232195054254019</c:v>
                </c:pt>
                <c:pt idx="1">
                  <c:v>5.205661068833941</c:v>
                </c:pt>
                <c:pt idx="2">
                  <c:v>5.166231751320537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Organic</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Matcha Powder</c:v>
                </c:pt>
                <c:pt idx="1">
                  <c:v>Matcha Tea</c:v>
                </c:pt>
              </c:strCache>
            </c:strRef>
          </c:cat>
          <c:val>
            <c:numRef>
              <c:numCache>
                <c:formatCode>General</c:formatCode>
                <c:ptCount val="2"/>
                <c:pt idx="0">
                  <c:v>73.70292369738155</c:v>
                </c:pt>
                <c:pt idx="1">
                  <c:v>68.28148453070014</c:v>
                </c:pt>
              </c:numCache>
            </c:numRef>
          </c:val>
        </c:ser>
        <c:ser>
          <c:idx val="1"/>
          <c:order val="1"/>
          <c:tx>
            <c:strRef>
              <c:strCache>
                <c:ptCount val="1"/>
                <c:pt idx="0">
                  <c:v>Conventional</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Matcha Powder</c:v>
                </c:pt>
                <c:pt idx="1">
                  <c:v>Matcha Tea</c:v>
                </c:pt>
              </c:strCache>
            </c:strRef>
          </c:cat>
          <c:val>
            <c:numRef>
              <c:numCache>
                <c:formatCode>General</c:formatCode>
                <c:ptCount val="2"/>
                <c:pt idx="0">
                  <c:v>26.29707630261845</c:v>
                </c:pt>
                <c:pt idx="1">
                  <c:v>31.718515469299852</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Vanilla</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23.390466444956086</c:v>
                </c:pt>
                <c:pt idx="1">
                  <c:v>18.02517626805796</c:v>
                </c:pt>
                <c:pt idx="2">
                  <c:v>22.58806141719353</c:v>
                </c:pt>
                <c:pt idx="3">
                  <c:v>22.04233192356754</c:v>
                </c:pt>
                <c:pt idx="4">
                  <c:v>23.6183453967395</c:v>
                </c:pt>
                <c:pt idx="5">
                  <c:v>25.1639804820346</c:v>
                </c:pt>
              </c:numCache>
            </c:numRef>
          </c:val>
        </c:ser>
        <c:ser>
          <c:idx val="1"/>
          <c:order val="1"/>
          <c:tx>
            <c:strRef>
              <c:strCache>
                <c:ptCount val="1"/>
                <c:pt idx="0">
                  <c:v>Lemon</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22.49509678519656</c:v>
                </c:pt>
                <c:pt idx="1">
                  <c:v>18.42199303317786</c:v>
                </c:pt>
                <c:pt idx="2">
                  <c:v>18.074144018392317</c:v>
                </c:pt>
                <c:pt idx="3">
                  <c:v>15.58867729779382</c:v>
                </c:pt>
                <c:pt idx="4">
                  <c:v>16.0372435519564</c:v>
                </c:pt>
                <c:pt idx="5">
                  <c:v>15.04125388141357</c:v>
                </c:pt>
              </c:numCache>
            </c:numRef>
          </c:val>
        </c:ser>
        <c:ser>
          <c:idx val="2"/>
          <c:order val="2"/>
          <c:tx>
            <c:strRef>
              <c:strCache>
                <c:ptCount val="1"/>
                <c:pt idx="0">
                  <c:v>Orange</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10.505670674511812</c:v>
                </c:pt>
                <c:pt idx="1">
                  <c:v>14.836658784193208</c:v>
                </c:pt>
                <c:pt idx="2">
                  <c:v>14.90885951227523</c:v>
                </c:pt>
                <c:pt idx="3">
                  <c:v>14.895371142754204</c:v>
                </c:pt>
                <c:pt idx="4">
                  <c:v>13.431934364762613</c:v>
                </c:pt>
                <c:pt idx="5">
                  <c:v>13.100103504361968</c:v>
                </c:pt>
              </c:numCache>
            </c:numRef>
          </c:val>
        </c:ser>
        <c:ser>
          <c:idx val="3"/>
          <c:order val="3"/>
          <c:tx>
            <c:strRef>
              <c:strCache>
                <c:ptCount val="1"/>
                <c:pt idx="0">
                  <c:v>Mocha</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10.451095761916946</c:v>
                </c:pt>
                <c:pt idx="1">
                  <c:v>9.843666002715882</c:v>
                </c:pt>
                <c:pt idx="2">
                  <c:v>10.762377863535596</c:v>
                </c:pt>
                <c:pt idx="3">
                  <c:v>11.069853191772507</c:v>
                </c:pt>
                <c:pt idx="4">
                  <c:v>13.557078110957569</c:v>
                </c:pt>
                <c:pt idx="5">
                  <c:v>12.681354428508056</c:v>
                </c:pt>
              </c:numCache>
            </c:numRef>
          </c:val>
        </c:ser>
        <c:ser>
          <c:idx val="4"/>
          <c:order val="4"/>
          <c:tx>
            <c:strRef>
              <c:strCache>
                <c:ptCount val="1"/>
                <c:pt idx="0">
                  <c:v>Unflavoured</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10.67451181035218</c:v>
                </c:pt>
                <c:pt idx="1">
                  <c:v>17.182134855551862</c:v>
                </c:pt>
                <c:pt idx="2">
                  <c:v>13.654651449215866</c:v>
                </c:pt>
                <c:pt idx="3">
                  <c:v>12.523004716169678</c:v>
                </c:pt>
                <c:pt idx="4">
                  <c:v>11.318986094065577</c:v>
                </c:pt>
                <c:pt idx="5">
                  <c:v>12.254916457193552</c:v>
                </c:pt>
              </c:numCache>
            </c:numRef>
          </c:val>
        </c:ser>
        <c:ser>
          <c:idx val="5"/>
          <c:order val="5"/>
          <c:tx>
            <c:strRef>
              <c:strCache>
                <c:ptCount val="1"/>
                <c:pt idx="0">
                  <c:v>Pumpkin Spice</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11.279952246951481</c:v>
                </c:pt>
                <c:pt idx="1">
                  <c:v>9.697928287100192</c:v>
                </c:pt>
                <c:pt idx="2">
                  <c:v>11.398719106659003</c:v>
                </c:pt>
                <c:pt idx="3">
                  <c:v>14.004394833960317</c:v>
                </c:pt>
                <c:pt idx="4">
                  <c:v>10.72419091427412</c:v>
                </c:pt>
                <c:pt idx="5">
                  <c:v>10.675735620286854</c:v>
                </c:pt>
              </c:numCache>
            </c:numRef>
          </c:val>
        </c:ser>
        <c:ser>
          <c:idx val="6"/>
          <c:order val="6"/>
          <c:tx>
            <c:strRef>
              <c:strCache>
                <c:ptCount val="1"/>
                <c:pt idx="0">
                  <c:v>Other Flavours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6.392086637673746</c:v>
                </c:pt>
                <c:pt idx="1">
                  <c:v>5.970895960672569</c:v>
                </c:pt>
                <c:pt idx="2">
                  <c:v>4.60834222842598</c:v>
                </c:pt>
                <c:pt idx="3">
                  <c:v>4.874890048005609</c:v>
                </c:pt>
                <c:pt idx="4">
                  <c:v>4.893168794271413</c:v>
                </c:pt>
                <c:pt idx="5">
                  <c:v>5.660801419488392</c:v>
                </c:pt>
              </c:numCache>
            </c:numRef>
          </c:val>
        </c:ser>
        <c:ser>
          <c:idx val="7"/>
          <c:order val="7"/>
          <c:tx>
            <c:strRef>
              <c:strCache>
                <c:ptCount val="1"/>
                <c:pt idx="0">
                  <c:v>Cinnamon</c:v>
                </c:pt>
              </c:strCache>
            </c:strRef>
          </c:tx>
          <c:spPr>
            <a:solidFill>
              <a:srgbClr val="A86F0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6"/>
                <c:pt idx="0">
                  <c:v>Powder</c:v>
                </c:pt>
                <c:pt idx="1">
                  <c:v>Liquid</c:v>
                </c:pt>
                <c:pt idx="2">
                  <c:v>Granules</c:v>
                </c:pt>
                <c:pt idx="3">
                  <c:v>Blended</c:v>
                </c:pt>
                <c:pt idx="4">
                  <c:v>Ground</c:v>
                </c:pt>
                <c:pt idx="5">
                  <c:v>Whole</c:v>
                </c:pt>
              </c:strCache>
            </c:strRef>
          </c:cat>
          <c:val>
            <c:numRef>
              <c:numCache>
                <c:formatCode>General</c:formatCode>
                <c:ptCount val="6"/>
                <c:pt idx="0">
                  <c:v>4.811119638441205</c:v>
                </c:pt>
                <c:pt idx="1">
                  <c:v>6.021546808530473</c:v>
                </c:pt>
                <c:pt idx="2">
                  <c:v>4.004844404302489</c:v>
                </c:pt>
                <c:pt idx="3">
                  <c:v>5.001476845976325</c:v>
                </c:pt>
                <c:pt idx="4">
                  <c:v>6.419052772972816</c:v>
                </c:pt>
                <c:pt idx="5">
                  <c:v>5.421854206712997</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percentStacked"/>
        <c:varyColors val="0"/>
        <c:ser>
          <c:idx val="0"/>
          <c:order val="0"/>
          <c:tx>
            <c:strRef>
              <c:strCache>
                <c:ptCount val="1"/>
                <c:pt idx="0">
                  <c:v>Convenience Stores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20.414918777081496</c:v>
                </c:pt>
                <c:pt idx="1">
                  <c:v>20.137794749913215</c:v>
                </c:pt>
                <c:pt idx="2">
                  <c:v>23.182135380321004</c:v>
                </c:pt>
                <c:pt idx="3">
                  <c:v>22.27156256884138</c:v>
                </c:pt>
                <c:pt idx="4">
                  <c:v>21.41032606492106</c:v>
                </c:pt>
                <c:pt idx="5">
                  <c:v>18.334454459841247</c:v>
                </c:pt>
                <c:pt idx="6">
                  <c:v>24.304147835924176</c:v>
                </c:pt>
                <c:pt idx="7">
                  <c:v>15.899299098841366</c:v>
                </c:pt>
                <c:pt idx="8">
                  <c:v>21.71364683561458</c:v>
                </c:pt>
              </c:numCache>
            </c:numRef>
          </c:val>
        </c:ser>
        <c:ser>
          <c:idx val="1"/>
          <c:order val="1"/>
          <c:tx>
            <c:strRef>
              <c:strCache>
                <c:ptCount val="1"/>
                <c:pt idx="0">
                  <c:v>Supermarkets and Hypermarkets</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21.18744281595802</c:v>
                </c:pt>
                <c:pt idx="1">
                  <c:v>27.85002803962935</c:v>
                </c:pt>
                <c:pt idx="2">
                  <c:v>22.482437776227027</c:v>
                </c:pt>
                <c:pt idx="3">
                  <c:v>23.523751000011597</c:v>
                </c:pt>
                <c:pt idx="4">
                  <c:v>21.767935192468315</c:v>
                </c:pt>
                <c:pt idx="5">
                  <c:v>24.39122830620207</c:v>
                </c:pt>
                <c:pt idx="6">
                  <c:v>17.576189136264706</c:v>
                </c:pt>
                <c:pt idx="7">
                  <c:v>28.399370619367758</c:v>
                </c:pt>
                <c:pt idx="8">
                  <c:v>20.521073316167502</c:v>
                </c:pt>
              </c:numCache>
            </c:numRef>
          </c:val>
        </c:ser>
        <c:ser>
          <c:idx val="2"/>
          <c:order val="2"/>
          <c:tx>
            <c:strRef>
              <c:strCache>
                <c:ptCount val="1"/>
                <c:pt idx="0">
                  <c:v>Online Retail</c:v>
                </c:pt>
              </c:strCache>
            </c:strRef>
          </c:tx>
          <c:spPr>
            <a:solidFill>
              <a:srgbClr val="008189"/>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14.484609940097018</c:v>
                </c:pt>
                <c:pt idx="1">
                  <c:v>14.620663871605203</c:v>
                </c:pt>
                <c:pt idx="2">
                  <c:v>19.306815538497325</c:v>
                </c:pt>
                <c:pt idx="3">
                  <c:v>13.037832322693596</c:v>
                </c:pt>
                <c:pt idx="4">
                  <c:v>16.811683519976647</c:v>
                </c:pt>
                <c:pt idx="5">
                  <c:v>16.113951298264496</c:v>
                </c:pt>
                <c:pt idx="6">
                  <c:v>19.749165896209348</c:v>
                </c:pt>
                <c:pt idx="7">
                  <c:v>18.228579602345874</c:v>
                </c:pt>
                <c:pt idx="8">
                  <c:v>18.484889551429735</c:v>
                </c:pt>
              </c:numCache>
            </c:numRef>
          </c:val>
        </c:ser>
        <c:ser>
          <c:idx val="3"/>
          <c:order val="3"/>
          <c:tx>
            <c:strRef>
              <c:strCache>
                <c:ptCount val="1"/>
                <c:pt idx="0">
                  <c:v>Specialty Tea and Health Food Stores</c:v>
                </c:pt>
              </c:strCache>
            </c:strRef>
          </c:tx>
          <c:spPr>
            <a:solidFill>
              <a:srgbClr val="40315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24.536485576674092</c:v>
                </c:pt>
                <c:pt idx="1">
                  <c:v>16.690255561193155</c:v>
                </c:pt>
                <c:pt idx="2">
                  <c:v>16.67736682949523</c:v>
                </c:pt>
                <c:pt idx="3">
                  <c:v>20.036174332456028</c:v>
                </c:pt>
                <c:pt idx="4">
                  <c:v>18.662979751700874</c:v>
                </c:pt>
                <c:pt idx="5">
                  <c:v>23.029059599085162</c:v>
                </c:pt>
                <c:pt idx="6">
                  <c:v>16.52760151373328</c:v>
                </c:pt>
                <c:pt idx="7">
                  <c:v>17.904162494635962</c:v>
                </c:pt>
                <c:pt idx="8">
                  <c:v>17.637891313186067</c:v>
                </c:pt>
              </c:numCache>
            </c:numRef>
          </c:val>
        </c:ser>
        <c:ser>
          <c:idx val="4"/>
          <c:order val="4"/>
          <c:tx>
            <c:strRef>
              <c:strCache>
                <c:ptCount val="1"/>
                <c:pt idx="0">
                  <c:v>B2B / Institutional and Ingredient Sales</c:v>
                </c:pt>
              </c:strCache>
            </c:strRef>
          </c:tx>
          <c:spPr>
            <a:solidFill>
              <a:srgbClr val="A35313"/>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8.137828646399779</c:v>
                </c:pt>
                <c:pt idx="1">
                  <c:v>7.3517237695943605</c:v>
                </c:pt>
                <c:pt idx="2">
                  <c:v>5.42079553384508</c:v>
                </c:pt>
                <c:pt idx="3">
                  <c:v>7.808786188825378</c:v>
                </c:pt>
                <c:pt idx="4">
                  <c:v>8.808861570398722</c:v>
                </c:pt>
                <c:pt idx="5">
                  <c:v>6.165747342930176</c:v>
                </c:pt>
                <c:pt idx="6">
                  <c:v>8.888301873790477</c:v>
                </c:pt>
                <c:pt idx="7">
                  <c:v>6.424259762551852</c:v>
                </c:pt>
                <c:pt idx="8">
                  <c:v>7.833039707277408</c:v>
                </c:pt>
              </c:numCache>
            </c:numRef>
          </c:val>
        </c:ser>
        <c:ser>
          <c:idx val="5"/>
          <c:order val="5"/>
          <c:tx>
            <c:strRef>
              <c:strCache>
                <c:ptCount val="1"/>
                <c:pt idx="0">
                  <c:v>Foodservice and HoReCa</c:v>
                </c:pt>
              </c:strCache>
            </c:strRef>
          </c:tx>
          <c:spPr>
            <a:solidFill>
              <a:srgbClr val="808080"/>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6.357139157905641</c:v>
                </c:pt>
                <c:pt idx="1">
                  <c:v>7.8671188613240055</c:v>
                </c:pt>
                <c:pt idx="2">
                  <c:v>7.820423354268434</c:v>
                </c:pt>
                <c:pt idx="3">
                  <c:v>8.615752066690629</c:v>
                </c:pt>
                <c:pt idx="4">
                  <c:v>5.96745027124774</c:v>
                </c:pt>
                <c:pt idx="5">
                  <c:v>7.013991658818782</c:v>
                </c:pt>
                <c:pt idx="6">
                  <c:v>7.995337058326967</c:v>
                </c:pt>
                <c:pt idx="7">
                  <c:v>8.047489629523673</c:v>
                </c:pt>
                <c:pt idx="8">
                  <c:v>6.931833581786148</c:v>
                </c:pt>
              </c:numCache>
            </c:numRef>
          </c:val>
        </c:ser>
        <c:ser>
          <c:idx val="6"/>
          <c:order val="6"/>
          <c:tx>
            <c:strRef>
              <c:strCache>
                <c:ptCount val="1"/>
                <c:pt idx="0">
                  <c:v>Other Retail Channels</c:v>
                </c:pt>
              </c:strCache>
            </c:strRef>
          </c:tx>
          <c:spPr>
            <a:solidFill>
              <a:srgbClr val="0E72AE"/>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9"/>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strCache>
            </c:strRef>
          </c:cat>
          <c:val>
            <c:numRef>
              <c:numCache>
                <c:formatCode>General</c:formatCode>
                <c:ptCount val="9"/>
                <c:pt idx="0">
                  <c:v>4.8815750858839575</c:v>
                </c:pt>
                <c:pt idx="1">
                  <c:v>5.482415146740728</c:v>
                </c:pt>
                <c:pt idx="2">
                  <c:v>5.110025587345894</c:v>
                </c:pt>
                <c:pt idx="3">
                  <c:v>4.706141520481397</c:v>
                </c:pt>
                <c:pt idx="4">
                  <c:v>6.570763629286647</c:v>
                </c:pt>
                <c:pt idx="5">
                  <c:v>4.9515673348580655</c:v>
                </c:pt>
                <c:pt idx="6">
                  <c:v>4.959256685751037</c:v>
                </c:pt>
                <c:pt idx="7">
                  <c:v>5.096838792733514</c:v>
                </c:pt>
                <c:pt idx="8">
                  <c:v>6.877625694538554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Volume (MT)</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124643.689</c:v>
                </c:pt>
                <c:pt idx="1">
                  <c:v>126673.93299999999</c:v>
                </c:pt>
                <c:pt idx="2">
                  <c:v>128737.24599999998</c:v>
                </c:pt>
                <c:pt idx="3">
                  <c:v>130834.168</c:v>
                </c:pt>
                <c:pt idx="4">
                  <c:v>132965.245</c:v>
                </c:pt>
                <c:pt idx="5">
                  <c:v>139017.524</c:v>
                </c:pt>
                <c:pt idx="6">
                  <c:v>145342.611</c:v>
                </c:pt>
                <c:pt idx="7">
                  <c:v>151939.755</c:v>
                </c:pt>
                <c:pt idx="8">
                  <c:v>158820.16499999998</c:v>
                </c:pt>
                <c:pt idx="9">
                  <c:v>165994.842</c:v>
                </c:pt>
                <c:pt idx="10">
                  <c:v>173475.878</c:v>
                </c:pt>
                <c:pt idx="11">
                  <c:v>181275.394</c:v>
                </c:pt>
                <c:pt idx="12">
                  <c:v>189405.794</c:v>
                </c:pt>
                <c:pt idx="13">
                  <c:v>197880.208</c:v>
                </c:pt>
                <c:pt idx="14">
                  <c:v>206712.185</c:v>
                </c:pt>
                <c:pt idx="15">
                  <c:v>215915.90099999998</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0.06531584694562143</c:v>
                </c:pt>
                <c:pt idx="1">
                  <c:v>0.04672506003843879</c:v>
                </c:pt>
                <c:pt idx="2">
                  <c:v>0.045012554010707584</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8817639337658893"/>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139017.524</c:v>
                </c:pt>
                <c:pt idx="2">
                  <c:v>145342.611</c:v>
                </c:pt>
                <c:pt idx="3">
                  <c:v>151939.755</c:v>
                </c:pt>
                <c:pt idx="4">
                  <c:v>158820.16499999998</c:v>
                </c:pt>
                <c:pt idx="5">
                  <c:v>165994.842</c:v>
                </c:pt>
                <c:pt idx="6">
                  <c:v>173475.878</c:v>
                </c:pt>
                <c:pt idx="7">
                  <c:v>181275.394</c:v>
                </c:pt>
                <c:pt idx="8">
                  <c:v>189405.794</c:v>
                </c:pt>
                <c:pt idx="9">
                  <c:v>197880.208</c:v>
                </c:pt>
                <c:pt idx="10">
                  <c:v>206712.185</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139017.524</c:v>
                </c:pt>
                <c:pt idx="1">
                  <c:v>6325.0869999999995</c:v>
                </c:pt>
                <c:pt idx="2">
                  <c:v>6597.144</c:v>
                </c:pt>
                <c:pt idx="3">
                  <c:v>6880.409999999974</c:v>
                </c:pt>
                <c:pt idx="4">
                  <c:v>7174.677000000025</c:v>
                </c:pt>
                <c:pt idx="5">
                  <c:v>7481.035999999993</c:v>
                </c:pt>
                <c:pt idx="6">
                  <c:v>7799.516000000003</c:v>
                </c:pt>
                <c:pt idx="7">
                  <c:v>8130.399999999994</c:v>
                </c:pt>
                <c:pt idx="8">
                  <c:v>8474.414000000019</c:v>
                </c:pt>
                <c:pt idx="9">
                  <c:v>8831.976999999984</c:v>
                </c:pt>
                <c:pt idx="10">
                  <c:v>9203.715999999986</c:v>
                </c:pt>
                <c:pt idx="11">
                  <c:v>215915.90099999998</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70.0230554336295</c:v>
                </c:pt>
                <c:pt idx="1">
                  <c:v>16.895072992742868</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29.976944566370506</c:v>
                </c:pt>
                <c:pt idx="1">
                  <c:v>83.10492700725713</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7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Value (US$ Mn)</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delete val="1"/>
              <c:numFmt formatCode="&quot;&quot;" sourceLinked="0"/>
            </c:dLbl>
            <c:dLbl>
              <c:idx val="2"/>
              <c:delete val="1"/>
              <c:numFmt formatCode="&quot;&quot;" sourceLinked="0"/>
            </c:dLbl>
            <c:dLbl>
              <c:idx val="3"/>
              <c:delete val="1"/>
              <c:numFmt formatCode="&quot;&quot;" sourceLinked="0"/>
            </c:dLbl>
            <c:dLbl>
              <c:idx val="4"/>
              <c:delete val="1"/>
              <c:numFmt formatCode="&quot;&quot;" sourceLinked="0"/>
            </c:dLbl>
            <c:dLbl>
              <c:idx val="5"/>
              <c:delete val="1"/>
              <c:numFmt formatCode="&quot;&quot;" sourceLinked="0"/>
            </c:dLbl>
            <c:dLbl>
              <c:idx val="6"/>
              <c:delete val="1"/>
              <c:numFmt formatCode="&quot;&quot;" sourceLinked="0"/>
            </c:dLbl>
            <c:dLbl>
              <c:idx val="7"/>
              <c:delete val="1"/>
              <c:numFmt formatCode="&quot;&quot;" sourceLinked="0"/>
            </c:dLbl>
            <c:dLbl>
              <c:idx val="8"/>
              <c:delete val="1"/>
              <c:numFmt formatCode="&quot;&quot;" sourceLinked="0"/>
            </c:dLbl>
            <c:dLbl>
              <c:idx val="9"/>
              <c:delete val="1"/>
              <c:numFmt formatCode="&quot;&quot;" sourceLinked="0"/>
            </c:dLbl>
            <c:dLbl>
              <c:idx val="10"/>
              <c:delete val="1"/>
              <c:numFmt formatCode="&quot;&quot;" sourceLinked="0"/>
            </c:dLbl>
            <c:dLbl>
              <c:idx val="11"/>
              <c:delete val="1"/>
              <c:numFmt formatCode="&quot;&quot;" sourceLinked="0"/>
            </c:dLbl>
            <c:dLbl>
              <c:idx val="12"/>
              <c:delete val="1"/>
              <c:numFmt formatCode="&quot;&quot;" sourceLinked="0"/>
            </c:dLbl>
            <c:dLbl>
              <c:idx val="13"/>
              <c:delete val="1"/>
              <c:numFmt formatCode="&quot;&quot;" sourceLinked="0"/>
            </c:dLbl>
            <c:dLbl>
              <c:idx val="14"/>
              <c:delete val="1"/>
              <c:numFmt formatCode="&quot;&quot;" sourceLinked="0"/>
            </c:dLbl>
            <c:dLbl>
              <c:idx val="15"/>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solidFill>
                      <a:srgbClr val="6C7A89"/>
                    </a:solidFill>
                    <a:latin typeface="Calibri"/>
                  </a:defRPr>
                </a:pPr>
              </a:p>
            </c:txPr>
            <c:dLblPos val="outEnd"/>
            <c:showLegendKey val="0"/>
            <c:showVal val="1"/>
            <c:showCatName val="0"/>
            <c:showSerName val="0"/>
            <c:showPercent val="0"/>
            <c:showBubbleSize val="0"/>
            <c:showLeaderLines val="1"/>
          </c:dLbls>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642.698</c:v>
                </c:pt>
                <c:pt idx="1">
                  <c:v>662.145</c:v>
                </c:pt>
                <c:pt idx="2">
                  <c:v>682.18</c:v>
                </c:pt>
                <c:pt idx="3">
                  <c:v>702.822</c:v>
                </c:pt>
                <c:pt idx="4">
                  <c:v>724.088</c:v>
                </c:pt>
                <c:pt idx="5">
                  <c:v>767.454</c:v>
                </c:pt>
                <c:pt idx="6">
                  <c:v>813.4000000000001</c:v>
                </c:pt>
                <c:pt idx="7">
                  <c:v>862.01</c:v>
                </c:pt>
                <c:pt idx="8">
                  <c:v>913.43</c:v>
                </c:pt>
                <c:pt idx="9">
                  <c:v>967.818</c:v>
                </c:pt>
                <c:pt idx="10">
                  <c:v>1025.339</c:v>
                </c:pt>
                <c:pt idx="11">
                  <c:v>1086.166</c:v>
                </c:pt>
                <c:pt idx="12">
                  <c:v>1150.482</c:v>
                </c:pt>
                <c:pt idx="13">
                  <c:v>1218.479</c:v>
                </c:pt>
                <c:pt idx="14">
                  <c:v>1290.36</c:v>
                </c:pt>
                <c:pt idx="15">
                  <c:v>1366.34</c:v>
                </c:pt>
              </c:numCache>
            </c:numRef>
          </c:val>
        </c:ser>
        <c:gapWidth val="4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CAGR</c:v>
                </c:pt>
              </c:strCache>
            </c:strRef>
          </c:tx>
          <c:spPr>
            <a:solidFill>
              <a:srgbClr val="3D85C6"/>
            </a:solidFill>
            <a:ln>
              <a:noFill/>
            </a:ln>
          </c:spPr>
          <c:dPt>
            <c:idx val="0"/>
            <c:spPr>
              <a:solidFill>
                <a:srgbClr val="008189"/>
              </a:solidFill>
            </c:spPr>
          </c:dPt>
          <c:dPt>
            <c:idx val="1"/>
            <c:spPr>
              <a:solidFill>
                <a:srgbClr val="9E7E0A"/>
              </a:solidFill>
            </c:spPr>
          </c:dPt>
          <c:dPt>
            <c:idx val="2"/>
            <c:spPr>
              <a:solidFill>
                <a:srgbClr val="3D85C6"/>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0%" sourceLinked="0"/>
            <c:txPr>
              <a:bodyPr rot="0" vert="horz"/>
              <a:lstStyle/>
              <a:p>
                <a:pPr>
                  <a:defRPr sz="1100">
                    <a:solidFill>
                      <a:srgbClr val="2E2E2E"/>
                    </a:solidFill>
                    <a:latin typeface="Calibri"/>
                  </a:defRPr>
                </a:pPr>
              </a:p>
            </c:txPr>
            <c:dLblPos val="outEnd"/>
            <c:showLegendKey val="0"/>
            <c:showVal val="1"/>
            <c:showCatName val="0"/>
            <c:showSerName val="0"/>
            <c:showPercent val="0"/>
            <c:showBubbleSize val="0"/>
            <c:showLeaderLines val="1"/>
          </c:dLbls>
          <c:cat>
            <c:strRef>
              <c:strCache>
                <c:ptCount val="3"/>
                <c:pt idx="0">
                  <c:v>Global</c:v>
                </c:pt>
                <c:pt idx="1">
                  <c:v>North America</c:v>
                </c:pt>
                <c:pt idx="2">
                  <c:v>U.S.</c:v>
                </c:pt>
              </c:strCache>
            </c:strRef>
          </c:cat>
          <c:val>
            <c:numRef>
              <c:numCache>
                <c:formatCode>General</c:formatCode>
                <c:ptCount val="3"/>
                <c:pt idx="0">
                  <c:v>0.07130068588453287</c:v>
                </c:pt>
                <c:pt idx="1">
                  <c:v>0.0617268334741099</c:v>
                </c:pt>
                <c:pt idx="2">
                  <c:v>0.05937725142688777</c:v>
                </c:pt>
              </c:numCache>
            </c:numRef>
          </c:val>
        </c:ser>
        <c:gapWidth val="6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0.09625592594411937"/>
          <c:min val="0.0"/>
        </c:scaling>
        <c:delete/>
        <c:axPos val="b"/>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7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0.0</c:v>
                </c:pt>
                <c:pt idx="1">
                  <c:v>767.454</c:v>
                </c:pt>
                <c:pt idx="2">
                  <c:v>813.4000000000001</c:v>
                </c:pt>
                <c:pt idx="3">
                  <c:v>862.01</c:v>
                </c:pt>
                <c:pt idx="4">
                  <c:v>913.43</c:v>
                </c:pt>
                <c:pt idx="5">
                  <c:v>967.818</c:v>
                </c:pt>
                <c:pt idx="6">
                  <c:v>1025.339</c:v>
                </c:pt>
                <c:pt idx="7">
                  <c:v>1086.166</c:v>
                </c:pt>
                <c:pt idx="8">
                  <c:v>1150.482</c:v>
                </c:pt>
                <c:pt idx="9">
                  <c:v>1218.479</c:v>
                </c:pt>
                <c:pt idx="10">
                  <c:v>1290.36</c:v>
                </c:pt>
                <c:pt idx="11">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08189"/>
              </a:solidFill>
            </c:spPr>
          </c:dPt>
          <c:dPt>
            <c:idx val="11"/>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dLbl>
              <c:idx val="11"/>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2"/>
                <c:pt idx="0">
                  <c:v>2026</c:v>
                </c:pt>
                <c:pt idx="1">
                  <c:v>2027</c:v>
                </c:pt>
                <c:pt idx="2">
                  <c:v>2028</c:v>
                </c:pt>
                <c:pt idx="3">
                  <c:v>2029</c:v>
                </c:pt>
                <c:pt idx="4">
                  <c:v>2030</c:v>
                </c:pt>
                <c:pt idx="5">
                  <c:v>2031</c:v>
                </c:pt>
                <c:pt idx="6">
                  <c:v>2032</c:v>
                </c:pt>
                <c:pt idx="7">
                  <c:v>2033</c:v>
                </c:pt>
                <c:pt idx="8">
                  <c:v>2034</c:v>
                </c:pt>
                <c:pt idx="9">
                  <c:v>2035</c:v>
                </c:pt>
                <c:pt idx="10">
                  <c:v>2036</c:v>
                </c:pt>
                <c:pt idx="11">
                  <c:v>2036 Total</c:v>
                </c:pt>
              </c:strCache>
            </c:strRef>
          </c:cat>
          <c:val>
            <c:numRef>
              <c:numCache>
                <c:formatCode>General</c:formatCode>
                <c:ptCount val="12"/>
                <c:pt idx="0">
                  <c:v>767.454</c:v>
                </c:pt>
                <c:pt idx="1">
                  <c:v>45.94600000000014</c:v>
                </c:pt>
                <c:pt idx="2">
                  <c:v>48.6099999999999</c:v>
                </c:pt>
                <c:pt idx="3">
                  <c:v>51.41999999999996</c:v>
                </c:pt>
                <c:pt idx="4">
                  <c:v>54.388000000000034</c:v>
                </c:pt>
                <c:pt idx="5">
                  <c:v>57.52099999999996</c:v>
                </c:pt>
                <c:pt idx="6">
                  <c:v>60.827</c:v>
                </c:pt>
                <c:pt idx="7">
                  <c:v>64.31600000000003</c:v>
                </c:pt>
                <c:pt idx="8">
                  <c:v>67.99700000000007</c:v>
                </c:pt>
                <c:pt idx="9">
                  <c:v>71.88099999999986</c:v>
                </c:pt>
                <c:pt idx="10">
                  <c:v>75.98000000000002</c:v>
                </c:pt>
                <c:pt idx="11">
                  <c:v>1366.34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stacked"/>
        <c:varyColors val="0"/>
        <c:ser>
          <c:idx val="0"/>
          <c:order val="0"/>
          <c:tx>
            <c:strRef>
              <c:strCache>
                <c:ptCount val="1"/>
                <c:pt idx="0">
                  <c:v>U.S.</c:v>
                </c:pt>
              </c:strCache>
            </c:strRef>
          </c:tx>
          <c:spPr>
            <a:solidFill>
              <a:srgbClr val="3D85C6"/>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68.93580097872248</c:v>
                </c:pt>
                <c:pt idx="1">
                  <c:v>22.74880083661321</c:v>
                </c:pt>
              </c:numCache>
            </c:numRef>
          </c:val>
        </c:ser>
        <c:ser>
          <c:idx val="1"/>
          <c:order val="1"/>
          <c:tx>
            <c:strRef>
              <c:strCache>
                <c:ptCount val="1"/>
                <c:pt idx="0">
                  <c:v>Rest of the market</c:v>
                </c:pt>
              </c:strCache>
            </c:strRef>
          </c:tx>
          <c:spPr>
            <a:solidFill>
              <a:srgbClr val="9E7E0A"/>
            </a:solidFill>
            <a:ln>
              <a:noFill/>
            </a:ln>
          </c:spPr>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numFmt formatCode="0.0&quot;%&quot;" sourceLinked="0"/>
            <c:txPr>
              <a:bodyPr rot="0" vert="horz"/>
              <a:lstStyle/>
              <a:p>
                <a:pPr>
                  <a:defRPr sz="1100">
                    <a:solidFill>
                      <a:srgbClr val="FFFFFF"/>
                    </a:solidFill>
                    <a:latin typeface="Calibri"/>
                  </a:defRPr>
                </a:pPr>
              </a:p>
            </c:txPr>
            <c:dLblPos val="ctr"/>
            <c:showLegendKey val="0"/>
            <c:showVal val="1"/>
            <c:showCatName val="0"/>
            <c:showSerName val="0"/>
            <c:showPercent val="0"/>
            <c:showBubbleSize val="0"/>
            <c:showLeaderLines val="1"/>
          </c:dLbls>
          <c:cat>
            <c:strRef>
              <c:strCache>
                <c:ptCount val="2"/>
                <c:pt idx="0">
                  <c:v>Share of North America</c:v>
                </c:pt>
                <c:pt idx="1">
                  <c:v>Share of Global</c:v>
                </c:pt>
              </c:strCache>
            </c:strRef>
          </c:cat>
          <c:val>
            <c:numRef>
              <c:numCache>
                <c:formatCode>General</c:formatCode>
                <c:ptCount val="2"/>
                <c:pt idx="0">
                  <c:v>31.064199021277517</c:v>
                </c:pt>
                <c:pt idx="1">
                  <c:v>77.25119916338679</c:v>
                </c:pt>
              </c:numCache>
            </c:numRef>
          </c:val>
        </c:ser>
        <c:gapWidth val="50"/>
        <c:overlap val="10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00.0"/>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charts/chart18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EC6DE"/>
              </a:solidFill>
            </c:spPr>
          </c:dPt>
          <c:dPt>
            <c:idx val="8"/>
            <c:spPr>
              <a:solidFill>
                <a:srgbClr val="0E72AE"/>
              </a:solidFill>
            </c:spPr>
          </c:dPt>
          <c:dLbls>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 </c:v>
                </c:pt>
                <c:pt idx="1">
                  <c:v>  </c:v>
                </c:pt>
                <c:pt idx="2">
                  <c:v>   </c:v>
                </c:pt>
                <c:pt idx="3">
                  <c:v>    </c:v>
                </c:pt>
                <c:pt idx="4">
                  <c:v>     </c:v>
                </c:pt>
                <c:pt idx="5">
                  <c:v>      </c:v>
                </c:pt>
                <c:pt idx="6">
                  <c:v>       </c:v>
                </c:pt>
                <c:pt idx="7">
                  <c:v>Conventional</c:v>
                </c:pt>
                <c:pt idx="8">
                  <c:v>Organic</c:v>
                </c:pt>
              </c:strCache>
            </c:strRef>
          </c:cat>
          <c:val>
            <c:numRef>
              <c:numCache>
                <c:formatCode>General</c:formatCode>
                <c:ptCount val="9"/>
                <c:pt idx="7">
                  <c:v>240.386</c:v>
                </c:pt>
                <c:pt idx="8">
                  <c:v>527.068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706.2711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FFFFFF"/>
              </a:solidFill>
            </c:spPr>
          </c:dPt>
          <c:dPt>
            <c:idx val="5"/>
            <c:spPr>
              <a:solidFill>
                <a:srgbClr val="FFFFFF"/>
              </a:solidFill>
            </c:spPr>
          </c:dPt>
          <c:dPt>
            <c:idx val="6"/>
            <c:spPr>
              <a:solidFill>
                <a:srgbClr val="FFFFFF"/>
              </a:solidFill>
            </c:spPr>
          </c:dPt>
          <c:dPt>
            <c:idx val="7"/>
            <c:spPr>
              <a:solidFill>
                <a:srgbClr val="9DABB6"/>
              </a:solidFill>
            </c:spPr>
          </c:dPt>
          <c:dPt>
            <c:idx val="8"/>
            <c:spPr>
              <a:solidFill>
                <a:srgbClr val="0B2E4A"/>
              </a:solidFill>
            </c:spPr>
          </c:dPt>
          <c:dLbls>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 </c:v>
                </c:pt>
                <c:pt idx="1">
                  <c:v>  </c:v>
                </c:pt>
                <c:pt idx="2">
                  <c:v>   </c:v>
                </c:pt>
                <c:pt idx="3">
                  <c:v>    </c:v>
                </c:pt>
                <c:pt idx="4">
                  <c:v>     </c:v>
                </c:pt>
                <c:pt idx="5">
                  <c:v>      </c:v>
                </c:pt>
                <c:pt idx="6">
                  <c:v>       </c:v>
                </c:pt>
                <c:pt idx="7">
                  <c:v>Powder</c:v>
                </c:pt>
                <c:pt idx="8">
                  <c:v>Tea</c:v>
                </c:pt>
              </c:strCache>
            </c:strRef>
          </c:cat>
          <c:val>
            <c:numRef>
              <c:numCache>
                <c:formatCode>General</c:formatCode>
                <c:ptCount val="9"/>
                <c:pt idx="7">
                  <c:v>73.793</c:v>
                </c:pt>
                <c:pt idx="8">
                  <c:v>693.6610000000001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929.505740000000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C5B1E6"/>
              </a:solidFill>
            </c:spPr>
          </c:dPt>
          <c:dPt>
            <c:idx val="4"/>
            <c:spPr>
              <a:solidFill>
                <a:srgbClr val="B499DF"/>
              </a:solidFill>
            </c:spPr>
          </c:dPt>
          <c:dPt>
            <c:idx val="5"/>
            <c:spPr>
              <a:solidFill>
                <a:srgbClr val="A282D7"/>
              </a:solidFill>
            </c:spPr>
          </c:dPt>
          <c:dPt>
            <c:idx val="6"/>
            <c:spPr>
              <a:solidFill>
                <a:srgbClr val="916AD0"/>
              </a:solidFill>
            </c:spPr>
          </c:dPt>
          <c:dPt>
            <c:idx val="7"/>
            <c:spPr>
              <a:solidFill>
                <a:srgbClr val="8053C9"/>
              </a:solidFill>
            </c:spPr>
          </c:dPt>
          <c:dPt>
            <c:idx val="8"/>
            <c:spPr>
              <a:solidFill>
                <a:srgbClr val="6F3CC2"/>
              </a:solidFill>
            </c:spPr>
          </c:dPt>
          <c:dLbls>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 </c:v>
                </c:pt>
                <c:pt idx="1">
                  <c:v>  </c:v>
                </c:pt>
                <c:pt idx="2">
                  <c:v>   </c:v>
                </c:pt>
                <c:pt idx="3">
                  <c:v>Granules</c:v>
                </c:pt>
                <c:pt idx="4">
                  <c:v>Powder</c:v>
                </c:pt>
                <c:pt idx="5">
                  <c:v>Whole</c:v>
                </c:pt>
                <c:pt idx="6">
                  <c:v>Ground</c:v>
                </c:pt>
                <c:pt idx="7">
                  <c:v>Blended</c:v>
                </c:pt>
                <c:pt idx="8">
                  <c:v>Liquid</c:v>
                </c:pt>
              </c:strCache>
            </c:strRef>
          </c:cat>
          <c:val>
            <c:numRef>
              <c:numCache>
                <c:formatCode>General</c:formatCode>
                <c:ptCount val="9"/>
                <c:pt idx="3">
                  <c:v>34.456</c:v>
                </c:pt>
                <c:pt idx="4">
                  <c:v>42.968</c:v>
                </c:pt>
                <c:pt idx="5">
                  <c:v>109.838</c:v>
                </c:pt>
                <c:pt idx="6">
                  <c:v>153.012</c:v>
                </c:pt>
                <c:pt idx="7">
                  <c:v>212.233</c:v>
                </c:pt>
                <c:pt idx="8">
                  <c:v>214.947</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88.02898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DABAA0"/>
              </a:solidFill>
            </c:spPr>
          </c:dPt>
          <c:dPt>
            <c:idx val="2"/>
            <c:spPr>
              <a:solidFill>
                <a:srgbClr val="D2AB8C"/>
              </a:solidFill>
            </c:spPr>
          </c:dPt>
          <c:dPt>
            <c:idx val="3"/>
            <c:spPr>
              <a:solidFill>
                <a:srgbClr val="CA9C78"/>
              </a:solidFill>
            </c:spPr>
          </c:dPt>
          <c:dPt>
            <c:idx val="4"/>
            <c:spPr>
              <a:solidFill>
                <a:srgbClr val="C28D63"/>
              </a:solidFill>
            </c:spPr>
          </c:dPt>
          <c:dPt>
            <c:idx val="5"/>
            <c:spPr>
              <a:solidFill>
                <a:srgbClr val="BA7F4F"/>
              </a:solidFill>
            </c:spPr>
          </c:dPt>
          <c:dPt>
            <c:idx val="6"/>
            <c:spPr>
              <a:solidFill>
                <a:srgbClr val="B2703B"/>
              </a:solidFill>
            </c:spPr>
          </c:dPt>
          <c:dPt>
            <c:idx val="7"/>
            <c:spPr>
              <a:solidFill>
                <a:srgbClr val="AA6127"/>
              </a:solidFill>
            </c:spPr>
          </c:dPt>
          <c:dPt>
            <c:idx val="8"/>
            <c:spPr>
              <a:solidFill>
                <a:srgbClr val="A35313"/>
              </a:solidFill>
            </c:spPr>
          </c:dPt>
          <c:dLbls>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 </c:v>
                </c:pt>
                <c:pt idx="1">
                  <c:v>Other Flavours</c:v>
                </c:pt>
                <c:pt idx="2">
                  <c:v>Cinnamon</c:v>
                </c:pt>
                <c:pt idx="3">
                  <c:v>Mocha</c:v>
                </c:pt>
                <c:pt idx="4">
                  <c:v>Pumpkin Spice</c:v>
                </c:pt>
                <c:pt idx="5">
                  <c:v>Orange</c:v>
                </c:pt>
                <c:pt idx="6">
                  <c:v>Unflavoured</c:v>
                </c:pt>
                <c:pt idx="7">
                  <c:v>Lemon</c:v>
                </c:pt>
                <c:pt idx="8">
                  <c:v>Vanilla</c:v>
                </c:pt>
              </c:strCache>
            </c:strRef>
          </c:cat>
          <c:val>
            <c:numRef>
              <c:numCache>
                <c:formatCode>General</c:formatCode>
                <c:ptCount val="9"/>
                <c:pt idx="1">
                  <c:v>39.407</c:v>
                </c:pt>
                <c:pt idx="2">
                  <c:v>42.447</c:v>
                </c:pt>
                <c:pt idx="3">
                  <c:v>76.706</c:v>
                </c:pt>
                <c:pt idx="4">
                  <c:v>80.894</c:v>
                </c:pt>
                <c:pt idx="5">
                  <c:v>104.764</c:v>
                </c:pt>
                <c:pt idx="6">
                  <c:v>109.62</c:v>
                </c:pt>
                <c:pt idx="7">
                  <c:v>137.615</c:v>
                </c:pt>
                <c:pt idx="8">
                  <c:v>176.001</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5.84134000000003"/>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DCC599"/>
              </a:solidFill>
            </c:spPr>
          </c:dPt>
          <c:dPt>
            <c:idx val="1"/>
            <c:spPr>
              <a:solidFill>
                <a:srgbClr val="D5BA85"/>
              </a:solidFill>
            </c:spPr>
          </c:dPt>
          <c:dPt>
            <c:idx val="2"/>
            <c:spPr>
              <a:solidFill>
                <a:srgbClr val="CFAF72"/>
              </a:solidFill>
            </c:spPr>
          </c:dPt>
          <c:dPt>
            <c:idx val="3"/>
            <c:spPr>
              <a:solidFill>
                <a:srgbClr val="C8A55F"/>
              </a:solidFill>
            </c:spPr>
          </c:dPt>
          <c:dPt>
            <c:idx val="4"/>
            <c:spPr>
              <a:solidFill>
                <a:srgbClr val="C29A4C"/>
              </a:solidFill>
            </c:spPr>
          </c:dPt>
          <c:dPt>
            <c:idx val="5"/>
            <c:spPr>
              <a:solidFill>
                <a:srgbClr val="BB8F39"/>
              </a:solidFill>
            </c:spPr>
          </c:dPt>
          <c:dPt>
            <c:idx val="6"/>
            <c:spPr>
              <a:solidFill>
                <a:srgbClr val="B58426"/>
              </a:solidFill>
            </c:spPr>
          </c:dPt>
          <c:dPt>
            <c:idx val="7"/>
            <c:spPr>
              <a:solidFill>
                <a:srgbClr val="AE7913"/>
              </a:solidFill>
            </c:spPr>
          </c:dPt>
          <c:dPt>
            <c:idx val="8"/>
            <c:spPr>
              <a:solidFill>
                <a:srgbClr val="A86F00"/>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Other Packaging Types</c:v>
                </c:pt>
                <c:pt idx="1">
                  <c:v>Tins and Cans</c:v>
                </c:pt>
                <c:pt idx="2">
                  <c:v>Boxes and Cartons</c:v>
                </c:pt>
                <c:pt idx="3">
                  <c:v>Jars</c:v>
                </c:pt>
                <c:pt idx="4">
                  <c:v>Sachets and Stick Pac…</c:v>
                </c:pt>
                <c:pt idx="5">
                  <c:v>Bottles</c:v>
                </c:pt>
                <c:pt idx="6">
                  <c:v>Cups</c:v>
                </c:pt>
                <c:pt idx="7">
                  <c:v>Bulk Industrial Packa…</c:v>
                </c:pt>
                <c:pt idx="8">
                  <c:v>Pouches</c:v>
                </c:pt>
              </c:strCache>
            </c:strRef>
          </c:cat>
          <c:val>
            <c:numRef>
              <c:numCache>
                <c:formatCode>General</c:formatCode>
                <c:ptCount val="9"/>
                <c:pt idx="0">
                  <c:v>21.356</c:v>
                </c:pt>
                <c:pt idx="1">
                  <c:v>22.916</c:v>
                </c:pt>
                <c:pt idx="2">
                  <c:v>56.902</c:v>
                </c:pt>
                <c:pt idx="3">
                  <c:v>78.53</c:v>
                </c:pt>
                <c:pt idx="4">
                  <c:v>88.674</c:v>
                </c:pt>
                <c:pt idx="5">
                  <c:v>99.879</c:v>
                </c:pt>
                <c:pt idx="6">
                  <c:v>108.284</c:v>
                </c:pt>
                <c:pt idx="7">
                  <c:v>126.504</c:v>
                </c:pt>
                <c:pt idx="8">
                  <c:v>164.409</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20.3080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FFFFFF"/>
              </a:solidFill>
            </c:spPr>
          </c:dPt>
          <c:dPt>
            <c:idx val="4"/>
            <c:spPr>
              <a:solidFill>
                <a:srgbClr val="E59999"/>
              </a:solidFill>
            </c:spPr>
          </c:dPt>
          <c:dPt>
            <c:idx val="5"/>
            <c:spPr>
              <a:solidFill>
                <a:srgbClr val="DC7272"/>
              </a:solidFill>
            </c:spPr>
          </c:dPt>
          <c:dPt>
            <c:idx val="6"/>
            <c:spPr>
              <a:solidFill>
                <a:srgbClr val="D24C4C"/>
              </a:solidFill>
            </c:spPr>
          </c:dPt>
          <c:dPt>
            <c:idx val="7"/>
            <c:spPr>
              <a:solidFill>
                <a:srgbClr val="C92626"/>
              </a:solidFill>
            </c:spPr>
          </c:dPt>
          <c:dPt>
            <c:idx val="8"/>
            <c:spPr>
              <a:solidFill>
                <a:srgbClr val="C00000"/>
              </a:solidFill>
            </c:spPr>
          </c:dPt>
          <c:dLbls>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 </c:v>
                </c:pt>
                <c:pt idx="1">
                  <c:v>  </c:v>
                </c:pt>
                <c:pt idx="2">
                  <c:v>   </c:v>
                </c:pt>
                <c:pt idx="3">
                  <c:v>    </c:v>
                </c:pt>
                <c:pt idx="4">
                  <c:v>Premium Grade</c:v>
                </c:pt>
                <c:pt idx="5">
                  <c:v>Standard Drinking Gra…</c:v>
                </c:pt>
                <c:pt idx="6">
                  <c:v>Ceremonial Grade</c:v>
                </c:pt>
                <c:pt idx="7">
                  <c:v>Industrial Grade</c:v>
                </c:pt>
                <c:pt idx="8">
                  <c:v>Culinary Grade</c:v>
                </c:pt>
              </c:strCache>
            </c:strRef>
          </c:cat>
          <c:val>
            <c:numRef>
              <c:numCache>
                <c:formatCode>General</c:formatCode>
                <c:ptCount val="9"/>
                <c:pt idx="4">
                  <c:v>85.196</c:v>
                </c:pt>
                <c:pt idx="5">
                  <c:v>100.462</c:v>
                </c:pt>
                <c:pt idx="6">
                  <c:v>111.733</c:v>
                </c:pt>
                <c:pt idx="7">
                  <c:v>119.195</c:v>
                </c:pt>
                <c:pt idx="8">
                  <c:v>350.868</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470.16312000000005"/>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FFFFFF"/>
              </a:solidFill>
            </c:spPr>
          </c:dPt>
          <c:dPt>
            <c:idx val="3"/>
            <c:spPr>
              <a:solidFill>
                <a:srgbClr val="C4C9CF"/>
              </a:solidFill>
            </c:spPr>
          </c:dPt>
          <c:dPt>
            <c:idx val="4"/>
            <c:spPr>
              <a:solidFill>
                <a:srgbClr val="B2B9C1"/>
              </a:solidFill>
            </c:spPr>
          </c:dPt>
          <c:dPt>
            <c:idx val="5"/>
            <c:spPr>
              <a:solidFill>
                <a:srgbClr val="A0A9B3"/>
              </a:solidFill>
            </c:spPr>
          </c:dPt>
          <c:dPt>
            <c:idx val="6"/>
            <c:spPr>
              <a:solidFill>
                <a:srgbClr val="8F99A5"/>
              </a:solidFill>
            </c:spPr>
          </c:dPt>
          <c:dPt>
            <c:idx val="7"/>
            <c:spPr>
              <a:solidFill>
                <a:srgbClr val="7D8997"/>
              </a:solidFill>
            </c:spPr>
          </c:dPt>
          <c:dPt>
            <c:idx val="8"/>
            <c:spPr>
              <a:solidFill>
                <a:srgbClr val="6C7A89"/>
              </a:solidFill>
            </c:spPr>
          </c:dPt>
          <c:dLbls>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 </c:v>
                </c:pt>
                <c:pt idx="1">
                  <c:v>  </c:v>
                </c:pt>
                <c:pt idx="2">
                  <c:v>   </c:v>
                </c:pt>
                <c:pt idx="3">
                  <c:v>Bakery and Confection…</c:v>
                </c:pt>
                <c:pt idx="4">
                  <c:v>Dietary Supplements a…</c:v>
                </c:pt>
                <c:pt idx="5">
                  <c:v>Food Products</c:v>
                </c:pt>
                <c:pt idx="6">
                  <c:v>Dairy and Frozen Dess…</c:v>
                </c:pt>
                <c:pt idx="7">
                  <c:v>Applications</c:v>
                </c:pt>
                <c:pt idx="8">
                  <c:v>Beverages</c:v>
                </c:pt>
              </c:strCache>
            </c:strRef>
          </c:cat>
          <c:val>
            <c:numRef>
              <c:numCache>
                <c:formatCode>General</c:formatCode>
                <c:ptCount val="9"/>
                <c:pt idx="3">
                  <c:v>105.25800000000001</c:v>
                </c:pt>
                <c:pt idx="4">
                  <c:v>109.89099999999999</c:v>
                </c:pt>
                <c:pt idx="5">
                  <c:v>116.46000000000001</c:v>
                </c:pt>
                <c:pt idx="6">
                  <c:v>124.09100000000001</c:v>
                </c:pt>
                <c:pt idx="7">
                  <c:v>128.07999999999998</c:v>
                </c:pt>
                <c:pt idx="8">
                  <c:v>183.674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46.12316"/>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Series</c:v>
                </c:pt>
              </c:strCache>
            </c:strRef>
          </c:tx>
          <c:spPr>
            <a:solidFill>
              <a:srgbClr val="3D85C6"/>
            </a:solidFill>
            <a:ln>
              <a:noFill/>
            </a:ln>
          </c:spPr>
          <c:dPt>
            <c:idx val="0"/>
            <c:spPr>
              <a:solidFill>
                <a:srgbClr val="FFFFFF"/>
              </a:solidFill>
            </c:spPr>
          </c:dPt>
          <c:dPt>
            <c:idx val="1"/>
            <c:spPr>
              <a:solidFill>
                <a:srgbClr val="FFFFFF"/>
              </a:solidFill>
            </c:spPr>
          </c:dPt>
          <c:dPt>
            <c:idx val="2"/>
            <c:spPr>
              <a:solidFill>
                <a:srgbClr val="9EC6DE"/>
              </a:solidFill>
            </c:spPr>
          </c:dPt>
          <c:dPt>
            <c:idx val="3"/>
            <c:spPr>
              <a:solidFill>
                <a:srgbClr val="86B8D6"/>
              </a:solidFill>
            </c:spPr>
          </c:dPt>
          <c:dPt>
            <c:idx val="4"/>
            <c:spPr>
              <a:solidFill>
                <a:srgbClr val="6EAACE"/>
              </a:solidFill>
            </c:spPr>
          </c:dPt>
          <c:dPt>
            <c:idx val="5"/>
            <c:spPr>
              <a:solidFill>
                <a:srgbClr val="569CC6"/>
              </a:solidFill>
            </c:spPr>
          </c:dPt>
          <c:dPt>
            <c:idx val="6"/>
            <c:spPr>
              <a:solidFill>
                <a:srgbClr val="3E8EBE"/>
              </a:solidFill>
            </c:spPr>
          </c:dPt>
          <c:dPt>
            <c:idx val="7"/>
            <c:spPr>
              <a:solidFill>
                <a:srgbClr val="2680B6"/>
              </a:solidFill>
            </c:spPr>
          </c:dPt>
          <c:dPt>
            <c:idx val="8"/>
            <c:spPr>
              <a:solidFill>
                <a:srgbClr val="0E72AE"/>
              </a:solidFill>
            </c:spPr>
          </c:dPt>
          <c:dLbls>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9"/>
                <c:pt idx="0">
                  <c:v> </c:v>
                </c:pt>
                <c:pt idx="1">
                  <c:v>  </c:v>
                </c:pt>
                <c:pt idx="2">
                  <c:v>Other Retail Channels</c:v>
                </c:pt>
                <c:pt idx="3">
                  <c:v>Foodservice and HoReCa</c:v>
                </c:pt>
                <c:pt idx="4">
                  <c:v>B2B / Institutional a…</c:v>
                </c:pt>
                <c:pt idx="5">
                  <c:v>Online Retail</c:v>
                </c:pt>
                <c:pt idx="6">
                  <c:v>Specialty Tea and Hea…</c:v>
                </c:pt>
                <c:pt idx="7">
                  <c:v>Convenience Stores</c:v>
                </c:pt>
                <c:pt idx="8">
                  <c:v>Supermarkets and Hype…</c:v>
                </c:pt>
              </c:strCache>
            </c:strRef>
          </c:cat>
          <c:val>
            <c:numRef>
              <c:numCache>
                <c:formatCode>General</c:formatCode>
                <c:ptCount val="9"/>
                <c:pt idx="2">
                  <c:v>37.223</c:v>
                </c:pt>
                <c:pt idx="3">
                  <c:v>50.258</c:v>
                </c:pt>
                <c:pt idx="4">
                  <c:v>54.672</c:v>
                </c:pt>
                <c:pt idx="5">
                  <c:v>124.719</c:v>
                </c:pt>
                <c:pt idx="6">
                  <c:v>162.649</c:v>
                </c:pt>
                <c:pt idx="7">
                  <c:v>162.66</c:v>
                </c:pt>
                <c:pt idx="8">
                  <c:v>175.273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none"/>
        <c:minorTickMark val="none"/>
        <c:tickLblPos val="nextTo"/>
        <c:spPr>
          <a:ln>
            <a:noFill/>
          </a:ln>
        </c:spPr>
        <c:txPr>
          <a:bodyPr/>
          <a:lstStyle/>
          <a:p>
            <a:pPr>
              <a:defRPr sz="1100"/>
            </a:pPr>
          </a:p>
        </c:txPr>
        <c:crossAx val="-2113994440"/>
        <c:crosses val="autoZero"/>
        <c:auto val="1"/>
        <c:lblAlgn val="ctr"/>
        <c:lblOffset val="100"/>
        <c:noMultiLvlLbl val="0"/>
        <c:tickLblSkip val="1"/>
        <c:tickMarkSkip val="1"/>
      </c:catAx>
      <c:valAx>
        <c:axId val="-2113994440"/>
        <c:scaling>
          <c:max val="234.86582"/>
          <c:min val="0.0"/>
        </c:scaling>
        <c:delete val="0"/>
        <c:axPos val="b"/>
        <c:majorTickMark val="none"/>
        <c:minorTickMark val="none"/>
        <c:tickLblPos val="none"/>
        <c:spPr>
          <a:ln>
            <a:no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8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Organic</c:v>
                </c:pt>
                <c:pt idx="2">
                  <c:v>Conventional</c:v>
                </c:pt>
                <c:pt idx="3">
                  <c:v>2036 Total</c:v>
                </c:pt>
              </c:strCache>
            </c:strRef>
          </c:cat>
          <c:val>
            <c:numRef>
              <c:numCache>
                <c:formatCode>General</c:formatCode>
                <c:ptCount val="4"/>
                <c:pt idx="0">
                  <c:v>0.0</c:v>
                </c:pt>
                <c:pt idx="1">
                  <c:v>767.454</c:v>
                </c:pt>
                <c:pt idx="2">
                  <c:v>1156.8629999999998</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Organic</c:v>
                </c:pt>
                <c:pt idx="2">
                  <c:v>Conventional</c:v>
                </c:pt>
                <c:pt idx="3">
                  <c:v>2036 Total</c:v>
                </c:pt>
              </c:strCache>
            </c:strRef>
          </c:cat>
          <c:val>
            <c:numRef>
              <c:numCache>
                <c:formatCode>General</c:formatCode>
                <c:ptCount val="4"/>
                <c:pt idx="0">
                  <c:v>767.454</c:v>
                </c:pt>
                <c:pt idx="1">
                  <c:v>389.409</c:v>
                </c:pt>
                <c:pt idx="2">
                  <c:v>209.477</c:v>
                </c:pt>
                <c:pt idx="3">
                  <c:v>1366.34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Organic</c:v>
                </c:pt>
                <c:pt idx="1">
                  <c:v>Conventional</c:v>
                </c:pt>
                <c:pt idx="2">
                  <c:v>Total Absolute $ Opportunity</c:v>
                </c:pt>
              </c:strCache>
            </c:strRef>
          </c:cat>
          <c:val>
            <c:numRef>
              <c:numCache>
                <c:formatCode>General</c:formatCode>
                <c:ptCount val="3"/>
                <c:pt idx="0">
                  <c:v>0.0</c:v>
                </c:pt>
                <c:pt idx="1">
                  <c:v>389.409</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Organic</c:v>
                </c:pt>
                <c:pt idx="1">
                  <c:v>Conventional</c:v>
                </c:pt>
                <c:pt idx="2">
                  <c:v>Total Absolute $ Opportunity</c:v>
                </c:pt>
              </c:strCache>
            </c:strRef>
          </c:cat>
          <c:val>
            <c:numRef>
              <c:numCache>
                <c:formatCode>General</c:formatCode>
                <c:ptCount val="3"/>
                <c:pt idx="0">
                  <c:v>389.409</c:v>
                </c:pt>
                <c:pt idx="1">
                  <c:v>209.477</c:v>
                </c:pt>
                <c:pt idx="2">
                  <c:v>598.886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4"/>
                <c:pt idx="0">
                  <c:v>2026</c:v>
                </c:pt>
                <c:pt idx="1">
                  <c:v>Matcha Powder</c:v>
                </c:pt>
                <c:pt idx="2">
                  <c:v>Matcha Tea</c:v>
                </c:pt>
                <c:pt idx="3">
                  <c:v>2036 Total</c:v>
                </c:pt>
              </c:strCache>
            </c:strRef>
          </c:cat>
          <c:val>
            <c:numRef>
              <c:numCache>
                <c:formatCode>General</c:formatCode>
                <c:ptCount val="4"/>
                <c:pt idx="0">
                  <c:v>0.0</c:v>
                </c:pt>
                <c:pt idx="1">
                  <c:v>767.4540000000001</c:v>
                </c:pt>
                <c:pt idx="2">
                  <c:v>838.363</c:v>
                </c:pt>
                <c:pt idx="3">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4"/>
                <c:pt idx="0">
                  <c:v>2026</c:v>
                </c:pt>
                <c:pt idx="1">
                  <c:v>Matcha Powder</c:v>
                </c:pt>
                <c:pt idx="2">
                  <c:v>Matcha Tea</c:v>
                </c:pt>
                <c:pt idx="3">
                  <c:v>2036 Total</c:v>
                </c:pt>
              </c:strCache>
            </c:strRef>
          </c:cat>
          <c:val>
            <c:numRef>
              <c:numCache>
                <c:formatCode>General</c:formatCode>
                <c:ptCount val="4"/>
                <c:pt idx="0">
                  <c:v>767.4540000000001</c:v>
                </c:pt>
                <c:pt idx="1">
                  <c:v>70.90899999999999</c:v>
                </c:pt>
                <c:pt idx="2">
                  <c:v>527.9769999999999</c:v>
                </c:pt>
                <c:pt idx="3">
                  <c:v>1366.34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3"/>
                <c:pt idx="0">
                  <c:v>Matcha Powder</c:v>
                </c:pt>
                <c:pt idx="1">
                  <c:v>Matcha Tea</c:v>
                </c:pt>
                <c:pt idx="2">
                  <c:v>Total Absolute $ Opportunity</c:v>
                </c:pt>
              </c:strCache>
            </c:strRef>
          </c:cat>
          <c:val>
            <c:numRef>
              <c:numCache>
                <c:formatCode>General</c:formatCode>
                <c:ptCount val="3"/>
                <c:pt idx="0">
                  <c:v>0.0</c:v>
                </c:pt>
                <c:pt idx="1">
                  <c:v>70.90899999999999</c:v>
                </c:pt>
                <c:pt idx="2">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3"/>
                <c:pt idx="0">
                  <c:v>Matcha Powder</c:v>
                </c:pt>
                <c:pt idx="1">
                  <c:v>Matcha Tea</c:v>
                </c:pt>
                <c:pt idx="2">
                  <c:v>Total Absolute $ Opportunity</c:v>
                </c:pt>
              </c:strCache>
            </c:strRef>
          </c:cat>
          <c:val>
            <c:numRef>
              <c:numCache>
                <c:formatCode>General</c:formatCode>
                <c:ptCount val="3"/>
                <c:pt idx="0">
                  <c:v>70.90899999999999</c:v>
                </c:pt>
                <c:pt idx="1">
                  <c:v>527.9769999999999</c:v>
                </c:pt>
                <c:pt idx="2">
                  <c:v>598.8859999999999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8"/>
                <c:pt idx="0">
                  <c:v>2026</c:v>
                </c:pt>
                <c:pt idx="1">
                  <c:v>Powder</c:v>
                </c:pt>
                <c:pt idx="2">
                  <c:v>Liquid</c:v>
                </c:pt>
                <c:pt idx="3">
                  <c:v>Granules</c:v>
                </c:pt>
                <c:pt idx="4">
                  <c:v>Blended</c:v>
                </c:pt>
                <c:pt idx="5">
                  <c:v>Ground</c:v>
                </c:pt>
                <c:pt idx="6">
                  <c:v>Whole</c:v>
                </c:pt>
                <c:pt idx="7">
                  <c:v>2036 Total</c:v>
                </c:pt>
              </c:strCache>
            </c:strRef>
          </c:cat>
          <c:val>
            <c:numRef>
              <c:numCache>
                <c:formatCode>General</c:formatCode>
                <c:ptCount val="8"/>
                <c:pt idx="0">
                  <c:v>0.0</c:v>
                </c:pt>
                <c:pt idx="1">
                  <c:v>767.454</c:v>
                </c:pt>
                <c:pt idx="2">
                  <c:v>813.944</c:v>
                </c:pt>
                <c:pt idx="3">
                  <c:v>1083.4569999999999</c:v>
                </c:pt>
                <c:pt idx="4">
                  <c:v>1107.934</c:v>
                </c:pt>
                <c:pt idx="5">
                  <c:v>1211.55</c:v>
                </c:pt>
                <c:pt idx="6">
                  <c:v>1295.6799999999998</c:v>
                </c:pt>
                <c:pt idx="7">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8"/>
                <c:pt idx="0">
                  <c:v>2026</c:v>
                </c:pt>
                <c:pt idx="1">
                  <c:v>Powder</c:v>
                </c:pt>
                <c:pt idx="2">
                  <c:v>Liquid</c:v>
                </c:pt>
                <c:pt idx="3">
                  <c:v>Granules</c:v>
                </c:pt>
                <c:pt idx="4">
                  <c:v>Blended</c:v>
                </c:pt>
                <c:pt idx="5">
                  <c:v>Ground</c:v>
                </c:pt>
                <c:pt idx="6">
                  <c:v>Whole</c:v>
                </c:pt>
                <c:pt idx="7">
                  <c:v>2036 Total</c:v>
                </c:pt>
              </c:strCache>
            </c:strRef>
          </c:cat>
          <c:val>
            <c:numRef>
              <c:numCache>
                <c:formatCode>General</c:formatCode>
                <c:ptCount val="8"/>
                <c:pt idx="0">
                  <c:v>767.454</c:v>
                </c:pt>
                <c:pt idx="1">
                  <c:v>46.489999999999995</c:v>
                </c:pt>
                <c:pt idx="2">
                  <c:v>269.513</c:v>
                </c:pt>
                <c:pt idx="3">
                  <c:v>24.476999999999997</c:v>
                </c:pt>
                <c:pt idx="4">
                  <c:v>103.61599999999999</c:v>
                </c:pt>
                <c:pt idx="5">
                  <c:v>84.13</c:v>
                </c:pt>
                <c:pt idx="6">
                  <c:v>70.66</c:v>
                </c:pt>
                <c:pt idx="7">
                  <c:v>1366.3400000000001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Powder</c:v>
                </c:pt>
                <c:pt idx="1">
                  <c:v>Liquid</c:v>
                </c:pt>
                <c:pt idx="2">
                  <c:v>Granules</c:v>
                </c:pt>
                <c:pt idx="3">
                  <c:v>Blended</c:v>
                </c:pt>
                <c:pt idx="4">
                  <c:v>Ground</c:v>
                </c:pt>
                <c:pt idx="5">
                  <c:v>Whole</c:v>
                </c:pt>
                <c:pt idx="6">
                  <c:v>Total Absolute $ Opportunity</c:v>
                </c:pt>
              </c:strCache>
            </c:strRef>
          </c:cat>
          <c:val>
            <c:numRef>
              <c:numCache>
                <c:formatCode>General</c:formatCode>
                <c:ptCount val="7"/>
                <c:pt idx="0">
                  <c:v>0.0</c:v>
                </c:pt>
                <c:pt idx="1">
                  <c:v>46.489999999999995</c:v>
                </c:pt>
                <c:pt idx="2">
                  <c:v>316.003</c:v>
                </c:pt>
                <c:pt idx="3">
                  <c:v>340.47999999999996</c:v>
                </c:pt>
                <c:pt idx="4">
                  <c:v>444.09599999999995</c:v>
                </c:pt>
                <c:pt idx="5">
                  <c:v>528.2259999999999</c:v>
                </c:pt>
                <c:pt idx="6">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Powder</c:v>
                </c:pt>
                <c:pt idx="1">
                  <c:v>Liquid</c:v>
                </c:pt>
                <c:pt idx="2">
                  <c:v>Granules</c:v>
                </c:pt>
                <c:pt idx="3">
                  <c:v>Blended</c:v>
                </c:pt>
                <c:pt idx="4">
                  <c:v>Ground</c:v>
                </c:pt>
                <c:pt idx="5">
                  <c:v>Whole</c:v>
                </c:pt>
                <c:pt idx="6">
                  <c:v>Total Absolute $ Opportunity</c:v>
                </c:pt>
              </c:strCache>
            </c:strRef>
          </c:cat>
          <c:val>
            <c:numRef>
              <c:numCache>
                <c:formatCode>General</c:formatCode>
                <c:ptCount val="7"/>
                <c:pt idx="0">
                  <c:v>46.489999999999995</c:v>
                </c:pt>
                <c:pt idx="1">
                  <c:v>269.513</c:v>
                </c:pt>
                <c:pt idx="2">
                  <c:v>24.476999999999997</c:v>
                </c:pt>
                <c:pt idx="3">
                  <c:v>103.61599999999999</c:v>
                </c:pt>
                <c:pt idx="4">
                  <c:v>84.13</c:v>
                </c:pt>
                <c:pt idx="5">
                  <c:v>70.66</c:v>
                </c:pt>
                <c:pt idx="6">
                  <c:v>598.8859999999999</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0"/>
                <c:pt idx="0">
                  <c:v>2026</c:v>
                </c:pt>
                <c:pt idx="1">
                  <c:v>Unflavoured</c:v>
                </c:pt>
                <c:pt idx="2">
                  <c:v>Vanilla</c:v>
                </c:pt>
                <c:pt idx="3">
                  <c:v>Lemon</c:v>
                </c:pt>
                <c:pt idx="4">
                  <c:v>Orange</c:v>
                </c:pt>
                <c:pt idx="5">
                  <c:v>Mocha</c:v>
                </c:pt>
                <c:pt idx="6">
                  <c:v>Cinnamon</c:v>
                </c:pt>
                <c:pt idx="7">
                  <c:v>Pumpkin Spice</c:v>
                </c:pt>
                <c:pt idx="8">
                  <c:v>Other Flavours</c:v>
                </c:pt>
                <c:pt idx="9">
                  <c:v>2036 Total</c:v>
                </c:pt>
              </c:strCache>
            </c:strRef>
          </c:cat>
          <c:val>
            <c:numRef>
              <c:numCache>
                <c:formatCode>General</c:formatCode>
                <c:ptCount val="10"/>
                <c:pt idx="0">
                  <c:v>0.0</c:v>
                </c:pt>
                <c:pt idx="1">
                  <c:v>767.454</c:v>
                </c:pt>
                <c:pt idx="2">
                  <c:v>862.89</c:v>
                </c:pt>
                <c:pt idx="3">
                  <c:v>969.3919999999999</c:v>
                </c:pt>
                <c:pt idx="4">
                  <c:v>1034.8529999999998</c:v>
                </c:pt>
                <c:pt idx="5">
                  <c:v>1129.3369999999998</c:v>
                </c:pt>
                <c:pt idx="6">
                  <c:v>1209.5809999999997</c:v>
                </c:pt>
                <c:pt idx="7">
                  <c:v>1256.3139999999996</c:v>
                </c:pt>
                <c:pt idx="8">
                  <c:v>1346.2699999999995</c:v>
                </c:pt>
                <c:pt idx="9">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0"/>
                <c:pt idx="0">
                  <c:v>2026</c:v>
                </c:pt>
                <c:pt idx="1">
                  <c:v>Unflavoured</c:v>
                </c:pt>
                <c:pt idx="2">
                  <c:v>Vanilla</c:v>
                </c:pt>
                <c:pt idx="3">
                  <c:v>Lemon</c:v>
                </c:pt>
                <c:pt idx="4">
                  <c:v>Orange</c:v>
                </c:pt>
                <c:pt idx="5">
                  <c:v>Mocha</c:v>
                </c:pt>
                <c:pt idx="6">
                  <c:v>Cinnamon</c:v>
                </c:pt>
                <c:pt idx="7">
                  <c:v>Pumpkin Spice</c:v>
                </c:pt>
                <c:pt idx="8">
                  <c:v>Other Flavours</c:v>
                </c:pt>
                <c:pt idx="9">
                  <c:v>2036 Total</c:v>
                </c:pt>
              </c:strCache>
            </c:strRef>
          </c:cat>
          <c:val>
            <c:numRef>
              <c:numCache>
                <c:formatCode>General</c:formatCode>
                <c:ptCount val="10"/>
                <c:pt idx="0">
                  <c:v>767.454</c:v>
                </c:pt>
                <c:pt idx="1">
                  <c:v>95.436</c:v>
                </c:pt>
                <c:pt idx="2">
                  <c:v>106.50199999999998</c:v>
                </c:pt>
                <c:pt idx="3">
                  <c:v>65.46099999999998</c:v>
                </c:pt>
                <c:pt idx="4">
                  <c:v>94.484</c:v>
                </c:pt>
                <c:pt idx="5">
                  <c:v>80.24399999999999</c:v>
                </c:pt>
                <c:pt idx="6">
                  <c:v>46.733000000000004</c:v>
                </c:pt>
                <c:pt idx="7">
                  <c:v>89.95599999999999</c:v>
                </c:pt>
                <c:pt idx="8">
                  <c:v>20.07</c:v>
                </c:pt>
                <c:pt idx="9">
                  <c:v>1366.34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9"/>
                <c:pt idx="0">
                  <c:v>Unflavoured</c:v>
                </c:pt>
                <c:pt idx="1">
                  <c:v>Vanilla</c:v>
                </c:pt>
                <c:pt idx="2">
                  <c:v>Lemon</c:v>
                </c:pt>
                <c:pt idx="3">
                  <c:v>Orange</c:v>
                </c:pt>
                <c:pt idx="4">
                  <c:v>Mocha</c:v>
                </c:pt>
                <c:pt idx="5">
                  <c:v>Cinnamon</c:v>
                </c:pt>
                <c:pt idx="6">
                  <c:v>Pumpkin Spice</c:v>
                </c:pt>
                <c:pt idx="7">
                  <c:v>Other Flavours</c:v>
                </c:pt>
                <c:pt idx="8">
                  <c:v>Total Absolute $ Opportunity</c:v>
                </c:pt>
              </c:strCache>
            </c:strRef>
          </c:cat>
          <c:val>
            <c:numRef>
              <c:numCache>
                <c:formatCode>General</c:formatCode>
                <c:ptCount val="9"/>
                <c:pt idx="0">
                  <c:v>0.0</c:v>
                </c:pt>
                <c:pt idx="1">
                  <c:v>95.436</c:v>
                </c:pt>
                <c:pt idx="2">
                  <c:v>201.938</c:v>
                </c:pt>
                <c:pt idx="3">
                  <c:v>267.399</c:v>
                </c:pt>
                <c:pt idx="4">
                  <c:v>361.883</c:v>
                </c:pt>
                <c:pt idx="5">
                  <c:v>442.12699999999995</c:v>
                </c:pt>
                <c:pt idx="6">
                  <c:v>488.85999999999996</c:v>
                </c:pt>
                <c:pt idx="7">
                  <c:v>578.8159999999999</c:v>
                </c:pt>
                <c:pt idx="8">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9"/>
                <c:pt idx="0">
                  <c:v>Unflavoured</c:v>
                </c:pt>
                <c:pt idx="1">
                  <c:v>Vanilla</c:v>
                </c:pt>
                <c:pt idx="2">
                  <c:v>Lemon</c:v>
                </c:pt>
                <c:pt idx="3">
                  <c:v>Orange</c:v>
                </c:pt>
                <c:pt idx="4">
                  <c:v>Mocha</c:v>
                </c:pt>
                <c:pt idx="5">
                  <c:v>Cinnamon</c:v>
                </c:pt>
                <c:pt idx="6">
                  <c:v>Pumpkin Spice</c:v>
                </c:pt>
                <c:pt idx="7">
                  <c:v>Other Flavours</c:v>
                </c:pt>
                <c:pt idx="8">
                  <c:v>Total Absolute $ Opportunity</c:v>
                </c:pt>
              </c:strCache>
            </c:strRef>
          </c:cat>
          <c:val>
            <c:numRef>
              <c:numCache>
                <c:formatCode>General</c:formatCode>
                <c:ptCount val="9"/>
                <c:pt idx="0">
                  <c:v>95.436</c:v>
                </c:pt>
                <c:pt idx="1">
                  <c:v>106.50199999999998</c:v>
                </c:pt>
                <c:pt idx="2">
                  <c:v>65.46099999999998</c:v>
                </c:pt>
                <c:pt idx="3">
                  <c:v>94.484</c:v>
                </c:pt>
                <c:pt idx="4">
                  <c:v>80.24399999999999</c:v>
                </c:pt>
                <c:pt idx="5">
                  <c:v>46.733000000000004</c:v>
                </c:pt>
                <c:pt idx="6">
                  <c:v>89.95599999999999</c:v>
                </c:pt>
                <c:pt idx="7">
                  <c:v>20.07</c:v>
                </c:pt>
                <c:pt idx="8">
                  <c:v>598.886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7.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1"/>
                <c:pt idx="0">
                  <c:v>2026</c:v>
                </c:pt>
                <c:pt idx="1">
                  <c:v>Pouches</c:v>
                </c:pt>
                <c:pt idx="2">
                  <c:v>Tins and Cans</c:v>
                </c:pt>
                <c:pt idx="3">
                  <c:v>Jars</c:v>
                </c:pt>
                <c:pt idx="4">
                  <c:v>Boxes and Cartons</c:v>
                </c:pt>
                <c:pt idx="5">
                  <c:v>Sachets and Stick Packs</c:v>
                </c:pt>
                <c:pt idx="6">
                  <c:v>Bottles</c:v>
                </c:pt>
                <c:pt idx="7">
                  <c:v>Cups</c:v>
                </c:pt>
                <c:pt idx="8">
                  <c:v>Bulk Industrial Packaging</c:v>
                </c:pt>
                <c:pt idx="9">
                  <c:v>Other Packaging Types</c:v>
                </c:pt>
                <c:pt idx="10">
                  <c:v>2036 Total</c:v>
                </c:pt>
              </c:strCache>
            </c:strRef>
          </c:cat>
          <c:val>
            <c:numRef>
              <c:numCache>
                <c:formatCode>General</c:formatCode>
                <c:ptCount val="11"/>
                <c:pt idx="0">
                  <c:v>0.0</c:v>
                </c:pt>
                <c:pt idx="1">
                  <c:v>767.454</c:v>
                </c:pt>
                <c:pt idx="2">
                  <c:v>890.251</c:v>
                </c:pt>
                <c:pt idx="3">
                  <c:v>898.7099999999999</c:v>
                </c:pt>
                <c:pt idx="4">
                  <c:v>940.502</c:v>
                </c:pt>
                <c:pt idx="5">
                  <c:v>970.5699999999999</c:v>
                </c:pt>
                <c:pt idx="6">
                  <c:v>1062.356</c:v>
                </c:pt>
                <c:pt idx="7">
                  <c:v>1132.334</c:v>
                </c:pt>
                <c:pt idx="8">
                  <c:v>1218.0430000000001</c:v>
                </c:pt>
                <c:pt idx="9">
                  <c:v>1344.314</c:v>
                </c:pt>
                <c:pt idx="10">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08189"/>
              </a:solidFill>
            </c:spPr>
          </c:dPt>
          <c:dPt>
            <c:idx val="10"/>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dLbl>
              <c:idx val="10"/>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1"/>
                <c:pt idx="0">
                  <c:v>2026</c:v>
                </c:pt>
                <c:pt idx="1">
                  <c:v>Pouches</c:v>
                </c:pt>
                <c:pt idx="2">
                  <c:v>Tins and Cans</c:v>
                </c:pt>
                <c:pt idx="3">
                  <c:v>Jars</c:v>
                </c:pt>
                <c:pt idx="4">
                  <c:v>Boxes and Cartons</c:v>
                </c:pt>
                <c:pt idx="5">
                  <c:v>Sachets and Stick Packs</c:v>
                </c:pt>
                <c:pt idx="6">
                  <c:v>Bottles</c:v>
                </c:pt>
                <c:pt idx="7">
                  <c:v>Cups</c:v>
                </c:pt>
                <c:pt idx="8">
                  <c:v>Bulk Industrial Packaging</c:v>
                </c:pt>
                <c:pt idx="9">
                  <c:v>Other Packaging Types</c:v>
                </c:pt>
                <c:pt idx="10">
                  <c:v>2036 Total</c:v>
                </c:pt>
              </c:strCache>
            </c:strRef>
          </c:cat>
          <c:val>
            <c:numRef>
              <c:numCache>
                <c:formatCode>General</c:formatCode>
                <c:ptCount val="11"/>
                <c:pt idx="0">
                  <c:v>767.454</c:v>
                </c:pt>
                <c:pt idx="1">
                  <c:v>122.79700000000003</c:v>
                </c:pt>
                <c:pt idx="2">
                  <c:v>8.459</c:v>
                </c:pt>
                <c:pt idx="3">
                  <c:v>41.792</c:v>
                </c:pt>
                <c:pt idx="4">
                  <c:v>30.067999999999998</c:v>
                </c:pt>
                <c:pt idx="5">
                  <c:v>91.786</c:v>
                </c:pt>
                <c:pt idx="6">
                  <c:v>69.978</c:v>
                </c:pt>
                <c:pt idx="7">
                  <c:v>85.70899999999999</c:v>
                </c:pt>
                <c:pt idx="8">
                  <c:v>126.271</c:v>
                </c:pt>
                <c:pt idx="9">
                  <c:v>22.025999999999996</c:v>
                </c:pt>
                <c:pt idx="10">
                  <c:v>1366.3400000000001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10"/>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pt idx="9">
                  <c:v>Total Absolute $ Opportunity</c:v>
                </c:pt>
              </c:strCache>
            </c:strRef>
          </c:cat>
          <c:val>
            <c:numRef>
              <c:numCache>
                <c:formatCode>General</c:formatCode>
                <c:ptCount val="10"/>
                <c:pt idx="0">
                  <c:v>0.0</c:v>
                </c:pt>
                <c:pt idx="1">
                  <c:v>122.79700000000003</c:v>
                </c:pt>
                <c:pt idx="2">
                  <c:v>131.25600000000003</c:v>
                </c:pt>
                <c:pt idx="3">
                  <c:v>173.04800000000003</c:v>
                </c:pt>
                <c:pt idx="4">
                  <c:v>203.11600000000004</c:v>
                </c:pt>
                <c:pt idx="5">
                  <c:v>294.90200000000004</c:v>
                </c:pt>
                <c:pt idx="6">
                  <c:v>364.88000000000005</c:v>
                </c:pt>
                <c:pt idx="7">
                  <c:v>450.58900000000006</c:v>
                </c:pt>
                <c:pt idx="8">
                  <c:v>576.86</c:v>
                </c:pt>
                <c:pt idx="9">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08189"/>
              </a:solidFill>
            </c:spPr>
          </c:dPt>
          <c:dPt>
            <c:idx val="9"/>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dLbl>
              <c:idx val="9"/>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10"/>
                <c:pt idx="0">
                  <c:v>Pouches</c:v>
                </c:pt>
                <c:pt idx="1">
                  <c:v>Tins and Cans</c:v>
                </c:pt>
                <c:pt idx="2">
                  <c:v>Jars</c:v>
                </c:pt>
                <c:pt idx="3">
                  <c:v>Boxes and Cartons</c:v>
                </c:pt>
                <c:pt idx="4">
                  <c:v>Sachets and Stick Packs</c:v>
                </c:pt>
                <c:pt idx="5">
                  <c:v>Bottles</c:v>
                </c:pt>
                <c:pt idx="6">
                  <c:v>Cups</c:v>
                </c:pt>
                <c:pt idx="7">
                  <c:v>Bulk Industrial Packaging</c:v>
                </c:pt>
                <c:pt idx="8">
                  <c:v>Other Packaging Types</c:v>
                </c:pt>
                <c:pt idx="9">
                  <c:v>Total Absolute $ Opportunity</c:v>
                </c:pt>
              </c:strCache>
            </c:strRef>
          </c:cat>
          <c:val>
            <c:numRef>
              <c:numCache>
                <c:formatCode>General</c:formatCode>
                <c:ptCount val="10"/>
                <c:pt idx="0">
                  <c:v>122.79700000000003</c:v>
                </c:pt>
                <c:pt idx="1">
                  <c:v>8.459</c:v>
                </c:pt>
                <c:pt idx="2">
                  <c:v>41.792</c:v>
                </c:pt>
                <c:pt idx="3">
                  <c:v>30.067999999999998</c:v>
                </c:pt>
                <c:pt idx="4">
                  <c:v>91.786</c:v>
                </c:pt>
                <c:pt idx="5">
                  <c:v>69.978</c:v>
                </c:pt>
                <c:pt idx="6">
                  <c:v>85.70899999999999</c:v>
                </c:pt>
                <c:pt idx="7">
                  <c:v>126.271</c:v>
                </c:pt>
                <c:pt idx="8">
                  <c:v>22.025999999999996</c:v>
                </c:pt>
                <c:pt idx="9">
                  <c:v>598.8860000000001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199.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2026</c:v>
                </c:pt>
                <c:pt idx="1">
                  <c:v>Ceremonial Grade</c:v>
                </c:pt>
                <c:pt idx="2">
                  <c:v>Premium Grade</c:v>
                </c:pt>
                <c:pt idx="3">
                  <c:v>Standard Drinking Grade</c:v>
                </c:pt>
                <c:pt idx="4">
                  <c:v>Culinary Grade</c:v>
                </c:pt>
                <c:pt idx="5">
                  <c:v>Industrial Grade</c:v>
                </c:pt>
                <c:pt idx="6">
                  <c:v>2036 Total</c:v>
                </c:pt>
              </c:strCache>
            </c:strRef>
          </c:cat>
          <c:val>
            <c:numRef>
              <c:numCache>
                <c:formatCode>General</c:formatCode>
                <c:ptCount val="7"/>
                <c:pt idx="0">
                  <c:v>0.0</c:v>
                </c:pt>
                <c:pt idx="1">
                  <c:v>767.454</c:v>
                </c:pt>
                <c:pt idx="2">
                  <c:v>894.5179999999999</c:v>
                </c:pt>
                <c:pt idx="3">
                  <c:v>971.626</c:v>
                </c:pt>
                <c:pt idx="4">
                  <c:v>1028.886</c:v>
                </c:pt>
                <c:pt idx="5">
                  <c:v>1285.406</c:v>
                </c:pt>
                <c:pt idx="6">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2026</c:v>
                </c:pt>
                <c:pt idx="1">
                  <c:v>Ceremonial Grade</c:v>
                </c:pt>
                <c:pt idx="2">
                  <c:v>Premium Grade</c:v>
                </c:pt>
                <c:pt idx="3">
                  <c:v>Standard Drinking Grade</c:v>
                </c:pt>
                <c:pt idx="4">
                  <c:v>Culinary Grade</c:v>
                </c:pt>
                <c:pt idx="5">
                  <c:v>Industrial Grade</c:v>
                </c:pt>
                <c:pt idx="6">
                  <c:v>2036 Total</c:v>
                </c:pt>
              </c:strCache>
            </c:strRef>
          </c:cat>
          <c:val>
            <c:numRef>
              <c:numCache>
                <c:formatCode>General</c:formatCode>
                <c:ptCount val="7"/>
                <c:pt idx="0">
                  <c:v>767.454</c:v>
                </c:pt>
                <c:pt idx="1">
                  <c:v>127.064</c:v>
                </c:pt>
                <c:pt idx="2">
                  <c:v>77.108</c:v>
                </c:pt>
                <c:pt idx="3">
                  <c:v>57.260000000000005</c:v>
                </c:pt>
                <c:pt idx="4">
                  <c:v>256.52000000000004</c:v>
                </c:pt>
                <c:pt idx="5">
                  <c:v>80.934</c:v>
                </c:pt>
                <c:pt idx="6">
                  <c:v>1366.34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0.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6"/>
                <c:pt idx="0">
                  <c:v>Ceremonial Grade</c:v>
                </c:pt>
                <c:pt idx="1">
                  <c:v>Premium Grade</c:v>
                </c:pt>
                <c:pt idx="2">
                  <c:v>Standard Drinking Grade</c:v>
                </c:pt>
                <c:pt idx="3">
                  <c:v>Culinary Grade</c:v>
                </c:pt>
                <c:pt idx="4">
                  <c:v>Industrial Grade</c:v>
                </c:pt>
                <c:pt idx="5">
                  <c:v>Total Absolute $ Opportunity</c:v>
                </c:pt>
              </c:strCache>
            </c:strRef>
          </c:cat>
          <c:val>
            <c:numRef>
              <c:numCache>
                <c:formatCode>General</c:formatCode>
                <c:ptCount val="6"/>
                <c:pt idx="0">
                  <c:v>0.0</c:v>
                </c:pt>
                <c:pt idx="1">
                  <c:v>127.064</c:v>
                </c:pt>
                <c:pt idx="2">
                  <c:v>204.172</c:v>
                </c:pt>
                <c:pt idx="3">
                  <c:v>261.432</c:v>
                </c:pt>
                <c:pt idx="4">
                  <c:v>517.952</c:v>
                </c:pt>
                <c:pt idx="5">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6"/>
                <c:pt idx="0">
                  <c:v>Ceremonial Grade</c:v>
                </c:pt>
                <c:pt idx="1">
                  <c:v>Premium Grade</c:v>
                </c:pt>
                <c:pt idx="2">
                  <c:v>Standard Drinking Grade</c:v>
                </c:pt>
                <c:pt idx="3">
                  <c:v>Culinary Grade</c:v>
                </c:pt>
                <c:pt idx="4">
                  <c:v>Industrial Grade</c:v>
                </c:pt>
                <c:pt idx="5">
                  <c:v>Total Absolute $ Opportunity</c:v>
                </c:pt>
              </c:strCache>
            </c:strRef>
          </c:cat>
          <c:val>
            <c:numRef>
              <c:numCache>
                <c:formatCode>General</c:formatCode>
                <c:ptCount val="6"/>
                <c:pt idx="0">
                  <c:v>127.064</c:v>
                </c:pt>
                <c:pt idx="1">
                  <c:v>77.108</c:v>
                </c:pt>
                <c:pt idx="2">
                  <c:v>57.260000000000005</c:v>
                </c:pt>
                <c:pt idx="3">
                  <c:v>256.52000000000004</c:v>
                </c:pt>
                <c:pt idx="4">
                  <c:v>80.934</c:v>
                </c:pt>
                <c:pt idx="5">
                  <c:v>598.886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1.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8"/>
                <c:pt idx="0">
                  <c:v>2026</c:v>
                </c:pt>
                <c:pt idx="1">
                  <c:v>Beverages</c:v>
                </c:pt>
                <c:pt idx="2">
                  <c:v>Bakery and Confectionery</c:v>
                </c:pt>
                <c:pt idx="3">
                  <c:v>Dairy and Frozen Desserts</c:v>
                </c:pt>
                <c:pt idx="4">
                  <c:v>Other Food Products</c:v>
                </c:pt>
                <c:pt idx="5">
                  <c:v>Dietary Supplements and Functional Nutrition</c:v>
                </c:pt>
                <c:pt idx="6">
                  <c:v>Other Applications</c:v>
                </c:pt>
                <c:pt idx="7">
                  <c:v>2036 Total</c:v>
                </c:pt>
              </c:strCache>
            </c:strRef>
          </c:cat>
          <c:val>
            <c:numRef>
              <c:numCache>
                <c:formatCode>General</c:formatCode>
                <c:ptCount val="8"/>
                <c:pt idx="0">
                  <c:v>0.0</c:v>
                </c:pt>
                <c:pt idx="1">
                  <c:v>767.454</c:v>
                </c:pt>
                <c:pt idx="2">
                  <c:v>883.324</c:v>
                </c:pt>
                <c:pt idx="3">
                  <c:v>974.531</c:v>
                </c:pt>
                <c:pt idx="4">
                  <c:v>1072.944</c:v>
                </c:pt>
                <c:pt idx="5">
                  <c:v>1131.128</c:v>
                </c:pt>
                <c:pt idx="6">
                  <c:v>1233.3899999999999</c:v>
                </c:pt>
                <c:pt idx="7">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8"/>
                <c:pt idx="0">
                  <c:v>2026</c:v>
                </c:pt>
                <c:pt idx="1">
                  <c:v>Beverages</c:v>
                </c:pt>
                <c:pt idx="2">
                  <c:v>Bakery and Confectionery</c:v>
                </c:pt>
                <c:pt idx="3">
                  <c:v>Dairy and Frozen Desserts</c:v>
                </c:pt>
                <c:pt idx="4">
                  <c:v>Other Food Products</c:v>
                </c:pt>
                <c:pt idx="5">
                  <c:v>Dietary Supplements and Functional Nutrition</c:v>
                </c:pt>
                <c:pt idx="6">
                  <c:v>Other Applications</c:v>
                </c:pt>
                <c:pt idx="7">
                  <c:v>2036 Total</c:v>
                </c:pt>
              </c:strCache>
            </c:strRef>
          </c:cat>
          <c:val>
            <c:numRef>
              <c:numCache>
                <c:formatCode>General</c:formatCode>
                <c:ptCount val="8"/>
                <c:pt idx="0">
                  <c:v>767.454</c:v>
                </c:pt>
                <c:pt idx="1">
                  <c:v>115.86999999999998</c:v>
                </c:pt>
                <c:pt idx="2">
                  <c:v>91.207</c:v>
                </c:pt>
                <c:pt idx="3">
                  <c:v>98.41300000000001</c:v>
                </c:pt>
                <c:pt idx="4">
                  <c:v>58.184</c:v>
                </c:pt>
                <c:pt idx="5">
                  <c:v>102.26200000000003</c:v>
                </c:pt>
                <c:pt idx="6">
                  <c:v>132.95</c:v>
                </c:pt>
                <c:pt idx="7">
                  <c:v>1366.34</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2.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7"/>
                <c:pt idx="0">
                  <c:v>Beverages</c:v>
                </c:pt>
                <c:pt idx="1">
                  <c:v>Bakery and Confectionery</c:v>
                </c:pt>
                <c:pt idx="2">
                  <c:v>Dairy and Frozen Desserts</c:v>
                </c:pt>
                <c:pt idx="3">
                  <c:v>Other Food Products</c:v>
                </c:pt>
                <c:pt idx="4">
                  <c:v>Dietary Supplements and Functional Nutrition</c:v>
                </c:pt>
                <c:pt idx="5">
                  <c:v>Other Applications</c:v>
                </c:pt>
                <c:pt idx="6">
                  <c:v>Total Absolute $ Opportunity</c:v>
                </c:pt>
              </c:strCache>
            </c:strRef>
          </c:cat>
          <c:val>
            <c:numRef>
              <c:numCache>
                <c:formatCode>General</c:formatCode>
                <c:ptCount val="7"/>
                <c:pt idx="0">
                  <c:v>0.0</c:v>
                </c:pt>
                <c:pt idx="1">
                  <c:v>115.86999999999998</c:v>
                </c:pt>
                <c:pt idx="2">
                  <c:v>207.07699999999997</c:v>
                </c:pt>
                <c:pt idx="3">
                  <c:v>305.49</c:v>
                </c:pt>
                <c:pt idx="4">
                  <c:v>363.674</c:v>
                </c:pt>
                <c:pt idx="5">
                  <c:v>465.93600000000004</c:v>
                </c:pt>
                <c:pt idx="6">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7"/>
                <c:pt idx="0">
                  <c:v>Beverages</c:v>
                </c:pt>
                <c:pt idx="1">
                  <c:v>Bakery and Confectionery</c:v>
                </c:pt>
                <c:pt idx="2">
                  <c:v>Dairy and Frozen Desserts</c:v>
                </c:pt>
                <c:pt idx="3">
                  <c:v>Other Food Products</c:v>
                </c:pt>
                <c:pt idx="4">
                  <c:v>Dietary Supplements and Functional Nutrition</c:v>
                </c:pt>
                <c:pt idx="5">
                  <c:v>Other Applications</c:v>
                </c:pt>
                <c:pt idx="6">
                  <c:v>Total Absolute $ Opportunity</c:v>
                </c:pt>
              </c:strCache>
            </c:strRef>
          </c:cat>
          <c:val>
            <c:numRef>
              <c:numCache>
                <c:formatCode>General</c:formatCode>
                <c:ptCount val="7"/>
                <c:pt idx="0">
                  <c:v>115.86999999999998</c:v>
                </c:pt>
                <c:pt idx="1">
                  <c:v>91.207</c:v>
                </c:pt>
                <c:pt idx="2">
                  <c:v>98.41300000000001</c:v>
                </c:pt>
                <c:pt idx="3">
                  <c:v>58.184</c:v>
                </c:pt>
                <c:pt idx="4">
                  <c:v>102.26200000000003</c:v>
                </c:pt>
                <c:pt idx="5">
                  <c:v>132.95</c:v>
                </c:pt>
                <c:pt idx="6">
                  <c:v>598.886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3.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9"/>
                <c:pt idx="0">
                  <c:v>2026</c:v>
                </c:pt>
                <c:pt idx="1">
                  <c:v>B2B / Institutional and Ingredient Sales</c:v>
                </c:pt>
                <c:pt idx="2">
                  <c:v>Supermarkets and Hypermarkets</c:v>
                </c:pt>
                <c:pt idx="3">
                  <c:v>Convenience Stores</c:v>
                </c:pt>
                <c:pt idx="4">
                  <c:v>Specialty Tea and Health Food Stores</c:v>
                </c:pt>
                <c:pt idx="5">
                  <c:v>Online Retail</c:v>
                </c:pt>
                <c:pt idx="6">
                  <c:v>Foodservice and HoReCa</c:v>
                </c:pt>
                <c:pt idx="7">
                  <c:v>Other Retail Channels</c:v>
                </c:pt>
                <c:pt idx="8">
                  <c:v>2036 Total</c:v>
                </c:pt>
              </c:strCache>
            </c:strRef>
          </c:cat>
          <c:val>
            <c:numRef>
              <c:numCache>
                <c:formatCode>General</c:formatCode>
                <c:ptCount val="9"/>
                <c:pt idx="0">
                  <c:v>0.0</c:v>
                </c:pt>
                <c:pt idx="1">
                  <c:v>767.454</c:v>
                </c:pt>
                <c:pt idx="2">
                  <c:v>821.52</c:v>
                </c:pt>
                <c:pt idx="3">
                  <c:v>970.405</c:v>
                </c:pt>
                <c:pt idx="4">
                  <c:v>1114.47</c:v>
                </c:pt>
                <c:pt idx="5">
                  <c:v>1218.483</c:v>
                </c:pt>
                <c:pt idx="6">
                  <c:v>1301.644</c:v>
                </c:pt>
                <c:pt idx="7">
                  <c:v>1337.978</c:v>
                </c:pt>
                <c:pt idx="8">
                  <c:v>0.0</c:v>
                </c:pt>
              </c:numCache>
            </c:numRef>
          </c:val>
        </c:ser>
        <c:ser>
          <c:idx val="1"/>
          <c:order val="1"/>
          <c:tx>
            <c:strRef>
              <c:strCache>
                <c:ptCount val="1"/>
                <c:pt idx="0">
                  <c:v>value</c:v>
                </c:pt>
              </c:strCache>
            </c:strRef>
          </c:tx>
          <c:spPr/>
          <c:dPt>
            <c:idx val="0"/>
            <c:spPr>
              <a:solidFill>
                <a:srgbClr val="0E72AE"/>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08189"/>
              </a:solidFill>
            </c:spPr>
          </c:dPt>
          <c:dPt>
            <c:idx val="8"/>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dLbl>
              <c:idx val="8"/>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9"/>
                <c:pt idx="0">
                  <c:v>2026</c:v>
                </c:pt>
                <c:pt idx="1">
                  <c:v>B2B / Institutional and Ingredient Sales</c:v>
                </c:pt>
                <c:pt idx="2">
                  <c:v>Supermarkets and Hypermarkets</c:v>
                </c:pt>
                <c:pt idx="3">
                  <c:v>Convenience Stores</c:v>
                </c:pt>
                <c:pt idx="4">
                  <c:v>Specialty Tea and Health Food Stores</c:v>
                </c:pt>
                <c:pt idx="5">
                  <c:v>Online Retail</c:v>
                </c:pt>
                <c:pt idx="6">
                  <c:v>Foodservice and HoReCa</c:v>
                </c:pt>
                <c:pt idx="7">
                  <c:v>Other Retail Channels</c:v>
                </c:pt>
                <c:pt idx="8">
                  <c:v>2036 Total</c:v>
                </c:pt>
              </c:strCache>
            </c:strRef>
          </c:cat>
          <c:val>
            <c:numRef>
              <c:numCache>
                <c:formatCode>General</c:formatCode>
                <c:ptCount val="9"/>
                <c:pt idx="0">
                  <c:v>767.454</c:v>
                </c:pt>
                <c:pt idx="1">
                  <c:v>54.066</c:v>
                </c:pt>
                <c:pt idx="2">
                  <c:v>148.88500000000002</c:v>
                </c:pt>
                <c:pt idx="3">
                  <c:v>144.06500000000003</c:v>
                </c:pt>
                <c:pt idx="4">
                  <c:v>104.01299999999998</c:v>
                </c:pt>
                <c:pt idx="5">
                  <c:v>83.161</c:v>
                </c:pt>
                <c:pt idx="6">
                  <c:v>36.333999999999996</c:v>
                </c:pt>
                <c:pt idx="7">
                  <c:v>28.361999999999995</c:v>
                </c:pt>
                <c:pt idx="8">
                  <c:v>1366.3400000000001</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numFmt formatCode="#,##0" sourceLinked="0"/>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4.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stacked"/>
        <c:varyColors val="0"/>
        <c:ser>
          <c:idx val="0"/>
          <c:order val="0"/>
          <c:tx>
            <c:strRef>
              <c:strCache>
                <c:ptCount val="1"/>
                <c:pt idx="0">
                  <c:v>base</c:v>
                </c:pt>
              </c:strCache>
            </c:strRef>
          </c:tx>
          <c:spPr>
            <a:noFill/>
            <a:ln>
              <a:noFill/>
            </a:ln>
          </c:spPr>
          <c:cat>
            <c:strRef>
              <c:strCache>
                <c:ptCount val="8"/>
                <c:pt idx="0">
                  <c:v>B2B / Institutional and Ingredient Sales</c:v>
                </c:pt>
                <c:pt idx="1">
                  <c:v>Supermarkets and Hypermarkets</c:v>
                </c:pt>
                <c:pt idx="2">
                  <c:v>Convenience Stores</c:v>
                </c:pt>
                <c:pt idx="3">
                  <c:v>Specialty Tea and Health Food Stores</c:v>
                </c:pt>
                <c:pt idx="4">
                  <c:v>Online Retail</c:v>
                </c:pt>
                <c:pt idx="5">
                  <c:v>Foodservice and HoReCa</c:v>
                </c:pt>
                <c:pt idx="6">
                  <c:v>Other Retail Channels</c:v>
                </c:pt>
                <c:pt idx="7">
                  <c:v>Total Absolute $ Opportunity</c:v>
                </c:pt>
              </c:strCache>
            </c:strRef>
          </c:cat>
          <c:val>
            <c:numRef>
              <c:numCache>
                <c:formatCode>General</c:formatCode>
                <c:ptCount val="8"/>
                <c:pt idx="0">
                  <c:v>0.0</c:v>
                </c:pt>
                <c:pt idx="1">
                  <c:v>54.066</c:v>
                </c:pt>
                <c:pt idx="2">
                  <c:v>202.95100000000002</c:v>
                </c:pt>
                <c:pt idx="3">
                  <c:v>347.0160000000001</c:v>
                </c:pt>
                <c:pt idx="4">
                  <c:v>451.02900000000005</c:v>
                </c:pt>
                <c:pt idx="5">
                  <c:v>534.19</c:v>
                </c:pt>
                <c:pt idx="6">
                  <c:v>570.524</c:v>
                </c:pt>
                <c:pt idx="7">
                  <c:v>0.0</c:v>
                </c:pt>
              </c:numCache>
            </c:numRef>
          </c:val>
        </c:ser>
        <c:ser>
          <c:idx val="1"/>
          <c:order val="1"/>
          <c:tx>
            <c:strRef>
              <c:strCache>
                <c:ptCount val="1"/>
                <c:pt idx="0">
                  <c:v>value</c:v>
                </c:pt>
              </c:strCache>
            </c:strRef>
          </c:tx>
          <c:spPr/>
          <c:dPt>
            <c:idx val="0"/>
            <c:spPr>
              <a:solidFill>
                <a:srgbClr val="008189"/>
              </a:solidFill>
            </c:spPr>
          </c:dPt>
          <c:dPt>
            <c:idx val="1"/>
            <c:spPr>
              <a:solidFill>
                <a:srgbClr val="008189"/>
              </a:solidFill>
            </c:spPr>
          </c:dPt>
          <c:dPt>
            <c:idx val="2"/>
            <c:spPr>
              <a:solidFill>
                <a:srgbClr val="008189"/>
              </a:solidFill>
            </c:spPr>
          </c:dPt>
          <c:dPt>
            <c:idx val="3"/>
            <c:spPr>
              <a:solidFill>
                <a:srgbClr val="008189"/>
              </a:solidFill>
            </c:spPr>
          </c:dPt>
          <c:dPt>
            <c:idx val="4"/>
            <c:spPr>
              <a:solidFill>
                <a:srgbClr val="008189"/>
              </a:solidFill>
            </c:spPr>
          </c:dPt>
          <c:dPt>
            <c:idx val="5"/>
            <c:spPr>
              <a:solidFill>
                <a:srgbClr val="008189"/>
              </a:solidFill>
            </c:spPr>
          </c:dPt>
          <c:dPt>
            <c:idx val="6"/>
            <c:spPr>
              <a:solidFill>
                <a:srgbClr val="008189"/>
              </a:solidFill>
            </c:spPr>
          </c:dPt>
          <c:dPt>
            <c:idx val="7"/>
            <c:spPr>
              <a:solidFill>
                <a:srgbClr val="0E72AE"/>
              </a:solidFill>
            </c:spPr>
          </c:dPt>
          <c:dLbls>
            <c:dLbl>
              <c:idx val="0"/>
              <c:numFmt formatCode="&quot;&quot;" sourceLinked="0"/>
              <c:txPr>
                <a:bodyPr/>
                <a:lstStyle/>
                <a:p>
                  <a:pPr>
                    <a:defRPr/>
                  </a:pPr>
                </a:p>
              </c:txPr>
              <c:showLegendKey val="0"/>
              <c:showVal val="1"/>
              <c:showCatName val="0"/>
              <c:showSerName val="0"/>
              <c:showPercent val="0"/>
              <c:showBubbleSize val="0"/>
            </c:dLbl>
            <c:dLbl>
              <c:idx val="1"/>
              <c:numFmt formatCode="&quot;&quot;" sourceLinked="0"/>
              <c:txPr>
                <a:bodyPr/>
                <a:lstStyle/>
                <a:p>
                  <a:pPr>
                    <a:defRPr/>
                  </a:pPr>
                </a:p>
              </c:txPr>
              <c:showLegendKey val="0"/>
              <c:showVal val="1"/>
              <c:showCatName val="0"/>
              <c:showSerName val="0"/>
              <c:showPercent val="0"/>
              <c:showBubbleSize val="0"/>
            </c:dLbl>
            <c:dLbl>
              <c:idx val="2"/>
              <c:numFmt formatCode="&quot;&quot;" sourceLinked="0"/>
              <c:txPr>
                <a:bodyPr/>
                <a:lstStyle/>
                <a:p>
                  <a:pPr>
                    <a:defRPr/>
                  </a:pPr>
                </a:p>
              </c:txPr>
              <c:showLegendKey val="0"/>
              <c:showVal val="1"/>
              <c:showCatName val="0"/>
              <c:showSerName val="0"/>
              <c:showPercent val="0"/>
              <c:showBubbleSize val="0"/>
            </c:dLbl>
            <c:dLbl>
              <c:idx val="3"/>
              <c:numFmt formatCode="&quot;&quot;" sourceLinked="0"/>
              <c:txPr>
                <a:bodyPr/>
                <a:lstStyle/>
                <a:p>
                  <a:pPr>
                    <a:defRPr/>
                  </a:pPr>
                </a:p>
              </c:txPr>
              <c:showLegendKey val="0"/>
              <c:showVal val="1"/>
              <c:showCatName val="0"/>
              <c:showSerName val="0"/>
              <c:showPercent val="0"/>
              <c:showBubbleSize val="0"/>
            </c:dLbl>
            <c:dLbl>
              <c:idx val="4"/>
              <c:numFmt formatCode="&quot;&quot;" sourceLinked="0"/>
              <c:txPr>
                <a:bodyPr/>
                <a:lstStyle/>
                <a:p>
                  <a:pPr>
                    <a:defRPr/>
                  </a:pPr>
                </a:p>
              </c:txPr>
              <c:showLegendKey val="0"/>
              <c:showVal val="1"/>
              <c:showCatName val="0"/>
              <c:showSerName val="0"/>
              <c:showPercent val="0"/>
              <c:showBubbleSize val="0"/>
            </c:dLbl>
            <c:dLbl>
              <c:idx val="5"/>
              <c:numFmt formatCode="&quot;&quot;" sourceLinked="0"/>
              <c:txPr>
                <a:bodyPr/>
                <a:lstStyle/>
                <a:p>
                  <a:pPr>
                    <a:defRPr/>
                  </a:pPr>
                </a:p>
              </c:txPr>
              <c:showLegendKey val="0"/>
              <c:showVal val="1"/>
              <c:showCatName val="0"/>
              <c:showSerName val="0"/>
              <c:showPercent val="0"/>
              <c:showBubbleSize val="0"/>
            </c:dLbl>
            <c:dLbl>
              <c:idx val="6"/>
              <c:numFmt formatCode="&quot;&quot;" sourceLinked="0"/>
              <c:txPr>
                <a:bodyPr/>
                <a:lstStyle/>
                <a:p>
                  <a:pPr>
                    <a:defRPr/>
                  </a:pPr>
                </a:p>
              </c:txPr>
              <c:showLegendKey val="0"/>
              <c:showVal val="1"/>
              <c:showCatName val="0"/>
              <c:showSerName val="0"/>
              <c:showPercent val="0"/>
              <c:showBubbleSize val="0"/>
            </c:dLbl>
            <c:dLbl>
              <c:idx val="7"/>
              <c:numFmt formatCode="&quot;&quot;" sourceLinked="0"/>
              <c:txPr>
                <a:bodyPr/>
                <a:lstStyle/>
                <a:p>
                  <a:pPr>
                    <a:defRPr/>
                  </a:pPr>
                </a:p>
              </c:txPr>
              <c:showLegendKey val="0"/>
              <c:showVal val="1"/>
              <c:showCatName val="0"/>
              <c:showSerName val="0"/>
              <c:showPercent val="0"/>
              <c:showBubbleSize val="0"/>
            </c:dLbl>
            <c:numFmt formatCode="#,##0" sourceLinked="0"/>
            <c:txPr>
              <a:bodyPr/>
              <a:lstStyle/>
              <a:p>
                <a:pPr>
                  <a:defRPr sz="1100">
                    <a:latin typeface="Calibri"/>
                  </a:defRPr>
                </a:pPr>
              </a:p>
            </c:txPr>
            <c:dLblPos val="inEnd"/>
            <c:showLegendKey val="0"/>
            <c:showVal val="1"/>
            <c:showCatName val="0"/>
            <c:showSerName val="0"/>
            <c:showPercent val="0"/>
            <c:showBubbleSize val="0"/>
            <c:showLeaderLines val="1"/>
          </c:dLbls>
          <c:cat>
            <c:strRef>
              <c:strCache>
                <c:ptCount val="8"/>
                <c:pt idx="0">
                  <c:v>B2B / Institutional and Ingredient Sales</c:v>
                </c:pt>
                <c:pt idx="1">
                  <c:v>Supermarkets and Hypermarkets</c:v>
                </c:pt>
                <c:pt idx="2">
                  <c:v>Convenience Stores</c:v>
                </c:pt>
                <c:pt idx="3">
                  <c:v>Specialty Tea and Health Food Stores</c:v>
                </c:pt>
                <c:pt idx="4">
                  <c:v>Online Retail</c:v>
                </c:pt>
                <c:pt idx="5">
                  <c:v>Foodservice and HoReCa</c:v>
                </c:pt>
                <c:pt idx="6">
                  <c:v>Other Retail Channels</c:v>
                </c:pt>
                <c:pt idx="7">
                  <c:v>Total Absolute $ Opportunity</c:v>
                </c:pt>
              </c:strCache>
            </c:strRef>
          </c:cat>
          <c:val>
            <c:numRef>
              <c:numCache>
                <c:formatCode>General</c:formatCode>
                <c:ptCount val="8"/>
                <c:pt idx="0">
                  <c:v>54.066</c:v>
                </c:pt>
                <c:pt idx="1">
                  <c:v>148.88500000000002</c:v>
                </c:pt>
                <c:pt idx="2">
                  <c:v>144.06500000000003</c:v>
                </c:pt>
                <c:pt idx="3">
                  <c:v>104.01299999999998</c:v>
                </c:pt>
                <c:pt idx="4">
                  <c:v>83.161</c:v>
                </c:pt>
                <c:pt idx="5">
                  <c:v>36.333999999999996</c:v>
                </c:pt>
                <c:pt idx="6">
                  <c:v>28.361999999999995</c:v>
                </c:pt>
                <c:pt idx="7">
                  <c:v>598.886</c:v>
                </c:pt>
              </c:numCache>
            </c:numRef>
          </c:val>
        </c:ser>
        <c:gapWidth val="50"/>
        <c:overlap val="10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catAx>
      <c:valAx>
        <c:axId val="-211399444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05.xml><?xml version="1.0" encoding="utf-8"?>
<c:chartSpace xmlns:c="http://schemas.openxmlformats.org/drawingml/2006/chart" xmlns:a="http://schemas.openxmlformats.org/drawingml/2006/main" xmlns:r="http://schemas.openxmlformats.org/officeDocument/2006/relationships">
  <c:date1904 val="0"/>
  <c:chart>
    <c:autoTitleDeleted val="0"/>
    <c:plotArea>
      <c:lineChart>
        <c:grouping val="standard"/>
        <c:varyColors val="0"/>
        <c:ser>
          <c:idx val="0"/>
          <c:order val="0"/>
          <c:tx>
            <c:strRef>
              <c:strCache>
                <c:ptCount val="1"/>
                <c:pt idx="0">
                  <c:v>Matcha Tea</c:v>
                </c:pt>
              </c:strCache>
            </c:strRef>
          </c:tx>
          <c:spPr>
            <a:ln w="25400">
              <a:solidFill>
                <a:srgbClr val="C55A11"/>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4046.0</c:v>
                </c:pt>
                <c:pt idx="1">
                  <c:v>4067.0</c:v>
                </c:pt>
                <c:pt idx="2">
                  <c:v>4091.0</c:v>
                </c:pt>
                <c:pt idx="3">
                  <c:v>4118.0</c:v>
                </c:pt>
                <c:pt idx="4">
                  <c:v>4147.0</c:v>
                </c:pt>
                <c:pt idx="5">
                  <c:v>4178.0</c:v>
                </c:pt>
                <c:pt idx="6">
                  <c:v>4209.0</c:v>
                </c:pt>
                <c:pt idx="7">
                  <c:v>4238.0</c:v>
                </c:pt>
                <c:pt idx="8">
                  <c:v>4261.0</c:v>
                </c:pt>
                <c:pt idx="9">
                  <c:v>4283.0</c:v>
                </c:pt>
                <c:pt idx="10">
                  <c:v>4309.0</c:v>
                </c:pt>
                <c:pt idx="11">
                  <c:v>4336.0</c:v>
                </c:pt>
                <c:pt idx="12">
                  <c:v>4363.0</c:v>
                </c:pt>
                <c:pt idx="13">
                  <c:v>4389.0</c:v>
                </c:pt>
                <c:pt idx="14">
                  <c:v>4412.0</c:v>
                </c:pt>
                <c:pt idx="15">
                  <c:v>4433.0</c:v>
                </c:pt>
              </c:numCache>
            </c:numRef>
          </c:val>
          <c:smooth val="0"/>
        </c:ser>
        <c:ser>
          <c:idx val="1"/>
          <c:order val="1"/>
          <c:tx>
            <c:strRef>
              <c:strCache>
                <c:ptCount val="1"/>
                <c:pt idx="0">
                  <c:v>Matcha Powder</c:v>
                </c:pt>
              </c:strCache>
            </c:strRef>
          </c:tx>
          <c:spPr>
            <a:ln w="25400">
              <a:solidFill>
                <a:srgbClr val="0B2E4A"/>
              </a:solidFill>
            </a:ln>
          </c:spPr>
          <c:marker>
            <c:symbol val="none"/>
          </c:marker>
          <c:cat>
            <c:strRef>
              <c:strCache>
                <c:ptCount val="16"/>
                <c:pt idx="0">
                  <c:v>2021</c:v>
                </c:pt>
                <c:pt idx="1">
                  <c:v>2022</c:v>
                </c:pt>
                <c:pt idx="2">
                  <c:v>2023</c:v>
                </c:pt>
                <c:pt idx="3">
                  <c:v>2024</c:v>
                </c:pt>
                <c:pt idx="4">
                  <c:v>2025</c:v>
                </c:pt>
                <c:pt idx="5">
                  <c:v>2026</c:v>
                </c:pt>
                <c:pt idx="6">
                  <c:v>2027</c:v>
                </c:pt>
                <c:pt idx="7">
                  <c:v>2028</c:v>
                </c:pt>
                <c:pt idx="8">
                  <c:v>2029</c:v>
                </c:pt>
                <c:pt idx="9">
                  <c:v>2030</c:v>
                </c:pt>
                <c:pt idx="10">
                  <c:v>2031</c:v>
                </c:pt>
                <c:pt idx="11">
                  <c:v>2032</c:v>
                </c:pt>
                <c:pt idx="12">
                  <c:v>2033</c:v>
                </c:pt>
                <c:pt idx="13">
                  <c:v>2034</c:v>
                </c:pt>
                <c:pt idx="14">
                  <c:v>2035</c:v>
                </c:pt>
                <c:pt idx="15">
                  <c:v>2036</c:v>
                </c:pt>
              </c:strCache>
            </c:strRef>
          </c:cat>
          <c:val>
            <c:numRef>
              <c:numCache>
                <c:formatCode>General</c:formatCode>
                <c:ptCount val="16"/>
                <c:pt idx="0">
                  <c:v>3388.0</c:v>
                </c:pt>
                <c:pt idx="1">
                  <c:v>3403.0</c:v>
                </c:pt>
                <c:pt idx="2">
                  <c:v>3419.0</c:v>
                </c:pt>
                <c:pt idx="3">
                  <c:v>3435.0</c:v>
                </c:pt>
                <c:pt idx="4">
                  <c:v>3452.0</c:v>
                </c:pt>
                <c:pt idx="5">
                  <c:v>3475.0</c:v>
                </c:pt>
                <c:pt idx="6">
                  <c:v>3476.0</c:v>
                </c:pt>
                <c:pt idx="7">
                  <c:v>3480.0</c:v>
                </c:pt>
                <c:pt idx="8">
                  <c:v>3487.0</c:v>
                </c:pt>
                <c:pt idx="9">
                  <c:v>3500.0</c:v>
                </c:pt>
                <c:pt idx="10">
                  <c:v>3518.0</c:v>
                </c:pt>
                <c:pt idx="11">
                  <c:v>3541.0</c:v>
                </c:pt>
                <c:pt idx="12">
                  <c:v>3567.0</c:v>
                </c:pt>
                <c:pt idx="13">
                  <c:v>3592.0</c:v>
                </c:pt>
                <c:pt idx="14">
                  <c:v>3616.0</c:v>
                </c:pt>
                <c:pt idx="15">
                  <c:v>3638.0</c:v>
                </c:pt>
              </c:numCache>
            </c:numRef>
          </c:val>
          <c:smooth val="0"/>
        </c:ser>
        <c:marker val="1"/>
        <c:smooth val="0"/>
        <c:axId val="2118791784"/>
        <c:axId val="2140495176"/>
      </c:lineChart>
      <c:catAx>
        <c:axId val="2118791784"/>
        <c:scaling>
          <c:orientation val="minMax"/>
        </c:scaling>
        <c:delete val="0"/>
        <c:axPos val="b"/>
        <c:majorTickMark val="out"/>
        <c:minorTickMark val="none"/>
        <c:tickLblPos val="low"/>
        <c:spPr>
          <a:ln>
            <a:solidFill>
              <a:srgbClr val="D9DEE4"/>
            </a:solidFill>
          </a:ln>
        </c:spPr>
        <c:txPr>
          <a:bodyPr/>
          <a:lstStyle/>
          <a:p>
            <a:pPr>
              <a:defRPr sz="900">
                <a:solidFill>
                  <a:srgbClr val="59636E"/>
                </a:solidFill>
                <a:latin typeface="Calibri"/>
              </a:defRPr>
            </a:pPr>
          </a:p>
        </c:txPr>
        <c:crossAx val="2140495176"/>
        <c:crosses val="autoZero"/>
        <c:auto val="1"/>
        <c:lblAlgn val="ctr"/>
        <c:lblOffset val="100"/>
        <c:noMultiLvlLbl val="0"/>
      </c:catAx>
      <c:valAx>
        <c:axId val="2140495176"/>
        <c:scaling>
          <c:max val="4500.0"/>
          <c:min val="300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900">
                <a:solidFill>
                  <a:srgbClr val="59636E"/>
                </a:solidFill>
                <a:latin typeface="Calibri"/>
              </a:defRPr>
            </a:pPr>
          </a:p>
        </c:txPr>
        <c:crossAx val="2118791784"/>
        <c:crosses val="autoZero"/>
        <c:majorUnit val="500.0"/>
      </c:valAx>
    </c:plotArea>
    <c:legend>
      <c:legendPos val="b"/>
      <c:layout/>
      <c:overlay val="0"/>
      <c:txPr>
        <a:bodyPr/>
        <a:lstStyle/>
        <a:p>
          <a:pPr>
            <a:defRPr sz="900">
              <a:latin typeface="Calibri"/>
            </a:defRPr>
          </a:pPr>
        </a:p>
      </c:txPr>
    </c:legend>
    <c:plotVisOnly val="1"/>
    <c:dispBlanksAs val="gap"/>
    <c:showDLblsOverMax val="0"/>
  </c:chart>
  <c:txPr>
    <a:bodyPr/>
    <a:lstStyle/>
    <a:p>
      <a:pPr>
        <a:defRPr sz="1800"/>
      </a:pPr>
      <a:endParaRPr lang="en-US"/>
    </a:p>
  </c:txPr>
</c:chartSpace>
</file>

<file path=ppt/charts/chart20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ser>
          <c:idx val="0"/>
          <c:order val="0"/>
          <c:tx>
            <c:strRef>
              <c:strCache>
                <c:ptCount val="1"/>
                <c:pt idx="0">
                  <c:v>Index</c:v>
                </c:pt>
              </c:strCache>
            </c:strRef>
          </c:tx>
          <c:dPt>
            <c:idx val="0"/>
            <c:spPr>
              <a:solidFill>
                <a:srgbClr val="5B7DB1"/>
              </a:solidFill>
            </c:spPr>
          </c:dPt>
          <c:dPt>
            <c:idx val="1"/>
            <c:spPr>
              <a:solidFill>
                <a:srgbClr val="C55A11"/>
              </a:solidFill>
            </c:spPr>
          </c:dPt>
          <c:cat>
            <c:strRef>
              <c:strCache>
                <c:ptCount val="2"/>
                <c:pt idx="0">
                  <c:v>Matcha Powder</c:v>
                </c:pt>
                <c:pt idx="1">
                  <c:v>Matcha Tea</c:v>
                </c:pt>
              </c:strCache>
            </c:strRef>
          </c:cat>
          <c:val>
            <c:numRef>
              <c:numCache>
                <c:formatCode>General</c:formatCode>
                <c:ptCount val="2"/>
                <c:pt idx="0">
                  <c:v>84.8</c:v>
                </c:pt>
                <c:pt idx="1">
                  <c:v>101.9</c:v>
                </c:pt>
              </c:numCache>
            </c:numRef>
          </c:val>
        </c:ser>
        <c:gapWidth val="45"/>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04.0"/>
          <c:min val="82.0"/>
        </c:scaling>
        <c:delete/>
        <c:axPos val="b"/>
        <c:majorTickMark val="out"/>
        <c:minorTickMark val="none"/>
        <c:tickLblPos val="none"/>
        <c:crossAx val="-2068027336"/>
        <c:crosses val="autoZero"/>
      </c:valAx>
    </c:plotArea>
    <c:dispBlanksAs val="gap"/>
  </c:chart>
  <c:txPr>
    <a:bodyPr/>
    <a:lstStyle/>
    <a:p>
      <a:pPr>
        <a:defRPr sz="1800"/>
      </a:pPr>
      <a:endParaRPr lang="en-US"/>
    </a:p>
  </c:txPr>
</c:chartSpace>
</file>

<file path=ppt/charts/chart207.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bar"/>
        <c:grouping val="stacked"/>
        <c:ser>
          <c:idx val="0"/>
          <c:order val="0"/>
          <c:tx>
            <c:strRef>
              <c:strCache>
                <c:ptCount val="1"/>
                <c:pt idx="0">
                  <c:v>Base</c:v>
                </c:pt>
              </c:strCache>
            </c:strRef>
          </c:tx>
          <c:spPr>
            <a:noFill/>
          </c:spPr>
          <c:cat>
            <c:strRef>
              <c:strCache>
                <c:ptCount val="2"/>
                <c:pt idx="0">
                  <c:v>Matcha Powder</c:v>
                </c:pt>
                <c:pt idx="1">
                  <c:v>Matcha Tea</c:v>
                </c:pt>
              </c:strCache>
            </c:strRef>
          </c:cat>
          <c:val>
            <c:numRef>
              <c:numCache>
                <c:formatCode>General</c:formatCode>
                <c:ptCount val="2"/>
                <c:pt idx="0">
                  <c:v>3214</c:v>
                </c:pt>
                <c:pt idx="1">
                  <c:v>3812</c:v>
                </c:pt>
              </c:numCache>
            </c:numRef>
          </c:val>
        </c:ser>
        <c:ser>
          <c:idx val="1"/>
          <c:order val="1"/>
          <c:tx>
            <c:strRef>
              <c:strCache>
                <c:ptCount val="1"/>
                <c:pt idx="0">
                  <c:v>Range</c:v>
                </c:pt>
              </c:strCache>
            </c:strRef>
          </c:tx>
          <c:spPr>
            <a:solidFill>
              <a:srgbClr val="008189"/>
            </a:solidFill>
          </c:spPr>
          <c:cat>
            <c:strRef>
              <c:strCache>
                <c:ptCount val="2"/>
                <c:pt idx="0">
                  <c:v>Matcha Powder</c:v>
                </c:pt>
                <c:pt idx="1">
                  <c:v>Matcha Tea</c:v>
                </c:pt>
              </c:strCache>
            </c:strRef>
          </c:cat>
          <c:val>
            <c:numRef>
              <c:numCache>
                <c:formatCode>General</c:formatCode>
                <c:ptCount val="2"/>
                <c:pt idx="0">
                  <c:v>1017</c:v>
                </c:pt>
                <c:pt idx="1">
                  <c:v>1395</c:v>
                </c:pt>
              </c:numCache>
            </c:numRef>
          </c:val>
        </c:ser>
        <c:gapWidth val="55"/>
        <c:overlap val="100"/>
        <c:axId val="-2068027336"/>
        <c:axId val="-2113994440"/>
      </c:barChart>
      <c:catAx>
        <c:axId val="-2068027336"/>
        <c:scaling>
          <c:orientation val="minMax"/>
        </c:scaling>
        <c:delete val="0"/>
        <c:axPos val="l"/>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6000.0"/>
          <c:min val="2000.0"/>
        </c:scaling>
        <c:delete val="0"/>
        <c:axPos val="b"/>
        <c:majorGridlines>
          <c:spPr>
            <a:ln>
              <a:solidFill>
                <a:srgbClr val="D9DEE4"/>
              </a:solidFill>
            </a:ln>
          </c:spPr>
        </c:majorGridlines>
        <c:numFmt formatCode="#,##0" sourceLinked="0"/>
        <c:majorTickMark val="out"/>
        <c:minorTickMark val="none"/>
        <c:tickLblPos val="none"/>
        <c:spPr>
          <a:ln>
            <a:noFill/>
          </a:ln>
        </c:spPr>
        <c:txPr>
          <a:bodyPr/>
          <a:lstStyle/>
          <a:p>
            <a:pPr>
              <a:defRPr sz="800">
                <a:solidFill>
                  <a:srgbClr val="59636E"/>
                </a:solidFill>
                <a:latin typeface="Calibri"/>
              </a:defRPr>
            </a:pPr>
          </a:p>
        </c:txPr>
        <c:crossAx val="-2068027336"/>
        <c:crosses val="autoZero"/>
        <c:majorUnit val="2000.0"/>
      </c:valAx>
    </c:plotArea>
    <c:dispBlanksAs val="gap"/>
  </c:chart>
  <c:txPr>
    <a:bodyPr/>
    <a:lstStyle/>
    <a:p>
      <a:pPr>
        <a:defRPr sz="1800"/>
      </a:pPr>
      <a:endParaRPr lang="en-US"/>
    </a:p>
  </c:txPr>
</c:chartSpace>
</file>

<file path=ppt/charts/chart208.xml><?xml version="1.0" encoding="utf-8"?>
<c:chartSpace xmlns:c="http://schemas.openxmlformats.org/drawingml/2006/chart" xmlns:a="http://schemas.openxmlformats.org/drawingml/2006/main" xmlns:r="http://schemas.openxmlformats.org/officeDocument/2006/relationships">
  <c:date1904 val="0"/>
  <c:chart>
    <c:autoTitleDeleted val="0"/>
    <c:plotArea>
      <c:barChart>
        <c:barDir val="col"/>
        <c:grouping val="stacked"/>
        <c:ser>
          <c:idx val="0"/>
          <c:order val="0"/>
          <c:tx>
            <c:strRef>
              <c:strCache>
                <c:ptCount val="1"/>
                <c:pt idx="0">
                  <c:v>Base</c:v>
                </c:pt>
              </c:strCache>
            </c:strRef>
          </c:tx>
          <c:spPr>
            <a:noFill/>
          </c:spPr>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115.7</c:v>
                </c:pt>
                <c:pt idx="1">
                  <c:v>99.1</c:v>
                </c:pt>
                <c:pt idx="2">
                  <c:v>79.0</c:v>
                </c:pt>
                <c:pt idx="3">
                  <c:v>76.0</c:v>
                </c:pt>
                <c:pt idx="4">
                  <c:v>58.4</c:v>
                </c:pt>
                <c:pt idx="5">
                  <c:v>51.1</c:v>
                </c:pt>
              </c:numCache>
            </c:numRef>
          </c:val>
        </c:ser>
        <c:ser>
          <c:idx val="1"/>
          <c:order val="1"/>
          <c:tx>
            <c:strRef>
              <c:strCache>
                <c:ptCount val="1"/>
                <c:pt idx="0">
                  <c:v>Range</c:v>
                </c:pt>
              </c:strCache>
            </c:strRef>
          </c:tx>
          <c:spPr>
            <a:solidFill>
              <a:srgbClr val="008189"/>
            </a:solidFill>
          </c:spPr>
          <c:dPt>
            <c:idx val="2"/>
            <c:spPr>
              <a:solidFill>
                <a:srgbClr val="5B7DB1"/>
              </a:solidFill>
            </c:spPr>
          </c:dPt>
          <c:dPt>
            <c:idx val="3"/>
            <c:spPr>
              <a:solidFill>
                <a:srgbClr val="5B7DB1"/>
              </a:solidFill>
            </c:spPr>
          </c:dPt>
          <c:dPt>
            <c:idx val="4"/>
            <c:spPr>
              <a:solidFill>
                <a:srgbClr val="5B7DB1"/>
              </a:solidFill>
            </c:spPr>
          </c:dPt>
          <c:dPt>
            <c:idx val="5"/>
            <c:spPr>
              <a:solidFill>
                <a:srgbClr val="5B7DB1"/>
              </a:solidFill>
            </c:spPr>
          </c:dPt>
          <c:cat>
            <c:strRef>
              <c:strCache>
                <c:ptCount val="6"/>
                <c:pt idx="0">
                  <c:v>North America</c:v>
                </c:pt>
                <c:pt idx="1">
                  <c:v>Europe</c:v>
                </c:pt>
                <c:pt idx="2">
                  <c:v>Latin America</c:v>
                </c:pt>
                <c:pt idx="3">
                  <c:v>Middle East &amp; Africa</c:v>
                </c:pt>
                <c:pt idx="4">
                  <c:v>East Asia</c:v>
                </c:pt>
                <c:pt idx="5">
                  <c:v>South Asia &amp; Pacific</c:v>
                </c:pt>
              </c:strCache>
            </c:strRef>
          </c:cat>
          <c:val>
            <c:numRef>
              <c:numCache>
                <c:formatCode>General</c:formatCode>
                <c:ptCount val="6"/>
                <c:pt idx="0">
                  <c:v>24.1</c:v>
                </c:pt>
                <c:pt idx="1">
                  <c:v>25.6</c:v>
                </c:pt>
                <c:pt idx="2">
                  <c:v>19.4</c:v>
                </c:pt>
                <c:pt idx="3">
                  <c:v>17.8</c:v>
                </c:pt>
                <c:pt idx="4">
                  <c:v>14.0</c:v>
                </c:pt>
                <c:pt idx="5">
                  <c:v>11.9</c:v>
                </c:pt>
              </c:numCache>
            </c:numRef>
          </c:val>
        </c:ser>
        <c:gapWidth val="40"/>
        <c:overlap val="100"/>
        <c:axId val="-2068027336"/>
        <c:axId val="-2113994440"/>
      </c:barChart>
      <c:catAx>
        <c:axId val="-2068027336"/>
        <c:scaling>
          <c:orientation val="minMax"/>
        </c:scaling>
        <c:delete val="0"/>
        <c:axPos val="b"/>
        <c:majorTickMark val="out"/>
        <c:minorTickMark val="none"/>
        <c:tickLblPos val="nextTo"/>
        <c:spPr>
          <a:ln>
            <a:solidFill>
              <a:srgbClr val="D9DEE4"/>
            </a:solidFill>
          </a:ln>
        </c:spPr>
        <c:txPr>
          <a:bodyPr/>
          <a:lstStyle/>
          <a:p>
            <a:pPr>
              <a:defRPr sz="850">
                <a:solidFill>
                  <a:srgbClr val="1F1F1F"/>
                </a:solidFill>
                <a:latin typeface="Calibri"/>
              </a:defRPr>
            </a:pPr>
          </a:p>
        </c:txPr>
        <c:crossAx val="-2113994440"/>
        <c:crosses val="autoZero"/>
        <c:auto val="1"/>
        <c:lblAlgn val="ctr"/>
        <c:lblOffset val="100"/>
        <c:tickLblSkip val="1"/>
        <c:noMultiLvlLbl val="0"/>
      </c:catAx>
      <c:valAx>
        <c:axId val="-2113994440"/>
        <c:scaling>
          <c:max val="140.0"/>
          <c:min val="50.0"/>
        </c:scaling>
        <c:delete val="0"/>
        <c:axPos val="l"/>
        <c:majorGridlines>
          <c:spPr>
            <a:ln>
              <a:solidFill>
                <a:srgbClr val="D9DEE4"/>
              </a:solidFill>
            </a:ln>
          </c:spPr>
        </c:majorGridlines>
        <c:numFmt formatCode="0" sourceLinked="0"/>
        <c:majorTickMark val="out"/>
        <c:minorTickMark val="none"/>
        <c:tickLblPos val="none"/>
        <c:spPr>
          <a:ln>
            <a:noFill/>
          </a:ln>
        </c:spPr>
        <c:txPr>
          <a:bodyPr/>
          <a:lstStyle/>
          <a:p>
            <a:pPr>
              <a:defRPr sz="850">
                <a:solidFill>
                  <a:srgbClr val="59636E"/>
                </a:solidFill>
                <a:latin typeface="Calibri"/>
              </a:defRPr>
            </a:pPr>
          </a:p>
        </c:txPr>
        <c:crossAx val="-2068027336"/>
        <c:crosses val="autoZero"/>
        <c:majorUnit val="10.0"/>
      </c:valAx>
    </c:plotArea>
    <c:dispBlanksAs val="gap"/>
  </c:chart>
  <c:txPr>
    <a:bodyPr/>
    <a:lstStyle/>
    <a:p>
      <a:pPr>
        <a:defRPr sz="1800"/>
      </a:pPr>
      <a:endParaRPr lang="en-US"/>
    </a:p>
  </c:txPr>
</c:chartSpace>
</file>

<file path=ppt/charts/chart209.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Jade Leaf Matcha</c:v>
                </c:pt>
                <c:pt idx="1">
                  <c:v>DoMatcha</c:v>
                </c:pt>
                <c:pt idx="2">
                  <c:v>Encha</c:v>
                </c:pt>
                <c:pt idx="3">
                  <c:v>Rishi Tea and Botanicals</c:v>
                </c:pt>
                <c:pt idx="4">
                  <c:v>Tenzo</c:v>
                </c:pt>
                <c:pt idx="5">
                  <c:v>Matchaful</c:v>
                </c:pt>
                <c:pt idx="6">
                  <c:v>Kettl</c:v>
                </c:pt>
                <c:pt idx="7">
                  <c:v>Harney and Sons</c:v>
                </c:pt>
                <c:pt idx="8">
                  <c:v>Sencha Naturals</c:v>
                </c:pt>
                <c:pt idx="9">
                  <c:v>Aoi Matcha</c:v>
                </c:pt>
                <c:pt idx="10">
                  <c:v>Others</c:v>
                </c:pt>
              </c:strCache>
            </c:strRef>
          </c:cat>
          <c:val>
            <c:numRef>
              <c:numCache>
                <c:formatCode>General</c:formatCode>
                <c:ptCount val="11"/>
                <c:pt idx="0">
                  <c:v>15.401240790072533</c:v>
                </c:pt>
                <c:pt idx="1">
                  <c:v>13.483170759180723</c:v>
                </c:pt>
                <c:pt idx="2">
                  <c:v>9.29935288364539</c:v>
                </c:pt>
                <c:pt idx="3">
                  <c:v>6.532876475193235</c:v>
                </c:pt>
                <c:pt idx="4">
                  <c:v>6.473319829711896</c:v>
                </c:pt>
                <c:pt idx="5">
                  <c:v>6.433244680872183</c:v>
                </c:pt>
                <c:pt idx="6">
                  <c:v>5.150370028076766</c:v>
                </c:pt>
                <c:pt idx="7">
                  <c:v>3.1015192989370006</c:v>
                </c:pt>
                <c:pt idx="8">
                  <c:v>2.1645981368190896</c:v>
                </c:pt>
                <c:pt idx="9">
                  <c:v>2.1360961810687464</c:v>
                </c:pt>
                <c:pt idx="10">
                  <c:v>29.824210936422443</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210.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Jade Leaf Matcha</c:v>
                </c:pt>
                <c:pt idx="1">
                  <c:v>DoMatcha</c:v>
                </c:pt>
                <c:pt idx="2">
                  <c:v>Encha</c:v>
                </c:pt>
                <c:pt idx="3">
                  <c:v>Rishi Tea and Botanicals</c:v>
                </c:pt>
                <c:pt idx="4">
                  <c:v>Tenzo</c:v>
                </c:pt>
                <c:pt idx="5">
                  <c:v>Matchaful</c:v>
                </c:pt>
                <c:pt idx="6">
                  <c:v>Kettl</c:v>
                </c:pt>
                <c:pt idx="7">
                  <c:v>Harney and Sons</c:v>
                </c:pt>
                <c:pt idx="8">
                  <c:v>Sencha Naturals</c:v>
                </c:pt>
                <c:pt idx="9">
                  <c:v>Aoi Matcha</c:v>
                </c:pt>
                <c:pt idx="10">
                  <c:v>Others</c:v>
                </c:pt>
              </c:strCache>
            </c:strRef>
          </c:cat>
          <c:val>
            <c:numRef>
              <c:numCache>
                <c:formatCode>General</c:formatCode>
                <c:ptCount val="11"/>
                <c:pt idx="0">
                  <c:v>11.693602256562977</c:v>
                </c:pt>
                <c:pt idx="1">
                  <c:v>9.98907014549872</c:v>
                </c:pt>
                <c:pt idx="2">
                  <c:v>11.264513875278551</c:v>
                </c:pt>
                <c:pt idx="3">
                  <c:v>11.542462021743303</c:v>
                </c:pt>
                <c:pt idx="4">
                  <c:v>9.170712625473369</c:v>
                </c:pt>
                <c:pt idx="5">
                  <c:v>5.69371565484273</c:v>
                </c:pt>
                <c:pt idx="6">
                  <c:v>3.7515880157620747</c:v>
                </c:pt>
                <c:pt idx="7">
                  <c:v>3.240076671241286</c:v>
                </c:pt>
                <c:pt idx="8">
                  <c:v>3.3901784262482124</c:v>
                </c:pt>
                <c:pt idx="9">
                  <c:v>3.0300946920704144</c:v>
                </c:pt>
                <c:pt idx="10">
                  <c:v>27.23398561527836</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211.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Jade Leaf Matcha</c:v>
                </c:pt>
                <c:pt idx="1">
                  <c:v>DoMatcha</c:v>
                </c:pt>
                <c:pt idx="2">
                  <c:v>Encha</c:v>
                </c:pt>
                <c:pt idx="3">
                  <c:v>Rishi Tea and Botanicals</c:v>
                </c:pt>
                <c:pt idx="4">
                  <c:v>Tenzo</c:v>
                </c:pt>
                <c:pt idx="5">
                  <c:v>Matchaful</c:v>
                </c:pt>
                <c:pt idx="6">
                  <c:v>Kettl</c:v>
                </c:pt>
                <c:pt idx="7">
                  <c:v>Harney and Sons</c:v>
                </c:pt>
                <c:pt idx="8">
                  <c:v>Sencha Naturals</c:v>
                </c:pt>
                <c:pt idx="9">
                  <c:v>Aoi Matcha</c:v>
                </c:pt>
                <c:pt idx="10">
                  <c:v>Others</c:v>
                </c:pt>
              </c:strCache>
            </c:strRef>
          </c:cat>
          <c:val>
            <c:numRef>
              <c:numCache>
                <c:formatCode>General</c:formatCode>
                <c:ptCount val="11"/>
                <c:pt idx="0">
                  <c:v>12.127056022733685</c:v>
                </c:pt>
                <c:pt idx="1">
                  <c:v>13.515963661294228</c:v>
                </c:pt>
                <c:pt idx="2">
                  <c:v>13.672509787055716</c:v>
                </c:pt>
                <c:pt idx="3">
                  <c:v>10.747277583816313</c:v>
                </c:pt>
                <c:pt idx="4">
                  <c:v>6.853819923875349</c:v>
                </c:pt>
                <c:pt idx="5">
                  <c:v>4.527540451517601</c:v>
                </c:pt>
                <c:pt idx="6">
                  <c:v>4.351504519294602</c:v>
                </c:pt>
                <c:pt idx="7">
                  <c:v>4.386878793633664</c:v>
                </c:pt>
                <c:pt idx="8">
                  <c:v>3.8343075690671227</c:v>
                </c:pt>
                <c:pt idx="9">
                  <c:v>2.614124464284719</c:v>
                </c:pt>
                <c:pt idx="10">
                  <c:v>23.369017223427004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212.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quot;;&quot;MMM&quot;;&quot;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Jade Leaf Matcha</c:v>
                </c:pt>
                <c:pt idx="1">
                  <c:v>DoMatcha</c:v>
                </c:pt>
                <c:pt idx="2">
                  <c:v>Encha</c:v>
                </c:pt>
                <c:pt idx="3">
                  <c:v>Rishi Tea and Botanicals</c:v>
                </c:pt>
                <c:pt idx="4">
                  <c:v>Tenzo</c:v>
                </c:pt>
                <c:pt idx="5">
                  <c:v>Matchaful</c:v>
                </c:pt>
                <c:pt idx="6">
                  <c:v>Kettl</c:v>
                </c:pt>
                <c:pt idx="7">
                  <c:v>Harney and Sons</c:v>
                </c:pt>
                <c:pt idx="8">
                  <c:v>Sencha Naturals</c:v>
                </c:pt>
                <c:pt idx="9">
                  <c:v>Aoi Matcha</c:v>
                </c:pt>
                <c:pt idx="10">
                  <c:v>Others</c:v>
                </c:pt>
              </c:strCache>
            </c:strRef>
          </c:cat>
          <c:val>
            <c:numRef>
              <c:numCache>
                <c:formatCode>General</c:formatCode>
                <c:ptCount val="11"/>
                <c:pt idx="0">
                  <c:v>17.07493181467485</c:v>
                </c:pt>
                <c:pt idx="1">
                  <c:v>12.55088526010719</c:v>
                </c:pt>
                <c:pt idx="2">
                  <c:v>8.380043562697717</c:v>
                </c:pt>
                <c:pt idx="3">
                  <c:v>7.444952014860332</c:v>
                </c:pt>
                <c:pt idx="4">
                  <c:v>8.046607083054917</c:v>
                </c:pt>
                <c:pt idx="5">
                  <c:v>6.9192142292565135</c:v>
                </c:pt>
                <c:pt idx="6">
                  <c:v>4.691071174682331</c:v>
                </c:pt>
                <c:pt idx="7">
                  <c:v>2.8651087985998394</c:v>
                </c:pt>
                <c:pt idx="8">
                  <c:v>2.560369933335588</c:v>
                </c:pt>
                <c:pt idx="9">
                  <c:v>2.616980414229504</c:v>
                </c:pt>
                <c:pt idx="10">
                  <c:v>26.849835714501204</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213.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Jade Leaf Matcha</c:v>
                </c:pt>
                <c:pt idx="1">
                  <c:v>DoMatcha</c:v>
                </c:pt>
                <c:pt idx="2">
                  <c:v>Encha</c:v>
                </c:pt>
                <c:pt idx="3">
                  <c:v>Rishi Tea and Botanicals</c:v>
                </c:pt>
                <c:pt idx="4">
                  <c:v>Tenzo</c:v>
                </c:pt>
                <c:pt idx="5">
                  <c:v>Matchaful</c:v>
                </c:pt>
                <c:pt idx="6">
                  <c:v>Kettl</c:v>
                </c:pt>
                <c:pt idx="7">
                  <c:v>Harney and Sons</c:v>
                </c:pt>
                <c:pt idx="8">
                  <c:v>Sencha Naturals</c:v>
                </c:pt>
                <c:pt idx="9">
                  <c:v>Aoi Matcha</c:v>
                </c:pt>
                <c:pt idx="10">
                  <c:v>Others</c:v>
                </c:pt>
              </c:strCache>
            </c:strRef>
          </c:cat>
          <c:val>
            <c:numRef>
              <c:numCache>
                <c:formatCode>General</c:formatCode>
                <c:ptCount val="11"/>
                <c:pt idx="0">
                  <c:v>15.570454803610694</c:v>
                </c:pt>
                <c:pt idx="1">
                  <c:v>10.546713911504883</c:v>
                </c:pt>
                <c:pt idx="2">
                  <c:v>10.489494550876001</c:v>
                </c:pt>
                <c:pt idx="3">
                  <c:v>11.523850319189417</c:v>
                </c:pt>
                <c:pt idx="4">
                  <c:v>9.716274527037694</c:v>
                </c:pt>
                <c:pt idx="5">
                  <c:v>6.041847824962319</c:v>
                </c:pt>
                <c:pt idx="6">
                  <c:v>4.100995695833606</c:v>
                </c:pt>
                <c:pt idx="7">
                  <c:v>3.8524851858046234</c:v>
                </c:pt>
                <c:pt idx="8">
                  <c:v>3.889793811996375</c:v>
                </c:pt>
                <c:pt idx="9">
                  <c:v>2.9792010725276863</c:v>
                </c:pt>
                <c:pt idx="10">
                  <c:v>21.288888296656708</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214.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Pt>
            <c:idx val="2"/>
            <c:spPr>
              <a:solidFill>
                <a:srgbClr val="008189"/>
              </a:solidFill>
            </c:spPr>
          </c:dPt>
          <c:dPt>
            <c:idx val="3"/>
            <c:spPr>
              <a:solidFill>
                <a:srgbClr val="40315E"/>
              </a:solidFill>
            </c:spPr>
          </c:dPt>
          <c:dPt>
            <c:idx val="4"/>
            <c:spPr>
              <a:solidFill>
                <a:srgbClr val="A35313"/>
              </a:solidFill>
            </c:spPr>
          </c:dPt>
          <c:dPt>
            <c:idx val="5"/>
            <c:spPr>
              <a:solidFill>
                <a:srgbClr val="808080"/>
              </a:solidFill>
            </c:spPr>
          </c:dPt>
          <c:dPt>
            <c:idx val="6"/>
            <c:spPr>
              <a:solidFill>
                <a:srgbClr val="0E72AE"/>
              </a:solidFill>
            </c:spPr>
          </c:dPt>
          <c:dPt>
            <c:idx val="7"/>
            <c:spPr>
              <a:solidFill>
                <a:srgbClr val="A86F00"/>
              </a:solidFill>
            </c:spPr>
          </c:dPt>
          <c:dPt>
            <c:idx val="8"/>
            <c:spPr>
              <a:solidFill>
                <a:srgbClr val="0B2E4A"/>
              </a:solidFill>
            </c:spPr>
          </c:dPt>
          <c:dPt>
            <c:idx val="9"/>
            <c:spPr>
              <a:solidFill>
                <a:srgbClr val="6C7A89"/>
              </a:solidFill>
            </c:spPr>
          </c:dPt>
          <c:dPt>
            <c:idx val="10"/>
            <c:spPr>
              <a:solidFill>
                <a:srgbClr val="B9B3AC"/>
              </a:solidFill>
            </c:spPr>
          </c:dPt>
          <c:dLbls>
            <c:dLbl>
              <c:idx val="0"/>
              <c:layout>
                <c:manualLayout>
                  <c:x val="0.0350"/>
                  <c:y val="0.0000"/>
                </c:manualLayout>
              </c:layout>
              <c:numFmt formatCode="&quot;MMMM&quot;;&quot;MMMM&quot;;&quot;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quot;;&quot;MMMM&quot;;&quot;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layout>
                <c:manualLayout>
                  <c:x val="0.0350"/>
                  <c:y val="0.0000"/>
                </c:manualLayout>
              </c:layout>
              <c:numFmt formatCode="&quot;MMMM&quot;;&quot;MMMM&quot;;&quot;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layout>
                <c:manualLayout>
                  <c:x val="0.0350"/>
                  <c:y val="0.0000"/>
                </c:manualLayout>
              </c:layout>
              <c:numFmt formatCode="&quot;MMMM&quot;;&quot;MMMM&quot;;&quot;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layout>
                <c:manualLayout>
                  <c:x val="0.0350"/>
                  <c:y val="0.0000"/>
                </c:manualLayout>
              </c:layout>
              <c:numFmt formatCode="&quot;MMM&quot;;&quot;MMM&quot;;&quot;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5"/>
              <c:layout>
                <c:manualLayout>
                  <c:x val="0.0350"/>
                  <c:y val="0.0000"/>
                </c:manualLayout>
              </c:layout>
              <c:numFmt formatCode="&quot;MMM&quot;;&quot;MMM&quot;;&quot;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6"/>
              <c:layout>
                <c:manualLayout>
                  <c:x val="0.0350"/>
                  <c:y val="0.0000"/>
                </c:manualLayout>
              </c:layout>
              <c:numFmt formatCode="&quot;MMM&quot;;&quot;MMM&quot;;&quot;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7"/>
              <c:layout>
                <c:manualLayout>
                  <c:x val="0.0350"/>
                  <c:y val="0.0000"/>
                </c:manualLayout>
              </c:layout>
              <c:numFmt formatCode="&quot;MMM&quot;;&quot;MMM&quot;;&quot;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8"/>
              <c:layout>
                <c:manualLayout>
                  <c:x val="0.0350"/>
                  <c:y val="0.0000"/>
                </c:manualLayout>
              </c:layout>
              <c:numFmt formatCode="&quot;MMM&quot;;&quot;MMM&quot;;&quot;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9"/>
              <c:layout>
                <c:manualLayout>
                  <c:x val="0.0350"/>
                  <c:y val="0.0000"/>
                </c:manualLayout>
              </c:layout>
              <c:numFmt formatCode="&quot;MMM&quot;;&quot;MMM&quot;;&quot;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0"/>
              <c:layout>
                <c:manualLayout>
                  <c:x val="0.0350"/>
                  <c:y val="0.0000"/>
                </c:manualLayout>
              </c:layout>
              <c:numFmt formatCode="&quot;MMMM&quot;;&quot;MMMM&quot;;&quot;MMMM&quot;" sourceLinked="0"/>
              <c:spPr>
                <a:blipFill>
                  <a:blip r:embed="rId1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11"/>
                <c:pt idx="0">
                  <c:v>Jade Leaf Matcha</c:v>
                </c:pt>
                <c:pt idx="1">
                  <c:v>DoMatcha</c:v>
                </c:pt>
                <c:pt idx="2">
                  <c:v>Encha</c:v>
                </c:pt>
                <c:pt idx="3">
                  <c:v>Rishi Tea and Botanicals</c:v>
                </c:pt>
                <c:pt idx="4">
                  <c:v>Tenzo</c:v>
                </c:pt>
                <c:pt idx="5">
                  <c:v>Matchaful</c:v>
                </c:pt>
                <c:pt idx="6">
                  <c:v>Kettl</c:v>
                </c:pt>
                <c:pt idx="7">
                  <c:v>Harney and Sons</c:v>
                </c:pt>
                <c:pt idx="8">
                  <c:v>Sencha Naturals</c:v>
                </c:pt>
                <c:pt idx="9">
                  <c:v>Aoi Matcha</c:v>
                </c:pt>
                <c:pt idx="10">
                  <c:v>Others</c:v>
                </c:pt>
              </c:strCache>
            </c:strRef>
          </c:cat>
          <c:val>
            <c:numRef>
              <c:numCache>
                <c:formatCode>General</c:formatCode>
                <c:ptCount val="11"/>
                <c:pt idx="0">
                  <c:v>11.931858870012501</c:v>
                </c:pt>
                <c:pt idx="1">
                  <c:v>12.495250983383206</c:v>
                </c:pt>
                <c:pt idx="2">
                  <c:v>13.557011133261542</c:v>
                </c:pt>
                <c:pt idx="3">
                  <c:v>11.024479649083794</c:v>
                </c:pt>
                <c:pt idx="4">
                  <c:v>6.975036720459171</c:v>
                </c:pt>
                <c:pt idx="5">
                  <c:v>4.918850211127804</c:v>
                </c:pt>
                <c:pt idx="6">
                  <c:v>5.131252406943278</c:v>
                </c:pt>
                <c:pt idx="7">
                  <c:v>4.808839258461541</c:v>
                </c:pt>
                <c:pt idx="8">
                  <c:v>3.5084788144252483</c:v>
                </c:pt>
                <c:pt idx="9">
                  <c:v>2.100246059545411</c:v>
                </c:pt>
                <c:pt idx="10">
                  <c:v>23.5486958932965</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215.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1668A8"/>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4"/>
                <c:pt idx="0">
                  <c:v>Beverages</c:v>
                </c:pt>
                <c:pt idx="1">
                  <c:v>Bakery and Confectionery</c:v>
                </c:pt>
                <c:pt idx="2">
                  <c:v>Dairy and Frozen Desserts</c:v>
                </c:pt>
                <c:pt idx="3">
                  <c:v>Other Food Products</c:v>
                </c:pt>
              </c:strCache>
            </c:strRef>
          </c:cat>
          <c:val>
            <c:numRef>
              <c:numCache>
                <c:formatCode>General</c:formatCode>
                <c:ptCount val="4"/>
                <c:pt idx="0">
                  <c:v>289.03069874539256</c:v>
                </c:pt>
                <c:pt idx="1">
                  <c:v>160.79802132955479</c:v>
                </c:pt>
                <c:pt idx="2">
                  <c:v>202.3989341764065</c:v>
                </c:pt>
                <c:pt idx="3">
                  <c:v>382.35069582176874</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504.70291848473477"/>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6.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col"/>
        <c:grouping val="clustered"/>
        <c:varyColors val="0"/>
        <c:ser>
          <c:idx val="0"/>
          <c:order val="0"/>
          <c:tx>
            <c:strRef>
              <c:strCache>
                <c:ptCount val="1"/>
                <c:pt idx="0">
                  <c:v>S1</c:v>
                </c:pt>
              </c:strCache>
            </c:strRef>
          </c:tx>
          <c:spPr>
            <a:solidFill>
              <a:srgbClr val="0E3A5F"/>
            </a:solidFill>
            <a:ln>
              <a:noFill/>
            </a:ln>
          </c:spPr>
          <c:dLbls>
            <c:dLbl>
              <c:idx val="0"/>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343.46067467926895</c:v>
                </c:pt>
                <c:pt idx="1">
                  <c:v>209.06374796793725</c:v>
                </c:pt>
                <c:pt idx="2">
                  <c:v>112.74201861073975</c:v>
                </c:pt>
                <c:pt idx="3">
                  <c:v>127.38985106306541</c:v>
                </c:pt>
                <c:pt idx="4">
                  <c:v>241.92205775211113</c:v>
                </c:pt>
              </c:numCache>
            </c:numRef>
          </c:val>
        </c:ser>
        <c:dLbls>
          <c:numFmt formatCode="#,##0"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b"/>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453.36809057663504"/>
          <c:min val="0.0"/>
        </c:scaling>
        <c:delete val="0"/>
        <c:axPos val="l"/>
        <c:majorTickMark val="out"/>
        <c:minorTickMark val="none"/>
        <c:tickLblPos val="none"/>
        <c:spPr>
          <a:ln>
            <a:solidFill>
              <a:srgbClr val="C6D5E1"/>
            </a:solidFill>
          </a:ln>
        </c:spPr>
        <c:txPr>
          <a:bodyPr/>
          <a:lstStyle/>
          <a:p>
            <a:pPr>
              <a:defRPr sz="1100"/>
            </a:pPr>
          </a:p>
        </c:txPr>
        <c:crossAx val="-2068027336"/>
        <c:crosses val="autoZero"/>
      </c:valAx>
    </c:plotArea>
    <c:dispBlanksAs val="gap"/>
  </c:chart>
  <c:txPr>
    <a:bodyPr/>
    <a:lstStyle/>
    <a:p>
      <a:pPr>
        <a:defRPr sz="1100">
          <a:latin typeface="Calibri"/>
        </a:defRPr>
      </a:pPr>
      <a:endParaRPr lang="en-US"/>
    </a:p>
  </c:txPr>
</c:chartSpace>
</file>

<file path=ppt/charts/chart217.xml><?xml version="1.0" encoding="utf-8"?>
<c:chartSpace xmlns:c="http://schemas.openxmlformats.org/drawingml/2006/chart" xmlns:a="http://schemas.openxmlformats.org/drawingml/2006/main" xmlns:r="http://schemas.openxmlformats.org/officeDocument/2006/relationships">
  <c:date1904 val="0"/>
  <c:roundedCorners val="0"/>
  <c:chart>
    <c:autoTitleDeleted val="1"/>
    <c:plotArea>
      <c:layout>
        <c:manualLayout>
          <c:layoutTarget val="inner"/>
          <c:xMode val="edge"/>
          <c:yMode val="edge"/>
          <c:x val="0.01"/>
          <c:y val="0.04"/>
          <c:w val="0.68"/>
          <c:h val="0.92"/>
        </c:manualLayout>
      </c:layout>
      <c:doughnutChart>
        <c:varyColors val="0"/>
        <c:ser>
          <c:idx val="0"/>
          <c:order val="0"/>
          <c:tx>
            <c:strRef>
              <c:strCache>
                <c:ptCount val="1"/>
                <c:pt idx="0">
                  <c:v>Share</c:v>
                </c:pt>
              </c:strCache>
            </c:strRef>
          </c:tx>
          <c:spPr/>
          <c:dPt>
            <c:idx val="0"/>
            <c:spPr>
              <a:solidFill>
                <a:srgbClr val="3D85C6"/>
              </a:solidFill>
            </c:spPr>
          </c:dPt>
          <c:dPt>
            <c:idx val="1"/>
            <c:spPr>
              <a:solidFill>
                <a:srgbClr val="9E7E0A"/>
              </a:solidFill>
            </c:spPr>
          </c:dPt>
          <c:dLbls>
            <c:dLbl>
              <c:idx val="0"/>
              <c:layout>
                <c:manualLayout>
                  <c:x val="0.0350"/>
                  <c:y val="0.0000"/>
                </c:manualLayout>
              </c:layout>
              <c:numFmt formatCode="&quot;MMMMM&quot;;&quot;MMMMM&quot;;&quot;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layout>
                <c:manualLayout>
                  <c:x val="0.0350"/>
                  <c:y val="0.0000"/>
                </c:manualLayout>
              </c:layout>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showLegendKey val="0"/>
            <c:showVal val="0"/>
            <c:showCatName val="0"/>
            <c:showSerName val="0"/>
            <c:showPercent val="0"/>
            <c:showBubbleSize val="0"/>
            <c:showLeaderLines val="1"/>
          </c:dLbls>
          <c:cat>
            <c:strRef>
              <c:strCache>
                <c:ptCount val="2"/>
                <c:pt idx="0">
                  <c:v>Organic</c:v>
                </c:pt>
                <c:pt idx="1">
                  <c:v>Conventional</c:v>
                </c:pt>
              </c:strCache>
            </c:strRef>
          </c:cat>
          <c:val>
            <c:numRef>
              <c:numCache>
                <c:formatCode>General</c:formatCode>
                <c:ptCount val="2"/>
                <c:pt idx="0">
                  <c:v>432.83588056008745</c:v>
                </c:pt>
                <c:pt idx="1">
                  <c:v>601.7424695130351</c:v>
                </c:pt>
              </c:numCache>
            </c:numRef>
          </c:val>
        </c:ser>
        <c:dLbls>
          <c:showLegendKey val="0"/>
          <c:showVal val="0"/>
          <c:showCatName val="0"/>
          <c:showSerName val="0"/>
          <c:showPercent val="0"/>
          <c:showBubbleSize val="0"/>
          <c:showLeaderLines val="1"/>
        </c:dLbls>
        <c:firstSliceAng val="0"/>
        <c:holeSize val="50"/>
      </c:doughnutChart>
    </c:plotArea>
    <c:legend>
      <c:legendPos/>
      <c:layout/>
      <c:overlay val="0"/>
      <c:txPr>
        <a:bodyPr/>
        <a:lstStyle/>
        <a:p>
          <a:pPr>
            <a:defRPr sz="1100"/>
          </a:pPr>
        </a:p>
      </c:txPr>
    </c:legend>
    <c:plotVisOnly val="1"/>
    <c:dispBlanksAs val="gap"/>
    <c:showDLblsOverMax val="0"/>
  </c:chart>
  <c:txPr>
    <a:bodyPr/>
    <a:lstStyle/>
    <a:p>
      <a:pPr>
        <a:defRPr sz="1100">
          <a:latin typeface="Calibri"/>
        </a:defRPr>
      </a:pPr>
      <a:endParaRPr/>
    </a:p>
  </c:txPr>
</c:chartSpace>
</file>

<file path=ppt/charts/chart218.xml><?xml version="1.0" encoding="utf-8"?>
<c:chartSpace xmlns:c="http://schemas.openxmlformats.org/drawingml/2006/chart" xmlns:a="http://schemas.openxmlformats.org/drawingml/2006/main" xmlns:r="http://schemas.openxmlformats.org/officeDocument/2006/relationships">
  <c:date1904 val="0"/>
  <c:chart>
    <c:autoTitleDeleted val="1"/>
    <c:plotArea>
      <c:barChart>
        <c:barDir val="bar"/>
        <c:grouping val="clustered"/>
        <c:varyColors val="0"/>
        <c:ser>
          <c:idx val="0"/>
          <c:order val="0"/>
          <c:tx>
            <c:strRef>
              <c:strCache>
                <c:ptCount val="1"/>
                <c:pt idx="0">
                  <c:v>SAM</c:v>
                </c:pt>
              </c:strCache>
            </c:strRef>
          </c:tx>
          <c:spPr>
            <a:solidFill>
              <a:srgbClr val="69B1E0"/>
            </a:solidFill>
            <a:ln>
              <a:noFill/>
            </a:ln>
          </c:spPr>
          <c:dLbls>
            <c:dLbl>
              <c:idx val="0"/>
              <c:numFmt formatCode="&quot;MMMMMMM&quot;;&quot;MMMMMMM&quot;;&quot;MMMMMMM&quot;" sourceLinked="0"/>
              <c:spPr>
                <a:blipFill>
                  <a:blip r:embed="rId2"/>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3"/>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4"/>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5"/>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6"/>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1047.9299999999998</c:v>
                </c:pt>
                <c:pt idx="1">
                  <c:v>941.9866206420581</c:v>
                </c:pt>
                <c:pt idx="2">
                  <c:v>688.4203148649368</c:v>
                </c:pt>
                <c:pt idx="3">
                  <c:v>441.04100122428747</c:v>
                </c:pt>
                <c:pt idx="4">
                  <c:v>349.9056518671348</c:v>
                </c:pt>
              </c:numCache>
            </c:numRef>
          </c:val>
        </c:ser>
        <c:ser>
          <c:idx val="1"/>
          <c:order val="1"/>
          <c:tx>
            <c:strRef>
              <c:strCache>
                <c:ptCount val="1"/>
                <c:pt idx="0">
                  <c:v>SOM</c:v>
                </c:pt>
              </c:strCache>
            </c:strRef>
          </c:tx>
          <c:spPr>
            <a:solidFill>
              <a:srgbClr val="0E72AE"/>
            </a:solidFill>
            <a:ln>
              <a:noFill/>
            </a:ln>
          </c:spPr>
          <c:dLbls>
            <c:dLbl>
              <c:idx val="0"/>
              <c:numFmt formatCode="&quot;MMMMM&quot;;&quot;MMMMM&quot;;&quot;MMMMM&quot;" sourceLinked="0"/>
              <c:spPr>
                <a:blipFill>
                  <a:blip r:embed="rId7"/>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1"/>
              <c:numFmt formatCode="&quot;MMMMM&quot;;&quot;MMMMM&quot;;&quot;MMMMM&quot;" sourceLinked="0"/>
              <c:spPr>
                <a:blipFill>
                  <a:blip r:embed="rId8"/>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2"/>
              <c:numFmt formatCode="&quot;MMMMM&quot;;&quot;MMMMM&quot;;&quot;MMMMM&quot;" sourceLinked="0"/>
              <c:spPr>
                <a:blipFill>
                  <a:blip r:embed="rId9"/>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3"/>
              <c:numFmt formatCode="&quot;MMMMM&quot;;&quot;MMMMM&quot;;&quot;MMMMM&quot;" sourceLinked="0"/>
              <c:spPr>
                <a:blipFill>
                  <a:blip r:embed="rId10"/>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dLbl>
              <c:idx val="4"/>
              <c:numFmt formatCode="&quot;MMMMM&quot;;&quot;MMMMM&quot;;&quot;MMMMM&quot;" sourceLinked="0"/>
              <c:spPr>
                <a:blipFill>
                  <a:blip r:embed="rId11"/>
                  <a:stretch>
                    <a:fillRect/>
                  </a:stretch>
                </a:blipFill>
              </c:spPr>
              <c:txPr>
                <a:bodyPr/>
                <a:lstStyle/>
                <a:p>
                  <a:pPr>
                    <a:defRPr>
                      <a:solidFill>
                        <a:srgbClr val="FFFFFF">
                          <a:alpha val="0"/>
                        </a:srgbClr>
                      </a:solidFill>
                    </a:defRPr>
                  </a:pPr>
                  <a:endParaRPr lang="en-US"/>
                </a:p>
              </c:txPr>
              <c:showLegendKey val="0"/>
              <c:showVal val="1"/>
              <c:showCatName val="0"/>
              <c:showSerName val="0"/>
              <c:showPercent val="0"/>
              <c:showBubbleSize val="0"/>
            </c:dLbl>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cat>
            <c:strRef>
              <c:strCache>
                <c:ptCount val="5"/>
                <c:pt idx="0">
                  <c:v>North America</c:v>
                </c:pt>
                <c:pt idx="1">
                  <c:v>Europe</c:v>
                </c:pt>
                <c:pt idx="2">
                  <c:v>South Asia &amp; Pacific</c:v>
                </c:pt>
                <c:pt idx="3">
                  <c:v>East Asia</c:v>
                </c:pt>
                <c:pt idx="4">
                  <c:v>Rest of the World</c:v>
                </c:pt>
              </c:strCache>
            </c:strRef>
          </c:cat>
          <c:val>
            <c:numRef>
              <c:numCache>
                <c:formatCode>General</c:formatCode>
                <c:ptCount val="5"/>
                <c:pt idx="0">
                  <c:v>343.46067467926895</c:v>
                </c:pt>
                <c:pt idx="1">
                  <c:v>209.06374796793725</c:v>
                </c:pt>
                <c:pt idx="2">
                  <c:v>112.74201861073975</c:v>
                </c:pt>
                <c:pt idx="3">
                  <c:v>127.38985106306541</c:v>
                </c:pt>
                <c:pt idx="4">
                  <c:v>241.92205775211113</c:v>
                </c:pt>
              </c:numCache>
            </c:numRef>
          </c:val>
        </c:ser>
        <c:dLbls>
          <c:numFmt formatCode="0.0&quot;%&quot;" sourceLinked="0"/>
          <c:txPr>
            <a:bodyPr rot="0" vert="horz"/>
            <a:lstStyle/>
            <a:p>
              <a:pPr>
                <a:defRPr sz="1100">
                  <a:latin typeface="Calibri"/>
                </a:defRPr>
              </a:pPr>
            </a:p>
          </c:txPr>
          <c:dLblPos val="outEnd"/>
          <c:showLegendKey val="0"/>
          <c:showVal val="1"/>
          <c:showCatName val="0"/>
          <c:showSerName val="0"/>
          <c:showPercent val="0"/>
          <c:showBubbleSize val="0"/>
          <c:showLeaderLines val="1"/>
        </c:dLbls>
        <c:gapWidth val="50"/>
        <c:axId val="-2068027336"/>
        <c:axId val="-2113994440"/>
      </c:barChart>
      <c:catAx>
        <c:axId val="-2068027336"/>
        <c:scaling>
          <c:orientation val="minMax"/>
        </c:scaling>
        <c:delete val="0"/>
        <c:axPos val="l"/>
        <c:majorTickMark val="out"/>
        <c:minorTickMark val="none"/>
        <c:tickLblPos val="nextTo"/>
        <c:spPr>
          <a:ln>
            <a:solidFill>
              <a:srgbClr val="C6D5E1"/>
            </a:solidFill>
          </a:ln>
        </c:spPr>
        <c:txPr>
          <a:bodyPr/>
          <a:lstStyle/>
          <a:p>
            <a:pPr>
              <a:defRPr sz="1100"/>
            </a:pPr>
          </a:p>
        </c:txPr>
        <c:crossAx val="-2113994440"/>
        <c:crosses val="autoZero"/>
        <c:auto val="1"/>
        <c:lblAlgn val="ctr"/>
        <c:lblOffset val="100"/>
        <c:noMultiLvlLbl val="0"/>
        <c:tickLblSkip val="1"/>
        <c:tickMarkSkip val="1"/>
      </c:catAx>
      <c:valAx>
        <c:axId val="-2113994440"/>
        <c:scaling>
          <c:max val="1341.3503999999998"/>
          <c:min val="0.0"/>
        </c:scaling>
        <c:delete val="0"/>
        <c:axPos val="b"/>
        <c:numFmt formatCode="0&quot;%&quot;" sourceLinked="0"/>
        <c:majorTickMark val="out"/>
        <c:minorTickMark val="none"/>
        <c:tickLblPos val="nextTo"/>
        <c:spPr>
          <a:ln>
            <a:solidFill>
              <a:srgbClr val="C6D5E1"/>
            </a:solidFill>
          </a:ln>
        </c:spPr>
        <c:txPr>
          <a:bodyPr/>
          <a:lstStyle/>
          <a:p>
            <a:pPr>
              <a:defRPr sz="1100"/>
            </a:pPr>
          </a:p>
        </c:txPr>
        <c:crossAx val="-2068027336"/>
        <c:crosses val="autoZero"/>
      </c:valAx>
    </c:plotArea>
    <c:legend>
      <c:legendPos val="b"/>
      <c:overlay val="0"/>
      <c:txPr>
        <a:bodyPr/>
        <a:lstStyle/>
        <a:p>
          <a:pPr>
            <a:defRPr sz="1100"/>
          </a:pPr>
        </a:p>
      </c:txPr>
    </c:legend>
    <c:dispBlanksAs val="gap"/>
  </c:chart>
  <c:txPr>
    <a:bodyPr/>
    <a:lstStyle/>
    <a:p>
      <a:pPr>
        <a:defRPr sz="1100">
          <a:latin typeface="Calibri"/>
        </a:defRPr>
      </a:pPr>
      <a:endParaRPr lang="en-US"/>
    </a:p>
  </c:txPr>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p="http://schemas.openxmlformats.org/presentationml/2006/main" xmlns:r="http://schemas.openxmlformats.org/officeDocument/2006/relationships">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F89C1C7-3DCD-1040-A9CF-14679D8B5DDD}" type="datetimeFigureOut">
              <a:rPr lang="en-US" smtClean="0"/>
              <a:t>10/17/16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B5E49A5-4136-284D-997B-48E1D791AD67}" type="slidenum">
              <a:rPr lang="en-US" smtClean="0"/>
              <a:t>‹#›</a:t>
            </a:fld>
            <a:endParaRPr lang="en-US"/>
          </a:p>
        </p:txBody>
      </p:sp>
    </p:spTree>
    <p:extLst>
      <p:ext uri="{BB962C8B-B14F-4D97-AF65-F5344CB8AC3E}">
        <p14:creationId xmlns:p14="http://schemas.microsoft.com/office/powerpoint/2010/main" val="2623252185"/>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3.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8.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1.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4.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5.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2.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Signals Market Signals</a:t>
            </a:r>
          </a:p>
        </p:txBody>
      </p:sp>
      <p:sp>
        <p:nvSpPr>
          <p:cNvPr id="4" name="Slide Number Placeholder 3"/>
          <p:cNvSpPr>
            <a:spLocks noGrp="1"/>
          </p:cNvSpPr>
          <p:nvPr>
            <p:ph type="sldNum" idx="5" sz="quarter"/>
          </p:nvPr>
        </p:nvSpPr>
        <p:spPr/>
      </p:sp>
    </p:spTree>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Overview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Taxonomy Geographic Coverage</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Taxonomy Market Segments  (1/2)</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Taxonomy Market Segments  (2/2)</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Taxonomy Company Coverage</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Global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Country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Country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Global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Region Global Matcha – Regional Outlook</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Region Market Analysis By Region (1/2)</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Region Market Analysis By Region (2/2)</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Region Volume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Region Value Share Analysis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Region Market Trends By Region</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Region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By Nature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By Form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By Flavour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By Packaging Type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By Packaging Type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By Grade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 Nature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 Nature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 Nature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 Flavour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 Flavour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 Flavour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Absolute $ Opportunity &amp; Attractiveness  (1/2)</a:t>
            </a:r>
          </a:p>
        </p:txBody>
      </p:sp>
      <p:sp>
        <p:nvSpPr>
          <p:cNvPr id="4" name="Slide Number Placeholder 3"/>
          <p:cNvSpPr>
            <a:spLocks noGrp="1"/>
          </p:cNvSpPr>
          <p:nvPr>
            <p:ph type="sldNum" idx="5" sz="quarter"/>
          </p:nvPr>
        </p:nvSpPr>
        <p:spPr/>
      </p:sp>
    </p:spTree>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Absolute $ Opportunity &amp; Attractiveness  (2/2)</a:t>
            </a:r>
          </a:p>
        </p:txBody>
      </p:sp>
      <p:sp>
        <p:nvSpPr>
          <p:cNvPr id="4" name="Slide Number Placeholder 3"/>
          <p:cNvSpPr>
            <a:spLocks noGrp="1"/>
          </p:cNvSpPr>
          <p:nvPr>
            <p:ph type="sldNum" idx="5" sz="quarter"/>
          </p:nvPr>
        </p:nvSpPr>
        <p:spPr/>
      </p:sp>
    </p:spTree>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North America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Volume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Pricing &amp; Price Index</a:t>
            </a:r>
          </a:p>
        </p:txBody>
      </p:sp>
      <p:sp>
        <p:nvSpPr>
          <p:cNvPr id="4" name="Slide Number Placeholder 3"/>
          <p:cNvSpPr>
            <a:spLocks noGrp="1"/>
          </p:cNvSpPr>
          <p:nvPr>
            <p:ph type="sldNum" idx="5" sz="quarter"/>
          </p:nvPr>
        </p:nvSpPr>
        <p:spPr/>
      </p:sp>
    </p:spTree>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Value Market Summary</a:t>
            </a:r>
          </a:p>
        </p:txBody>
      </p:sp>
      <p:sp>
        <p:nvSpPr>
          <p:cNvPr id="4" name="Slide Number Placeholder 3"/>
          <p:cNvSpPr>
            <a:spLocks noGrp="1"/>
          </p:cNvSpPr>
          <p:nvPr>
            <p:ph type="sldNum" idx="5" sz="quarter"/>
          </p:nvPr>
        </p:nvSpPr>
        <p:spPr/>
      </p:sp>
    </p:spTree>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Market Volume &amp;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Market Overview (1/4)</a:t>
            </a:r>
          </a:p>
        </p:txBody>
      </p:sp>
      <p:sp>
        <p:nvSpPr>
          <p:cNvPr id="4" name="Slide Number Placeholder 3"/>
          <p:cNvSpPr>
            <a:spLocks noGrp="1"/>
          </p:cNvSpPr>
          <p:nvPr>
            <p:ph type="sldNum" idx="5" sz="quarter"/>
          </p:nvPr>
        </p:nvSpPr>
        <p:spPr/>
      </p:sp>
    </p:spTree>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Supply Side Trends</a:t>
            </a:r>
          </a:p>
        </p:txBody>
      </p:sp>
      <p:sp>
        <p:nvSpPr>
          <p:cNvPr id="4" name="Slide Number Placeholder 3"/>
          <p:cNvSpPr>
            <a:spLocks noGrp="1"/>
          </p:cNvSpPr>
          <p:nvPr>
            <p:ph type="sldNum" idx="5" sz="quarter"/>
          </p:nvPr>
        </p:nvSpPr>
        <p:spPr/>
      </p:sp>
    </p:spTree>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Analysis and Recommendation</a:t>
            </a:r>
          </a:p>
        </p:txBody>
      </p:sp>
      <p:sp>
        <p:nvSpPr>
          <p:cNvPr id="4" name="Slide Number Placeholder 3"/>
          <p:cNvSpPr>
            <a:spLocks noGrp="1"/>
          </p:cNvSpPr>
          <p:nvPr>
            <p:ph type="sldNum" idx="5" sz="quarter"/>
          </p:nvPr>
        </p:nvSpPr>
        <p:spPr/>
      </p:sp>
    </p:spTree>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North America Overview Scenario Outlook (4/4)</a:t>
            </a:r>
          </a:p>
        </p:txBody>
      </p:sp>
      <p:sp>
        <p:nvSpPr>
          <p:cNvPr id="4" name="Slide Number Placeholder 3"/>
          <p:cNvSpPr>
            <a:spLocks noGrp="1"/>
          </p:cNvSpPr>
          <p:nvPr>
            <p:ph type="sldNum" idx="5" sz="quarter"/>
          </p:nvPr>
        </p:nvSpPr>
        <p:spPr/>
      </p:sp>
    </p:spTree>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Country North America Matcha – Country Outlook</a:t>
            </a:r>
          </a:p>
        </p:txBody>
      </p:sp>
      <p:sp>
        <p:nvSpPr>
          <p:cNvPr id="4" name="Slide Number Placeholder 3"/>
          <p:cNvSpPr>
            <a:spLocks noGrp="1"/>
          </p:cNvSpPr>
          <p:nvPr>
            <p:ph type="sldNum" idx="5" sz="quarter"/>
          </p:nvPr>
        </p:nvSpPr>
        <p:spPr/>
      </p:sp>
    </p:spTree>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Country Market Analysis By Country (1/2)</a:t>
            </a:r>
          </a:p>
        </p:txBody>
      </p:sp>
      <p:sp>
        <p:nvSpPr>
          <p:cNvPr id="4" name="Slide Number Placeholder 3"/>
          <p:cNvSpPr>
            <a:spLocks noGrp="1"/>
          </p:cNvSpPr>
          <p:nvPr>
            <p:ph type="sldNum" idx="5" sz="quarter"/>
          </p:nvPr>
        </p:nvSpPr>
        <p:spPr/>
      </p:sp>
    </p:spTree>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Country Market Analysis By Country (2/2)</a:t>
            </a:r>
          </a:p>
        </p:txBody>
      </p:sp>
      <p:sp>
        <p:nvSpPr>
          <p:cNvPr id="4" name="Slide Number Placeholder 3"/>
          <p:cNvSpPr>
            <a:spLocks noGrp="1"/>
          </p:cNvSpPr>
          <p:nvPr>
            <p:ph type="sldNum" idx="5" sz="quarter"/>
          </p:nvPr>
        </p:nvSpPr>
        <p:spPr/>
      </p:sp>
    </p:spTree>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Country Volume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Country Value Share Analysis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Country Market Trends By Country</a:t>
            </a:r>
          </a:p>
        </p:txBody>
      </p:sp>
      <p:sp>
        <p:nvSpPr>
          <p:cNvPr id="4" name="Slide Number Placeholder 3"/>
          <p:cNvSpPr>
            <a:spLocks noGrp="1"/>
          </p:cNvSpPr>
          <p:nvPr>
            <p:ph type="sldNum" idx="5" sz="quarter"/>
          </p:nvPr>
        </p:nvSpPr>
        <p:spPr/>
      </p:sp>
    </p:spTree>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By Country Top Countries</a:t>
            </a:r>
          </a:p>
        </p:txBody>
      </p:sp>
      <p:sp>
        <p:nvSpPr>
          <p:cNvPr id="4" name="Slide Number Placeholder 3"/>
          <p:cNvSpPr>
            <a:spLocks noGrp="1"/>
          </p:cNvSpPr>
          <p:nvPr>
            <p:ph type="sldNum" idx="5" sz="quarter"/>
          </p:nvPr>
        </p:nvSpPr>
        <p:spPr/>
      </p:sp>
    </p:spTree>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By Nature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Nature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By Product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Absolute $ Analysis</a:t>
            </a:r>
          </a:p>
        </p:txBody>
      </p:sp>
      <p:sp>
        <p:nvSpPr>
          <p:cNvPr id="4" name="Slide Number Placeholder 3"/>
          <p:cNvSpPr>
            <a:spLocks noGrp="1"/>
          </p:cNvSpPr>
          <p:nvPr>
            <p:ph type="sldNum" idx="5" sz="quarter"/>
          </p:nvPr>
        </p:nvSpPr>
        <p:spPr/>
      </p:sp>
    </p:spTree>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By Form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By Flavour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Flavour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By Packaging Type Segment Outlook  (1/2)</a:t>
            </a:r>
          </a:p>
        </p:txBody>
      </p:sp>
      <p:sp>
        <p:nvSpPr>
          <p:cNvPr id="4" name="Slide Number Placeholder 3"/>
          <p:cNvSpPr>
            <a:spLocks noGrp="1"/>
          </p:cNvSpPr>
          <p:nvPr>
            <p:ph type="sldNum" idx="5" sz="quarter"/>
          </p:nvPr>
        </p:nvSpPr>
        <p:spPr/>
      </p:sp>
    </p:spTree>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By Packaging Type Segment Outlook  (2/2)</a:t>
            </a:r>
          </a:p>
        </p:txBody>
      </p:sp>
      <p:sp>
        <p:nvSpPr>
          <p:cNvPr id="4" name="Slide Number Placeholder 3"/>
          <p:cNvSpPr>
            <a:spLocks noGrp="1"/>
          </p:cNvSpPr>
          <p:nvPr>
            <p:ph type="sldNum" idx="5" sz="quarter"/>
          </p:nvPr>
        </p:nvSpPr>
        <p:spPr/>
      </p:sp>
    </p:spTree>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Absolute $ Analysis  (1/3)</a:t>
            </a:r>
          </a:p>
        </p:txBody>
      </p:sp>
      <p:sp>
        <p:nvSpPr>
          <p:cNvPr id="4" name="Slide Number Placeholder 3"/>
          <p:cNvSpPr>
            <a:spLocks noGrp="1"/>
          </p:cNvSpPr>
          <p:nvPr>
            <p:ph type="sldNum" idx="5" sz="quarter"/>
          </p:nvPr>
        </p:nvSpPr>
        <p:spPr/>
      </p:sp>
    </p:spTree>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Absolute $ Analysis  (2/3)</a:t>
            </a:r>
          </a:p>
        </p:txBody>
      </p:sp>
      <p:sp>
        <p:nvSpPr>
          <p:cNvPr id="4" name="Slide Number Placeholder 3"/>
          <p:cNvSpPr>
            <a:spLocks noGrp="1"/>
          </p:cNvSpPr>
          <p:nvPr>
            <p:ph type="sldNum" idx="5" sz="quarter"/>
          </p:nvPr>
        </p:nvSpPr>
        <p:spPr/>
      </p:sp>
    </p:spTree>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Absolute $ Analysis  (3/3)</a:t>
            </a:r>
          </a:p>
        </p:txBody>
      </p:sp>
      <p:sp>
        <p:nvSpPr>
          <p:cNvPr id="4" name="Slide Number Placeholder 3"/>
          <p:cNvSpPr>
            <a:spLocks noGrp="1"/>
          </p:cNvSpPr>
          <p:nvPr>
            <p:ph type="sldNum" idx="5" sz="quarter"/>
          </p:nvPr>
        </p:nvSpPr>
        <p:spPr/>
      </p:sp>
    </p:spTree>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By Grade Type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Grade Type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By Application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Market Value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Market Value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Application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By Distribution Channel Segment Outlook</a:t>
            </a:r>
          </a:p>
        </p:txBody>
      </p:sp>
      <p:sp>
        <p:nvSpPr>
          <p:cNvPr id="4" name="Slide Number Placeholder 3"/>
          <p:cNvSpPr>
            <a:spLocks noGrp="1"/>
          </p:cNvSpPr>
          <p:nvPr>
            <p:ph type="sldNum" idx="5" sz="quarter"/>
          </p:nvPr>
        </p:nvSpPr>
        <p:spPr/>
      </p:sp>
    </p:spTree>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Market Structure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Absolute $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Absolute $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Market Value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Distribution Channel Value &amp; Share Shift</a:t>
            </a:r>
          </a:p>
        </p:txBody>
      </p:sp>
      <p:sp>
        <p:nvSpPr>
          <p:cNvPr id="4" name="Slide Number Placeholder 3"/>
          <p:cNvSpPr>
            <a:spLocks noGrp="1"/>
          </p:cNvSpPr>
          <p:nvPr>
            <p:ph type="sldNum" idx="5" sz="quarter"/>
          </p:nvPr>
        </p:nvSpPr>
        <p:spPr/>
      </p:sp>
    </p:spTree>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 Nature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 Nature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Product Type × Nature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 Flavour Market Snapshot</a:t>
            </a:r>
          </a:p>
        </p:txBody>
      </p:sp>
      <p:sp>
        <p:nvSpPr>
          <p:cNvPr id="4" name="Slide Number Placeholder 3"/>
          <p:cNvSpPr>
            <a:spLocks noGrp="1"/>
          </p:cNvSpPr>
          <p:nvPr>
            <p:ph type="sldNum" idx="5" sz="quarter"/>
          </p:nvPr>
        </p:nvSpPr>
        <p:spPr/>
      </p:sp>
    </p:spTree>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 Flavour Market Share Analysis</a:t>
            </a:r>
          </a:p>
        </p:txBody>
      </p:sp>
      <p:sp>
        <p:nvSpPr>
          <p:cNvPr id="4" name="Slide Number Placeholder 3"/>
          <p:cNvSpPr>
            <a:spLocks noGrp="1"/>
          </p:cNvSpPr>
          <p:nvPr>
            <p:ph type="sldNum" idx="5" sz="quarter"/>
          </p:nvPr>
        </p:nvSpPr>
        <p:spPr/>
      </p:sp>
    </p:spTree>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Form × Flavour Absolute $ Opportunity &amp; Attractiveness</a:t>
            </a:r>
          </a:p>
        </p:txBody>
      </p:sp>
      <p:sp>
        <p:nvSpPr>
          <p:cNvPr id="4" name="Slide Number Placeholder 3"/>
          <p:cNvSpPr>
            <a:spLocks noGrp="1"/>
          </p:cNvSpPr>
          <p:nvPr>
            <p:ph type="sldNum" idx="5" sz="quarter"/>
          </p:nvPr>
        </p:nvSpPr>
        <p:spPr/>
      </p:sp>
    </p:spTree>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Snapshot  (1/2)</a:t>
            </a:r>
          </a:p>
        </p:txBody>
      </p:sp>
      <p:sp>
        <p:nvSpPr>
          <p:cNvPr id="4" name="Slide Number Placeholder 3"/>
          <p:cNvSpPr>
            <a:spLocks noGrp="1"/>
          </p:cNvSpPr>
          <p:nvPr>
            <p:ph type="sldNum" idx="5" sz="quarter"/>
          </p:nvPr>
        </p:nvSpPr>
        <p:spPr/>
      </p:sp>
    </p:spTree>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Snapshot  (2/2)</a:t>
            </a:r>
          </a:p>
        </p:txBody>
      </p:sp>
      <p:sp>
        <p:nvSpPr>
          <p:cNvPr id="4" name="Slide Number Placeholder 3"/>
          <p:cNvSpPr>
            <a:spLocks noGrp="1"/>
          </p:cNvSpPr>
          <p:nvPr>
            <p:ph type="sldNum" idx="5" sz="quarter"/>
          </p:nvPr>
        </p:nvSpPr>
        <p:spPr/>
      </p:sp>
    </p:spTree>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Share Analysis  (1/2)</a:t>
            </a:r>
          </a:p>
        </p:txBody>
      </p:sp>
      <p:sp>
        <p:nvSpPr>
          <p:cNvPr id="4" name="Slide Number Placeholder 3"/>
          <p:cNvSpPr>
            <a:spLocks noGrp="1"/>
          </p:cNvSpPr>
          <p:nvPr>
            <p:ph type="sldNum" idx="5" sz="quarter"/>
          </p:nvPr>
        </p:nvSpPr>
        <p:spPr/>
      </p:sp>
    </p:spTree>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Market Share Analysis  (2/2)</a:t>
            </a:r>
          </a:p>
        </p:txBody>
      </p:sp>
      <p:sp>
        <p:nvSpPr>
          <p:cNvPr id="4" name="Slide Number Placeholder 3"/>
          <p:cNvSpPr>
            <a:spLocks noGrp="1"/>
          </p:cNvSpPr>
          <p:nvPr>
            <p:ph type="sldNum" idx="5" sz="quarter"/>
          </p:nvPr>
        </p:nvSpPr>
        <p:spPr/>
      </p:sp>
    </p:spTree>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Absolute $ Opportunity &amp; Attractiveness  (1/2)</a:t>
            </a:r>
          </a:p>
        </p:txBody>
      </p:sp>
      <p:sp>
        <p:nvSpPr>
          <p:cNvPr id="4" name="Slide Number Placeholder 3"/>
          <p:cNvSpPr>
            <a:spLocks noGrp="1"/>
          </p:cNvSpPr>
          <p:nvPr>
            <p:ph type="sldNum" idx="5" sz="quarter"/>
          </p:nvPr>
        </p:nvSpPr>
        <p:spPr/>
      </p:sp>
    </p:spTree>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Packaging Type × Distribution Channel Absolute $ Opportunity &amp; Attractiveness  (2/2)</a:t>
            </a:r>
          </a:p>
        </p:txBody>
      </p:sp>
      <p:sp>
        <p:nvSpPr>
          <p:cNvPr id="4" name="Slide Number Placeholder 3"/>
          <p:cNvSpPr>
            <a:spLocks noGrp="1"/>
          </p:cNvSpPr>
          <p:nvPr>
            <p:ph type="sldNum" idx="5" sz="quarter"/>
          </p:nvPr>
        </p:nvSpPr>
        <p:spPr/>
      </p:sp>
    </p:spTree>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Country Market Outlook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Overview Volume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Overview Value Overview</a:t>
            </a:r>
          </a:p>
        </p:txBody>
      </p:sp>
      <p:sp>
        <p:nvSpPr>
          <p:cNvPr id="4" name="Slide Number Placeholder 3"/>
          <p:cNvSpPr>
            <a:spLocks noGrp="1"/>
          </p:cNvSpPr>
          <p:nvPr>
            <p:ph type="sldNum" idx="5" sz="quarter"/>
          </p:nvPr>
        </p:nvSpPr>
        <p:spPr/>
      </p:sp>
    </p:spTree>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Overview Key Segments (Value)  (1/2)</a:t>
            </a:r>
          </a:p>
        </p:txBody>
      </p:sp>
      <p:sp>
        <p:nvSpPr>
          <p:cNvPr id="4" name="Slide Number Placeholder 3"/>
          <p:cNvSpPr>
            <a:spLocks noGrp="1"/>
          </p:cNvSpPr>
          <p:nvPr>
            <p:ph type="sldNum" idx="5" sz="quarter"/>
          </p:nvPr>
        </p:nvSpPr>
        <p:spPr/>
      </p:sp>
    </p:spTree>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Overview Key Segments (Value)  (2/2)</a:t>
            </a:r>
          </a:p>
        </p:txBody>
      </p:sp>
      <p:sp>
        <p:nvSpPr>
          <p:cNvPr id="4" name="Slide Number Placeholder 3"/>
          <p:cNvSpPr>
            <a:spLocks noGrp="1"/>
          </p:cNvSpPr>
          <p:nvPr>
            <p:ph type="sldNum" idx="5" sz="quarter"/>
          </p:nvPr>
        </p:nvSpPr>
        <p:spPr/>
      </p:sp>
    </p:spTree>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Nature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Nature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Product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Product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Form Segmental</a:t>
            </a:r>
          </a:p>
        </p:txBody>
      </p:sp>
      <p:sp>
        <p:nvSpPr>
          <p:cNvPr id="4" name="Slide Number Placeholder 3"/>
          <p:cNvSpPr>
            <a:spLocks noGrp="1"/>
          </p:cNvSpPr>
          <p:nvPr>
            <p:ph type="sldNum" idx="5" sz="quarter"/>
          </p:nvPr>
        </p:nvSpPr>
        <p:spPr/>
      </p:sp>
    </p:spTree>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Form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Flavour Segmental</a:t>
            </a:r>
          </a:p>
        </p:txBody>
      </p:sp>
      <p:sp>
        <p:nvSpPr>
          <p:cNvPr id="4" name="Slide Number Placeholder 3"/>
          <p:cNvSpPr>
            <a:spLocks noGrp="1"/>
          </p:cNvSpPr>
          <p:nvPr>
            <p:ph type="sldNum" idx="5" sz="quarter"/>
          </p:nvPr>
        </p:nvSpPr>
        <p:spPr/>
      </p:sp>
    </p:spTree>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Flavour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Packaging Type Segmental  (1/2)</a:t>
            </a:r>
          </a:p>
        </p:txBody>
      </p:sp>
      <p:sp>
        <p:nvSpPr>
          <p:cNvPr id="4" name="Slide Number Placeholder 3"/>
          <p:cNvSpPr>
            <a:spLocks noGrp="1"/>
          </p:cNvSpPr>
          <p:nvPr>
            <p:ph type="sldNum" idx="5" sz="quarter"/>
          </p:nvPr>
        </p:nvSpPr>
        <p:spPr/>
      </p:sp>
    </p:spTree>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Packaging Type Segmental  (2/2)</a:t>
            </a:r>
          </a:p>
        </p:txBody>
      </p:sp>
      <p:sp>
        <p:nvSpPr>
          <p:cNvPr id="4" name="Slide Number Placeholder 3"/>
          <p:cNvSpPr>
            <a:spLocks noGrp="1"/>
          </p:cNvSpPr>
          <p:nvPr>
            <p:ph type="sldNum" idx="5" sz="quarter"/>
          </p:nvPr>
        </p:nvSpPr>
        <p:spPr/>
      </p:sp>
    </p:spTree>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Packaging Type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Grade Type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Grade Type Table (Volume &amp; Value)</a:t>
            </a:r>
          </a:p>
        </p:txBody>
      </p:sp>
      <p:sp>
        <p:nvSpPr>
          <p:cNvPr id="4" name="Slide Number Placeholder 3"/>
          <p:cNvSpPr>
            <a:spLocks noGrp="1"/>
          </p:cNvSpPr>
          <p:nvPr>
            <p:ph type="sldNum" idx="5" sz="quarter"/>
          </p:nvPr>
        </p:nvSpPr>
        <p:spPr/>
      </p:sp>
    </p:spTree>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Application Segmental</a:t>
            </a:r>
          </a:p>
        </p:txBody>
      </p:sp>
      <p:sp>
        <p:nvSpPr>
          <p:cNvPr id="4" name="Slide Number Placeholder 3"/>
          <p:cNvSpPr>
            <a:spLocks noGrp="1"/>
          </p:cNvSpPr>
          <p:nvPr>
            <p:ph type="sldNum" idx="5" sz="quarter"/>
          </p:nvPr>
        </p:nvSpPr>
        <p:spPr/>
      </p:sp>
    </p:spTree>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Application Table (Volume &amp; Value)  (1/4)</a:t>
            </a:r>
          </a:p>
        </p:txBody>
      </p:sp>
      <p:sp>
        <p:nvSpPr>
          <p:cNvPr id="4" name="Slide Number Placeholder 3"/>
          <p:cNvSpPr>
            <a:spLocks noGrp="1"/>
          </p:cNvSpPr>
          <p:nvPr>
            <p:ph type="sldNum" idx="5" sz="quarter"/>
          </p:nvPr>
        </p:nvSpPr>
        <p:spPr/>
      </p:sp>
    </p:spTree>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Application Table (Volume &amp; Value)  (2/4)</a:t>
            </a:r>
          </a:p>
        </p:txBody>
      </p:sp>
      <p:sp>
        <p:nvSpPr>
          <p:cNvPr id="4" name="Slide Number Placeholder 3"/>
          <p:cNvSpPr>
            <a:spLocks noGrp="1"/>
          </p:cNvSpPr>
          <p:nvPr>
            <p:ph type="sldNum" idx="5" sz="quarter"/>
          </p:nvPr>
        </p:nvSpPr>
        <p:spPr/>
      </p:sp>
    </p:spTree>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Application Table (Volume &amp; Value)  (3/4)</a:t>
            </a:r>
          </a:p>
        </p:txBody>
      </p:sp>
      <p:sp>
        <p:nvSpPr>
          <p:cNvPr id="4" name="Slide Number Placeholder 3"/>
          <p:cNvSpPr>
            <a:spLocks noGrp="1"/>
          </p:cNvSpPr>
          <p:nvPr>
            <p:ph type="sldNum" idx="5" sz="quarter"/>
          </p:nvPr>
        </p:nvSpPr>
        <p:spPr/>
      </p:sp>
    </p:spTree>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Application Table (Volume &amp; Value)  (4/4)</a:t>
            </a:r>
          </a:p>
        </p:txBody>
      </p:sp>
      <p:sp>
        <p:nvSpPr>
          <p:cNvPr id="4" name="Slide Number Placeholder 3"/>
          <p:cNvSpPr>
            <a:spLocks noGrp="1"/>
          </p:cNvSpPr>
          <p:nvPr>
            <p:ph type="sldNum" idx="5" sz="quarter"/>
          </p:nvPr>
        </p:nvSpPr>
        <p:spPr/>
      </p:sp>
    </p:spTree>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Distribution Channel Segmental</a:t>
            </a:r>
          </a:p>
        </p:txBody>
      </p:sp>
      <p:sp>
        <p:nvSpPr>
          <p:cNvPr id="4" name="Slide Number Placeholder 3"/>
          <p:cNvSpPr>
            <a:spLocks noGrp="1"/>
          </p:cNvSpPr>
          <p:nvPr>
            <p:ph type="sldNum" idx="5" sz="quarter"/>
          </p:nvPr>
        </p:nvSpPr>
        <p:spPr/>
      </p:sp>
    </p:spTree>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Country Distribution Channel Table (Volume &amp; Value)  (2/2)</a:t>
            </a:r>
          </a:p>
        </p:txBody>
      </p:sp>
      <p:sp>
        <p:nvSpPr>
          <p:cNvPr id="4" name="Slide Number Placeholder 3"/>
          <p:cNvSpPr>
            <a:spLocks noGrp="1"/>
          </p:cNvSpPr>
          <p:nvPr>
            <p:ph type="sldNum" idx="5" sz="quarter"/>
          </p:nvPr>
        </p:nvSpPr>
        <p:spPr/>
      </p:sp>
    </p:spTree>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Pricing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Product Pricing &amp; Regional Price Index Trends</a:t>
            </a:r>
          </a:p>
        </p:txBody>
      </p:sp>
      <p:sp>
        <p:nvSpPr>
          <p:cNvPr id="4" name="Slide Number Placeholder 3"/>
          <p:cNvSpPr>
            <a:spLocks noGrp="1"/>
          </p:cNvSpPr>
          <p:nvPr>
            <p:ph type="sldNum" idx="5" sz="quarter"/>
          </p:nvPr>
        </p:nvSpPr>
        <p:spPr/>
      </p:sp>
    </p:spTree>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Global Pricing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Price Positioning &amp; Key Findings</a:t>
            </a:r>
          </a:p>
        </p:txBody>
      </p:sp>
      <p:sp>
        <p:nvSpPr>
          <p:cNvPr id="4" name="Slide Number Placeholder 3"/>
          <p:cNvSpPr>
            <a:spLocks noGrp="1"/>
          </p:cNvSpPr>
          <p:nvPr>
            <p:ph type="sldNum" idx="5" sz="quarter"/>
          </p:nvPr>
        </p:nvSpPr>
        <p:spPr/>
      </p:sp>
    </p:spTree>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Key Pricing Drivers</a:t>
            </a:r>
          </a:p>
        </p:txBody>
      </p:sp>
      <p:sp>
        <p:nvSpPr>
          <p:cNvPr id="4" name="Slide Number Placeholder 3"/>
          <p:cNvSpPr>
            <a:spLocks noGrp="1"/>
          </p:cNvSpPr>
          <p:nvPr>
            <p:ph type="sldNum" idx="5" sz="quarter"/>
          </p:nvPr>
        </p:nvSpPr>
        <p:spPr/>
      </p:sp>
    </p:spTree>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Factors Impacting Pricing</a:t>
            </a:r>
          </a:p>
        </p:txBody>
      </p:sp>
      <p:sp>
        <p:nvSpPr>
          <p:cNvPr id="4" name="Slide Number Placeholder 3"/>
          <p:cNvSpPr>
            <a:spLocks noGrp="1"/>
          </p:cNvSpPr>
          <p:nvPr>
            <p:ph type="sldNum" idx="5" sz="quarter"/>
          </p:nvPr>
        </p:nvSpPr>
        <p:spPr/>
      </p:sp>
    </p:spTree>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Regional Price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Global Pricing Benchmarking</a:t>
            </a:r>
          </a:p>
        </p:txBody>
      </p:sp>
      <p:sp>
        <p:nvSpPr>
          <p:cNvPr id="4" name="Slide Number Placeholder 3"/>
          <p:cNvSpPr>
            <a:spLocks noGrp="1"/>
          </p:cNvSpPr>
          <p:nvPr>
            <p:ph type="sldNum" idx="5" sz="quarter"/>
          </p:nvPr>
        </p:nvSpPr>
        <p:spPr/>
      </p:sp>
    </p:spTree>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Price Forecast &amp; Dynamics</a:t>
            </a:r>
          </a:p>
        </p:txBody>
      </p:sp>
      <p:sp>
        <p:nvSpPr>
          <p:cNvPr id="4" name="Slide Number Placeholder 3"/>
          <p:cNvSpPr>
            <a:spLocks noGrp="1"/>
          </p:cNvSpPr>
          <p:nvPr>
            <p:ph type="sldNum" idx="5" sz="quarter"/>
          </p:nvPr>
        </p:nvSpPr>
        <p:spPr/>
      </p:sp>
    </p:spTree>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Pricing Competitor Pricing Strategies</a:t>
            </a:r>
          </a:p>
        </p:txBody>
      </p:sp>
      <p:sp>
        <p:nvSpPr>
          <p:cNvPr id="4" name="Slide Number Placeholder 3"/>
          <p:cNvSpPr>
            <a:spLocks noGrp="1"/>
          </p:cNvSpPr>
          <p:nvPr>
            <p:ph type="sldNum" idx="5" sz="quarter"/>
          </p:nvPr>
        </p:nvSpPr>
        <p:spPr/>
      </p:sp>
    </p:spTree>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Supply Chain Analysis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Supply Chain Analysis Value Chain &amp; Stakeholder Mapping</a:t>
            </a:r>
          </a:p>
        </p:txBody>
      </p:sp>
      <p:sp>
        <p:nvSpPr>
          <p:cNvPr id="4" name="Slide Number Placeholder 3"/>
          <p:cNvSpPr>
            <a:spLocks noGrp="1"/>
          </p:cNvSpPr>
          <p:nvPr>
            <p:ph type="sldNum" idx="5" sz="quarter"/>
          </p:nvPr>
        </p:nvSpPr>
        <p:spPr/>
      </p:sp>
    </p:spTree>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Supply Chain Analysis Operating Margin Analysis</a:t>
            </a:r>
          </a:p>
        </p:txBody>
      </p:sp>
      <p:sp>
        <p:nvSpPr>
          <p:cNvPr id="4" name="Slide Number Placeholder 3"/>
          <p:cNvSpPr>
            <a:spLocks noGrp="1"/>
          </p:cNvSpPr>
          <p:nvPr>
            <p:ph type="sldNum" idx="5" sz="quarter"/>
          </p:nvPr>
        </p:nvSpPr>
        <p:spPr/>
      </p:sp>
    </p:spTree>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Supply Chain Analysis Buyers Assessment</a:t>
            </a:r>
          </a:p>
        </p:txBody>
      </p:sp>
      <p:sp>
        <p:nvSpPr>
          <p:cNvPr id="4" name="Slide Number Placeholder 3"/>
          <p:cNvSpPr>
            <a:spLocks noGrp="1"/>
          </p:cNvSpPr>
          <p:nvPr>
            <p:ph type="sldNum" idx="5" sz="quarter"/>
          </p:nvPr>
        </p:nvSpPr>
        <p:spPr/>
      </p:sp>
    </p:spTree>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Market Dynamics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Dynamics Market Dynamics &amp; Forces Market Dynamics by Geography</a:t>
            </a:r>
          </a:p>
        </p:txBody>
      </p:sp>
      <p:sp>
        <p:nvSpPr>
          <p:cNvPr id="4" name="Slide Number Placeholder 3"/>
          <p:cNvSpPr>
            <a:spLocks noGrp="1"/>
          </p:cNvSpPr>
          <p:nvPr>
            <p:ph type="sldNum" idx="5" sz="quarter"/>
          </p:nvPr>
        </p:nvSpPr>
        <p:spPr/>
      </p:sp>
    </p:spTree>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Dynamics Market Dynamics &amp; Forces Driving Factors Supply Side (1/2)</a:t>
            </a:r>
          </a:p>
        </p:txBody>
      </p:sp>
      <p:sp>
        <p:nvSpPr>
          <p:cNvPr id="4" name="Slide Number Placeholder 3"/>
          <p:cNvSpPr>
            <a:spLocks noGrp="1"/>
          </p:cNvSpPr>
          <p:nvPr>
            <p:ph type="sldNum" idx="5" sz="quarter"/>
          </p:nvPr>
        </p:nvSpPr>
        <p:spPr/>
      </p:sp>
    </p:spTree>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Dynamics Market Dynamics &amp; Forces Driving Factors Demand Side (2/2)</a:t>
            </a:r>
          </a:p>
        </p:txBody>
      </p:sp>
      <p:sp>
        <p:nvSpPr>
          <p:cNvPr id="4" name="Slide Number Placeholder 3"/>
          <p:cNvSpPr>
            <a:spLocks noGrp="1"/>
          </p:cNvSpPr>
          <p:nvPr>
            <p:ph type="sldNum" idx="5" sz="quarter"/>
          </p:nvPr>
        </p:nvSpPr>
        <p:spPr/>
      </p:sp>
    </p:spTree>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Dynamics Market Dynamics &amp; Forces Market Restraints</a:t>
            </a:r>
          </a:p>
        </p:txBody>
      </p:sp>
      <p:sp>
        <p:nvSpPr>
          <p:cNvPr id="4" name="Slide Number Placeholder 3"/>
          <p:cNvSpPr>
            <a:spLocks noGrp="1"/>
          </p:cNvSpPr>
          <p:nvPr>
            <p:ph type="sldNum" idx="5" sz="quarter"/>
          </p:nvPr>
        </p:nvSpPr>
        <p:spPr/>
      </p:sp>
    </p:spTree>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Dynamics Market Dynamics &amp; Forces Market Opportunities</a:t>
            </a:r>
          </a:p>
        </p:txBody>
      </p:sp>
      <p:sp>
        <p:nvSpPr>
          <p:cNvPr id="4" name="Slide Number Placeholder 3"/>
          <p:cNvSpPr>
            <a:spLocks noGrp="1"/>
          </p:cNvSpPr>
          <p:nvPr>
            <p:ph type="sldNum" idx="5" sz="quarter"/>
          </p:nvPr>
        </p:nvSpPr>
        <p:spPr/>
      </p:sp>
    </p:spTree>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Dynamics Market Dynamics &amp; Forces Recent Developments &amp; Milestones</a:t>
            </a:r>
          </a:p>
        </p:txBody>
      </p:sp>
      <p:sp>
        <p:nvSpPr>
          <p:cNvPr id="4" name="Slide Number Placeholder 3"/>
          <p:cNvSpPr>
            <a:spLocks noGrp="1"/>
          </p:cNvSpPr>
          <p:nvPr>
            <p:ph type="sldNum" idx="5" sz="quarter"/>
          </p:nvPr>
        </p:nvSpPr>
        <p:spPr/>
      </p:sp>
    </p:spTree>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Market Dynamics Market Dynamics &amp; Forces Five Forces Analysis</a:t>
            </a:r>
          </a:p>
        </p:txBody>
      </p:sp>
      <p:sp>
        <p:nvSpPr>
          <p:cNvPr id="4" name="Slide Number Placeholder 3"/>
          <p:cNvSpPr>
            <a:spLocks noGrp="1"/>
          </p:cNvSpPr>
          <p:nvPr>
            <p:ph type="sldNum" idx="5" sz="quarter"/>
          </p:nvPr>
        </p:nvSpPr>
        <p:spPr/>
      </p:sp>
    </p:spTree>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Competition Assessment (section breaker)</a:t>
            </a:r>
          </a:p>
        </p:txBody>
      </p:sp>
      <p:sp>
        <p:nvSpPr>
          <p:cNvPr id="4" name="Slide Number Placeholder 3"/>
          <p:cNvSpPr>
            <a:spLocks noGrp="1"/>
          </p:cNvSpPr>
          <p:nvPr>
            <p:ph type="sldNum" idx="5" sz="quarter"/>
          </p:nvPr>
        </p:nvSpPr>
        <p:spPr/>
      </p:sp>
    </p:spTree>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Competitive Landscape at a Glance</a:t>
            </a:r>
          </a:p>
        </p:txBody>
      </p:sp>
      <p:sp>
        <p:nvSpPr>
          <p:cNvPr id="4" name="Slide Number Placeholder 3"/>
          <p:cNvSpPr>
            <a:spLocks noGrp="1"/>
          </p:cNvSpPr>
          <p:nvPr>
            <p:ph type="sldNum" idx="5" sz="quarter"/>
          </p:nvPr>
        </p:nvSpPr>
        <p:spPr/>
      </p:sp>
    </p:spTree>
  </p:cSld>
  <p:clrMapOvr>
    <a:masterClrMapping/>
  </p:clrMapOvr>
</p:notes>
</file>

<file path=ppt/notesSlides/notesSlide2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Segment Leadership Map</a:t>
            </a:r>
          </a:p>
        </p:txBody>
      </p:sp>
      <p:sp>
        <p:nvSpPr>
          <p:cNvPr id="4" name="Slide Number Placeholder 3"/>
          <p:cNvSpPr>
            <a:spLocks noGrp="1"/>
          </p:cNvSpPr>
          <p:nvPr>
            <p:ph type="sldNum" idx="5" sz="quarter"/>
          </p:nvPr>
        </p:nvSpPr>
        <p:spPr/>
      </p:sp>
    </p:spTree>
  </p:cSld>
  <p:clrMapOvr>
    <a:masterClrMapping/>
  </p:clrMapOvr>
</p:notes>
</file>

<file path=ppt/notesSlides/notesSlide2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Value Chain Positioning</a:t>
            </a:r>
          </a:p>
        </p:txBody>
      </p:sp>
      <p:sp>
        <p:nvSpPr>
          <p:cNvPr id="4" name="Slide Number Placeholder 3"/>
          <p:cNvSpPr>
            <a:spLocks noGrp="1"/>
          </p:cNvSpPr>
          <p:nvPr>
            <p:ph type="sldNum" idx="5" sz="quarter"/>
          </p:nvPr>
        </p:nvSpPr>
        <p:spPr/>
      </p:sp>
    </p:spTree>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Player Landscape</a:t>
            </a:r>
          </a:p>
        </p:txBody>
      </p:sp>
      <p:sp>
        <p:nvSpPr>
          <p:cNvPr id="4" name="Slide Number Placeholder 3"/>
          <p:cNvSpPr>
            <a:spLocks noGrp="1"/>
          </p:cNvSpPr>
          <p:nvPr>
            <p:ph type="sldNum" idx="5" sz="quarter"/>
          </p:nvPr>
        </p:nvSpPr>
        <p:spPr/>
      </p:sp>
    </p:spTree>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Corporate Scorecard</a:t>
            </a:r>
          </a:p>
        </p:txBody>
      </p:sp>
      <p:sp>
        <p:nvSpPr>
          <p:cNvPr id="4" name="Slide Number Placeholder 3"/>
          <p:cNvSpPr>
            <a:spLocks noGrp="1"/>
          </p:cNvSpPr>
          <p:nvPr>
            <p:ph type="sldNum" idx="5" sz="quarter"/>
          </p:nvPr>
        </p:nvSpPr>
        <p:spPr/>
      </p:sp>
    </p:spTree>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Offering Scorecard</a:t>
            </a:r>
          </a:p>
        </p:txBody>
      </p:sp>
      <p:sp>
        <p:nvSpPr>
          <p:cNvPr id="4" name="Slide Number Placeholder 3"/>
          <p:cNvSpPr>
            <a:spLocks noGrp="1"/>
          </p:cNvSpPr>
          <p:nvPr>
            <p:ph type="sldNum" idx="5" sz="quarter"/>
          </p:nvPr>
        </p:nvSpPr>
        <p:spPr/>
      </p:sp>
    </p:spTree>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Execution Scorecard</a:t>
            </a:r>
          </a:p>
        </p:txBody>
      </p:sp>
      <p:sp>
        <p:nvSpPr>
          <p:cNvPr id="4" name="Slide Number Placeholder 3"/>
          <p:cNvSpPr>
            <a:spLocks noGrp="1"/>
          </p:cNvSpPr>
          <p:nvPr>
            <p:ph type="sldNum" idx="5" sz="quarter"/>
          </p:nvPr>
        </p:nvSpPr>
        <p:spPr/>
      </p:sp>
    </p:spTree>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Success Factors</a:t>
            </a:r>
          </a:p>
        </p:txBody>
      </p:sp>
      <p:sp>
        <p:nvSpPr>
          <p:cNvPr id="4" name="Slide Number Placeholder 3"/>
          <p:cNvSpPr>
            <a:spLocks noGrp="1"/>
          </p:cNvSpPr>
          <p:nvPr>
            <p:ph type="sldNum" idx="5" sz="quarter"/>
          </p:nvPr>
        </p:nvSpPr>
        <p:spPr/>
      </p:sp>
    </p:spTree>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Strategic Activity Tracker</a:t>
            </a:r>
          </a:p>
        </p:txBody>
      </p:sp>
      <p:sp>
        <p:nvSpPr>
          <p:cNvPr id="4" name="Slide Number Placeholder 3"/>
          <p:cNvSpPr>
            <a:spLocks noGrp="1"/>
          </p:cNvSpPr>
          <p:nvPr>
            <p:ph type="sldNum" idx="5" sz="quarter"/>
          </p:nvPr>
        </p:nvSpPr>
        <p:spPr/>
      </p:sp>
    </p:spTree>
  </p:cSld>
  <p:clrMapOvr>
    <a:masterClrMapping/>
  </p:clrMapOvr>
</p:notes>
</file>

<file path=ppt/notesSlides/notesSlide2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Strategic Activity by Function</a:t>
            </a:r>
          </a:p>
        </p:txBody>
      </p:sp>
      <p:sp>
        <p:nvSpPr>
          <p:cNvPr id="4" name="Slide Number Placeholder 3"/>
          <p:cNvSpPr>
            <a:spLocks noGrp="1"/>
          </p:cNvSpPr>
          <p:nvPr>
            <p:ph type="sldNum" idx="5" sz="quarter"/>
          </p:nvPr>
        </p:nvSpPr>
        <p:spPr/>
      </p:sp>
    </p:spTree>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Industry Structure Landscape  (1/2)</a:t>
            </a:r>
          </a:p>
        </p:txBody>
      </p:sp>
      <p:sp>
        <p:nvSpPr>
          <p:cNvPr id="4" name="Slide Number Placeholder 3"/>
          <p:cNvSpPr>
            <a:spLocks noGrp="1"/>
          </p:cNvSpPr>
          <p:nvPr>
            <p:ph type="sldNum" idx="5" sz="quarter"/>
          </p:nvPr>
        </p:nvSpPr>
        <p:spPr/>
      </p:sp>
    </p:spTree>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Industry Structure Landscape  (2/2)</a:t>
            </a:r>
          </a:p>
        </p:txBody>
      </p:sp>
      <p:sp>
        <p:nvSpPr>
          <p:cNvPr id="4" name="Slide Number Placeholder 3"/>
          <p:cNvSpPr>
            <a:spLocks noGrp="1"/>
          </p:cNvSpPr>
          <p:nvPr>
            <p:ph type="sldNum" idx="5" sz="quarter"/>
          </p:nvPr>
        </p:nvSpPr>
        <p:spPr/>
      </p:sp>
    </p:spTree>
  </p:cSld>
  <p:clrMapOvr>
    <a:masterClrMapping/>
  </p:clrMapOvr>
</p:notes>
</file>

<file path=ppt/notesSlides/notesSlide2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Competitive Landscape Competitive Dashboard</a:t>
            </a:r>
          </a:p>
        </p:txBody>
      </p:sp>
      <p:sp>
        <p:nvSpPr>
          <p:cNvPr id="4" name="Slide Number Placeholder 3"/>
          <p:cNvSpPr>
            <a:spLocks noGrp="1"/>
          </p:cNvSpPr>
          <p:nvPr>
            <p:ph type="sldNum" idx="5" sz="quarter"/>
          </p:nvPr>
        </p:nvSpPr>
        <p:spPr/>
      </p:sp>
    </p:spTree>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Market Share by Leading Players Advice for Vendors &amp; Suppliers</a:t>
            </a:r>
          </a:p>
        </p:txBody>
      </p:sp>
      <p:sp>
        <p:nvSpPr>
          <p:cNvPr id="4" name="Slide Number Placeholder 3"/>
          <p:cNvSpPr>
            <a:spLocks noGrp="1"/>
          </p:cNvSpPr>
          <p:nvPr>
            <p:ph type="sldNum" idx="5" sz="quarter"/>
          </p:nvPr>
        </p:nvSpPr>
        <p:spPr/>
      </p:sp>
    </p:spTree>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Market Share by Leading Players Company Value Share</a:t>
            </a:r>
          </a:p>
        </p:txBody>
      </p:sp>
      <p:sp>
        <p:nvSpPr>
          <p:cNvPr id="4" name="Slide Number Placeholder 3"/>
          <p:cNvSpPr>
            <a:spLocks noGrp="1"/>
          </p:cNvSpPr>
          <p:nvPr>
            <p:ph type="sldNum" idx="5" sz="quarter"/>
          </p:nvPr>
        </p:nvSpPr>
        <p:spPr/>
      </p:sp>
    </p:spTree>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Market Share by Leading Players Company Share by Product Type</a:t>
            </a:r>
          </a:p>
        </p:txBody>
      </p:sp>
      <p:sp>
        <p:nvSpPr>
          <p:cNvPr id="4" name="Slide Number Placeholder 3"/>
          <p:cNvSpPr>
            <a:spLocks noGrp="1"/>
          </p:cNvSpPr>
          <p:nvPr>
            <p:ph type="sldNum" idx="5" sz="quarter"/>
          </p:nvPr>
        </p:nvSpPr>
        <p:spPr/>
      </p:sp>
    </p:spTree>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Market Share by Leading Players Company Share by Region</a:t>
            </a:r>
          </a:p>
        </p:txBody>
      </p:sp>
      <p:sp>
        <p:nvSpPr>
          <p:cNvPr id="4" name="Slide Number Placeholder 3"/>
          <p:cNvSpPr>
            <a:spLocks noGrp="1"/>
          </p:cNvSpPr>
          <p:nvPr>
            <p:ph type="sldNum" idx="5" sz="quarter"/>
          </p:nvPr>
        </p:nvSpPr>
        <p:spPr/>
      </p:sp>
    </p:spTree>
  </p:cSld>
  <p:clrMapOvr>
    <a:masterClrMapping/>
  </p:clrMapOvr>
</p:notes>
</file>

<file path=ppt/notesSlides/notesSlide3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Market Share by Leading Players Who Shaped Growth</a:t>
            </a:r>
          </a:p>
        </p:txBody>
      </p:sp>
      <p:sp>
        <p:nvSpPr>
          <p:cNvPr id="4" name="Slide Number Placeholder 3"/>
          <p:cNvSpPr>
            <a:spLocks noGrp="1"/>
          </p:cNvSpPr>
          <p:nvPr>
            <p:ph type="sldNum" idx="5" sz="quarter"/>
          </p:nvPr>
        </p:nvSpPr>
        <p:spPr/>
      </p:sp>
    </p:spTree>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Company Profiles &amp; Strategic Benchmarking Jade Leaf Matcha Snapshot</a:t>
            </a:r>
          </a:p>
        </p:txBody>
      </p:sp>
      <p:sp>
        <p:nvSpPr>
          <p:cNvPr id="4" name="Slide Number Placeholder 3"/>
          <p:cNvSpPr>
            <a:spLocks noGrp="1"/>
          </p:cNvSpPr>
          <p:nvPr>
            <p:ph type="sldNum" idx="5" sz="quarter"/>
          </p:nvPr>
        </p:nvSpPr>
        <p:spPr/>
      </p:sp>
    </p:spTree>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Company Profiles &amp; Strategic Benchmarking Jade Leaf Matcha Penetration &amp; Win</a:t>
            </a:r>
          </a:p>
        </p:txBody>
      </p:sp>
      <p:sp>
        <p:nvSpPr>
          <p:cNvPr id="4" name="Slide Number Placeholder 3"/>
          <p:cNvSpPr>
            <a:spLocks noGrp="1"/>
          </p:cNvSpPr>
          <p:nvPr>
            <p:ph type="sldNum" idx="5" sz="quarter"/>
          </p:nvPr>
        </p:nvSpPr>
        <p:spPr/>
      </p:sp>
    </p:spTree>
  </p:cSld>
  <p:clrMapOvr>
    <a:masterClrMapping/>
  </p:clrMapOvr>
</p:notes>
</file>

<file path=ppt/notesSlides/notesSlide3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Company Profiles &amp; Strategic Benchmarking Jade Leaf Matcha SWOT Analysis</a:t>
            </a:r>
          </a:p>
        </p:txBody>
      </p:sp>
      <p:sp>
        <p:nvSpPr>
          <p:cNvPr id="4" name="Slide Number Placeholder 3"/>
          <p:cNvSpPr>
            <a:spLocks noGrp="1"/>
          </p:cNvSpPr>
          <p:nvPr>
            <p:ph type="sldNum" idx="5" sz="quarter"/>
          </p:nvPr>
        </p:nvSpPr>
        <p:spPr/>
      </p:sp>
    </p:spTree>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Company Profiles &amp; Strategic Benchmarking Jade Leaf Matcha Key Financials</a:t>
            </a:r>
          </a:p>
        </p:txBody>
      </p:sp>
      <p:sp>
        <p:nvSpPr>
          <p:cNvPr id="4" name="Slide Number Placeholder 3"/>
          <p:cNvSpPr>
            <a:spLocks noGrp="1"/>
          </p:cNvSpPr>
          <p:nvPr>
            <p:ph type="sldNum" idx="5" sz="quarter"/>
          </p:nvPr>
        </p:nvSpPr>
        <p:spPr/>
      </p:sp>
    </p:spTree>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Competitor Company Profiles &amp; Strategic Benchmarking Jade Leaf Matcha Strategy Analysis</a:t>
            </a:r>
          </a:p>
        </p:txBody>
      </p:sp>
      <p:sp>
        <p:nvSpPr>
          <p:cNvPr id="4" name="Slide Number Placeholder 3"/>
          <p:cNvSpPr>
            <a:spLocks noGrp="1"/>
          </p:cNvSpPr>
          <p:nvPr>
            <p:ph type="sldNum" idx="5" sz="quarter"/>
          </p:nvPr>
        </p:nvSpPr>
        <p:spPr/>
      </p:sp>
    </p:spTree>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(1/8)</a:t>
            </a:r>
          </a:p>
        </p:txBody>
      </p:sp>
      <p:sp>
        <p:nvSpPr>
          <p:cNvPr id="4" name="Slide Number Placeholder 3"/>
          <p:cNvSpPr>
            <a:spLocks noGrp="1"/>
          </p:cNvSpPr>
          <p:nvPr>
            <p:ph type="sldNum" idx="5" sz="quarter"/>
          </p:nvPr>
        </p:nvSpPr>
        <p:spPr/>
      </p:sp>
    </p:spTree>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(2/8)</a:t>
            </a:r>
          </a:p>
        </p:txBody>
      </p:sp>
      <p:sp>
        <p:nvSpPr>
          <p:cNvPr id="4" name="Slide Number Placeholder 3"/>
          <p:cNvSpPr>
            <a:spLocks noGrp="1"/>
          </p:cNvSpPr>
          <p:nvPr>
            <p:ph type="sldNum" idx="5" sz="quarter"/>
          </p:nvPr>
        </p:nvSpPr>
        <p:spPr/>
      </p:sp>
    </p:spTree>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(3/8)</a:t>
            </a:r>
          </a:p>
        </p:txBody>
      </p:sp>
      <p:sp>
        <p:nvSpPr>
          <p:cNvPr id="4" name="Slide Number Placeholder 3"/>
          <p:cNvSpPr>
            <a:spLocks noGrp="1"/>
          </p:cNvSpPr>
          <p:nvPr>
            <p:ph type="sldNum" idx="5" sz="quarter"/>
          </p:nvPr>
        </p:nvSpPr>
        <p:spPr/>
      </p:sp>
    </p:spTree>
  </p:cSld>
  <p:clrMapOvr>
    <a:masterClrMapping/>
  </p:clrMapOvr>
</p:notes>
</file>

<file path=ppt/notesSlides/notesSlide3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(4/8)</a:t>
            </a:r>
          </a:p>
        </p:txBody>
      </p:sp>
      <p:sp>
        <p:nvSpPr>
          <p:cNvPr id="4" name="Slide Number Placeholder 3"/>
          <p:cNvSpPr>
            <a:spLocks noGrp="1"/>
          </p:cNvSpPr>
          <p:nvPr>
            <p:ph type="sldNum" idx="5" sz="quarter"/>
          </p:nvPr>
        </p:nvSpPr>
        <p:spPr/>
      </p:sp>
    </p:spTree>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(5/8)</a:t>
            </a:r>
          </a:p>
        </p:txBody>
      </p:sp>
      <p:sp>
        <p:nvSpPr>
          <p:cNvPr id="4" name="Slide Number Placeholder 3"/>
          <p:cNvSpPr>
            <a:spLocks noGrp="1"/>
          </p:cNvSpPr>
          <p:nvPr>
            <p:ph type="sldNum" idx="5" sz="quarter"/>
          </p:nvPr>
        </p:nvSpPr>
        <p:spPr/>
      </p:sp>
    </p:spTree>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(6/8)</a:t>
            </a:r>
          </a:p>
        </p:txBody>
      </p:sp>
      <p:sp>
        <p:nvSpPr>
          <p:cNvPr id="4" name="Slide Number Placeholder 3"/>
          <p:cNvSpPr>
            <a:spLocks noGrp="1"/>
          </p:cNvSpPr>
          <p:nvPr>
            <p:ph type="sldNum" idx="5" sz="quarter"/>
          </p:nvPr>
        </p:nvSpPr>
        <p:spPr/>
      </p:sp>
    </p:spTree>
  </p:cSld>
  <p:clrMapOvr>
    <a:masterClrMapping/>
  </p:clrMapOvr>
</p:notes>
</file>

<file path=ppt/notesSlides/notesSlide3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(7/8)</a:t>
            </a:r>
          </a:p>
        </p:txBody>
      </p:sp>
      <p:sp>
        <p:nvSpPr>
          <p:cNvPr id="4" name="Slide Number Placeholder 3"/>
          <p:cNvSpPr>
            <a:spLocks noGrp="1"/>
          </p:cNvSpPr>
          <p:nvPr>
            <p:ph type="sldNum" idx="5" sz="quarter"/>
          </p:nvPr>
        </p:nvSpPr>
        <p:spPr/>
      </p:sp>
    </p:spTree>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Table of Contents  (8/8)</a:t>
            </a:r>
          </a:p>
        </p:txBody>
      </p:sp>
      <p:sp>
        <p:nvSpPr>
          <p:cNvPr id="4" name="Slide Number Placeholder 3"/>
          <p:cNvSpPr>
            <a:spLocks noGrp="1"/>
          </p:cNvSpPr>
          <p:nvPr>
            <p:ph type="sldNum" idx="5" sz="quarter"/>
          </p:nvPr>
        </p:nvSpPr>
        <p:spPr/>
      </p:sp>
    </p:spTree>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Figures  (1/4)</a:t>
            </a:r>
          </a:p>
        </p:txBody>
      </p:sp>
      <p:sp>
        <p:nvSpPr>
          <p:cNvPr id="4" name="Slide Number Placeholder 3"/>
          <p:cNvSpPr>
            <a:spLocks noGrp="1"/>
          </p:cNvSpPr>
          <p:nvPr>
            <p:ph type="sldNum" idx="5" sz="quarter"/>
          </p:nvPr>
        </p:nvSpPr>
        <p:spPr/>
      </p:sp>
    </p:spTree>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Figures  (2/4)</a:t>
            </a:r>
          </a:p>
        </p:txBody>
      </p:sp>
      <p:sp>
        <p:nvSpPr>
          <p:cNvPr id="4" name="Slide Number Placeholder 3"/>
          <p:cNvSpPr>
            <a:spLocks noGrp="1"/>
          </p:cNvSpPr>
          <p:nvPr>
            <p:ph type="sldNum" idx="5" sz="quarter"/>
          </p:nvPr>
        </p:nvSpPr>
        <p:spPr/>
      </p:sp>
    </p:spTree>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Figures  (3/4)</a:t>
            </a:r>
          </a:p>
        </p:txBody>
      </p:sp>
      <p:sp>
        <p:nvSpPr>
          <p:cNvPr id="4" name="Slide Number Placeholder 3"/>
          <p:cNvSpPr>
            <a:spLocks noGrp="1"/>
          </p:cNvSpPr>
          <p:nvPr>
            <p:ph type="sldNum" idx="5" sz="quarter"/>
          </p:nvPr>
        </p:nvSpPr>
        <p:spPr/>
      </p:sp>
    </p:spTree>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Figures  (4/4)</a:t>
            </a:r>
          </a:p>
        </p:txBody>
      </p:sp>
      <p:sp>
        <p:nvSpPr>
          <p:cNvPr id="4" name="Slide Number Placeholder 3"/>
          <p:cNvSpPr>
            <a:spLocks noGrp="1"/>
          </p:cNvSpPr>
          <p:nvPr>
            <p:ph type="sldNum" idx="5" sz="quarter"/>
          </p:nvPr>
        </p:nvSpPr>
        <p:spPr/>
      </p:sp>
    </p:spTree>
  </p:cSld>
  <p:clrMapOvr>
    <a:masterClrMapping/>
  </p:clrMapOvr>
</p:notes>
</file>

<file path=ppt/notesSlides/notesSlide3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Tables  (1/4)</a:t>
            </a:r>
          </a:p>
        </p:txBody>
      </p:sp>
      <p:sp>
        <p:nvSpPr>
          <p:cNvPr id="4" name="Slide Number Placeholder 3"/>
          <p:cNvSpPr>
            <a:spLocks noGrp="1"/>
          </p:cNvSpPr>
          <p:nvPr>
            <p:ph type="sldNum" idx="5" sz="quarter"/>
          </p:nvPr>
        </p:nvSpPr>
        <p:spPr/>
      </p:sp>
    </p:spTree>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Tables  (2/4)</a:t>
            </a:r>
          </a:p>
        </p:txBody>
      </p:sp>
      <p:sp>
        <p:nvSpPr>
          <p:cNvPr id="4" name="Slide Number Placeholder 3"/>
          <p:cNvSpPr>
            <a:spLocks noGrp="1"/>
          </p:cNvSpPr>
          <p:nvPr>
            <p:ph type="sldNum" idx="5" sz="quarter"/>
          </p:nvPr>
        </p:nvSpPr>
        <p:spPr/>
      </p:sp>
    </p:spTree>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Tables  (3/4)</a:t>
            </a:r>
          </a:p>
        </p:txBody>
      </p:sp>
      <p:sp>
        <p:nvSpPr>
          <p:cNvPr id="4" name="Slide Number Placeholder 3"/>
          <p:cNvSpPr>
            <a:spLocks noGrp="1"/>
          </p:cNvSpPr>
          <p:nvPr>
            <p:ph type="sldNum" idx="5" sz="quarter"/>
          </p:nvPr>
        </p:nvSpPr>
        <p:spPr/>
      </p:sp>
    </p:spTree>
  </p:cSld>
  <p:clrMapOvr>
    <a:masterClrMapping/>
  </p:clrMapOvr>
</p:notes>
</file>

<file path=ppt/notesSlides/notesSlide3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Matcha Market List of Tables  (4/4)</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1680755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6143142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606483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7822449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BCAD085-E8A6-8845-BD4E-CB4CCA059FC4}" type="datetimeFigureOut">
              <a:rPr lang="en-US" smtClean="0"/>
              <a:t>1/27/13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9901587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BCAD085-E8A6-8845-BD4E-CB4CCA059FC4}" type="datetimeFigureOut">
              <a:rPr lang="en-US" smtClean="0"/>
              <a:t>1/27/13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7270277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1/27/13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12999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8407265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1/27/13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892369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9109279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CAD085-E8A6-8845-BD4E-CB4CCA059FC4}" type="datetimeFigureOut">
              <a:rPr lang="en-US" smtClean="0"/>
              <a:t>1/27/13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612223792"/>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1/27/13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220997751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091.jpg"/><Relationship Id="rId3" Type="http://schemas.openxmlformats.org/officeDocument/2006/relationships/image" Target="../media/image1092.png"/><Relationship Id="rId4" Type="http://schemas.openxmlformats.org/officeDocument/2006/relationships/image" Target="../media/image1093.png"/><Relationship Id="rId5" Type="http://schemas.openxmlformats.org/officeDocument/2006/relationships/image" Target="../media/image1094.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slide" Target="slide3.xml"/><Relationship Id="rId4" Type="http://schemas.openxmlformats.org/officeDocument/2006/relationships/slide" Target="slide5.xml"/><Relationship Id="rId5" Type="http://schemas.openxmlformats.org/officeDocument/2006/relationships/slide" Target="slide6.xml"/><Relationship Id="rId6" Type="http://schemas.openxmlformats.org/officeDocument/2006/relationships/slide" Target="slide11.xml"/><Relationship Id="rId7" Type="http://schemas.openxmlformats.org/officeDocument/2006/relationships/slide" Target="slide20.xml"/><Relationship Id="rId8" Type="http://schemas.openxmlformats.org/officeDocument/2006/relationships/slide" Target="slide29.xml"/><Relationship Id="rId9" Type="http://schemas.openxmlformats.org/officeDocument/2006/relationships/slide" Target="slide30.xml"/><Relationship Id="rId10" Type="http://schemas.openxmlformats.org/officeDocument/2006/relationships/slide" Target="slide41.xml"/><Relationship Id="rId11" Type="http://schemas.openxmlformats.org/officeDocument/2006/relationships/slide" Target="slide49.xml"/><Relationship Id="rId12" Type="http://schemas.openxmlformats.org/officeDocument/2006/relationships/slide" Target="slide107.xml"/><Relationship Id="rId13" Type="http://schemas.openxmlformats.org/officeDocument/2006/relationships/slide" Target="slide123.xml"/><Relationship Id="rId14" Type="http://schemas.openxmlformats.org/officeDocument/2006/relationships/slide" Target="slide124.xml"/><Relationship Id="rId15" Type="http://schemas.openxmlformats.org/officeDocument/2006/relationships/slide" Target="slide134.xml"/><Relationship Id="rId16" Type="http://schemas.openxmlformats.org/officeDocument/2006/relationships/slide" Target="slide142.xml"/><Relationship Id="rId17" Type="http://schemas.openxmlformats.org/officeDocument/2006/relationships/slide" Target="slide200.xml"/><Relationship Id="rId18" Type="http://schemas.openxmlformats.org/officeDocument/2006/relationships/slide" Target="slide216.xml"/><Relationship Id="rId19" Type="http://schemas.openxmlformats.org/officeDocument/2006/relationships/slide" Target="slide217.xml"/><Relationship Id="rId20" Type="http://schemas.openxmlformats.org/officeDocument/2006/relationships/slide" Target="slide222.xml"/><Relationship Id="rId21" Type="http://schemas.openxmlformats.org/officeDocument/2006/relationships/slide" Target="slide251.xml"/><Relationship Id="rId22" Type="http://schemas.openxmlformats.org/officeDocument/2006/relationships/slide" Target="slide252.xml"/><Relationship Id="rId23" Type="http://schemas.openxmlformats.org/officeDocument/2006/relationships/slide" Target="slide265.xml"/><Relationship Id="rId24" Type="http://schemas.openxmlformats.org/officeDocument/2006/relationships/slide" Target="slide269.xml"/><Relationship Id="rId25" Type="http://schemas.openxmlformats.org/officeDocument/2006/relationships/slide" Target="slide270.xml"/><Relationship Id="rId26" Type="http://schemas.openxmlformats.org/officeDocument/2006/relationships/slide" Target="slide278.xml"/><Relationship Id="rId27" Type="http://schemas.openxmlformats.org/officeDocument/2006/relationships/slide" Target="slide291.xml"/><Relationship Id="rId28" Type="http://schemas.openxmlformats.org/officeDocument/2006/relationships/slide" Target="slide279.xml"/><Relationship Id="rId29" Type="http://schemas.openxmlformats.org/officeDocument/2006/relationships/slide" Target="slide28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1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2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notesSlide" Target="../notesSlides/notesSlide8.xml"/><Relationship Id="rId6"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xml"/><Relationship Id="rId4" Type="http://schemas.openxmlformats.org/officeDocument/2006/relationships/image" Target="../media/image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xml"/><Relationship Id="rId4" Type="http://schemas.openxmlformats.org/officeDocument/2006/relationships/chart" Target="../charts/chart4.xml"/><Relationship Id="rId5" Type="http://schemas.openxmlformats.org/officeDocument/2006/relationships/notesSlide" Target="../notesSlides/notesSlide10.xml"/><Relationship Id="rId6"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xml"/><Relationship Id="rId4" Type="http://schemas.openxmlformats.org/officeDocument/2006/relationships/chart" Target="../charts/chart6.xml"/><Relationship Id="rId5" Type="http://schemas.openxmlformats.org/officeDocument/2006/relationships/notesSlide" Target="../notesSlides/notesSlide11.xml"/><Relationship Id="rId6" Type="http://schemas.openxmlformats.org/officeDocument/2006/relationships/image" Target="../media/image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xml"/><Relationship Id="rId4" Type="http://schemas.openxmlformats.org/officeDocument/2006/relationships/chart" Target="../charts/chart8.xml"/><Relationship Id="rId5" Type="http://schemas.openxmlformats.org/officeDocument/2006/relationships/notesSlide" Target="../notesSlides/notesSlide12.xml"/><Relationship Id="rId6"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xml"/><Relationship Id="rId4"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xml"/><Relationship Id="rId4"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xml"/><Relationship Id="rId4" Type="http://schemas.openxmlformats.org/officeDocument/2006/relationships/notesSlide" Target="../notesSlides/notesSlide15.xml"/><Relationship Id="rId5" Type="http://schemas.openxmlformats.org/officeDocument/2006/relationships/image" Target="../media/image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xml"/><Relationship Id="rId4"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xml"/><Relationship Id="rId4" Type="http://schemas.openxmlformats.org/officeDocument/2006/relationships/notesSlide" Target="../notesSlides/notesSlide17.xml"/><Relationship Id="rId5" Type="http://schemas.openxmlformats.org/officeDocument/2006/relationships/image" Target="../media/image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xml"/><Relationship Id="rId4" Type="http://schemas.openxmlformats.org/officeDocument/2006/relationships/image" Target="../media/image57.png"/><Relationship Id="rId5" Type="http://schemas.openxmlformats.org/officeDocument/2006/relationships/image" Target="../media/image58.png"/><Relationship Id="rId6" Type="http://schemas.openxmlformats.org/officeDocument/2006/relationships/image" Target="../media/image59.png"/><Relationship Id="rId7" Type="http://schemas.openxmlformats.org/officeDocument/2006/relationships/image" Target="../media/image60.png"/><Relationship Id="rId8" Type="http://schemas.openxmlformats.org/officeDocument/2006/relationships/image" Target="../media/image61.png"/><Relationship Id="rId9" Type="http://schemas.openxmlformats.org/officeDocument/2006/relationships/image" Target="../media/image62.png"/><Relationship Id="rId10" Type="http://schemas.openxmlformats.org/officeDocument/2006/relationships/image" Target="../media/image63.png"/><Relationship Id="rId11" Type="http://schemas.openxmlformats.org/officeDocument/2006/relationships/image" Target="../media/image64.png"/><Relationship Id="rId12" Type="http://schemas.openxmlformats.org/officeDocument/2006/relationships/image" Target="../media/image65.png"/><Relationship Id="rId13" Type="http://schemas.openxmlformats.org/officeDocument/2006/relationships/image" Target="../media/image66.png"/><Relationship Id="rId14" Type="http://schemas.openxmlformats.org/officeDocument/2006/relationships/image" Target="../media/image67.png"/><Relationship Id="rId15" Type="http://schemas.openxmlformats.org/officeDocument/2006/relationships/image" Target="../media/image68.png"/><Relationship Id="rId16" Type="http://schemas.openxmlformats.org/officeDocument/2006/relationships/image" Target="../media/image69.png"/><Relationship Id="rId17" Type="http://schemas.openxmlformats.org/officeDocument/2006/relationships/image" Target="../media/image70.png"/><Relationship Id="rId18" Type="http://schemas.openxmlformats.org/officeDocument/2006/relationships/image" Target="../media/image71.png"/><Relationship Id="rId19" Type="http://schemas.openxmlformats.org/officeDocument/2006/relationships/image" Target="../media/image72.png"/><Relationship Id="rId20" Type="http://schemas.openxmlformats.org/officeDocument/2006/relationships/image" Target="../media/image73.png"/><Relationship Id="rId21" Type="http://schemas.openxmlformats.org/officeDocument/2006/relationships/image" Target="../media/image74.png"/><Relationship Id="rId22" Type="http://schemas.openxmlformats.org/officeDocument/2006/relationships/image" Target="../media/image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xml"/><Relationship Id="rId4" Type="http://schemas.openxmlformats.org/officeDocument/2006/relationships/notesSlide" Target="../notesSlides/notesSlide19.xml"/><Relationship Id="rId5" Type="http://schemas.openxmlformats.org/officeDocument/2006/relationships/image" Target="../media/image2.png"/><Relationship Id="rId6" Type="http://schemas.openxmlformats.org/officeDocument/2006/relationships/image" Target="../media/image86.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xml"/><Relationship Id="rId4" Type="http://schemas.openxmlformats.org/officeDocument/2006/relationships/notesSlide" Target="../notesSlides/notesSlide20.xml"/><Relationship Id="rId5" Type="http://schemas.openxmlformats.org/officeDocument/2006/relationships/image" Target="../media/image2.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xml"/><Relationship Id="rId4" Type="http://schemas.openxmlformats.org/officeDocument/2006/relationships/image" Target="../media/image2.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xml"/><Relationship Id="rId4" Type="http://schemas.openxmlformats.org/officeDocument/2006/relationships/image" Target="../media/image2.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notesSlide" Target="../notesSlides/notesSlide2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xml"/><Relationship Id="rId4" Type="http://schemas.openxmlformats.org/officeDocument/2006/relationships/image" Target="../media/image2.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xml"/><Relationship Id="rId4" Type="http://schemas.openxmlformats.org/officeDocument/2006/relationships/image" Target="../media/image100.png"/><Relationship Id="rId5" Type="http://schemas.openxmlformats.org/officeDocument/2006/relationships/image" Target="../media/image101.png"/><Relationship Id="rId6" Type="http://schemas.openxmlformats.org/officeDocument/2006/relationships/image" Target="../media/image65.png"/><Relationship Id="rId7" Type="http://schemas.openxmlformats.org/officeDocument/2006/relationships/image" Target="../media/image102.png"/><Relationship Id="rId8" Type="http://schemas.openxmlformats.org/officeDocument/2006/relationships/image" Target="../media/image103.png"/><Relationship Id="rId9" Type="http://schemas.openxmlformats.org/officeDocument/2006/relationships/image" Target="../media/image62.png"/><Relationship Id="rId10" Type="http://schemas.openxmlformats.org/officeDocument/2006/relationships/image" Target="../media/image2.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xml"/><Relationship Id="rId4" Type="http://schemas.openxmlformats.org/officeDocument/2006/relationships/chart" Target="../charts/chart16.xml"/><Relationship Id="rId5" Type="http://schemas.openxmlformats.org/officeDocument/2006/relationships/notesSlide" Target="../notesSlides/notesSlide26.xml"/><Relationship Id="rId6" Type="http://schemas.openxmlformats.org/officeDocument/2006/relationships/image" Target="../media/image2.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notesSlide" Target="../notesSlides/notesSlide27.xml"/><Relationship Id="rId6" Type="http://schemas.openxmlformats.org/officeDocument/2006/relationships/image" Target="../media/image2.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xml"/><Relationship Id="rId4" Type="http://schemas.openxmlformats.org/officeDocument/2006/relationships/image" Target="../media/image2.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xml"/><Relationship Id="rId4" Type="http://schemas.openxmlformats.org/officeDocument/2006/relationships/notesSlide" Target="../notesSlides/notesSlide30.xml"/><Relationship Id="rId5" Type="http://schemas.openxmlformats.org/officeDocument/2006/relationships/image" Target="../media/image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3.xml"/><Relationship Id="rId4" Type="http://schemas.openxmlformats.org/officeDocument/2006/relationships/image" Target="../media/image120.png"/><Relationship Id="rId5" Type="http://schemas.openxmlformats.org/officeDocument/2006/relationships/image" Target="../media/image121.png"/><Relationship Id="rId6" Type="http://schemas.openxmlformats.org/officeDocument/2006/relationships/image" Target="../media/image74.png"/><Relationship Id="rId7" Type="http://schemas.openxmlformats.org/officeDocument/2006/relationships/image" Target="../media/image122.png"/><Relationship Id="rId8" Type="http://schemas.openxmlformats.org/officeDocument/2006/relationships/image" Target="../media/image55.png"/><Relationship Id="rId9" Type="http://schemas.openxmlformats.org/officeDocument/2006/relationships/image" Target="../media/image68.png"/><Relationship Id="rId10" Type="http://schemas.openxmlformats.org/officeDocument/2006/relationships/image" Target="../media/image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xml"/><Relationship Id="rId4" Type="http://schemas.openxmlformats.org/officeDocument/2006/relationships/chart" Target="../charts/chart21.xml"/><Relationship Id="rId5" Type="http://schemas.openxmlformats.org/officeDocument/2006/relationships/notesSlide" Target="../notesSlides/notesSlide34.xml"/><Relationship Id="rId6" Type="http://schemas.openxmlformats.org/officeDocument/2006/relationships/image" Target="../media/image2.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2.xml"/><Relationship Id="rId4" Type="http://schemas.openxmlformats.org/officeDocument/2006/relationships/chart" Target="../charts/chart23.xml"/><Relationship Id="rId5" Type="http://schemas.openxmlformats.org/officeDocument/2006/relationships/notesSlide" Target="../notesSlides/notesSlide35.xml"/><Relationship Id="rId6" Type="http://schemas.openxmlformats.org/officeDocument/2006/relationships/image" Target="../media/image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7.xml"/><Relationship Id="rId4" Type="http://schemas.openxmlformats.org/officeDocument/2006/relationships/image" Target="../media/image2.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4.xml"/><Relationship Id="rId4" Type="http://schemas.openxmlformats.org/officeDocument/2006/relationships/notesSlide" Target="../notesSlides/notesSlide38.xml"/><Relationship Id="rId5" Type="http://schemas.openxmlformats.org/officeDocument/2006/relationships/image" Target="../media/image2.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1.xml"/><Relationship Id="rId4" Type="http://schemas.openxmlformats.org/officeDocument/2006/relationships/image" Target="../media/image141.png"/><Relationship Id="rId5" Type="http://schemas.openxmlformats.org/officeDocument/2006/relationships/image" Target="../media/image142.png"/><Relationship Id="rId6" Type="http://schemas.openxmlformats.org/officeDocument/2006/relationships/image" Target="../media/image143.png"/><Relationship Id="rId7" Type="http://schemas.openxmlformats.org/officeDocument/2006/relationships/image" Target="../media/image144.png"/><Relationship Id="rId8" Type="http://schemas.openxmlformats.org/officeDocument/2006/relationships/image" Target="../media/image145.png"/><Relationship Id="rId9" Type="http://schemas.openxmlformats.org/officeDocument/2006/relationships/image" Target="../media/image146.png"/><Relationship Id="rId10" Type="http://schemas.openxmlformats.org/officeDocument/2006/relationships/image" Target="../media/image147.png"/><Relationship Id="rId11" Type="http://schemas.openxmlformats.org/officeDocument/2006/relationships/image" Target="../media/image148.png"/><Relationship Id="rId12" Type="http://schemas.openxmlformats.org/officeDocument/2006/relationships/image" Target="../media/image149.png"/><Relationship Id="rId13" Type="http://schemas.openxmlformats.org/officeDocument/2006/relationships/image" Target="../media/image150.png"/><Relationship Id="rId14" Type="http://schemas.openxmlformats.org/officeDocument/2006/relationships/image" Target="../media/image151.png"/><Relationship Id="rId15" Type="http://schemas.openxmlformats.org/officeDocument/2006/relationships/image" Target="../media/image152.png"/><Relationship Id="rId16" Type="http://schemas.openxmlformats.org/officeDocument/2006/relationships/image" Target="../media/image153.png"/><Relationship Id="rId17" Type="http://schemas.openxmlformats.org/officeDocument/2006/relationships/image" Target="../media/image154.png"/><Relationship Id="rId18" Type="http://schemas.openxmlformats.org/officeDocument/2006/relationships/image" Target="../media/image155.png"/><Relationship Id="rId19" Type="http://schemas.openxmlformats.org/officeDocument/2006/relationships/image" Target="../media/image156.png"/><Relationship Id="rId20" Type="http://schemas.openxmlformats.org/officeDocument/2006/relationships/image" Target="../media/image157.png"/><Relationship Id="rId21" Type="http://schemas.openxmlformats.org/officeDocument/2006/relationships/image" Target="../media/image86.png"/><Relationship Id="rId22" Type="http://schemas.openxmlformats.org/officeDocument/2006/relationships/image" Target="../media/image2.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5.xml"/><Relationship Id="rId4" Type="http://schemas.openxmlformats.org/officeDocument/2006/relationships/chart" Target="../charts/chart26.xml"/><Relationship Id="rId5" Type="http://schemas.openxmlformats.org/officeDocument/2006/relationships/notesSlide" Target="../notesSlides/notesSlide42.xml"/><Relationship Id="rId6" Type="http://schemas.openxmlformats.org/officeDocument/2006/relationships/image" Target="../media/image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7.xml"/><Relationship Id="rId4" Type="http://schemas.openxmlformats.org/officeDocument/2006/relationships/chart" Target="../charts/chart28.xml"/><Relationship Id="rId5" Type="http://schemas.openxmlformats.org/officeDocument/2006/relationships/chart" Target="../charts/chart29.xml"/><Relationship Id="rId6" Type="http://schemas.openxmlformats.org/officeDocument/2006/relationships/chart" Target="../charts/chart30.xml"/><Relationship Id="rId7" Type="http://schemas.openxmlformats.org/officeDocument/2006/relationships/notesSlide" Target="../notesSlides/notesSlide43.xml"/><Relationship Id="rId8" Type="http://schemas.openxmlformats.org/officeDocument/2006/relationships/image" Target="../media/image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1.xml"/><Relationship Id="rId4" Type="http://schemas.openxmlformats.org/officeDocument/2006/relationships/chart" Target="../charts/chart32.xml"/><Relationship Id="rId5" Type="http://schemas.openxmlformats.org/officeDocument/2006/relationships/notesSlide" Target="../notesSlides/notesSlide44.xml"/><Relationship Id="rId6" Type="http://schemas.openxmlformats.org/officeDocument/2006/relationships/image" Target="../media/image2.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46.xml"/><Relationship Id="rId4" Type="http://schemas.openxmlformats.org/officeDocument/2006/relationships/image" Target="../media/image2.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3.xml"/><Relationship Id="rId4" Type="http://schemas.openxmlformats.org/officeDocument/2006/relationships/notesSlide" Target="../notesSlides/notesSlide47.xml"/><Relationship Id="rId5" Type="http://schemas.openxmlformats.org/officeDocument/2006/relationships/image" Target="../media/image2.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0.xml"/><Relationship Id="rId4" Type="http://schemas.openxmlformats.org/officeDocument/2006/relationships/image" Target="../media/image211.png"/><Relationship Id="rId5" Type="http://schemas.openxmlformats.org/officeDocument/2006/relationships/image" Target="../media/image212.png"/><Relationship Id="rId6" Type="http://schemas.openxmlformats.org/officeDocument/2006/relationships/image" Target="../media/image213.png"/><Relationship Id="rId7" Type="http://schemas.openxmlformats.org/officeDocument/2006/relationships/image" Target="../media/image214.png"/><Relationship Id="rId8" Type="http://schemas.openxmlformats.org/officeDocument/2006/relationships/image" Target="../media/image215.png"/><Relationship Id="rId9" Type="http://schemas.openxmlformats.org/officeDocument/2006/relationships/image" Target="../media/image62.png"/><Relationship Id="rId10" Type="http://schemas.openxmlformats.org/officeDocument/2006/relationships/image" Target="../media/image216.png"/><Relationship Id="rId11" Type="http://schemas.openxmlformats.org/officeDocument/2006/relationships/image" Target="../media/image217.png"/><Relationship Id="rId12" Type="http://schemas.openxmlformats.org/officeDocument/2006/relationships/image" Target="../media/image218.png"/><Relationship Id="rId13" Type="http://schemas.openxmlformats.org/officeDocument/2006/relationships/image" Target="../media/image219.png"/><Relationship Id="rId14" Type="http://schemas.openxmlformats.org/officeDocument/2006/relationships/image" Target="../media/image220.png"/><Relationship Id="rId15" Type="http://schemas.openxmlformats.org/officeDocument/2006/relationships/image" Target="../media/image221.png"/><Relationship Id="rId16" Type="http://schemas.openxmlformats.org/officeDocument/2006/relationships/image" Target="../media/image222.png"/><Relationship Id="rId17" Type="http://schemas.openxmlformats.org/officeDocument/2006/relationships/image" Target="../media/image223.png"/><Relationship Id="rId18" Type="http://schemas.openxmlformats.org/officeDocument/2006/relationships/image" Target="../media/image224.png"/><Relationship Id="rId19" Type="http://schemas.openxmlformats.org/officeDocument/2006/relationships/image" Target="../media/image225.png"/><Relationship Id="rId20" Type="http://schemas.openxmlformats.org/officeDocument/2006/relationships/image" Target="../media/image226.png"/><Relationship Id="rId21" Type="http://schemas.openxmlformats.org/officeDocument/2006/relationships/image" Target="../media/image227.png"/><Relationship Id="rId22" Type="http://schemas.openxmlformats.org/officeDocument/2006/relationships/image" Target="../media/image228.png"/><Relationship Id="rId23" Type="http://schemas.openxmlformats.org/officeDocument/2006/relationships/image" Target="../media/image229.png"/><Relationship Id="rId24" Type="http://schemas.openxmlformats.org/officeDocument/2006/relationships/image" Target="../media/image230.png"/><Relationship Id="rId25" Type="http://schemas.openxmlformats.org/officeDocument/2006/relationships/image" Target="../media/image231.png"/><Relationship Id="rId26" Type="http://schemas.openxmlformats.org/officeDocument/2006/relationships/image" Target="../media/image232.png"/><Relationship Id="rId27" Type="http://schemas.openxmlformats.org/officeDocument/2006/relationships/image" Target="../media/image155.png"/><Relationship Id="rId28" Type="http://schemas.openxmlformats.org/officeDocument/2006/relationships/image" Target="../media/image2.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4.xml"/><Relationship Id="rId4" Type="http://schemas.openxmlformats.org/officeDocument/2006/relationships/chart" Target="../charts/chart35.xml"/><Relationship Id="rId5" Type="http://schemas.openxmlformats.org/officeDocument/2006/relationships/notesSlide" Target="../notesSlides/notesSlide51.xml"/><Relationship Id="rId6" Type="http://schemas.openxmlformats.org/officeDocument/2006/relationships/image" Target="../media/image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36.xml"/><Relationship Id="rId4" Type="http://schemas.openxmlformats.org/officeDocument/2006/relationships/chart" Target="../charts/chart37.xml"/><Relationship Id="rId5" Type="http://schemas.openxmlformats.org/officeDocument/2006/relationships/chart" Target="../charts/chart38.xml"/><Relationship Id="rId6" Type="http://schemas.openxmlformats.org/officeDocument/2006/relationships/chart" Target="../charts/chart39.xml"/><Relationship Id="rId7" Type="http://schemas.openxmlformats.org/officeDocument/2006/relationships/notesSlide" Target="../notesSlides/notesSlide52.xml"/><Relationship Id="rId8" Type="http://schemas.openxmlformats.org/officeDocument/2006/relationships/image" Target="../media/image2.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0.xml"/><Relationship Id="rId4" Type="http://schemas.openxmlformats.org/officeDocument/2006/relationships/chart" Target="../charts/chart41.xml"/><Relationship Id="rId5" Type="http://schemas.openxmlformats.org/officeDocument/2006/relationships/chart" Target="../charts/chart42.xml"/><Relationship Id="rId6" Type="http://schemas.openxmlformats.org/officeDocument/2006/relationships/chart" Target="../charts/chart43.xml"/><Relationship Id="rId7" Type="http://schemas.openxmlformats.org/officeDocument/2006/relationships/notesSlide" Target="../notesSlides/notesSlide53.xml"/><Relationship Id="rId8" Type="http://schemas.openxmlformats.org/officeDocument/2006/relationships/image" Target="../media/image2.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5.xml"/><Relationship Id="rId4" Type="http://schemas.openxmlformats.org/officeDocument/2006/relationships/image" Target="../media/image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4.xml"/><Relationship Id="rId4" Type="http://schemas.openxmlformats.org/officeDocument/2006/relationships/notesSlide" Target="../notesSlides/notesSlide56.xml"/><Relationship Id="rId5" Type="http://schemas.openxmlformats.org/officeDocument/2006/relationships/image" Target="../media/image2.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59.xml"/><Relationship Id="rId4" Type="http://schemas.openxmlformats.org/officeDocument/2006/relationships/image" Target="../media/image298.png"/><Relationship Id="rId5" Type="http://schemas.openxmlformats.org/officeDocument/2006/relationships/image" Target="../media/image299.png"/><Relationship Id="rId6" Type="http://schemas.openxmlformats.org/officeDocument/2006/relationships/image" Target="../media/image65.png"/><Relationship Id="rId7" Type="http://schemas.openxmlformats.org/officeDocument/2006/relationships/image" Target="../media/image300.png"/><Relationship Id="rId8" Type="http://schemas.openxmlformats.org/officeDocument/2006/relationships/image" Target="../media/image301.png"/><Relationship Id="rId9" Type="http://schemas.openxmlformats.org/officeDocument/2006/relationships/image" Target="../media/image302.png"/><Relationship Id="rId10" Type="http://schemas.openxmlformats.org/officeDocument/2006/relationships/image" Target="../media/image303.png"/><Relationship Id="rId11" Type="http://schemas.openxmlformats.org/officeDocument/2006/relationships/image" Target="../media/image304.png"/><Relationship Id="rId12" Type="http://schemas.openxmlformats.org/officeDocument/2006/relationships/image" Target="../media/image305.png"/><Relationship Id="rId13" Type="http://schemas.openxmlformats.org/officeDocument/2006/relationships/image" Target="../media/image306.png"/><Relationship Id="rId14" Type="http://schemas.openxmlformats.org/officeDocument/2006/relationships/image" Target="../media/image307.png"/><Relationship Id="rId15" Type="http://schemas.openxmlformats.org/officeDocument/2006/relationships/image" Target="../media/image308.png"/><Relationship Id="rId16" Type="http://schemas.openxmlformats.org/officeDocument/2006/relationships/image" Target="../media/image309.png"/><Relationship Id="rId17" Type="http://schemas.openxmlformats.org/officeDocument/2006/relationships/image" Target="../media/image310.png"/><Relationship Id="rId18" Type="http://schemas.openxmlformats.org/officeDocument/2006/relationships/image" Target="../media/image311.png"/><Relationship Id="rId19" Type="http://schemas.openxmlformats.org/officeDocument/2006/relationships/image" Target="../media/image2.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0.xml"/><Relationship Id="rId4" Type="http://schemas.openxmlformats.org/officeDocument/2006/relationships/image" Target="../media/image312.png"/><Relationship Id="rId5" Type="http://schemas.openxmlformats.org/officeDocument/2006/relationships/image" Target="../media/image313.png"/><Relationship Id="rId6" Type="http://schemas.openxmlformats.org/officeDocument/2006/relationships/image" Target="../media/image314.png"/><Relationship Id="rId7" Type="http://schemas.openxmlformats.org/officeDocument/2006/relationships/image" Target="../media/image315.png"/><Relationship Id="rId8" Type="http://schemas.openxmlformats.org/officeDocument/2006/relationships/image" Target="../media/image316.png"/><Relationship Id="rId9" Type="http://schemas.openxmlformats.org/officeDocument/2006/relationships/image" Target="../media/image317.png"/><Relationship Id="rId10" Type="http://schemas.openxmlformats.org/officeDocument/2006/relationships/image" Target="../media/image318.png"/><Relationship Id="rId11" Type="http://schemas.openxmlformats.org/officeDocument/2006/relationships/image" Target="../media/image319.png"/><Relationship Id="rId12" Type="http://schemas.openxmlformats.org/officeDocument/2006/relationships/image" Target="../media/image137.png"/><Relationship Id="rId13" Type="http://schemas.openxmlformats.org/officeDocument/2006/relationships/image" Target="../media/image320.png"/><Relationship Id="rId14" Type="http://schemas.openxmlformats.org/officeDocument/2006/relationships/image" Target="../media/image311.png"/><Relationship Id="rId15" Type="http://schemas.openxmlformats.org/officeDocument/2006/relationships/image" Target="../media/image2.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5.xml"/><Relationship Id="rId4" Type="http://schemas.openxmlformats.org/officeDocument/2006/relationships/chart" Target="../charts/chart46.xml"/><Relationship Id="rId5" Type="http://schemas.openxmlformats.org/officeDocument/2006/relationships/notesSlide" Target="../notesSlides/notesSlide61.xml"/><Relationship Id="rId6" Type="http://schemas.openxmlformats.org/officeDocument/2006/relationships/image" Target="../media/image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47.xml"/><Relationship Id="rId4" Type="http://schemas.openxmlformats.org/officeDocument/2006/relationships/chart" Target="../charts/chart48.xml"/><Relationship Id="rId5" Type="http://schemas.openxmlformats.org/officeDocument/2006/relationships/chart" Target="../charts/chart49.xml"/><Relationship Id="rId6" Type="http://schemas.openxmlformats.org/officeDocument/2006/relationships/chart" Target="../charts/chart50.xml"/><Relationship Id="rId7" Type="http://schemas.openxmlformats.org/officeDocument/2006/relationships/notesSlide" Target="../notesSlides/notesSlide62.xml"/><Relationship Id="rId8" Type="http://schemas.openxmlformats.org/officeDocument/2006/relationships/image" Target="../media/image2.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1.xml"/><Relationship Id="rId4" Type="http://schemas.openxmlformats.org/officeDocument/2006/relationships/chart" Target="../charts/chart52.xml"/><Relationship Id="rId5" Type="http://schemas.openxmlformats.org/officeDocument/2006/relationships/chart" Target="../charts/chart53.xml"/><Relationship Id="rId6" Type="http://schemas.openxmlformats.org/officeDocument/2006/relationships/chart" Target="../charts/chart54.xml"/><Relationship Id="rId7" Type="http://schemas.openxmlformats.org/officeDocument/2006/relationships/notesSlide" Target="../notesSlides/notesSlide63.xml"/><Relationship Id="rId8" Type="http://schemas.openxmlformats.org/officeDocument/2006/relationships/image" Target="../media/image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5.xml"/><Relationship Id="rId4" Type="http://schemas.openxmlformats.org/officeDocument/2006/relationships/notesSlide" Target="../notesSlides/notesSlide64.xml"/><Relationship Id="rId5" Type="http://schemas.openxmlformats.org/officeDocument/2006/relationships/image" Target="../media/image2.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66.xml"/><Relationship Id="rId4" Type="http://schemas.openxmlformats.org/officeDocument/2006/relationships/image" Target="../media/image2.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6.xml"/><Relationship Id="rId4" Type="http://schemas.openxmlformats.org/officeDocument/2006/relationships/notesSlide" Target="../notesSlides/notesSlide67.xml"/><Relationship Id="rId5" Type="http://schemas.openxmlformats.org/officeDocument/2006/relationships/image" Target="../media/image2.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0.xml"/><Relationship Id="rId4" Type="http://schemas.openxmlformats.org/officeDocument/2006/relationships/image" Target="../media/image391.png"/><Relationship Id="rId5" Type="http://schemas.openxmlformats.org/officeDocument/2006/relationships/image" Target="../media/image392.png"/><Relationship Id="rId6" Type="http://schemas.openxmlformats.org/officeDocument/2006/relationships/image" Target="../media/image65.png"/><Relationship Id="rId7" Type="http://schemas.openxmlformats.org/officeDocument/2006/relationships/image" Target="../media/image393.png"/><Relationship Id="rId8" Type="http://schemas.openxmlformats.org/officeDocument/2006/relationships/image" Target="../media/image394.png"/><Relationship Id="rId9" Type="http://schemas.openxmlformats.org/officeDocument/2006/relationships/image" Target="../media/image395.png"/><Relationship Id="rId10" Type="http://schemas.openxmlformats.org/officeDocument/2006/relationships/image" Target="../media/image396.png"/><Relationship Id="rId11" Type="http://schemas.openxmlformats.org/officeDocument/2006/relationships/image" Target="../media/image397.png"/><Relationship Id="rId12" Type="http://schemas.openxmlformats.org/officeDocument/2006/relationships/image" Target="../media/image398.png"/><Relationship Id="rId13" Type="http://schemas.openxmlformats.org/officeDocument/2006/relationships/image" Target="../media/image399.png"/><Relationship Id="rId14" Type="http://schemas.openxmlformats.org/officeDocument/2006/relationships/image" Target="../media/image400.png"/><Relationship Id="rId15" Type="http://schemas.openxmlformats.org/officeDocument/2006/relationships/image" Target="../media/image401.png"/><Relationship Id="rId16" Type="http://schemas.openxmlformats.org/officeDocument/2006/relationships/image" Target="../media/image402.png"/><Relationship Id="rId17" Type="http://schemas.openxmlformats.org/officeDocument/2006/relationships/image" Target="../media/image403.png"/><Relationship Id="rId18" Type="http://schemas.openxmlformats.org/officeDocument/2006/relationships/image" Target="../media/image404.png"/><Relationship Id="rId19" Type="http://schemas.openxmlformats.org/officeDocument/2006/relationships/image" Target="../media/image2.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7.xml"/><Relationship Id="rId4" Type="http://schemas.openxmlformats.org/officeDocument/2006/relationships/chart" Target="../charts/chart58.xml"/><Relationship Id="rId5" Type="http://schemas.openxmlformats.org/officeDocument/2006/relationships/notesSlide" Target="../notesSlides/notesSlide71.xml"/><Relationship Id="rId6" Type="http://schemas.openxmlformats.org/officeDocument/2006/relationships/image" Target="../media/image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59.xml"/><Relationship Id="rId4" Type="http://schemas.openxmlformats.org/officeDocument/2006/relationships/chart" Target="../charts/chart60.xml"/><Relationship Id="rId5" Type="http://schemas.openxmlformats.org/officeDocument/2006/relationships/chart" Target="../charts/chart61.xml"/><Relationship Id="rId6" Type="http://schemas.openxmlformats.org/officeDocument/2006/relationships/chart" Target="../charts/chart62.xml"/><Relationship Id="rId7" Type="http://schemas.openxmlformats.org/officeDocument/2006/relationships/notesSlide" Target="../notesSlides/notesSlide72.xml"/><Relationship Id="rId8" Type="http://schemas.openxmlformats.org/officeDocument/2006/relationships/image" Target="../media/image2.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3.xml"/><Relationship Id="rId4" Type="http://schemas.openxmlformats.org/officeDocument/2006/relationships/notesSlide" Target="../notesSlides/notesSlide73.xml"/><Relationship Id="rId5" Type="http://schemas.openxmlformats.org/officeDocument/2006/relationships/image" Target="../media/image2.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5.xml"/><Relationship Id="rId4" Type="http://schemas.openxmlformats.org/officeDocument/2006/relationships/image" Target="../media/image2.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4.xml"/><Relationship Id="rId4" Type="http://schemas.openxmlformats.org/officeDocument/2006/relationships/notesSlide" Target="../notesSlides/notesSlide76.xml"/><Relationship Id="rId5" Type="http://schemas.openxmlformats.org/officeDocument/2006/relationships/image" Target="../media/image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79.xml"/><Relationship Id="rId4" Type="http://schemas.openxmlformats.org/officeDocument/2006/relationships/image" Target="../media/image448.png"/><Relationship Id="rId5" Type="http://schemas.openxmlformats.org/officeDocument/2006/relationships/image" Target="../media/image449.png"/><Relationship Id="rId6" Type="http://schemas.openxmlformats.org/officeDocument/2006/relationships/image" Target="../media/image450.png"/><Relationship Id="rId7" Type="http://schemas.openxmlformats.org/officeDocument/2006/relationships/image" Target="../media/image451.png"/><Relationship Id="rId8" Type="http://schemas.openxmlformats.org/officeDocument/2006/relationships/image" Target="../media/image452.png"/><Relationship Id="rId9" Type="http://schemas.openxmlformats.org/officeDocument/2006/relationships/image" Target="../media/image302.png"/><Relationship Id="rId10" Type="http://schemas.openxmlformats.org/officeDocument/2006/relationships/image" Target="../media/image453.png"/><Relationship Id="rId11" Type="http://schemas.openxmlformats.org/officeDocument/2006/relationships/image" Target="../media/image454.png"/><Relationship Id="rId12" Type="http://schemas.openxmlformats.org/officeDocument/2006/relationships/image" Target="../media/image455.png"/><Relationship Id="rId13" Type="http://schemas.openxmlformats.org/officeDocument/2006/relationships/image" Target="../media/image456.png"/><Relationship Id="rId14" Type="http://schemas.openxmlformats.org/officeDocument/2006/relationships/image" Target="../media/image457.png"/><Relationship Id="rId15" Type="http://schemas.openxmlformats.org/officeDocument/2006/relationships/image" Target="../media/image458.png"/><Relationship Id="rId16" Type="http://schemas.openxmlformats.org/officeDocument/2006/relationships/image" Target="../media/image459.png"/><Relationship Id="rId17" Type="http://schemas.openxmlformats.org/officeDocument/2006/relationships/image" Target="../media/image460.png"/><Relationship Id="rId18" Type="http://schemas.openxmlformats.org/officeDocument/2006/relationships/image" Target="../media/image311.png"/><Relationship Id="rId19" Type="http://schemas.openxmlformats.org/officeDocument/2006/relationships/image" Target="../media/image461.png"/><Relationship Id="rId20" Type="http://schemas.openxmlformats.org/officeDocument/2006/relationships/image" Target="../media/image462.png"/><Relationship Id="rId21" Type="http://schemas.openxmlformats.org/officeDocument/2006/relationships/image" Target="../media/image463.png"/><Relationship Id="rId22" Type="http://schemas.openxmlformats.org/officeDocument/2006/relationships/image" Target="../media/image2.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5.xml"/><Relationship Id="rId4" Type="http://schemas.openxmlformats.org/officeDocument/2006/relationships/chart" Target="../charts/chart66.xml"/><Relationship Id="rId5" Type="http://schemas.openxmlformats.org/officeDocument/2006/relationships/notesSlide" Target="../notesSlides/notesSlide80.xml"/><Relationship Id="rId6" Type="http://schemas.openxmlformats.org/officeDocument/2006/relationships/image" Target="../media/image2.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67.xml"/><Relationship Id="rId4" Type="http://schemas.openxmlformats.org/officeDocument/2006/relationships/chart" Target="../charts/chart68.xml"/><Relationship Id="rId5" Type="http://schemas.openxmlformats.org/officeDocument/2006/relationships/chart" Target="../charts/chart69.xml"/><Relationship Id="rId6" Type="http://schemas.openxmlformats.org/officeDocument/2006/relationships/chart" Target="../charts/chart70.xml"/><Relationship Id="rId7" Type="http://schemas.openxmlformats.org/officeDocument/2006/relationships/notesSlide" Target="../notesSlides/notesSlide81.xml"/><Relationship Id="rId8" Type="http://schemas.openxmlformats.org/officeDocument/2006/relationships/image" Target="../media/image2.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1.xml"/><Relationship Id="rId4" Type="http://schemas.openxmlformats.org/officeDocument/2006/relationships/chart" Target="../charts/chart72.xml"/><Relationship Id="rId5" Type="http://schemas.openxmlformats.org/officeDocument/2006/relationships/notesSlide" Target="../notesSlides/notesSlide82.xml"/><Relationship Id="rId6" Type="http://schemas.openxmlformats.org/officeDocument/2006/relationships/image" Target="../media/image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6.xml"/><Relationship Id="rId4" Type="http://schemas.openxmlformats.org/officeDocument/2006/relationships/image" Target="../media/image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87.xml"/><Relationship Id="rId4" Type="http://schemas.openxmlformats.org/officeDocument/2006/relationships/image" Target="../media/image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3.xml"/><Relationship Id="rId4" Type="http://schemas.openxmlformats.org/officeDocument/2006/relationships/notesSlide" Target="../notesSlides/notesSlide88.xml"/><Relationship Id="rId5" Type="http://schemas.openxmlformats.org/officeDocument/2006/relationships/image" Target="../media/image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3.xml"/><Relationship Id="rId4" Type="http://schemas.openxmlformats.org/officeDocument/2006/relationships/image" Target="../media/image509.png"/><Relationship Id="rId5" Type="http://schemas.openxmlformats.org/officeDocument/2006/relationships/image" Target="../media/image510.png"/><Relationship Id="rId6" Type="http://schemas.openxmlformats.org/officeDocument/2006/relationships/image" Target="../media/image221.png"/><Relationship Id="rId7" Type="http://schemas.openxmlformats.org/officeDocument/2006/relationships/image" Target="../media/image511.png"/><Relationship Id="rId8" Type="http://schemas.openxmlformats.org/officeDocument/2006/relationships/image" Target="../media/image512.png"/><Relationship Id="rId9" Type="http://schemas.openxmlformats.org/officeDocument/2006/relationships/image" Target="../media/image62.png"/><Relationship Id="rId10" Type="http://schemas.openxmlformats.org/officeDocument/2006/relationships/image" Target="../media/image513.png"/><Relationship Id="rId11" Type="http://schemas.openxmlformats.org/officeDocument/2006/relationships/image" Target="../media/image514.png"/><Relationship Id="rId12" Type="http://schemas.openxmlformats.org/officeDocument/2006/relationships/image" Target="../media/image59.png"/><Relationship Id="rId13" Type="http://schemas.openxmlformats.org/officeDocument/2006/relationships/image" Target="../media/image515.png"/><Relationship Id="rId14" Type="http://schemas.openxmlformats.org/officeDocument/2006/relationships/image" Target="../media/image516.png"/><Relationship Id="rId15" Type="http://schemas.openxmlformats.org/officeDocument/2006/relationships/image" Target="../media/image450.png"/><Relationship Id="rId16" Type="http://schemas.openxmlformats.org/officeDocument/2006/relationships/image" Target="../media/image517.png"/><Relationship Id="rId17" Type="http://schemas.openxmlformats.org/officeDocument/2006/relationships/image" Target="../media/image518.png"/><Relationship Id="rId18" Type="http://schemas.openxmlformats.org/officeDocument/2006/relationships/image" Target="../media/image305.png"/><Relationship Id="rId19" Type="http://schemas.openxmlformats.org/officeDocument/2006/relationships/image" Target="../media/image519.png"/><Relationship Id="rId20" Type="http://schemas.openxmlformats.org/officeDocument/2006/relationships/image" Target="../media/image456.png"/><Relationship Id="rId21" Type="http://schemas.openxmlformats.org/officeDocument/2006/relationships/image" Target="../media/image308.png"/><Relationship Id="rId22" Type="http://schemas.openxmlformats.org/officeDocument/2006/relationships/image" Target="../media/image520.png"/><Relationship Id="rId23" Type="http://schemas.openxmlformats.org/officeDocument/2006/relationships/image" Target="../media/image521.png"/><Relationship Id="rId24" Type="http://schemas.openxmlformats.org/officeDocument/2006/relationships/image" Target="../media/image74.png"/><Relationship Id="rId25" Type="http://schemas.openxmlformats.org/officeDocument/2006/relationships/image" Target="../media/image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4.xml"/><Relationship Id="rId4" Type="http://schemas.openxmlformats.org/officeDocument/2006/relationships/chart" Target="../charts/chart75.xml"/><Relationship Id="rId5" Type="http://schemas.openxmlformats.org/officeDocument/2006/relationships/notesSlide" Target="../notesSlides/notesSlide94.xml"/><Relationship Id="rId6" Type="http://schemas.openxmlformats.org/officeDocument/2006/relationships/image" Target="../media/image2.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76.xml"/><Relationship Id="rId4" Type="http://schemas.openxmlformats.org/officeDocument/2006/relationships/chart" Target="../charts/chart77.xml"/><Relationship Id="rId5" Type="http://schemas.openxmlformats.org/officeDocument/2006/relationships/chart" Target="../charts/chart78.xml"/><Relationship Id="rId6" Type="http://schemas.openxmlformats.org/officeDocument/2006/relationships/chart" Target="../charts/chart79.xml"/><Relationship Id="rId7" Type="http://schemas.openxmlformats.org/officeDocument/2006/relationships/notesSlide" Target="../notesSlides/notesSlide95.xml"/><Relationship Id="rId8" Type="http://schemas.openxmlformats.org/officeDocument/2006/relationships/image" Target="../media/image2.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0.xml"/><Relationship Id="rId4" Type="http://schemas.openxmlformats.org/officeDocument/2006/relationships/chart" Target="../charts/chart81.xml"/><Relationship Id="rId5" Type="http://schemas.openxmlformats.org/officeDocument/2006/relationships/chart" Target="../charts/chart82.xml"/><Relationship Id="rId6" Type="http://schemas.openxmlformats.org/officeDocument/2006/relationships/notesSlide" Target="../notesSlides/notesSlide96.xml"/><Relationship Id="rId7" Type="http://schemas.openxmlformats.org/officeDocument/2006/relationships/image" Target="../media/image2.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98.xml"/><Relationship Id="rId4" Type="http://schemas.openxmlformats.org/officeDocument/2006/relationships/image" Target="../media/image2.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3.xml"/><Relationship Id="rId4" Type="http://schemas.openxmlformats.org/officeDocument/2006/relationships/notesSlide" Target="../notesSlides/notesSlide99.xml"/><Relationship Id="rId5" Type="http://schemas.openxmlformats.org/officeDocument/2006/relationships/image" Target="../media/image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2.xml"/><Relationship Id="rId4" Type="http://schemas.openxmlformats.org/officeDocument/2006/relationships/image" Target="../media/image2.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4.xml"/><Relationship Id="rId4" Type="http://schemas.openxmlformats.org/officeDocument/2006/relationships/notesSlide" Target="../notesSlides/notesSlide103.xml"/><Relationship Id="rId5" Type="http://schemas.openxmlformats.org/officeDocument/2006/relationships/image" Target="../media/image2.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4.xml"/><Relationship Id="rId4" Type="http://schemas.openxmlformats.org/officeDocument/2006/relationships/image" Target="../media/image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5.xml"/><Relationship Id="rId4" Type="http://schemas.openxmlformats.org/officeDocument/2006/relationships/image" Target="../media/image2.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5.xml"/><Relationship Id="rId4" Type="http://schemas.openxmlformats.org/officeDocument/2006/relationships/notesSlide" Target="../notesSlides/notesSlide106.xml"/><Relationship Id="rId5" Type="http://schemas.openxmlformats.org/officeDocument/2006/relationships/image" Target="../media/image2.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7.xml"/><Relationship Id="rId4" Type="http://schemas.openxmlformats.org/officeDocument/2006/relationships/image" Target="../media/image2.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8.xml"/><Relationship Id="rId4" Type="http://schemas.openxmlformats.org/officeDocument/2006/relationships/image" Target="../media/image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09.xml"/><Relationship Id="rId4" Type="http://schemas.openxmlformats.org/officeDocument/2006/relationships/image" Target="../media/image2.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0.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6.xml"/><Relationship Id="rId4" Type="http://schemas.openxmlformats.org/officeDocument/2006/relationships/notesSlide" Target="../notesSlides/notesSlide111.xml"/><Relationship Id="rId5" Type="http://schemas.openxmlformats.org/officeDocument/2006/relationships/image" Target="../media/image2.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2.xml"/><Relationship Id="rId4" Type="http://schemas.openxmlformats.org/officeDocument/2006/relationships/image" Target="../media/image2.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3.xml"/><Relationship Id="rId4" Type="http://schemas.openxmlformats.org/officeDocument/2006/relationships/image" Target="../media/image2.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4.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7.xml"/><Relationship Id="rId4" Type="http://schemas.openxmlformats.org/officeDocument/2006/relationships/chart" Target="../charts/chart88.xml"/><Relationship Id="rId5" Type="http://schemas.openxmlformats.org/officeDocument/2006/relationships/notesSlide" Target="../notesSlides/notesSlide115.xml"/><Relationship Id="rId6" Type="http://schemas.openxmlformats.org/officeDocument/2006/relationships/image" Target="../media/image2.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16.xml"/><Relationship Id="rId4" Type="http://schemas.openxmlformats.org/officeDocument/2006/relationships/image" Target="../media/image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89.xml"/><Relationship Id="rId4" Type="http://schemas.openxmlformats.org/officeDocument/2006/relationships/chart" Target="../charts/chart90.xml"/><Relationship Id="rId5" Type="http://schemas.openxmlformats.org/officeDocument/2006/relationships/notesSlide" Target="../notesSlides/notesSlide117.xml"/><Relationship Id="rId6" Type="http://schemas.openxmlformats.org/officeDocument/2006/relationships/image" Target="../media/image2.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1.xml"/><Relationship Id="rId4" Type="http://schemas.openxmlformats.org/officeDocument/2006/relationships/chart" Target="../charts/chart92.xml"/><Relationship Id="rId5" Type="http://schemas.openxmlformats.org/officeDocument/2006/relationships/notesSlide" Target="../notesSlides/notesSlide118.xml"/><Relationship Id="rId6" Type="http://schemas.openxmlformats.org/officeDocument/2006/relationships/image" Target="../media/image2.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3.xml"/><Relationship Id="rId4" Type="http://schemas.openxmlformats.org/officeDocument/2006/relationships/chart" Target="../charts/chart94.xml"/><Relationship Id="rId5" Type="http://schemas.openxmlformats.org/officeDocument/2006/relationships/notesSlide" Target="../notesSlides/notesSlide119.xml"/><Relationship Id="rId6" Type="http://schemas.openxmlformats.org/officeDocument/2006/relationships/image" Target="../media/image2.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0.xml"/><Relationship Id="rId4" Type="http://schemas.openxmlformats.org/officeDocument/2006/relationships/image" Target="../media/image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5.xml"/><Relationship Id="rId4" Type="http://schemas.openxmlformats.org/officeDocument/2006/relationships/notesSlide" Target="../notesSlides/notesSlide121.xml"/><Relationship Id="rId5" Type="http://schemas.openxmlformats.org/officeDocument/2006/relationships/image" Target="../media/image2.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2.xml"/><Relationship Id="rId4" Type="http://schemas.openxmlformats.org/officeDocument/2006/relationships/image" Target="../media/image2.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6.xml"/><Relationship Id="rId4" Type="http://schemas.openxmlformats.org/officeDocument/2006/relationships/notesSlide" Target="../notesSlides/notesSlide123.xml"/><Relationship Id="rId5" Type="http://schemas.openxmlformats.org/officeDocument/2006/relationships/image" Target="../media/image2.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4.xml"/><Relationship Id="rId4" Type="http://schemas.openxmlformats.org/officeDocument/2006/relationships/image" Target="../media/image2.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7.xml"/><Relationship Id="rId4" Type="http://schemas.openxmlformats.org/officeDocument/2006/relationships/notesSlide" Target="../notesSlides/notesSlide125.xml"/><Relationship Id="rId5" Type="http://schemas.openxmlformats.org/officeDocument/2006/relationships/image" Target="../media/image2.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8.xml"/><Relationship Id="rId4" Type="http://schemas.openxmlformats.org/officeDocument/2006/relationships/notesSlide" Target="../notesSlides/notesSlide126.xml"/><Relationship Id="rId5" Type="http://schemas.openxmlformats.org/officeDocument/2006/relationships/image" Target="../media/image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7.xml"/><Relationship Id="rId4" Type="http://schemas.openxmlformats.org/officeDocument/2006/relationships/image" Target="../media/image2.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28.xml"/><Relationship Id="rId4" Type="http://schemas.openxmlformats.org/officeDocument/2006/relationships/image" Target="../media/image2.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99.xml"/><Relationship Id="rId4" Type="http://schemas.openxmlformats.org/officeDocument/2006/relationships/chart" Target="../charts/chart100.xml"/><Relationship Id="rId5" Type="http://schemas.openxmlformats.org/officeDocument/2006/relationships/notesSlide" Target="../notesSlides/notesSlide129.xml"/><Relationship Id="rId6" Type="http://schemas.openxmlformats.org/officeDocument/2006/relationships/image" Target="../media/image2.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0.xml"/><Relationship Id="rId4" Type="http://schemas.openxmlformats.org/officeDocument/2006/relationships/image" Target="../media/image2.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1.xml"/><Relationship Id="rId4" Type="http://schemas.openxmlformats.org/officeDocument/2006/relationships/image" Target="../media/image692.png"/><Relationship Id="rId5" Type="http://schemas.openxmlformats.org/officeDocument/2006/relationships/image" Target="../media/image693.png"/><Relationship Id="rId6" Type="http://schemas.openxmlformats.org/officeDocument/2006/relationships/image" Target="../media/image694.png"/><Relationship Id="rId7" Type="http://schemas.openxmlformats.org/officeDocument/2006/relationships/image" Target="../media/image695.png"/><Relationship Id="rId8" Type="http://schemas.openxmlformats.org/officeDocument/2006/relationships/image" Target="../media/image696.png"/><Relationship Id="rId9" Type="http://schemas.openxmlformats.org/officeDocument/2006/relationships/image" Target="../media/image308.png"/><Relationship Id="rId10" Type="http://schemas.openxmlformats.org/officeDocument/2006/relationships/image" Target="../media/image2.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1.xml"/><Relationship Id="rId4" Type="http://schemas.openxmlformats.org/officeDocument/2006/relationships/chart" Target="../charts/chart102.xml"/><Relationship Id="rId5" Type="http://schemas.openxmlformats.org/officeDocument/2006/relationships/notesSlide" Target="../notesSlides/notesSlide132.xml"/><Relationship Id="rId6" Type="http://schemas.openxmlformats.org/officeDocument/2006/relationships/image" Target="../media/image2.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3.xml"/><Relationship Id="rId4" Type="http://schemas.openxmlformats.org/officeDocument/2006/relationships/chart" Target="../charts/chart104.xml"/><Relationship Id="rId5" Type="http://schemas.openxmlformats.org/officeDocument/2006/relationships/notesSlide" Target="../notesSlides/notesSlide133.xml"/><Relationship Id="rId6" Type="http://schemas.openxmlformats.org/officeDocument/2006/relationships/image" Target="../media/image2.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5.xml"/><Relationship Id="rId4" Type="http://schemas.openxmlformats.org/officeDocument/2006/relationships/image" Target="../media/image2.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5.xml"/><Relationship Id="rId4" Type="http://schemas.openxmlformats.org/officeDocument/2006/relationships/notesSlide" Target="../notesSlides/notesSlide136.xml"/><Relationship Id="rId5" Type="http://schemas.openxmlformats.org/officeDocument/2006/relationships/image" Target="../media/image2.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39.xml"/><Relationship Id="rId4" Type="http://schemas.openxmlformats.org/officeDocument/2006/relationships/image" Target="../media/image707.png"/><Relationship Id="rId5" Type="http://schemas.openxmlformats.org/officeDocument/2006/relationships/image" Target="../media/image708.png"/><Relationship Id="rId6" Type="http://schemas.openxmlformats.org/officeDocument/2006/relationships/image" Target="../media/image152.png"/><Relationship Id="rId7" Type="http://schemas.openxmlformats.org/officeDocument/2006/relationships/image" Target="../media/image709.png"/><Relationship Id="rId8" Type="http://schemas.openxmlformats.org/officeDocument/2006/relationships/image" Target="../media/image618.png"/><Relationship Id="rId9" Type="http://schemas.openxmlformats.org/officeDocument/2006/relationships/image" Target="../media/image710.png"/><Relationship Id="rId10" Type="http://schemas.openxmlformats.org/officeDocument/2006/relationships/image" Target="../media/image2.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6.xml"/><Relationship Id="rId4" Type="http://schemas.openxmlformats.org/officeDocument/2006/relationships/chart" Target="../charts/chart107.xml"/><Relationship Id="rId5" Type="http://schemas.openxmlformats.org/officeDocument/2006/relationships/notesSlide" Target="../notesSlides/notesSlide140.xml"/><Relationship Id="rId6" Type="http://schemas.openxmlformats.org/officeDocument/2006/relationships/image" Target="../media/image2.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08.xml"/><Relationship Id="rId4" Type="http://schemas.openxmlformats.org/officeDocument/2006/relationships/chart" Target="../charts/chart109.xml"/><Relationship Id="rId5" Type="http://schemas.openxmlformats.org/officeDocument/2006/relationships/notesSlide" Target="../notesSlides/notesSlide141.xml"/><Relationship Id="rId6" Type="http://schemas.openxmlformats.org/officeDocument/2006/relationships/image" Target="../media/image2.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3.xml"/><Relationship Id="rId4" Type="http://schemas.openxmlformats.org/officeDocument/2006/relationships/image" Target="../media/image2.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0.xml"/><Relationship Id="rId4" Type="http://schemas.openxmlformats.org/officeDocument/2006/relationships/notesSlide" Target="../notesSlides/notesSlide144.xml"/><Relationship Id="rId5" Type="http://schemas.openxmlformats.org/officeDocument/2006/relationships/image" Target="../media/image2.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47.xml"/><Relationship Id="rId4" Type="http://schemas.openxmlformats.org/officeDocument/2006/relationships/image" Target="../media/image721.png"/><Relationship Id="rId5" Type="http://schemas.openxmlformats.org/officeDocument/2006/relationships/image" Target="../media/image722.png"/><Relationship Id="rId6" Type="http://schemas.openxmlformats.org/officeDocument/2006/relationships/image" Target="../media/image155.png"/><Relationship Id="rId7" Type="http://schemas.openxmlformats.org/officeDocument/2006/relationships/image" Target="../media/image723.png"/><Relationship Id="rId8" Type="http://schemas.openxmlformats.org/officeDocument/2006/relationships/image" Target="../media/image724.png"/><Relationship Id="rId9" Type="http://schemas.openxmlformats.org/officeDocument/2006/relationships/image" Target="../media/image725.png"/><Relationship Id="rId10" Type="http://schemas.openxmlformats.org/officeDocument/2006/relationships/image" Target="../media/image726.png"/><Relationship Id="rId11" Type="http://schemas.openxmlformats.org/officeDocument/2006/relationships/image" Target="../media/image727.png"/><Relationship Id="rId12" Type="http://schemas.openxmlformats.org/officeDocument/2006/relationships/image" Target="../media/image728.png"/><Relationship Id="rId13" Type="http://schemas.openxmlformats.org/officeDocument/2006/relationships/image" Target="../media/image729.png"/><Relationship Id="rId14" Type="http://schemas.openxmlformats.org/officeDocument/2006/relationships/image" Target="../media/image730.png"/><Relationship Id="rId15" Type="http://schemas.openxmlformats.org/officeDocument/2006/relationships/image" Target="../media/image455.png"/><Relationship Id="rId16" Type="http://schemas.openxmlformats.org/officeDocument/2006/relationships/image" Target="../media/image731.png"/><Relationship Id="rId17" Type="http://schemas.openxmlformats.org/officeDocument/2006/relationships/image" Target="../media/image732.png"/><Relationship Id="rId18" Type="http://schemas.openxmlformats.org/officeDocument/2006/relationships/image" Target="../media/image404.png"/><Relationship Id="rId19" Type="http://schemas.openxmlformats.org/officeDocument/2006/relationships/image" Target="../media/image733.png"/><Relationship Id="rId20" Type="http://schemas.openxmlformats.org/officeDocument/2006/relationships/image" Target="../media/image734.png"/><Relationship Id="rId21" Type="http://schemas.openxmlformats.org/officeDocument/2006/relationships/image" Target="../media/image401.png"/><Relationship Id="rId22" Type="http://schemas.openxmlformats.org/officeDocument/2006/relationships/image" Target="../media/image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1.xml"/><Relationship Id="rId4" Type="http://schemas.openxmlformats.org/officeDocument/2006/relationships/chart" Target="../charts/chart112.xml"/><Relationship Id="rId5" Type="http://schemas.openxmlformats.org/officeDocument/2006/relationships/notesSlide" Target="../notesSlides/notesSlide148.xml"/><Relationship Id="rId6" Type="http://schemas.openxmlformats.org/officeDocument/2006/relationships/image" Target="../media/image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3.xml"/><Relationship Id="rId4" Type="http://schemas.openxmlformats.org/officeDocument/2006/relationships/chart" Target="../charts/chart114.xml"/><Relationship Id="rId5" Type="http://schemas.openxmlformats.org/officeDocument/2006/relationships/chart" Target="../charts/chart115.xml"/><Relationship Id="rId6" Type="http://schemas.openxmlformats.org/officeDocument/2006/relationships/chart" Target="../charts/chart116.xml"/><Relationship Id="rId7" Type="http://schemas.openxmlformats.org/officeDocument/2006/relationships/notesSlide" Target="../notesSlides/notesSlide149.xml"/><Relationship Id="rId8" Type="http://schemas.openxmlformats.org/officeDocument/2006/relationships/image" Target="../media/image2.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7.xml"/><Relationship Id="rId4" Type="http://schemas.openxmlformats.org/officeDocument/2006/relationships/chart" Target="../charts/chart118.xml"/><Relationship Id="rId5" Type="http://schemas.openxmlformats.org/officeDocument/2006/relationships/notesSlide" Target="../notesSlides/notesSlide150.xml"/><Relationship Id="rId6" Type="http://schemas.openxmlformats.org/officeDocument/2006/relationships/image" Target="../media/image2.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2.xml"/><Relationship Id="rId4" Type="http://schemas.openxmlformats.org/officeDocument/2006/relationships/image" Target="../media/image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19.xml"/><Relationship Id="rId4" Type="http://schemas.openxmlformats.org/officeDocument/2006/relationships/notesSlide" Target="../notesSlides/notesSlide153.xml"/><Relationship Id="rId5" Type="http://schemas.openxmlformats.org/officeDocument/2006/relationships/image" Target="../media/image2.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56.xml"/><Relationship Id="rId4" Type="http://schemas.openxmlformats.org/officeDocument/2006/relationships/image" Target="../media/image765.png"/><Relationship Id="rId5" Type="http://schemas.openxmlformats.org/officeDocument/2006/relationships/image" Target="../media/image683.png"/><Relationship Id="rId6" Type="http://schemas.openxmlformats.org/officeDocument/2006/relationships/image" Target="../media/image218.png"/><Relationship Id="rId7" Type="http://schemas.openxmlformats.org/officeDocument/2006/relationships/image" Target="../media/image766.png"/><Relationship Id="rId8" Type="http://schemas.openxmlformats.org/officeDocument/2006/relationships/image" Target="../media/image767.png"/><Relationship Id="rId9" Type="http://schemas.openxmlformats.org/officeDocument/2006/relationships/image" Target="../media/image768.png"/><Relationship Id="rId10" Type="http://schemas.openxmlformats.org/officeDocument/2006/relationships/image" Target="../media/image769.png"/><Relationship Id="rId11" Type="http://schemas.openxmlformats.org/officeDocument/2006/relationships/image" Target="../media/image770.png"/><Relationship Id="rId12" Type="http://schemas.openxmlformats.org/officeDocument/2006/relationships/image" Target="../media/image771.png"/><Relationship Id="rId13" Type="http://schemas.openxmlformats.org/officeDocument/2006/relationships/image" Target="../media/image772.png"/><Relationship Id="rId14" Type="http://schemas.openxmlformats.org/officeDocument/2006/relationships/image" Target="../media/image773.png"/><Relationship Id="rId15" Type="http://schemas.openxmlformats.org/officeDocument/2006/relationships/image" Target="../media/image774.png"/><Relationship Id="rId16" Type="http://schemas.openxmlformats.org/officeDocument/2006/relationships/image" Target="../media/image775.png"/><Relationship Id="rId17" Type="http://schemas.openxmlformats.org/officeDocument/2006/relationships/image" Target="../media/image776.png"/><Relationship Id="rId18" Type="http://schemas.openxmlformats.org/officeDocument/2006/relationships/image" Target="../media/image68.png"/><Relationship Id="rId19" Type="http://schemas.openxmlformats.org/officeDocument/2006/relationships/image" Target="../media/image777.png"/><Relationship Id="rId20" Type="http://schemas.openxmlformats.org/officeDocument/2006/relationships/image" Target="../media/image778.png"/><Relationship Id="rId21" Type="http://schemas.openxmlformats.org/officeDocument/2006/relationships/image" Target="../media/image463.png"/><Relationship Id="rId22" Type="http://schemas.openxmlformats.org/officeDocument/2006/relationships/image" Target="../media/image779.png"/><Relationship Id="rId23" Type="http://schemas.openxmlformats.org/officeDocument/2006/relationships/image" Target="../media/image780.png"/><Relationship Id="rId24" Type="http://schemas.openxmlformats.org/officeDocument/2006/relationships/image" Target="../media/image71.png"/><Relationship Id="rId25" Type="http://schemas.openxmlformats.org/officeDocument/2006/relationships/image" Target="../media/image781.png"/><Relationship Id="rId26" Type="http://schemas.openxmlformats.org/officeDocument/2006/relationships/image" Target="../media/image782.png"/><Relationship Id="rId27" Type="http://schemas.openxmlformats.org/officeDocument/2006/relationships/image" Target="../media/image783.png"/><Relationship Id="rId28" Type="http://schemas.openxmlformats.org/officeDocument/2006/relationships/image" Target="../media/image2.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0.xml"/><Relationship Id="rId4" Type="http://schemas.openxmlformats.org/officeDocument/2006/relationships/chart" Target="../charts/chart121.xml"/><Relationship Id="rId5" Type="http://schemas.openxmlformats.org/officeDocument/2006/relationships/notesSlide" Target="../notesSlides/notesSlide157.xml"/><Relationship Id="rId6" Type="http://schemas.openxmlformats.org/officeDocument/2006/relationships/image" Target="../media/image2.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2.xml"/><Relationship Id="rId4" Type="http://schemas.openxmlformats.org/officeDocument/2006/relationships/chart" Target="../charts/chart123.xml"/><Relationship Id="rId5" Type="http://schemas.openxmlformats.org/officeDocument/2006/relationships/chart" Target="../charts/chart124.xml"/><Relationship Id="rId6" Type="http://schemas.openxmlformats.org/officeDocument/2006/relationships/chart" Target="../charts/chart125.xml"/><Relationship Id="rId7" Type="http://schemas.openxmlformats.org/officeDocument/2006/relationships/notesSlide" Target="../notesSlides/notesSlide158.xml"/><Relationship Id="rId8" Type="http://schemas.openxmlformats.org/officeDocument/2006/relationships/image" Target="../media/image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26.xml"/><Relationship Id="rId4" Type="http://schemas.openxmlformats.org/officeDocument/2006/relationships/chart" Target="../charts/chart127.xml"/><Relationship Id="rId5" Type="http://schemas.openxmlformats.org/officeDocument/2006/relationships/chart" Target="../charts/chart128.xml"/><Relationship Id="rId6" Type="http://schemas.openxmlformats.org/officeDocument/2006/relationships/chart" Target="../charts/chart129.xml"/><Relationship Id="rId7" Type="http://schemas.openxmlformats.org/officeDocument/2006/relationships/notesSlide" Target="../notesSlides/notesSlide159.xml"/><Relationship Id="rId8" Type="http://schemas.openxmlformats.org/officeDocument/2006/relationships/image" Target="../media/image2.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1.xml"/><Relationship Id="rId4" Type="http://schemas.openxmlformats.org/officeDocument/2006/relationships/image" Target="../media/image2.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0.xml"/><Relationship Id="rId4" Type="http://schemas.openxmlformats.org/officeDocument/2006/relationships/notesSlide" Target="../notesSlides/notesSlide162.xml"/><Relationship Id="rId5" Type="http://schemas.openxmlformats.org/officeDocument/2006/relationships/image" Target="../media/image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5.xml"/><Relationship Id="rId4" Type="http://schemas.openxmlformats.org/officeDocument/2006/relationships/image" Target="../media/image820.png"/><Relationship Id="rId5" Type="http://schemas.openxmlformats.org/officeDocument/2006/relationships/image" Target="../media/image821.png"/><Relationship Id="rId6" Type="http://schemas.openxmlformats.org/officeDocument/2006/relationships/image" Target="../media/image822.png"/><Relationship Id="rId7" Type="http://schemas.openxmlformats.org/officeDocument/2006/relationships/image" Target="../media/image823.png"/><Relationship Id="rId8" Type="http://schemas.openxmlformats.org/officeDocument/2006/relationships/image" Target="../media/image824.png"/><Relationship Id="rId9" Type="http://schemas.openxmlformats.org/officeDocument/2006/relationships/image" Target="../media/image825.png"/><Relationship Id="rId10" Type="http://schemas.openxmlformats.org/officeDocument/2006/relationships/image" Target="../media/image826.png"/><Relationship Id="rId11" Type="http://schemas.openxmlformats.org/officeDocument/2006/relationships/image" Target="../media/image827.png"/><Relationship Id="rId12" Type="http://schemas.openxmlformats.org/officeDocument/2006/relationships/image" Target="../media/image450.png"/><Relationship Id="rId13" Type="http://schemas.openxmlformats.org/officeDocument/2006/relationships/image" Target="../media/image828.png"/><Relationship Id="rId14" Type="http://schemas.openxmlformats.org/officeDocument/2006/relationships/image" Target="../media/image829.png"/><Relationship Id="rId15" Type="http://schemas.openxmlformats.org/officeDocument/2006/relationships/image" Target="../media/image401.png"/><Relationship Id="rId16" Type="http://schemas.openxmlformats.org/officeDocument/2006/relationships/image" Target="../media/image830.png"/><Relationship Id="rId17" Type="http://schemas.openxmlformats.org/officeDocument/2006/relationships/image" Target="../media/image831.png"/><Relationship Id="rId18" Type="http://schemas.openxmlformats.org/officeDocument/2006/relationships/image" Target="../media/image463.png"/><Relationship Id="rId19" Type="http://schemas.openxmlformats.org/officeDocument/2006/relationships/image" Target="../media/image2.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66.xml"/><Relationship Id="rId4" Type="http://schemas.openxmlformats.org/officeDocument/2006/relationships/image" Target="../media/image832.png"/><Relationship Id="rId5" Type="http://schemas.openxmlformats.org/officeDocument/2006/relationships/image" Target="../media/image833.png"/><Relationship Id="rId6" Type="http://schemas.openxmlformats.org/officeDocument/2006/relationships/image" Target="../media/image728.png"/><Relationship Id="rId7" Type="http://schemas.openxmlformats.org/officeDocument/2006/relationships/image" Target="../media/image834.png"/><Relationship Id="rId8" Type="http://schemas.openxmlformats.org/officeDocument/2006/relationships/image" Target="../media/image835.png"/><Relationship Id="rId9" Type="http://schemas.openxmlformats.org/officeDocument/2006/relationships/image" Target="../media/image836.png"/><Relationship Id="rId10" Type="http://schemas.openxmlformats.org/officeDocument/2006/relationships/image" Target="../media/image837.png"/><Relationship Id="rId11" Type="http://schemas.openxmlformats.org/officeDocument/2006/relationships/image" Target="../media/image838.png"/><Relationship Id="rId12" Type="http://schemas.openxmlformats.org/officeDocument/2006/relationships/image" Target="../media/image839.png"/><Relationship Id="rId13" Type="http://schemas.openxmlformats.org/officeDocument/2006/relationships/image" Target="../media/image840.png"/><Relationship Id="rId14" Type="http://schemas.openxmlformats.org/officeDocument/2006/relationships/image" Target="../media/image463.png"/><Relationship Id="rId15" Type="http://schemas.openxmlformats.org/officeDocument/2006/relationships/image" Target="../media/image2.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1.xml"/><Relationship Id="rId4" Type="http://schemas.openxmlformats.org/officeDocument/2006/relationships/chart" Target="../charts/chart132.xml"/><Relationship Id="rId5" Type="http://schemas.openxmlformats.org/officeDocument/2006/relationships/notesSlide" Target="../notesSlides/notesSlide167.xml"/><Relationship Id="rId6" Type="http://schemas.openxmlformats.org/officeDocument/2006/relationships/image" Target="../media/image2.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3.xml"/><Relationship Id="rId4" Type="http://schemas.openxmlformats.org/officeDocument/2006/relationships/chart" Target="../charts/chart134.xml"/><Relationship Id="rId5" Type="http://schemas.openxmlformats.org/officeDocument/2006/relationships/chart" Target="../charts/chart135.xml"/><Relationship Id="rId6" Type="http://schemas.openxmlformats.org/officeDocument/2006/relationships/chart" Target="../charts/chart136.xml"/><Relationship Id="rId7" Type="http://schemas.openxmlformats.org/officeDocument/2006/relationships/notesSlide" Target="../notesSlides/notesSlide168.xml"/><Relationship Id="rId8" Type="http://schemas.openxmlformats.org/officeDocument/2006/relationships/image" Target="../media/image2.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37.xml"/><Relationship Id="rId4" Type="http://schemas.openxmlformats.org/officeDocument/2006/relationships/chart" Target="../charts/chart138.xml"/><Relationship Id="rId5" Type="http://schemas.openxmlformats.org/officeDocument/2006/relationships/chart" Target="../charts/chart139.xml"/><Relationship Id="rId6" Type="http://schemas.openxmlformats.org/officeDocument/2006/relationships/chart" Target="../charts/chart140.xml"/><Relationship Id="rId7" Type="http://schemas.openxmlformats.org/officeDocument/2006/relationships/notesSlide" Target="../notesSlides/notesSlide169.xml"/><Relationship Id="rId8" Type="http://schemas.openxmlformats.org/officeDocument/2006/relationships/image" Target="../media/image2.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1.xml"/><Relationship Id="rId4" Type="http://schemas.openxmlformats.org/officeDocument/2006/relationships/notesSlide" Target="../notesSlides/notesSlide170.xml"/><Relationship Id="rId5" Type="http://schemas.openxmlformats.org/officeDocument/2006/relationships/image" Target="../media/image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2.xml"/><Relationship Id="rId4" Type="http://schemas.openxmlformats.org/officeDocument/2006/relationships/image" Target="../media/image2.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2.xml"/><Relationship Id="rId4" Type="http://schemas.openxmlformats.org/officeDocument/2006/relationships/notesSlide" Target="../notesSlides/notesSlide173.xml"/><Relationship Id="rId5" Type="http://schemas.openxmlformats.org/officeDocument/2006/relationships/image" Target="../media/image2.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76.xml"/><Relationship Id="rId4" Type="http://schemas.openxmlformats.org/officeDocument/2006/relationships/image" Target="../media/image885.png"/><Relationship Id="rId5" Type="http://schemas.openxmlformats.org/officeDocument/2006/relationships/image" Target="../media/image886.png"/><Relationship Id="rId6" Type="http://schemas.openxmlformats.org/officeDocument/2006/relationships/image" Target="../media/image694.png"/><Relationship Id="rId7" Type="http://schemas.openxmlformats.org/officeDocument/2006/relationships/image" Target="../media/image887.png"/><Relationship Id="rId8" Type="http://schemas.openxmlformats.org/officeDocument/2006/relationships/image" Target="../media/image888.png"/><Relationship Id="rId9" Type="http://schemas.openxmlformats.org/officeDocument/2006/relationships/image" Target="../media/image314.png"/><Relationship Id="rId10" Type="http://schemas.openxmlformats.org/officeDocument/2006/relationships/image" Target="../media/image889.png"/><Relationship Id="rId11" Type="http://schemas.openxmlformats.org/officeDocument/2006/relationships/image" Target="../media/image890.png"/><Relationship Id="rId12" Type="http://schemas.openxmlformats.org/officeDocument/2006/relationships/image" Target="../media/image458.png"/><Relationship Id="rId13" Type="http://schemas.openxmlformats.org/officeDocument/2006/relationships/image" Target="../media/image891.png"/><Relationship Id="rId14" Type="http://schemas.openxmlformats.org/officeDocument/2006/relationships/image" Target="../media/image892.png"/><Relationship Id="rId15" Type="http://schemas.openxmlformats.org/officeDocument/2006/relationships/image" Target="../media/image893.png"/><Relationship Id="rId16" Type="http://schemas.openxmlformats.org/officeDocument/2006/relationships/image" Target="../media/image894.png"/><Relationship Id="rId17" Type="http://schemas.openxmlformats.org/officeDocument/2006/relationships/image" Target="../media/image895.png"/><Relationship Id="rId18" Type="http://schemas.openxmlformats.org/officeDocument/2006/relationships/image" Target="../media/image771.png"/><Relationship Id="rId19" Type="http://schemas.openxmlformats.org/officeDocument/2006/relationships/image" Target="../media/image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3.xml"/><Relationship Id="rId4" Type="http://schemas.openxmlformats.org/officeDocument/2006/relationships/chart" Target="../charts/chart144.xml"/><Relationship Id="rId5" Type="http://schemas.openxmlformats.org/officeDocument/2006/relationships/notesSlide" Target="../notesSlides/notesSlide177.xml"/><Relationship Id="rId6" Type="http://schemas.openxmlformats.org/officeDocument/2006/relationships/image" Target="../media/image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5.xml"/><Relationship Id="rId4" Type="http://schemas.openxmlformats.org/officeDocument/2006/relationships/chart" Target="../charts/chart146.xml"/><Relationship Id="rId5" Type="http://schemas.openxmlformats.org/officeDocument/2006/relationships/chart" Target="../charts/chart147.xml"/><Relationship Id="rId6" Type="http://schemas.openxmlformats.org/officeDocument/2006/relationships/chart" Target="../charts/chart148.xml"/><Relationship Id="rId7" Type="http://schemas.openxmlformats.org/officeDocument/2006/relationships/notesSlide" Target="../notesSlides/notesSlide178.xml"/><Relationship Id="rId8" Type="http://schemas.openxmlformats.org/officeDocument/2006/relationships/image" Target="../media/image2.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49.xml"/><Relationship Id="rId4" Type="http://schemas.openxmlformats.org/officeDocument/2006/relationships/notesSlide" Target="../notesSlides/notesSlide179.xml"/><Relationship Id="rId5" Type="http://schemas.openxmlformats.org/officeDocument/2006/relationships/image" Target="../media/image2.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1.xml"/><Relationship Id="rId4" Type="http://schemas.openxmlformats.org/officeDocument/2006/relationships/image" Target="../media/image2.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0.xml"/><Relationship Id="rId4" Type="http://schemas.openxmlformats.org/officeDocument/2006/relationships/notesSlide" Target="../notesSlides/notesSlide182.xml"/><Relationship Id="rId5" Type="http://schemas.openxmlformats.org/officeDocument/2006/relationships/image" Target="../media/image2.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85.xml"/><Relationship Id="rId4" Type="http://schemas.openxmlformats.org/officeDocument/2006/relationships/image" Target="../media/image921.png"/><Relationship Id="rId5" Type="http://schemas.openxmlformats.org/officeDocument/2006/relationships/image" Target="../media/image922.png"/><Relationship Id="rId6" Type="http://schemas.openxmlformats.org/officeDocument/2006/relationships/image" Target="../media/image455.png"/><Relationship Id="rId7" Type="http://schemas.openxmlformats.org/officeDocument/2006/relationships/image" Target="../media/image923.png"/><Relationship Id="rId8" Type="http://schemas.openxmlformats.org/officeDocument/2006/relationships/image" Target="../media/image924.png"/><Relationship Id="rId9" Type="http://schemas.openxmlformats.org/officeDocument/2006/relationships/image" Target="../media/image463.png"/><Relationship Id="rId10" Type="http://schemas.openxmlformats.org/officeDocument/2006/relationships/image" Target="../media/image153.png"/><Relationship Id="rId11" Type="http://schemas.openxmlformats.org/officeDocument/2006/relationships/image" Target="../media/image925.png"/><Relationship Id="rId12" Type="http://schemas.openxmlformats.org/officeDocument/2006/relationships/image" Target="../media/image450.png"/><Relationship Id="rId13" Type="http://schemas.openxmlformats.org/officeDocument/2006/relationships/image" Target="../media/image926.png"/><Relationship Id="rId14" Type="http://schemas.openxmlformats.org/officeDocument/2006/relationships/image" Target="../media/image927.png"/><Relationship Id="rId15" Type="http://schemas.openxmlformats.org/officeDocument/2006/relationships/image" Target="../media/image725.png"/><Relationship Id="rId16" Type="http://schemas.openxmlformats.org/officeDocument/2006/relationships/image" Target="../media/image928.png"/><Relationship Id="rId17" Type="http://schemas.openxmlformats.org/officeDocument/2006/relationships/image" Target="../media/image929.png"/><Relationship Id="rId18" Type="http://schemas.openxmlformats.org/officeDocument/2006/relationships/image" Target="../media/image710.png"/><Relationship Id="rId19" Type="http://schemas.openxmlformats.org/officeDocument/2006/relationships/image" Target="../media/image930.png"/><Relationship Id="rId20" Type="http://schemas.openxmlformats.org/officeDocument/2006/relationships/image" Target="../media/image931.png"/><Relationship Id="rId21" Type="http://schemas.openxmlformats.org/officeDocument/2006/relationships/image" Target="../media/image308.png"/><Relationship Id="rId22" Type="http://schemas.openxmlformats.org/officeDocument/2006/relationships/image" Target="../media/image2.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1.xml"/><Relationship Id="rId4" Type="http://schemas.openxmlformats.org/officeDocument/2006/relationships/chart" Target="../charts/chart152.xml"/><Relationship Id="rId5" Type="http://schemas.openxmlformats.org/officeDocument/2006/relationships/notesSlide" Target="../notesSlides/notesSlide186.xml"/><Relationship Id="rId6" Type="http://schemas.openxmlformats.org/officeDocument/2006/relationships/image" Target="../media/image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3.xml"/><Relationship Id="rId4" Type="http://schemas.openxmlformats.org/officeDocument/2006/relationships/chart" Target="../charts/chart154.xml"/><Relationship Id="rId5" Type="http://schemas.openxmlformats.org/officeDocument/2006/relationships/chart" Target="../charts/chart155.xml"/><Relationship Id="rId6" Type="http://schemas.openxmlformats.org/officeDocument/2006/relationships/chart" Target="../charts/chart156.xml"/><Relationship Id="rId7" Type="http://schemas.openxmlformats.org/officeDocument/2006/relationships/notesSlide" Target="../notesSlides/notesSlide187.xml"/><Relationship Id="rId8" Type="http://schemas.openxmlformats.org/officeDocument/2006/relationships/image" Target="../media/image2.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7.xml"/><Relationship Id="rId4" Type="http://schemas.openxmlformats.org/officeDocument/2006/relationships/chart" Target="../charts/chart158.xml"/><Relationship Id="rId5" Type="http://schemas.openxmlformats.org/officeDocument/2006/relationships/notesSlide" Target="../notesSlides/notesSlide188.xml"/><Relationship Id="rId6" Type="http://schemas.openxmlformats.org/officeDocument/2006/relationships/image" Target="../media/image2.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1.xml"/><Relationship Id="rId4" Type="http://schemas.openxmlformats.org/officeDocument/2006/relationships/image" Target="../media/image2.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2.xml"/><Relationship Id="rId4" Type="http://schemas.openxmlformats.org/officeDocument/2006/relationships/image" Target="../media/image2.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59.xml"/><Relationship Id="rId4" Type="http://schemas.openxmlformats.org/officeDocument/2006/relationships/notesSlide" Target="../notesSlides/notesSlide193.xml"/><Relationship Id="rId5" Type="http://schemas.openxmlformats.org/officeDocument/2006/relationships/image" Target="../media/image2.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198.xml"/><Relationship Id="rId4" Type="http://schemas.openxmlformats.org/officeDocument/2006/relationships/image" Target="../media/image962.png"/><Relationship Id="rId5" Type="http://schemas.openxmlformats.org/officeDocument/2006/relationships/image" Target="../media/image963.png"/><Relationship Id="rId6" Type="http://schemas.openxmlformats.org/officeDocument/2006/relationships/image" Target="../media/image774.png"/><Relationship Id="rId7" Type="http://schemas.openxmlformats.org/officeDocument/2006/relationships/image" Target="../media/image964.png"/><Relationship Id="rId8" Type="http://schemas.openxmlformats.org/officeDocument/2006/relationships/image" Target="../media/image965.png"/><Relationship Id="rId9" Type="http://schemas.openxmlformats.org/officeDocument/2006/relationships/image" Target="../media/image771.png"/><Relationship Id="rId10" Type="http://schemas.openxmlformats.org/officeDocument/2006/relationships/image" Target="../media/image966.png"/><Relationship Id="rId11" Type="http://schemas.openxmlformats.org/officeDocument/2006/relationships/image" Target="../media/image967.png"/><Relationship Id="rId12" Type="http://schemas.openxmlformats.org/officeDocument/2006/relationships/image" Target="../media/image455.png"/><Relationship Id="rId13" Type="http://schemas.openxmlformats.org/officeDocument/2006/relationships/image" Target="../media/image968.png"/><Relationship Id="rId14" Type="http://schemas.openxmlformats.org/officeDocument/2006/relationships/image" Target="../media/image969.png"/><Relationship Id="rId15" Type="http://schemas.openxmlformats.org/officeDocument/2006/relationships/image" Target="../media/image970.png"/><Relationship Id="rId16" Type="http://schemas.openxmlformats.org/officeDocument/2006/relationships/image" Target="../media/image971.png"/><Relationship Id="rId17" Type="http://schemas.openxmlformats.org/officeDocument/2006/relationships/image" Target="../media/image972.png"/><Relationship Id="rId18" Type="http://schemas.openxmlformats.org/officeDocument/2006/relationships/image" Target="../media/image825.png"/><Relationship Id="rId19" Type="http://schemas.openxmlformats.org/officeDocument/2006/relationships/image" Target="../media/image973.png"/><Relationship Id="rId20" Type="http://schemas.openxmlformats.org/officeDocument/2006/relationships/image" Target="../media/image974.png"/><Relationship Id="rId21" Type="http://schemas.openxmlformats.org/officeDocument/2006/relationships/image" Target="../media/image694.png"/><Relationship Id="rId22" Type="http://schemas.openxmlformats.org/officeDocument/2006/relationships/image" Target="../media/image975.png"/><Relationship Id="rId23" Type="http://schemas.openxmlformats.org/officeDocument/2006/relationships/image" Target="../media/image976.png"/><Relationship Id="rId24" Type="http://schemas.openxmlformats.org/officeDocument/2006/relationships/image" Target="../media/image152.png"/><Relationship Id="rId25" Type="http://schemas.openxmlformats.org/officeDocument/2006/relationships/image" Target="../media/image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0.xml"/><Relationship Id="rId4" Type="http://schemas.openxmlformats.org/officeDocument/2006/relationships/chart" Target="../charts/chart161.xml"/><Relationship Id="rId5" Type="http://schemas.openxmlformats.org/officeDocument/2006/relationships/notesSlide" Target="../notesSlides/notesSlide199.xml"/><Relationship Id="rId6" Type="http://schemas.openxmlformats.org/officeDocument/2006/relationships/image" Target="../media/image2.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2.xml"/><Relationship Id="rId4" Type="http://schemas.openxmlformats.org/officeDocument/2006/relationships/chart" Target="../charts/chart163.xml"/><Relationship Id="rId5" Type="http://schemas.openxmlformats.org/officeDocument/2006/relationships/chart" Target="../charts/chart164.xml"/><Relationship Id="rId6" Type="http://schemas.openxmlformats.org/officeDocument/2006/relationships/chart" Target="../charts/chart165.xml"/><Relationship Id="rId7" Type="http://schemas.openxmlformats.org/officeDocument/2006/relationships/notesSlide" Target="../notesSlides/notesSlide200.xml"/><Relationship Id="rId8" Type="http://schemas.openxmlformats.org/officeDocument/2006/relationships/image" Target="../media/image2.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6.xml"/><Relationship Id="rId4" Type="http://schemas.openxmlformats.org/officeDocument/2006/relationships/chart" Target="../charts/chart167.xml"/><Relationship Id="rId5" Type="http://schemas.openxmlformats.org/officeDocument/2006/relationships/chart" Target="../charts/chart168.xml"/><Relationship Id="rId6" Type="http://schemas.openxmlformats.org/officeDocument/2006/relationships/notesSlide" Target="../notesSlides/notesSlide201.xml"/><Relationship Id="rId7" Type="http://schemas.openxmlformats.org/officeDocument/2006/relationships/image" Target="../media/image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3.xml"/><Relationship Id="rId4" Type="http://schemas.openxmlformats.org/officeDocument/2006/relationships/image" Target="../media/image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69.xml"/><Relationship Id="rId4" Type="http://schemas.openxmlformats.org/officeDocument/2006/relationships/notesSlide" Target="../notesSlides/notesSlide204.xml"/><Relationship Id="rId5" Type="http://schemas.openxmlformats.org/officeDocument/2006/relationships/image" Target="../media/image2.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7.xml"/><Relationship Id="rId4" Type="http://schemas.openxmlformats.org/officeDocument/2006/relationships/image" Target="../media/image2.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0.xml"/><Relationship Id="rId4" Type="http://schemas.openxmlformats.org/officeDocument/2006/relationships/notesSlide" Target="../notesSlides/notesSlide208.xml"/><Relationship Id="rId5" Type="http://schemas.openxmlformats.org/officeDocument/2006/relationships/image" Target="../media/image2.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09.xml"/><Relationship Id="rId4" Type="http://schemas.openxmlformats.org/officeDocument/2006/relationships/image" Target="../media/image2.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0.xml"/><Relationship Id="rId4" Type="http://schemas.openxmlformats.org/officeDocument/2006/relationships/image" Target="../media/image2.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1.xml"/><Relationship Id="rId4" Type="http://schemas.openxmlformats.org/officeDocument/2006/relationships/notesSlide" Target="../notesSlides/notesSlide211.xml"/><Relationship Id="rId5" Type="http://schemas.openxmlformats.org/officeDocument/2006/relationships/image" Target="../media/image2.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2.xml"/><Relationship Id="rId4" Type="http://schemas.openxmlformats.org/officeDocument/2006/relationships/image" Target="../media/image2.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3.xml"/><Relationship Id="rId4" Type="http://schemas.openxmlformats.org/officeDocument/2006/relationships/image" Target="../media/image2.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4.xml"/><Relationship Id="rId4" Type="http://schemas.openxmlformats.org/officeDocument/2006/relationships/image" Target="../media/image2.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5.xml"/><Relationship Id="rId4" Type="http://schemas.openxmlformats.org/officeDocument/2006/relationships/image" Target="../media/image2.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2.xml"/><Relationship Id="rId4" Type="http://schemas.openxmlformats.org/officeDocument/2006/relationships/notesSlide" Target="../notesSlides/notesSlide216.xml"/><Relationship Id="rId5" Type="http://schemas.openxmlformats.org/officeDocument/2006/relationships/image" Target="../media/image2.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7.xml"/><Relationship Id="rId4" Type="http://schemas.openxmlformats.org/officeDocument/2006/relationships/image" Target="../media/image2.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8.xml"/><Relationship Id="rId4" Type="http://schemas.openxmlformats.org/officeDocument/2006/relationships/image" Target="../media/image2.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19.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3.xml"/><Relationship Id="rId4" Type="http://schemas.openxmlformats.org/officeDocument/2006/relationships/chart" Target="../charts/chart174.xml"/><Relationship Id="rId5" Type="http://schemas.openxmlformats.org/officeDocument/2006/relationships/chart" Target="../charts/chart175.xml"/><Relationship Id="rId6" Type="http://schemas.openxmlformats.org/officeDocument/2006/relationships/chart" Target="../charts/chart176.xml"/><Relationship Id="rId7" Type="http://schemas.openxmlformats.org/officeDocument/2006/relationships/notesSlide" Target="../notesSlides/notesSlide220.xml"/><Relationship Id="rId8" Type="http://schemas.openxmlformats.org/officeDocument/2006/relationships/image" Target="../media/image2.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77.xml"/><Relationship Id="rId4" Type="http://schemas.openxmlformats.org/officeDocument/2006/relationships/chart" Target="../charts/chart178.xml"/><Relationship Id="rId5" Type="http://schemas.openxmlformats.org/officeDocument/2006/relationships/chart" Target="../charts/chart179.xml"/><Relationship Id="rId6" Type="http://schemas.openxmlformats.org/officeDocument/2006/relationships/chart" Target="../charts/chart180.xml"/><Relationship Id="rId7" Type="http://schemas.openxmlformats.org/officeDocument/2006/relationships/notesSlide" Target="../notesSlides/notesSlide221.xml"/><Relationship Id="rId8" Type="http://schemas.openxmlformats.org/officeDocument/2006/relationships/image" Target="../media/image2.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1.xml"/><Relationship Id="rId4" Type="http://schemas.openxmlformats.org/officeDocument/2006/relationships/chart" Target="../charts/chart182.xml"/><Relationship Id="rId5" Type="http://schemas.openxmlformats.org/officeDocument/2006/relationships/chart" Target="../charts/chart183.xml"/><Relationship Id="rId6" Type="http://schemas.openxmlformats.org/officeDocument/2006/relationships/chart" Target="../charts/chart184.xml"/><Relationship Id="rId7" Type="http://schemas.openxmlformats.org/officeDocument/2006/relationships/chart" Target="../charts/chart185.xml"/><Relationship Id="rId8" Type="http://schemas.openxmlformats.org/officeDocument/2006/relationships/chart" Target="../charts/chart186.xml"/><Relationship Id="rId9" Type="http://schemas.openxmlformats.org/officeDocument/2006/relationships/chart" Target="../charts/chart187.xml"/><Relationship Id="rId10" Type="http://schemas.openxmlformats.org/officeDocument/2006/relationships/chart" Target="../charts/chart188.xml"/><Relationship Id="rId11" Type="http://schemas.openxmlformats.org/officeDocument/2006/relationships/notesSlide" Target="../notesSlides/notesSlide222.xml"/><Relationship Id="rId12" Type="http://schemas.openxmlformats.org/officeDocument/2006/relationships/image" Target="../media/image2.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3.xml"/><Relationship Id="rId4" Type="http://schemas.openxmlformats.org/officeDocument/2006/relationships/image" Target="../media/image2.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89.xml"/><Relationship Id="rId4" Type="http://schemas.openxmlformats.org/officeDocument/2006/relationships/chart" Target="../charts/chart190.xml"/><Relationship Id="rId5" Type="http://schemas.openxmlformats.org/officeDocument/2006/relationships/notesSlide" Target="../notesSlides/notesSlide224.xml"/><Relationship Id="rId6" Type="http://schemas.openxmlformats.org/officeDocument/2006/relationships/image" Target="../media/image2.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5.xml"/><Relationship Id="rId4" Type="http://schemas.openxmlformats.org/officeDocument/2006/relationships/image" Target="../media/image2.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1.xml"/><Relationship Id="rId4" Type="http://schemas.openxmlformats.org/officeDocument/2006/relationships/chart" Target="../charts/chart192.xml"/><Relationship Id="rId5" Type="http://schemas.openxmlformats.org/officeDocument/2006/relationships/notesSlide" Target="../notesSlides/notesSlide227.xml"/><Relationship Id="rId6" Type="http://schemas.openxmlformats.org/officeDocument/2006/relationships/image" Target="../media/image2.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28.xml"/><Relationship Id="rId4" Type="http://schemas.openxmlformats.org/officeDocument/2006/relationships/image" Target="../media/image2.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3.xml"/><Relationship Id="rId4" Type="http://schemas.openxmlformats.org/officeDocument/2006/relationships/chart" Target="../charts/chart194.xml"/><Relationship Id="rId5" Type="http://schemas.openxmlformats.org/officeDocument/2006/relationships/notesSlide" Target="../notesSlides/notesSlide230.xml"/><Relationship Id="rId6" Type="http://schemas.openxmlformats.org/officeDocument/2006/relationships/image" Target="../media/image2.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1.xml"/><Relationship Id="rId4" Type="http://schemas.openxmlformats.org/officeDocument/2006/relationships/image" Target="../media/image2.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5.xml"/><Relationship Id="rId4" Type="http://schemas.openxmlformats.org/officeDocument/2006/relationships/chart" Target="../charts/chart196.xml"/><Relationship Id="rId5" Type="http://schemas.openxmlformats.org/officeDocument/2006/relationships/notesSlide" Target="../notesSlides/notesSlide233.xml"/><Relationship Id="rId6" Type="http://schemas.openxmlformats.org/officeDocument/2006/relationships/image" Target="../media/image2.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35.xml"/><Relationship Id="rId4" Type="http://schemas.openxmlformats.org/officeDocument/2006/relationships/image" Target="../media/image2.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7.xml"/><Relationship Id="rId4" Type="http://schemas.openxmlformats.org/officeDocument/2006/relationships/notesSlide" Target="../notesSlides/notesSlide237.xml"/><Relationship Id="rId5" Type="http://schemas.openxmlformats.org/officeDocument/2006/relationships/image" Target="../media/image2.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8.xml"/><Relationship Id="rId4" Type="http://schemas.openxmlformats.org/officeDocument/2006/relationships/notesSlide" Target="../notesSlides/notesSlide238.xml"/><Relationship Id="rId5" Type="http://schemas.openxmlformats.org/officeDocument/2006/relationships/image" Target="../media/image2.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0.xml"/><Relationship Id="rId4" Type="http://schemas.openxmlformats.org/officeDocument/2006/relationships/image" Target="../media/image2.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199.xml"/><Relationship Id="rId4" Type="http://schemas.openxmlformats.org/officeDocument/2006/relationships/chart" Target="../charts/chart200.xml"/><Relationship Id="rId5" Type="http://schemas.openxmlformats.org/officeDocument/2006/relationships/notesSlide" Target="../notesSlides/notesSlide243.xml"/><Relationship Id="rId6" Type="http://schemas.openxmlformats.org/officeDocument/2006/relationships/image" Target="../media/image2.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4.xml"/><Relationship Id="rId4" Type="http://schemas.openxmlformats.org/officeDocument/2006/relationships/image" Target="../media/image2.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1.xml"/><Relationship Id="rId4" Type="http://schemas.openxmlformats.org/officeDocument/2006/relationships/chart" Target="../charts/chart202.xml"/><Relationship Id="rId5" Type="http://schemas.openxmlformats.org/officeDocument/2006/relationships/notesSlide" Target="../notesSlides/notesSlide246.xml"/><Relationship Id="rId6" Type="http://schemas.openxmlformats.org/officeDocument/2006/relationships/image" Target="../media/image2.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7.xml"/><Relationship Id="rId4" Type="http://schemas.openxmlformats.org/officeDocument/2006/relationships/image" Target="../media/image2.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8.xml"/><Relationship Id="rId4" Type="http://schemas.openxmlformats.org/officeDocument/2006/relationships/image" Target="../media/image2.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49.xml"/><Relationship Id="rId4" Type="http://schemas.openxmlformats.org/officeDocument/2006/relationships/image" Target="../media/image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0.xml"/><Relationship Id="rId4" Type="http://schemas.openxmlformats.org/officeDocument/2006/relationships/image" Target="../media/image2.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3.xml"/><Relationship Id="rId4" Type="http://schemas.openxmlformats.org/officeDocument/2006/relationships/chart" Target="../charts/chart204.xml"/><Relationship Id="rId5" Type="http://schemas.openxmlformats.org/officeDocument/2006/relationships/notesSlide" Target="../notesSlides/notesSlide255.xml"/><Relationship Id="rId6" Type="http://schemas.openxmlformats.org/officeDocument/2006/relationships/image" Target="../media/image2.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7.xml"/><Relationship Id="rId4" Type="http://schemas.openxmlformats.org/officeDocument/2006/relationships/image" Target="../media/image2.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5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0.xml"/><Relationship Id="rId4" Type="http://schemas.openxmlformats.org/officeDocument/2006/relationships/image" Target="../media/image2.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5.xml"/><Relationship Id="rId4" Type="http://schemas.openxmlformats.org/officeDocument/2006/relationships/chart" Target="../charts/chart206.xml"/><Relationship Id="rId5" Type="http://schemas.openxmlformats.org/officeDocument/2006/relationships/notesSlide" Target="../notesSlides/notesSlide261.xml"/><Relationship Id="rId6" Type="http://schemas.openxmlformats.org/officeDocument/2006/relationships/image" Target="../media/image2.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7.xml"/><Relationship Id="rId4" Type="http://schemas.openxmlformats.org/officeDocument/2006/relationships/notesSlide" Target="../notesSlides/notesSlide262.xml"/><Relationship Id="rId5" Type="http://schemas.openxmlformats.org/officeDocument/2006/relationships/image" Target="../media/image2.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8.xml"/><Relationship Id="rId4" Type="http://schemas.openxmlformats.org/officeDocument/2006/relationships/notesSlide" Target="../notesSlides/notesSlide263.xml"/><Relationship Id="rId5" Type="http://schemas.openxmlformats.org/officeDocument/2006/relationships/image" Target="../media/image2.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4.xml"/><Relationship Id="rId4" Type="http://schemas.openxmlformats.org/officeDocument/2006/relationships/image" Target="../media/image2.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5.xml"/><Relationship Id="rId4" Type="http://schemas.openxmlformats.org/officeDocument/2006/relationships/image" Target="../media/image2.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6.xml"/><Relationship Id="rId4" Type="http://schemas.openxmlformats.org/officeDocument/2006/relationships/image" Target="../media/image2.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7.xml"/><Relationship Id="rId4" Type="http://schemas.openxmlformats.org/officeDocument/2006/relationships/image" Target="../media/image2.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8.xml"/><Relationship Id="rId4" Type="http://schemas.openxmlformats.org/officeDocument/2006/relationships/image" Target="../media/image2.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69.xml"/><Relationship Id="rId4" Type="http://schemas.openxmlformats.org/officeDocument/2006/relationships/image" Target="../media/image2.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0.xml"/><Relationship Id="rId4" Type="http://schemas.openxmlformats.org/officeDocument/2006/relationships/image" Target="../media/image2.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1.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2.xml"/><Relationship Id="rId4" Type="http://schemas.openxmlformats.org/officeDocument/2006/relationships/image" Target="../media/image2.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3.xml"/><Relationship Id="rId4" Type="http://schemas.openxmlformats.org/officeDocument/2006/relationships/image" Target="../media/image2.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4.xml"/><Relationship Id="rId4" Type="http://schemas.openxmlformats.org/officeDocument/2006/relationships/image" Target="../media/image2.png"/></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5.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6.xml"/><Relationship Id="rId4" Type="http://schemas.openxmlformats.org/officeDocument/2006/relationships/image" Target="../media/image2.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7.xml"/><Relationship Id="rId4" Type="http://schemas.openxmlformats.org/officeDocument/2006/relationships/image" Target="../media/image2.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8.xml"/><Relationship Id="rId4" Type="http://schemas.openxmlformats.org/officeDocument/2006/relationships/image" Target="../media/image2.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79.xml"/><Relationship Id="rId4" Type="http://schemas.openxmlformats.org/officeDocument/2006/relationships/image" Target="../media/image2.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0.xml"/><Relationship Id="rId4" Type="http://schemas.openxmlformats.org/officeDocument/2006/relationships/image" Target="../media/image2.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1.xml"/><Relationship Id="rId4" Type="http://schemas.openxmlformats.org/officeDocument/2006/relationships/image" Target="../media/image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2.xml"/><Relationship Id="rId4" Type="http://schemas.openxmlformats.org/officeDocument/2006/relationships/image" Target="../media/image2.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3.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7.xml"/><Relationship Id="rId4" Type="http://schemas.openxmlformats.org/officeDocument/2006/relationships/image" Target="../media/image2.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09.xml"/><Relationship Id="rId4" Type="http://schemas.openxmlformats.org/officeDocument/2006/relationships/notesSlide" Target="../notesSlides/notesSlide298.xml"/><Relationship Id="rId5" Type="http://schemas.openxmlformats.org/officeDocument/2006/relationships/image" Target="../media/image2.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0.xml"/><Relationship Id="rId4" Type="http://schemas.openxmlformats.org/officeDocument/2006/relationships/chart" Target="../charts/chart211.xml"/><Relationship Id="rId5" Type="http://schemas.openxmlformats.org/officeDocument/2006/relationships/notesSlide" Target="../notesSlides/notesSlide299.xml"/><Relationship Id="rId6" Type="http://schemas.openxmlformats.org/officeDocument/2006/relationships/image" Target="../media/image2.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2.xml"/><Relationship Id="rId4" Type="http://schemas.openxmlformats.org/officeDocument/2006/relationships/chart" Target="../charts/chart213.xml"/><Relationship Id="rId5" Type="http://schemas.openxmlformats.org/officeDocument/2006/relationships/chart" Target="../charts/chart214.xml"/><Relationship Id="rId6" Type="http://schemas.openxmlformats.org/officeDocument/2006/relationships/notesSlide" Target="../notesSlides/notesSlide300.xml"/><Relationship Id="rId7" Type="http://schemas.openxmlformats.org/officeDocument/2006/relationships/image" Target="../media/image2.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1.xml"/><Relationship Id="rId4" Type="http://schemas.openxmlformats.org/officeDocument/2006/relationships/image" Target="../media/image2.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5.xml"/><Relationship Id="rId4" Type="http://schemas.openxmlformats.org/officeDocument/2006/relationships/chart" Target="../charts/chart216.xml"/><Relationship Id="rId5" Type="http://schemas.openxmlformats.org/officeDocument/2006/relationships/chart" Target="../charts/chart217.xml"/><Relationship Id="rId6" Type="http://schemas.openxmlformats.org/officeDocument/2006/relationships/notesSlide" Target="../notesSlides/notesSlide302.xml"/><Relationship Id="rId7" Type="http://schemas.openxmlformats.org/officeDocument/2006/relationships/image" Target="../media/image2.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chart" Target="../charts/chart218.xml"/><Relationship Id="rId4" Type="http://schemas.openxmlformats.org/officeDocument/2006/relationships/notesSlide" Target="../notesSlides/notesSlide303.xml"/><Relationship Id="rId5" Type="http://schemas.openxmlformats.org/officeDocument/2006/relationships/image" Target="../media/image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4.xml"/><Relationship Id="rId4" Type="http://schemas.openxmlformats.org/officeDocument/2006/relationships/image" Target="../media/image2.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5.xml"/><Relationship Id="rId4" Type="http://schemas.openxmlformats.org/officeDocument/2006/relationships/image" Target="../media/image2.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306.xml"/><Relationship Id="rId4" Type="http://schemas.openxmlformats.org/officeDocument/2006/relationships/image" Target="../media/image2.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4.xml"/><Relationship Id="rId4" Type="http://schemas.openxmlformats.org/officeDocument/2006/relationships/image" Target="../media/image2.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5.xml"/><Relationship Id="rId4" Type="http://schemas.openxmlformats.org/officeDocument/2006/relationships/image" Target="../media/image2.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6.xml"/><Relationship Id="rId4" Type="http://schemas.openxmlformats.org/officeDocument/2006/relationships/image" Target="../media/image2.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7.xml"/><Relationship Id="rId4" Type="http://schemas.openxmlformats.org/officeDocument/2006/relationships/image" Target="../media/image2.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8.xml"/><Relationship Id="rId4" Type="http://schemas.openxmlformats.org/officeDocument/2006/relationships/image" Target="../media/image2.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89.xml"/><Relationship Id="rId4" Type="http://schemas.openxmlformats.org/officeDocument/2006/relationships/image" Target="../media/image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0.xml"/><Relationship Id="rId4" Type="http://schemas.openxmlformats.org/officeDocument/2006/relationships/image" Target="../media/image2.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1.xml"/><Relationship Id="rId4" Type="http://schemas.openxmlformats.org/officeDocument/2006/relationships/image" Target="../media/image2.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2.xml"/><Relationship Id="rId4" Type="http://schemas.openxmlformats.org/officeDocument/2006/relationships/image" Target="../media/image2.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3.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4.xml"/><Relationship Id="rId4" Type="http://schemas.openxmlformats.org/officeDocument/2006/relationships/image" Target="../media/image2.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5.xml"/><Relationship Id="rId4" Type="http://schemas.openxmlformats.org/officeDocument/2006/relationships/image" Target="../media/image2.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 Id="rId3" Type="http://schemas.openxmlformats.org/officeDocument/2006/relationships/notesSlide" Target="../notesSlides/notesSlide296.xml"/><Relationship Id="rId4" Type="http://schemas.openxmlformats.org/officeDocument/2006/relationships/image" Target="../media/image2.png"/></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095.png"/><Relationship Id="rId3" Type="http://schemas.openxmlformats.org/officeDocument/2006/relationships/image" Target="../media/image1096.png"/><Relationship Id="rId4" Type="http://schemas.openxmlformats.org/officeDocument/2006/relationships/image" Target="../media/image1097.png"/><Relationship Id="rId5" Type="http://schemas.openxmlformats.org/officeDocument/2006/relationships/image" Target="../media/image1098.png"/><Relationship Id="rId6" Type="http://schemas.openxmlformats.org/officeDocument/2006/relationships/image" Target="../media/image1099.png"/><Relationship Id="rId7" Type="http://schemas.openxmlformats.org/officeDocument/2006/relationships/image" Target="../media/image1100.png"/><Relationship Id="rId8" Type="http://schemas.openxmlformats.org/officeDocument/2006/relationships/image" Target="../media/image1101.png"/></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id="2" name=""/>
        <p:cNvGrpSpPr/>
        <p:nvPr/>
      </p:nvGrpSpPr>
      <p:grpSpPr/>
      <p:sp>
        <p:nvSpPr>
          <p:cNvPr id="3" name="TextBox 5"/>
          <p:cNvSpPr txBox="1"/>
          <p:nvPr userDrawn="1"/>
        </p:nvSpPr>
        <p:spPr>
          <a:xfrm>
            <a:off x="0" y="2"/>
            <a:ext cx="12192000" cy="6824625"/>
          </a:xfrm>
          <a:prstGeom prst="rect">
            <a:avLst/>
          </a:prstGeom>
          <a:solidFill>
            <a:srgbClr val="FFFFFF"/>
          </a:solidFill>
        </p:spPr>
        <p:txBody>
          <a:bodyPr wrap="square" rtlCol="0">
            <a:spAutoFit/>
          </a:bodyPr>
          <a:lstStyle/>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US" sz="1902" dirty="0"/>
          </a:p>
          <a:p>
            <a:endParaRPr lang="en-IN" sz="1902" dirty="0"/>
          </a:p>
        </p:txBody>
      </p:sp>
      <p:pic>
        <p:nvPicPr>
          <p:cNvPr id="4" name="Picture 7"/>
          <p:cNvPicPr>
            <a:picLocks noChangeAspect="1"/>
          </p:cNvPicPr>
          <p:nvPr userDrawn="1"/>
        </p:nvPicPr>
        <p:blipFill>
          <a:blip r:embed="rId2" cstate="print">
            <a:duotone>
              <a:srgbClr val="F8F8F8">
                <a:shade val="45000"/>
                <a:satMod val="135000"/>
              </a:srgbClr>
              <a:prstClr val="white"/>
            </a:duotone>
            <a:extLst>
              <a:ext uri="{28A0092B-C50C-407E-A947-70E740481C1C}">
                <a14:useLocalDpi xmlns:a14="http://schemas.microsoft.com/office/drawing/2010/main" val="0"/>
              </a:ext>
            </a:extLst>
          </a:blip>
          <a:stretch>
            <a:fillRect/>
          </a:stretch>
        </p:blipFill>
        <p:spPr>
          <a:xfrm>
            <a:off x="0" y="10056"/>
            <a:ext cx="12192000" cy="6847944"/>
          </a:xfrm>
          <a:prstGeom prst="rect">
            <a:avLst/>
          </a:prstGeom>
          <a:effectLst>
            <a:outerShdw blurRad="50800" dist="38100" dir="18900000" algn="bl" rotWithShape="0">
              <a:prstClr val="black">
                <a:alpha val="40000"/>
              </a:prstClr>
            </a:outerShdw>
          </a:effectLst>
        </p:spPr>
      </p:pic>
      <p:sp>
        <p:nvSpPr>
          <p:cNvPr id="5" name="Rectangle 34"/>
          <p:cNvSpPr/>
          <p:nvPr userDrawn="1"/>
        </p:nvSpPr>
        <p:spPr>
          <a:xfrm>
            <a:off x="743259" y="10058"/>
            <a:ext cx="5906925" cy="6858001"/>
          </a:xfrm>
          <a:prstGeom prst="rect">
            <a:avLst/>
          </a:prstGeom>
          <a:solidFill>
            <a:srgbClr val="0070C0">
              <a:alpha val="81000"/>
            </a:srgbClr>
          </a:solidFill>
          <a:ln>
            <a:noFill/>
          </a:ln>
          <a:effectLst>
            <a:outerShdw blurRad="63500" sx="102000" sy="102000" algn="ctr" rotWithShape="0">
              <a:prstClr val="black">
                <a:alpha val="40000"/>
              </a:prstClr>
            </a:outerShdw>
          </a:effectLst>
        </p:spPr>
        <p:style>
          <a:lnRef idx="2">
            <a:srgbClr val="2A5F8F">
              <a:shade val="50000"/>
            </a:srgbClr>
          </a:lnRef>
          <a:fillRef idx="1">
            <a:srgbClr val="2A5F8F"/>
          </a:fillRef>
          <a:effectRef idx="0">
            <a:srgbClr val="2A5F8F"/>
          </a:effectRef>
          <a:fontRef idx="minor">
            <a:srgbClr val="FFFFFF"/>
          </a:fontRef>
        </p:style>
        <p:txBody>
          <a:bodyPr rtlCol="0" anchor="ctr"/>
          <a:lstStyle/>
          <a:p>
            <a:pPr algn="ctr"/>
            <a:endParaRPr lang="en-IN" sz="1902"/>
          </a:p>
        </p:txBody>
      </p:sp>
      <p:sp>
        <p:nvSpPr>
          <p:cNvPr id="6" name="TextBox 9"/>
          <p:cNvSpPr txBox="1"/>
          <p:nvPr userDrawn="1"/>
        </p:nvSpPr>
        <p:spPr>
          <a:xfrm>
            <a:off x="829068" y="6616282"/>
            <a:ext cx="1984839" cy="230832"/>
          </a:xfrm>
          <a:prstGeom prst="rect">
            <a:avLst/>
          </a:prstGeom>
          <a:noFill/>
        </p:spPr>
        <p:txBody>
          <a:bodyPr wrap="none" rtlCol="0">
            <a:spAutoFit/>
          </a:bodyPr>
          <a:lstStyle/>
          <a:p>
            <a:r>
              <a:rPr lang="en-US" sz="900" dirty="0">
                <a:solidFill>
                  <a:srgbClr val="FFFFFF"/>
                </a:solidFill>
              </a:rPr>
              <a:t>Source@ Future Market Insights, 2026</a:t>
            </a:r>
            <a:endParaRPr lang="en-IN" sz="900" dirty="0">
              <a:solidFill>
                <a:srgbClr val="FFFFFF"/>
              </a:solidFill>
            </a:endParaRPr>
          </a:p>
        </p:txBody>
      </p:sp>
      <p:sp>
        <p:nvSpPr>
          <p:cNvPr id="7" name="Rectangle 11"/>
          <p:cNvSpPr/>
          <p:nvPr userDrawn="1"/>
        </p:nvSpPr>
        <p:spPr>
          <a:xfrm>
            <a:off x="371630" y="5918917"/>
            <a:ext cx="11448743" cy="584895"/>
          </a:xfrm>
          <a:prstGeom prst="rect">
            <a:avLst/>
          </a:prstGeom>
          <a:solidFill>
            <a:srgbClr val="FCD150"/>
          </a:solidFill>
          <a:ln>
            <a:noFill/>
          </a:ln>
          <a:effectLst>
            <a:outerShdw blurRad="50800" dist="38100" dir="18900000" algn="bl" rotWithShape="0">
              <a:prstClr val="black">
                <a:alpha val="40000"/>
              </a:prstClr>
            </a:outerShdw>
          </a:effectLst>
        </p:spPr>
        <p:style>
          <a:lnRef idx="2">
            <a:srgbClr val="2A5F8F">
              <a:shade val="50000"/>
            </a:srgbClr>
          </a:lnRef>
          <a:fillRef idx="1">
            <a:srgbClr val="2A5F8F"/>
          </a:fillRef>
          <a:effectRef idx="0">
            <a:srgbClr val="2A5F8F"/>
          </a:effectRef>
          <a:fontRef idx="minor">
            <a:srgbClr val="FFFFFF"/>
          </a:fontRef>
        </p:style>
        <p:txBody>
          <a:bodyPr rtlCol="0" anchor="ctr"/>
          <a:lstStyle/>
          <a:p>
            <a:pPr algn="ctr"/>
            <a:endParaRPr lang="en-IN" sz="1902"/>
          </a:p>
        </p:txBody>
      </p:sp>
      <p:sp>
        <p:nvSpPr>
          <p:cNvPr id="8" name="Rectangle 12"/>
          <p:cNvSpPr/>
          <p:nvPr userDrawn="1"/>
        </p:nvSpPr>
        <p:spPr>
          <a:xfrm>
            <a:off x="371630" y="6559883"/>
            <a:ext cx="11448743" cy="57528"/>
          </a:xfrm>
          <a:prstGeom prst="rect">
            <a:avLst/>
          </a:prstGeom>
          <a:solidFill>
            <a:srgbClr val="FFFFFF"/>
          </a:solidFill>
          <a:ln>
            <a:noFill/>
          </a:ln>
          <a:effectLst>
            <a:outerShdw blurRad="50800" dist="38100" dir="18900000" algn="bl" rotWithShape="0">
              <a:prstClr val="black">
                <a:alpha val="40000"/>
              </a:prstClr>
            </a:outerShdw>
          </a:effectLst>
        </p:spPr>
        <p:style>
          <a:lnRef idx="2">
            <a:srgbClr val="2A5F8F">
              <a:shade val="50000"/>
            </a:srgbClr>
          </a:lnRef>
          <a:fillRef idx="1">
            <a:srgbClr val="2A5F8F"/>
          </a:fillRef>
          <a:effectRef idx="0">
            <a:srgbClr val="2A5F8F"/>
          </a:effectRef>
          <a:fontRef idx="minor">
            <a:srgbClr val="FFFFFF"/>
          </a:fontRef>
        </p:style>
        <p:txBody>
          <a:bodyPr rtlCol="0" anchor="ctr"/>
          <a:lstStyle/>
          <a:p>
            <a:pPr algn="ctr"/>
            <a:endParaRPr lang="en-IN" sz="1902"/>
          </a:p>
        </p:txBody>
      </p:sp>
      <p:sp>
        <p:nvSpPr>
          <p:cNvPr id="9" name="Text Placeholder 4"/>
          <p:cNvSpPr txBox="1">
            <a:spLocks/>
          </p:cNvSpPr>
          <p:nvPr/>
        </p:nvSpPr>
        <p:spPr bwMode="gray">
          <a:xfrm>
            <a:off x="934546" y="262851"/>
            <a:ext cx="5623008" cy="3800000"/>
          </a:xfrm>
          <a:prstGeom prst="rect">
            <a:avLst/>
          </a:prstGeom>
        </p:spPr>
        <p:txBody>
          <a:bodyPr vert="horz" lIns="0" tIns="77372" rIns="77372" bIns="77372" rtlCol="0">
            <a:noAutofit/>
          </a:bodyPr>
          <a:lstStyle>
            <a:lvl1pPr marL="0" indent="0" algn="l" defTabSz="792505" rtl="0" eaLnBrk="1" latinLnBrk="0" hangingPunct="1">
              <a:lnSpc>
                <a:spcPct val="90000"/>
              </a:lnSpc>
              <a:spcBef>
                <a:spcPts val="867"/>
              </a:spcBef>
              <a:buFont typeface="Wingdings" panose="05000000000000000000" pitchFamily="2" charset="2"/>
              <a:buNone/>
              <a:defRPr sz="1800" kern="1200">
                <a:solidFill>
                  <a:srgbClr val="000000"/>
                </a:solidFill>
                <a:latin typeface="Calibri" panose="020F0502020204030204" pitchFamily="34" charset="0"/>
                <a:ea typeface="+mn-ea"/>
                <a:cs typeface="Calibri" panose="020F0502020204030204" pitchFamily="34" charset="0"/>
              </a:defRPr>
            </a:lvl1pPr>
            <a:lvl2pPr marL="457196" indent="0" algn="ctr" defTabSz="792505" rtl="0" eaLnBrk="1" latinLnBrk="0" hangingPunct="1">
              <a:lnSpc>
                <a:spcPct val="90000"/>
              </a:lnSpc>
              <a:spcBef>
                <a:spcPts val="433"/>
              </a:spcBef>
              <a:buSzPct val="80000"/>
              <a:buFont typeface="Wingdings" panose="05000000000000000000" pitchFamily="2" charset="2"/>
              <a:buNone/>
              <a:defRPr sz="2000" kern="1200">
                <a:solidFill>
                  <a:srgbClr val="000000"/>
                </a:solidFill>
                <a:latin typeface="+mn-lt"/>
                <a:ea typeface="+mn-ea"/>
                <a:cs typeface="+mn-cs"/>
              </a:defRPr>
            </a:lvl2pPr>
            <a:lvl3pPr marL="914391" indent="0" algn="ctr" defTabSz="792505" rtl="0" eaLnBrk="1" latinLnBrk="0" hangingPunct="1">
              <a:lnSpc>
                <a:spcPct val="90000"/>
              </a:lnSpc>
              <a:spcBef>
                <a:spcPts val="433"/>
              </a:spcBef>
              <a:buFont typeface="Wingdings" panose="05000000000000000000" pitchFamily="2" charset="2"/>
              <a:buNone/>
              <a:defRPr sz="1800" kern="1200">
                <a:solidFill>
                  <a:srgbClr val="000000"/>
                </a:solidFill>
                <a:latin typeface="+mn-lt"/>
                <a:ea typeface="+mn-ea"/>
                <a:cs typeface="+mn-cs"/>
              </a:defRPr>
            </a:lvl3pPr>
            <a:lvl4pPr marL="1371587" indent="0" algn="ctr" defTabSz="792505" rtl="0" eaLnBrk="1" latinLnBrk="0" hangingPunct="1">
              <a:lnSpc>
                <a:spcPct val="90000"/>
              </a:lnSpc>
              <a:spcBef>
                <a:spcPts val="433"/>
              </a:spcBef>
              <a:buSzPct val="80000"/>
              <a:buFont typeface="Wingdings" panose="05000000000000000000" pitchFamily="2" charset="2"/>
              <a:buNone/>
              <a:defRPr sz="1600" kern="1200">
                <a:solidFill>
                  <a:srgbClr val="000000"/>
                </a:solidFill>
                <a:latin typeface="+mn-lt"/>
                <a:ea typeface="+mn-ea"/>
                <a:cs typeface="+mn-cs"/>
              </a:defRPr>
            </a:lvl4pPr>
            <a:lvl5pPr marL="1828783"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5pPr>
            <a:lvl6pPr marL="2285978"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6pPr>
            <a:lvl7pPr marL="2743174"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7pPr>
            <a:lvl8pPr marL="3200370"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8pPr>
            <a:lvl9pPr marL="3657565"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9pPr>
          </a:lstStyle>
          <a:p>
            <a:pPr>
              <a:spcBef>
                <a:spcPts val="0"/>
              </a:spcBef>
            </a:pPr>
            <a:r>
              <a:rPr lang="en-US" sz="6000" dirty="0">
                <a:solidFill>
                  <a:srgbClr val="FFFFFF"/>
                </a:solidFill>
                <a:latin typeface="Bell MT" panose="02020503060305020303" pitchFamily="18" charset="0"/>
              </a:rPr>
              <a:t>Matcha Market</a:t>
            </a:r>
            <a:endParaRPr lang="en-US" sz="1600" dirty="0">
              <a:solidFill>
                <a:srgbClr val="FFFFFF"/>
              </a:solidFill>
              <a:latin typeface="Bell MT" panose="02020503060305020303" pitchFamily="18" charset="0"/>
            </a:endParaRPr>
          </a:p>
        </p:txBody>
      </p:sp>
      <p:sp>
        <p:nvSpPr>
          <p:cNvPr id="9" name="Front Page Subtitle"/>
          <p:cNvSpPr txBox="1">
            <a:spLocks/>
          </p:cNvSpPr>
          <p:nvPr/>
        </p:nvSpPr>
        <p:spPr bwMode="gray">
          <a:xfrm>
            <a:off x="934546" y="4150000"/>
            <a:ext cx="5623008" cy="1650000"/>
          </a:xfrm>
          <a:prstGeom prst="rect">
            <a:avLst/>
          </a:prstGeom>
        </p:spPr>
        <p:txBody>
          <a:bodyPr vert="horz" lIns="0" tIns="77372" rIns="77372" bIns="77372" rtlCol="0" anchor="b">
            <a:noAutofit/>
          </a:bodyPr>
          <a:lstStyle>
            <a:lvl1pPr marL="0" indent="0" algn="l" defTabSz="792505" rtl="0" eaLnBrk="1" latinLnBrk="0" hangingPunct="1">
              <a:lnSpc>
                <a:spcPct val="90000"/>
              </a:lnSpc>
              <a:spcBef>
                <a:spcPts val="867"/>
              </a:spcBef>
              <a:buFont typeface="Wingdings" panose="05000000000000000000" pitchFamily="2" charset="2"/>
              <a:buNone/>
              <a:defRPr sz="1800" kern="1200">
                <a:solidFill>
                  <a:srgbClr val="000000"/>
                </a:solidFill>
                <a:latin typeface="Calibri" panose="020F0502020204030204" pitchFamily="34" charset="0"/>
                <a:ea typeface="+mn-ea"/>
                <a:cs typeface="Calibri" panose="020F0502020204030204" pitchFamily="34" charset="0"/>
              </a:defRPr>
            </a:lvl1pPr>
            <a:lvl2pPr marL="457196" indent="0" algn="ctr" defTabSz="792505" rtl="0" eaLnBrk="1" latinLnBrk="0" hangingPunct="1">
              <a:lnSpc>
                <a:spcPct val="90000"/>
              </a:lnSpc>
              <a:spcBef>
                <a:spcPts val="433"/>
              </a:spcBef>
              <a:buSzPct val="80000"/>
              <a:buFont typeface="Wingdings" panose="05000000000000000000" pitchFamily="2" charset="2"/>
              <a:buNone/>
              <a:defRPr sz="2000" kern="1200">
                <a:solidFill>
                  <a:srgbClr val="000000"/>
                </a:solidFill>
                <a:latin typeface="+mn-lt"/>
                <a:ea typeface="+mn-ea"/>
                <a:cs typeface="+mn-cs"/>
              </a:defRPr>
            </a:lvl2pPr>
            <a:lvl3pPr marL="914391" indent="0" algn="ctr" defTabSz="792505" rtl="0" eaLnBrk="1" latinLnBrk="0" hangingPunct="1">
              <a:lnSpc>
                <a:spcPct val="90000"/>
              </a:lnSpc>
              <a:spcBef>
                <a:spcPts val="433"/>
              </a:spcBef>
              <a:buFont typeface="Wingdings" panose="05000000000000000000" pitchFamily="2" charset="2"/>
              <a:buNone/>
              <a:defRPr sz="1800" kern="1200">
                <a:solidFill>
                  <a:srgbClr val="000000"/>
                </a:solidFill>
                <a:latin typeface="+mn-lt"/>
                <a:ea typeface="+mn-ea"/>
                <a:cs typeface="+mn-cs"/>
              </a:defRPr>
            </a:lvl3pPr>
            <a:lvl4pPr marL="1371587" indent="0" algn="ctr" defTabSz="792505" rtl="0" eaLnBrk="1" latinLnBrk="0" hangingPunct="1">
              <a:lnSpc>
                <a:spcPct val="90000"/>
              </a:lnSpc>
              <a:spcBef>
                <a:spcPts val="433"/>
              </a:spcBef>
              <a:buSzPct val="80000"/>
              <a:buFont typeface="Wingdings" panose="05000000000000000000" pitchFamily="2" charset="2"/>
              <a:buNone/>
              <a:defRPr sz="1600" kern="1200">
                <a:solidFill>
                  <a:srgbClr val="000000"/>
                </a:solidFill>
                <a:latin typeface="+mn-lt"/>
                <a:ea typeface="+mn-ea"/>
                <a:cs typeface="+mn-cs"/>
              </a:defRPr>
            </a:lvl4pPr>
            <a:lvl5pPr marL="1828783"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5pPr>
            <a:lvl6pPr marL="2285978"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6pPr>
            <a:lvl7pPr marL="2743174"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7pPr>
            <a:lvl8pPr marL="3200370"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8pPr>
            <a:lvl9pPr marL="3657565" indent="0" algn="ctr" defTabSz="792505" rtl="0" eaLnBrk="1" latinLnBrk="0" hangingPunct="1">
              <a:lnSpc>
                <a:spcPct val="90000"/>
              </a:lnSpc>
              <a:spcBef>
                <a:spcPts val="433"/>
              </a:spcBef>
              <a:buFont typeface="Arial" panose="020B0604020202020204" pitchFamily="34" charset="0"/>
              <a:buNone/>
              <a:defRPr sz="1600" kern="1200">
                <a:solidFill>
                  <a:srgbClr val="000000"/>
                </a:solidFill>
                <a:latin typeface="+mn-lt"/>
                <a:ea typeface="+mn-ea"/>
                <a:cs typeface="+mn-cs"/>
              </a:defRPr>
            </a:lvl9pPr>
          </a:lstStyle>
          <a:p>
            <a:pPr>
              <a:spcBef>
                <a:spcPts val="0"/>
              </a:spcBef>
            </a:pPr>
            <a:r>
              <a:rPr lang="en-US" sz="2400" dirty="0">
                <a:solidFill>
                  <a:srgbClr val="FFFFFF"/>
                </a:solidFill>
                <a:latin typeface="Bell MT" panose="02020503060305020303" pitchFamily="18" charset="0"/>
              </a:rPr>
              <a:t>Global Industry Analysis 2021 – 2025 and Opportunity Assessment 2026 – 2036</a:t>
            </a:r>
          </a:p>
        </p:txBody>
      </p:sp>
      <p:grpSp>
        <p:nvGrpSpPr>
          <p:cNvPr id="10" name="Group 8"/>
          <p:cNvGrpSpPr/>
          <p:nvPr/>
        </p:nvGrpSpPr>
        <p:grpSpPr>
          <a:xfrm>
            <a:off x="9124182" y="262851"/>
            <a:ext cx="2864618" cy="709680"/>
            <a:chOff x="201497" y="6393289"/>
            <a:chExt cx="1281818" cy="338050"/>
          </a:xfrm>
        </p:grpSpPr>
        <p:pic>
          <p:nvPicPr>
            <p:cNvPr id="11" name="Picture 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01497" y="6393289"/>
              <a:ext cx="537551" cy="338050"/>
            </a:xfrm>
            <a:prstGeom prst="rect">
              <a:avLst/>
            </a:prstGeom>
          </p:spPr>
        </p:pic>
        <p:pic>
          <p:nvPicPr>
            <p:cNvPr id="12" name="Picture 7" descr="C:\Users\Nandini\Desktop\ESOMAR_corporate2020_RGB.png"/>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1199" y="6426912"/>
              <a:ext cx="722116" cy="270803"/>
            </a:xfrm>
            <a:prstGeom prst="rect">
              <a:avLst/>
            </a:prstGeom>
            <a:noFill/>
            <a:ln>
              <a:noFill/>
            </a:ln>
          </p:spPr>
        </p:pic>
      </p:grpSp>
      <p:sp>
        <p:nvSpPr>
          <p:cNvPr id="13" name="Rectangle 3"/>
          <p:cNvSpPr/>
          <p:nvPr/>
        </p:nvSpPr>
        <p:spPr>
          <a:xfrm>
            <a:off x="934546" y="6015689"/>
            <a:ext cx="2551724" cy="400110"/>
          </a:xfrm>
          <a:prstGeom prst="rect">
            <a:avLst/>
          </a:prstGeom>
        </p:spPr>
        <p:txBody>
          <a:bodyPr wrap="none">
            <a:spAutoFit/>
          </a:bodyPr>
          <a:lstStyle/>
          <a:p>
            <a:r>
              <a:rPr lang="en-US" sz="2000" b="1" dirty="0">
                <a:solidFill>
                  <a:srgbClr val="000000">
                    <a:lumMod val="85000"/>
                    <a:lumOff val="15000"/>
                  </a:srgbClr>
                </a:solidFill>
                <a:latin typeface="Bell MT" panose="02020503060305020303" pitchFamily="18" charset="0"/>
              </a:rPr>
              <a:t>Sample Report</a:t>
            </a:r>
            <a:r>
              <a:rPr lang="en-US" sz="1600" b="1" dirty="0">
                <a:solidFill>
                  <a:srgbClr val="000000">
                    <a:lumMod val="85000"/>
                    <a:lumOff val="15000"/>
                  </a:srgbClr>
                </a:solidFill>
                <a:latin typeface="Bell MT" panose="02020503060305020303" pitchFamily="18" charset="0"/>
              </a:rPr>
              <a:t>| </a:t>
            </a:r>
            <a:r>
              <a:rPr lang="en-US" sz="2000" b="1" dirty="0">
                <a:solidFill>
                  <a:srgbClr val="000000">
                    <a:lumMod val="85000"/>
                    <a:lumOff val="15000"/>
                  </a:srgbClr>
                </a:solidFill>
                <a:latin typeface="Bell MT" panose="02020503060305020303" pitchFamily="18" charset="0"/>
              </a:rPr>
              <a:t>2026</a:t>
            </a:r>
          </a:p>
        </p:txBody>
      </p:sp>
      <p:pic>
        <p:nvPicPr>
          <p:cNvPr id="14" name="Picture 2" descr="A logo on a black background&#10;&#10;AI-generated content may be incorrect.">
            <a:extLst>
              <a:ext uri="{FF2B5EF4-FFF2-40B4-BE49-F238E27FC236}">
                <a16:creationId xmlns:a16="http://schemas.microsoft.com/office/drawing/2014/main" id="{94959869-610E-9143-54C1-1302C085ACF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98778" y="4755786"/>
            <a:ext cx="5493222" cy="1166793"/>
          </a:xfrm>
          <a:prstGeom prst="rect">
            <a:avLst/>
          </a:prstGeom>
        </p:spPr>
      </p:pic>
    </p:spTree>
  </p:cSld>
  <p:clrMapOvr>
    <a:masterClrMapping/>
  </p:clrMapOvr>
</p:sld>
</file>

<file path=ppt/slides/slide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Agenda</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Storyline of the report by section · click a section card to jump to it</a:t>
            </a:r>
          </a:p>
        </p:txBody>
      </p:sp>
      <p:sp>
        <p:nvSpPr>
          <p:cNvPr id="10" name="Rounded Rectangle 9">
            <a:hlinkClick action="ppaction://hlinksldjump" r:id="rId3"/>
          </p:cNvPr>
          <p:cNvSpPr/>
          <p:nvPr/>
        </p:nvSpPr>
        <p:spPr>
          <a:xfrm>
            <a:off x="314325" y="113503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 Market Signals</a:t>
            </a:r>
          </a:p>
        </p:txBody>
      </p:sp>
      <p:sp>
        <p:nvSpPr>
          <p:cNvPr id="11" name="Rounded Rectangle 10">
            <a:hlinkClick action="ppaction://hlinksldjump" r:id="rId4"/>
          </p:cNvPr>
          <p:cNvSpPr/>
          <p:nvPr/>
        </p:nvSpPr>
        <p:spPr>
          <a:xfrm>
            <a:off x="142875" y="149402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Overview</a:t>
            </a:r>
          </a:p>
        </p:txBody>
      </p:sp>
      <p:sp>
        <p:nvSpPr>
          <p:cNvPr id="12" name="Rounded Rectangle 11">
            <a:hlinkClick action="ppaction://hlinksldjump" r:id="rId5"/>
          </p:cNvPr>
          <p:cNvSpPr/>
          <p:nvPr/>
        </p:nvSpPr>
        <p:spPr>
          <a:xfrm>
            <a:off x="31432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 Market Taxonomy</a:t>
            </a:r>
          </a:p>
        </p:txBody>
      </p:sp>
      <p:sp>
        <p:nvSpPr>
          <p:cNvPr id="13" name="Rounded Rectangle 12">
            <a:hlinkClick action="ppaction://hlinksldjump" r:id="rId6"/>
          </p:cNvPr>
          <p:cNvSpPr/>
          <p:nvPr/>
        </p:nvSpPr>
        <p:spPr>
          <a:xfrm>
            <a:off x="314325" y="222721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3. Table of Contents</a:t>
            </a:r>
          </a:p>
        </p:txBody>
      </p:sp>
      <p:sp>
        <p:nvSpPr>
          <p:cNvPr id="14" name="Rounded Rectangle 13">
            <a:hlinkClick action="ppaction://hlinksldjump" r:id="rId7"/>
          </p:cNvPr>
          <p:cNvSpPr/>
          <p:nvPr/>
        </p:nvSpPr>
        <p:spPr>
          <a:xfrm>
            <a:off x="314325" y="258620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4. List of Figures, List of Tables</a:t>
            </a:r>
          </a:p>
        </p:txBody>
      </p:sp>
      <p:sp>
        <p:nvSpPr>
          <p:cNvPr id="15" name="Rounded Rectangle 14">
            <a:hlinkClick action="ppaction://hlinksldjump" r:id="rId8"/>
          </p:cNvPr>
          <p:cNvSpPr/>
          <p:nvPr/>
        </p:nvSpPr>
        <p:spPr>
          <a:xfrm>
            <a:off x="142875" y="2945194"/>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Global Market Outlook</a:t>
            </a:r>
          </a:p>
        </p:txBody>
      </p:sp>
      <p:sp>
        <p:nvSpPr>
          <p:cNvPr id="16" name="Rounded Rectangle 15">
            <a:hlinkClick action="ppaction://hlinksldjump" r:id="rId9"/>
          </p:cNvPr>
          <p:cNvSpPr/>
          <p:nvPr/>
        </p:nvSpPr>
        <p:spPr>
          <a:xfrm>
            <a:off x="314325" y="331939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5. Matcha Market Global Overview</a:t>
            </a:r>
          </a:p>
        </p:txBody>
      </p:sp>
      <p:sp>
        <p:nvSpPr>
          <p:cNvPr id="17" name="Rounded Rectangle 16">
            <a:hlinkClick action="ppaction://hlinksldjump" r:id="rId10"/>
          </p:cNvPr>
          <p:cNvSpPr/>
          <p:nvPr/>
        </p:nvSpPr>
        <p:spPr>
          <a:xfrm>
            <a:off x="314325" y="367838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6. Global Market Analysis By Region</a:t>
            </a:r>
          </a:p>
        </p:txBody>
      </p:sp>
      <p:sp>
        <p:nvSpPr>
          <p:cNvPr id="18" name="Rounded Rectangle 17">
            <a:hlinkClick action="ppaction://hlinksldjump" r:id="rId11"/>
          </p:cNvPr>
          <p:cNvSpPr/>
          <p:nvPr/>
        </p:nvSpPr>
        <p:spPr>
          <a:xfrm>
            <a:off x="314325" y="4037373"/>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7. Global Market Analysis By Segments</a:t>
            </a:r>
          </a:p>
        </p:txBody>
      </p:sp>
      <p:sp>
        <p:nvSpPr>
          <p:cNvPr id="19" name="Rounded Rectangle 18">
            <a:hlinkClick action="ppaction://hlinksldjump" r:id="rId12"/>
          </p:cNvPr>
          <p:cNvSpPr/>
          <p:nvPr/>
        </p:nvSpPr>
        <p:spPr>
          <a:xfrm>
            <a:off x="314325" y="439636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8. Cross-sectional Assessment</a:t>
            </a:r>
          </a:p>
        </p:txBody>
      </p:sp>
      <p:sp>
        <p:nvSpPr>
          <p:cNvPr id="20" name="Rounded Rectangle 19">
            <a:hlinkClick action="ppaction://hlinksldjump" r:id="rId13"/>
          </p:cNvPr>
          <p:cNvSpPr/>
          <p:nvPr/>
        </p:nvSpPr>
        <p:spPr>
          <a:xfrm>
            <a:off x="142875" y="4755351"/>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North America Market Outlook</a:t>
            </a:r>
          </a:p>
        </p:txBody>
      </p:sp>
      <p:sp>
        <p:nvSpPr>
          <p:cNvPr id="21" name="Rounded Rectangle 20">
            <a:hlinkClick action="ppaction://hlinksldjump" r:id="rId14"/>
          </p:cNvPr>
          <p:cNvSpPr/>
          <p:nvPr/>
        </p:nvSpPr>
        <p:spPr>
          <a:xfrm>
            <a:off x="314325" y="5129552"/>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9. North America Overview</a:t>
            </a:r>
          </a:p>
        </p:txBody>
      </p:sp>
      <p:sp>
        <p:nvSpPr>
          <p:cNvPr id="22" name="Rounded Rectangle 21">
            <a:hlinkClick action="ppaction://hlinksldjump" r:id="rId15"/>
          </p:cNvPr>
          <p:cNvSpPr/>
          <p:nvPr/>
        </p:nvSpPr>
        <p:spPr>
          <a:xfrm>
            <a:off x="314325" y="5488541"/>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10. North America Market Analysis By Country</a:t>
            </a:r>
          </a:p>
        </p:txBody>
      </p:sp>
      <p:sp>
        <p:nvSpPr>
          <p:cNvPr id="23" name="Rounded Rectangle 22">
            <a:hlinkClick action="ppaction://hlinksldjump" r:id="rId16"/>
          </p:cNvPr>
          <p:cNvSpPr/>
          <p:nvPr/>
        </p:nvSpPr>
        <p:spPr>
          <a:xfrm>
            <a:off x="314325" y="5847530"/>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11. North America Market Analysis By Segments</a:t>
            </a:r>
          </a:p>
        </p:txBody>
      </p:sp>
      <p:sp>
        <p:nvSpPr>
          <p:cNvPr id="24" name="Rounded Rectangle 23">
            <a:hlinkClick action="ppaction://hlinksldjump" r:id="rId17"/>
          </p:cNvPr>
          <p:cNvSpPr/>
          <p:nvPr/>
        </p:nvSpPr>
        <p:spPr>
          <a:xfrm>
            <a:off x="314325" y="6206519"/>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12. Cross-sectional Assessment</a:t>
            </a:r>
          </a:p>
        </p:txBody>
      </p:sp>
      <p:sp>
        <p:nvSpPr>
          <p:cNvPr id="25" name="Rounded Rectangle 24">
            <a:hlinkClick action="ppaction://hlinksldjump" r:id="rId18"/>
          </p:cNvPr>
          <p:cNvSpPr/>
          <p:nvPr/>
        </p:nvSpPr>
        <p:spPr>
          <a:xfrm>
            <a:off x="6219825" y="1135037"/>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Country Market Outlook</a:t>
            </a:r>
          </a:p>
        </p:txBody>
      </p:sp>
      <p:sp>
        <p:nvSpPr>
          <p:cNvPr id="26" name="Rounded Rectangle 25">
            <a:hlinkClick action="ppaction://hlinksldjump" r:id="rId19"/>
          </p:cNvPr>
          <p:cNvSpPr/>
          <p:nvPr/>
        </p:nvSpPr>
        <p:spPr>
          <a:xfrm>
            <a:off x="6391275" y="1509238"/>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13. Matcha Market Overview (Volume &amp; Value)</a:t>
            </a:r>
          </a:p>
        </p:txBody>
      </p:sp>
      <p:sp>
        <p:nvSpPr>
          <p:cNvPr id="27" name="Rounded Rectangle 26">
            <a:hlinkClick action="ppaction://hlinksldjump" r:id="rId20"/>
          </p:cNvPr>
          <p:cNvSpPr/>
          <p:nvPr/>
        </p:nvSpPr>
        <p:spPr>
          <a:xfrm>
            <a:off x="6391275" y="186822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14. Segment Overview (Volume &amp; Value)</a:t>
            </a:r>
          </a:p>
        </p:txBody>
      </p:sp>
      <p:sp>
        <p:nvSpPr>
          <p:cNvPr id="28" name="Rounded Rectangle 27">
            <a:hlinkClick action="ppaction://hlinksldjump" r:id="rId21"/>
          </p:cNvPr>
          <p:cNvSpPr/>
          <p:nvPr/>
        </p:nvSpPr>
        <p:spPr>
          <a:xfrm>
            <a:off x="6219825" y="2227216"/>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Pricing Assessment</a:t>
            </a:r>
          </a:p>
        </p:txBody>
      </p:sp>
      <p:sp>
        <p:nvSpPr>
          <p:cNvPr id="29" name="Rounded Rectangle 28">
            <a:hlinkClick action="ppaction://hlinksldjump" r:id="rId22"/>
          </p:cNvPr>
          <p:cNvSpPr/>
          <p:nvPr/>
        </p:nvSpPr>
        <p:spPr>
          <a:xfrm>
            <a:off x="6391275" y="2601417"/>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15. Matcha Market Pricing Analysis</a:t>
            </a:r>
          </a:p>
        </p:txBody>
      </p:sp>
      <p:sp>
        <p:nvSpPr>
          <p:cNvPr id="30" name="Rounded Rectangle 29">
            <a:hlinkClick action="ppaction://hlinksldjump" r:id="rId23"/>
          </p:cNvPr>
          <p:cNvSpPr/>
          <p:nvPr/>
        </p:nvSpPr>
        <p:spPr>
          <a:xfrm>
            <a:off x="6391275" y="296040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16. Supply Chain Analysis</a:t>
            </a:r>
          </a:p>
        </p:txBody>
      </p:sp>
      <p:sp>
        <p:nvSpPr>
          <p:cNvPr id="31" name="Rounded Rectangle 30">
            <a:hlinkClick action="ppaction://hlinksldjump" r:id="rId24"/>
          </p:cNvPr>
          <p:cNvSpPr/>
          <p:nvPr/>
        </p:nvSpPr>
        <p:spPr>
          <a:xfrm>
            <a:off x="6219825" y="331939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Market Dynamics</a:t>
            </a:r>
          </a:p>
        </p:txBody>
      </p:sp>
      <p:sp>
        <p:nvSpPr>
          <p:cNvPr id="32" name="Rounded Rectangle 31">
            <a:hlinkClick action="ppaction://hlinksldjump" r:id="rId25"/>
          </p:cNvPr>
          <p:cNvSpPr/>
          <p:nvPr/>
        </p:nvSpPr>
        <p:spPr>
          <a:xfrm>
            <a:off x="6391275" y="369359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17. Market Dynamics &amp; Forces</a:t>
            </a:r>
          </a:p>
        </p:txBody>
      </p:sp>
      <p:sp>
        <p:nvSpPr>
          <p:cNvPr id="33" name="Rounded Rectangle 32">
            <a:hlinkClick action="ppaction://hlinksldjump" r:id="rId26"/>
          </p:cNvPr>
          <p:cNvSpPr/>
          <p:nvPr/>
        </p:nvSpPr>
        <p:spPr>
          <a:xfrm>
            <a:off x="6219825" y="4052585"/>
            <a:ext cx="5829300" cy="310313"/>
          </a:xfrm>
          <a:prstGeom prst="roundRect">
            <a:avLst>
              <a:gd name="adj" fmla="val 23529"/>
            </a:avLst>
          </a:prstGeom>
          <a:solidFill>
            <a:srgbClr val="E0E8E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300" b="1">
                <a:solidFill>
                  <a:srgbClr val="0B2E4A"/>
                </a:solidFill>
                <a:latin typeface="Calibri"/>
              </a:rPr>
              <a:t>Competition Assessment</a:t>
            </a:r>
          </a:p>
        </p:txBody>
      </p:sp>
      <p:sp>
        <p:nvSpPr>
          <p:cNvPr id="34" name="Rounded Rectangle 33">
            <a:hlinkClick action="ppaction://hlinksldjump" r:id="rId27"/>
          </p:cNvPr>
          <p:cNvSpPr/>
          <p:nvPr/>
        </p:nvSpPr>
        <p:spPr>
          <a:xfrm>
            <a:off x="6391275" y="5144764"/>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20. Competitive Landscape</a:t>
            </a:r>
          </a:p>
        </p:txBody>
      </p:sp>
      <p:sp>
        <p:nvSpPr>
          <p:cNvPr id="35" name="Rounded Rectangle 34">
            <a:hlinkClick action="ppaction://hlinksldjump" r:id="rId28"/>
          </p:cNvPr>
          <p:cNvSpPr/>
          <p:nvPr/>
        </p:nvSpPr>
        <p:spPr>
          <a:xfrm>
            <a:off x="6391275" y="4426786"/>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18. Market Share by Leading Players</a:t>
            </a:r>
          </a:p>
        </p:txBody>
      </p:sp>
      <p:sp>
        <p:nvSpPr>
          <p:cNvPr id="36" name="Rounded Rectangle 35">
            <a:hlinkClick action="ppaction://hlinksldjump" r:id="rId29"/>
          </p:cNvPr>
          <p:cNvSpPr/>
          <p:nvPr/>
        </p:nvSpPr>
        <p:spPr>
          <a:xfrm>
            <a:off x="6391275" y="4785775"/>
            <a:ext cx="5657850" cy="295101"/>
          </a:xfrm>
          <a:prstGeom prst="roundRect">
            <a:avLst>
              <a:gd name="adj" fmla="val 24742"/>
            </a:avLst>
          </a:prstGeom>
          <a:solidFill>
            <a:srgbClr val="E0E8EF"/>
          </a:solidFill>
          <a:ln w="635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l"/>
            <a:r>
              <a:rPr sz="1200" b="0">
                <a:solidFill>
                  <a:srgbClr val="0B2E4A"/>
                </a:solidFill>
                <a:latin typeface="Calibri"/>
              </a:rPr>
              <a:t>19. Company Profiles &amp; Strategic Benchmarking</a:t>
            </a:r>
          </a:p>
        </p:txBody>
      </p:sp>
      <p:sp>
        <p:nvSpPr>
          <p:cNvPr id="37" name="TextBox 3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Market Signals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Signals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Signals Reshaping Matcha Demand</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Signals reshaping Matcha demand, the evidence behind each and what it implies for the global market</a:t>
            </a:r>
          </a:p>
        </p:txBody>
      </p:sp>
      <p:graphicFrame>
        <p:nvGraphicFramePr>
          <p:cNvPr id="10" name="Table 9"/>
          <p:cNvGraphicFramePr>
            <a:graphicFrameLocks noGrp="1"/>
          </p:cNvGraphicFramePr>
          <p:nvPr/>
        </p:nvGraphicFramePr>
        <p:xfrm>
          <a:off x="142875" y="1062022"/>
          <a:ext cx="11906250" cy="5549125"/>
        </p:xfrm>
        <a:graphic>
          <a:graphicData uri="http://schemas.openxmlformats.org/drawingml/2006/table">
            <a:tbl>
              <a:tblPr>
                <a:tableStyleId>{5C22544A-7EE6-4342-B048-85BDC9FD1C3A}</a:tableStyleId>
              </a:tblPr>
              <a:tblGrid>
                <a:gridCol w="3571875"/>
                <a:gridCol w="5000625"/>
                <a:gridCol w="3333750"/>
              </a:tblGrid>
              <a:tr h="346820">
                <a:tc>
                  <a:txBody>
                    <a:bodyPr wrap="square"/>
                    <a:lstStyle/>
                    <a:p>
                      <a:pPr algn="l"/>
                      <a:r>
                        <a:rPr sz="1100" b="1">
                          <a:solidFill>
                            <a:srgbClr val="0B2E4A"/>
                          </a:solidFill>
                          <a:latin typeface="Calibri"/>
                        </a:rPr>
                        <a:t>QUESTIONS WE'RE HEARING</a:t>
                      </a:r>
                    </a:p>
                  </a:txBody>
                  <a:tcPr marL="70000" marR="70000" marT="45000" marB="45000" anchor="ctr">
                    <a:solidFill>
                      <a:srgbClr val="EAF1F8"/>
                    </a:solidFill>
                  </a:tcPr>
                </a:tc>
                <a:tc>
                  <a:txBody>
                    <a:bodyPr wrap="square"/>
                    <a:lstStyle/>
                    <a:p>
                      <a:pPr algn="l"/>
                      <a:r>
                        <a:rPr sz="1100" b="1">
                          <a:solidFill>
                            <a:srgbClr val="0B2E4A"/>
                          </a:solidFill>
                          <a:latin typeface="Calibri"/>
                        </a:rPr>
                        <a:t>WHAT WE'RE OBSERVING</a:t>
                      </a:r>
                    </a:p>
                  </a:txBody>
                  <a:tcPr marL="70000" marR="70000" marT="45000" marB="45000" anchor="ctr">
                    <a:solidFill>
                      <a:srgbClr val="EAF1F8"/>
                    </a:solidFill>
                  </a:tcPr>
                </a:tc>
                <a:tc>
                  <a:txBody>
                    <a:bodyPr wrap="square"/>
                    <a:lstStyle/>
                    <a:p>
                      <a:pPr algn="l"/>
                      <a:r>
                        <a:rPr sz="1100" b="1">
                          <a:solidFill>
                            <a:srgbClr val="0B2E4A"/>
                          </a:solidFill>
                          <a:latin typeface="Calibri"/>
                        </a:rPr>
                        <a:t>SELECT DATA POINTS</a:t>
                      </a:r>
                    </a:p>
                  </a:txBody>
                  <a:tcPr marL="70000" marR="70000" marT="45000" marB="45000" anchor="ctr">
                    <a:solidFill>
                      <a:srgbClr val="EAF1F8"/>
                    </a:solidFill>
                  </a:tcPr>
                </a:tc>
              </a:tr>
              <a:tr h="1040461">
                <a:tc>
                  <a:txBody>
                    <a:bodyPr wrap="square"/>
                    <a:lstStyle/>
                    <a:p>
                      <a:pPr algn="l"/>
                      <a:r>
                        <a:rPr sz="1100" b="1">
                          <a:solidFill>
                            <a:srgbClr val="0B2E4A"/>
                          </a:solidFill>
                          <a:latin typeface="Calibri"/>
                        </a:rPr>
                        <a:t>How fast is Matcha demand set to grow through 2036?</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a:t>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product type categories are buyers prioritising?</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is incremental demand concentrating?</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r h="1040461">
                <a:tc>
                  <a:txBody>
                    <a:bodyPr wrap="square"/>
                    <a:lstStyle/>
                    <a:p>
                      <a:pPr algn="l"/>
                      <a:r>
                        <a:rPr sz="1100" b="1">
                          <a:solidFill>
                            <a:srgbClr val="0B2E4A"/>
                          </a:solidFill>
                          <a:latin typeface="Calibri"/>
                        </a:rPr>
                        <a:t>Which regions will drive the next wave of Matcha demand?</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c>
                  <a:txBody>
                    <a:bodyPr wrap="square"/>
                    <a:lstStyle/>
                    <a:p>
                      <a:pPr algn="l"/>
                      <a:r>
                        <a:rPr sz="1100" b="0">
                          <a:solidFill>
                            <a:srgbClr val="2E2E2E"/>
                          </a:solidFill>
                          <a:latin typeface="Calibri"/>
                        </a:rPr>
                        <a:t/>
                      </a:r>
                    </a:p>
                  </a:txBody>
                  <a:tcPr marL="70000" marR="70000" marT="45000" marB="45000" anchor="ctr">
                    <a:solidFill>
                      <a:srgbClr val="F6F9FC"/>
                    </a:solidFill>
                  </a:tcPr>
                </a:tc>
              </a:tr>
              <a:tr h="1040461">
                <a:tc>
                  <a:txBody>
                    <a:bodyPr wrap="square"/>
                    <a:lstStyle/>
                    <a:p>
                      <a:pPr algn="l"/>
                      <a:r>
                        <a:rPr sz="1100" b="1">
                          <a:solidFill>
                            <a:srgbClr val="0B2E4A"/>
                          </a:solidFill>
                          <a:latin typeface="Calibri"/>
                        </a:rPr>
                        <a:t>Where should suppliers focus investment?</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c>
                  <a:txBody>
                    <a:bodyPr wrap="square"/>
                    <a:lstStyle/>
                    <a:p>
                      <a:pPr algn="l"/>
                      <a:r>
                        <a:rPr sz="1100" b="0">
                          <a:solidFill>
                            <a:srgbClr val="2E2E2E"/>
                          </a:solidFill>
                          <a:latin typeface="Calibri"/>
                        </a:rPr>
                        <a:t/>
                      </a:r>
                    </a:p>
                  </a:txBody>
                  <a:tcPr marL="70000" marR="70000" marT="45000" marB="45000" anchor="ctr">
                    <a:solidFill>
                      <a:srgbClr val="FFFFFF"/>
                    </a:solidFill>
                  </a:tcP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2" name="TextBox 11"/>
          <p:cNvSpPr txBox="1"/>
          <p:nvPr/>
        </p:nvSpPr>
        <p:spPr>
          <a:xfrm>
            <a:off x="3784750" y="1761432"/>
            <a:ext cx="4661999" cy="186689"/>
          </a:xfrm>
          <a:prstGeom prst="rect">
            <a:avLst/>
          </a:prstGeom>
          <a:noFill/>
        </p:spPr>
        <p:txBody>
          <a:bodyPr wrap="none" lIns="0" rIns="0" tIns="0" bIns="0">
            <a:spAutoFit/>
          </a:bodyPr>
          <a:lstStyle/>
          <a:p>
            <a:r>
              <a:rPr sz="1100" b="0">
                <a:solidFill>
                  <a:srgbClr val="2E2E2E"/>
                </a:solidFill>
                <a:latin typeface="Calibri"/>
              </a:rPr>
              <a:t>Global demand expands at a 7.1% forecast CAGR (2026–2036), accelerating from</a:t>
            </a:r>
          </a:p>
        </p:txBody>
      </p:sp>
      <p:pic>
        <p:nvPicPr>
          <p:cNvPr id="13" name="Picture 12" descr="lock.png"/>
          <p:cNvPicPr>
            <a:picLocks noChangeAspect="1"/>
          </p:cNvPicPr>
          <p:nvPr/>
        </p:nvPicPr>
        <p:blipFill>
          <a:blip r:embed="rId4"/>
          <a:stretch>
            <a:fillRect/>
          </a:stretch>
        </p:blipFill>
        <p:spPr>
          <a:xfrm>
            <a:off x="8394800" y="1751653"/>
            <a:ext cx="128699" cy="187198"/>
          </a:xfrm>
          <a:prstGeom prst="rect">
            <a:avLst/>
          </a:prstGeom>
        </p:spPr>
      </p:pic>
      <p:sp>
        <p:nvSpPr>
          <p:cNvPr id="14" name="TextBox 13"/>
          <p:cNvSpPr txBox="1"/>
          <p:nvPr/>
        </p:nvSpPr>
        <p:spPr>
          <a:xfrm>
            <a:off x="3784750" y="1929072"/>
            <a:ext cx="1137865" cy="186689"/>
          </a:xfrm>
          <a:prstGeom prst="rect">
            <a:avLst/>
          </a:prstGeom>
          <a:noFill/>
        </p:spPr>
        <p:txBody>
          <a:bodyPr wrap="none" lIns="0" rIns="0" tIns="0" bIns="0">
            <a:spAutoFit/>
          </a:bodyPr>
          <a:lstStyle/>
          <a:p>
            <a:r>
              <a:rPr sz="1100" b="0">
                <a:solidFill>
                  <a:srgbClr val="2E2E2E"/>
                </a:solidFill>
                <a:latin typeface="Calibri"/>
              </a:rPr>
              <a:t>across 2021–2025.</a:t>
            </a:r>
          </a:p>
        </p:txBody>
      </p:sp>
      <p:pic>
        <p:nvPicPr>
          <p:cNvPr id="15" name="Picture 14" descr="lock.png"/>
          <p:cNvPicPr>
            <a:picLocks noChangeAspect="1"/>
          </p:cNvPicPr>
          <p:nvPr/>
        </p:nvPicPr>
        <p:blipFill>
          <a:blip r:embed="rId4"/>
          <a:stretch>
            <a:fillRect/>
          </a:stretch>
        </p:blipFill>
        <p:spPr>
          <a:xfrm>
            <a:off x="10214228" y="1689042"/>
            <a:ext cx="330041" cy="480060"/>
          </a:xfrm>
          <a:prstGeom prst="rect">
            <a:avLst/>
          </a:prstGeom>
        </p:spPr>
      </p:pic>
      <p:sp>
        <p:nvSpPr>
          <p:cNvPr id="16" name="TextBox 15"/>
          <p:cNvSpPr txBox="1"/>
          <p:nvPr/>
        </p:nvSpPr>
        <p:spPr>
          <a:xfrm>
            <a:off x="3784750" y="2801893"/>
            <a:ext cx="2039366" cy="186689"/>
          </a:xfrm>
          <a:prstGeom prst="rect">
            <a:avLst/>
          </a:prstGeom>
          <a:noFill/>
        </p:spPr>
        <p:txBody>
          <a:bodyPr wrap="none" lIns="0" rIns="0" tIns="0" bIns="0">
            <a:spAutoFit/>
          </a:bodyPr>
          <a:lstStyle/>
          <a:p>
            <a:r>
              <a:rPr sz="1100" b="0">
                <a:solidFill>
                  <a:srgbClr val="2E2E2E"/>
                </a:solidFill>
                <a:latin typeface="Calibri"/>
              </a:rPr>
              <a:t>Matcha Tea leads Product Type, at</a:t>
            </a:r>
          </a:p>
        </p:txBody>
      </p:sp>
      <p:pic>
        <p:nvPicPr>
          <p:cNvPr id="17" name="Picture 16" descr="lock.png"/>
          <p:cNvPicPr>
            <a:picLocks noChangeAspect="1"/>
          </p:cNvPicPr>
          <p:nvPr/>
        </p:nvPicPr>
        <p:blipFill>
          <a:blip r:embed="rId4"/>
          <a:stretch>
            <a:fillRect/>
          </a:stretch>
        </p:blipFill>
        <p:spPr>
          <a:xfrm>
            <a:off x="5772168" y="2792114"/>
            <a:ext cx="128699" cy="187198"/>
          </a:xfrm>
          <a:prstGeom prst="rect">
            <a:avLst/>
          </a:prstGeom>
        </p:spPr>
      </p:pic>
      <p:sp>
        <p:nvSpPr>
          <p:cNvPr id="18" name="TextBox 17"/>
          <p:cNvSpPr txBox="1"/>
          <p:nvPr/>
        </p:nvSpPr>
        <p:spPr>
          <a:xfrm>
            <a:off x="5939664" y="2801893"/>
            <a:ext cx="2314128" cy="186689"/>
          </a:xfrm>
          <a:prstGeom prst="rect">
            <a:avLst/>
          </a:prstGeom>
          <a:noFill/>
        </p:spPr>
        <p:txBody>
          <a:bodyPr wrap="none" lIns="0" rIns="0" tIns="0" bIns="0">
            <a:spAutoFit/>
          </a:bodyPr>
          <a:lstStyle/>
          <a:p>
            <a:r>
              <a:rPr sz="1100" b="0">
                <a:solidFill>
                  <a:srgbClr val="2E2E2E"/>
                </a:solidFill>
                <a:latin typeface="Calibri"/>
              </a:rPr>
              <a:t>of 2036 value, within a mix of 2 tracked</a:t>
            </a:r>
          </a:p>
        </p:txBody>
      </p:sp>
      <p:sp>
        <p:nvSpPr>
          <p:cNvPr id="19" name="TextBox 18"/>
          <p:cNvSpPr txBox="1"/>
          <p:nvPr/>
        </p:nvSpPr>
        <p:spPr>
          <a:xfrm>
            <a:off x="3784750" y="2969533"/>
            <a:ext cx="698574" cy="186689"/>
          </a:xfrm>
          <a:prstGeom prst="rect">
            <a:avLst/>
          </a:prstGeom>
          <a:noFill/>
        </p:spPr>
        <p:txBody>
          <a:bodyPr wrap="none" lIns="0" rIns="0" tIns="0" bIns="0">
            <a:spAutoFit/>
          </a:bodyPr>
          <a:lstStyle/>
          <a:p>
            <a:r>
              <a:rPr sz="1100" b="0">
                <a:solidFill>
                  <a:srgbClr val="2E2E2E"/>
                </a:solidFill>
                <a:latin typeface="Calibri"/>
              </a:rPr>
              <a:t>categories.</a:t>
            </a:r>
          </a:p>
        </p:txBody>
      </p:sp>
      <p:sp>
        <p:nvSpPr>
          <p:cNvPr id="20" name="TextBox 19"/>
          <p:cNvSpPr txBox="1"/>
          <p:nvPr/>
        </p:nvSpPr>
        <p:spPr>
          <a:xfrm>
            <a:off x="8785375" y="2885713"/>
            <a:ext cx="1149598" cy="186689"/>
          </a:xfrm>
          <a:prstGeom prst="rect">
            <a:avLst/>
          </a:prstGeom>
          <a:noFill/>
        </p:spPr>
        <p:txBody>
          <a:bodyPr wrap="none" lIns="0" rIns="0" tIns="0" bIns="0">
            <a:spAutoFit/>
          </a:bodyPr>
          <a:lstStyle/>
          <a:p>
            <a:r>
              <a:rPr sz="1100" b="0">
                <a:solidFill>
                  <a:srgbClr val="2E2E2E"/>
                </a:solidFill>
                <a:latin typeface="Calibri"/>
              </a:rPr>
              <a:t>Lead: Matcha Tea ·</a:t>
            </a:r>
          </a:p>
        </p:txBody>
      </p:sp>
      <p:pic>
        <p:nvPicPr>
          <p:cNvPr id="21" name="Picture 20" descr="lock.png"/>
          <p:cNvPicPr>
            <a:picLocks noChangeAspect="1"/>
          </p:cNvPicPr>
          <p:nvPr/>
        </p:nvPicPr>
        <p:blipFill>
          <a:blip r:embed="rId4"/>
          <a:stretch>
            <a:fillRect/>
          </a:stretch>
        </p:blipFill>
        <p:spPr>
          <a:xfrm>
            <a:off x="9883024" y="2875934"/>
            <a:ext cx="128699" cy="187198"/>
          </a:xfrm>
          <a:prstGeom prst="rect">
            <a:avLst/>
          </a:prstGeom>
        </p:spPr>
      </p:pic>
      <p:sp>
        <p:nvSpPr>
          <p:cNvPr id="22" name="TextBox 21"/>
          <p:cNvSpPr txBox="1"/>
          <p:nvPr/>
        </p:nvSpPr>
        <p:spPr>
          <a:xfrm>
            <a:off x="10050520" y="2885713"/>
            <a:ext cx="789433" cy="186689"/>
          </a:xfrm>
          <a:prstGeom prst="rect">
            <a:avLst/>
          </a:prstGeom>
          <a:noFill/>
        </p:spPr>
        <p:txBody>
          <a:bodyPr wrap="none" lIns="0" rIns="0" tIns="0" bIns="0">
            <a:spAutoFit/>
          </a:bodyPr>
          <a:lstStyle/>
          <a:p>
            <a:r>
              <a:rPr sz="1100" b="0">
                <a:solidFill>
                  <a:srgbClr val="2E2E2E"/>
                </a:solidFill>
                <a:latin typeface="Calibri"/>
              </a:rPr>
              <a:t>share (2036)</a:t>
            </a:r>
          </a:p>
        </p:txBody>
      </p:sp>
      <p:sp>
        <p:nvSpPr>
          <p:cNvPr id="23" name="TextBox 22"/>
          <p:cNvSpPr txBox="1"/>
          <p:nvPr/>
        </p:nvSpPr>
        <p:spPr>
          <a:xfrm>
            <a:off x="3784750" y="3842354"/>
            <a:ext cx="3764061" cy="186689"/>
          </a:xfrm>
          <a:prstGeom prst="rect">
            <a:avLst/>
          </a:prstGeom>
          <a:noFill/>
        </p:spPr>
        <p:txBody>
          <a:bodyPr wrap="none" lIns="0" rIns="0" tIns="0" bIns="0">
            <a:spAutoFit/>
          </a:bodyPr>
          <a:lstStyle/>
          <a:p>
            <a:r>
              <a:rPr sz="1100" b="0">
                <a:solidFill>
                  <a:srgbClr val="2E2E2E"/>
                </a:solidFill>
                <a:latin typeface="Calibri"/>
              </a:rPr>
              <a:t>Other Applications is the fastest-growing part of Application, at a</a:t>
            </a:r>
          </a:p>
        </p:txBody>
      </p:sp>
      <p:pic>
        <p:nvPicPr>
          <p:cNvPr id="24" name="Picture 23" descr="lock.png"/>
          <p:cNvPicPr>
            <a:picLocks noChangeAspect="1"/>
          </p:cNvPicPr>
          <p:nvPr/>
        </p:nvPicPr>
        <p:blipFill>
          <a:blip r:embed="rId4"/>
          <a:stretch>
            <a:fillRect/>
          </a:stretch>
        </p:blipFill>
        <p:spPr>
          <a:xfrm>
            <a:off x="7496863" y="3832575"/>
            <a:ext cx="128699" cy="187198"/>
          </a:xfrm>
          <a:prstGeom prst="rect">
            <a:avLst/>
          </a:prstGeom>
        </p:spPr>
      </p:pic>
      <p:sp>
        <p:nvSpPr>
          <p:cNvPr id="25" name="TextBox 24"/>
          <p:cNvSpPr txBox="1"/>
          <p:nvPr/>
        </p:nvSpPr>
        <p:spPr>
          <a:xfrm>
            <a:off x="7664359" y="3842354"/>
            <a:ext cx="889280" cy="186689"/>
          </a:xfrm>
          <a:prstGeom prst="rect">
            <a:avLst/>
          </a:prstGeom>
          <a:noFill/>
        </p:spPr>
        <p:txBody>
          <a:bodyPr wrap="none" lIns="0" rIns="0" tIns="0" bIns="0">
            <a:spAutoFit/>
          </a:bodyPr>
          <a:lstStyle/>
          <a:p>
            <a:r>
              <a:rPr sz="1100" b="0">
                <a:solidFill>
                  <a:srgbClr val="2E2E2E"/>
                </a:solidFill>
                <a:latin typeface="Calibri"/>
              </a:rPr>
              <a:t>forecast CAGR</a:t>
            </a:r>
          </a:p>
        </p:txBody>
      </p:sp>
      <p:sp>
        <p:nvSpPr>
          <p:cNvPr id="26" name="TextBox 25"/>
          <p:cNvSpPr txBox="1"/>
          <p:nvPr/>
        </p:nvSpPr>
        <p:spPr>
          <a:xfrm>
            <a:off x="3784750" y="4009994"/>
            <a:ext cx="1692299" cy="186689"/>
          </a:xfrm>
          <a:prstGeom prst="rect">
            <a:avLst/>
          </a:prstGeom>
          <a:noFill/>
        </p:spPr>
        <p:txBody>
          <a:bodyPr wrap="none" lIns="0" rIns="0" tIns="0" bIns="0">
            <a:spAutoFit/>
          </a:bodyPr>
          <a:lstStyle/>
          <a:p>
            <a:r>
              <a:rPr sz="1100" b="0">
                <a:solidFill>
                  <a:srgbClr val="2E2E2E"/>
                </a:solidFill>
                <a:latin typeface="Calibri"/>
              </a:rPr>
              <a:t>outpacing the wider market.</a:t>
            </a:r>
          </a:p>
        </p:txBody>
      </p:sp>
      <p:sp>
        <p:nvSpPr>
          <p:cNvPr id="27" name="TextBox 26"/>
          <p:cNvSpPr txBox="1"/>
          <p:nvPr/>
        </p:nvSpPr>
        <p:spPr>
          <a:xfrm>
            <a:off x="8785375" y="3926174"/>
            <a:ext cx="1677233" cy="186689"/>
          </a:xfrm>
          <a:prstGeom prst="rect">
            <a:avLst/>
          </a:prstGeom>
          <a:noFill/>
        </p:spPr>
        <p:txBody>
          <a:bodyPr wrap="none" lIns="0" rIns="0" tIns="0" bIns="0">
            <a:spAutoFit/>
          </a:bodyPr>
          <a:lstStyle/>
          <a:p>
            <a:r>
              <a:rPr sz="1100" b="0">
                <a:solidFill>
                  <a:srgbClr val="2E2E2E"/>
                </a:solidFill>
                <a:latin typeface="Calibri"/>
              </a:rPr>
              <a:t>Fastest: Other Applications ·</a:t>
            </a:r>
          </a:p>
        </p:txBody>
      </p:sp>
      <p:pic>
        <p:nvPicPr>
          <p:cNvPr id="28" name="Picture 27" descr="lock.png"/>
          <p:cNvPicPr>
            <a:picLocks noChangeAspect="1"/>
          </p:cNvPicPr>
          <p:nvPr/>
        </p:nvPicPr>
        <p:blipFill>
          <a:blip r:embed="rId4"/>
          <a:stretch>
            <a:fillRect/>
          </a:stretch>
        </p:blipFill>
        <p:spPr>
          <a:xfrm>
            <a:off x="10410659" y="3916395"/>
            <a:ext cx="128699" cy="187198"/>
          </a:xfrm>
          <a:prstGeom prst="rect">
            <a:avLst/>
          </a:prstGeom>
        </p:spPr>
      </p:pic>
      <p:sp>
        <p:nvSpPr>
          <p:cNvPr id="29" name="TextBox 28"/>
          <p:cNvSpPr txBox="1"/>
          <p:nvPr/>
        </p:nvSpPr>
        <p:spPr>
          <a:xfrm>
            <a:off x="10578155" y="3926174"/>
            <a:ext cx="502377" cy="186689"/>
          </a:xfrm>
          <a:prstGeom prst="rect">
            <a:avLst/>
          </a:prstGeom>
          <a:noFill/>
        </p:spPr>
        <p:txBody>
          <a:bodyPr wrap="none" lIns="0" rIns="0" tIns="0" bIns="0">
            <a:spAutoFit/>
          </a:bodyPr>
          <a:lstStyle/>
          <a:p>
            <a:r>
              <a:rPr sz="1100" b="0">
                <a:solidFill>
                  <a:srgbClr val="2E2E2E"/>
                </a:solidFill>
                <a:latin typeface="Calibri"/>
              </a:rPr>
              <a:t>F-CAGR</a:t>
            </a:r>
          </a:p>
        </p:txBody>
      </p:sp>
      <p:sp>
        <p:nvSpPr>
          <p:cNvPr id="30" name="TextBox 29"/>
          <p:cNvSpPr txBox="1"/>
          <p:nvPr/>
        </p:nvSpPr>
        <p:spPr>
          <a:xfrm>
            <a:off x="3784750" y="4882815"/>
            <a:ext cx="2673474" cy="186689"/>
          </a:xfrm>
          <a:prstGeom prst="rect">
            <a:avLst/>
          </a:prstGeom>
          <a:noFill/>
        </p:spPr>
        <p:txBody>
          <a:bodyPr wrap="none" lIns="0" rIns="0" tIns="0" bIns="0">
            <a:spAutoFit/>
          </a:bodyPr>
          <a:lstStyle/>
          <a:p>
            <a:r>
              <a:rPr sz="1100" b="0">
                <a:solidFill>
                  <a:srgbClr val="2E2E2E"/>
                </a:solidFill>
                <a:latin typeface="Calibri"/>
              </a:rPr>
              <a:t>North America is the largest regional market (</a:t>
            </a:r>
          </a:p>
        </p:txBody>
      </p:sp>
      <p:pic>
        <p:nvPicPr>
          <p:cNvPr id="31" name="Picture 30" descr="lock.png"/>
          <p:cNvPicPr>
            <a:picLocks noChangeAspect="1"/>
          </p:cNvPicPr>
          <p:nvPr/>
        </p:nvPicPr>
        <p:blipFill>
          <a:blip r:embed="rId4"/>
          <a:stretch>
            <a:fillRect/>
          </a:stretch>
        </p:blipFill>
        <p:spPr>
          <a:xfrm>
            <a:off x="6406275" y="4873036"/>
            <a:ext cx="128699" cy="187198"/>
          </a:xfrm>
          <a:prstGeom prst="rect">
            <a:avLst/>
          </a:prstGeom>
        </p:spPr>
      </p:pic>
      <p:sp>
        <p:nvSpPr>
          <p:cNvPr id="32" name="TextBox 31"/>
          <p:cNvSpPr txBox="1"/>
          <p:nvPr/>
        </p:nvSpPr>
        <p:spPr>
          <a:xfrm>
            <a:off x="6573771" y="4882815"/>
            <a:ext cx="2016720" cy="186689"/>
          </a:xfrm>
          <a:prstGeom prst="rect">
            <a:avLst/>
          </a:prstGeom>
          <a:noFill/>
        </p:spPr>
        <p:txBody>
          <a:bodyPr wrap="none" lIns="0" rIns="0" tIns="0" bIns="0">
            <a:spAutoFit/>
          </a:bodyPr>
          <a:lstStyle/>
          <a:p>
            <a:r>
              <a:rPr sz="1100" b="0">
                <a:solidFill>
                  <a:srgbClr val="2E2E2E"/>
                </a:solidFill>
                <a:latin typeface="Calibri"/>
              </a:rPr>
              <a:t>of 2036 value), while South Asia &amp;</a:t>
            </a:r>
          </a:p>
        </p:txBody>
      </p:sp>
      <p:sp>
        <p:nvSpPr>
          <p:cNvPr id="33" name="TextBox 32"/>
          <p:cNvSpPr txBox="1"/>
          <p:nvPr/>
        </p:nvSpPr>
        <p:spPr>
          <a:xfrm>
            <a:off x="3784750" y="5050455"/>
            <a:ext cx="1374154" cy="186689"/>
          </a:xfrm>
          <a:prstGeom prst="rect">
            <a:avLst/>
          </a:prstGeom>
          <a:noFill/>
        </p:spPr>
        <p:txBody>
          <a:bodyPr wrap="none" lIns="0" rIns="0" tIns="0" bIns="0">
            <a:spAutoFit/>
          </a:bodyPr>
          <a:lstStyle/>
          <a:p>
            <a:r>
              <a:rPr sz="1100" b="0">
                <a:solidFill>
                  <a:srgbClr val="2E2E2E"/>
                </a:solidFill>
                <a:latin typeface="Calibri"/>
              </a:rPr>
              <a:t>Pacific grows fastest at</a:t>
            </a:r>
          </a:p>
        </p:txBody>
      </p:sp>
      <p:pic>
        <p:nvPicPr>
          <p:cNvPr id="34" name="Picture 33" descr="lock.png"/>
          <p:cNvPicPr>
            <a:picLocks noChangeAspect="1"/>
          </p:cNvPicPr>
          <p:nvPr/>
        </p:nvPicPr>
        <p:blipFill>
          <a:blip r:embed="rId4"/>
          <a:stretch>
            <a:fillRect/>
          </a:stretch>
        </p:blipFill>
        <p:spPr>
          <a:xfrm>
            <a:off x="5106956" y="5040676"/>
            <a:ext cx="128699" cy="187198"/>
          </a:xfrm>
          <a:prstGeom prst="rect">
            <a:avLst/>
          </a:prstGeom>
        </p:spPr>
      </p:pic>
      <p:sp>
        <p:nvSpPr>
          <p:cNvPr id="35" name="TextBox 34"/>
          <p:cNvSpPr txBox="1"/>
          <p:nvPr/>
        </p:nvSpPr>
        <p:spPr>
          <a:xfrm>
            <a:off x="5274452" y="505045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6" name="TextBox 35"/>
          <p:cNvSpPr txBox="1"/>
          <p:nvPr/>
        </p:nvSpPr>
        <p:spPr>
          <a:xfrm>
            <a:off x="8785375" y="4882815"/>
            <a:ext cx="1464195" cy="186689"/>
          </a:xfrm>
          <a:prstGeom prst="rect">
            <a:avLst/>
          </a:prstGeom>
          <a:noFill/>
        </p:spPr>
        <p:txBody>
          <a:bodyPr wrap="none" lIns="0" rIns="0" tIns="0" bIns="0">
            <a:spAutoFit/>
          </a:bodyPr>
          <a:lstStyle/>
          <a:p>
            <a:r>
              <a:rPr sz="1100" b="0">
                <a:solidFill>
                  <a:srgbClr val="2E2E2E"/>
                </a:solidFill>
                <a:latin typeface="Calibri"/>
              </a:rPr>
              <a:t>Largest: North America (</a:t>
            </a:r>
          </a:p>
        </p:txBody>
      </p:sp>
      <p:pic>
        <p:nvPicPr>
          <p:cNvPr id="37" name="Picture 36" descr="lock.png"/>
          <p:cNvPicPr>
            <a:picLocks noChangeAspect="1"/>
          </p:cNvPicPr>
          <p:nvPr/>
        </p:nvPicPr>
        <p:blipFill>
          <a:blip r:embed="rId4"/>
          <a:stretch>
            <a:fillRect/>
          </a:stretch>
        </p:blipFill>
        <p:spPr>
          <a:xfrm>
            <a:off x="10197622" y="4873036"/>
            <a:ext cx="128699" cy="187198"/>
          </a:xfrm>
          <a:prstGeom prst="rect">
            <a:avLst/>
          </a:prstGeom>
        </p:spPr>
      </p:pic>
      <p:sp>
        <p:nvSpPr>
          <p:cNvPr id="38" name="TextBox 37"/>
          <p:cNvSpPr txBox="1"/>
          <p:nvPr/>
        </p:nvSpPr>
        <p:spPr>
          <a:xfrm>
            <a:off x="10365118" y="4882815"/>
            <a:ext cx="1413931" cy="186689"/>
          </a:xfrm>
          <a:prstGeom prst="rect">
            <a:avLst/>
          </a:prstGeom>
          <a:noFill/>
        </p:spPr>
        <p:txBody>
          <a:bodyPr wrap="none" lIns="0" rIns="0" tIns="0" bIns="0">
            <a:spAutoFit/>
          </a:bodyPr>
          <a:lstStyle/>
          <a:p>
            <a:r>
              <a:rPr sz="1100" b="0">
                <a:solidFill>
                  <a:srgbClr val="2E2E2E"/>
                </a:solidFill>
                <a:latin typeface="Calibri"/>
              </a:rPr>
              <a:t>) · Fastest: South Asia &amp;</a:t>
            </a:r>
          </a:p>
        </p:txBody>
      </p:sp>
      <p:sp>
        <p:nvSpPr>
          <p:cNvPr id="39" name="TextBox 38"/>
          <p:cNvSpPr txBox="1"/>
          <p:nvPr/>
        </p:nvSpPr>
        <p:spPr>
          <a:xfrm>
            <a:off x="8785375" y="5050455"/>
            <a:ext cx="514672" cy="186689"/>
          </a:xfrm>
          <a:prstGeom prst="rect">
            <a:avLst/>
          </a:prstGeom>
          <a:noFill/>
        </p:spPr>
        <p:txBody>
          <a:bodyPr wrap="none" lIns="0" rIns="0" tIns="0" bIns="0">
            <a:spAutoFit/>
          </a:bodyPr>
          <a:lstStyle/>
          <a:p>
            <a:r>
              <a:rPr sz="1100" b="0">
                <a:solidFill>
                  <a:srgbClr val="2E2E2E"/>
                </a:solidFill>
                <a:latin typeface="Calibri"/>
              </a:rPr>
              <a:t>Pacific (</a:t>
            </a:r>
          </a:p>
        </p:txBody>
      </p:sp>
      <p:pic>
        <p:nvPicPr>
          <p:cNvPr id="40" name="Picture 39" descr="lock.png"/>
          <p:cNvPicPr>
            <a:picLocks noChangeAspect="1"/>
          </p:cNvPicPr>
          <p:nvPr/>
        </p:nvPicPr>
        <p:blipFill>
          <a:blip r:embed="rId4"/>
          <a:stretch>
            <a:fillRect/>
          </a:stretch>
        </p:blipFill>
        <p:spPr>
          <a:xfrm>
            <a:off x="9248099" y="5040676"/>
            <a:ext cx="128699" cy="187198"/>
          </a:xfrm>
          <a:prstGeom prst="rect">
            <a:avLst/>
          </a:prstGeom>
        </p:spPr>
      </p:pic>
      <p:sp>
        <p:nvSpPr>
          <p:cNvPr id="41" name="TextBox 40"/>
          <p:cNvSpPr txBox="1"/>
          <p:nvPr/>
        </p:nvSpPr>
        <p:spPr>
          <a:xfrm>
            <a:off x="9415594" y="5050455"/>
            <a:ext cx="118491" cy="186689"/>
          </a:xfrm>
          <a:prstGeom prst="rect">
            <a:avLst/>
          </a:prstGeom>
          <a:noFill/>
        </p:spPr>
        <p:txBody>
          <a:bodyPr wrap="none" lIns="0" rIns="0" tIns="0" bIns="0">
            <a:spAutoFit/>
          </a:bodyPr>
          <a:lstStyle/>
          <a:p>
            <a:r>
              <a:rPr sz="1100" b="0">
                <a:solidFill>
                  <a:srgbClr val="2E2E2E"/>
                </a:solidFill>
                <a:latin typeface="Calibri"/>
              </a:rPr>
              <a:t>)</a:t>
            </a:r>
          </a:p>
        </p:txBody>
      </p:sp>
      <p:sp>
        <p:nvSpPr>
          <p:cNvPr id="42" name="TextBox 41"/>
          <p:cNvSpPr txBox="1"/>
          <p:nvPr/>
        </p:nvSpPr>
        <p:spPr>
          <a:xfrm>
            <a:off x="3784750" y="5923276"/>
            <a:ext cx="945777" cy="186689"/>
          </a:xfrm>
          <a:prstGeom prst="rect">
            <a:avLst/>
          </a:prstGeom>
          <a:noFill/>
        </p:spPr>
        <p:txBody>
          <a:bodyPr wrap="none" lIns="0" rIns="0" tIns="0" bIns="0">
            <a:spAutoFit/>
          </a:bodyPr>
          <a:lstStyle/>
          <a:p>
            <a:r>
              <a:rPr sz="1100" b="0">
                <a:solidFill>
                  <a:srgbClr val="2E2E2E"/>
                </a:solidFill>
                <a:latin typeface="Calibri"/>
              </a:rPr>
              <a:t>An incremental</a:t>
            </a:r>
          </a:p>
        </p:txBody>
      </p:sp>
      <p:pic>
        <p:nvPicPr>
          <p:cNvPr id="43" name="Picture 42" descr="lock.png"/>
          <p:cNvPicPr>
            <a:picLocks noChangeAspect="1"/>
          </p:cNvPicPr>
          <p:nvPr/>
        </p:nvPicPr>
        <p:blipFill>
          <a:blip r:embed="rId4"/>
          <a:stretch>
            <a:fillRect/>
          </a:stretch>
        </p:blipFill>
        <p:spPr>
          <a:xfrm>
            <a:off x="4678579" y="5913497"/>
            <a:ext cx="128699" cy="187198"/>
          </a:xfrm>
          <a:prstGeom prst="rect">
            <a:avLst/>
          </a:prstGeom>
        </p:spPr>
      </p:pic>
      <p:sp>
        <p:nvSpPr>
          <p:cNvPr id="44" name="TextBox 43"/>
          <p:cNvSpPr txBox="1"/>
          <p:nvPr/>
        </p:nvSpPr>
        <p:spPr>
          <a:xfrm>
            <a:off x="4846075" y="5923276"/>
            <a:ext cx="3125043" cy="186689"/>
          </a:xfrm>
          <a:prstGeom prst="rect">
            <a:avLst/>
          </a:prstGeom>
          <a:noFill/>
        </p:spPr>
        <p:txBody>
          <a:bodyPr wrap="none" lIns="0" rIns="0" tIns="0" bIns="0">
            <a:spAutoFit/>
          </a:bodyPr>
          <a:lstStyle/>
          <a:p>
            <a:r>
              <a:rPr sz="1100" b="0">
                <a:solidFill>
                  <a:srgbClr val="2E2E2E"/>
                </a:solidFill>
                <a:latin typeface="Calibri"/>
              </a:rPr>
              <a:t>US$ Mn of demand is added between 2026 and 2036,</a:t>
            </a:r>
          </a:p>
        </p:txBody>
      </p:sp>
      <p:sp>
        <p:nvSpPr>
          <p:cNvPr id="45" name="TextBox 44"/>
          <p:cNvSpPr txBox="1"/>
          <p:nvPr/>
        </p:nvSpPr>
        <p:spPr>
          <a:xfrm>
            <a:off x="3784750" y="6090916"/>
            <a:ext cx="3324497" cy="186689"/>
          </a:xfrm>
          <a:prstGeom prst="rect">
            <a:avLst/>
          </a:prstGeom>
          <a:noFill/>
        </p:spPr>
        <p:txBody>
          <a:bodyPr wrap="none" lIns="0" rIns="0" tIns="0" bIns="0">
            <a:spAutoFit/>
          </a:bodyPr>
          <a:lstStyle/>
          <a:p>
            <a:r>
              <a:rPr sz="1100" b="0">
                <a:solidFill>
                  <a:srgbClr val="2E2E2E"/>
                </a:solidFill>
                <a:latin typeface="Calibri"/>
              </a:rPr>
              <a:t>front-loaded in the leading categories and regions above.</a:t>
            </a:r>
          </a:p>
        </p:txBody>
      </p:sp>
      <p:sp>
        <p:nvSpPr>
          <p:cNvPr id="46" name="TextBox 45"/>
          <p:cNvSpPr txBox="1"/>
          <p:nvPr/>
        </p:nvSpPr>
        <p:spPr>
          <a:xfrm>
            <a:off x="8785375" y="6007096"/>
            <a:ext cx="857919" cy="186689"/>
          </a:xfrm>
          <a:prstGeom prst="rect">
            <a:avLst/>
          </a:prstGeom>
          <a:noFill/>
        </p:spPr>
        <p:txBody>
          <a:bodyPr wrap="none" lIns="0" rIns="0" tIns="0" bIns="0">
            <a:spAutoFit/>
          </a:bodyPr>
          <a:lstStyle/>
          <a:p>
            <a:r>
              <a:rPr sz="1100" b="0">
                <a:solidFill>
                  <a:srgbClr val="2E2E2E"/>
                </a:solidFill>
                <a:latin typeface="Calibri"/>
              </a:rPr>
              <a:t>$ opportunity</a:t>
            </a:r>
          </a:p>
        </p:txBody>
      </p:sp>
      <p:pic>
        <p:nvPicPr>
          <p:cNvPr id="47" name="Picture 46" descr="lock.png"/>
          <p:cNvPicPr>
            <a:picLocks noChangeAspect="1"/>
          </p:cNvPicPr>
          <p:nvPr/>
        </p:nvPicPr>
        <p:blipFill>
          <a:blip r:embed="rId4"/>
          <a:stretch>
            <a:fillRect/>
          </a:stretch>
        </p:blipFill>
        <p:spPr>
          <a:xfrm>
            <a:off x="9591346" y="5997317"/>
            <a:ext cx="128699" cy="187198"/>
          </a:xfrm>
          <a:prstGeom prst="rect">
            <a:avLst/>
          </a:prstGeom>
        </p:spPr>
      </p:pic>
      <p:sp>
        <p:nvSpPr>
          <p:cNvPr id="48" name="TextBox 47"/>
          <p:cNvSpPr txBox="1"/>
          <p:nvPr/>
        </p:nvSpPr>
        <p:spPr>
          <a:xfrm>
            <a:off x="9758842" y="6007096"/>
            <a:ext cx="1345778" cy="186689"/>
          </a:xfrm>
          <a:prstGeom prst="rect">
            <a:avLst/>
          </a:prstGeom>
          <a:noFill/>
        </p:spPr>
        <p:txBody>
          <a:bodyPr wrap="none" lIns="0" rIns="0" tIns="0" bIns="0">
            <a:spAutoFit/>
          </a:bodyPr>
          <a:lstStyle/>
          <a:p>
            <a:r>
              <a:rPr sz="1100" b="0">
                <a:solidFill>
                  <a:srgbClr val="2E2E2E"/>
                </a:solidFill>
                <a:latin typeface="Calibri"/>
              </a:rPr>
              <a:t>US$ Mn (2026–2036) ·</a:t>
            </a:r>
          </a:p>
        </p:txBody>
      </p:sp>
      <p:pic>
        <p:nvPicPr>
          <p:cNvPr id="49" name="Picture 48" descr="lock.png"/>
          <p:cNvPicPr>
            <a:picLocks noChangeAspect="1"/>
          </p:cNvPicPr>
          <p:nvPr/>
        </p:nvPicPr>
        <p:blipFill>
          <a:blip r:embed="rId4"/>
          <a:stretch>
            <a:fillRect/>
          </a:stretch>
        </p:blipFill>
        <p:spPr>
          <a:xfrm>
            <a:off x="11052672" y="5997317"/>
            <a:ext cx="128699" cy="187198"/>
          </a:xfrm>
          <a:prstGeom prst="rect">
            <a:avLst/>
          </a:prstGeom>
        </p:spPr>
      </p:pic>
      <p:sp>
        <p:nvSpPr>
          <p:cNvPr id="50" name="TextBox 49"/>
          <p:cNvSpPr txBox="1"/>
          <p:nvPr/>
        </p:nvSpPr>
        <p:spPr>
          <a:xfrm>
            <a:off x="11220167" y="6007096"/>
            <a:ext cx="528315" cy="186689"/>
          </a:xfrm>
          <a:prstGeom prst="rect">
            <a:avLst/>
          </a:prstGeom>
          <a:noFill/>
        </p:spPr>
        <p:txBody>
          <a:bodyPr wrap="none" lIns="0" rIns="0" tIns="0" bIns="0">
            <a:spAutoFit/>
          </a:bodyPr>
          <a:lstStyle/>
          <a:p>
            <a:r>
              <a:rPr sz="1100" b="0">
                <a:solidFill>
                  <a:srgbClr val="2E2E2E"/>
                </a:solidFill>
                <a:latin typeface="Calibri"/>
              </a:rPr>
              <a:t>by 2031</a:t>
            </a:r>
          </a:p>
        </p:txBody>
      </p:sp>
    </p:spTree>
  </p:cSld>
  <p:clrMapOvr>
    <a:masterClrMapping/>
  </p:clrMapOvr>
</p:sld>
</file>

<file path=ppt/slides/slide5.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Market Overview</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Taxonomy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Table of Contents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List of Figures, List of Tables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Market Taxonomy</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Geographic Coverage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Segments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Coverage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Regions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Geographic scope of the study: the global market broken into 6 regions and the countries assessed under each</a:t>
            </a:r>
          </a:p>
        </p:txBody>
      </p:sp>
      <p:cxnSp>
        <p:nvCxnSpPr>
          <p:cNvPr id="10" name="Connector 9"/>
          <p:cNvCxnSpPr/>
          <p:nvPr/>
        </p:nvCxnSpPr>
        <p:spPr>
          <a:xfrm>
            <a:off x="6096000" y="1445350"/>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1" name="Connector 10"/>
          <p:cNvCxnSpPr/>
          <p:nvPr/>
        </p:nvCxnSpPr>
        <p:spPr>
          <a:xfrm>
            <a:off x="1085850" y="1627887"/>
            <a:ext cx="10010775" cy="0"/>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10858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308610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5086350"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70961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909637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1096625" y="1627887"/>
            <a:ext cx="0" cy="182537"/>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1525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15252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315277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152775"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152775"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5153025"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5153025" y="2567952"/>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5153025" y="2933026"/>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5153025" y="3298100"/>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153025" y="3663174"/>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5153025" y="4028248"/>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5153025" y="439332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5153025" y="4767523"/>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5153025" y="5132597"/>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153025" y="5497671"/>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153025" y="5862745"/>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153025" y="6227819"/>
            <a:ext cx="0" cy="63888"/>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71628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71628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71628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8" name="Connector 37"/>
          <p:cNvCxnSpPr/>
          <p:nvPr/>
        </p:nvCxnSpPr>
        <p:spPr>
          <a:xfrm>
            <a:off x="916305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39" name="Connector 38"/>
          <p:cNvCxnSpPr/>
          <p:nvPr/>
        </p:nvCxnSpPr>
        <p:spPr>
          <a:xfrm>
            <a:off x="916305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0" name="Connector 39"/>
          <p:cNvCxnSpPr/>
          <p:nvPr/>
        </p:nvCxnSpPr>
        <p:spPr>
          <a:xfrm>
            <a:off x="916305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1" name="Connector 40"/>
          <p:cNvCxnSpPr/>
          <p:nvPr/>
        </p:nvCxnSpPr>
        <p:spPr>
          <a:xfrm>
            <a:off x="916305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2" name="Connector 41"/>
          <p:cNvCxnSpPr/>
          <p:nvPr/>
        </p:nvCxnSpPr>
        <p:spPr>
          <a:xfrm>
            <a:off x="916305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916305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916305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9163050" y="4813157"/>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9163050" y="5187358"/>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11163300" y="2111610"/>
            <a:ext cx="0" cy="155156"/>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1163300" y="2567952"/>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11163300" y="2942153"/>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11163300" y="3316354"/>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11163300" y="36905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11163300" y="4064755"/>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cxnSp>
        <p:nvCxnSpPr>
          <p:cNvPr id="53" name="Connector 52"/>
          <p:cNvCxnSpPr/>
          <p:nvPr/>
        </p:nvCxnSpPr>
        <p:spPr>
          <a:xfrm>
            <a:off x="11163300" y="4438956"/>
            <a:ext cx="0" cy="73015"/>
          </a:xfrm>
          <a:prstGeom prst="line">
            <a:avLst/>
          </a:prstGeom>
          <a:ln w="15875">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54" name="Rounded Rectangle 53"/>
          <p:cNvSpPr/>
          <p:nvPr/>
        </p:nvSpPr>
        <p:spPr>
          <a:xfrm>
            <a:off x="4667250" y="1080276"/>
            <a:ext cx="2857500" cy="365074"/>
          </a:xfrm>
          <a:prstGeom prst="roundRect">
            <a:avLst>
              <a:gd name="adj" fmla="val 17500"/>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500" b="1">
                <a:solidFill>
                  <a:srgbClr val="FFFFFF"/>
                </a:solidFill>
                <a:latin typeface="Calibri"/>
              </a:rPr>
              <a:t>Matcha Market</a:t>
            </a:r>
          </a:p>
        </p:txBody>
      </p:sp>
      <p:sp>
        <p:nvSpPr>
          <p:cNvPr id="55" name="Rounded Rectangle 54"/>
          <p:cNvSpPr/>
          <p:nvPr/>
        </p:nvSpPr>
        <p:spPr>
          <a:xfrm>
            <a:off x="1428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North America</a:t>
            </a:r>
          </a:p>
        </p:txBody>
      </p:sp>
      <p:sp>
        <p:nvSpPr>
          <p:cNvPr id="56" name="Rounded Rectangle 55"/>
          <p:cNvSpPr/>
          <p:nvPr/>
        </p:nvSpPr>
        <p:spPr>
          <a:xfrm>
            <a:off x="2762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U.S.</a:t>
            </a:r>
          </a:p>
        </p:txBody>
      </p:sp>
      <p:sp>
        <p:nvSpPr>
          <p:cNvPr id="57" name="Rounded Rectangle 56"/>
          <p:cNvSpPr/>
          <p:nvPr/>
        </p:nvSpPr>
        <p:spPr>
          <a:xfrm>
            <a:off x="27622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Canada</a:t>
            </a:r>
          </a:p>
        </p:txBody>
      </p:sp>
      <p:sp>
        <p:nvSpPr>
          <p:cNvPr id="58" name="Rounded Rectangle 57"/>
          <p:cNvSpPr/>
          <p:nvPr/>
        </p:nvSpPr>
        <p:spPr>
          <a:xfrm>
            <a:off x="214312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Latin America</a:t>
            </a:r>
          </a:p>
        </p:txBody>
      </p:sp>
      <p:sp>
        <p:nvSpPr>
          <p:cNvPr id="59" name="Rounded Rectangle 58"/>
          <p:cNvSpPr/>
          <p:nvPr/>
        </p:nvSpPr>
        <p:spPr>
          <a:xfrm>
            <a:off x="227647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Brazil</a:t>
            </a:r>
          </a:p>
        </p:txBody>
      </p:sp>
      <p:sp>
        <p:nvSpPr>
          <p:cNvPr id="60" name="Rounded Rectangle 59"/>
          <p:cNvSpPr/>
          <p:nvPr/>
        </p:nvSpPr>
        <p:spPr>
          <a:xfrm>
            <a:off x="2276475"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Mexico</a:t>
            </a:r>
          </a:p>
        </p:txBody>
      </p:sp>
      <p:sp>
        <p:nvSpPr>
          <p:cNvPr id="61" name="Rounded Rectangle 60"/>
          <p:cNvSpPr/>
          <p:nvPr/>
        </p:nvSpPr>
        <p:spPr>
          <a:xfrm>
            <a:off x="2276475"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LATAM</a:t>
            </a:r>
          </a:p>
        </p:txBody>
      </p:sp>
      <p:sp>
        <p:nvSpPr>
          <p:cNvPr id="62" name="Rounded Rectangle 61"/>
          <p:cNvSpPr/>
          <p:nvPr/>
        </p:nvSpPr>
        <p:spPr>
          <a:xfrm>
            <a:off x="4143375"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Europe</a:t>
            </a:r>
          </a:p>
        </p:txBody>
      </p:sp>
      <p:sp>
        <p:nvSpPr>
          <p:cNvPr id="63" name="Rounded Rectangle 62"/>
          <p:cNvSpPr/>
          <p:nvPr/>
        </p:nvSpPr>
        <p:spPr>
          <a:xfrm>
            <a:off x="4276725"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Germany</a:t>
            </a:r>
          </a:p>
        </p:txBody>
      </p:sp>
      <p:sp>
        <p:nvSpPr>
          <p:cNvPr id="64" name="Rounded Rectangle 63"/>
          <p:cNvSpPr/>
          <p:nvPr/>
        </p:nvSpPr>
        <p:spPr>
          <a:xfrm>
            <a:off x="4276725" y="263184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U.K.</a:t>
            </a:r>
          </a:p>
        </p:txBody>
      </p:sp>
      <p:sp>
        <p:nvSpPr>
          <p:cNvPr id="65" name="Rounded Rectangle 64"/>
          <p:cNvSpPr/>
          <p:nvPr/>
        </p:nvSpPr>
        <p:spPr>
          <a:xfrm>
            <a:off x="4276725" y="2996914"/>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France</a:t>
            </a:r>
          </a:p>
        </p:txBody>
      </p:sp>
      <p:sp>
        <p:nvSpPr>
          <p:cNvPr id="66" name="Rounded Rectangle 65"/>
          <p:cNvSpPr/>
          <p:nvPr/>
        </p:nvSpPr>
        <p:spPr>
          <a:xfrm>
            <a:off x="4276725" y="336198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Italy</a:t>
            </a:r>
          </a:p>
        </p:txBody>
      </p:sp>
      <p:sp>
        <p:nvSpPr>
          <p:cNvPr id="67" name="Rounded Rectangle 66"/>
          <p:cNvSpPr/>
          <p:nvPr/>
        </p:nvSpPr>
        <p:spPr>
          <a:xfrm>
            <a:off x="4276725" y="372706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Spain</a:t>
            </a:r>
          </a:p>
        </p:txBody>
      </p:sp>
      <p:sp>
        <p:nvSpPr>
          <p:cNvPr id="68" name="Rounded Rectangle 67"/>
          <p:cNvSpPr/>
          <p:nvPr/>
        </p:nvSpPr>
        <p:spPr>
          <a:xfrm>
            <a:off x="4276725" y="409213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Belgium</a:t>
            </a:r>
          </a:p>
        </p:txBody>
      </p:sp>
      <p:sp>
        <p:nvSpPr>
          <p:cNvPr id="69" name="Rounded Rectangle 68"/>
          <p:cNvSpPr/>
          <p:nvPr/>
        </p:nvSpPr>
        <p:spPr>
          <a:xfrm>
            <a:off x="4276725" y="446633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Netherlands</a:t>
            </a:r>
          </a:p>
        </p:txBody>
      </p:sp>
      <p:sp>
        <p:nvSpPr>
          <p:cNvPr id="70" name="Rounded Rectangle 69"/>
          <p:cNvSpPr/>
          <p:nvPr/>
        </p:nvSpPr>
        <p:spPr>
          <a:xfrm>
            <a:off x="4276725" y="483141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Nordic</a:t>
            </a:r>
          </a:p>
        </p:txBody>
      </p:sp>
      <p:sp>
        <p:nvSpPr>
          <p:cNvPr id="71" name="Rounded Rectangle 70"/>
          <p:cNvSpPr/>
          <p:nvPr/>
        </p:nvSpPr>
        <p:spPr>
          <a:xfrm>
            <a:off x="4276725" y="5196485"/>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Russia</a:t>
            </a:r>
          </a:p>
        </p:txBody>
      </p:sp>
      <p:sp>
        <p:nvSpPr>
          <p:cNvPr id="72" name="Rounded Rectangle 71"/>
          <p:cNvSpPr/>
          <p:nvPr/>
        </p:nvSpPr>
        <p:spPr>
          <a:xfrm>
            <a:off x="4276725" y="556155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Poland</a:t>
            </a:r>
          </a:p>
        </p:txBody>
      </p:sp>
      <p:sp>
        <p:nvSpPr>
          <p:cNvPr id="73" name="Rounded Rectangle 72"/>
          <p:cNvSpPr/>
          <p:nvPr/>
        </p:nvSpPr>
        <p:spPr>
          <a:xfrm>
            <a:off x="4276725" y="592663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Switzerland</a:t>
            </a:r>
          </a:p>
        </p:txBody>
      </p:sp>
      <p:sp>
        <p:nvSpPr>
          <p:cNvPr id="74" name="Rounded Rectangle 73"/>
          <p:cNvSpPr/>
          <p:nvPr/>
        </p:nvSpPr>
        <p:spPr>
          <a:xfrm>
            <a:off x="4276725" y="629170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Europe</a:t>
            </a:r>
          </a:p>
        </p:txBody>
      </p:sp>
      <p:sp>
        <p:nvSpPr>
          <p:cNvPr id="75" name="Rounded Rectangle 74"/>
          <p:cNvSpPr/>
          <p:nvPr/>
        </p:nvSpPr>
        <p:spPr>
          <a:xfrm>
            <a:off x="61531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East Asia</a:t>
            </a:r>
          </a:p>
        </p:txBody>
      </p:sp>
      <p:sp>
        <p:nvSpPr>
          <p:cNvPr id="76" name="Rounded Rectangle 75"/>
          <p:cNvSpPr/>
          <p:nvPr/>
        </p:nvSpPr>
        <p:spPr>
          <a:xfrm>
            <a:off x="62865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China</a:t>
            </a:r>
          </a:p>
        </p:txBody>
      </p:sp>
      <p:sp>
        <p:nvSpPr>
          <p:cNvPr id="77" name="Rounded Rectangle 76"/>
          <p:cNvSpPr/>
          <p:nvPr/>
        </p:nvSpPr>
        <p:spPr>
          <a:xfrm>
            <a:off x="62865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Japan</a:t>
            </a:r>
          </a:p>
        </p:txBody>
      </p:sp>
      <p:sp>
        <p:nvSpPr>
          <p:cNvPr id="78" name="Rounded Rectangle 77"/>
          <p:cNvSpPr/>
          <p:nvPr/>
        </p:nvSpPr>
        <p:spPr>
          <a:xfrm>
            <a:off x="62865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Korea</a:t>
            </a:r>
          </a:p>
        </p:txBody>
      </p:sp>
      <p:sp>
        <p:nvSpPr>
          <p:cNvPr id="79" name="Rounded Rectangle 78"/>
          <p:cNvSpPr/>
          <p:nvPr/>
        </p:nvSpPr>
        <p:spPr>
          <a:xfrm>
            <a:off x="815340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South Asia &amp; Pacific</a:t>
            </a:r>
          </a:p>
        </p:txBody>
      </p:sp>
      <p:sp>
        <p:nvSpPr>
          <p:cNvPr id="80" name="Rounded Rectangle 79"/>
          <p:cNvSpPr/>
          <p:nvPr/>
        </p:nvSpPr>
        <p:spPr>
          <a:xfrm>
            <a:off x="828675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India</a:t>
            </a:r>
          </a:p>
        </p:txBody>
      </p:sp>
      <p:sp>
        <p:nvSpPr>
          <p:cNvPr id="81" name="Rounded Rectangle 80"/>
          <p:cNvSpPr/>
          <p:nvPr/>
        </p:nvSpPr>
        <p:spPr>
          <a:xfrm>
            <a:off x="828675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Thailand</a:t>
            </a:r>
          </a:p>
        </p:txBody>
      </p:sp>
      <p:sp>
        <p:nvSpPr>
          <p:cNvPr id="82" name="Rounded Rectangle 81"/>
          <p:cNvSpPr/>
          <p:nvPr/>
        </p:nvSpPr>
        <p:spPr>
          <a:xfrm>
            <a:off x="828675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Malaysia</a:t>
            </a:r>
          </a:p>
        </p:txBody>
      </p:sp>
      <p:sp>
        <p:nvSpPr>
          <p:cNvPr id="83" name="Rounded Rectangle 82"/>
          <p:cNvSpPr/>
          <p:nvPr/>
        </p:nvSpPr>
        <p:spPr>
          <a:xfrm>
            <a:off x="828675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Indonesia</a:t>
            </a:r>
          </a:p>
        </p:txBody>
      </p:sp>
      <p:sp>
        <p:nvSpPr>
          <p:cNvPr id="84" name="Rounded Rectangle 83"/>
          <p:cNvSpPr/>
          <p:nvPr/>
        </p:nvSpPr>
        <p:spPr>
          <a:xfrm>
            <a:off x="828675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Philippines</a:t>
            </a:r>
          </a:p>
        </p:txBody>
      </p:sp>
      <p:sp>
        <p:nvSpPr>
          <p:cNvPr id="85" name="Rounded Rectangle 84"/>
          <p:cNvSpPr/>
          <p:nvPr/>
        </p:nvSpPr>
        <p:spPr>
          <a:xfrm>
            <a:off x="828675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Singapore</a:t>
            </a:r>
          </a:p>
        </p:txBody>
      </p:sp>
      <p:sp>
        <p:nvSpPr>
          <p:cNvPr id="86" name="Rounded Rectangle 85"/>
          <p:cNvSpPr/>
          <p:nvPr/>
        </p:nvSpPr>
        <p:spPr>
          <a:xfrm>
            <a:off x="828675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Australia</a:t>
            </a:r>
          </a:p>
        </p:txBody>
      </p:sp>
      <p:sp>
        <p:nvSpPr>
          <p:cNvPr id="87" name="Rounded Rectangle 86"/>
          <p:cNvSpPr/>
          <p:nvPr/>
        </p:nvSpPr>
        <p:spPr>
          <a:xfrm>
            <a:off x="8286750" y="4886172"/>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New Zealand</a:t>
            </a:r>
          </a:p>
        </p:txBody>
      </p:sp>
      <p:sp>
        <p:nvSpPr>
          <p:cNvPr id="88" name="Rounded Rectangle 87"/>
          <p:cNvSpPr/>
          <p:nvPr/>
        </p:nvSpPr>
        <p:spPr>
          <a:xfrm>
            <a:off x="8286750" y="5260373"/>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South East Asia</a:t>
            </a:r>
          </a:p>
        </p:txBody>
      </p:sp>
      <p:sp>
        <p:nvSpPr>
          <p:cNvPr id="89" name="Rounded Rectangle 88"/>
          <p:cNvSpPr/>
          <p:nvPr/>
        </p:nvSpPr>
        <p:spPr>
          <a:xfrm>
            <a:off x="10153650" y="1810424"/>
            <a:ext cx="1885950" cy="301186"/>
          </a:xfrm>
          <a:prstGeom prst="roundRect">
            <a:avLst>
              <a:gd name="adj" fmla="val 21212"/>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ctr"/>
            <a:r>
              <a:rPr sz="1100" b="1">
                <a:solidFill>
                  <a:srgbClr val="FFFFFF"/>
                </a:solidFill>
                <a:latin typeface="Calibri"/>
              </a:rPr>
              <a:t>Middle East &amp; Africa</a:t>
            </a:r>
          </a:p>
        </p:txBody>
      </p:sp>
      <p:sp>
        <p:nvSpPr>
          <p:cNvPr id="90" name="Rounded Rectangle 89"/>
          <p:cNvSpPr/>
          <p:nvPr/>
        </p:nvSpPr>
        <p:spPr>
          <a:xfrm>
            <a:off x="10287000" y="2266766"/>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UAE</a:t>
            </a:r>
          </a:p>
        </p:txBody>
      </p:sp>
      <p:sp>
        <p:nvSpPr>
          <p:cNvPr id="91" name="Rounded Rectangle 90"/>
          <p:cNvSpPr/>
          <p:nvPr/>
        </p:nvSpPr>
        <p:spPr>
          <a:xfrm>
            <a:off x="10287000" y="2640967"/>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Saudi Arabia</a:t>
            </a:r>
          </a:p>
        </p:txBody>
      </p:sp>
      <p:sp>
        <p:nvSpPr>
          <p:cNvPr id="92" name="Rounded Rectangle 91"/>
          <p:cNvSpPr/>
          <p:nvPr/>
        </p:nvSpPr>
        <p:spPr>
          <a:xfrm>
            <a:off x="10287000" y="3015168"/>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Turkey</a:t>
            </a:r>
          </a:p>
        </p:txBody>
      </p:sp>
      <p:sp>
        <p:nvSpPr>
          <p:cNvPr id="93" name="Rounded Rectangle 92"/>
          <p:cNvSpPr/>
          <p:nvPr/>
        </p:nvSpPr>
        <p:spPr>
          <a:xfrm>
            <a:off x="10287000" y="33893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Israel</a:t>
            </a:r>
          </a:p>
        </p:txBody>
      </p:sp>
      <p:sp>
        <p:nvSpPr>
          <p:cNvPr id="94" name="Rounded Rectangle 93"/>
          <p:cNvSpPr/>
          <p:nvPr/>
        </p:nvSpPr>
        <p:spPr>
          <a:xfrm>
            <a:off x="10287000" y="3763569"/>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GCC</a:t>
            </a:r>
          </a:p>
        </p:txBody>
      </p:sp>
      <p:sp>
        <p:nvSpPr>
          <p:cNvPr id="95" name="Rounded Rectangle 94"/>
          <p:cNvSpPr/>
          <p:nvPr/>
        </p:nvSpPr>
        <p:spPr>
          <a:xfrm>
            <a:off x="10287000" y="4137770"/>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South Africa</a:t>
            </a:r>
          </a:p>
        </p:txBody>
      </p:sp>
      <p:sp>
        <p:nvSpPr>
          <p:cNvPr id="96" name="Rounded Rectangle 95"/>
          <p:cNvSpPr/>
          <p:nvPr/>
        </p:nvSpPr>
        <p:spPr>
          <a:xfrm>
            <a:off x="10287000" y="4511971"/>
            <a:ext cx="1752600" cy="301186"/>
          </a:xfrm>
          <a:prstGeom prst="roundRect">
            <a:avLst>
              <a:gd name="adj" fmla="val 21212"/>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wrap="square" tIns="9525" bIns="9525" lIns="28575" rIns="28575"/>
          <a:lstStyle/>
          <a:p>
            <a:pPr algn="l"/>
            <a:r>
              <a:rPr sz="1100" b="0">
                <a:solidFill>
                  <a:srgbClr val="0B2E4A"/>
                </a:solidFill>
                <a:latin typeface="Calibri"/>
              </a:rPr>
              <a:t>Rest of MEA</a:t>
            </a:r>
          </a:p>
        </p:txBody>
      </p:sp>
      <p:sp>
        <p:nvSpPr>
          <p:cNvPr id="97" name="TextBox 9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8 axes and the sub-segments sized under each</a:t>
            </a:r>
          </a:p>
        </p:txBody>
      </p:sp>
      <p:sp>
        <p:nvSpPr>
          <p:cNvPr id="10" name="Rectangle 9"/>
          <p:cNvSpPr/>
          <p:nvPr/>
        </p:nvSpPr>
        <p:spPr>
          <a:xfrm>
            <a:off x="142875" y="1028700"/>
            <a:ext cx="2876550" cy="58293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Nature</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Organic</a:t>
            </a:r>
          </a:p>
        </p:txBody>
      </p:sp>
      <p:cxnSp>
        <p:nvCxnSpPr>
          <p:cNvPr id="15" name="Connector 14"/>
          <p:cNvCxnSpPr/>
          <p:nvPr/>
        </p:nvCxnSpPr>
        <p:spPr>
          <a:xfrm>
            <a:off x="1524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000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3905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Conventional</a:t>
            </a:r>
          </a:p>
        </p:txBody>
      </p:sp>
      <p:sp>
        <p:nvSpPr>
          <p:cNvPr id="18" name="Rectangle 17"/>
          <p:cNvSpPr/>
          <p:nvPr/>
        </p:nvSpPr>
        <p:spPr>
          <a:xfrm>
            <a:off x="142875" y="1725930"/>
            <a:ext cx="2876550" cy="182308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142875" y="172593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19075" y="172593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Packaging Type</a:t>
            </a:r>
          </a:p>
        </p:txBody>
      </p:sp>
      <p:sp>
        <p:nvSpPr>
          <p:cNvPr id="21" name="TextBox 20"/>
          <p:cNvSpPr txBox="1"/>
          <p:nvPr/>
        </p:nvSpPr>
        <p:spPr>
          <a:xfrm>
            <a:off x="200025" y="19545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2" name="TextBox 21"/>
          <p:cNvSpPr txBox="1"/>
          <p:nvPr/>
        </p:nvSpPr>
        <p:spPr>
          <a:xfrm>
            <a:off x="390525" y="19545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Pouches</a:t>
            </a:r>
          </a:p>
        </p:txBody>
      </p:sp>
      <p:cxnSp>
        <p:nvCxnSpPr>
          <p:cNvPr id="23" name="Connector 22"/>
          <p:cNvCxnSpPr/>
          <p:nvPr/>
        </p:nvCxnSpPr>
        <p:spPr>
          <a:xfrm>
            <a:off x="152400" y="21316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200025" y="21316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5" name="TextBox 24"/>
          <p:cNvSpPr txBox="1"/>
          <p:nvPr/>
        </p:nvSpPr>
        <p:spPr>
          <a:xfrm>
            <a:off x="390525" y="21316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Tins and Cans</a:t>
            </a:r>
          </a:p>
        </p:txBody>
      </p:sp>
      <p:cxnSp>
        <p:nvCxnSpPr>
          <p:cNvPr id="26" name="Connector 25"/>
          <p:cNvCxnSpPr/>
          <p:nvPr/>
        </p:nvCxnSpPr>
        <p:spPr>
          <a:xfrm>
            <a:off x="152400" y="23088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200025" y="23088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8" name="TextBox 27"/>
          <p:cNvSpPr txBox="1"/>
          <p:nvPr/>
        </p:nvSpPr>
        <p:spPr>
          <a:xfrm>
            <a:off x="390525" y="23088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Jars</a:t>
            </a:r>
          </a:p>
        </p:txBody>
      </p:sp>
      <p:cxnSp>
        <p:nvCxnSpPr>
          <p:cNvPr id="29" name="Connector 28"/>
          <p:cNvCxnSpPr/>
          <p:nvPr/>
        </p:nvCxnSpPr>
        <p:spPr>
          <a:xfrm>
            <a:off x="152400" y="24860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00025" y="24860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1" name="TextBox 30"/>
          <p:cNvSpPr txBox="1"/>
          <p:nvPr/>
        </p:nvSpPr>
        <p:spPr>
          <a:xfrm>
            <a:off x="390525" y="24860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Boxes and Cartons</a:t>
            </a:r>
          </a:p>
        </p:txBody>
      </p:sp>
      <p:cxnSp>
        <p:nvCxnSpPr>
          <p:cNvPr id="32" name="Connector 31"/>
          <p:cNvCxnSpPr/>
          <p:nvPr/>
        </p:nvCxnSpPr>
        <p:spPr>
          <a:xfrm>
            <a:off x="152400" y="26631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2000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4" name="TextBox 33"/>
          <p:cNvSpPr txBox="1"/>
          <p:nvPr/>
        </p:nvSpPr>
        <p:spPr>
          <a:xfrm>
            <a:off x="3905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Sachets and Stick Packs</a:t>
            </a:r>
          </a:p>
        </p:txBody>
      </p:sp>
      <p:cxnSp>
        <p:nvCxnSpPr>
          <p:cNvPr id="35" name="Connector 34"/>
          <p:cNvCxnSpPr/>
          <p:nvPr/>
        </p:nvCxnSpPr>
        <p:spPr>
          <a:xfrm>
            <a:off x="1524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000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3905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Bottles</a:t>
            </a:r>
          </a:p>
        </p:txBody>
      </p:sp>
      <p:cxnSp>
        <p:nvCxnSpPr>
          <p:cNvPr id="38" name="Connector 37"/>
          <p:cNvCxnSpPr/>
          <p:nvPr/>
        </p:nvCxnSpPr>
        <p:spPr>
          <a:xfrm>
            <a:off x="1524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2000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0" name="TextBox 39"/>
          <p:cNvSpPr txBox="1"/>
          <p:nvPr/>
        </p:nvSpPr>
        <p:spPr>
          <a:xfrm>
            <a:off x="3905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Cups</a:t>
            </a:r>
          </a:p>
        </p:txBody>
      </p:sp>
      <p:cxnSp>
        <p:nvCxnSpPr>
          <p:cNvPr id="41" name="Connector 40"/>
          <p:cNvCxnSpPr/>
          <p:nvPr/>
        </p:nvCxnSpPr>
        <p:spPr>
          <a:xfrm>
            <a:off x="1524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2000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3" name="TextBox 42"/>
          <p:cNvSpPr txBox="1"/>
          <p:nvPr/>
        </p:nvSpPr>
        <p:spPr>
          <a:xfrm>
            <a:off x="3905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Bulk Industrial Packaging</a:t>
            </a:r>
          </a:p>
        </p:txBody>
      </p:sp>
      <p:cxnSp>
        <p:nvCxnSpPr>
          <p:cNvPr id="44" name="Connector 43"/>
          <p:cNvCxnSpPr/>
          <p:nvPr/>
        </p:nvCxnSpPr>
        <p:spPr>
          <a:xfrm>
            <a:off x="1524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2000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6" name="TextBox 45"/>
          <p:cNvSpPr txBox="1"/>
          <p:nvPr/>
        </p:nvSpPr>
        <p:spPr>
          <a:xfrm>
            <a:off x="390525" y="337185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Packaging Types</a:t>
            </a:r>
          </a:p>
        </p:txBody>
      </p:sp>
      <p:sp>
        <p:nvSpPr>
          <p:cNvPr id="47" name="Rectangle 46"/>
          <p:cNvSpPr/>
          <p:nvPr/>
        </p:nvSpPr>
        <p:spPr>
          <a:xfrm>
            <a:off x="3152775" y="1028700"/>
            <a:ext cx="28765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31527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32289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Product Type</a:t>
            </a:r>
          </a:p>
        </p:txBody>
      </p:sp>
      <p:sp>
        <p:nvSpPr>
          <p:cNvPr id="50" name="TextBox 49"/>
          <p:cNvSpPr txBox="1"/>
          <p:nvPr/>
        </p:nvSpPr>
        <p:spPr>
          <a:xfrm>
            <a:off x="32099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1" name="TextBox 50"/>
          <p:cNvSpPr txBox="1"/>
          <p:nvPr/>
        </p:nvSpPr>
        <p:spPr>
          <a:xfrm>
            <a:off x="3400425" y="1257300"/>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Matcha Powder</a:t>
            </a:r>
          </a:p>
        </p:txBody>
      </p:sp>
      <p:cxnSp>
        <p:nvCxnSpPr>
          <p:cNvPr id="52" name="Connector 51"/>
          <p:cNvCxnSpPr/>
          <p:nvPr/>
        </p:nvCxnSpPr>
        <p:spPr>
          <a:xfrm>
            <a:off x="31623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2099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3400425" y="1434465"/>
            <a:ext cx="2590800" cy="177165"/>
          </a:xfrm>
          <a:prstGeom prst="rect">
            <a:avLst/>
          </a:prstGeom>
          <a:noFill/>
        </p:spPr>
        <p:txBody>
          <a:bodyPr wrap="square" lIns="28575" rIns="28575" tIns="9525" bIns="9525" anchor="ctr">
            <a:spAutoFit/>
          </a:bodyPr>
          <a:lstStyle/>
          <a:p>
            <a:pPr algn="l"/>
            <a:r>
              <a:rPr sz="1100" b="1">
                <a:solidFill>
                  <a:srgbClr val="2E2E2E"/>
                </a:solidFill>
                <a:latin typeface="Calibri"/>
              </a:rPr>
              <a:t>Matcha Tea</a:t>
            </a:r>
          </a:p>
        </p:txBody>
      </p:sp>
      <p:cxnSp>
        <p:nvCxnSpPr>
          <p:cNvPr id="55" name="Connector 54"/>
          <p:cNvCxnSpPr/>
          <p:nvPr/>
        </p:nvCxnSpPr>
        <p:spPr>
          <a:xfrm>
            <a:off x="31623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813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7" name="TextBox 56"/>
          <p:cNvSpPr txBox="1"/>
          <p:nvPr/>
        </p:nvSpPr>
        <p:spPr>
          <a:xfrm>
            <a:off x="3571875" y="161163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Caffeine Added</a:t>
            </a:r>
          </a:p>
        </p:txBody>
      </p:sp>
      <p:cxnSp>
        <p:nvCxnSpPr>
          <p:cNvPr id="58" name="Connector 57"/>
          <p:cNvCxnSpPr/>
          <p:nvPr/>
        </p:nvCxnSpPr>
        <p:spPr>
          <a:xfrm>
            <a:off x="31623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33813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0" name="TextBox 59"/>
          <p:cNvSpPr txBox="1"/>
          <p:nvPr/>
        </p:nvSpPr>
        <p:spPr>
          <a:xfrm>
            <a:off x="3571875" y="178879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Decaffeinated</a:t>
            </a:r>
          </a:p>
        </p:txBody>
      </p:sp>
      <p:cxnSp>
        <p:nvCxnSpPr>
          <p:cNvPr id="61" name="Connector 60"/>
          <p:cNvCxnSpPr/>
          <p:nvPr/>
        </p:nvCxnSpPr>
        <p:spPr>
          <a:xfrm>
            <a:off x="31623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2" name="TextBox 61"/>
          <p:cNvSpPr txBox="1"/>
          <p:nvPr/>
        </p:nvSpPr>
        <p:spPr>
          <a:xfrm>
            <a:off x="33813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3" name="TextBox 62"/>
          <p:cNvSpPr txBox="1"/>
          <p:nvPr/>
        </p:nvSpPr>
        <p:spPr>
          <a:xfrm>
            <a:off x="3571875" y="196596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High Caffeine</a:t>
            </a:r>
          </a:p>
        </p:txBody>
      </p:sp>
      <p:cxnSp>
        <p:nvCxnSpPr>
          <p:cNvPr id="64" name="Connector 63"/>
          <p:cNvCxnSpPr/>
          <p:nvPr/>
        </p:nvCxnSpPr>
        <p:spPr>
          <a:xfrm>
            <a:off x="31623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33813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6" name="TextBox 65"/>
          <p:cNvSpPr txBox="1"/>
          <p:nvPr/>
        </p:nvSpPr>
        <p:spPr>
          <a:xfrm>
            <a:off x="3571875" y="2143125"/>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Naturally Caffeinated</a:t>
            </a:r>
          </a:p>
        </p:txBody>
      </p:sp>
      <p:cxnSp>
        <p:nvCxnSpPr>
          <p:cNvPr id="67" name="Connector 66"/>
          <p:cNvCxnSpPr/>
          <p:nvPr/>
        </p:nvCxnSpPr>
        <p:spPr>
          <a:xfrm>
            <a:off x="31623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338137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9" name="TextBox 68"/>
          <p:cNvSpPr txBox="1"/>
          <p:nvPr/>
        </p:nvSpPr>
        <p:spPr>
          <a:xfrm>
            <a:off x="3571875" y="2320290"/>
            <a:ext cx="2419350" cy="177165"/>
          </a:xfrm>
          <a:prstGeom prst="rect">
            <a:avLst/>
          </a:prstGeom>
          <a:noFill/>
        </p:spPr>
        <p:txBody>
          <a:bodyPr wrap="square" lIns="28575" rIns="28575" tIns="9525" bIns="9525" anchor="ctr">
            <a:spAutoFit/>
          </a:bodyPr>
          <a:lstStyle/>
          <a:p>
            <a:pPr algn="l"/>
            <a:r>
              <a:rPr sz="1100" b="0">
                <a:solidFill>
                  <a:srgbClr val="2E2E2E"/>
                </a:solidFill>
                <a:latin typeface="Calibri"/>
              </a:rPr>
              <a:t>Naturally Decaffeinated</a:t>
            </a:r>
          </a:p>
        </p:txBody>
      </p:sp>
      <p:sp>
        <p:nvSpPr>
          <p:cNvPr id="70" name="Rectangle 69"/>
          <p:cNvSpPr/>
          <p:nvPr/>
        </p:nvSpPr>
        <p:spPr>
          <a:xfrm>
            <a:off x="6162675" y="1028700"/>
            <a:ext cx="2876550" cy="12915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61626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62388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Form</a:t>
            </a:r>
          </a:p>
        </p:txBody>
      </p:sp>
      <p:sp>
        <p:nvSpPr>
          <p:cNvPr id="73" name="TextBox 72"/>
          <p:cNvSpPr txBox="1"/>
          <p:nvPr/>
        </p:nvSpPr>
        <p:spPr>
          <a:xfrm>
            <a:off x="62198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4" name="TextBox 73"/>
          <p:cNvSpPr txBox="1"/>
          <p:nvPr/>
        </p:nvSpPr>
        <p:spPr>
          <a:xfrm>
            <a:off x="64103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Powder</a:t>
            </a:r>
          </a:p>
        </p:txBody>
      </p:sp>
      <p:cxnSp>
        <p:nvCxnSpPr>
          <p:cNvPr id="75" name="Connector 74"/>
          <p:cNvCxnSpPr/>
          <p:nvPr/>
        </p:nvCxnSpPr>
        <p:spPr>
          <a:xfrm>
            <a:off x="61722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62198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64103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Liquid</a:t>
            </a:r>
          </a:p>
        </p:txBody>
      </p:sp>
      <p:cxnSp>
        <p:nvCxnSpPr>
          <p:cNvPr id="78" name="Connector 77"/>
          <p:cNvCxnSpPr/>
          <p:nvPr/>
        </p:nvCxnSpPr>
        <p:spPr>
          <a:xfrm>
            <a:off x="61722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2198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64103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Granules</a:t>
            </a:r>
          </a:p>
        </p:txBody>
      </p:sp>
      <p:cxnSp>
        <p:nvCxnSpPr>
          <p:cNvPr id="81" name="Connector 80"/>
          <p:cNvCxnSpPr/>
          <p:nvPr/>
        </p:nvCxnSpPr>
        <p:spPr>
          <a:xfrm>
            <a:off x="61722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2198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64103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Blended</a:t>
            </a:r>
          </a:p>
        </p:txBody>
      </p:sp>
      <p:cxnSp>
        <p:nvCxnSpPr>
          <p:cNvPr id="84" name="Connector 83"/>
          <p:cNvCxnSpPr/>
          <p:nvPr/>
        </p:nvCxnSpPr>
        <p:spPr>
          <a:xfrm>
            <a:off x="61722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62198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6410325" y="19659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Ground</a:t>
            </a:r>
          </a:p>
        </p:txBody>
      </p:sp>
      <p:cxnSp>
        <p:nvCxnSpPr>
          <p:cNvPr id="87" name="Connector 86"/>
          <p:cNvCxnSpPr/>
          <p:nvPr/>
        </p:nvCxnSpPr>
        <p:spPr>
          <a:xfrm>
            <a:off x="61722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2198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6410325" y="21431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Whole</a:t>
            </a:r>
          </a:p>
        </p:txBody>
      </p:sp>
      <p:sp>
        <p:nvSpPr>
          <p:cNvPr id="90" name="Rectangle 89"/>
          <p:cNvSpPr/>
          <p:nvPr/>
        </p:nvSpPr>
        <p:spPr>
          <a:xfrm>
            <a:off x="6162675" y="2434590"/>
            <a:ext cx="2876550" cy="111442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6162675" y="243459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6238875" y="243459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Grade Type</a:t>
            </a:r>
          </a:p>
        </p:txBody>
      </p:sp>
      <p:sp>
        <p:nvSpPr>
          <p:cNvPr id="93" name="TextBox 92"/>
          <p:cNvSpPr txBox="1"/>
          <p:nvPr/>
        </p:nvSpPr>
        <p:spPr>
          <a:xfrm>
            <a:off x="6219825" y="26631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6410325" y="26631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Ceremonial Grade</a:t>
            </a:r>
          </a:p>
        </p:txBody>
      </p:sp>
      <p:cxnSp>
        <p:nvCxnSpPr>
          <p:cNvPr id="95" name="Connector 94"/>
          <p:cNvCxnSpPr/>
          <p:nvPr/>
        </p:nvCxnSpPr>
        <p:spPr>
          <a:xfrm>
            <a:off x="6172200" y="28403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6219825" y="28403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6410325" y="28403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Premium Grade</a:t>
            </a:r>
          </a:p>
        </p:txBody>
      </p:sp>
      <p:cxnSp>
        <p:nvCxnSpPr>
          <p:cNvPr id="98" name="Connector 97"/>
          <p:cNvCxnSpPr/>
          <p:nvPr/>
        </p:nvCxnSpPr>
        <p:spPr>
          <a:xfrm>
            <a:off x="6172200" y="301752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6219825" y="30175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6410325" y="301752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Standard Drinking Grade</a:t>
            </a:r>
          </a:p>
        </p:txBody>
      </p:sp>
      <p:cxnSp>
        <p:nvCxnSpPr>
          <p:cNvPr id="101" name="Connector 100"/>
          <p:cNvCxnSpPr/>
          <p:nvPr/>
        </p:nvCxnSpPr>
        <p:spPr>
          <a:xfrm>
            <a:off x="6172200" y="319468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6219825" y="31946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3" name="TextBox 102"/>
          <p:cNvSpPr txBox="1"/>
          <p:nvPr/>
        </p:nvSpPr>
        <p:spPr>
          <a:xfrm>
            <a:off x="6410325" y="319468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Culinary Grade</a:t>
            </a:r>
          </a:p>
        </p:txBody>
      </p:sp>
      <p:cxnSp>
        <p:nvCxnSpPr>
          <p:cNvPr id="104" name="Connector 103"/>
          <p:cNvCxnSpPr/>
          <p:nvPr/>
        </p:nvCxnSpPr>
        <p:spPr>
          <a:xfrm>
            <a:off x="6172200" y="337185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6219825" y="33718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6" name="TextBox 105"/>
          <p:cNvSpPr txBox="1"/>
          <p:nvPr/>
        </p:nvSpPr>
        <p:spPr>
          <a:xfrm>
            <a:off x="6410325" y="337185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Industrial Grade</a:t>
            </a:r>
          </a:p>
        </p:txBody>
      </p:sp>
      <p:sp>
        <p:nvSpPr>
          <p:cNvPr id="107" name="Rectangle 106"/>
          <p:cNvSpPr/>
          <p:nvPr/>
        </p:nvSpPr>
        <p:spPr>
          <a:xfrm>
            <a:off x="9172575" y="1028700"/>
            <a:ext cx="2876550" cy="164592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Rectangle 107"/>
          <p:cNvSpPr/>
          <p:nvPr/>
        </p:nvSpPr>
        <p:spPr>
          <a:xfrm>
            <a:off x="9172575" y="1028700"/>
            <a:ext cx="28765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9248775" y="1028700"/>
            <a:ext cx="2724150" cy="228600"/>
          </a:xfrm>
          <a:prstGeom prst="rect">
            <a:avLst/>
          </a:prstGeom>
          <a:noFill/>
        </p:spPr>
        <p:txBody>
          <a:bodyPr wrap="square" lIns="28575" rIns="28575" tIns="9525" bIns="9525" anchor="ctr">
            <a:spAutoFit/>
          </a:bodyPr>
          <a:lstStyle/>
          <a:p>
            <a:pPr algn="l"/>
            <a:r>
              <a:rPr sz="1100" b="1">
                <a:solidFill>
                  <a:srgbClr val="FFFFFF"/>
                </a:solidFill>
                <a:latin typeface="Calibri"/>
              </a:rPr>
              <a:t>By Flavour</a:t>
            </a:r>
          </a:p>
        </p:txBody>
      </p:sp>
      <p:sp>
        <p:nvSpPr>
          <p:cNvPr id="110" name="TextBox 109"/>
          <p:cNvSpPr txBox="1"/>
          <p:nvPr/>
        </p:nvSpPr>
        <p:spPr>
          <a:xfrm>
            <a:off x="92297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9420225" y="125730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Unflavoured</a:t>
            </a:r>
          </a:p>
        </p:txBody>
      </p:sp>
      <p:cxnSp>
        <p:nvCxnSpPr>
          <p:cNvPr id="112" name="Connector 111"/>
          <p:cNvCxnSpPr/>
          <p:nvPr/>
        </p:nvCxnSpPr>
        <p:spPr>
          <a:xfrm>
            <a:off x="9182100" y="143446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92297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9420225" y="143446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Vanilla</a:t>
            </a:r>
          </a:p>
        </p:txBody>
      </p:sp>
      <p:cxnSp>
        <p:nvCxnSpPr>
          <p:cNvPr id="115" name="Connector 114"/>
          <p:cNvCxnSpPr/>
          <p:nvPr/>
        </p:nvCxnSpPr>
        <p:spPr>
          <a:xfrm>
            <a:off x="9182100" y="161163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2297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9420225" y="161163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Lemon</a:t>
            </a:r>
          </a:p>
        </p:txBody>
      </p:sp>
      <p:cxnSp>
        <p:nvCxnSpPr>
          <p:cNvPr id="118" name="Connector 117"/>
          <p:cNvCxnSpPr/>
          <p:nvPr/>
        </p:nvCxnSpPr>
        <p:spPr>
          <a:xfrm>
            <a:off x="9182100" y="178879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92297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9420225" y="178879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Orange</a:t>
            </a:r>
          </a:p>
        </p:txBody>
      </p:sp>
      <p:cxnSp>
        <p:nvCxnSpPr>
          <p:cNvPr id="121" name="Connector 120"/>
          <p:cNvCxnSpPr/>
          <p:nvPr/>
        </p:nvCxnSpPr>
        <p:spPr>
          <a:xfrm>
            <a:off x="9182100" y="196596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92297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9420225" y="196596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Mocha</a:t>
            </a:r>
          </a:p>
        </p:txBody>
      </p:sp>
      <p:cxnSp>
        <p:nvCxnSpPr>
          <p:cNvPr id="124" name="Connector 123"/>
          <p:cNvCxnSpPr/>
          <p:nvPr/>
        </p:nvCxnSpPr>
        <p:spPr>
          <a:xfrm>
            <a:off x="9182100" y="214312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5" name="TextBox 124"/>
          <p:cNvSpPr txBox="1"/>
          <p:nvPr/>
        </p:nvSpPr>
        <p:spPr>
          <a:xfrm>
            <a:off x="92297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6" name="TextBox 125"/>
          <p:cNvSpPr txBox="1"/>
          <p:nvPr/>
        </p:nvSpPr>
        <p:spPr>
          <a:xfrm>
            <a:off x="9420225" y="214312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Cinnamon</a:t>
            </a:r>
          </a:p>
        </p:txBody>
      </p:sp>
      <p:cxnSp>
        <p:nvCxnSpPr>
          <p:cNvPr id="127" name="Connector 126"/>
          <p:cNvCxnSpPr/>
          <p:nvPr/>
        </p:nvCxnSpPr>
        <p:spPr>
          <a:xfrm>
            <a:off x="9182100" y="2320290"/>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92297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9" name="TextBox 128"/>
          <p:cNvSpPr txBox="1"/>
          <p:nvPr/>
        </p:nvSpPr>
        <p:spPr>
          <a:xfrm>
            <a:off x="9420225" y="2320290"/>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Pumpkin Spice</a:t>
            </a:r>
          </a:p>
        </p:txBody>
      </p:sp>
      <p:cxnSp>
        <p:nvCxnSpPr>
          <p:cNvPr id="130" name="Connector 129"/>
          <p:cNvCxnSpPr/>
          <p:nvPr/>
        </p:nvCxnSpPr>
        <p:spPr>
          <a:xfrm>
            <a:off x="9182100" y="2497455"/>
            <a:ext cx="28575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922972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32" name="TextBox 131"/>
          <p:cNvSpPr txBox="1"/>
          <p:nvPr/>
        </p:nvSpPr>
        <p:spPr>
          <a:xfrm>
            <a:off x="9420225" y="2497455"/>
            <a:ext cx="25908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Flavours</a:t>
            </a:r>
          </a:p>
        </p:txBody>
      </p:sp>
      <p:sp>
        <p:nvSpPr>
          <p:cNvPr id="133" name="TextBox 1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Taxonomy Segments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Segmentation framework of the study: 8 axes and the sub-segments sized under each</a:t>
            </a:r>
          </a:p>
        </p:txBody>
      </p:sp>
      <p:sp>
        <p:nvSpPr>
          <p:cNvPr id="10" name="Rectangle 9"/>
          <p:cNvSpPr/>
          <p:nvPr/>
        </p:nvSpPr>
        <p:spPr>
          <a:xfrm>
            <a:off x="142875" y="1028700"/>
            <a:ext cx="3879850" cy="4834890"/>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Rectangle 10"/>
          <p:cNvSpPr/>
          <p:nvPr/>
        </p:nvSpPr>
        <p:spPr>
          <a:xfrm>
            <a:off x="142875" y="1028700"/>
            <a:ext cx="38798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19075" y="1028700"/>
            <a:ext cx="37274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 (1/2)</a:t>
            </a:r>
          </a:p>
        </p:txBody>
      </p:sp>
      <p:sp>
        <p:nvSpPr>
          <p:cNvPr id="13" name="TextBox 12"/>
          <p:cNvSpPr txBox="1"/>
          <p:nvPr/>
        </p:nvSpPr>
        <p:spPr>
          <a:xfrm>
            <a:off x="2000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4" name="TextBox 13"/>
          <p:cNvSpPr txBox="1"/>
          <p:nvPr/>
        </p:nvSpPr>
        <p:spPr>
          <a:xfrm>
            <a:off x="390525" y="1257300"/>
            <a:ext cx="3594100" cy="177165"/>
          </a:xfrm>
          <a:prstGeom prst="rect">
            <a:avLst/>
          </a:prstGeom>
          <a:noFill/>
        </p:spPr>
        <p:txBody>
          <a:bodyPr wrap="square" lIns="28575" rIns="28575" tIns="9525" bIns="9525" anchor="ctr">
            <a:spAutoFit/>
          </a:bodyPr>
          <a:lstStyle/>
          <a:p>
            <a:pPr algn="l"/>
            <a:r>
              <a:rPr sz="1100" b="1">
                <a:solidFill>
                  <a:srgbClr val="2E2E2E"/>
                </a:solidFill>
                <a:latin typeface="Calibri"/>
              </a:rPr>
              <a:t>Beverages</a:t>
            </a:r>
          </a:p>
        </p:txBody>
      </p:sp>
      <p:cxnSp>
        <p:nvCxnSpPr>
          <p:cNvPr id="15" name="Connector 14"/>
          <p:cNvCxnSpPr/>
          <p:nvPr/>
        </p:nvCxnSpPr>
        <p:spPr>
          <a:xfrm>
            <a:off x="152400" y="143446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3714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7" name="TextBox 16"/>
          <p:cNvSpPr txBox="1"/>
          <p:nvPr/>
        </p:nvSpPr>
        <p:spPr>
          <a:xfrm>
            <a:off x="561975" y="143446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Traditional Matcha Tea</a:t>
            </a:r>
          </a:p>
        </p:txBody>
      </p:sp>
      <p:cxnSp>
        <p:nvCxnSpPr>
          <p:cNvPr id="18" name="Connector 17"/>
          <p:cNvCxnSpPr/>
          <p:nvPr/>
        </p:nvCxnSpPr>
        <p:spPr>
          <a:xfrm>
            <a:off x="152400" y="161163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714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0" name="TextBox 19"/>
          <p:cNvSpPr txBox="1"/>
          <p:nvPr/>
        </p:nvSpPr>
        <p:spPr>
          <a:xfrm>
            <a:off x="561975" y="161163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Matcha Lattes</a:t>
            </a:r>
          </a:p>
        </p:txBody>
      </p:sp>
      <p:cxnSp>
        <p:nvCxnSpPr>
          <p:cNvPr id="21" name="Connector 20"/>
          <p:cNvCxnSpPr/>
          <p:nvPr/>
        </p:nvCxnSpPr>
        <p:spPr>
          <a:xfrm>
            <a:off x="152400" y="178879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37147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3" name="TextBox 22"/>
          <p:cNvSpPr txBox="1"/>
          <p:nvPr/>
        </p:nvSpPr>
        <p:spPr>
          <a:xfrm>
            <a:off x="561975" y="178879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Bubble Tea and Milk Tea</a:t>
            </a:r>
          </a:p>
        </p:txBody>
      </p:sp>
      <p:cxnSp>
        <p:nvCxnSpPr>
          <p:cNvPr id="24" name="Connector 23"/>
          <p:cNvCxnSpPr/>
          <p:nvPr/>
        </p:nvCxnSpPr>
        <p:spPr>
          <a:xfrm>
            <a:off x="152400" y="196596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7147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561975" y="196596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Ready-to-Drink Beverages</a:t>
            </a:r>
          </a:p>
        </p:txBody>
      </p:sp>
      <p:cxnSp>
        <p:nvCxnSpPr>
          <p:cNvPr id="27" name="Connector 26"/>
          <p:cNvCxnSpPr/>
          <p:nvPr/>
        </p:nvCxnSpPr>
        <p:spPr>
          <a:xfrm>
            <a:off x="152400" y="214312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7147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561975" y="214312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Smoothies and Functional Beverages</a:t>
            </a:r>
          </a:p>
        </p:txBody>
      </p:sp>
      <p:cxnSp>
        <p:nvCxnSpPr>
          <p:cNvPr id="30" name="Connector 29"/>
          <p:cNvCxnSpPr/>
          <p:nvPr/>
        </p:nvCxnSpPr>
        <p:spPr>
          <a:xfrm>
            <a:off x="152400" y="232029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2000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2" name="TextBox 31"/>
          <p:cNvSpPr txBox="1"/>
          <p:nvPr/>
        </p:nvSpPr>
        <p:spPr>
          <a:xfrm>
            <a:off x="390525" y="2320290"/>
            <a:ext cx="3594100" cy="177165"/>
          </a:xfrm>
          <a:prstGeom prst="rect">
            <a:avLst/>
          </a:prstGeom>
          <a:noFill/>
        </p:spPr>
        <p:txBody>
          <a:bodyPr wrap="square" lIns="28575" rIns="28575" tIns="9525" bIns="9525" anchor="ctr">
            <a:spAutoFit/>
          </a:bodyPr>
          <a:lstStyle/>
          <a:p>
            <a:pPr algn="l"/>
            <a:r>
              <a:rPr sz="1100" b="1">
                <a:solidFill>
                  <a:srgbClr val="2E2E2E"/>
                </a:solidFill>
                <a:latin typeface="Calibri"/>
              </a:rPr>
              <a:t>Bakery and Confectionery</a:t>
            </a:r>
          </a:p>
        </p:txBody>
      </p:sp>
      <p:cxnSp>
        <p:nvCxnSpPr>
          <p:cNvPr id="33" name="Connector 32"/>
          <p:cNvCxnSpPr/>
          <p:nvPr/>
        </p:nvCxnSpPr>
        <p:spPr>
          <a:xfrm>
            <a:off x="152400" y="249745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371475" y="249745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5" name="TextBox 34"/>
          <p:cNvSpPr txBox="1"/>
          <p:nvPr/>
        </p:nvSpPr>
        <p:spPr>
          <a:xfrm>
            <a:off x="561975" y="249745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Cakes and Pastries</a:t>
            </a:r>
          </a:p>
        </p:txBody>
      </p:sp>
      <p:cxnSp>
        <p:nvCxnSpPr>
          <p:cNvPr id="36" name="Connector 35"/>
          <p:cNvCxnSpPr/>
          <p:nvPr/>
        </p:nvCxnSpPr>
        <p:spPr>
          <a:xfrm>
            <a:off x="152400" y="267462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371475" y="267462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8" name="TextBox 37"/>
          <p:cNvSpPr txBox="1"/>
          <p:nvPr/>
        </p:nvSpPr>
        <p:spPr>
          <a:xfrm>
            <a:off x="561975" y="267462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Cookies and Biscuits</a:t>
            </a:r>
          </a:p>
        </p:txBody>
      </p:sp>
      <p:cxnSp>
        <p:nvCxnSpPr>
          <p:cNvPr id="39" name="Connector 38"/>
          <p:cNvCxnSpPr/>
          <p:nvPr/>
        </p:nvCxnSpPr>
        <p:spPr>
          <a:xfrm>
            <a:off x="152400" y="285178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0" name="TextBox 39"/>
          <p:cNvSpPr txBox="1"/>
          <p:nvPr/>
        </p:nvSpPr>
        <p:spPr>
          <a:xfrm>
            <a:off x="371475" y="285178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1" name="TextBox 40"/>
          <p:cNvSpPr txBox="1"/>
          <p:nvPr/>
        </p:nvSpPr>
        <p:spPr>
          <a:xfrm>
            <a:off x="561975" y="285178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Bread and Bakery Products</a:t>
            </a:r>
          </a:p>
        </p:txBody>
      </p:sp>
      <p:cxnSp>
        <p:nvCxnSpPr>
          <p:cNvPr id="42" name="Connector 41"/>
          <p:cNvCxnSpPr/>
          <p:nvPr/>
        </p:nvCxnSpPr>
        <p:spPr>
          <a:xfrm>
            <a:off x="152400" y="302895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71475" y="302895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4" name="TextBox 43"/>
          <p:cNvSpPr txBox="1"/>
          <p:nvPr/>
        </p:nvSpPr>
        <p:spPr>
          <a:xfrm>
            <a:off x="561975" y="302895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Chocolate and Candies</a:t>
            </a:r>
          </a:p>
        </p:txBody>
      </p:sp>
      <p:cxnSp>
        <p:nvCxnSpPr>
          <p:cNvPr id="45" name="Connector 44"/>
          <p:cNvCxnSpPr/>
          <p:nvPr/>
        </p:nvCxnSpPr>
        <p:spPr>
          <a:xfrm>
            <a:off x="152400" y="320611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71475" y="320611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561975" y="320611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Confectionery Products</a:t>
            </a:r>
          </a:p>
        </p:txBody>
      </p:sp>
      <p:cxnSp>
        <p:nvCxnSpPr>
          <p:cNvPr id="48" name="Connector 47"/>
          <p:cNvCxnSpPr/>
          <p:nvPr/>
        </p:nvCxnSpPr>
        <p:spPr>
          <a:xfrm>
            <a:off x="152400" y="338328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00025" y="338328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390525" y="3383280"/>
            <a:ext cx="3594100" cy="177165"/>
          </a:xfrm>
          <a:prstGeom prst="rect">
            <a:avLst/>
          </a:prstGeom>
          <a:noFill/>
        </p:spPr>
        <p:txBody>
          <a:bodyPr wrap="square" lIns="28575" rIns="28575" tIns="9525" bIns="9525" anchor="ctr">
            <a:spAutoFit/>
          </a:bodyPr>
          <a:lstStyle/>
          <a:p>
            <a:pPr algn="l"/>
            <a:r>
              <a:rPr sz="1100" b="1">
                <a:solidFill>
                  <a:srgbClr val="2E2E2E"/>
                </a:solidFill>
                <a:latin typeface="Calibri"/>
              </a:rPr>
              <a:t>Dairy and Frozen Desserts</a:t>
            </a:r>
          </a:p>
        </p:txBody>
      </p:sp>
      <p:cxnSp>
        <p:nvCxnSpPr>
          <p:cNvPr id="51" name="Connector 50"/>
          <p:cNvCxnSpPr/>
          <p:nvPr/>
        </p:nvCxnSpPr>
        <p:spPr>
          <a:xfrm>
            <a:off x="152400" y="356044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2" name="TextBox 51"/>
          <p:cNvSpPr txBox="1"/>
          <p:nvPr/>
        </p:nvSpPr>
        <p:spPr>
          <a:xfrm>
            <a:off x="371475" y="356044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3" name="TextBox 52"/>
          <p:cNvSpPr txBox="1"/>
          <p:nvPr/>
        </p:nvSpPr>
        <p:spPr>
          <a:xfrm>
            <a:off x="561975" y="356044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Ice Cream</a:t>
            </a:r>
          </a:p>
        </p:txBody>
      </p:sp>
      <p:cxnSp>
        <p:nvCxnSpPr>
          <p:cNvPr id="54" name="Connector 53"/>
          <p:cNvCxnSpPr/>
          <p:nvPr/>
        </p:nvCxnSpPr>
        <p:spPr>
          <a:xfrm>
            <a:off x="152400" y="373761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71475" y="373761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6" name="TextBox 55"/>
          <p:cNvSpPr txBox="1"/>
          <p:nvPr/>
        </p:nvSpPr>
        <p:spPr>
          <a:xfrm>
            <a:off x="561975" y="373761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Yogurt</a:t>
            </a:r>
          </a:p>
        </p:txBody>
      </p:sp>
      <p:cxnSp>
        <p:nvCxnSpPr>
          <p:cNvPr id="57" name="Connector 56"/>
          <p:cNvCxnSpPr/>
          <p:nvPr/>
        </p:nvCxnSpPr>
        <p:spPr>
          <a:xfrm>
            <a:off x="152400" y="391477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71475" y="391477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9" name="TextBox 58"/>
          <p:cNvSpPr txBox="1"/>
          <p:nvPr/>
        </p:nvSpPr>
        <p:spPr>
          <a:xfrm>
            <a:off x="561975" y="391477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Milk-Based Beverages</a:t>
            </a:r>
          </a:p>
        </p:txBody>
      </p:sp>
      <p:cxnSp>
        <p:nvCxnSpPr>
          <p:cNvPr id="60" name="Connector 59"/>
          <p:cNvCxnSpPr/>
          <p:nvPr/>
        </p:nvCxnSpPr>
        <p:spPr>
          <a:xfrm>
            <a:off x="152400" y="409194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371475" y="409194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2" name="TextBox 61"/>
          <p:cNvSpPr txBox="1"/>
          <p:nvPr/>
        </p:nvSpPr>
        <p:spPr>
          <a:xfrm>
            <a:off x="561975" y="409194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Frozen Yogurt and Other Frozen Desserts</a:t>
            </a:r>
          </a:p>
        </p:txBody>
      </p:sp>
      <p:cxnSp>
        <p:nvCxnSpPr>
          <p:cNvPr id="63" name="Connector 62"/>
          <p:cNvCxnSpPr/>
          <p:nvPr/>
        </p:nvCxnSpPr>
        <p:spPr>
          <a:xfrm>
            <a:off x="152400" y="426910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4" name="TextBox 63"/>
          <p:cNvSpPr txBox="1"/>
          <p:nvPr/>
        </p:nvSpPr>
        <p:spPr>
          <a:xfrm>
            <a:off x="200025" y="426910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5" name="TextBox 64"/>
          <p:cNvSpPr txBox="1"/>
          <p:nvPr/>
        </p:nvSpPr>
        <p:spPr>
          <a:xfrm>
            <a:off x="390525" y="4269105"/>
            <a:ext cx="35941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Food Products</a:t>
            </a:r>
          </a:p>
        </p:txBody>
      </p:sp>
      <p:cxnSp>
        <p:nvCxnSpPr>
          <p:cNvPr id="66" name="Connector 65"/>
          <p:cNvCxnSpPr/>
          <p:nvPr/>
        </p:nvCxnSpPr>
        <p:spPr>
          <a:xfrm>
            <a:off x="152400" y="444627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7" name="TextBox 66"/>
          <p:cNvSpPr txBox="1"/>
          <p:nvPr/>
        </p:nvSpPr>
        <p:spPr>
          <a:xfrm>
            <a:off x="371475" y="444627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61975" y="444627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Snacks and Nutrition Bars</a:t>
            </a:r>
          </a:p>
        </p:txBody>
      </p:sp>
      <p:cxnSp>
        <p:nvCxnSpPr>
          <p:cNvPr id="69" name="Connector 68"/>
          <p:cNvCxnSpPr/>
          <p:nvPr/>
        </p:nvCxnSpPr>
        <p:spPr>
          <a:xfrm>
            <a:off x="152400" y="462343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371475" y="462343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61975" y="462343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Breakfast Cereals</a:t>
            </a:r>
          </a:p>
        </p:txBody>
      </p:sp>
      <p:cxnSp>
        <p:nvCxnSpPr>
          <p:cNvPr id="72" name="Connector 71"/>
          <p:cNvCxnSpPr/>
          <p:nvPr/>
        </p:nvCxnSpPr>
        <p:spPr>
          <a:xfrm>
            <a:off x="152400" y="480060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371475" y="48006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4" name="TextBox 73"/>
          <p:cNvSpPr txBox="1"/>
          <p:nvPr/>
        </p:nvSpPr>
        <p:spPr>
          <a:xfrm>
            <a:off x="561975" y="480060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Packaged Desserts</a:t>
            </a:r>
          </a:p>
        </p:txBody>
      </p:sp>
      <p:cxnSp>
        <p:nvCxnSpPr>
          <p:cNvPr id="75" name="Connector 74"/>
          <p:cNvCxnSpPr/>
          <p:nvPr/>
        </p:nvCxnSpPr>
        <p:spPr>
          <a:xfrm>
            <a:off x="152400" y="497776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6" name="TextBox 75"/>
          <p:cNvSpPr txBox="1"/>
          <p:nvPr/>
        </p:nvSpPr>
        <p:spPr>
          <a:xfrm>
            <a:off x="371475" y="49777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7" name="TextBox 76"/>
          <p:cNvSpPr txBox="1"/>
          <p:nvPr/>
        </p:nvSpPr>
        <p:spPr>
          <a:xfrm>
            <a:off x="561975" y="497776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Matcha-Containing Food Products</a:t>
            </a:r>
          </a:p>
        </p:txBody>
      </p:sp>
      <p:cxnSp>
        <p:nvCxnSpPr>
          <p:cNvPr id="78" name="Connector 77"/>
          <p:cNvCxnSpPr/>
          <p:nvPr/>
        </p:nvCxnSpPr>
        <p:spPr>
          <a:xfrm>
            <a:off x="152400" y="515493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200025" y="51549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0" name="TextBox 79"/>
          <p:cNvSpPr txBox="1"/>
          <p:nvPr/>
        </p:nvSpPr>
        <p:spPr>
          <a:xfrm>
            <a:off x="390525" y="5154930"/>
            <a:ext cx="3594100" cy="177165"/>
          </a:xfrm>
          <a:prstGeom prst="rect">
            <a:avLst/>
          </a:prstGeom>
          <a:noFill/>
        </p:spPr>
        <p:txBody>
          <a:bodyPr wrap="square" lIns="28575" rIns="28575" tIns="9525" bIns="9525" anchor="ctr">
            <a:spAutoFit/>
          </a:bodyPr>
          <a:lstStyle/>
          <a:p>
            <a:pPr algn="l"/>
            <a:r>
              <a:rPr sz="1100" b="1">
                <a:solidFill>
                  <a:srgbClr val="2E2E2E"/>
                </a:solidFill>
                <a:latin typeface="Calibri"/>
              </a:rPr>
              <a:t>Dietary Supplements and Functional Nutrition</a:t>
            </a:r>
          </a:p>
        </p:txBody>
      </p:sp>
      <p:cxnSp>
        <p:nvCxnSpPr>
          <p:cNvPr id="81" name="Connector 80"/>
          <p:cNvCxnSpPr/>
          <p:nvPr/>
        </p:nvCxnSpPr>
        <p:spPr>
          <a:xfrm>
            <a:off x="152400" y="533209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371475" y="53320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3" name="TextBox 82"/>
          <p:cNvSpPr txBox="1"/>
          <p:nvPr/>
        </p:nvSpPr>
        <p:spPr>
          <a:xfrm>
            <a:off x="561975" y="533209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Matcha-Based Dietary Supplements</a:t>
            </a:r>
          </a:p>
        </p:txBody>
      </p:sp>
      <p:cxnSp>
        <p:nvCxnSpPr>
          <p:cNvPr id="84" name="Connector 83"/>
          <p:cNvCxnSpPr/>
          <p:nvPr/>
        </p:nvCxnSpPr>
        <p:spPr>
          <a:xfrm>
            <a:off x="152400" y="550926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371475" y="55092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6" name="TextBox 85"/>
          <p:cNvSpPr txBox="1"/>
          <p:nvPr/>
        </p:nvSpPr>
        <p:spPr>
          <a:xfrm>
            <a:off x="561975" y="550926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Functional Nutrition Powders</a:t>
            </a:r>
          </a:p>
        </p:txBody>
      </p:sp>
      <p:cxnSp>
        <p:nvCxnSpPr>
          <p:cNvPr id="87" name="Connector 86"/>
          <p:cNvCxnSpPr/>
          <p:nvPr/>
        </p:nvCxnSpPr>
        <p:spPr>
          <a:xfrm>
            <a:off x="152400" y="568642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371475" y="56864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561975" y="568642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Matcha-Based Nutritional Products</a:t>
            </a:r>
          </a:p>
        </p:txBody>
      </p:sp>
      <p:sp>
        <p:nvSpPr>
          <p:cNvPr id="90" name="Rectangle 89"/>
          <p:cNvSpPr/>
          <p:nvPr/>
        </p:nvSpPr>
        <p:spPr>
          <a:xfrm>
            <a:off x="4156075" y="1028700"/>
            <a:ext cx="3879850" cy="76009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4156075" y="1028700"/>
            <a:ext cx="38798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4232275" y="1028700"/>
            <a:ext cx="3727450" cy="228600"/>
          </a:xfrm>
          <a:prstGeom prst="rect">
            <a:avLst/>
          </a:prstGeom>
          <a:noFill/>
        </p:spPr>
        <p:txBody>
          <a:bodyPr wrap="square" lIns="28575" rIns="28575" tIns="9525" bIns="9525" anchor="ctr">
            <a:spAutoFit/>
          </a:bodyPr>
          <a:lstStyle/>
          <a:p>
            <a:pPr algn="l"/>
            <a:r>
              <a:rPr sz="1100" b="1">
                <a:solidFill>
                  <a:srgbClr val="FFFFFF"/>
                </a:solidFill>
                <a:latin typeface="Calibri"/>
              </a:rPr>
              <a:t>By Application (2/2)</a:t>
            </a:r>
          </a:p>
        </p:txBody>
      </p:sp>
      <p:sp>
        <p:nvSpPr>
          <p:cNvPr id="93" name="TextBox 92"/>
          <p:cNvSpPr txBox="1"/>
          <p:nvPr/>
        </p:nvSpPr>
        <p:spPr>
          <a:xfrm>
            <a:off x="42132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4" name="TextBox 93"/>
          <p:cNvSpPr txBox="1"/>
          <p:nvPr/>
        </p:nvSpPr>
        <p:spPr>
          <a:xfrm>
            <a:off x="4403725" y="1257300"/>
            <a:ext cx="3594100" cy="177165"/>
          </a:xfrm>
          <a:prstGeom prst="rect">
            <a:avLst/>
          </a:prstGeom>
          <a:noFill/>
        </p:spPr>
        <p:txBody>
          <a:bodyPr wrap="square" lIns="28575" rIns="28575" tIns="9525" bIns="9525" anchor="ctr">
            <a:spAutoFit/>
          </a:bodyPr>
          <a:lstStyle/>
          <a:p>
            <a:pPr algn="l"/>
            <a:r>
              <a:rPr sz="1100" b="1">
                <a:solidFill>
                  <a:srgbClr val="2E2E2E"/>
                </a:solidFill>
                <a:latin typeface="Calibri"/>
              </a:rPr>
              <a:t>Other Applications</a:t>
            </a:r>
          </a:p>
        </p:txBody>
      </p:sp>
      <p:cxnSp>
        <p:nvCxnSpPr>
          <p:cNvPr id="95" name="Connector 94"/>
          <p:cNvCxnSpPr/>
          <p:nvPr/>
        </p:nvCxnSpPr>
        <p:spPr>
          <a:xfrm>
            <a:off x="4165600" y="143446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438467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7" name="TextBox 96"/>
          <p:cNvSpPr txBox="1"/>
          <p:nvPr/>
        </p:nvSpPr>
        <p:spPr>
          <a:xfrm>
            <a:off x="4575175" y="1434465"/>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Cosmetics and Personal Care</a:t>
            </a:r>
          </a:p>
        </p:txBody>
      </p:sp>
      <p:cxnSp>
        <p:nvCxnSpPr>
          <p:cNvPr id="98" name="Connector 97"/>
          <p:cNvCxnSpPr/>
          <p:nvPr/>
        </p:nvCxnSpPr>
        <p:spPr>
          <a:xfrm>
            <a:off x="4165600" y="161163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438467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4575175" y="1611630"/>
            <a:ext cx="342265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Specialized Applications</a:t>
            </a:r>
          </a:p>
        </p:txBody>
      </p:sp>
      <p:sp>
        <p:nvSpPr>
          <p:cNvPr id="101" name="Rectangle 100"/>
          <p:cNvSpPr/>
          <p:nvPr/>
        </p:nvSpPr>
        <p:spPr>
          <a:xfrm>
            <a:off x="8169275" y="1028700"/>
            <a:ext cx="3879850" cy="1468755"/>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Rectangle 101"/>
          <p:cNvSpPr/>
          <p:nvPr/>
        </p:nvSpPr>
        <p:spPr>
          <a:xfrm>
            <a:off x="8169275" y="1028700"/>
            <a:ext cx="3879850" cy="228600"/>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8245475" y="1028700"/>
            <a:ext cx="3727450" cy="228600"/>
          </a:xfrm>
          <a:prstGeom prst="rect">
            <a:avLst/>
          </a:prstGeom>
          <a:noFill/>
        </p:spPr>
        <p:txBody>
          <a:bodyPr wrap="square" lIns="28575" rIns="28575" tIns="9525" bIns="9525" anchor="ctr">
            <a:spAutoFit/>
          </a:bodyPr>
          <a:lstStyle/>
          <a:p>
            <a:pPr algn="l"/>
            <a:r>
              <a:rPr sz="1100" b="1">
                <a:solidFill>
                  <a:srgbClr val="FFFFFF"/>
                </a:solidFill>
                <a:latin typeface="Calibri"/>
              </a:rPr>
              <a:t>By Distribution Channel</a:t>
            </a:r>
          </a:p>
        </p:txBody>
      </p:sp>
      <p:sp>
        <p:nvSpPr>
          <p:cNvPr id="104" name="TextBox 103"/>
          <p:cNvSpPr txBox="1"/>
          <p:nvPr/>
        </p:nvSpPr>
        <p:spPr>
          <a:xfrm>
            <a:off x="8226425" y="125730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5" name="TextBox 104"/>
          <p:cNvSpPr txBox="1"/>
          <p:nvPr/>
        </p:nvSpPr>
        <p:spPr>
          <a:xfrm>
            <a:off x="8416925" y="1257300"/>
            <a:ext cx="3594100" cy="177165"/>
          </a:xfrm>
          <a:prstGeom prst="rect">
            <a:avLst/>
          </a:prstGeom>
          <a:noFill/>
        </p:spPr>
        <p:txBody>
          <a:bodyPr wrap="square" lIns="28575" rIns="28575" tIns="9525" bIns="9525" anchor="ctr">
            <a:spAutoFit/>
          </a:bodyPr>
          <a:lstStyle/>
          <a:p>
            <a:pPr algn="l"/>
            <a:r>
              <a:rPr sz="1100" b="0">
                <a:solidFill>
                  <a:srgbClr val="2E2E2E"/>
                </a:solidFill>
                <a:latin typeface="Calibri"/>
              </a:rPr>
              <a:t>B2B / Institutional and Ingredient Sales</a:t>
            </a:r>
          </a:p>
        </p:txBody>
      </p:sp>
      <p:cxnSp>
        <p:nvCxnSpPr>
          <p:cNvPr id="106" name="Connector 105"/>
          <p:cNvCxnSpPr/>
          <p:nvPr/>
        </p:nvCxnSpPr>
        <p:spPr>
          <a:xfrm>
            <a:off x="8178800" y="143446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8226425" y="143446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8" name="TextBox 107"/>
          <p:cNvSpPr txBox="1"/>
          <p:nvPr/>
        </p:nvSpPr>
        <p:spPr>
          <a:xfrm>
            <a:off x="8416925" y="1434465"/>
            <a:ext cx="3594100" cy="177165"/>
          </a:xfrm>
          <a:prstGeom prst="rect">
            <a:avLst/>
          </a:prstGeom>
          <a:noFill/>
        </p:spPr>
        <p:txBody>
          <a:bodyPr wrap="square" lIns="28575" rIns="28575" tIns="9525" bIns="9525" anchor="ctr">
            <a:spAutoFit/>
          </a:bodyPr>
          <a:lstStyle/>
          <a:p>
            <a:pPr algn="l"/>
            <a:r>
              <a:rPr sz="1100" b="0">
                <a:solidFill>
                  <a:srgbClr val="2E2E2E"/>
                </a:solidFill>
                <a:latin typeface="Calibri"/>
              </a:rPr>
              <a:t>Supermarkets and Hypermarkets</a:t>
            </a:r>
          </a:p>
        </p:txBody>
      </p:sp>
      <p:cxnSp>
        <p:nvCxnSpPr>
          <p:cNvPr id="109" name="Connector 108"/>
          <p:cNvCxnSpPr/>
          <p:nvPr/>
        </p:nvCxnSpPr>
        <p:spPr>
          <a:xfrm>
            <a:off x="8178800" y="161163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8226425" y="161163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1" name="TextBox 110"/>
          <p:cNvSpPr txBox="1"/>
          <p:nvPr/>
        </p:nvSpPr>
        <p:spPr>
          <a:xfrm>
            <a:off x="8416925" y="1611630"/>
            <a:ext cx="3594100" cy="177165"/>
          </a:xfrm>
          <a:prstGeom prst="rect">
            <a:avLst/>
          </a:prstGeom>
          <a:noFill/>
        </p:spPr>
        <p:txBody>
          <a:bodyPr wrap="square" lIns="28575" rIns="28575" tIns="9525" bIns="9525" anchor="ctr">
            <a:spAutoFit/>
          </a:bodyPr>
          <a:lstStyle/>
          <a:p>
            <a:pPr algn="l"/>
            <a:r>
              <a:rPr sz="1100" b="0">
                <a:solidFill>
                  <a:srgbClr val="2E2E2E"/>
                </a:solidFill>
                <a:latin typeface="Calibri"/>
              </a:rPr>
              <a:t>Convenience Stores</a:t>
            </a:r>
          </a:p>
        </p:txBody>
      </p:sp>
      <p:cxnSp>
        <p:nvCxnSpPr>
          <p:cNvPr id="112" name="Connector 111"/>
          <p:cNvCxnSpPr/>
          <p:nvPr/>
        </p:nvCxnSpPr>
        <p:spPr>
          <a:xfrm>
            <a:off x="8178800" y="178879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3" name="TextBox 112"/>
          <p:cNvSpPr txBox="1"/>
          <p:nvPr/>
        </p:nvSpPr>
        <p:spPr>
          <a:xfrm>
            <a:off x="8226425" y="178879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4" name="TextBox 113"/>
          <p:cNvSpPr txBox="1"/>
          <p:nvPr/>
        </p:nvSpPr>
        <p:spPr>
          <a:xfrm>
            <a:off x="8416925" y="1788795"/>
            <a:ext cx="3594100" cy="177165"/>
          </a:xfrm>
          <a:prstGeom prst="rect">
            <a:avLst/>
          </a:prstGeom>
          <a:noFill/>
        </p:spPr>
        <p:txBody>
          <a:bodyPr wrap="square" lIns="28575" rIns="28575" tIns="9525" bIns="9525" anchor="ctr">
            <a:spAutoFit/>
          </a:bodyPr>
          <a:lstStyle/>
          <a:p>
            <a:pPr algn="l"/>
            <a:r>
              <a:rPr sz="1100" b="0">
                <a:solidFill>
                  <a:srgbClr val="2E2E2E"/>
                </a:solidFill>
                <a:latin typeface="Calibri"/>
              </a:rPr>
              <a:t>Specialty Tea and Health Food Stores</a:t>
            </a:r>
          </a:p>
        </p:txBody>
      </p:sp>
      <p:cxnSp>
        <p:nvCxnSpPr>
          <p:cNvPr id="115" name="Connector 114"/>
          <p:cNvCxnSpPr/>
          <p:nvPr/>
        </p:nvCxnSpPr>
        <p:spPr>
          <a:xfrm>
            <a:off x="8178800" y="196596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8226425" y="196596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8416925" y="1965960"/>
            <a:ext cx="3594100" cy="177165"/>
          </a:xfrm>
          <a:prstGeom prst="rect">
            <a:avLst/>
          </a:prstGeom>
          <a:noFill/>
        </p:spPr>
        <p:txBody>
          <a:bodyPr wrap="square" lIns="28575" rIns="28575" tIns="9525" bIns="9525" anchor="ctr">
            <a:spAutoFit/>
          </a:bodyPr>
          <a:lstStyle/>
          <a:p>
            <a:pPr algn="l"/>
            <a:r>
              <a:rPr sz="1100" b="0">
                <a:solidFill>
                  <a:srgbClr val="2E2E2E"/>
                </a:solidFill>
                <a:latin typeface="Calibri"/>
              </a:rPr>
              <a:t>Online Retail</a:t>
            </a:r>
          </a:p>
        </p:txBody>
      </p:sp>
      <p:cxnSp>
        <p:nvCxnSpPr>
          <p:cNvPr id="118" name="Connector 117"/>
          <p:cNvCxnSpPr/>
          <p:nvPr/>
        </p:nvCxnSpPr>
        <p:spPr>
          <a:xfrm>
            <a:off x="8178800" y="2143125"/>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9" name="TextBox 118"/>
          <p:cNvSpPr txBox="1"/>
          <p:nvPr/>
        </p:nvSpPr>
        <p:spPr>
          <a:xfrm>
            <a:off x="8226425" y="2143125"/>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0" name="TextBox 119"/>
          <p:cNvSpPr txBox="1"/>
          <p:nvPr/>
        </p:nvSpPr>
        <p:spPr>
          <a:xfrm>
            <a:off x="8416925" y="2143125"/>
            <a:ext cx="3594100" cy="177165"/>
          </a:xfrm>
          <a:prstGeom prst="rect">
            <a:avLst/>
          </a:prstGeom>
          <a:noFill/>
        </p:spPr>
        <p:txBody>
          <a:bodyPr wrap="square" lIns="28575" rIns="28575" tIns="9525" bIns="9525" anchor="ctr">
            <a:spAutoFit/>
          </a:bodyPr>
          <a:lstStyle/>
          <a:p>
            <a:pPr algn="l"/>
            <a:r>
              <a:rPr sz="1100" b="0">
                <a:solidFill>
                  <a:srgbClr val="2E2E2E"/>
                </a:solidFill>
                <a:latin typeface="Calibri"/>
              </a:rPr>
              <a:t>Foodservice and HoReCa</a:t>
            </a:r>
          </a:p>
        </p:txBody>
      </p:sp>
      <p:cxnSp>
        <p:nvCxnSpPr>
          <p:cNvPr id="121" name="Connector 120"/>
          <p:cNvCxnSpPr/>
          <p:nvPr/>
        </p:nvCxnSpPr>
        <p:spPr>
          <a:xfrm>
            <a:off x="8178800" y="2320290"/>
            <a:ext cx="386080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22" name="TextBox 121"/>
          <p:cNvSpPr txBox="1"/>
          <p:nvPr/>
        </p:nvSpPr>
        <p:spPr>
          <a:xfrm>
            <a:off x="8226425" y="2320290"/>
            <a:ext cx="190500" cy="177165"/>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3" name="TextBox 122"/>
          <p:cNvSpPr txBox="1"/>
          <p:nvPr/>
        </p:nvSpPr>
        <p:spPr>
          <a:xfrm>
            <a:off x="8416925" y="2320290"/>
            <a:ext cx="3594100" cy="177165"/>
          </a:xfrm>
          <a:prstGeom prst="rect">
            <a:avLst/>
          </a:prstGeom>
          <a:noFill/>
        </p:spPr>
        <p:txBody>
          <a:bodyPr wrap="square" lIns="28575" rIns="28575" tIns="9525" bIns="9525" anchor="ctr">
            <a:spAutoFit/>
          </a:bodyPr>
          <a:lstStyle/>
          <a:p>
            <a:pPr algn="l"/>
            <a:r>
              <a:rPr sz="1100" b="0">
                <a:solidFill>
                  <a:srgbClr val="2E2E2E"/>
                </a:solidFill>
                <a:latin typeface="Calibri"/>
              </a:rPr>
              <a:t>Other Retail Channels</a:t>
            </a:r>
          </a:p>
        </p:txBody>
      </p:sp>
      <p:sp>
        <p:nvSpPr>
          <p:cNvPr id="124" name="TextBox 1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Company Coverage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Companies profiled and benchmarked across the competition assessment</a:t>
            </a:r>
          </a:p>
        </p:txBody>
      </p:sp>
      <p:sp>
        <p:nvSpPr>
          <p:cNvPr id="10" name="TextBox 9"/>
          <p:cNvSpPr txBox="1"/>
          <p:nvPr/>
        </p:nvSpPr>
        <p:spPr>
          <a:xfrm>
            <a:off x="142875" y="1007261"/>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Companies covered in this study of the Matcha Market profiled and benchmarked in the Competition Assessment section.</a:t>
            </a:r>
          </a:p>
        </p:txBody>
      </p:sp>
      <p:sp>
        <p:nvSpPr>
          <p:cNvPr id="11" name="Rectangle 10"/>
          <p:cNvSpPr/>
          <p:nvPr/>
        </p:nvSpPr>
        <p:spPr>
          <a:xfrm>
            <a:off x="142875"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42875"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142875"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14" name="TextBox 13"/>
          <p:cNvSpPr txBox="1"/>
          <p:nvPr/>
        </p:nvSpPr>
        <p:spPr>
          <a:xfrm>
            <a:off x="333375"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5" name="TextBox 14"/>
          <p:cNvSpPr txBox="1"/>
          <p:nvPr/>
        </p:nvSpPr>
        <p:spPr>
          <a:xfrm>
            <a:off x="581025"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Jade Leaf Matcha</a:t>
            </a:r>
          </a:p>
        </p:txBody>
      </p:sp>
      <p:sp>
        <p:nvSpPr>
          <p:cNvPr id="16" name="Rectangle 15"/>
          <p:cNvSpPr/>
          <p:nvPr/>
        </p:nvSpPr>
        <p:spPr>
          <a:xfrm>
            <a:off x="152400"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7" name="Connector 16"/>
          <p:cNvCxnSpPr/>
          <p:nvPr/>
        </p:nvCxnSpPr>
        <p:spPr>
          <a:xfrm>
            <a:off x="152400"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33375"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9" name="TextBox 18"/>
          <p:cNvSpPr txBox="1"/>
          <p:nvPr/>
        </p:nvSpPr>
        <p:spPr>
          <a:xfrm>
            <a:off x="581025"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DoMatcha</a:t>
            </a:r>
          </a:p>
        </p:txBody>
      </p:sp>
      <p:cxnSp>
        <p:nvCxnSpPr>
          <p:cNvPr id="20" name="Connector 19"/>
          <p:cNvCxnSpPr/>
          <p:nvPr/>
        </p:nvCxnSpPr>
        <p:spPr>
          <a:xfrm>
            <a:off x="152400"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33375"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2" name="TextBox 21"/>
          <p:cNvSpPr txBox="1"/>
          <p:nvPr/>
        </p:nvSpPr>
        <p:spPr>
          <a:xfrm>
            <a:off x="581025"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Encha</a:t>
            </a:r>
          </a:p>
        </p:txBody>
      </p:sp>
      <p:sp>
        <p:nvSpPr>
          <p:cNvPr id="23" name="Rectangle 22"/>
          <p:cNvSpPr/>
          <p:nvPr/>
        </p:nvSpPr>
        <p:spPr>
          <a:xfrm>
            <a:off x="152400"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4" name="Connector 23"/>
          <p:cNvCxnSpPr/>
          <p:nvPr/>
        </p:nvCxnSpPr>
        <p:spPr>
          <a:xfrm>
            <a:off x="152400"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5" name="TextBox 24"/>
          <p:cNvSpPr txBox="1"/>
          <p:nvPr/>
        </p:nvSpPr>
        <p:spPr>
          <a:xfrm>
            <a:off x="333375"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6" name="TextBox 25"/>
          <p:cNvSpPr txBox="1"/>
          <p:nvPr/>
        </p:nvSpPr>
        <p:spPr>
          <a:xfrm>
            <a:off x="581025"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Rishi Tea and Botanicals</a:t>
            </a:r>
          </a:p>
        </p:txBody>
      </p:sp>
      <p:cxnSp>
        <p:nvCxnSpPr>
          <p:cNvPr id="27" name="Connector 26"/>
          <p:cNvCxnSpPr/>
          <p:nvPr/>
        </p:nvCxnSpPr>
        <p:spPr>
          <a:xfrm>
            <a:off x="152400"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333375"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29" name="TextBox 28"/>
          <p:cNvSpPr txBox="1"/>
          <p:nvPr/>
        </p:nvSpPr>
        <p:spPr>
          <a:xfrm>
            <a:off x="581025"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Tenzo</a:t>
            </a:r>
          </a:p>
        </p:txBody>
      </p:sp>
      <p:sp>
        <p:nvSpPr>
          <p:cNvPr id="30" name="Rectangle 29"/>
          <p:cNvSpPr/>
          <p:nvPr/>
        </p:nvSpPr>
        <p:spPr>
          <a:xfrm>
            <a:off x="152400"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1" name="Connector 30"/>
          <p:cNvCxnSpPr/>
          <p:nvPr/>
        </p:nvCxnSpPr>
        <p:spPr>
          <a:xfrm>
            <a:off x="152400"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333375"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3" name="TextBox 32"/>
          <p:cNvSpPr txBox="1"/>
          <p:nvPr/>
        </p:nvSpPr>
        <p:spPr>
          <a:xfrm>
            <a:off x="581025"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Matchaful</a:t>
            </a:r>
          </a:p>
        </p:txBody>
      </p:sp>
      <p:cxnSp>
        <p:nvCxnSpPr>
          <p:cNvPr id="34" name="Connector 33"/>
          <p:cNvCxnSpPr/>
          <p:nvPr/>
        </p:nvCxnSpPr>
        <p:spPr>
          <a:xfrm>
            <a:off x="152400"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333375"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36" name="TextBox 35"/>
          <p:cNvSpPr txBox="1"/>
          <p:nvPr/>
        </p:nvSpPr>
        <p:spPr>
          <a:xfrm>
            <a:off x="581025"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Kettl</a:t>
            </a:r>
          </a:p>
        </p:txBody>
      </p:sp>
      <p:sp>
        <p:nvSpPr>
          <p:cNvPr id="37" name="Rectangle 36"/>
          <p:cNvSpPr/>
          <p:nvPr/>
        </p:nvSpPr>
        <p:spPr>
          <a:xfrm>
            <a:off x="152400"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8" name="Connector 37"/>
          <p:cNvCxnSpPr/>
          <p:nvPr/>
        </p:nvCxnSpPr>
        <p:spPr>
          <a:xfrm>
            <a:off x="152400"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33375"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0" name="TextBox 39"/>
          <p:cNvSpPr txBox="1"/>
          <p:nvPr/>
        </p:nvSpPr>
        <p:spPr>
          <a:xfrm>
            <a:off x="581025"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Harney and Sons</a:t>
            </a:r>
          </a:p>
        </p:txBody>
      </p:sp>
      <p:cxnSp>
        <p:nvCxnSpPr>
          <p:cNvPr id="41" name="Connector 40"/>
          <p:cNvCxnSpPr/>
          <p:nvPr/>
        </p:nvCxnSpPr>
        <p:spPr>
          <a:xfrm>
            <a:off x="152400"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2" name="TextBox 41"/>
          <p:cNvSpPr txBox="1"/>
          <p:nvPr/>
        </p:nvSpPr>
        <p:spPr>
          <a:xfrm>
            <a:off x="333375"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3" name="TextBox 42"/>
          <p:cNvSpPr txBox="1"/>
          <p:nvPr/>
        </p:nvSpPr>
        <p:spPr>
          <a:xfrm>
            <a:off x="581025"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Sencha Naturals</a:t>
            </a:r>
          </a:p>
        </p:txBody>
      </p:sp>
      <p:sp>
        <p:nvSpPr>
          <p:cNvPr id="44" name="Rectangle 43"/>
          <p:cNvSpPr/>
          <p:nvPr/>
        </p:nvSpPr>
        <p:spPr>
          <a:xfrm>
            <a:off x="152400"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5" name="Connector 44"/>
          <p:cNvCxnSpPr/>
          <p:nvPr/>
        </p:nvCxnSpPr>
        <p:spPr>
          <a:xfrm>
            <a:off x="152400"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TextBox 45"/>
          <p:cNvSpPr txBox="1"/>
          <p:nvPr/>
        </p:nvSpPr>
        <p:spPr>
          <a:xfrm>
            <a:off x="333375"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47" name="TextBox 46"/>
          <p:cNvSpPr txBox="1"/>
          <p:nvPr/>
        </p:nvSpPr>
        <p:spPr>
          <a:xfrm>
            <a:off x="581025"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Aoi Matcha</a:t>
            </a:r>
          </a:p>
        </p:txBody>
      </p:sp>
      <p:cxnSp>
        <p:nvCxnSpPr>
          <p:cNvPr id="48" name="Connector 47"/>
          <p:cNvCxnSpPr/>
          <p:nvPr/>
        </p:nvCxnSpPr>
        <p:spPr>
          <a:xfrm>
            <a:off x="152400"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333375"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0" name="TextBox 49"/>
          <p:cNvSpPr txBox="1"/>
          <p:nvPr/>
        </p:nvSpPr>
        <p:spPr>
          <a:xfrm>
            <a:off x="581025"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AIYA Europe</a:t>
            </a:r>
          </a:p>
        </p:txBody>
      </p:sp>
      <p:sp>
        <p:nvSpPr>
          <p:cNvPr id="51" name="Rectangle 50"/>
          <p:cNvSpPr/>
          <p:nvPr/>
        </p:nvSpPr>
        <p:spPr>
          <a:xfrm>
            <a:off x="152400"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2" name="Connector 51"/>
          <p:cNvCxnSpPr/>
          <p:nvPr/>
        </p:nvCxnSpPr>
        <p:spPr>
          <a:xfrm>
            <a:off x="152400"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333375"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4" name="TextBox 53"/>
          <p:cNvSpPr txBox="1"/>
          <p:nvPr/>
        </p:nvSpPr>
        <p:spPr>
          <a:xfrm>
            <a:off x="581025"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MOYA Matcha</a:t>
            </a:r>
          </a:p>
        </p:txBody>
      </p:sp>
      <p:cxnSp>
        <p:nvCxnSpPr>
          <p:cNvPr id="55" name="Connector 54"/>
          <p:cNvCxnSpPr/>
          <p:nvPr/>
        </p:nvCxnSpPr>
        <p:spPr>
          <a:xfrm>
            <a:off x="152400"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56" name="TextBox 55"/>
          <p:cNvSpPr txBox="1"/>
          <p:nvPr/>
        </p:nvSpPr>
        <p:spPr>
          <a:xfrm>
            <a:off x="333375"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57" name="TextBox 56"/>
          <p:cNvSpPr txBox="1"/>
          <p:nvPr/>
        </p:nvSpPr>
        <p:spPr>
          <a:xfrm>
            <a:off x="581025"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Kissa Tea</a:t>
            </a:r>
          </a:p>
        </p:txBody>
      </p:sp>
      <p:sp>
        <p:nvSpPr>
          <p:cNvPr id="58" name="Rectangle 57"/>
          <p:cNvSpPr/>
          <p:nvPr/>
        </p:nvSpPr>
        <p:spPr>
          <a:xfrm>
            <a:off x="152400"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9" name="Connector 58"/>
          <p:cNvCxnSpPr/>
          <p:nvPr/>
        </p:nvCxnSpPr>
        <p:spPr>
          <a:xfrm>
            <a:off x="152400"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333375"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1" name="TextBox 60"/>
          <p:cNvSpPr txBox="1"/>
          <p:nvPr/>
        </p:nvSpPr>
        <p:spPr>
          <a:xfrm>
            <a:off x="581025"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The Matcha House</a:t>
            </a:r>
          </a:p>
        </p:txBody>
      </p:sp>
      <p:cxnSp>
        <p:nvCxnSpPr>
          <p:cNvPr id="62" name="Connector 61"/>
          <p:cNvCxnSpPr/>
          <p:nvPr/>
        </p:nvCxnSpPr>
        <p:spPr>
          <a:xfrm>
            <a:off x="152400"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333375"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4" name="TextBox 63"/>
          <p:cNvSpPr txBox="1"/>
          <p:nvPr/>
        </p:nvSpPr>
        <p:spPr>
          <a:xfrm>
            <a:off x="581025"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Clearspring</a:t>
            </a:r>
          </a:p>
        </p:txBody>
      </p:sp>
      <p:sp>
        <p:nvSpPr>
          <p:cNvPr id="65" name="Rectangle 64"/>
          <p:cNvSpPr/>
          <p:nvPr/>
        </p:nvSpPr>
        <p:spPr>
          <a:xfrm>
            <a:off x="6191250" y="1554872"/>
            <a:ext cx="5857875" cy="4654693"/>
          </a:xfrm>
          <a:prstGeom prst="rect">
            <a:avLst/>
          </a:prstGeom>
          <a:solidFill>
            <a:srgbClr val="FFFFFF"/>
          </a:solidFill>
          <a:ln w="1270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6191250" y="1554872"/>
            <a:ext cx="5857875" cy="273805"/>
          </a:xfrm>
          <a:prstGeom prst="rect">
            <a:avLst/>
          </a:prstGeom>
          <a:solidFill>
            <a:srgbClr val="0B2E4A"/>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6191250" y="1618760"/>
            <a:ext cx="5857875" cy="164283"/>
          </a:xfrm>
          <a:prstGeom prst="rect">
            <a:avLst/>
          </a:prstGeom>
          <a:noFill/>
        </p:spPr>
        <p:txBody>
          <a:bodyPr wrap="square" lIns="28575" rIns="28575" tIns="9525" bIns="9525" anchor="ctr">
            <a:spAutoFit/>
          </a:bodyPr>
          <a:lstStyle/>
          <a:p>
            <a:pPr algn="ctr"/>
            <a:r>
              <a:rPr sz="1100" b="1">
                <a:solidFill>
                  <a:srgbClr val="FFFFFF"/>
                </a:solidFill>
                <a:latin typeface="Calibri"/>
              </a:rPr>
              <a:t>List Companies</a:t>
            </a:r>
          </a:p>
        </p:txBody>
      </p:sp>
      <p:sp>
        <p:nvSpPr>
          <p:cNvPr id="68" name="TextBox 67"/>
          <p:cNvSpPr txBox="1"/>
          <p:nvPr/>
        </p:nvSpPr>
        <p:spPr>
          <a:xfrm>
            <a:off x="6381750" y="182867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69" name="TextBox 68"/>
          <p:cNvSpPr txBox="1"/>
          <p:nvPr/>
        </p:nvSpPr>
        <p:spPr>
          <a:xfrm>
            <a:off x="6629400" y="182867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Matcha and CO</a:t>
            </a:r>
          </a:p>
        </p:txBody>
      </p:sp>
      <p:sp>
        <p:nvSpPr>
          <p:cNvPr id="70" name="Rectangle 69"/>
          <p:cNvSpPr/>
          <p:nvPr/>
        </p:nvSpPr>
        <p:spPr>
          <a:xfrm>
            <a:off x="6200775" y="212073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1" name="Connector 70"/>
          <p:cNvCxnSpPr/>
          <p:nvPr/>
        </p:nvCxnSpPr>
        <p:spPr>
          <a:xfrm>
            <a:off x="6200775" y="212073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6381750" y="212073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3" name="TextBox 72"/>
          <p:cNvSpPr txBox="1"/>
          <p:nvPr/>
        </p:nvSpPr>
        <p:spPr>
          <a:xfrm>
            <a:off x="6629400" y="212073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NaturaleBio</a:t>
            </a:r>
          </a:p>
        </p:txBody>
      </p:sp>
      <p:cxnSp>
        <p:nvCxnSpPr>
          <p:cNvPr id="74" name="Connector 73"/>
          <p:cNvCxnSpPr/>
          <p:nvPr/>
        </p:nvCxnSpPr>
        <p:spPr>
          <a:xfrm>
            <a:off x="6200775" y="241279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5" name="TextBox 74"/>
          <p:cNvSpPr txBox="1"/>
          <p:nvPr/>
        </p:nvSpPr>
        <p:spPr>
          <a:xfrm>
            <a:off x="6381750" y="241279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76" name="TextBox 75"/>
          <p:cNvSpPr txBox="1"/>
          <p:nvPr/>
        </p:nvSpPr>
        <p:spPr>
          <a:xfrm>
            <a:off x="6629400" y="241279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Pukka Herbs</a:t>
            </a:r>
          </a:p>
        </p:txBody>
      </p:sp>
      <p:sp>
        <p:nvSpPr>
          <p:cNvPr id="77" name="Rectangle 76"/>
          <p:cNvSpPr/>
          <p:nvPr/>
        </p:nvSpPr>
        <p:spPr>
          <a:xfrm>
            <a:off x="6200775" y="2704855"/>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8" name="Connector 77"/>
          <p:cNvCxnSpPr/>
          <p:nvPr/>
        </p:nvCxnSpPr>
        <p:spPr>
          <a:xfrm>
            <a:off x="6200775" y="2704855"/>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79" name="TextBox 78"/>
          <p:cNvSpPr txBox="1"/>
          <p:nvPr/>
        </p:nvSpPr>
        <p:spPr>
          <a:xfrm>
            <a:off x="6381750" y="2704855"/>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0" name="TextBox 79"/>
          <p:cNvSpPr txBox="1"/>
          <p:nvPr/>
        </p:nvSpPr>
        <p:spPr>
          <a:xfrm>
            <a:off x="6629400" y="2704855"/>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teapigs</a:t>
            </a:r>
          </a:p>
        </p:txBody>
      </p:sp>
      <p:cxnSp>
        <p:nvCxnSpPr>
          <p:cNvPr id="81" name="Connector 80"/>
          <p:cNvCxnSpPr/>
          <p:nvPr/>
        </p:nvCxnSpPr>
        <p:spPr>
          <a:xfrm>
            <a:off x="6200775" y="2996914"/>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2" name="TextBox 81"/>
          <p:cNvSpPr txBox="1"/>
          <p:nvPr/>
        </p:nvSpPr>
        <p:spPr>
          <a:xfrm>
            <a:off x="6381750" y="2996914"/>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3" name="TextBox 82"/>
          <p:cNvSpPr txBox="1"/>
          <p:nvPr/>
        </p:nvSpPr>
        <p:spPr>
          <a:xfrm>
            <a:off x="6629400" y="2996914"/>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Bird and Blend Tea Co.</a:t>
            </a:r>
          </a:p>
        </p:txBody>
      </p:sp>
      <p:sp>
        <p:nvSpPr>
          <p:cNvPr id="84" name="Rectangle 83"/>
          <p:cNvSpPr/>
          <p:nvPr/>
        </p:nvSpPr>
        <p:spPr>
          <a:xfrm>
            <a:off x="6200775" y="3288973"/>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5" name="Connector 84"/>
          <p:cNvCxnSpPr/>
          <p:nvPr/>
        </p:nvCxnSpPr>
        <p:spPr>
          <a:xfrm>
            <a:off x="6200775" y="3288973"/>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6" name="TextBox 85"/>
          <p:cNvSpPr txBox="1"/>
          <p:nvPr/>
        </p:nvSpPr>
        <p:spPr>
          <a:xfrm>
            <a:off x="6381750" y="3288973"/>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87" name="TextBox 86"/>
          <p:cNvSpPr txBox="1"/>
          <p:nvPr/>
        </p:nvSpPr>
        <p:spPr>
          <a:xfrm>
            <a:off x="6629400" y="3288973"/>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Guizhou Gui Tea Group</a:t>
            </a:r>
          </a:p>
        </p:txBody>
      </p:sp>
      <p:cxnSp>
        <p:nvCxnSpPr>
          <p:cNvPr id="88" name="Connector 87"/>
          <p:cNvCxnSpPr/>
          <p:nvPr/>
        </p:nvCxnSpPr>
        <p:spPr>
          <a:xfrm>
            <a:off x="6200775" y="358103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6381750" y="358103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0" name="TextBox 89"/>
          <p:cNvSpPr txBox="1"/>
          <p:nvPr/>
        </p:nvSpPr>
        <p:spPr>
          <a:xfrm>
            <a:off x="6629400" y="358103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Aiya Co., Ltd.</a:t>
            </a:r>
          </a:p>
        </p:txBody>
      </p:sp>
      <p:sp>
        <p:nvSpPr>
          <p:cNvPr id="91" name="Rectangle 90"/>
          <p:cNvSpPr/>
          <p:nvPr/>
        </p:nvSpPr>
        <p:spPr>
          <a:xfrm>
            <a:off x="6200775" y="3873092"/>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2" name="Connector 91"/>
          <p:cNvCxnSpPr/>
          <p:nvPr/>
        </p:nvCxnSpPr>
        <p:spPr>
          <a:xfrm>
            <a:off x="6200775" y="3873092"/>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6381750" y="3873092"/>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4" name="TextBox 93"/>
          <p:cNvSpPr txBox="1"/>
          <p:nvPr/>
        </p:nvSpPr>
        <p:spPr>
          <a:xfrm>
            <a:off x="6629400" y="3873092"/>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Ito En, Ltd.</a:t>
            </a:r>
          </a:p>
        </p:txBody>
      </p:sp>
      <p:cxnSp>
        <p:nvCxnSpPr>
          <p:cNvPr id="95" name="Connector 94"/>
          <p:cNvCxnSpPr/>
          <p:nvPr/>
        </p:nvCxnSpPr>
        <p:spPr>
          <a:xfrm>
            <a:off x="6200775" y="4165151"/>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6381750" y="4165151"/>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97" name="TextBox 96"/>
          <p:cNvSpPr txBox="1"/>
          <p:nvPr/>
        </p:nvSpPr>
        <p:spPr>
          <a:xfrm>
            <a:off x="6629400" y="4165151"/>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Marushichi Seicha</a:t>
            </a:r>
          </a:p>
        </p:txBody>
      </p:sp>
      <p:sp>
        <p:nvSpPr>
          <p:cNvPr id="98" name="Rectangle 97"/>
          <p:cNvSpPr/>
          <p:nvPr/>
        </p:nvSpPr>
        <p:spPr>
          <a:xfrm>
            <a:off x="6200775" y="4457210"/>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9" name="Connector 98"/>
          <p:cNvCxnSpPr/>
          <p:nvPr/>
        </p:nvCxnSpPr>
        <p:spPr>
          <a:xfrm>
            <a:off x="6200775" y="4457210"/>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0" name="TextBox 99"/>
          <p:cNvSpPr txBox="1"/>
          <p:nvPr/>
        </p:nvSpPr>
        <p:spPr>
          <a:xfrm>
            <a:off x="6381750" y="4457210"/>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1" name="TextBox 100"/>
          <p:cNvSpPr txBox="1"/>
          <p:nvPr/>
        </p:nvSpPr>
        <p:spPr>
          <a:xfrm>
            <a:off x="6629400" y="4457210"/>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Marukyu Koyamaen</a:t>
            </a:r>
          </a:p>
        </p:txBody>
      </p:sp>
      <p:cxnSp>
        <p:nvCxnSpPr>
          <p:cNvPr id="102" name="Connector 101"/>
          <p:cNvCxnSpPr/>
          <p:nvPr/>
        </p:nvCxnSpPr>
        <p:spPr>
          <a:xfrm>
            <a:off x="6200775" y="4749269"/>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6381750" y="4749269"/>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4" name="TextBox 103"/>
          <p:cNvSpPr txBox="1"/>
          <p:nvPr/>
        </p:nvSpPr>
        <p:spPr>
          <a:xfrm>
            <a:off x="6629400" y="4749269"/>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Ippodo Tea Co.</a:t>
            </a:r>
          </a:p>
        </p:txBody>
      </p:sp>
      <p:sp>
        <p:nvSpPr>
          <p:cNvPr id="105" name="Rectangle 104"/>
          <p:cNvSpPr/>
          <p:nvPr/>
        </p:nvSpPr>
        <p:spPr>
          <a:xfrm>
            <a:off x="6200775" y="5041328"/>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6" name="Connector 105"/>
          <p:cNvCxnSpPr/>
          <p:nvPr/>
        </p:nvCxnSpPr>
        <p:spPr>
          <a:xfrm>
            <a:off x="6200775" y="5041328"/>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6381750" y="5041328"/>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08" name="TextBox 107"/>
          <p:cNvSpPr txBox="1"/>
          <p:nvPr/>
        </p:nvSpPr>
        <p:spPr>
          <a:xfrm>
            <a:off x="6629400" y="5041328"/>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Yamamasa Koyamaen</a:t>
            </a:r>
          </a:p>
        </p:txBody>
      </p:sp>
      <p:cxnSp>
        <p:nvCxnSpPr>
          <p:cNvPr id="109" name="Connector 108"/>
          <p:cNvCxnSpPr/>
          <p:nvPr/>
        </p:nvCxnSpPr>
        <p:spPr>
          <a:xfrm>
            <a:off x="6200775" y="533338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6381750" y="533338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1" name="TextBox 110"/>
          <p:cNvSpPr txBox="1"/>
          <p:nvPr/>
        </p:nvSpPr>
        <p:spPr>
          <a:xfrm>
            <a:off x="6629400" y="533338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ShaoXing Royal Tea</a:t>
            </a:r>
          </a:p>
        </p:txBody>
      </p:sp>
      <p:sp>
        <p:nvSpPr>
          <p:cNvPr id="112" name="Rectangle 111"/>
          <p:cNvSpPr/>
          <p:nvPr/>
        </p:nvSpPr>
        <p:spPr>
          <a:xfrm>
            <a:off x="6200775" y="5625447"/>
            <a:ext cx="5838825" cy="292059"/>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3" name="Connector 112"/>
          <p:cNvCxnSpPr/>
          <p:nvPr/>
        </p:nvCxnSpPr>
        <p:spPr>
          <a:xfrm>
            <a:off x="6200775" y="5625447"/>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6381750" y="5625447"/>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5" name="TextBox 114"/>
          <p:cNvSpPr txBox="1"/>
          <p:nvPr/>
        </p:nvSpPr>
        <p:spPr>
          <a:xfrm>
            <a:off x="6629400" y="5625447"/>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Zhejiang Tea Group</a:t>
            </a:r>
          </a:p>
        </p:txBody>
      </p:sp>
      <p:cxnSp>
        <p:nvCxnSpPr>
          <p:cNvPr id="116" name="Connector 115"/>
          <p:cNvCxnSpPr/>
          <p:nvPr/>
        </p:nvCxnSpPr>
        <p:spPr>
          <a:xfrm>
            <a:off x="6200775" y="5917506"/>
            <a:ext cx="5838825"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6381750" y="5917506"/>
            <a:ext cx="190500" cy="292059"/>
          </a:xfrm>
          <a:prstGeom prst="rect">
            <a:avLst/>
          </a:prstGeom>
          <a:noFill/>
        </p:spPr>
        <p:txBody>
          <a:bodyPr wrap="none" lIns="0" rIns="0" tIns="0" bIns="0" anchor="ctr">
            <a:spAutoFit/>
          </a:bodyPr>
          <a:lstStyle/>
          <a:p>
            <a:pPr algn="l"/>
            <a:r>
              <a:rPr sz="1100" b="0">
                <a:solidFill>
                  <a:srgbClr val="6C7A89"/>
                </a:solidFill>
                <a:latin typeface="Calibri"/>
              </a:rPr>
              <a:t>❑</a:t>
            </a:r>
          </a:p>
        </p:txBody>
      </p:sp>
      <p:sp>
        <p:nvSpPr>
          <p:cNvPr id="118" name="TextBox 117"/>
          <p:cNvSpPr txBox="1"/>
          <p:nvPr/>
        </p:nvSpPr>
        <p:spPr>
          <a:xfrm>
            <a:off x="6629400" y="5917506"/>
            <a:ext cx="5324475" cy="292059"/>
          </a:xfrm>
          <a:prstGeom prst="rect">
            <a:avLst/>
          </a:prstGeom>
          <a:noFill/>
        </p:spPr>
        <p:txBody>
          <a:bodyPr wrap="square" lIns="28575" rIns="28575" tIns="9525" bIns="9525" anchor="ctr">
            <a:spAutoFit/>
          </a:bodyPr>
          <a:lstStyle/>
          <a:p>
            <a:pPr algn="l"/>
            <a:r>
              <a:rPr sz="1100" b="0">
                <a:solidFill>
                  <a:srgbClr val="2E2E2E"/>
                </a:solidFill>
                <a:latin typeface="Calibri"/>
              </a:rPr>
              <a:t>Horii Shichimeien</a:t>
            </a:r>
          </a:p>
        </p:txBody>
      </p:sp>
      <p:sp>
        <p:nvSpPr>
          <p:cNvPr id="119" name="TextBox 118"/>
          <p:cNvSpPr txBox="1"/>
          <p:nvPr/>
        </p:nvSpPr>
        <p:spPr>
          <a:xfrm>
            <a:off x="142875" y="6337341"/>
            <a:ext cx="11906250" cy="182537"/>
          </a:xfrm>
          <a:prstGeom prst="rect">
            <a:avLst/>
          </a:prstGeom>
          <a:noFill/>
        </p:spPr>
        <p:txBody>
          <a:bodyPr wrap="square" lIns="28575" rIns="28575" tIns="9525" bIns="9525" anchor="ctr">
            <a:spAutoFit/>
          </a:bodyPr>
          <a:lstStyle/>
          <a:p>
            <a:pPr algn="l"/>
            <a:r>
              <a:rPr sz="1100" b="1">
                <a:solidFill>
                  <a:srgbClr val="B06A2C"/>
                </a:solidFill>
                <a:latin typeface="Calibri"/>
              </a:rPr>
              <a:t>Note: the list of companies is indicative and can be customised on request.</a:t>
            </a:r>
          </a:p>
        </p:txBody>
      </p:sp>
      <p:sp>
        <p:nvSpPr>
          <p:cNvPr id="120" name="TextBox 1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31464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489325"/>
            <a:ext cx="8572500" cy="514350"/>
          </a:xfrm>
          <a:prstGeom prst="rect">
            <a:avLst/>
          </a:prstGeom>
          <a:noFill/>
        </p:spPr>
        <p:txBody>
          <a:bodyPr wrap="square" lIns="0" rIns="0" tIns="0">
            <a:spAutoFit/>
          </a:bodyPr>
          <a:lstStyle/>
          <a:p>
            <a:r>
              <a:rPr sz="3000" b="1">
                <a:solidFill>
                  <a:srgbClr val="0B3C8C"/>
                </a:solidFill>
                <a:latin typeface="Calibri"/>
              </a:rPr>
              <a:t>Table of Contents</a:t>
            </a:r>
          </a:p>
        </p:txBody>
      </p:sp>
      <p:sp>
        <p:nvSpPr>
          <p:cNvPr id="11" name="TextBox 10"/>
          <p:cNvSpPr txBox="1"/>
          <p:nvPr/>
        </p:nvSpPr>
        <p:spPr>
          <a:xfrm>
            <a:off x="914400" y="4175125"/>
            <a:ext cx="84582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The full contents of this study, as delivered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(1/8)</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1" i="0">
                          <a:solidFill>
                            <a:srgbClr val="000000"/>
                          </a:solidFill>
                          <a:latin typeface="Symbol"/>
                        </a:rPr>
                        <a:t></a:t>
                      </a:r>
                      <a:r>
                        <a:rPr sz="700" b="1" i="0">
                          <a:solidFill>
                            <a:srgbClr val="000000"/>
                          </a:solidFill>
                          <a:latin typeface="Times New Roman"/>
                        </a:rPr>
                        <a:t>         </a:t>
                      </a:r>
                      <a:r>
                        <a:rPr sz="1100" b="1" i="0">
                          <a:solidFill>
                            <a:srgbClr val="000000"/>
                          </a:solidFill>
                          <a:latin typeface="Calibri"/>
                        </a:rPr>
                        <a:t>Executive Summary</a:t>
                      </a:r>
                      <a:endParaRPr sz="1100"/>
                    </a:p>
                  </a:txBody>
                  <a:tcPr marL="17145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Global Market Snapshot</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Demand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Key Supply Trends</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Technology Roadmap</a:t>
                      </a:r>
                      <a:endParaRPr sz="1100"/>
                    </a:p>
                  </a:txBody>
                  <a:tcPr marL="685800" marR="9525" marT="9525" marB="0" anchor="ctr"/>
                </a:tc>
              </a:tr>
              <a:tr h="175260">
                <a:tc>
                  <a:txBody>
                    <a:bodyPr wrap="square"/>
                    <a:lstStyle/>
                    <a:p>
                      <a:pPr algn="l"/>
                      <a:r>
                        <a:rPr sz="1100" b="0" i="0">
                          <a:solidFill>
                            <a:srgbClr val="0070C0"/>
                          </a:solidFill>
                          <a:latin typeface="Courier New"/>
                        </a:rPr>
                        <a:t>o</a:t>
                      </a:r>
                      <a:r>
                        <a:rPr sz="700" b="0" i="0">
                          <a:solidFill>
                            <a:srgbClr val="0070C0"/>
                          </a:solidFill>
                          <a:latin typeface="Times New Roman"/>
                        </a:rPr>
                        <a:t>        </a:t>
                      </a:r>
                      <a:r>
                        <a:rPr sz="1100" b="0" i="0">
                          <a:solidFill>
                            <a:srgbClr val="0070C0"/>
                          </a:solidFill>
                          <a:latin typeface="Calibri"/>
                        </a:rPr>
                        <a:t>Analyst Takeaways &amp; Recommendations</a:t>
                      </a:r>
                      <a:endParaRPr sz="1100"/>
                    </a:p>
                  </a:txBody>
                  <a:tcPr marL="685800" marR="9525" marT="9525" marB="0" anchor="ctr"/>
                </a:tc>
              </a:tr>
              <a:tr h="175260">
                <a:tc>
                  <a:txBody>
                    <a:bodyPr wrap="square"/>
                    <a:lstStyle/>
                    <a:p>
                      <a:pPr algn="l"/>
                      <a:r>
                        <a:rPr sz="1100" b="1" i="0">
                          <a:solidFill>
                            <a:srgbClr val="000000"/>
                          </a:solidFill>
                          <a:latin typeface="Calibri"/>
                        </a:rPr>
                        <a:t>1.</a:t>
                      </a:r>
                      <a:r>
                        <a:rPr sz="700" b="1" i="0">
                          <a:solidFill>
                            <a:srgbClr val="000000"/>
                          </a:solidFill>
                          <a:latin typeface="Times New Roman"/>
                        </a:rPr>
                        <a:t>       </a:t>
                      </a:r>
                      <a:r>
                        <a:rPr sz="1100" b="1" i="0">
                          <a:solidFill>
                            <a:srgbClr val="000000"/>
                          </a:solidFill>
                          <a:latin typeface="Calibri"/>
                        </a:rPr>
                        <a:t>Market Overview</a:t>
                      </a:r>
                      <a:endParaRPr sz="1100"/>
                    </a:p>
                  </a:txBody>
                  <a:tcPr marL="171450" marR="9525" marT="9525" marB="0" anchor="ctr"/>
                </a:tc>
              </a:tr>
              <a:tr h="175260">
                <a:tc>
                  <a:txBody>
                    <a:bodyPr wrap="square"/>
                    <a:lstStyle/>
                    <a:p>
                      <a:pPr algn="l"/>
                      <a:r>
                        <a:rPr sz="1100" b="0" i="0">
                          <a:solidFill>
                            <a:srgbClr val="0070C0"/>
                          </a:solidFill>
                          <a:latin typeface="Calibri"/>
                        </a:rPr>
                        <a:t>1.1.</a:t>
                      </a:r>
                      <a:r>
                        <a:rPr sz="700" b="0" i="0">
                          <a:solidFill>
                            <a:srgbClr val="0070C0"/>
                          </a:solidFill>
                          <a:latin typeface="Times New Roman"/>
                        </a:rPr>
                        <a:t>    </a:t>
                      </a:r>
                      <a:r>
                        <a:rPr sz="1100" b="0" i="0">
                          <a:solidFill>
                            <a:srgbClr val="0070C0"/>
                          </a:solidFill>
                          <a:latin typeface="Calibri"/>
                        </a:rPr>
                        <a:t>Market Coverage / Taxonomy</a:t>
                      </a:r>
                      <a:endParaRPr sz="1100"/>
                    </a:p>
                  </a:txBody>
                  <a:tcPr marL="428625" marR="9525" marT="9525" marB="0" anchor="ctr"/>
                </a:tc>
              </a:tr>
              <a:tr h="175260">
                <a:tc>
                  <a:txBody>
                    <a:bodyPr wrap="square"/>
                    <a:lstStyle/>
                    <a:p>
                      <a:pPr algn="l"/>
                      <a:r>
                        <a:rPr sz="1100" b="0" i="0">
                          <a:solidFill>
                            <a:srgbClr val="0070C0"/>
                          </a:solidFill>
                          <a:latin typeface="Calibri"/>
                        </a:rPr>
                        <a:t>1.2.</a:t>
                      </a:r>
                      <a:r>
                        <a:rPr sz="700" b="0" i="0">
                          <a:solidFill>
                            <a:srgbClr val="0070C0"/>
                          </a:solidFill>
                          <a:latin typeface="Times New Roman"/>
                        </a:rPr>
                        <a:t>    </a:t>
                      </a:r>
                      <a:r>
                        <a:rPr sz="1100" b="0" i="0">
                          <a:solidFill>
                            <a:srgbClr val="0070C0"/>
                          </a:solidFill>
                          <a:latin typeface="Calibri"/>
                        </a:rPr>
                        <a:t>Market Definition By Segments Covered</a:t>
                      </a:r>
                      <a:endParaRPr sz="1100"/>
                    </a:p>
                  </a:txBody>
                  <a:tcPr marL="428625" marR="9525" marT="9525" marB="0" anchor="ctr"/>
                </a:tc>
              </a:tr>
              <a:tr h="175260">
                <a:tc>
                  <a:txBody>
                    <a:bodyPr wrap="square"/>
                    <a:lstStyle/>
                    <a:p>
                      <a:pPr algn="l"/>
                      <a:r>
                        <a:rPr sz="1100" b="1" i="0">
                          <a:solidFill>
                            <a:srgbClr val="000000"/>
                          </a:solidFill>
                          <a:latin typeface="Calibri"/>
                        </a:rPr>
                        <a:t>Section 1: Global Market Outlook</a:t>
                      </a:r>
                      <a:endParaRPr sz="1100"/>
                    </a:p>
                  </a:txBody>
                  <a:tcPr marL="9525" marR="9525" marT="9525" marB="0" anchor="ctr"/>
                </a:tc>
              </a:tr>
              <a:tr h="175260">
                <a:tc>
                  <a:txBody>
                    <a:bodyPr wrap="square"/>
                    <a:lstStyle/>
                    <a:p>
                      <a:pPr algn="l"/>
                      <a:r>
                        <a:rPr sz="1100" b="1" i="0">
                          <a:solidFill>
                            <a:srgbClr val="000000"/>
                          </a:solidFill>
                          <a:latin typeface="Calibri"/>
                        </a:rPr>
                        <a:t>2.</a:t>
                      </a:r>
                      <a:r>
                        <a:rPr sz="700" b="1" i="0">
                          <a:solidFill>
                            <a:srgbClr val="000000"/>
                          </a:solidFill>
                          <a:latin typeface="Times New Roman"/>
                        </a:rPr>
                        <a:t>       </a:t>
                      </a:r>
                      <a:r>
                        <a:rPr sz="1100" b="1" i="0">
                          <a:solidFill>
                            <a:srgbClr val="000000"/>
                          </a:solidFill>
                          <a:latin typeface="Calibri"/>
                        </a:rPr>
                        <a:t>Global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1" i="0">
                          <a:solidFill>
                            <a:srgbClr val="000000"/>
                          </a:solidFill>
                          <a:latin typeface="Calibri"/>
                        </a:rPr>
                        <a:t>3.</a:t>
                      </a:r>
                      <a:r>
                        <a:rPr sz="700" b="1" i="0">
                          <a:solidFill>
                            <a:srgbClr val="000000"/>
                          </a:solidFill>
                          <a:latin typeface="Times New Roman"/>
                        </a:rPr>
                        <a:t>       </a:t>
                      </a:r>
                      <a:r>
                        <a:rPr sz="1100" b="1" i="0">
                          <a:solidFill>
                            <a:srgbClr val="000000"/>
                          </a:solidFill>
                          <a:latin typeface="Calibri"/>
                        </a:rPr>
                        <a:t>Global Market (Value- Volume) Analysis 2021-2036, By Nature</a:t>
                      </a:r>
                      <a:endParaRPr sz="1100"/>
                    </a:p>
                  </a:txBody>
                  <a:tcPr marL="171450" marR="9525" marT="9525" marB="0" anchor="ctr"/>
                </a:tc>
              </a:tr>
              <a:tr h="175260">
                <a:tc>
                  <a:txBody>
                    <a:bodyPr wrap="square"/>
                    <a:lstStyle/>
                    <a:p>
                      <a:pPr algn="l"/>
                      <a:r>
                        <a:rPr sz="1100" b="0" i="0">
                          <a:solidFill>
                            <a:srgbClr val="0070C0"/>
                          </a:solidFill>
                          <a:latin typeface="Calibri"/>
                        </a:rPr>
                        <a:t>3.1.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3.2.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3.3.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3.4.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3.5.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3.5.1.</a:t>
                      </a:r>
                      <a:r>
                        <a:rPr sz="700" b="0" i="0">
                          <a:solidFill>
                            <a:srgbClr val="000000"/>
                          </a:solidFill>
                          <a:latin typeface="Times New Roman"/>
                        </a:rPr>
                        <a:t>   </a:t>
                      </a:r>
                      <a:r>
                        <a:rPr sz="1100" b="0" i="0">
                          <a:solidFill>
                            <a:srgbClr val="000000"/>
                          </a:solidFill>
                          <a:latin typeface="Calibri"/>
                        </a:rPr>
                        <a:t>Organic</a:t>
                      </a:r>
                      <a:endParaRPr sz="1100"/>
                    </a:p>
                  </a:txBody>
                  <a:tcPr marL="771525" marR="9525" marT="9525" marB="0" anchor="ctr"/>
                </a:tc>
              </a:tr>
              <a:tr h="175260">
                <a:tc>
                  <a:txBody>
                    <a:bodyPr wrap="square"/>
                    <a:lstStyle/>
                    <a:p>
                      <a:pPr algn="l"/>
                      <a:r>
                        <a:rPr sz="1100" b="0" i="0">
                          <a:solidFill>
                            <a:srgbClr val="000000"/>
                          </a:solidFill>
                          <a:latin typeface="Calibri"/>
                        </a:rPr>
                        <a:t>3.5.2.</a:t>
                      </a:r>
                      <a:r>
                        <a:rPr sz="700" b="0" i="0">
                          <a:solidFill>
                            <a:srgbClr val="000000"/>
                          </a:solidFill>
                          <a:latin typeface="Times New Roman"/>
                        </a:rPr>
                        <a:t>   </a:t>
                      </a:r>
                      <a:r>
                        <a:rPr sz="1100" b="0" i="0">
                          <a:solidFill>
                            <a:srgbClr val="000000"/>
                          </a:solidFill>
                          <a:latin typeface="Calibri"/>
                        </a:rPr>
                        <a:t>Conventional</a:t>
                      </a:r>
                      <a:endParaRPr sz="1100"/>
                    </a:p>
                  </a:txBody>
                  <a:tcPr marL="771525" marR="9525" marT="9525" marB="0" anchor="ctr"/>
                </a:tc>
              </a:tr>
              <a:tr h="175260">
                <a:tc>
                  <a:txBody>
                    <a:bodyPr wrap="square"/>
                    <a:lstStyle/>
                    <a:p>
                      <a:pPr algn="l"/>
                      <a:r>
                        <a:rPr sz="1100" b="1" i="0">
                          <a:solidFill>
                            <a:srgbClr val="000000"/>
                          </a:solidFill>
                          <a:latin typeface="Calibri"/>
                        </a:rPr>
                        <a:t>4.</a:t>
                      </a:r>
                      <a:r>
                        <a:rPr sz="700" b="1" i="0">
                          <a:solidFill>
                            <a:srgbClr val="000000"/>
                          </a:solidFill>
                          <a:latin typeface="Times New Roman"/>
                        </a:rPr>
                        <a:t>       </a:t>
                      </a:r>
                      <a:r>
                        <a:rPr sz="1100" b="1" i="0">
                          <a:solidFill>
                            <a:srgbClr val="000000"/>
                          </a:solidFill>
                          <a:latin typeface="Calibri"/>
                        </a:rPr>
                        <a:t>Global Market (Value- Volume) Analysis 2021–2036, By Product Type</a:t>
                      </a:r>
                      <a:endParaRPr sz="1100"/>
                    </a:p>
                  </a:txBody>
                  <a:tcPr marL="171450" marR="9525" marT="9525" marB="0" anchor="ctr"/>
                </a:tc>
              </a:tr>
              <a:tr h="175260">
                <a:tc>
                  <a:txBody>
                    <a:bodyPr wrap="square"/>
                    <a:lstStyle/>
                    <a:p>
                      <a:pPr algn="l"/>
                      <a:r>
                        <a:rPr sz="1100" b="0" i="0">
                          <a:solidFill>
                            <a:srgbClr val="0070C0"/>
                          </a:solidFill>
                          <a:latin typeface="Calibri"/>
                        </a:rPr>
                        <a:t>4.1.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4.2.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4.3.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4.4.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4.5.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4.5.1.</a:t>
                      </a:r>
                      <a:r>
                        <a:rPr sz="700" b="0" i="0">
                          <a:solidFill>
                            <a:srgbClr val="000000"/>
                          </a:solidFill>
                          <a:latin typeface="Times New Roman"/>
                        </a:rPr>
                        <a:t>   </a:t>
                      </a:r>
                      <a:r>
                        <a:rPr sz="1100" b="0" i="0">
                          <a:solidFill>
                            <a:srgbClr val="000000"/>
                          </a:solidFill>
                          <a:latin typeface="Calibri"/>
                        </a:rPr>
                        <a:t>Matcha Powder</a:t>
                      </a:r>
                      <a:endParaRPr sz="1100"/>
                    </a:p>
                  </a:txBody>
                  <a:tcPr marL="771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4.5.2.</a:t>
                      </a:r>
                      <a:r>
                        <a:rPr sz="700" b="0" i="0">
                          <a:solidFill>
                            <a:srgbClr val="000000"/>
                          </a:solidFill>
                          <a:latin typeface="Times New Roman"/>
                        </a:rPr>
                        <a:t>   </a:t>
                      </a:r>
                      <a:r>
                        <a:rPr sz="1100" b="0" i="0">
                          <a:solidFill>
                            <a:srgbClr val="000000"/>
                          </a:solidFill>
                          <a:latin typeface="Calibri"/>
                        </a:rPr>
                        <a:t>Matcha Tea</a:t>
                      </a:r>
                      <a:endParaRPr sz="1100"/>
                    </a:p>
                  </a:txBody>
                  <a:tcPr marL="771525" marR="9525" marT="9525" marB="0" anchor="ctr"/>
                </a:tc>
              </a:tr>
              <a:tr h="175260">
                <a:tc>
                  <a:txBody>
                    <a:bodyPr wrap="square"/>
                    <a:lstStyle/>
                    <a:p>
                      <a:pPr algn="l"/>
                      <a:r>
                        <a:rPr sz="1100" b="0" i="1">
                          <a:solidFill>
                            <a:srgbClr val="000000"/>
                          </a:solidFill>
                          <a:latin typeface="Calibri"/>
                        </a:rPr>
                        <a:t>4.5.2.1.</a:t>
                      </a:r>
                      <a:r>
                        <a:rPr sz="700" b="0" i="1">
                          <a:solidFill>
                            <a:srgbClr val="000000"/>
                          </a:solidFill>
                          <a:latin typeface="Times New Roman"/>
                        </a:rPr>
                        <a:t>    </a:t>
                      </a:r>
                      <a:r>
                        <a:rPr sz="1100" b="0" i="1">
                          <a:solidFill>
                            <a:srgbClr val="000000"/>
                          </a:solidFill>
                          <a:latin typeface="Calibri"/>
                        </a:rPr>
                        <a:t>Caffeine Added</a:t>
                      </a:r>
                      <a:endParaRPr sz="1100"/>
                    </a:p>
                  </a:txBody>
                  <a:tcPr marL="1028700" marR="9525" marT="9525" marB="0" anchor="ctr"/>
                </a:tc>
              </a:tr>
              <a:tr h="175260">
                <a:tc>
                  <a:txBody>
                    <a:bodyPr wrap="square"/>
                    <a:lstStyle/>
                    <a:p>
                      <a:pPr algn="l"/>
                      <a:r>
                        <a:rPr sz="1100" b="0" i="1">
                          <a:solidFill>
                            <a:srgbClr val="000000"/>
                          </a:solidFill>
                          <a:latin typeface="Calibri"/>
                        </a:rPr>
                        <a:t>4.5.2.2.</a:t>
                      </a:r>
                      <a:r>
                        <a:rPr sz="700" b="0" i="1">
                          <a:solidFill>
                            <a:srgbClr val="000000"/>
                          </a:solidFill>
                          <a:latin typeface="Times New Roman"/>
                        </a:rPr>
                        <a:t>    </a:t>
                      </a:r>
                      <a:r>
                        <a:rPr sz="1100" b="0" i="1">
                          <a:solidFill>
                            <a:srgbClr val="000000"/>
                          </a:solidFill>
                          <a:latin typeface="Calibri"/>
                        </a:rPr>
                        <a:t>Decaffeinated</a:t>
                      </a:r>
                      <a:endParaRPr sz="1100"/>
                    </a:p>
                  </a:txBody>
                  <a:tcPr marL="1028700" marR="9525" marT="9525" marB="0" anchor="ctr"/>
                </a:tc>
              </a:tr>
              <a:tr h="175260">
                <a:tc>
                  <a:txBody>
                    <a:bodyPr wrap="square"/>
                    <a:lstStyle/>
                    <a:p>
                      <a:pPr algn="l"/>
                      <a:r>
                        <a:rPr sz="1100" b="0" i="1">
                          <a:solidFill>
                            <a:srgbClr val="000000"/>
                          </a:solidFill>
                          <a:latin typeface="Calibri"/>
                        </a:rPr>
                        <a:t>4.5.2.3.</a:t>
                      </a:r>
                      <a:r>
                        <a:rPr sz="700" b="0" i="1">
                          <a:solidFill>
                            <a:srgbClr val="000000"/>
                          </a:solidFill>
                          <a:latin typeface="Times New Roman"/>
                        </a:rPr>
                        <a:t>    </a:t>
                      </a:r>
                      <a:r>
                        <a:rPr sz="1100" b="0" i="1">
                          <a:solidFill>
                            <a:srgbClr val="000000"/>
                          </a:solidFill>
                          <a:latin typeface="Calibri"/>
                        </a:rPr>
                        <a:t>High Caffeine</a:t>
                      </a:r>
                      <a:endParaRPr sz="1100"/>
                    </a:p>
                  </a:txBody>
                  <a:tcPr marL="1028700" marR="9525" marT="9525" marB="0" anchor="ctr"/>
                </a:tc>
              </a:tr>
              <a:tr h="175260">
                <a:tc>
                  <a:txBody>
                    <a:bodyPr wrap="square"/>
                    <a:lstStyle/>
                    <a:p>
                      <a:pPr algn="l"/>
                      <a:r>
                        <a:rPr sz="1100" b="0" i="1">
                          <a:solidFill>
                            <a:srgbClr val="000000"/>
                          </a:solidFill>
                          <a:latin typeface="Calibri"/>
                        </a:rPr>
                        <a:t>4.5.2.4.</a:t>
                      </a:r>
                      <a:r>
                        <a:rPr sz="700" b="0" i="1">
                          <a:solidFill>
                            <a:srgbClr val="000000"/>
                          </a:solidFill>
                          <a:latin typeface="Times New Roman"/>
                        </a:rPr>
                        <a:t>    </a:t>
                      </a:r>
                      <a:r>
                        <a:rPr sz="1100" b="0" i="1">
                          <a:solidFill>
                            <a:srgbClr val="000000"/>
                          </a:solidFill>
                          <a:latin typeface="Calibri"/>
                        </a:rPr>
                        <a:t>Naturally Caffeinated</a:t>
                      </a:r>
                      <a:endParaRPr sz="1100"/>
                    </a:p>
                  </a:txBody>
                  <a:tcPr marL="1028700" marR="9525" marT="9525" marB="0" anchor="ctr"/>
                </a:tc>
              </a:tr>
              <a:tr h="175260">
                <a:tc>
                  <a:txBody>
                    <a:bodyPr wrap="square"/>
                    <a:lstStyle/>
                    <a:p>
                      <a:pPr algn="l"/>
                      <a:r>
                        <a:rPr sz="1100" b="0" i="1">
                          <a:solidFill>
                            <a:srgbClr val="000000"/>
                          </a:solidFill>
                          <a:latin typeface="Calibri"/>
                        </a:rPr>
                        <a:t>4.5.2.5.</a:t>
                      </a:r>
                      <a:r>
                        <a:rPr sz="700" b="0" i="1">
                          <a:solidFill>
                            <a:srgbClr val="000000"/>
                          </a:solidFill>
                          <a:latin typeface="Times New Roman"/>
                        </a:rPr>
                        <a:t>    </a:t>
                      </a:r>
                      <a:r>
                        <a:rPr sz="1100" b="0" i="1">
                          <a:solidFill>
                            <a:srgbClr val="000000"/>
                          </a:solidFill>
                          <a:latin typeface="Calibri"/>
                        </a:rPr>
                        <a:t>Naturally Decaffeinated</a:t>
                      </a:r>
                      <a:endParaRPr sz="1100"/>
                    </a:p>
                  </a:txBody>
                  <a:tcPr marL="1028700" marR="9525" marT="9525" marB="0" anchor="ctr"/>
                </a:tc>
              </a:tr>
              <a:tr h="175260">
                <a:tc>
                  <a:txBody>
                    <a:bodyPr wrap="square"/>
                    <a:lstStyle/>
                    <a:p>
                      <a:pPr algn="l"/>
                      <a:r>
                        <a:rPr sz="1100" b="1" i="0">
                          <a:solidFill>
                            <a:srgbClr val="000000"/>
                          </a:solidFill>
                          <a:latin typeface="Calibri"/>
                        </a:rPr>
                        <a:t>5.</a:t>
                      </a:r>
                      <a:r>
                        <a:rPr sz="700" b="1" i="0">
                          <a:solidFill>
                            <a:srgbClr val="000000"/>
                          </a:solidFill>
                          <a:latin typeface="Times New Roman"/>
                        </a:rPr>
                        <a:t>       </a:t>
                      </a:r>
                      <a:r>
                        <a:rPr sz="1100" b="1" i="0">
                          <a:solidFill>
                            <a:srgbClr val="000000"/>
                          </a:solidFill>
                          <a:latin typeface="Calibri"/>
                        </a:rPr>
                        <a:t>Global Market (Value- Volume) Analysis 2021–2036, By Form</a:t>
                      </a:r>
                      <a:endParaRPr sz="1100"/>
                    </a:p>
                  </a:txBody>
                  <a:tcPr marL="171450" marR="9525" marT="9525" marB="0" anchor="ctr"/>
                </a:tc>
              </a:tr>
              <a:tr h="175260">
                <a:tc>
                  <a:txBody>
                    <a:bodyPr wrap="square"/>
                    <a:lstStyle/>
                    <a:p>
                      <a:pPr algn="l"/>
                      <a:r>
                        <a:rPr sz="1100" b="0" i="0">
                          <a:solidFill>
                            <a:srgbClr val="0070C0"/>
                          </a:solidFill>
                          <a:latin typeface="Calibri"/>
                        </a:rPr>
                        <a:t>5.1.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5.2.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5.3.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5.4.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5.5.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5.5.1.</a:t>
                      </a:r>
                      <a:r>
                        <a:rPr sz="700" b="0" i="0">
                          <a:solidFill>
                            <a:srgbClr val="000000"/>
                          </a:solidFill>
                          <a:latin typeface="Times New Roman"/>
                        </a:rPr>
                        <a:t>   </a:t>
                      </a:r>
                      <a:r>
                        <a:rPr sz="1100" b="0" i="0">
                          <a:solidFill>
                            <a:srgbClr val="000000"/>
                          </a:solidFill>
                          <a:latin typeface="Calibri"/>
                        </a:rPr>
                        <a:t>Powder</a:t>
                      </a:r>
                      <a:endParaRPr sz="1100"/>
                    </a:p>
                  </a:txBody>
                  <a:tcPr marL="771525" marR="9525" marT="9525" marB="0" anchor="ctr"/>
                </a:tc>
              </a:tr>
              <a:tr h="175260">
                <a:tc>
                  <a:txBody>
                    <a:bodyPr wrap="square"/>
                    <a:lstStyle/>
                    <a:p>
                      <a:pPr algn="l"/>
                      <a:r>
                        <a:rPr sz="1100" b="0" i="0">
                          <a:solidFill>
                            <a:srgbClr val="000000"/>
                          </a:solidFill>
                          <a:latin typeface="Calibri"/>
                        </a:rPr>
                        <a:t>5.5.2.</a:t>
                      </a:r>
                      <a:r>
                        <a:rPr sz="700" b="0" i="0">
                          <a:solidFill>
                            <a:srgbClr val="000000"/>
                          </a:solidFill>
                          <a:latin typeface="Times New Roman"/>
                        </a:rPr>
                        <a:t>   </a:t>
                      </a:r>
                      <a:r>
                        <a:rPr sz="1100" b="0" i="0">
                          <a:solidFill>
                            <a:srgbClr val="000000"/>
                          </a:solidFill>
                          <a:latin typeface="Calibri"/>
                        </a:rPr>
                        <a:t>Liquid</a:t>
                      </a:r>
                      <a:endParaRPr sz="1100"/>
                    </a:p>
                  </a:txBody>
                  <a:tcPr marL="771525" marR="9525" marT="9525" marB="0" anchor="ctr"/>
                </a:tc>
              </a:tr>
              <a:tr h="175260">
                <a:tc>
                  <a:txBody>
                    <a:bodyPr wrap="square"/>
                    <a:lstStyle/>
                    <a:p>
                      <a:pPr algn="l"/>
                      <a:r>
                        <a:rPr sz="1100" b="0" i="0">
                          <a:solidFill>
                            <a:srgbClr val="000000"/>
                          </a:solidFill>
                          <a:latin typeface="Calibri"/>
                        </a:rPr>
                        <a:t>5.5.3.</a:t>
                      </a:r>
                      <a:r>
                        <a:rPr sz="700" b="0" i="0">
                          <a:solidFill>
                            <a:srgbClr val="000000"/>
                          </a:solidFill>
                          <a:latin typeface="Times New Roman"/>
                        </a:rPr>
                        <a:t>   </a:t>
                      </a:r>
                      <a:r>
                        <a:rPr sz="1100" b="0" i="0">
                          <a:solidFill>
                            <a:srgbClr val="000000"/>
                          </a:solidFill>
                          <a:latin typeface="Calibri"/>
                        </a:rPr>
                        <a:t>Granules</a:t>
                      </a:r>
                      <a:endParaRPr sz="1100"/>
                    </a:p>
                  </a:txBody>
                  <a:tcPr marL="771525" marR="9525" marT="9525" marB="0" anchor="ctr"/>
                </a:tc>
              </a:tr>
              <a:tr h="175260">
                <a:tc>
                  <a:txBody>
                    <a:bodyPr wrap="square"/>
                    <a:lstStyle/>
                    <a:p>
                      <a:pPr algn="l"/>
                      <a:r>
                        <a:rPr sz="1100" b="0" i="0">
                          <a:solidFill>
                            <a:srgbClr val="000000"/>
                          </a:solidFill>
                          <a:latin typeface="Calibri"/>
                        </a:rPr>
                        <a:t>5.5.4.</a:t>
                      </a:r>
                      <a:r>
                        <a:rPr sz="700" b="0" i="0">
                          <a:solidFill>
                            <a:srgbClr val="000000"/>
                          </a:solidFill>
                          <a:latin typeface="Times New Roman"/>
                        </a:rPr>
                        <a:t>   </a:t>
                      </a:r>
                      <a:r>
                        <a:rPr sz="1100" b="0" i="0">
                          <a:solidFill>
                            <a:srgbClr val="000000"/>
                          </a:solidFill>
                          <a:latin typeface="Calibri"/>
                        </a:rPr>
                        <a:t>Blended</a:t>
                      </a:r>
                      <a:endParaRPr sz="1100"/>
                    </a:p>
                  </a:txBody>
                  <a:tcPr marL="771525" marR="9525" marT="9525" marB="0" anchor="ctr"/>
                </a:tc>
              </a:tr>
              <a:tr h="175260">
                <a:tc>
                  <a:txBody>
                    <a:bodyPr wrap="square"/>
                    <a:lstStyle/>
                    <a:p>
                      <a:pPr algn="l"/>
                      <a:r>
                        <a:rPr sz="1100" b="0" i="0">
                          <a:solidFill>
                            <a:srgbClr val="000000"/>
                          </a:solidFill>
                          <a:latin typeface="Calibri"/>
                        </a:rPr>
                        <a:t>5.5.5.</a:t>
                      </a:r>
                      <a:r>
                        <a:rPr sz="700" b="0" i="0">
                          <a:solidFill>
                            <a:srgbClr val="000000"/>
                          </a:solidFill>
                          <a:latin typeface="Times New Roman"/>
                        </a:rPr>
                        <a:t>   </a:t>
                      </a:r>
                      <a:r>
                        <a:rPr sz="1100" b="0" i="0">
                          <a:solidFill>
                            <a:srgbClr val="000000"/>
                          </a:solidFill>
                          <a:latin typeface="Calibri"/>
                        </a:rPr>
                        <a:t>Ground</a:t>
                      </a:r>
                      <a:endParaRPr sz="1100"/>
                    </a:p>
                  </a:txBody>
                  <a:tcPr marL="771525" marR="9525" marT="9525" marB="0" anchor="ctr"/>
                </a:tc>
              </a:tr>
              <a:tr h="175260">
                <a:tc>
                  <a:txBody>
                    <a:bodyPr wrap="square"/>
                    <a:lstStyle/>
                    <a:p>
                      <a:pPr algn="l"/>
                      <a:r>
                        <a:rPr sz="1100" b="0" i="0">
                          <a:solidFill>
                            <a:srgbClr val="000000"/>
                          </a:solidFill>
                          <a:latin typeface="Calibri"/>
                        </a:rPr>
                        <a:t>5.5.6.</a:t>
                      </a:r>
                      <a:r>
                        <a:rPr sz="700" b="0" i="0">
                          <a:solidFill>
                            <a:srgbClr val="000000"/>
                          </a:solidFill>
                          <a:latin typeface="Times New Roman"/>
                        </a:rPr>
                        <a:t>   </a:t>
                      </a:r>
                      <a:r>
                        <a:rPr sz="1100" b="0" i="0">
                          <a:solidFill>
                            <a:srgbClr val="000000"/>
                          </a:solidFill>
                          <a:latin typeface="Calibri"/>
                        </a:rPr>
                        <a:t>Whole</a:t>
                      </a:r>
                      <a:endParaRPr sz="1100"/>
                    </a:p>
                  </a:txBody>
                  <a:tcPr marL="771525" marR="9525" marT="9525" marB="0" anchor="ctr"/>
                </a:tc>
              </a:tr>
              <a:tr h="175260">
                <a:tc>
                  <a:txBody>
                    <a:bodyPr wrap="square"/>
                    <a:lstStyle/>
                    <a:p>
                      <a:pPr algn="l"/>
                      <a:r>
                        <a:rPr sz="1100" b="1" i="0">
                          <a:solidFill>
                            <a:srgbClr val="000000"/>
                          </a:solidFill>
                          <a:latin typeface="Calibri"/>
                        </a:rPr>
                        <a:t>6.</a:t>
                      </a:r>
                      <a:r>
                        <a:rPr sz="700" b="1" i="0">
                          <a:solidFill>
                            <a:srgbClr val="000000"/>
                          </a:solidFill>
                          <a:latin typeface="Times New Roman"/>
                        </a:rPr>
                        <a:t>       </a:t>
                      </a:r>
                      <a:r>
                        <a:rPr sz="1100" b="1" i="0">
                          <a:solidFill>
                            <a:srgbClr val="000000"/>
                          </a:solidFill>
                          <a:latin typeface="Calibri"/>
                        </a:rPr>
                        <a:t>Global Market (Value- Volume) Analysis 2021–2036, By Flavour</a:t>
                      </a:r>
                      <a:endParaRPr sz="1100"/>
                    </a:p>
                  </a:txBody>
                  <a:tcPr marL="171450" marR="9525" marT="9525" marB="0" anchor="ctr"/>
                </a:tc>
              </a:tr>
              <a:tr h="175260">
                <a:tc>
                  <a:txBody>
                    <a:bodyPr wrap="square"/>
                    <a:lstStyle/>
                    <a:p>
                      <a:pPr algn="l"/>
                      <a:r>
                        <a:rPr sz="1100" b="0" i="0">
                          <a:solidFill>
                            <a:srgbClr val="0070C0"/>
                          </a:solidFill>
                          <a:latin typeface="Calibri"/>
                        </a:rPr>
                        <a:t>6.1.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6.2.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6.3.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6.4.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6.5.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6.5.1.</a:t>
                      </a:r>
                      <a:r>
                        <a:rPr sz="700" b="0" i="0">
                          <a:solidFill>
                            <a:srgbClr val="000000"/>
                          </a:solidFill>
                          <a:latin typeface="Times New Roman"/>
                        </a:rPr>
                        <a:t>   </a:t>
                      </a:r>
                      <a:r>
                        <a:rPr sz="1100" b="0" i="0">
                          <a:solidFill>
                            <a:srgbClr val="000000"/>
                          </a:solidFill>
                          <a:latin typeface="Calibri"/>
                        </a:rPr>
                        <a:t>Unflavoured</a:t>
                      </a:r>
                      <a:endParaRPr sz="1100"/>
                    </a:p>
                  </a:txBody>
                  <a:tcPr marL="771525" marR="9525" marT="9525" marB="0" anchor="ctr"/>
                </a:tc>
              </a:tr>
              <a:tr h="175260">
                <a:tc>
                  <a:txBody>
                    <a:bodyPr wrap="square"/>
                    <a:lstStyle/>
                    <a:p>
                      <a:pPr algn="l"/>
                      <a:r>
                        <a:rPr sz="1100" b="0" i="0">
                          <a:solidFill>
                            <a:srgbClr val="000000"/>
                          </a:solidFill>
                          <a:latin typeface="Calibri"/>
                        </a:rPr>
                        <a:t>6.5.2.</a:t>
                      </a:r>
                      <a:r>
                        <a:rPr sz="700" b="0" i="0">
                          <a:solidFill>
                            <a:srgbClr val="000000"/>
                          </a:solidFill>
                          <a:latin typeface="Times New Roman"/>
                        </a:rPr>
                        <a:t>   </a:t>
                      </a:r>
                      <a:r>
                        <a:rPr sz="1100" b="0" i="0">
                          <a:solidFill>
                            <a:srgbClr val="000000"/>
                          </a:solidFill>
                          <a:latin typeface="Calibri"/>
                        </a:rPr>
                        <a:t>Vanilla</a:t>
                      </a:r>
                      <a:endParaRPr sz="1100"/>
                    </a:p>
                  </a:txBody>
                  <a:tcPr marL="771525" marR="9525" marT="9525" marB="0" anchor="ctr"/>
                </a:tc>
              </a:tr>
              <a:tr h="175260">
                <a:tc>
                  <a:txBody>
                    <a:bodyPr wrap="square"/>
                    <a:lstStyle/>
                    <a:p>
                      <a:pPr algn="l"/>
                      <a:r>
                        <a:rPr sz="1100" b="0" i="0">
                          <a:solidFill>
                            <a:srgbClr val="000000"/>
                          </a:solidFill>
                          <a:latin typeface="Calibri"/>
                        </a:rPr>
                        <a:t>6.5.3.</a:t>
                      </a:r>
                      <a:r>
                        <a:rPr sz="700" b="0" i="0">
                          <a:solidFill>
                            <a:srgbClr val="000000"/>
                          </a:solidFill>
                          <a:latin typeface="Times New Roman"/>
                        </a:rPr>
                        <a:t>   </a:t>
                      </a:r>
                      <a:r>
                        <a:rPr sz="1100" b="0" i="0">
                          <a:solidFill>
                            <a:srgbClr val="000000"/>
                          </a:solidFill>
                          <a:latin typeface="Calibri"/>
                        </a:rPr>
                        <a:t>Lemon</a:t>
                      </a:r>
                      <a:endParaRPr sz="1100"/>
                    </a:p>
                  </a:txBody>
                  <a:tcPr marL="771525" marR="9525" marT="9525" marB="0" anchor="ctr"/>
                </a:tc>
              </a:tr>
              <a:tr h="175260">
                <a:tc>
                  <a:txBody>
                    <a:bodyPr wrap="square"/>
                    <a:lstStyle/>
                    <a:p>
                      <a:pPr algn="l"/>
                      <a:r>
                        <a:rPr sz="1100" b="0" i="0">
                          <a:solidFill>
                            <a:srgbClr val="000000"/>
                          </a:solidFill>
                          <a:latin typeface="Calibri"/>
                        </a:rPr>
                        <a:t>6.5.4.</a:t>
                      </a:r>
                      <a:r>
                        <a:rPr sz="700" b="0" i="0">
                          <a:solidFill>
                            <a:srgbClr val="000000"/>
                          </a:solidFill>
                          <a:latin typeface="Times New Roman"/>
                        </a:rPr>
                        <a:t>   </a:t>
                      </a:r>
                      <a:r>
                        <a:rPr sz="1100" b="0" i="0">
                          <a:solidFill>
                            <a:srgbClr val="000000"/>
                          </a:solidFill>
                          <a:latin typeface="Calibri"/>
                        </a:rPr>
                        <a:t>Orange</a:t>
                      </a:r>
                      <a:endParaRPr sz="1100"/>
                    </a:p>
                  </a:txBody>
                  <a:tcPr marL="771525" marR="9525" marT="9525" marB="0" anchor="ctr"/>
                </a:tc>
              </a:tr>
              <a:tr h="175260">
                <a:tc>
                  <a:txBody>
                    <a:bodyPr wrap="square"/>
                    <a:lstStyle/>
                    <a:p>
                      <a:pPr algn="l"/>
                      <a:r>
                        <a:rPr sz="1100" b="0" i="0">
                          <a:solidFill>
                            <a:srgbClr val="000000"/>
                          </a:solidFill>
                          <a:latin typeface="Calibri"/>
                        </a:rPr>
                        <a:t>6.5.5.</a:t>
                      </a:r>
                      <a:r>
                        <a:rPr sz="700" b="0" i="0">
                          <a:solidFill>
                            <a:srgbClr val="000000"/>
                          </a:solidFill>
                          <a:latin typeface="Times New Roman"/>
                        </a:rPr>
                        <a:t>   </a:t>
                      </a:r>
                      <a:r>
                        <a:rPr sz="1100" b="0" i="0">
                          <a:solidFill>
                            <a:srgbClr val="000000"/>
                          </a:solidFill>
                          <a:latin typeface="Calibri"/>
                        </a:rPr>
                        <a:t>Mocha</a:t>
                      </a:r>
                      <a:endParaRPr sz="1100"/>
                    </a:p>
                  </a:txBody>
                  <a:tcPr marL="771525" marR="9525" marT="9525" marB="0" anchor="ctr"/>
                </a:tc>
              </a:tr>
              <a:tr h="175260">
                <a:tc>
                  <a:txBody>
                    <a:bodyPr wrap="square"/>
                    <a:lstStyle/>
                    <a:p>
                      <a:pPr algn="l"/>
                      <a:r>
                        <a:rPr sz="1100" b="0" i="0">
                          <a:solidFill>
                            <a:srgbClr val="000000"/>
                          </a:solidFill>
                          <a:latin typeface="Calibri"/>
                        </a:rPr>
                        <a:t>6.5.6.</a:t>
                      </a:r>
                      <a:r>
                        <a:rPr sz="700" b="0" i="0">
                          <a:solidFill>
                            <a:srgbClr val="000000"/>
                          </a:solidFill>
                          <a:latin typeface="Times New Roman"/>
                        </a:rPr>
                        <a:t>   </a:t>
                      </a:r>
                      <a:r>
                        <a:rPr sz="1100" b="0" i="0">
                          <a:solidFill>
                            <a:srgbClr val="000000"/>
                          </a:solidFill>
                          <a:latin typeface="Calibri"/>
                        </a:rPr>
                        <a:t>Cinnamon</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(2/8)</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6.5.7.</a:t>
                      </a:r>
                      <a:r>
                        <a:rPr sz="700" b="0" i="0">
                          <a:solidFill>
                            <a:srgbClr val="000000"/>
                          </a:solidFill>
                          <a:latin typeface="Times New Roman"/>
                        </a:rPr>
                        <a:t>   </a:t>
                      </a:r>
                      <a:r>
                        <a:rPr sz="1100" b="0" i="0">
                          <a:solidFill>
                            <a:srgbClr val="000000"/>
                          </a:solidFill>
                          <a:latin typeface="Calibri"/>
                        </a:rPr>
                        <a:t>Pumpkin Spice</a:t>
                      </a:r>
                      <a:endParaRPr sz="1100"/>
                    </a:p>
                  </a:txBody>
                  <a:tcPr marL="771525" marR="9525" marT="9525" marB="0" anchor="ctr"/>
                </a:tc>
              </a:tr>
              <a:tr h="175260">
                <a:tc>
                  <a:txBody>
                    <a:bodyPr wrap="square"/>
                    <a:lstStyle/>
                    <a:p>
                      <a:pPr algn="l"/>
                      <a:r>
                        <a:rPr sz="1100" b="0" i="0">
                          <a:solidFill>
                            <a:srgbClr val="000000"/>
                          </a:solidFill>
                          <a:latin typeface="Calibri"/>
                        </a:rPr>
                        <a:t>6.5.8.</a:t>
                      </a:r>
                      <a:r>
                        <a:rPr sz="700" b="0" i="0">
                          <a:solidFill>
                            <a:srgbClr val="000000"/>
                          </a:solidFill>
                          <a:latin typeface="Times New Roman"/>
                        </a:rPr>
                        <a:t>   </a:t>
                      </a:r>
                      <a:r>
                        <a:rPr sz="1100" b="0" i="0">
                          <a:solidFill>
                            <a:srgbClr val="000000"/>
                          </a:solidFill>
                          <a:latin typeface="Calibri"/>
                        </a:rPr>
                        <a:t>Other Flavours</a:t>
                      </a:r>
                      <a:endParaRPr sz="1100"/>
                    </a:p>
                  </a:txBody>
                  <a:tcPr marL="771525" marR="9525" marT="9525" marB="0" anchor="ctr"/>
                </a:tc>
              </a:tr>
              <a:tr h="175260">
                <a:tc>
                  <a:txBody>
                    <a:bodyPr wrap="square"/>
                    <a:lstStyle/>
                    <a:p>
                      <a:pPr algn="l"/>
                      <a:r>
                        <a:rPr sz="1100" b="1" i="0">
                          <a:solidFill>
                            <a:srgbClr val="000000"/>
                          </a:solidFill>
                          <a:latin typeface="Calibri"/>
                        </a:rPr>
                        <a:t>7.</a:t>
                      </a:r>
                      <a:r>
                        <a:rPr sz="700" b="1" i="0">
                          <a:solidFill>
                            <a:srgbClr val="000000"/>
                          </a:solidFill>
                          <a:latin typeface="Times New Roman"/>
                        </a:rPr>
                        <a:t>       </a:t>
                      </a:r>
                      <a:r>
                        <a:rPr sz="1100" b="1" i="0">
                          <a:solidFill>
                            <a:srgbClr val="000000"/>
                          </a:solidFill>
                          <a:latin typeface="Calibri"/>
                        </a:rPr>
                        <a:t>Global Market (Value- Volume) Analysis 2021–2036, By Packaging Type</a:t>
                      </a:r>
                      <a:endParaRPr sz="1100"/>
                    </a:p>
                  </a:txBody>
                  <a:tcPr marL="171450" marR="9525" marT="9525" marB="0" anchor="ctr"/>
                </a:tc>
              </a:tr>
              <a:tr h="175260">
                <a:tc>
                  <a:txBody>
                    <a:bodyPr wrap="square"/>
                    <a:lstStyle/>
                    <a:p>
                      <a:pPr algn="l"/>
                      <a:r>
                        <a:rPr sz="1100" b="0" i="0">
                          <a:solidFill>
                            <a:srgbClr val="0070C0"/>
                          </a:solidFill>
                          <a:latin typeface="Calibri"/>
                        </a:rPr>
                        <a:t>7.1.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7.2.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7.3.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7.4.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7.5.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7.5.1.</a:t>
                      </a:r>
                      <a:r>
                        <a:rPr sz="700" b="0" i="0">
                          <a:solidFill>
                            <a:srgbClr val="000000"/>
                          </a:solidFill>
                          <a:latin typeface="Times New Roman"/>
                        </a:rPr>
                        <a:t>   </a:t>
                      </a:r>
                      <a:r>
                        <a:rPr sz="1100" b="0" i="0">
                          <a:solidFill>
                            <a:srgbClr val="000000"/>
                          </a:solidFill>
                          <a:latin typeface="Calibri"/>
                        </a:rPr>
                        <a:t>Pouches</a:t>
                      </a:r>
                      <a:endParaRPr sz="1100"/>
                    </a:p>
                  </a:txBody>
                  <a:tcPr marL="771525" marR="9525" marT="9525" marB="0" anchor="ctr"/>
                </a:tc>
              </a:tr>
              <a:tr h="175260">
                <a:tc>
                  <a:txBody>
                    <a:bodyPr wrap="square"/>
                    <a:lstStyle/>
                    <a:p>
                      <a:pPr algn="l"/>
                      <a:r>
                        <a:rPr sz="1100" b="0" i="0">
                          <a:solidFill>
                            <a:srgbClr val="000000"/>
                          </a:solidFill>
                          <a:latin typeface="Calibri"/>
                        </a:rPr>
                        <a:t>7.5.2.</a:t>
                      </a:r>
                      <a:r>
                        <a:rPr sz="700" b="0" i="0">
                          <a:solidFill>
                            <a:srgbClr val="000000"/>
                          </a:solidFill>
                          <a:latin typeface="Times New Roman"/>
                        </a:rPr>
                        <a:t>   </a:t>
                      </a:r>
                      <a:r>
                        <a:rPr sz="1100" b="0" i="0">
                          <a:solidFill>
                            <a:srgbClr val="000000"/>
                          </a:solidFill>
                          <a:latin typeface="Calibri"/>
                        </a:rPr>
                        <a:t>Tins and Cans</a:t>
                      </a:r>
                      <a:endParaRPr sz="1100"/>
                    </a:p>
                  </a:txBody>
                  <a:tcPr marL="771525" marR="9525" marT="9525" marB="0" anchor="ctr"/>
                </a:tc>
              </a:tr>
              <a:tr h="175260">
                <a:tc>
                  <a:txBody>
                    <a:bodyPr wrap="square"/>
                    <a:lstStyle/>
                    <a:p>
                      <a:pPr algn="l"/>
                      <a:r>
                        <a:rPr sz="1100" b="0" i="0">
                          <a:solidFill>
                            <a:srgbClr val="000000"/>
                          </a:solidFill>
                          <a:latin typeface="Calibri"/>
                        </a:rPr>
                        <a:t>7.5.3.</a:t>
                      </a:r>
                      <a:r>
                        <a:rPr sz="700" b="0" i="0">
                          <a:solidFill>
                            <a:srgbClr val="000000"/>
                          </a:solidFill>
                          <a:latin typeface="Times New Roman"/>
                        </a:rPr>
                        <a:t>   </a:t>
                      </a:r>
                      <a:r>
                        <a:rPr sz="1100" b="0" i="0">
                          <a:solidFill>
                            <a:srgbClr val="000000"/>
                          </a:solidFill>
                          <a:latin typeface="Calibri"/>
                        </a:rPr>
                        <a:t>Jars</a:t>
                      </a:r>
                      <a:endParaRPr sz="1100"/>
                    </a:p>
                  </a:txBody>
                  <a:tcPr marL="771525" marR="9525" marT="9525" marB="0" anchor="ctr"/>
                </a:tc>
              </a:tr>
              <a:tr h="175260">
                <a:tc>
                  <a:txBody>
                    <a:bodyPr wrap="square"/>
                    <a:lstStyle/>
                    <a:p>
                      <a:pPr algn="l"/>
                      <a:r>
                        <a:rPr sz="1100" b="0" i="0">
                          <a:solidFill>
                            <a:srgbClr val="000000"/>
                          </a:solidFill>
                          <a:latin typeface="Calibri"/>
                        </a:rPr>
                        <a:t>7.5.4.</a:t>
                      </a:r>
                      <a:r>
                        <a:rPr sz="700" b="0" i="0">
                          <a:solidFill>
                            <a:srgbClr val="000000"/>
                          </a:solidFill>
                          <a:latin typeface="Times New Roman"/>
                        </a:rPr>
                        <a:t>   </a:t>
                      </a:r>
                      <a:r>
                        <a:rPr sz="1100" b="0" i="0">
                          <a:solidFill>
                            <a:srgbClr val="000000"/>
                          </a:solidFill>
                          <a:latin typeface="Calibri"/>
                        </a:rPr>
                        <a:t>Boxes and Cartons</a:t>
                      </a:r>
                      <a:endParaRPr sz="1100"/>
                    </a:p>
                  </a:txBody>
                  <a:tcPr marL="771525" marR="9525" marT="9525" marB="0" anchor="ctr"/>
                </a:tc>
              </a:tr>
              <a:tr h="175260">
                <a:tc>
                  <a:txBody>
                    <a:bodyPr wrap="square"/>
                    <a:lstStyle/>
                    <a:p>
                      <a:pPr algn="l"/>
                      <a:r>
                        <a:rPr sz="1100" b="0" i="0">
                          <a:solidFill>
                            <a:srgbClr val="000000"/>
                          </a:solidFill>
                          <a:latin typeface="Calibri"/>
                        </a:rPr>
                        <a:t>7.5.5.</a:t>
                      </a:r>
                      <a:r>
                        <a:rPr sz="700" b="0" i="0">
                          <a:solidFill>
                            <a:srgbClr val="000000"/>
                          </a:solidFill>
                          <a:latin typeface="Times New Roman"/>
                        </a:rPr>
                        <a:t>   </a:t>
                      </a:r>
                      <a:r>
                        <a:rPr sz="1100" b="0" i="0">
                          <a:solidFill>
                            <a:srgbClr val="000000"/>
                          </a:solidFill>
                          <a:latin typeface="Calibri"/>
                        </a:rPr>
                        <a:t>Sachets and Stick Packs</a:t>
                      </a:r>
                      <a:endParaRPr sz="1100"/>
                    </a:p>
                  </a:txBody>
                  <a:tcPr marL="771525" marR="9525" marT="9525" marB="0" anchor="ctr"/>
                </a:tc>
              </a:tr>
              <a:tr h="175260">
                <a:tc>
                  <a:txBody>
                    <a:bodyPr wrap="square"/>
                    <a:lstStyle/>
                    <a:p>
                      <a:pPr algn="l"/>
                      <a:r>
                        <a:rPr sz="1100" b="0" i="0">
                          <a:solidFill>
                            <a:srgbClr val="000000"/>
                          </a:solidFill>
                          <a:latin typeface="Calibri"/>
                        </a:rPr>
                        <a:t>7.5.6.</a:t>
                      </a:r>
                      <a:r>
                        <a:rPr sz="700" b="0" i="0">
                          <a:solidFill>
                            <a:srgbClr val="000000"/>
                          </a:solidFill>
                          <a:latin typeface="Times New Roman"/>
                        </a:rPr>
                        <a:t>   </a:t>
                      </a:r>
                      <a:r>
                        <a:rPr sz="1100" b="0" i="0">
                          <a:solidFill>
                            <a:srgbClr val="000000"/>
                          </a:solidFill>
                          <a:latin typeface="Calibri"/>
                        </a:rPr>
                        <a:t>Bottles</a:t>
                      </a:r>
                      <a:endParaRPr sz="1100"/>
                    </a:p>
                  </a:txBody>
                  <a:tcPr marL="771525" marR="9525" marT="9525" marB="0" anchor="ctr"/>
                </a:tc>
              </a:tr>
              <a:tr h="175260">
                <a:tc>
                  <a:txBody>
                    <a:bodyPr wrap="square"/>
                    <a:lstStyle/>
                    <a:p>
                      <a:pPr algn="l"/>
                      <a:r>
                        <a:rPr sz="1100" b="0" i="0">
                          <a:solidFill>
                            <a:srgbClr val="000000"/>
                          </a:solidFill>
                          <a:latin typeface="Calibri"/>
                        </a:rPr>
                        <a:t>7.5.7.</a:t>
                      </a:r>
                      <a:r>
                        <a:rPr sz="700" b="0" i="0">
                          <a:solidFill>
                            <a:srgbClr val="000000"/>
                          </a:solidFill>
                          <a:latin typeface="Times New Roman"/>
                        </a:rPr>
                        <a:t>   </a:t>
                      </a:r>
                      <a:r>
                        <a:rPr sz="1100" b="0" i="0">
                          <a:solidFill>
                            <a:srgbClr val="000000"/>
                          </a:solidFill>
                          <a:latin typeface="Calibri"/>
                        </a:rPr>
                        <a:t>Cups</a:t>
                      </a:r>
                      <a:endParaRPr sz="1100"/>
                    </a:p>
                  </a:txBody>
                  <a:tcPr marL="771525" marR="9525" marT="9525" marB="0" anchor="ctr"/>
                </a:tc>
              </a:tr>
              <a:tr h="175260">
                <a:tc>
                  <a:txBody>
                    <a:bodyPr wrap="square"/>
                    <a:lstStyle/>
                    <a:p>
                      <a:pPr algn="l"/>
                      <a:r>
                        <a:rPr sz="1100" b="0" i="0">
                          <a:solidFill>
                            <a:srgbClr val="000000"/>
                          </a:solidFill>
                          <a:latin typeface="Calibri"/>
                        </a:rPr>
                        <a:t>7.5.8.</a:t>
                      </a:r>
                      <a:r>
                        <a:rPr sz="700" b="0" i="0">
                          <a:solidFill>
                            <a:srgbClr val="000000"/>
                          </a:solidFill>
                          <a:latin typeface="Times New Roman"/>
                        </a:rPr>
                        <a:t>   </a:t>
                      </a:r>
                      <a:r>
                        <a:rPr sz="1100" b="0" i="0">
                          <a:solidFill>
                            <a:srgbClr val="000000"/>
                          </a:solidFill>
                          <a:latin typeface="Calibri"/>
                        </a:rPr>
                        <a:t>Bulk Industrial Packaging</a:t>
                      </a:r>
                      <a:endParaRPr sz="1100"/>
                    </a:p>
                  </a:txBody>
                  <a:tcPr marL="771525" marR="9525" marT="9525" marB="0" anchor="ctr"/>
                </a:tc>
              </a:tr>
              <a:tr h="175260">
                <a:tc>
                  <a:txBody>
                    <a:bodyPr wrap="square"/>
                    <a:lstStyle/>
                    <a:p>
                      <a:pPr algn="l"/>
                      <a:r>
                        <a:rPr sz="1100" b="0" i="0">
                          <a:solidFill>
                            <a:srgbClr val="000000"/>
                          </a:solidFill>
                          <a:latin typeface="Calibri"/>
                        </a:rPr>
                        <a:t>7.5.9.</a:t>
                      </a:r>
                      <a:r>
                        <a:rPr sz="700" b="0" i="0">
                          <a:solidFill>
                            <a:srgbClr val="000000"/>
                          </a:solidFill>
                          <a:latin typeface="Times New Roman"/>
                        </a:rPr>
                        <a:t>   </a:t>
                      </a:r>
                      <a:r>
                        <a:rPr sz="1100" b="0" i="0">
                          <a:solidFill>
                            <a:srgbClr val="000000"/>
                          </a:solidFill>
                          <a:latin typeface="Calibri"/>
                        </a:rPr>
                        <a:t>Other Packaging Types</a:t>
                      </a:r>
                      <a:endParaRPr sz="1100"/>
                    </a:p>
                  </a:txBody>
                  <a:tcPr marL="771525" marR="9525" marT="9525" marB="0" anchor="ctr"/>
                </a:tc>
              </a:tr>
              <a:tr h="175260">
                <a:tc>
                  <a:txBody>
                    <a:bodyPr wrap="square"/>
                    <a:lstStyle/>
                    <a:p>
                      <a:pPr algn="l"/>
                      <a:r>
                        <a:rPr sz="1100" b="1" i="0">
                          <a:solidFill>
                            <a:srgbClr val="000000"/>
                          </a:solidFill>
                          <a:latin typeface="Calibri"/>
                        </a:rPr>
                        <a:t>8.</a:t>
                      </a:r>
                      <a:r>
                        <a:rPr sz="700" b="1" i="0">
                          <a:solidFill>
                            <a:srgbClr val="000000"/>
                          </a:solidFill>
                          <a:latin typeface="Times New Roman"/>
                        </a:rPr>
                        <a:t>       </a:t>
                      </a:r>
                      <a:r>
                        <a:rPr sz="1100" b="1" i="0">
                          <a:solidFill>
                            <a:srgbClr val="000000"/>
                          </a:solidFill>
                          <a:latin typeface="Calibri"/>
                        </a:rPr>
                        <a:t>Global Market (Value- Volume) Analysis 2021–2036, By Grade Type</a:t>
                      </a:r>
                      <a:endParaRPr sz="1100"/>
                    </a:p>
                  </a:txBody>
                  <a:tcPr marL="171450" marR="9525" marT="9525" marB="0" anchor="ctr"/>
                </a:tc>
              </a:tr>
              <a:tr h="175260">
                <a:tc>
                  <a:txBody>
                    <a:bodyPr wrap="square"/>
                    <a:lstStyle/>
                    <a:p>
                      <a:pPr algn="l"/>
                      <a:r>
                        <a:rPr sz="1100" b="0" i="0">
                          <a:solidFill>
                            <a:srgbClr val="0070C0"/>
                          </a:solidFill>
                          <a:latin typeface="Calibri"/>
                        </a:rPr>
                        <a:t>8.1.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8.2.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8.3.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8.4.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8.5.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8.5.1.</a:t>
                      </a:r>
                      <a:r>
                        <a:rPr sz="700" b="0" i="0">
                          <a:solidFill>
                            <a:srgbClr val="000000"/>
                          </a:solidFill>
                          <a:latin typeface="Times New Roman"/>
                        </a:rPr>
                        <a:t>   </a:t>
                      </a:r>
                      <a:r>
                        <a:rPr sz="1100" b="0" i="0">
                          <a:solidFill>
                            <a:srgbClr val="000000"/>
                          </a:solidFill>
                          <a:latin typeface="Calibri"/>
                        </a:rPr>
                        <a:t>Ceremonial Grade</a:t>
                      </a:r>
                      <a:endParaRPr sz="1100"/>
                    </a:p>
                  </a:txBody>
                  <a:tcPr marL="771525" marR="9525" marT="9525" marB="0" anchor="ctr"/>
                </a:tc>
              </a:tr>
              <a:tr h="175260">
                <a:tc>
                  <a:txBody>
                    <a:bodyPr wrap="square"/>
                    <a:lstStyle/>
                    <a:p>
                      <a:pPr algn="l"/>
                      <a:r>
                        <a:rPr sz="1100" b="0" i="0">
                          <a:solidFill>
                            <a:srgbClr val="000000"/>
                          </a:solidFill>
                          <a:latin typeface="Calibri"/>
                        </a:rPr>
                        <a:t>8.5.2.</a:t>
                      </a:r>
                      <a:r>
                        <a:rPr sz="700" b="0" i="0">
                          <a:solidFill>
                            <a:srgbClr val="000000"/>
                          </a:solidFill>
                          <a:latin typeface="Times New Roman"/>
                        </a:rPr>
                        <a:t>   </a:t>
                      </a:r>
                      <a:r>
                        <a:rPr sz="1100" b="0" i="0">
                          <a:solidFill>
                            <a:srgbClr val="000000"/>
                          </a:solidFill>
                          <a:latin typeface="Calibri"/>
                        </a:rPr>
                        <a:t>Premium Grade</a:t>
                      </a:r>
                      <a:endParaRPr sz="1100"/>
                    </a:p>
                  </a:txBody>
                  <a:tcPr marL="771525" marR="9525" marT="9525" marB="0" anchor="ctr"/>
                </a:tc>
              </a:tr>
              <a:tr h="175260">
                <a:tc>
                  <a:txBody>
                    <a:bodyPr wrap="square"/>
                    <a:lstStyle/>
                    <a:p>
                      <a:pPr algn="l"/>
                      <a:r>
                        <a:rPr sz="1100" b="0" i="0">
                          <a:solidFill>
                            <a:srgbClr val="000000"/>
                          </a:solidFill>
                          <a:latin typeface="Calibri"/>
                        </a:rPr>
                        <a:t>8.5.3.</a:t>
                      </a:r>
                      <a:r>
                        <a:rPr sz="700" b="0" i="0">
                          <a:solidFill>
                            <a:srgbClr val="000000"/>
                          </a:solidFill>
                          <a:latin typeface="Times New Roman"/>
                        </a:rPr>
                        <a:t>   </a:t>
                      </a:r>
                      <a:r>
                        <a:rPr sz="1100" b="0" i="0">
                          <a:solidFill>
                            <a:srgbClr val="000000"/>
                          </a:solidFill>
                          <a:latin typeface="Calibri"/>
                        </a:rPr>
                        <a:t>Standard Drinking Grade</a:t>
                      </a:r>
                      <a:endParaRPr sz="1100"/>
                    </a:p>
                  </a:txBody>
                  <a:tcPr marL="771525" marR="9525" marT="9525" marB="0" anchor="ctr"/>
                </a:tc>
              </a:tr>
              <a:tr h="175260">
                <a:tc>
                  <a:txBody>
                    <a:bodyPr wrap="square"/>
                    <a:lstStyle/>
                    <a:p>
                      <a:pPr algn="l"/>
                      <a:r>
                        <a:rPr sz="1100" b="0" i="0">
                          <a:solidFill>
                            <a:srgbClr val="000000"/>
                          </a:solidFill>
                          <a:latin typeface="Calibri"/>
                        </a:rPr>
                        <a:t>8.5.4.</a:t>
                      </a:r>
                      <a:r>
                        <a:rPr sz="700" b="0" i="0">
                          <a:solidFill>
                            <a:srgbClr val="000000"/>
                          </a:solidFill>
                          <a:latin typeface="Times New Roman"/>
                        </a:rPr>
                        <a:t>   </a:t>
                      </a:r>
                      <a:r>
                        <a:rPr sz="1100" b="0" i="0">
                          <a:solidFill>
                            <a:srgbClr val="000000"/>
                          </a:solidFill>
                          <a:latin typeface="Calibri"/>
                        </a:rPr>
                        <a:t>Culinary Grade</a:t>
                      </a:r>
                      <a:endParaRPr sz="1100"/>
                    </a:p>
                  </a:txBody>
                  <a:tcPr marL="771525" marR="9525" marT="9525" marB="0" anchor="ctr"/>
                </a:tc>
              </a:tr>
              <a:tr h="175260">
                <a:tc>
                  <a:txBody>
                    <a:bodyPr wrap="square"/>
                    <a:lstStyle/>
                    <a:p>
                      <a:pPr algn="l"/>
                      <a:r>
                        <a:rPr sz="1100" b="0" i="0">
                          <a:solidFill>
                            <a:srgbClr val="000000"/>
                          </a:solidFill>
                          <a:latin typeface="Calibri"/>
                        </a:rPr>
                        <a:t>8.5.5.</a:t>
                      </a:r>
                      <a:r>
                        <a:rPr sz="700" b="0" i="0">
                          <a:solidFill>
                            <a:srgbClr val="000000"/>
                          </a:solidFill>
                          <a:latin typeface="Times New Roman"/>
                        </a:rPr>
                        <a:t>   </a:t>
                      </a:r>
                      <a:r>
                        <a:rPr sz="1100" b="0" i="0">
                          <a:solidFill>
                            <a:srgbClr val="000000"/>
                          </a:solidFill>
                          <a:latin typeface="Calibri"/>
                        </a:rPr>
                        <a:t>Industrial Grade</a:t>
                      </a:r>
                      <a:endParaRPr sz="1100"/>
                    </a:p>
                  </a:txBody>
                  <a:tcPr marL="771525" marR="9525" marT="9525" marB="0" anchor="ctr"/>
                </a:tc>
              </a:tr>
              <a:tr h="175260">
                <a:tc>
                  <a:txBody>
                    <a:bodyPr wrap="square"/>
                    <a:lstStyle/>
                    <a:p>
                      <a:pPr algn="l"/>
                      <a:r>
                        <a:rPr sz="1100" b="1" i="0">
                          <a:solidFill>
                            <a:srgbClr val="000000"/>
                          </a:solidFill>
                          <a:latin typeface="Calibri"/>
                        </a:rPr>
                        <a:t>9.</a:t>
                      </a:r>
                      <a:r>
                        <a:rPr sz="700" b="1" i="0">
                          <a:solidFill>
                            <a:srgbClr val="000000"/>
                          </a:solidFill>
                          <a:latin typeface="Times New Roman"/>
                        </a:rPr>
                        <a:t>       </a:t>
                      </a:r>
                      <a:r>
                        <a:rPr sz="1100" b="1" i="0">
                          <a:solidFill>
                            <a:srgbClr val="000000"/>
                          </a:solidFill>
                          <a:latin typeface="Calibri"/>
                        </a:rPr>
                        <a:t>Global Market (Value- Volume) Analysis 2021–2036, By Application</a:t>
                      </a:r>
                      <a:endParaRPr sz="1100"/>
                    </a:p>
                  </a:txBody>
                  <a:tcPr marL="171450" marR="9525" marT="9525" marB="0" anchor="ctr"/>
                </a:tc>
              </a:tr>
              <a:tr h="175260">
                <a:tc>
                  <a:txBody>
                    <a:bodyPr wrap="square"/>
                    <a:lstStyle/>
                    <a:p>
                      <a:pPr algn="l"/>
                      <a:r>
                        <a:rPr sz="1100" b="0" i="0">
                          <a:solidFill>
                            <a:srgbClr val="0070C0"/>
                          </a:solidFill>
                          <a:latin typeface="Calibri"/>
                        </a:rPr>
                        <a:t>9.1.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9.2.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9.3.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9.4.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9.5.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9.5.1.</a:t>
                      </a:r>
                      <a:r>
                        <a:rPr sz="700" b="0" i="0">
                          <a:solidFill>
                            <a:srgbClr val="000000"/>
                          </a:solidFill>
                          <a:latin typeface="Times New Roman"/>
                        </a:rPr>
                        <a:t>   </a:t>
                      </a:r>
                      <a:r>
                        <a:rPr sz="1100" b="0" i="0">
                          <a:solidFill>
                            <a:srgbClr val="000000"/>
                          </a:solidFill>
                          <a:latin typeface="Calibri"/>
                        </a:rPr>
                        <a:t>Beverages</a:t>
                      </a:r>
                      <a:endParaRPr sz="1100"/>
                    </a:p>
                  </a:txBody>
                  <a:tcPr marL="771525" marR="9525" marT="9525" marB="0" anchor="ctr"/>
                </a:tc>
              </a:tr>
              <a:tr h="175260">
                <a:tc>
                  <a:txBody>
                    <a:bodyPr wrap="square"/>
                    <a:lstStyle/>
                    <a:p>
                      <a:pPr algn="l"/>
                      <a:r>
                        <a:rPr sz="1100" b="0" i="1">
                          <a:solidFill>
                            <a:srgbClr val="000000"/>
                          </a:solidFill>
                          <a:latin typeface="Calibri"/>
                        </a:rPr>
                        <a:t>9.5.1.1.</a:t>
                      </a:r>
                      <a:r>
                        <a:rPr sz="700" b="0" i="1">
                          <a:solidFill>
                            <a:srgbClr val="000000"/>
                          </a:solidFill>
                          <a:latin typeface="Times New Roman"/>
                        </a:rPr>
                        <a:t>    </a:t>
                      </a:r>
                      <a:r>
                        <a:rPr sz="1100" b="0" i="1">
                          <a:solidFill>
                            <a:srgbClr val="000000"/>
                          </a:solidFill>
                          <a:latin typeface="Calibri"/>
                        </a:rPr>
                        <a:t>Traditional Matcha Tea</a:t>
                      </a:r>
                      <a:endParaRPr sz="1100"/>
                    </a:p>
                  </a:txBody>
                  <a:tcPr marL="1028700" marR="9525" marT="9525" marB="0" anchor="ctr"/>
                </a:tc>
              </a:tr>
              <a:tr h="175260">
                <a:tc>
                  <a:txBody>
                    <a:bodyPr wrap="square"/>
                    <a:lstStyle/>
                    <a:p>
                      <a:pPr algn="l"/>
                      <a:r>
                        <a:rPr sz="1100" b="0" i="1">
                          <a:solidFill>
                            <a:srgbClr val="000000"/>
                          </a:solidFill>
                          <a:latin typeface="Calibri"/>
                        </a:rPr>
                        <a:t>9.5.1.2.</a:t>
                      </a:r>
                      <a:r>
                        <a:rPr sz="700" b="0" i="1">
                          <a:solidFill>
                            <a:srgbClr val="000000"/>
                          </a:solidFill>
                          <a:latin typeface="Times New Roman"/>
                        </a:rPr>
                        <a:t>    </a:t>
                      </a:r>
                      <a:r>
                        <a:rPr sz="1100" b="0" i="1">
                          <a:solidFill>
                            <a:srgbClr val="000000"/>
                          </a:solidFill>
                          <a:latin typeface="Calibri"/>
                        </a:rPr>
                        <a:t>Matcha Lattes</a:t>
                      </a:r>
                      <a:endParaRPr sz="1100"/>
                    </a:p>
                  </a:txBody>
                  <a:tcPr marL="1028700" marR="9525" marT="9525" marB="0" anchor="ctr"/>
                </a:tc>
              </a:tr>
              <a:tr h="175260">
                <a:tc>
                  <a:txBody>
                    <a:bodyPr wrap="square"/>
                    <a:lstStyle/>
                    <a:p>
                      <a:pPr algn="l"/>
                      <a:r>
                        <a:rPr sz="1100" b="0" i="1">
                          <a:solidFill>
                            <a:srgbClr val="000000"/>
                          </a:solidFill>
                          <a:latin typeface="Calibri"/>
                        </a:rPr>
                        <a:t>9.5.1.3.</a:t>
                      </a:r>
                      <a:r>
                        <a:rPr sz="700" b="0" i="1">
                          <a:solidFill>
                            <a:srgbClr val="000000"/>
                          </a:solidFill>
                          <a:latin typeface="Times New Roman"/>
                        </a:rPr>
                        <a:t>    </a:t>
                      </a:r>
                      <a:r>
                        <a:rPr sz="1100" b="0" i="1">
                          <a:solidFill>
                            <a:srgbClr val="000000"/>
                          </a:solidFill>
                          <a:latin typeface="Calibri"/>
                        </a:rPr>
                        <a:t>Bubble Tea and Milk Tea</a:t>
                      </a:r>
                      <a:endParaRPr sz="1100"/>
                    </a:p>
                  </a:txBody>
                  <a:tcPr marL="1028700" marR="9525" marT="9525" marB="0" anchor="ctr"/>
                </a:tc>
              </a:tr>
              <a:tr h="175260">
                <a:tc>
                  <a:txBody>
                    <a:bodyPr wrap="square"/>
                    <a:lstStyle/>
                    <a:p>
                      <a:pPr algn="l"/>
                      <a:r>
                        <a:rPr sz="1100" b="0" i="1">
                          <a:solidFill>
                            <a:srgbClr val="000000"/>
                          </a:solidFill>
                          <a:latin typeface="Calibri"/>
                        </a:rPr>
                        <a:t>9.5.1.4.</a:t>
                      </a:r>
                      <a:r>
                        <a:rPr sz="700" b="0" i="1">
                          <a:solidFill>
                            <a:srgbClr val="000000"/>
                          </a:solidFill>
                          <a:latin typeface="Times New Roman"/>
                        </a:rPr>
                        <a:t>    </a:t>
                      </a:r>
                      <a:r>
                        <a:rPr sz="1100" b="0" i="1">
                          <a:solidFill>
                            <a:srgbClr val="000000"/>
                          </a:solidFill>
                          <a:latin typeface="Calibri"/>
                        </a:rPr>
                        <a:t>Ready-to-Drink Beverages</a:t>
                      </a:r>
                      <a:endParaRPr sz="1100"/>
                    </a:p>
                  </a:txBody>
                  <a:tcPr marL="1028700" marR="9525" marT="9525" marB="0" anchor="ctr"/>
                </a:tc>
              </a:tr>
              <a:tr h="175260">
                <a:tc>
                  <a:txBody>
                    <a:bodyPr wrap="square"/>
                    <a:lstStyle/>
                    <a:p>
                      <a:pPr algn="l"/>
                      <a:r>
                        <a:rPr sz="1100" b="0" i="1">
                          <a:solidFill>
                            <a:srgbClr val="000000"/>
                          </a:solidFill>
                          <a:latin typeface="Calibri"/>
                        </a:rPr>
                        <a:t>9.5.1.5.</a:t>
                      </a:r>
                      <a:r>
                        <a:rPr sz="700" b="0" i="1">
                          <a:solidFill>
                            <a:srgbClr val="000000"/>
                          </a:solidFill>
                          <a:latin typeface="Times New Roman"/>
                        </a:rPr>
                        <a:t>    </a:t>
                      </a:r>
                      <a:r>
                        <a:rPr sz="1100" b="0" i="1">
                          <a:solidFill>
                            <a:srgbClr val="000000"/>
                          </a:solidFill>
                          <a:latin typeface="Calibri"/>
                        </a:rPr>
                        <a:t>Smoothies and Functional Beverages</a:t>
                      </a:r>
                      <a:endParaRPr sz="1100"/>
                    </a:p>
                  </a:txBody>
                  <a:tcPr marL="1028700" marR="9525" marT="9525" marB="0" anchor="ctr"/>
                </a:tc>
              </a:tr>
              <a:tr h="175260">
                <a:tc>
                  <a:txBody>
                    <a:bodyPr wrap="square"/>
                    <a:lstStyle/>
                    <a:p>
                      <a:pPr algn="l"/>
                      <a:r>
                        <a:rPr sz="1100" b="0" i="0">
                          <a:solidFill>
                            <a:srgbClr val="000000"/>
                          </a:solidFill>
                          <a:latin typeface="Calibri"/>
                        </a:rPr>
                        <a:t>9.5.2.</a:t>
                      </a:r>
                      <a:r>
                        <a:rPr sz="700" b="0" i="0">
                          <a:solidFill>
                            <a:srgbClr val="000000"/>
                          </a:solidFill>
                          <a:latin typeface="Times New Roman"/>
                        </a:rPr>
                        <a:t>   </a:t>
                      </a:r>
                      <a:r>
                        <a:rPr sz="1100" b="0" i="0">
                          <a:solidFill>
                            <a:srgbClr val="000000"/>
                          </a:solidFill>
                          <a:latin typeface="Calibri"/>
                        </a:rPr>
                        <a:t>Bakery and Confectionery</a:t>
                      </a:r>
                      <a:endParaRPr sz="1100"/>
                    </a:p>
                  </a:txBody>
                  <a:tcPr marL="771525" marR="9525" marT="9525" marB="0" anchor="ctr"/>
                </a:tc>
              </a:tr>
              <a:tr h="175260">
                <a:tc>
                  <a:txBody>
                    <a:bodyPr wrap="square"/>
                    <a:lstStyle/>
                    <a:p>
                      <a:pPr algn="l"/>
                      <a:r>
                        <a:rPr sz="1100" b="0" i="1">
                          <a:solidFill>
                            <a:srgbClr val="000000"/>
                          </a:solidFill>
                          <a:latin typeface="Calibri"/>
                        </a:rPr>
                        <a:t>9.5.2.1.</a:t>
                      </a:r>
                      <a:r>
                        <a:rPr sz="700" b="0" i="1">
                          <a:solidFill>
                            <a:srgbClr val="000000"/>
                          </a:solidFill>
                          <a:latin typeface="Times New Roman"/>
                        </a:rPr>
                        <a:t>    </a:t>
                      </a:r>
                      <a:r>
                        <a:rPr sz="1100" b="0" i="1">
                          <a:solidFill>
                            <a:srgbClr val="000000"/>
                          </a:solidFill>
                          <a:latin typeface="Calibri"/>
                        </a:rPr>
                        <a:t>Cakes and Pastries</a:t>
                      </a:r>
                      <a:endParaRPr sz="1100"/>
                    </a:p>
                  </a:txBody>
                  <a:tcPr marL="1028700" marR="9525" marT="9525" marB="0" anchor="ctr"/>
                </a:tc>
              </a:tr>
              <a:tr h="175260">
                <a:tc>
                  <a:txBody>
                    <a:bodyPr wrap="square"/>
                    <a:lstStyle/>
                    <a:p>
                      <a:pPr algn="l"/>
                      <a:r>
                        <a:rPr sz="1100" b="0" i="1">
                          <a:solidFill>
                            <a:srgbClr val="000000"/>
                          </a:solidFill>
                          <a:latin typeface="Calibri"/>
                        </a:rPr>
                        <a:t>9.5.2.2.</a:t>
                      </a:r>
                      <a:r>
                        <a:rPr sz="700" b="0" i="1">
                          <a:solidFill>
                            <a:srgbClr val="000000"/>
                          </a:solidFill>
                          <a:latin typeface="Times New Roman"/>
                        </a:rPr>
                        <a:t>    </a:t>
                      </a:r>
                      <a:r>
                        <a:rPr sz="1100" b="0" i="1">
                          <a:solidFill>
                            <a:srgbClr val="000000"/>
                          </a:solidFill>
                          <a:latin typeface="Calibri"/>
                        </a:rPr>
                        <a:t>Cookies and Biscuits</a:t>
                      </a:r>
                      <a:endParaRPr sz="1100"/>
                    </a:p>
                  </a:txBody>
                  <a:tcPr marL="1028700" marR="9525" marT="9525" marB="0" anchor="ctr"/>
                </a:tc>
              </a:tr>
              <a:tr h="175260">
                <a:tc>
                  <a:txBody>
                    <a:bodyPr wrap="square"/>
                    <a:lstStyle/>
                    <a:p>
                      <a:pPr algn="l"/>
                      <a:r>
                        <a:rPr sz="1100" b="0" i="1">
                          <a:solidFill>
                            <a:srgbClr val="000000"/>
                          </a:solidFill>
                          <a:latin typeface="Calibri"/>
                        </a:rPr>
                        <a:t>9.5.2.3.</a:t>
                      </a:r>
                      <a:r>
                        <a:rPr sz="700" b="0" i="1">
                          <a:solidFill>
                            <a:srgbClr val="000000"/>
                          </a:solidFill>
                          <a:latin typeface="Times New Roman"/>
                        </a:rPr>
                        <a:t>    </a:t>
                      </a:r>
                      <a:r>
                        <a:rPr sz="1100" b="0" i="1">
                          <a:solidFill>
                            <a:srgbClr val="000000"/>
                          </a:solidFill>
                          <a:latin typeface="Calibri"/>
                        </a:rPr>
                        <a:t>Bread and Bakery Products</a:t>
                      </a:r>
                      <a:endParaRPr sz="1100"/>
                    </a:p>
                  </a:txBody>
                  <a:tcPr marL="1028700" marR="9525" marT="9525" marB="0" anchor="ctr"/>
                </a:tc>
              </a:tr>
              <a:tr h="175260">
                <a:tc>
                  <a:txBody>
                    <a:bodyPr wrap="square"/>
                    <a:lstStyle/>
                    <a:p>
                      <a:pPr algn="l"/>
                      <a:r>
                        <a:rPr sz="1100" b="0" i="1">
                          <a:solidFill>
                            <a:srgbClr val="000000"/>
                          </a:solidFill>
                          <a:latin typeface="Calibri"/>
                        </a:rPr>
                        <a:t>9.5.2.4.</a:t>
                      </a:r>
                      <a:r>
                        <a:rPr sz="700" b="0" i="1">
                          <a:solidFill>
                            <a:srgbClr val="000000"/>
                          </a:solidFill>
                          <a:latin typeface="Times New Roman"/>
                        </a:rPr>
                        <a:t>    </a:t>
                      </a:r>
                      <a:r>
                        <a:rPr sz="1100" b="0" i="1">
                          <a:solidFill>
                            <a:srgbClr val="000000"/>
                          </a:solidFill>
                          <a:latin typeface="Calibri"/>
                        </a:rPr>
                        <a:t>Chocolate and Candies</a:t>
                      </a:r>
                      <a:endParaRPr sz="1100"/>
                    </a:p>
                  </a:txBody>
                  <a:tcPr marL="1028700" marR="9525" marT="9525" marB="0" anchor="ctr"/>
                </a:tc>
              </a:tr>
              <a:tr h="175260">
                <a:tc>
                  <a:txBody>
                    <a:bodyPr wrap="square"/>
                    <a:lstStyle/>
                    <a:p>
                      <a:pPr algn="l"/>
                      <a:r>
                        <a:rPr sz="1100" b="0" i="1">
                          <a:solidFill>
                            <a:srgbClr val="000000"/>
                          </a:solidFill>
                          <a:latin typeface="Calibri"/>
                        </a:rPr>
                        <a:t>9.5.2.5.</a:t>
                      </a:r>
                      <a:r>
                        <a:rPr sz="700" b="0" i="1">
                          <a:solidFill>
                            <a:srgbClr val="000000"/>
                          </a:solidFill>
                          <a:latin typeface="Times New Roman"/>
                        </a:rPr>
                        <a:t>    </a:t>
                      </a:r>
                      <a:r>
                        <a:rPr sz="1100" b="0" i="1">
                          <a:solidFill>
                            <a:srgbClr val="000000"/>
                          </a:solidFill>
                          <a:latin typeface="Calibri"/>
                        </a:rPr>
                        <a:t>Other Confectionery Products</a:t>
                      </a:r>
                      <a:endParaRPr sz="1100"/>
                    </a:p>
                  </a:txBody>
                  <a:tcPr marL="1028700" marR="9525" marT="9525" marB="0" anchor="ctr"/>
                </a:tc>
              </a:tr>
              <a:tr h="175260">
                <a:tc>
                  <a:txBody>
                    <a:bodyPr wrap="square"/>
                    <a:lstStyle/>
                    <a:p>
                      <a:pPr algn="l"/>
                      <a:r>
                        <a:rPr sz="1100" b="0" i="0">
                          <a:solidFill>
                            <a:srgbClr val="000000"/>
                          </a:solidFill>
                          <a:latin typeface="Calibri"/>
                        </a:rPr>
                        <a:t>9.5.3.</a:t>
                      </a:r>
                      <a:r>
                        <a:rPr sz="700" b="0" i="0">
                          <a:solidFill>
                            <a:srgbClr val="000000"/>
                          </a:solidFill>
                          <a:latin typeface="Times New Roman"/>
                        </a:rPr>
                        <a:t>   </a:t>
                      </a:r>
                      <a:r>
                        <a:rPr sz="1100" b="0" i="0">
                          <a:solidFill>
                            <a:srgbClr val="000000"/>
                          </a:solidFill>
                          <a:latin typeface="Calibri"/>
                        </a:rPr>
                        <a:t>Dairy and Frozen Desserts</a:t>
                      </a:r>
                      <a:endParaRPr sz="1100"/>
                    </a:p>
                  </a:txBody>
                  <a:tcPr marL="771525" marR="9525" marT="9525" marB="0" anchor="ctr"/>
                </a:tc>
              </a:tr>
              <a:tr h="175260">
                <a:tc>
                  <a:txBody>
                    <a:bodyPr wrap="square"/>
                    <a:lstStyle/>
                    <a:p>
                      <a:pPr algn="l"/>
                      <a:r>
                        <a:rPr sz="1100" b="0" i="1">
                          <a:solidFill>
                            <a:srgbClr val="000000"/>
                          </a:solidFill>
                          <a:latin typeface="Calibri"/>
                        </a:rPr>
                        <a:t>9.5.3.1.</a:t>
                      </a:r>
                      <a:r>
                        <a:rPr sz="700" b="0" i="1">
                          <a:solidFill>
                            <a:srgbClr val="000000"/>
                          </a:solidFill>
                          <a:latin typeface="Times New Roman"/>
                        </a:rPr>
                        <a:t>    </a:t>
                      </a:r>
                      <a:r>
                        <a:rPr sz="1100" b="0" i="1">
                          <a:solidFill>
                            <a:srgbClr val="000000"/>
                          </a:solidFill>
                          <a:latin typeface="Calibri"/>
                        </a:rPr>
                        <a:t>Ice Cream</a:t>
                      </a:r>
                      <a:endParaRPr sz="1100"/>
                    </a:p>
                  </a:txBody>
                  <a:tcPr marL="1028700" marR="9525" marT="9525" marB="0" anchor="ctr"/>
                </a:tc>
              </a:tr>
              <a:tr h="175260">
                <a:tc>
                  <a:txBody>
                    <a:bodyPr wrap="square"/>
                    <a:lstStyle/>
                    <a:p>
                      <a:pPr algn="l"/>
                      <a:r>
                        <a:rPr sz="1100" b="0" i="1">
                          <a:solidFill>
                            <a:srgbClr val="000000"/>
                          </a:solidFill>
                          <a:latin typeface="Calibri"/>
                        </a:rPr>
                        <a:t>9.5.3.2.</a:t>
                      </a:r>
                      <a:r>
                        <a:rPr sz="700" b="0" i="1">
                          <a:solidFill>
                            <a:srgbClr val="000000"/>
                          </a:solidFill>
                          <a:latin typeface="Times New Roman"/>
                        </a:rPr>
                        <a:t>    </a:t>
                      </a:r>
                      <a:r>
                        <a:rPr sz="1100" b="0" i="1">
                          <a:solidFill>
                            <a:srgbClr val="000000"/>
                          </a:solidFill>
                          <a:latin typeface="Calibri"/>
                        </a:rPr>
                        <a:t>Yogurt</a:t>
                      </a:r>
                      <a:endParaRPr sz="1100"/>
                    </a:p>
                  </a:txBody>
                  <a:tcPr marL="1028700" marR="9525" marT="9525" marB="0" anchor="ctr"/>
                </a:tc>
              </a:tr>
              <a:tr h="175260">
                <a:tc>
                  <a:txBody>
                    <a:bodyPr wrap="square"/>
                    <a:lstStyle/>
                    <a:p>
                      <a:pPr algn="l"/>
                      <a:r>
                        <a:rPr sz="1100" b="0" i="1">
                          <a:solidFill>
                            <a:srgbClr val="000000"/>
                          </a:solidFill>
                          <a:latin typeface="Calibri"/>
                        </a:rPr>
                        <a:t>9.5.3.3.</a:t>
                      </a:r>
                      <a:r>
                        <a:rPr sz="700" b="0" i="1">
                          <a:solidFill>
                            <a:srgbClr val="000000"/>
                          </a:solidFill>
                          <a:latin typeface="Times New Roman"/>
                        </a:rPr>
                        <a:t>    </a:t>
                      </a:r>
                      <a:r>
                        <a:rPr sz="1100" b="0" i="1">
                          <a:solidFill>
                            <a:srgbClr val="000000"/>
                          </a:solidFill>
                          <a:latin typeface="Calibri"/>
                        </a:rPr>
                        <a:t>Milk-Based Beverages</a:t>
                      </a:r>
                      <a:endParaRPr sz="1100"/>
                    </a:p>
                  </a:txBody>
                  <a:tcPr marL="1028700" marR="9525" marT="9525" marB="0" anchor="ctr"/>
                </a:tc>
              </a:tr>
              <a:tr h="175260">
                <a:tc>
                  <a:txBody>
                    <a:bodyPr wrap="square"/>
                    <a:lstStyle/>
                    <a:p>
                      <a:pPr algn="l"/>
                      <a:r>
                        <a:rPr sz="1100" b="0" i="1">
                          <a:solidFill>
                            <a:srgbClr val="000000"/>
                          </a:solidFill>
                          <a:latin typeface="Calibri"/>
                        </a:rPr>
                        <a:t>9.5.3.4.</a:t>
                      </a:r>
                      <a:r>
                        <a:rPr sz="700" b="0" i="1">
                          <a:solidFill>
                            <a:srgbClr val="000000"/>
                          </a:solidFill>
                          <a:latin typeface="Times New Roman"/>
                        </a:rPr>
                        <a:t>    </a:t>
                      </a:r>
                      <a:r>
                        <a:rPr sz="1100" b="0" i="1">
                          <a:solidFill>
                            <a:srgbClr val="000000"/>
                          </a:solidFill>
                          <a:latin typeface="Calibri"/>
                        </a:rPr>
                        <a:t>Frozen Yogurt and Other Frozen Desserts</a:t>
                      </a:r>
                      <a:endParaRPr sz="1100"/>
                    </a:p>
                  </a:txBody>
                  <a:tcPr marL="1028700" marR="9525" marT="9525" marB="0" anchor="ctr"/>
                </a:tc>
              </a:tr>
              <a:tr h="175260">
                <a:tc>
                  <a:txBody>
                    <a:bodyPr wrap="square"/>
                    <a:lstStyle/>
                    <a:p>
                      <a:pPr algn="l"/>
                      <a:r>
                        <a:rPr sz="1100" b="0" i="0">
                          <a:solidFill>
                            <a:srgbClr val="000000"/>
                          </a:solidFill>
                          <a:latin typeface="Calibri"/>
                        </a:rPr>
                        <a:t>9.5.4.</a:t>
                      </a:r>
                      <a:r>
                        <a:rPr sz="700" b="0" i="0">
                          <a:solidFill>
                            <a:srgbClr val="000000"/>
                          </a:solidFill>
                          <a:latin typeface="Times New Roman"/>
                        </a:rPr>
                        <a:t>   </a:t>
                      </a:r>
                      <a:r>
                        <a:rPr sz="1100" b="0" i="0">
                          <a:solidFill>
                            <a:srgbClr val="000000"/>
                          </a:solidFill>
                          <a:latin typeface="Calibri"/>
                        </a:rPr>
                        <a:t>Other Food Products</a:t>
                      </a:r>
                      <a:endParaRPr sz="1100"/>
                    </a:p>
                  </a:txBody>
                  <a:tcPr marL="771525" marR="9525" marT="9525" marB="0" anchor="ctr"/>
                </a:tc>
              </a:tr>
              <a:tr h="175260">
                <a:tc>
                  <a:txBody>
                    <a:bodyPr wrap="square"/>
                    <a:lstStyle/>
                    <a:p>
                      <a:pPr algn="l"/>
                      <a:r>
                        <a:rPr sz="1100" b="0" i="1">
                          <a:solidFill>
                            <a:srgbClr val="000000"/>
                          </a:solidFill>
                          <a:latin typeface="Calibri"/>
                        </a:rPr>
                        <a:t>9.5.4.1.</a:t>
                      </a:r>
                      <a:r>
                        <a:rPr sz="700" b="0" i="1">
                          <a:solidFill>
                            <a:srgbClr val="000000"/>
                          </a:solidFill>
                          <a:latin typeface="Times New Roman"/>
                        </a:rPr>
                        <a:t>    </a:t>
                      </a:r>
                      <a:r>
                        <a:rPr sz="1100" b="0" i="1">
                          <a:solidFill>
                            <a:srgbClr val="000000"/>
                          </a:solidFill>
                          <a:latin typeface="Calibri"/>
                        </a:rPr>
                        <a:t>Snacks and Nutrition Bars</a:t>
                      </a:r>
                      <a:endParaRPr sz="1100"/>
                    </a:p>
                  </a:txBody>
                  <a:tcPr marL="1028700" marR="9525" marT="9525" marB="0" anchor="ctr"/>
                </a:tc>
              </a:tr>
              <a:tr h="175260">
                <a:tc>
                  <a:txBody>
                    <a:bodyPr wrap="square"/>
                    <a:lstStyle/>
                    <a:p>
                      <a:pPr algn="l"/>
                      <a:r>
                        <a:rPr sz="1100" b="0" i="1">
                          <a:solidFill>
                            <a:srgbClr val="000000"/>
                          </a:solidFill>
                          <a:latin typeface="Calibri"/>
                        </a:rPr>
                        <a:t>9.5.4.2.</a:t>
                      </a:r>
                      <a:r>
                        <a:rPr sz="700" b="0" i="1">
                          <a:solidFill>
                            <a:srgbClr val="000000"/>
                          </a:solidFill>
                          <a:latin typeface="Times New Roman"/>
                        </a:rPr>
                        <a:t>    </a:t>
                      </a:r>
                      <a:r>
                        <a:rPr sz="1100" b="0" i="1">
                          <a:solidFill>
                            <a:srgbClr val="000000"/>
                          </a:solidFill>
                          <a:latin typeface="Calibri"/>
                        </a:rPr>
                        <a:t>Breakfast Cereals</a:t>
                      </a:r>
                      <a:endParaRPr sz="1100"/>
                    </a:p>
                  </a:txBody>
                  <a:tcPr marL="1028700" marR="9525" marT="9525" marB="0" anchor="ctr"/>
                </a:tc>
              </a:tr>
              <a:tr h="175260">
                <a:tc>
                  <a:txBody>
                    <a:bodyPr wrap="square"/>
                    <a:lstStyle/>
                    <a:p>
                      <a:pPr algn="l"/>
                      <a:r>
                        <a:rPr sz="1100" b="0" i="1">
                          <a:solidFill>
                            <a:srgbClr val="000000"/>
                          </a:solidFill>
                          <a:latin typeface="Calibri"/>
                        </a:rPr>
                        <a:t>9.5.4.3.</a:t>
                      </a:r>
                      <a:r>
                        <a:rPr sz="700" b="0" i="1">
                          <a:solidFill>
                            <a:srgbClr val="000000"/>
                          </a:solidFill>
                          <a:latin typeface="Times New Roman"/>
                        </a:rPr>
                        <a:t>    </a:t>
                      </a:r>
                      <a:r>
                        <a:rPr sz="1100" b="0" i="1">
                          <a:solidFill>
                            <a:srgbClr val="000000"/>
                          </a:solidFill>
                          <a:latin typeface="Calibri"/>
                        </a:rPr>
                        <a:t>Packaged Desserts</a:t>
                      </a:r>
                      <a:endParaRPr sz="1100"/>
                    </a:p>
                  </a:txBody>
                  <a:tcPr marL="1028700" marR="9525" marT="9525" marB="0" anchor="ctr"/>
                </a:tc>
              </a:tr>
              <a:tr h="175260">
                <a:tc>
                  <a:txBody>
                    <a:bodyPr wrap="square"/>
                    <a:lstStyle/>
                    <a:p>
                      <a:pPr algn="l"/>
                      <a:r>
                        <a:rPr sz="1100" b="0" i="1">
                          <a:solidFill>
                            <a:srgbClr val="000000"/>
                          </a:solidFill>
                          <a:latin typeface="Calibri"/>
                        </a:rPr>
                        <a:t>9.5.4.4.</a:t>
                      </a:r>
                      <a:r>
                        <a:rPr sz="700" b="0" i="1">
                          <a:solidFill>
                            <a:srgbClr val="000000"/>
                          </a:solidFill>
                          <a:latin typeface="Times New Roman"/>
                        </a:rPr>
                        <a:t>    </a:t>
                      </a:r>
                      <a:r>
                        <a:rPr sz="1100" b="0" i="1">
                          <a:solidFill>
                            <a:srgbClr val="000000"/>
                          </a:solidFill>
                          <a:latin typeface="Calibri"/>
                        </a:rPr>
                        <a:t>Other Matcha-Containing Food Products</a:t>
                      </a:r>
                      <a:endParaRPr sz="1100"/>
                    </a:p>
                  </a:txBody>
                  <a:tcPr marL="1028700" marR="9525" marT="9525" marB="0" anchor="ctr"/>
                </a:tc>
              </a:tr>
              <a:tr h="175260">
                <a:tc>
                  <a:txBody>
                    <a:bodyPr wrap="square"/>
                    <a:lstStyle/>
                    <a:p>
                      <a:pPr algn="l"/>
                      <a:r>
                        <a:rPr sz="1100" b="0" i="0">
                          <a:solidFill>
                            <a:srgbClr val="000000"/>
                          </a:solidFill>
                          <a:latin typeface="Calibri"/>
                        </a:rPr>
                        <a:t>9.5.5.</a:t>
                      </a:r>
                      <a:r>
                        <a:rPr sz="700" b="0" i="0">
                          <a:solidFill>
                            <a:srgbClr val="000000"/>
                          </a:solidFill>
                          <a:latin typeface="Times New Roman"/>
                        </a:rPr>
                        <a:t>   </a:t>
                      </a:r>
                      <a:r>
                        <a:rPr sz="1100" b="0" i="0">
                          <a:solidFill>
                            <a:srgbClr val="000000"/>
                          </a:solidFill>
                          <a:latin typeface="Calibri"/>
                        </a:rPr>
                        <a:t>Dietary Supplements and Functional Nutrition</a:t>
                      </a:r>
                      <a:endParaRPr sz="1100"/>
                    </a:p>
                  </a:txBody>
                  <a:tcPr marL="771525" marR="9525" marT="9525" marB="0" anchor="ctr"/>
                </a:tc>
              </a:tr>
              <a:tr h="175260">
                <a:tc>
                  <a:txBody>
                    <a:bodyPr wrap="square"/>
                    <a:lstStyle/>
                    <a:p>
                      <a:pPr algn="l"/>
                      <a:r>
                        <a:rPr sz="1100" b="0" i="1">
                          <a:solidFill>
                            <a:srgbClr val="000000"/>
                          </a:solidFill>
                          <a:latin typeface="Calibri"/>
                        </a:rPr>
                        <a:t>9.5.5.1.</a:t>
                      </a:r>
                      <a:r>
                        <a:rPr sz="700" b="0" i="1">
                          <a:solidFill>
                            <a:srgbClr val="000000"/>
                          </a:solidFill>
                          <a:latin typeface="Times New Roman"/>
                        </a:rPr>
                        <a:t>    </a:t>
                      </a:r>
                      <a:r>
                        <a:rPr sz="1100" b="0" i="1">
                          <a:solidFill>
                            <a:srgbClr val="000000"/>
                          </a:solidFill>
                          <a:latin typeface="Calibri"/>
                        </a:rPr>
                        <a:t>Matcha-Based Dietary Supplements</a:t>
                      </a:r>
                      <a:endParaRPr sz="1100"/>
                    </a:p>
                  </a:txBody>
                  <a:tcPr marL="1028700" marR="9525" marT="9525" marB="0" anchor="ctr"/>
                </a:tc>
              </a:tr>
              <a:tr h="175260">
                <a:tc>
                  <a:txBody>
                    <a:bodyPr wrap="square"/>
                    <a:lstStyle/>
                    <a:p>
                      <a:pPr algn="l"/>
                      <a:r>
                        <a:rPr sz="1100" b="0" i="1">
                          <a:solidFill>
                            <a:srgbClr val="000000"/>
                          </a:solidFill>
                          <a:latin typeface="Calibri"/>
                        </a:rPr>
                        <a:t>9.5.5.2.</a:t>
                      </a:r>
                      <a:r>
                        <a:rPr sz="700" b="0" i="1">
                          <a:solidFill>
                            <a:srgbClr val="000000"/>
                          </a:solidFill>
                          <a:latin typeface="Times New Roman"/>
                        </a:rPr>
                        <a:t>    </a:t>
                      </a:r>
                      <a:r>
                        <a:rPr sz="1100" b="0" i="1">
                          <a:solidFill>
                            <a:srgbClr val="000000"/>
                          </a:solidFill>
                          <a:latin typeface="Calibri"/>
                        </a:rPr>
                        <a:t>Functional Nutrition Powders</a:t>
                      </a:r>
                      <a:endParaRPr sz="1100"/>
                    </a:p>
                  </a:txBody>
                  <a:tcPr marL="1028700" marR="9525" marT="9525" marB="0" anchor="ctr"/>
                </a:tc>
              </a:tr>
              <a:tr h="175260">
                <a:tc>
                  <a:txBody>
                    <a:bodyPr wrap="square"/>
                    <a:lstStyle/>
                    <a:p>
                      <a:pPr algn="l"/>
                      <a:r>
                        <a:rPr sz="1100" b="0" i="1">
                          <a:solidFill>
                            <a:srgbClr val="000000"/>
                          </a:solidFill>
                          <a:latin typeface="Calibri"/>
                        </a:rPr>
                        <a:t>9.5.5.3.</a:t>
                      </a:r>
                      <a:r>
                        <a:rPr sz="700" b="0" i="1">
                          <a:solidFill>
                            <a:srgbClr val="000000"/>
                          </a:solidFill>
                          <a:latin typeface="Times New Roman"/>
                        </a:rPr>
                        <a:t>    </a:t>
                      </a:r>
                      <a:r>
                        <a:rPr sz="1100" b="0" i="1">
                          <a:solidFill>
                            <a:srgbClr val="000000"/>
                          </a:solidFill>
                          <a:latin typeface="Calibri"/>
                        </a:rPr>
                        <a:t>Other Matcha-Based Nutritional Products</a:t>
                      </a:r>
                      <a:endParaRPr sz="1100"/>
                    </a:p>
                  </a:txBody>
                  <a:tcPr marL="1028700"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(3/8)</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9.5.6.</a:t>
                      </a:r>
                      <a:r>
                        <a:rPr sz="700" b="0" i="0">
                          <a:solidFill>
                            <a:srgbClr val="000000"/>
                          </a:solidFill>
                          <a:latin typeface="Times New Roman"/>
                        </a:rPr>
                        <a:t>   </a:t>
                      </a:r>
                      <a:r>
                        <a:rPr sz="1100" b="0" i="0">
                          <a:solidFill>
                            <a:srgbClr val="000000"/>
                          </a:solidFill>
                          <a:latin typeface="Calibri"/>
                        </a:rPr>
                        <a:t>Other Applications</a:t>
                      </a:r>
                      <a:endParaRPr sz="1100"/>
                    </a:p>
                  </a:txBody>
                  <a:tcPr marL="771525" marR="9525" marT="9525" marB="0" anchor="ctr"/>
                </a:tc>
              </a:tr>
              <a:tr h="175260">
                <a:tc>
                  <a:txBody>
                    <a:bodyPr wrap="square"/>
                    <a:lstStyle/>
                    <a:p>
                      <a:pPr algn="l"/>
                      <a:r>
                        <a:rPr sz="1100" b="0" i="1">
                          <a:solidFill>
                            <a:srgbClr val="000000"/>
                          </a:solidFill>
                          <a:latin typeface="Calibri"/>
                        </a:rPr>
                        <a:t>9.5.6.1.</a:t>
                      </a:r>
                      <a:r>
                        <a:rPr sz="700" b="0" i="1">
                          <a:solidFill>
                            <a:srgbClr val="000000"/>
                          </a:solidFill>
                          <a:latin typeface="Times New Roman"/>
                        </a:rPr>
                        <a:t>    </a:t>
                      </a:r>
                      <a:r>
                        <a:rPr sz="1100" b="0" i="1">
                          <a:solidFill>
                            <a:srgbClr val="000000"/>
                          </a:solidFill>
                          <a:latin typeface="Calibri"/>
                        </a:rPr>
                        <a:t>Cosmetics and Personal Care</a:t>
                      </a:r>
                      <a:endParaRPr sz="1100"/>
                    </a:p>
                  </a:txBody>
                  <a:tcPr marL="1028700" marR="9525" marT="9525" marB="0" anchor="ctr"/>
                </a:tc>
              </a:tr>
              <a:tr h="175260">
                <a:tc>
                  <a:txBody>
                    <a:bodyPr wrap="square"/>
                    <a:lstStyle/>
                    <a:p>
                      <a:pPr algn="l"/>
                      <a:r>
                        <a:rPr sz="1100" b="0" i="1">
                          <a:solidFill>
                            <a:srgbClr val="000000"/>
                          </a:solidFill>
                          <a:latin typeface="Calibri"/>
                        </a:rPr>
                        <a:t>9.5.6.2.</a:t>
                      </a:r>
                      <a:r>
                        <a:rPr sz="700" b="0" i="1">
                          <a:solidFill>
                            <a:srgbClr val="000000"/>
                          </a:solidFill>
                          <a:latin typeface="Times New Roman"/>
                        </a:rPr>
                        <a:t>    </a:t>
                      </a:r>
                      <a:r>
                        <a:rPr sz="1100" b="0" i="1">
                          <a:solidFill>
                            <a:srgbClr val="000000"/>
                          </a:solidFill>
                          <a:latin typeface="Calibri"/>
                        </a:rPr>
                        <a:t>Other Specialized Applications</a:t>
                      </a:r>
                      <a:endParaRPr sz="1100"/>
                    </a:p>
                  </a:txBody>
                  <a:tcPr marL="1028700" marR="9525" marT="9525" marB="0" anchor="ctr"/>
                </a:tc>
              </a:tr>
              <a:tr h="175260">
                <a:tc>
                  <a:txBody>
                    <a:bodyPr wrap="square"/>
                    <a:lstStyle/>
                    <a:p>
                      <a:pPr algn="l"/>
                      <a:r>
                        <a:rPr sz="1100" b="1" i="0">
                          <a:solidFill>
                            <a:srgbClr val="000000"/>
                          </a:solidFill>
                          <a:latin typeface="Calibri"/>
                        </a:rPr>
                        <a:t>10.</a:t>
                      </a:r>
                      <a:r>
                        <a:rPr sz="700" b="1" i="0">
                          <a:solidFill>
                            <a:srgbClr val="000000"/>
                          </a:solidFill>
                          <a:latin typeface="Times New Roman"/>
                        </a:rPr>
                        <a:t>    </a:t>
                      </a:r>
                      <a:r>
                        <a:rPr sz="1100" b="1" i="0">
                          <a:solidFill>
                            <a:srgbClr val="000000"/>
                          </a:solidFill>
                          <a:latin typeface="Calibri"/>
                        </a:rPr>
                        <a:t>Global Market (Value- Volume) Analysis 2021–2036, by Region</a:t>
                      </a:r>
                      <a:endParaRPr sz="1100"/>
                    </a:p>
                  </a:txBody>
                  <a:tcPr marL="171450" marR="9525" marT="9525" marB="0" anchor="ctr"/>
                </a:tc>
              </a:tr>
              <a:tr h="175260">
                <a:tc>
                  <a:txBody>
                    <a:bodyPr wrap="square"/>
                    <a:lstStyle/>
                    <a:p>
                      <a:pPr algn="l"/>
                      <a:r>
                        <a:rPr sz="1100" b="0" i="0">
                          <a:solidFill>
                            <a:srgbClr val="0070C0"/>
                          </a:solidFill>
                          <a:latin typeface="Calibri"/>
                        </a:rPr>
                        <a:t>10.1.</a:t>
                      </a:r>
                      <a:r>
                        <a:rPr sz="700" b="0" i="0">
                          <a:solidFill>
                            <a:srgbClr val="0070C0"/>
                          </a:solidFill>
                          <a:latin typeface="Times New Roman"/>
                        </a:rPr>
                        <a:t>  </a:t>
                      </a:r>
                      <a:r>
                        <a:rPr sz="1100" b="0" i="0">
                          <a:solidFill>
                            <a:srgbClr val="0070C0"/>
                          </a:solidFill>
                          <a:latin typeface="Calibri"/>
                        </a:rPr>
                        <a:t>Introduction / Key Findings</a:t>
                      </a:r>
                      <a:endParaRPr sz="1100"/>
                    </a:p>
                  </a:txBody>
                  <a:tcPr marL="428625" marR="9525" marT="9525" marB="0" anchor="ctr"/>
                </a:tc>
              </a:tr>
              <a:tr h="175260">
                <a:tc>
                  <a:txBody>
                    <a:bodyPr wrap="square"/>
                    <a:lstStyle/>
                    <a:p>
                      <a:pPr algn="l"/>
                      <a:r>
                        <a:rPr sz="1100" b="0" i="0">
                          <a:solidFill>
                            <a:srgbClr val="0070C0"/>
                          </a:solidFill>
                          <a:latin typeface="Calibri"/>
                        </a:rPr>
                        <a:t>10.2.</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10.3.</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10.4.</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10.5.</a:t>
                      </a:r>
                      <a:r>
                        <a:rPr sz="700" b="0" i="0">
                          <a:solidFill>
                            <a:srgbClr val="0070C0"/>
                          </a:solidFill>
                          <a:latin typeface="Times New Roman"/>
                        </a:rPr>
                        <a:t>  </a:t>
                      </a:r>
                      <a:r>
                        <a:rPr sz="1100" b="0" i="0">
                          <a:solidFill>
                            <a:srgbClr val="0070C0"/>
                          </a:solidFill>
                          <a:latin typeface="Calibri"/>
                        </a:rPr>
                        <a:t>Market Share Analysis</a:t>
                      </a:r>
                      <a:endParaRPr sz="1100"/>
                    </a:p>
                  </a:txBody>
                  <a:tcPr marL="428625" marR="9525" marT="9525" marB="0" anchor="ctr"/>
                </a:tc>
              </a:tr>
              <a:tr h="175260">
                <a:tc>
                  <a:txBody>
                    <a:bodyPr wrap="square"/>
                    <a:lstStyle/>
                    <a:p>
                      <a:pPr algn="l"/>
                      <a:r>
                        <a:rPr sz="1100" b="0" i="0">
                          <a:solidFill>
                            <a:srgbClr val="000000"/>
                          </a:solidFill>
                          <a:latin typeface="Calibri"/>
                        </a:rPr>
                        <a:t>10.5.1.</a:t>
                      </a:r>
                      <a:r>
                        <a:rPr sz="700" b="0" i="0">
                          <a:solidFill>
                            <a:srgbClr val="000000"/>
                          </a:solidFill>
                          <a:latin typeface="Times New Roman"/>
                        </a:rPr>
                        <a:t> </a:t>
                      </a:r>
                      <a:r>
                        <a:rPr sz="1100" b="0" i="0">
                          <a:solidFill>
                            <a:srgbClr val="000000"/>
                          </a:solidFill>
                          <a:latin typeface="Calibri"/>
                        </a:rPr>
                        <a:t>North America</a:t>
                      </a:r>
                      <a:endParaRPr sz="1100"/>
                    </a:p>
                  </a:txBody>
                  <a:tcPr marL="771525" marR="9525" marT="9525" marB="0" anchor="ctr"/>
                </a:tc>
              </a:tr>
              <a:tr h="175260">
                <a:tc>
                  <a:txBody>
                    <a:bodyPr wrap="square"/>
                    <a:lstStyle/>
                    <a:p>
                      <a:pPr algn="l"/>
                      <a:r>
                        <a:rPr sz="1100" b="0" i="1">
                          <a:solidFill>
                            <a:srgbClr val="000000"/>
                          </a:solidFill>
                          <a:latin typeface="Calibri"/>
                        </a:rPr>
                        <a:t>10.5.1.1.</a:t>
                      </a:r>
                      <a:r>
                        <a:rPr sz="700" b="0" i="1">
                          <a:solidFill>
                            <a:srgbClr val="000000"/>
                          </a:solidFill>
                          <a:latin typeface="Times New Roman"/>
                        </a:rPr>
                        <a:t> </a:t>
                      </a:r>
                      <a:r>
                        <a:rPr sz="1100" b="0" i="1">
                          <a:solidFill>
                            <a:srgbClr val="000000"/>
                          </a:solidFill>
                          <a:latin typeface="Calibri"/>
                        </a:rPr>
                        <a:t>U.S.</a:t>
                      </a:r>
                      <a:endParaRPr sz="1100"/>
                    </a:p>
                  </a:txBody>
                  <a:tcPr marL="1028700" marR="9525" marT="9525" marB="0" anchor="ctr"/>
                </a:tc>
              </a:tr>
              <a:tr h="175260">
                <a:tc>
                  <a:txBody>
                    <a:bodyPr wrap="square"/>
                    <a:lstStyle/>
                    <a:p>
                      <a:pPr algn="l"/>
                      <a:r>
                        <a:rPr sz="1100" b="0" i="1">
                          <a:solidFill>
                            <a:srgbClr val="000000"/>
                          </a:solidFill>
                          <a:latin typeface="Calibri"/>
                        </a:rPr>
                        <a:t>10.5.1.2.</a:t>
                      </a:r>
                      <a:r>
                        <a:rPr sz="700" b="0" i="1">
                          <a:solidFill>
                            <a:srgbClr val="000000"/>
                          </a:solidFill>
                          <a:latin typeface="Times New Roman"/>
                        </a:rPr>
                        <a:t> </a:t>
                      </a:r>
                      <a:r>
                        <a:rPr sz="1100" b="0" i="1">
                          <a:solidFill>
                            <a:srgbClr val="000000"/>
                          </a:solidFill>
                          <a:latin typeface="Calibri"/>
                        </a:rPr>
                        <a:t>Canada</a:t>
                      </a:r>
                      <a:endParaRPr sz="1100"/>
                    </a:p>
                  </a:txBody>
                  <a:tcPr marL="1028700" marR="9525" marT="9525" marB="0" anchor="ctr"/>
                </a:tc>
              </a:tr>
              <a:tr h="175260">
                <a:tc>
                  <a:txBody>
                    <a:bodyPr wrap="square"/>
                    <a:lstStyle/>
                    <a:p>
                      <a:pPr algn="l"/>
                      <a:r>
                        <a:rPr sz="1100" b="0" i="0">
                          <a:solidFill>
                            <a:srgbClr val="000000"/>
                          </a:solidFill>
                          <a:latin typeface="Calibri"/>
                        </a:rPr>
                        <a:t>10.5.2.</a:t>
                      </a:r>
                      <a:r>
                        <a:rPr sz="700" b="0" i="0">
                          <a:solidFill>
                            <a:srgbClr val="000000"/>
                          </a:solidFill>
                          <a:latin typeface="Times New Roman"/>
                        </a:rPr>
                        <a:t> </a:t>
                      </a:r>
                      <a:r>
                        <a:rPr sz="1100" b="0" i="0">
                          <a:solidFill>
                            <a:srgbClr val="000000"/>
                          </a:solidFill>
                          <a:latin typeface="Calibri"/>
                        </a:rPr>
                        <a:t>Latin America</a:t>
                      </a:r>
                      <a:endParaRPr sz="1100"/>
                    </a:p>
                  </a:txBody>
                  <a:tcPr marL="771525" marR="9525" marT="9525" marB="0" anchor="ctr"/>
                </a:tc>
              </a:tr>
              <a:tr h="175260">
                <a:tc>
                  <a:txBody>
                    <a:bodyPr wrap="square"/>
                    <a:lstStyle/>
                    <a:p>
                      <a:pPr algn="l"/>
                      <a:r>
                        <a:rPr sz="1100" b="0" i="1">
                          <a:solidFill>
                            <a:srgbClr val="000000"/>
                          </a:solidFill>
                          <a:latin typeface="Calibri"/>
                        </a:rPr>
                        <a:t>10.5.2.1.</a:t>
                      </a:r>
                      <a:r>
                        <a:rPr sz="700" b="0" i="1">
                          <a:solidFill>
                            <a:srgbClr val="000000"/>
                          </a:solidFill>
                          <a:latin typeface="Times New Roman"/>
                        </a:rPr>
                        <a:t> </a:t>
                      </a:r>
                      <a:r>
                        <a:rPr sz="1100" b="0" i="1">
                          <a:solidFill>
                            <a:srgbClr val="000000"/>
                          </a:solidFill>
                          <a:latin typeface="Calibri"/>
                        </a:rPr>
                        <a:t>Brazil</a:t>
                      </a:r>
                      <a:endParaRPr sz="1100"/>
                    </a:p>
                  </a:txBody>
                  <a:tcPr marL="1028700" marR="9525" marT="9525" marB="0" anchor="ctr"/>
                </a:tc>
              </a:tr>
              <a:tr h="175260">
                <a:tc>
                  <a:txBody>
                    <a:bodyPr wrap="square"/>
                    <a:lstStyle/>
                    <a:p>
                      <a:pPr algn="l"/>
                      <a:r>
                        <a:rPr sz="1100" b="0" i="1">
                          <a:solidFill>
                            <a:srgbClr val="000000"/>
                          </a:solidFill>
                          <a:latin typeface="Calibri"/>
                        </a:rPr>
                        <a:t>10.5.2.2.</a:t>
                      </a:r>
                      <a:r>
                        <a:rPr sz="700" b="0" i="1">
                          <a:solidFill>
                            <a:srgbClr val="000000"/>
                          </a:solidFill>
                          <a:latin typeface="Times New Roman"/>
                        </a:rPr>
                        <a:t> </a:t>
                      </a:r>
                      <a:r>
                        <a:rPr sz="1100" b="0" i="1">
                          <a:solidFill>
                            <a:srgbClr val="000000"/>
                          </a:solidFill>
                          <a:latin typeface="Calibri"/>
                        </a:rPr>
                        <a:t>Mexico</a:t>
                      </a:r>
                      <a:endParaRPr sz="1100"/>
                    </a:p>
                  </a:txBody>
                  <a:tcPr marL="1028700" marR="9525" marT="9525" marB="0" anchor="ctr"/>
                </a:tc>
              </a:tr>
              <a:tr h="175260">
                <a:tc>
                  <a:txBody>
                    <a:bodyPr wrap="square"/>
                    <a:lstStyle/>
                    <a:p>
                      <a:pPr algn="l"/>
                      <a:r>
                        <a:rPr sz="1100" b="0" i="1">
                          <a:solidFill>
                            <a:srgbClr val="000000"/>
                          </a:solidFill>
                          <a:latin typeface="Calibri"/>
                        </a:rPr>
                        <a:t>10.5.2.3.</a:t>
                      </a:r>
                      <a:r>
                        <a:rPr sz="700" b="0" i="1">
                          <a:solidFill>
                            <a:srgbClr val="000000"/>
                          </a:solidFill>
                          <a:latin typeface="Times New Roman"/>
                        </a:rPr>
                        <a:t> </a:t>
                      </a:r>
                      <a:r>
                        <a:rPr sz="1100" b="0" i="1">
                          <a:solidFill>
                            <a:srgbClr val="000000"/>
                          </a:solidFill>
                          <a:latin typeface="Calibri"/>
                        </a:rPr>
                        <a:t>Rest of LATAM</a:t>
                      </a:r>
                      <a:endParaRPr sz="1100"/>
                    </a:p>
                  </a:txBody>
                  <a:tcPr marL="1028700" marR="9525" marT="9525" marB="0" anchor="ctr"/>
                </a:tc>
              </a:tr>
              <a:tr h="175260">
                <a:tc>
                  <a:txBody>
                    <a:bodyPr wrap="square"/>
                    <a:lstStyle/>
                    <a:p>
                      <a:pPr algn="l"/>
                      <a:r>
                        <a:rPr sz="1100" b="0" i="0">
                          <a:solidFill>
                            <a:srgbClr val="000000"/>
                          </a:solidFill>
                          <a:latin typeface="Calibri"/>
                        </a:rPr>
                        <a:t>10.5.3.</a:t>
                      </a:r>
                      <a:r>
                        <a:rPr sz="700" b="0" i="0">
                          <a:solidFill>
                            <a:srgbClr val="000000"/>
                          </a:solidFill>
                          <a:latin typeface="Times New Roman"/>
                        </a:rPr>
                        <a:t> </a:t>
                      </a:r>
                      <a:r>
                        <a:rPr sz="1100" b="0" i="0">
                          <a:solidFill>
                            <a:srgbClr val="000000"/>
                          </a:solidFill>
                          <a:latin typeface="Calibri"/>
                        </a:rPr>
                        <a:t>East Asia</a:t>
                      </a:r>
                      <a:endParaRPr sz="1100"/>
                    </a:p>
                  </a:txBody>
                  <a:tcPr marL="771525" marR="9525" marT="9525" marB="0" anchor="ctr"/>
                </a:tc>
              </a:tr>
              <a:tr h="175260">
                <a:tc>
                  <a:txBody>
                    <a:bodyPr wrap="square"/>
                    <a:lstStyle/>
                    <a:p>
                      <a:pPr algn="l"/>
                      <a:r>
                        <a:rPr sz="1100" b="0" i="1">
                          <a:solidFill>
                            <a:srgbClr val="000000"/>
                          </a:solidFill>
                          <a:latin typeface="Calibri"/>
                        </a:rPr>
                        <a:t>10.5.3.1.</a:t>
                      </a:r>
                      <a:r>
                        <a:rPr sz="700" b="0" i="1">
                          <a:solidFill>
                            <a:srgbClr val="000000"/>
                          </a:solidFill>
                          <a:latin typeface="Times New Roman"/>
                        </a:rPr>
                        <a:t> </a:t>
                      </a:r>
                      <a:r>
                        <a:rPr sz="1100" b="0" i="1">
                          <a:solidFill>
                            <a:srgbClr val="000000"/>
                          </a:solidFill>
                          <a:latin typeface="Calibri"/>
                        </a:rPr>
                        <a:t>China</a:t>
                      </a:r>
                      <a:endParaRPr sz="1100"/>
                    </a:p>
                  </a:txBody>
                  <a:tcPr marL="1028700" marR="9525" marT="9525" marB="0" anchor="ctr"/>
                </a:tc>
              </a:tr>
              <a:tr h="175260">
                <a:tc>
                  <a:txBody>
                    <a:bodyPr wrap="square"/>
                    <a:lstStyle/>
                    <a:p>
                      <a:pPr algn="l"/>
                      <a:r>
                        <a:rPr sz="1100" b="0" i="1">
                          <a:solidFill>
                            <a:srgbClr val="000000"/>
                          </a:solidFill>
                          <a:latin typeface="Calibri"/>
                        </a:rPr>
                        <a:t>10.5.3.2.</a:t>
                      </a:r>
                      <a:r>
                        <a:rPr sz="700" b="0" i="1">
                          <a:solidFill>
                            <a:srgbClr val="000000"/>
                          </a:solidFill>
                          <a:latin typeface="Times New Roman"/>
                        </a:rPr>
                        <a:t> </a:t>
                      </a:r>
                      <a:r>
                        <a:rPr sz="1100" b="0" i="1">
                          <a:solidFill>
                            <a:srgbClr val="000000"/>
                          </a:solidFill>
                          <a:latin typeface="Calibri"/>
                        </a:rPr>
                        <a:t>Japan</a:t>
                      </a:r>
                      <a:endParaRPr sz="1100"/>
                    </a:p>
                  </a:txBody>
                  <a:tcPr marL="1028700" marR="9525" marT="9525" marB="0" anchor="ctr"/>
                </a:tc>
              </a:tr>
              <a:tr h="175260">
                <a:tc>
                  <a:txBody>
                    <a:bodyPr wrap="square"/>
                    <a:lstStyle/>
                    <a:p>
                      <a:pPr algn="l"/>
                      <a:r>
                        <a:rPr sz="1100" b="0" i="1">
                          <a:solidFill>
                            <a:srgbClr val="000000"/>
                          </a:solidFill>
                          <a:latin typeface="Calibri"/>
                        </a:rPr>
                        <a:t>10.5.3.3.</a:t>
                      </a:r>
                      <a:r>
                        <a:rPr sz="700" b="0" i="1">
                          <a:solidFill>
                            <a:srgbClr val="000000"/>
                          </a:solidFill>
                          <a:latin typeface="Times New Roman"/>
                        </a:rPr>
                        <a:t> </a:t>
                      </a:r>
                      <a:r>
                        <a:rPr sz="1100" b="0" i="1">
                          <a:solidFill>
                            <a:srgbClr val="000000"/>
                          </a:solidFill>
                          <a:latin typeface="Calibri"/>
                        </a:rPr>
                        <a:t>South Korea</a:t>
                      </a:r>
                      <a:endParaRPr sz="1100"/>
                    </a:p>
                  </a:txBody>
                  <a:tcPr marL="1028700" marR="9525" marT="9525" marB="0" anchor="ctr"/>
                </a:tc>
              </a:tr>
              <a:tr h="175260">
                <a:tc>
                  <a:txBody>
                    <a:bodyPr wrap="square"/>
                    <a:lstStyle/>
                    <a:p>
                      <a:pPr algn="l"/>
                      <a:r>
                        <a:rPr sz="1100" b="0" i="0">
                          <a:solidFill>
                            <a:srgbClr val="000000"/>
                          </a:solidFill>
                          <a:latin typeface="Calibri"/>
                        </a:rPr>
                        <a:t>10.5.4.</a:t>
                      </a:r>
                      <a:r>
                        <a:rPr sz="700" b="0" i="0">
                          <a:solidFill>
                            <a:srgbClr val="000000"/>
                          </a:solidFill>
                          <a:latin typeface="Times New Roman"/>
                        </a:rPr>
                        <a:t> </a:t>
                      </a:r>
                      <a:r>
                        <a:rPr sz="1100" b="0" i="0">
                          <a:solidFill>
                            <a:srgbClr val="000000"/>
                          </a:solidFill>
                          <a:latin typeface="Calibri"/>
                        </a:rPr>
                        <a:t>South Asia &amp; Pacific</a:t>
                      </a:r>
                      <a:endParaRPr sz="1100"/>
                    </a:p>
                  </a:txBody>
                  <a:tcPr marL="771525" marR="9525" marT="9525" marB="0" anchor="ctr"/>
                </a:tc>
              </a:tr>
              <a:tr h="175260">
                <a:tc>
                  <a:txBody>
                    <a:bodyPr wrap="square"/>
                    <a:lstStyle/>
                    <a:p>
                      <a:pPr algn="l"/>
                      <a:r>
                        <a:rPr sz="1100" b="0" i="1">
                          <a:solidFill>
                            <a:srgbClr val="000000"/>
                          </a:solidFill>
                          <a:latin typeface="Calibri"/>
                        </a:rPr>
                        <a:t>10.5.4.1.</a:t>
                      </a:r>
                      <a:r>
                        <a:rPr sz="700" b="0" i="1">
                          <a:solidFill>
                            <a:srgbClr val="000000"/>
                          </a:solidFill>
                          <a:latin typeface="Times New Roman"/>
                        </a:rPr>
                        <a:t> </a:t>
                      </a:r>
                      <a:r>
                        <a:rPr sz="1100" b="0" i="1">
                          <a:solidFill>
                            <a:srgbClr val="000000"/>
                          </a:solidFill>
                          <a:latin typeface="Calibri"/>
                        </a:rPr>
                        <a:t>India</a:t>
                      </a:r>
                      <a:endParaRPr sz="1100"/>
                    </a:p>
                  </a:txBody>
                  <a:tcPr marL="1028700" marR="9525" marT="9525" marB="0" anchor="ctr"/>
                </a:tc>
              </a:tr>
              <a:tr h="175260">
                <a:tc>
                  <a:txBody>
                    <a:bodyPr wrap="square"/>
                    <a:lstStyle/>
                    <a:p>
                      <a:pPr algn="l"/>
                      <a:r>
                        <a:rPr sz="1100" b="0" i="1">
                          <a:solidFill>
                            <a:srgbClr val="000000"/>
                          </a:solidFill>
                          <a:latin typeface="Calibri"/>
                        </a:rPr>
                        <a:t>10.5.4.2.</a:t>
                      </a:r>
                      <a:r>
                        <a:rPr sz="700" b="0" i="1">
                          <a:solidFill>
                            <a:srgbClr val="000000"/>
                          </a:solidFill>
                          <a:latin typeface="Times New Roman"/>
                        </a:rPr>
                        <a:t> </a:t>
                      </a:r>
                      <a:r>
                        <a:rPr sz="1100" b="0" i="1">
                          <a:solidFill>
                            <a:srgbClr val="000000"/>
                          </a:solidFill>
                          <a:latin typeface="Calibri"/>
                        </a:rPr>
                        <a:t>Thailand</a:t>
                      </a:r>
                      <a:endParaRPr sz="1100"/>
                    </a:p>
                  </a:txBody>
                  <a:tcPr marL="1028700" marR="9525" marT="9525" marB="0" anchor="ctr"/>
                </a:tc>
              </a:tr>
              <a:tr h="175260">
                <a:tc>
                  <a:txBody>
                    <a:bodyPr wrap="square"/>
                    <a:lstStyle/>
                    <a:p>
                      <a:pPr algn="l"/>
                      <a:r>
                        <a:rPr sz="1100" b="0" i="1">
                          <a:solidFill>
                            <a:srgbClr val="000000"/>
                          </a:solidFill>
                          <a:latin typeface="Calibri"/>
                        </a:rPr>
                        <a:t>10.5.4.3.</a:t>
                      </a:r>
                      <a:r>
                        <a:rPr sz="700" b="0" i="1">
                          <a:solidFill>
                            <a:srgbClr val="000000"/>
                          </a:solidFill>
                          <a:latin typeface="Times New Roman"/>
                        </a:rPr>
                        <a:t> </a:t>
                      </a:r>
                      <a:r>
                        <a:rPr sz="1100" b="0" i="1">
                          <a:solidFill>
                            <a:srgbClr val="000000"/>
                          </a:solidFill>
                          <a:latin typeface="Calibri"/>
                        </a:rPr>
                        <a:t>Malaysia</a:t>
                      </a:r>
                      <a:endParaRPr sz="1100"/>
                    </a:p>
                  </a:txBody>
                  <a:tcPr marL="1028700" marR="9525" marT="9525" marB="0" anchor="ctr"/>
                </a:tc>
              </a:tr>
              <a:tr h="175260">
                <a:tc>
                  <a:txBody>
                    <a:bodyPr wrap="square"/>
                    <a:lstStyle/>
                    <a:p>
                      <a:pPr algn="l"/>
                      <a:r>
                        <a:rPr sz="1100" b="0" i="1">
                          <a:solidFill>
                            <a:srgbClr val="000000"/>
                          </a:solidFill>
                          <a:latin typeface="Calibri"/>
                        </a:rPr>
                        <a:t>10.5.4.4.</a:t>
                      </a:r>
                      <a:r>
                        <a:rPr sz="700" b="0" i="1">
                          <a:solidFill>
                            <a:srgbClr val="000000"/>
                          </a:solidFill>
                          <a:latin typeface="Times New Roman"/>
                        </a:rPr>
                        <a:t> </a:t>
                      </a:r>
                      <a:r>
                        <a:rPr sz="1100" b="0" i="1">
                          <a:solidFill>
                            <a:srgbClr val="000000"/>
                          </a:solidFill>
                          <a:latin typeface="Calibri"/>
                        </a:rPr>
                        <a:t>Indonesia</a:t>
                      </a:r>
                      <a:endParaRPr sz="1100"/>
                    </a:p>
                  </a:txBody>
                  <a:tcPr marL="1028700" marR="9525" marT="9525" marB="0" anchor="ctr"/>
                </a:tc>
              </a:tr>
              <a:tr h="175260">
                <a:tc>
                  <a:txBody>
                    <a:bodyPr wrap="square"/>
                    <a:lstStyle/>
                    <a:p>
                      <a:pPr algn="l"/>
                      <a:r>
                        <a:rPr sz="1100" b="0" i="1">
                          <a:solidFill>
                            <a:srgbClr val="000000"/>
                          </a:solidFill>
                          <a:latin typeface="Calibri"/>
                        </a:rPr>
                        <a:t>10.5.4.5.</a:t>
                      </a:r>
                      <a:r>
                        <a:rPr sz="700" b="0" i="1">
                          <a:solidFill>
                            <a:srgbClr val="000000"/>
                          </a:solidFill>
                          <a:latin typeface="Times New Roman"/>
                        </a:rPr>
                        <a:t> </a:t>
                      </a:r>
                      <a:r>
                        <a:rPr sz="1100" b="0" i="1">
                          <a:solidFill>
                            <a:srgbClr val="000000"/>
                          </a:solidFill>
                          <a:latin typeface="Calibri"/>
                        </a:rPr>
                        <a:t>Philippines</a:t>
                      </a:r>
                      <a:endParaRPr sz="1100"/>
                    </a:p>
                  </a:txBody>
                  <a:tcPr marL="1028700" marR="9525" marT="9525" marB="0" anchor="ctr"/>
                </a:tc>
              </a:tr>
              <a:tr h="175260">
                <a:tc>
                  <a:txBody>
                    <a:bodyPr wrap="square"/>
                    <a:lstStyle/>
                    <a:p>
                      <a:pPr algn="l"/>
                      <a:r>
                        <a:rPr sz="1100" b="0" i="1">
                          <a:solidFill>
                            <a:srgbClr val="000000"/>
                          </a:solidFill>
                          <a:latin typeface="Calibri"/>
                        </a:rPr>
                        <a:t>10.5.4.6.</a:t>
                      </a:r>
                      <a:r>
                        <a:rPr sz="700" b="0" i="1">
                          <a:solidFill>
                            <a:srgbClr val="000000"/>
                          </a:solidFill>
                          <a:latin typeface="Times New Roman"/>
                        </a:rPr>
                        <a:t> </a:t>
                      </a:r>
                      <a:r>
                        <a:rPr sz="1100" b="0" i="1">
                          <a:solidFill>
                            <a:srgbClr val="000000"/>
                          </a:solidFill>
                          <a:latin typeface="Calibri"/>
                        </a:rPr>
                        <a:t>Singapore</a:t>
                      </a:r>
                      <a:endParaRPr sz="1100"/>
                    </a:p>
                  </a:txBody>
                  <a:tcPr marL="1028700" marR="9525" marT="9525" marB="0" anchor="ctr"/>
                </a:tc>
              </a:tr>
              <a:tr h="175260">
                <a:tc>
                  <a:txBody>
                    <a:bodyPr wrap="square"/>
                    <a:lstStyle/>
                    <a:p>
                      <a:pPr algn="l"/>
                      <a:r>
                        <a:rPr sz="1100" b="0" i="1">
                          <a:solidFill>
                            <a:srgbClr val="000000"/>
                          </a:solidFill>
                          <a:latin typeface="Calibri"/>
                        </a:rPr>
                        <a:t>10.5.4.7.</a:t>
                      </a:r>
                      <a:r>
                        <a:rPr sz="700" b="0" i="1">
                          <a:solidFill>
                            <a:srgbClr val="000000"/>
                          </a:solidFill>
                          <a:latin typeface="Times New Roman"/>
                        </a:rPr>
                        <a:t> </a:t>
                      </a:r>
                      <a:r>
                        <a:rPr sz="1100" b="0" i="1">
                          <a:solidFill>
                            <a:srgbClr val="000000"/>
                          </a:solidFill>
                          <a:latin typeface="Calibri"/>
                        </a:rPr>
                        <a:t>Australia</a:t>
                      </a:r>
                      <a:endParaRPr sz="1100"/>
                    </a:p>
                  </a:txBody>
                  <a:tcPr marL="1028700" marR="9525" marT="9525" marB="0" anchor="ctr"/>
                </a:tc>
              </a:tr>
              <a:tr h="175260">
                <a:tc>
                  <a:txBody>
                    <a:bodyPr wrap="square"/>
                    <a:lstStyle/>
                    <a:p>
                      <a:pPr algn="l"/>
                      <a:r>
                        <a:rPr sz="1100" b="0" i="1">
                          <a:solidFill>
                            <a:srgbClr val="000000"/>
                          </a:solidFill>
                          <a:latin typeface="Calibri"/>
                        </a:rPr>
                        <a:t>10.5.4.8.</a:t>
                      </a:r>
                      <a:r>
                        <a:rPr sz="700" b="0" i="1">
                          <a:solidFill>
                            <a:srgbClr val="000000"/>
                          </a:solidFill>
                          <a:latin typeface="Times New Roman"/>
                        </a:rPr>
                        <a:t> </a:t>
                      </a:r>
                      <a:r>
                        <a:rPr sz="1100" b="0" i="1">
                          <a:solidFill>
                            <a:srgbClr val="000000"/>
                          </a:solidFill>
                          <a:latin typeface="Calibri"/>
                        </a:rPr>
                        <a:t>New Zealand</a:t>
                      </a:r>
                      <a:endParaRPr sz="1100"/>
                    </a:p>
                  </a:txBody>
                  <a:tcPr marL="1028700" marR="9525" marT="9525" marB="0" anchor="ctr"/>
                </a:tc>
              </a:tr>
              <a:tr h="175260">
                <a:tc>
                  <a:txBody>
                    <a:bodyPr wrap="square"/>
                    <a:lstStyle/>
                    <a:p>
                      <a:pPr algn="l"/>
                      <a:r>
                        <a:rPr sz="1100" b="0" i="1">
                          <a:solidFill>
                            <a:srgbClr val="000000"/>
                          </a:solidFill>
                          <a:latin typeface="Calibri"/>
                        </a:rPr>
                        <a:t>10.5.4.9.</a:t>
                      </a:r>
                      <a:r>
                        <a:rPr sz="700" b="0" i="1">
                          <a:solidFill>
                            <a:srgbClr val="000000"/>
                          </a:solidFill>
                          <a:latin typeface="Times New Roman"/>
                        </a:rPr>
                        <a:t> </a:t>
                      </a:r>
                      <a:r>
                        <a:rPr sz="1100" b="0" i="1">
                          <a:solidFill>
                            <a:srgbClr val="000000"/>
                          </a:solidFill>
                          <a:latin typeface="Calibri"/>
                        </a:rPr>
                        <a:t>Rest of South East Asia</a:t>
                      </a:r>
                      <a:endParaRPr sz="1100"/>
                    </a:p>
                  </a:txBody>
                  <a:tcPr marL="102870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10.5.5.</a:t>
                      </a:r>
                      <a:r>
                        <a:rPr sz="700" b="0" i="0">
                          <a:solidFill>
                            <a:srgbClr val="000000"/>
                          </a:solidFill>
                          <a:latin typeface="Times New Roman"/>
                        </a:rPr>
                        <a:t> </a:t>
                      </a:r>
                      <a:r>
                        <a:rPr sz="1100" b="0" i="0">
                          <a:solidFill>
                            <a:srgbClr val="000000"/>
                          </a:solidFill>
                          <a:latin typeface="Calibri"/>
                        </a:rPr>
                        <a:t>Europe</a:t>
                      </a:r>
                      <a:endParaRPr sz="1100"/>
                    </a:p>
                  </a:txBody>
                  <a:tcPr marL="771525" marR="9525" marT="9525" marB="0" anchor="ctr"/>
                </a:tc>
              </a:tr>
              <a:tr h="175260">
                <a:tc>
                  <a:txBody>
                    <a:bodyPr wrap="square"/>
                    <a:lstStyle/>
                    <a:p>
                      <a:pPr algn="l"/>
                      <a:r>
                        <a:rPr sz="1100" b="0" i="1">
                          <a:solidFill>
                            <a:srgbClr val="000000"/>
                          </a:solidFill>
                          <a:latin typeface="Calibri"/>
                        </a:rPr>
                        <a:t>10.5.5.1.</a:t>
                      </a:r>
                      <a:r>
                        <a:rPr sz="700" b="0" i="1">
                          <a:solidFill>
                            <a:srgbClr val="000000"/>
                          </a:solidFill>
                          <a:latin typeface="Times New Roman"/>
                        </a:rPr>
                        <a:t> </a:t>
                      </a:r>
                      <a:r>
                        <a:rPr sz="1100" b="0" i="1">
                          <a:solidFill>
                            <a:srgbClr val="000000"/>
                          </a:solidFill>
                          <a:latin typeface="Calibri"/>
                        </a:rPr>
                        <a:t>Germany</a:t>
                      </a:r>
                      <a:endParaRPr sz="1100"/>
                    </a:p>
                  </a:txBody>
                  <a:tcPr marL="1028700" marR="9525" marT="9525" marB="0" anchor="ctr"/>
                </a:tc>
              </a:tr>
              <a:tr h="175260">
                <a:tc>
                  <a:txBody>
                    <a:bodyPr wrap="square"/>
                    <a:lstStyle/>
                    <a:p>
                      <a:pPr algn="l"/>
                      <a:r>
                        <a:rPr sz="1100" b="0" i="1">
                          <a:solidFill>
                            <a:srgbClr val="000000"/>
                          </a:solidFill>
                          <a:latin typeface="Calibri"/>
                        </a:rPr>
                        <a:t>10.5.5.2.</a:t>
                      </a:r>
                      <a:r>
                        <a:rPr sz="700" b="0" i="1">
                          <a:solidFill>
                            <a:srgbClr val="000000"/>
                          </a:solidFill>
                          <a:latin typeface="Times New Roman"/>
                        </a:rPr>
                        <a:t> </a:t>
                      </a:r>
                      <a:r>
                        <a:rPr sz="1100" b="0" i="1">
                          <a:solidFill>
                            <a:srgbClr val="000000"/>
                          </a:solidFill>
                          <a:latin typeface="Calibri"/>
                        </a:rPr>
                        <a:t>U.K.</a:t>
                      </a:r>
                      <a:endParaRPr sz="1100"/>
                    </a:p>
                  </a:txBody>
                  <a:tcPr marL="1028700" marR="9525" marT="9525" marB="0" anchor="ctr"/>
                </a:tc>
              </a:tr>
              <a:tr h="175260">
                <a:tc>
                  <a:txBody>
                    <a:bodyPr wrap="square"/>
                    <a:lstStyle/>
                    <a:p>
                      <a:pPr algn="l"/>
                      <a:r>
                        <a:rPr sz="1100" b="0" i="1">
                          <a:solidFill>
                            <a:srgbClr val="000000"/>
                          </a:solidFill>
                          <a:latin typeface="Calibri"/>
                        </a:rPr>
                        <a:t>10.5.5.3.</a:t>
                      </a:r>
                      <a:r>
                        <a:rPr sz="700" b="0" i="1">
                          <a:solidFill>
                            <a:srgbClr val="000000"/>
                          </a:solidFill>
                          <a:latin typeface="Times New Roman"/>
                        </a:rPr>
                        <a:t> </a:t>
                      </a:r>
                      <a:r>
                        <a:rPr sz="1100" b="0" i="1">
                          <a:solidFill>
                            <a:srgbClr val="000000"/>
                          </a:solidFill>
                          <a:latin typeface="Calibri"/>
                        </a:rPr>
                        <a:t>France</a:t>
                      </a:r>
                      <a:endParaRPr sz="1100"/>
                    </a:p>
                  </a:txBody>
                  <a:tcPr marL="1028700" marR="9525" marT="9525" marB="0" anchor="ctr"/>
                </a:tc>
              </a:tr>
              <a:tr h="175260">
                <a:tc>
                  <a:txBody>
                    <a:bodyPr wrap="square"/>
                    <a:lstStyle/>
                    <a:p>
                      <a:pPr algn="l"/>
                      <a:r>
                        <a:rPr sz="1100" b="0" i="1">
                          <a:solidFill>
                            <a:srgbClr val="000000"/>
                          </a:solidFill>
                          <a:latin typeface="Calibri"/>
                        </a:rPr>
                        <a:t>10.5.5.4.</a:t>
                      </a:r>
                      <a:r>
                        <a:rPr sz="700" b="0" i="1">
                          <a:solidFill>
                            <a:srgbClr val="000000"/>
                          </a:solidFill>
                          <a:latin typeface="Times New Roman"/>
                        </a:rPr>
                        <a:t> </a:t>
                      </a:r>
                      <a:r>
                        <a:rPr sz="1100" b="0" i="1">
                          <a:solidFill>
                            <a:srgbClr val="000000"/>
                          </a:solidFill>
                          <a:latin typeface="Calibri"/>
                        </a:rPr>
                        <a:t>Italy</a:t>
                      </a:r>
                      <a:endParaRPr sz="1100"/>
                    </a:p>
                  </a:txBody>
                  <a:tcPr marL="1028700" marR="9525" marT="9525" marB="0" anchor="ctr"/>
                </a:tc>
              </a:tr>
              <a:tr h="175260">
                <a:tc>
                  <a:txBody>
                    <a:bodyPr wrap="square"/>
                    <a:lstStyle/>
                    <a:p>
                      <a:pPr algn="l"/>
                      <a:r>
                        <a:rPr sz="1100" b="0" i="1">
                          <a:solidFill>
                            <a:srgbClr val="000000"/>
                          </a:solidFill>
                          <a:latin typeface="Calibri"/>
                        </a:rPr>
                        <a:t>10.5.5.5.</a:t>
                      </a:r>
                      <a:r>
                        <a:rPr sz="700" b="0" i="1">
                          <a:solidFill>
                            <a:srgbClr val="000000"/>
                          </a:solidFill>
                          <a:latin typeface="Times New Roman"/>
                        </a:rPr>
                        <a:t> </a:t>
                      </a:r>
                      <a:r>
                        <a:rPr sz="1100" b="0" i="1">
                          <a:solidFill>
                            <a:srgbClr val="000000"/>
                          </a:solidFill>
                          <a:latin typeface="Calibri"/>
                        </a:rPr>
                        <a:t>Spain</a:t>
                      </a:r>
                      <a:endParaRPr sz="1100"/>
                    </a:p>
                  </a:txBody>
                  <a:tcPr marL="1028700" marR="9525" marT="9525" marB="0" anchor="ctr"/>
                </a:tc>
              </a:tr>
              <a:tr h="175260">
                <a:tc>
                  <a:txBody>
                    <a:bodyPr wrap="square"/>
                    <a:lstStyle/>
                    <a:p>
                      <a:pPr algn="l"/>
                      <a:r>
                        <a:rPr sz="1100" b="0" i="1">
                          <a:solidFill>
                            <a:srgbClr val="000000"/>
                          </a:solidFill>
                          <a:latin typeface="Calibri"/>
                        </a:rPr>
                        <a:t>10.5.5.6.</a:t>
                      </a:r>
                      <a:r>
                        <a:rPr sz="700" b="0" i="1">
                          <a:solidFill>
                            <a:srgbClr val="000000"/>
                          </a:solidFill>
                          <a:latin typeface="Times New Roman"/>
                        </a:rPr>
                        <a:t> </a:t>
                      </a:r>
                      <a:r>
                        <a:rPr sz="1100" b="0" i="1">
                          <a:solidFill>
                            <a:srgbClr val="000000"/>
                          </a:solidFill>
                          <a:latin typeface="Calibri"/>
                        </a:rPr>
                        <a:t>Belgium</a:t>
                      </a:r>
                      <a:endParaRPr sz="1100"/>
                    </a:p>
                  </a:txBody>
                  <a:tcPr marL="1028700" marR="9525" marT="9525" marB="0" anchor="ctr"/>
                </a:tc>
              </a:tr>
              <a:tr h="175260">
                <a:tc>
                  <a:txBody>
                    <a:bodyPr wrap="square"/>
                    <a:lstStyle/>
                    <a:p>
                      <a:pPr algn="l"/>
                      <a:r>
                        <a:rPr sz="1100" b="0" i="1">
                          <a:solidFill>
                            <a:srgbClr val="000000"/>
                          </a:solidFill>
                          <a:latin typeface="Calibri"/>
                        </a:rPr>
                        <a:t>10.5.5.7.</a:t>
                      </a:r>
                      <a:r>
                        <a:rPr sz="700" b="0" i="1">
                          <a:solidFill>
                            <a:srgbClr val="000000"/>
                          </a:solidFill>
                          <a:latin typeface="Times New Roman"/>
                        </a:rPr>
                        <a:t> </a:t>
                      </a:r>
                      <a:r>
                        <a:rPr sz="1100" b="0" i="1">
                          <a:solidFill>
                            <a:srgbClr val="000000"/>
                          </a:solidFill>
                          <a:latin typeface="Calibri"/>
                        </a:rPr>
                        <a:t>Netherlands</a:t>
                      </a:r>
                      <a:endParaRPr sz="1100"/>
                    </a:p>
                  </a:txBody>
                  <a:tcPr marL="1028700" marR="9525" marT="9525" marB="0" anchor="ctr"/>
                </a:tc>
              </a:tr>
              <a:tr h="175260">
                <a:tc>
                  <a:txBody>
                    <a:bodyPr wrap="square"/>
                    <a:lstStyle/>
                    <a:p>
                      <a:pPr algn="l"/>
                      <a:r>
                        <a:rPr sz="1100" b="0" i="1">
                          <a:solidFill>
                            <a:srgbClr val="000000"/>
                          </a:solidFill>
                          <a:latin typeface="Calibri"/>
                        </a:rPr>
                        <a:t>10.5.5.8.</a:t>
                      </a:r>
                      <a:r>
                        <a:rPr sz="700" b="0" i="1">
                          <a:solidFill>
                            <a:srgbClr val="000000"/>
                          </a:solidFill>
                          <a:latin typeface="Times New Roman"/>
                        </a:rPr>
                        <a:t> </a:t>
                      </a:r>
                      <a:r>
                        <a:rPr sz="1100" b="0" i="1">
                          <a:solidFill>
                            <a:srgbClr val="000000"/>
                          </a:solidFill>
                          <a:latin typeface="Calibri"/>
                        </a:rPr>
                        <a:t>Nordic</a:t>
                      </a:r>
                      <a:endParaRPr sz="1100"/>
                    </a:p>
                  </a:txBody>
                  <a:tcPr marL="1028700" marR="9525" marT="9525" marB="0" anchor="ctr"/>
                </a:tc>
              </a:tr>
              <a:tr h="175260">
                <a:tc>
                  <a:txBody>
                    <a:bodyPr wrap="square"/>
                    <a:lstStyle/>
                    <a:p>
                      <a:pPr algn="l"/>
                      <a:r>
                        <a:rPr sz="1100" b="0" i="1">
                          <a:solidFill>
                            <a:srgbClr val="000000"/>
                          </a:solidFill>
                          <a:latin typeface="Calibri"/>
                        </a:rPr>
                        <a:t>10.5.5.9.</a:t>
                      </a:r>
                      <a:r>
                        <a:rPr sz="700" b="0" i="1">
                          <a:solidFill>
                            <a:srgbClr val="000000"/>
                          </a:solidFill>
                          <a:latin typeface="Times New Roman"/>
                        </a:rPr>
                        <a:t> </a:t>
                      </a:r>
                      <a:r>
                        <a:rPr sz="1100" b="0" i="1">
                          <a:solidFill>
                            <a:srgbClr val="000000"/>
                          </a:solidFill>
                          <a:latin typeface="Calibri"/>
                        </a:rPr>
                        <a:t>Russia</a:t>
                      </a:r>
                      <a:endParaRPr sz="1100"/>
                    </a:p>
                  </a:txBody>
                  <a:tcPr marL="1028700" marR="9525" marT="9525" marB="0" anchor="ctr"/>
                </a:tc>
              </a:tr>
              <a:tr h="175260">
                <a:tc>
                  <a:txBody>
                    <a:bodyPr wrap="square"/>
                    <a:lstStyle/>
                    <a:p>
                      <a:pPr algn="l"/>
                      <a:r>
                        <a:rPr sz="1100" b="0" i="1">
                          <a:solidFill>
                            <a:srgbClr val="000000"/>
                          </a:solidFill>
                          <a:latin typeface="Calibri"/>
                        </a:rPr>
                        <a:t>10.5.5.10.</a:t>
                      </a:r>
                      <a:r>
                        <a:rPr sz="700" b="0" i="1">
                          <a:solidFill>
                            <a:srgbClr val="000000"/>
                          </a:solidFill>
                          <a:latin typeface="Times New Roman"/>
                        </a:rPr>
                        <a:t> </a:t>
                      </a:r>
                      <a:r>
                        <a:rPr sz="1100" b="0" i="1">
                          <a:solidFill>
                            <a:srgbClr val="000000"/>
                          </a:solidFill>
                          <a:latin typeface="Calibri"/>
                        </a:rPr>
                        <a:t>Poland</a:t>
                      </a:r>
                      <a:endParaRPr sz="1100"/>
                    </a:p>
                  </a:txBody>
                  <a:tcPr marL="1028700" marR="9525" marT="9525" marB="0" anchor="ctr"/>
                </a:tc>
              </a:tr>
              <a:tr h="175260">
                <a:tc>
                  <a:txBody>
                    <a:bodyPr wrap="square"/>
                    <a:lstStyle/>
                    <a:p>
                      <a:pPr algn="l"/>
                      <a:r>
                        <a:rPr sz="1100" b="0" i="1">
                          <a:solidFill>
                            <a:srgbClr val="000000"/>
                          </a:solidFill>
                          <a:latin typeface="Calibri"/>
                        </a:rPr>
                        <a:t>10.5.5.11.</a:t>
                      </a:r>
                      <a:r>
                        <a:rPr sz="700" b="0" i="1">
                          <a:solidFill>
                            <a:srgbClr val="000000"/>
                          </a:solidFill>
                          <a:latin typeface="Times New Roman"/>
                        </a:rPr>
                        <a:t> </a:t>
                      </a:r>
                      <a:r>
                        <a:rPr sz="1100" b="0" i="1">
                          <a:solidFill>
                            <a:srgbClr val="000000"/>
                          </a:solidFill>
                          <a:latin typeface="Calibri"/>
                        </a:rPr>
                        <a:t>Switzerland</a:t>
                      </a:r>
                      <a:endParaRPr sz="1100"/>
                    </a:p>
                  </a:txBody>
                  <a:tcPr marL="1028700" marR="9525" marT="9525" marB="0" anchor="ctr"/>
                </a:tc>
              </a:tr>
              <a:tr h="175260">
                <a:tc>
                  <a:txBody>
                    <a:bodyPr wrap="square"/>
                    <a:lstStyle/>
                    <a:p>
                      <a:pPr algn="l"/>
                      <a:r>
                        <a:rPr sz="1100" b="0" i="1">
                          <a:solidFill>
                            <a:srgbClr val="000000"/>
                          </a:solidFill>
                          <a:latin typeface="Calibri"/>
                        </a:rPr>
                        <a:t>10.5.5.12.</a:t>
                      </a:r>
                      <a:r>
                        <a:rPr sz="700" b="0" i="1">
                          <a:solidFill>
                            <a:srgbClr val="000000"/>
                          </a:solidFill>
                          <a:latin typeface="Times New Roman"/>
                        </a:rPr>
                        <a:t> </a:t>
                      </a:r>
                      <a:r>
                        <a:rPr sz="1100" b="0" i="1">
                          <a:solidFill>
                            <a:srgbClr val="000000"/>
                          </a:solidFill>
                          <a:latin typeface="Calibri"/>
                        </a:rPr>
                        <a:t>Rest of Europe</a:t>
                      </a:r>
                      <a:endParaRPr sz="1100"/>
                    </a:p>
                  </a:txBody>
                  <a:tcPr marL="1028700" marR="9525" marT="9525" marB="0" anchor="ctr"/>
                </a:tc>
              </a:tr>
              <a:tr h="175260">
                <a:tc>
                  <a:txBody>
                    <a:bodyPr wrap="square"/>
                    <a:lstStyle/>
                    <a:p>
                      <a:pPr algn="l"/>
                      <a:r>
                        <a:rPr sz="1100" b="0" i="0">
                          <a:solidFill>
                            <a:srgbClr val="000000"/>
                          </a:solidFill>
                          <a:latin typeface="Calibri"/>
                        </a:rPr>
                        <a:t>10.5.6.</a:t>
                      </a:r>
                      <a:r>
                        <a:rPr sz="700" b="0" i="0">
                          <a:solidFill>
                            <a:srgbClr val="000000"/>
                          </a:solidFill>
                          <a:latin typeface="Times New Roman"/>
                        </a:rPr>
                        <a:t> </a:t>
                      </a:r>
                      <a:r>
                        <a:rPr sz="1100" b="0" i="0">
                          <a:solidFill>
                            <a:srgbClr val="000000"/>
                          </a:solidFill>
                          <a:latin typeface="Calibri"/>
                        </a:rPr>
                        <a:t>Middle East &amp; Africa</a:t>
                      </a:r>
                      <a:endParaRPr sz="1100"/>
                    </a:p>
                  </a:txBody>
                  <a:tcPr marL="771525" marR="9525" marT="9525" marB="0" anchor="ctr"/>
                </a:tc>
              </a:tr>
              <a:tr h="175260">
                <a:tc>
                  <a:txBody>
                    <a:bodyPr wrap="square"/>
                    <a:lstStyle/>
                    <a:p>
                      <a:pPr algn="l"/>
                      <a:r>
                        <a:rPr sz="1100" b="0" i="1">
                          <a:solidFill>
                            <a:srgbClr val="000000"/>
                          </a:solidFill>
                          <a:latin typeface="Calibri"/>
                        </a:rPr>
                        <a:t>10.5.6.1.</a:t>
                      </a:r>
                      <a:r>
                        <a:rPr sz="700" b="0" i="1">
                          <a:solidFill>
                            <a:srgbClr val="000000"/>
                          </a:solidFill>
                          <a:latin typeface="Times New Roman"/>
                        </a:rPr>
                        <a:t> </a:t>
                      </a:r>
                      <a:r>
                        <a:rPr sz="1100" b="0" i="1">
                          <a:solidFill>
                            <a:srgbClr val="000000"/>
                          </a:solidFill>
                          <a:latin typeface="Calibri"/>
                        </a:rPr>
                        <a:t>UAE</a:t>
                      </a:r>
                      <a:endParaRPr sz="1100"/>
                    </a:p>
                  </a:txBody>
                  <a:tcPr marL="1028700" marR="9525" marT="9525" marB="0" anchor="ctr"/>
                </a:tc>
              </a:tr>
              <a:tr h="175260">
                <a:tc>
                  <a:txBody>
                    <a:bodyPr wrap="square"/>
                    <a:lstStyle/>
                    <a:p>
                      <a:pPr algn="l"/>
                      <a:r>
                        <a:rPr sz="1100" b="0" i="1">
                          <a:solidFill>
                            <a:srgbClr val="000000"/>
                          </a:solidFill>
                          <a:latin typeface="Calibri"/>
                        </a:rPr>
                        <a:t>10.5.6.2.</a:t>
                      </a:r>
                      <a:r>
                        <a:rPr sz="700" b="0" i="1">
                          <a:solidFill>
                            <a:srgbClr val="000000"/>
                          </a:solidFill>
                          <a:latin typeface="Times New Roman"/>
                        </a:rPr>
                        <a:t> </a:t>
                      </a:r>
                      <a:r>
                        <a:rPr sz="1100" b="0" i="1">
                          <a:solidFill>
                            <a:srgbClr val="000000"/>
                          </a:solidFill>
                          <a:latin typeface="Calibri"/>
                        </a:rPr>
                        <a:t>Saudi Arabia</a:t>
                      </a:r>
                      <a:endParaRPr sz="1100"/>
                    </a:p>
                  </a:txBody>
                  <a:tcPr marL="1028700" marR="9525" marT="9525" marB="0" anchor="ctr"/>
                </a:tc>
              </a:tr>
              <a:tr h="175260">
                <a:tc>
                  <a:txBody>
                    <a:bodyPr wrap="square"/>
                    <a:lstStyle/>
                    <a:p>
                      <a:pPr algn="l"/>
                      <a:r>
                        <a:rPr sz="1100" b="0" i="1">
                          <a:solidFill>
                            <a:srgbClr val="000000"/>
                          </a:solidFill>
                          <a:latin typeface="Calibri"/>
                        </a:rPr>
                        <a:t>10.5.6.3.</a:t>
                      </a:r>
                      <a:r>
                        <a:rPr sz="700" b="0" i="1">
                          <a:solidFill>
                            <a:srgbClr val="000000"/>
                          </a:solidFill>
                          <a:latin typeface="Times New Roman"/>
                        </a:rPr>
                        <a:t> </a:t>
                      </a:r>
                      <a:r>
                        <a:rPr sz="1100" b="0" i="1">
                          <a:solidFill>
                            <a:srgbClr val="000000"/>
                          </a:solidFill>
                          <a:latin typeface="Calibri"/>
                        </a:rPr>
                        <a:t>Turkey</a:t>
                      </a:r>
                      <a:endParaRPr sz="1100"/>
                    </a:p>
                  </a:txBody>
                  <a:tcPr marL="1028700" marR="9525" marT="9525" marB="0" anchor="ctr"/>
                </a:tc>
              </a:tr>
              <a:tr h="175260">
                <a:tc>
                  <a:txBody>
                    <a:bodyPr wrap="square"/>
                    <a:lstStyle/>
                    <a:p>
                      <a:pPr algn="l"/>
                      <a:r>
                        <a:rPr sz="1100" b="0" i="1">
                          <a:solidFill>
                            <a:srgbClr val="000000"/>
                          </a:solidFill>
                          <a:latin typeface="Calibri"/>
                        </a:rPr>
                        <a:t>10.5.6.4.</a:t>
                      </a:r>
                      <a:r>
                        <a:rPr sz="700" b="0" i="1">
                          <a:solidFill>
                            <a:srgbClr val="000000"/>
                          </a:solidFill>
                          <a:latin typeface="Times New Roman"/>
                        </a:rPr>
                        <a:t> </a:t>
                      </a:r>
                      <a:r>
                        <a:rPr sz="1100" b="0" i="1">
                          <a:solidFill>
                            <a:srgbClr val="000000"/>
                          </a:solidFill>
                          <a:latin typeface="Calibri"/>
                        </a:rPr>
                        <a:t>Israel</a:t>
                      </a:r>
                      <a:endParaRPr sz="1100"/>
                    </a:p>
                  </a:txBody>
                  <a:tcPr marL="1028700" marR="9525" marT="9525" marB="0" anchor="ctr"/>
                </a:tc>
              </a:tr>
              <a:tr h="175260">
                <a:tc>
                  <a:txBody>
                    <a:bodyPr wrap="square"/>
                    <a:lstStyle/>
                    <a:p>
                      <a:pPr algn="l"/>
                      <a:r>
                        <a:rPr sz="1100" b="0" i="1">
                          <a:solidFill>
                            <a:srgbClr val="000000"/>
                          </a:solidFill>
                          <a:latin typeface="Calibri"/>
                        </a:rPr>
                        <a:t>10.5.6.5.</a:t>
                      </a:r>
                      <a:r>
                        <a:rPr sz="700" b="0" i="1">
                          <a:solidFill>
                            <a:srgbClr val="000000"/>
                          </a:solidFill>
                          <a:latin typeface="Times New Roman"/>
                        </a:rPr>
                        <a:t> </a:t>
                      </a:r>
                      <a:r>
                        <a:rPr sz="1100" b="0" i="1">
                          <a:solidFill>
                            <a:srgbClr val="000000"/>
                          </a:solidFill>
                          <a:latin typeface="Calibri"/>
                        </a:rPr>
                        <a:t>Rest of GCC</a:t>
                      </a:r>
                      <a:endParaRPr sz="1100"/>
                    </a:p>
                  </a:txBody>
                  <a:tcPr marL="1028700" marR="9525" marT="9525" marB="0" anchor="ctr"/>
                </a:tc>
              </a:tr>
              <a:tr h="175260">
                <a:tc>
                  <a:txBody>
                    <a:bodyPr wrap="square"/>
                    <a:lstStyle/>
                    <a:p>
                      <a:pPr algn="l"/>
                      <a:r>
                        <a:rPr sz="1100" b="0" i="1">
                          <a:solidFill>
                            <a:srgbClr val="000000"/>
                          </a:solidFill>
                          <a:latin typeface="Calibri"/>
                        </a:rPr>
                        <a:t>10.5.6.6.</a:t>
                      </a:r>
                      <a:r>
                        <a:rPr sz="700" b="0" i="1">
                          <a:solidFill>
                            <a:srgbClr val="000000"/>
                          </a:solidFill>
                          <a:latin typeface="Times New Roman"/>
                        </a:rPr>
                        <a:t> </a:t>
                      </a:r>
                      <a:r>
                        <a:rPr sz="1100" b="0" i="1">
                          <a:solidFill>
                            <a:srgbClr val="000000"/>
                          </a:solidFill>
                          <a:latin typeface="Calibri"/>
                        </a:rPr>
                        <a:t>South Africa</a:t>
                      </a:r>
                      <a:endParaRPr sz="1100"/>
                    </a:p>
                  </a:txBody>
                  <a:tcPr marL="1028700" marR="9525" marT="9525" marB="0" anchor="ctr"/>
                </a:tc>
              </a:tr>
              <a:tr h="175260">
                <a:tc>
                  <a:txBody>
                    <a:bodyPr wrap="square"/>
                    <a:lstStyle/>
                    <a:p>
                      <a:pPr algn="l"/>
                      <a:r>
                        <a:rPr sz="1100" b="0" i="1">
                          <a:solidFill>
                            <a:srgbClr val="000000"/>
                          </a:solidFill>
                          <a:latin typeface="Calibri"/>
                        </a:rPr>
                        <a:t>10.5.6.7.</a:t>
                      </a:r>
                      <a:r>
                        <a:rPr sz="700" b="0" i="1">
                          <a:solidFill>
                            <a:srgbClr val="000000"/>
                          </a:solidFill>
                          <a:latin typeface="Times New Roman"/>
                        </a:rPr>
                        <a:t> </a:t>
                      </a:r>
                      <a:r>
                        <a:rPr sz="1100" b="0" i="1">
                          <a:solidFill>
                            <a:srgbClr val="000000"/>
                          </a:solidFill>
                          <a:latin typeface="Calibri"/>
                        </a:rPr>
                        <a:t>Rest if MEA</a:t>
                      </a:r>
                      <a:endParaRPr sz="1100"/>
                    </a:p>
                  </a:txBody>
                  <a:tcPr marL="1028700" marR="9525" marT="9525" marB="0" anchor="ctr"/>
                </a:tc>
              </a:tr>
              <a:tr h="175260">
                <a:tc>
                  <a:txBody>
                    <a:bodyPr wrap="square"/>
                    <a:lstStyle/>
                    <a:p>
                      <a:pPr algn="l"/>
                      <a:r>
                        <a:rPr sz="1100" b="0" i="1">
                          <a:solidFill>
                            <a:srgbClr val="EE0000"/>
                          </a:solidFill>
                          <a:latin typeface="Calibri"/>
                        </a:rPr>
                        <a:t>Note: Value &amp; Volume (US$ Mn / MT) for all segments will be provided for each region/ Country</a:t>
                      </a:r>
                      <a:endParaRPr sz="1100"/>
                    </a:p>
                  </a:txBody>
                  <a:tcPr marL="9525" marR="9525" marT="9525" marB="0" anchor="ctr"/>
                </a:tc>
              </a:tr>
              <a:tr h="175260">
                <a:tc>
                  <a:txBody>
                    <a:bodyPr wrap="square"/>
                    <a:lstStyle/>
                    <a:p>
                      <a:pPr algn="l"/>
                      <a:r>
                        <a:rPr sz="1100" b="1" i="0">
                          <a:solidFill>
                            <a:srgbClr val="000000"/>
                          </a:solidFill>
                          <a:latin typeface="Calibri"/>
                        </a:rPr>
                        <a:t>11.</a:t>
                      </a:r>
                      <a:r>
                        <a:rPr sz="700" b="1" i="0">
                          <a:solidFill>
                            <a:srgbClr val="000000"/>
                          </a:solidFill>
                          <a:latin typeface="Times New Roman"/>
                        </a:rPr>
                        <a:t>    </a:t>
                      </a:r>
                      <a:r>
                        <a:rPr sz="1100" b="1" i="0">
                          <a:solidFill>
                            <a:srgbClr val="000000"/>
                          </a:solidFill>
                          <a:latin typeface="Calibri"/>
                        </a:rPr>
                        <a:t>Cross-sectional Assessment</a:t>
                      </a:r>
                      <a:endParaRPr sz="1100"/>
                    </a:p>
                  </a:txBody>
                  <a:tcPr marL="171450" marR="9525" marT="9525" marB="0" anchor="ctr"/>
                </a:tc>
              </a:tr>
              <a:tr h="175260">
                <a:tc>
                  <a:txBody>
                    <a:bodyPr wrap="square"/>
                    <a:lstStyle/>
                    <a:p>
                      <a:pPr algn="l"/>
                      <a:r>
                        <a:rPr sz="1100" b="0" i="0">
                          <a:solidFill>
                            <a:srgbClr val="0070C0"/>
                          </a:solidFill>
                          <a:latin typeface="Calibri"/>
                        </a:rPr>
                        <a:t>11.1.</a:t>
                      </a:r>
                      <a:r>
                        <a:rPr sz="700" b="0" i="0">
                          <a:solidFill>
                            <a:srgbClr val="0070C0"/>
                          </a:solidFill>
                          <a:latin typeface="Times New Roman"/>
                        </a:rPr>
                        <a:t>  </a:t>
                      </a:r>
                      <a:r>
                        <a:rPr sz="1100" b="0" i="0">
                          <a:solidFill>
                            <a:srgbClr val="0070C0"/>
                          </a:solidFill>
                          <a:latin typeface="Calibri"/>
                        </a:rPr>
                        <a:t>Product Type × Nature</a:t>
                      </a:r>
                      <a:endParaRPr sz="1100"/>
                    </a:p>
                  </a:txBody>
                  <a:tcPr marL="428625" marR="9525" marT="9525" marB="0" anchor="ctr"/>
                </a:tc>
              </a:tr>
              <a:tr h="175260">
                <a:tc>
                  <a:txBody>
                    <a:bodyPr wrap="square"/>
                    <a:lstStyle/>
                    <a:p>
                      <a:pPr algn="l"/>
                      <a:r>
                        <a:rPr sz="1100" b="0" i="0">
                          <a:solidFill>
                            <a:srgbClr val="0070C0"/>
                          </a:solidFill>
                          <a:latin typeface="Calibri"/>
                        </a:rPr>
                        <a:t>11.2.</a:t>
                      </a:r>
                      <a:r>
                        <a:rPr sz="700" b="0" i="0">
                          <a:solidFill>
                            <a:srgbClr val="0070C0"/>
                          </a:solidFill>
                          <a:latin typeface="Times New Roman"/>
                        </a:rPr>
                        <a:t>  </a:t>
                      </a:r>
                      <a:r>
                        <a:rPr sz="1100" b="0" i="0">
                          <a:solidFill>
                            <a:srgbClr val="0070C0"/>
                          </a:solidFill>
                          <a:latin typeface="Calibri"/>
                        </a:rPr>
                        <a:t>Form × Flavour</a:t>
                      </a:r>
                      <a:endParaRPr sz="1100"/>
                    </a:p>
                  </a:txBody>
                  <a:tcPr marL="428625" marR="9525" marT="9525" marB="0" anchor="ctr"/>
                </a:tc>
              </a:tr>
              <a:tr h="175260">
                <a:tc>
                  <a:txBody>
                    <a:bodyPr wrap="square"/>
                    <a:lstStyle/>
                    <a:p>
                      <a:pPr algn="l"/>
                      <a:r>
                        <a:rPr sz="1100" b="0" i="0">
                          <a:solidFill>
                            <a:srgbClr val="0070C0"/>
                          </a:solidFill>
                          <a:latin typeface="Calibri"/>
                        </a:rPr>
                        <a:t>11.3.</a:t>
                      </a:r>
                      <a:r>
                        <a:rPr sz="700" b="0" i="0">
                          <a:solidFill>
                            <a:srgbClr val="0070C0"/>
                          </a:solidFill>
                          <a:latin typeface="Times New Roman"/>
                        </a:rPr>
                        <a:t>  </a:t>
                      </a:r>
                      <a:r>
                        <a:rPr sz="1100" b="0" i="0">
                          <a:solidFill>
                            <a:srgbClr val="0070C0"/>
                          </a:solidFill>
                          <a:latin typeface="Calibri"/>
                        </a:rPr>
                        <a:t>Packaging Type × Distribution Channel</a:t>
                      </a:r>
                      <a:endParaRPr sz="1100"/>
                    </a:p>
                  </a:txBody>
                  <a:tcPr marL="428625" marR="9525" marT="9525" marB="0" anchor="ctr"/>
                </a:tc>
              </a:tr>
              <a:tr h="175260">
                <a:tc>
                  <a:txBody>
                    <a:bodyPr wrap="square"/>
                    <a:lstStyle/>
                    <a:p>
                      <a:pPr algn="l"/>
                      <a:r>
                        <a:rPr sz="1100" b="0" i="1">
                          <a:solidFill>
                            <a:srgbClr val="EE0000"/>
                          </a:solidFill>
                          <a:latin typeface="Calibri"/>
                        </a:rPr>
                        <a:t>Note: Cross Sectional Assessment shall be provided on custom request</a:t>
                      </a:r>
                      <a:endParaRPr sz="1100"/>
                    </a:p>
                  </a:txBody>
                  <a:tcPr marL="9525" marR="9525" marT="9525" marB="0" anchor="ctr"/>
                </a:tc>
              </a:tr>
              <a:tr h="175260">
                <a:tc>
                  <a:txBody>
                    <a:bodyPr wrap="square"/>
                    <a:lstStyle/>
                    <a:p>
                      <a:pPr algn="l"/>
                      <a:r>
                        <a:rPr sz="1100" b="1" i="0">
                          <a:solidFill>
                            <a:srgbClr val="000000"/>
                          </a:solidFill>
                          <a:latin typeface="Calibri"/>
                        </a:rPr>
                        <a:t>Section 2: Regional and Country Market Outlook</a:t>
                      </a:r>
                      <a:endParaRPr sz="1100"/>
                    </a:p>
                  </a:txBody>
                  <a:tcPr marL="9525" marR="9525" marT="9525" marB="0" anchor="ctr"/>
                </a:tc>
              </a:tr>
              <a:tr h="175260">
                <a:tc>
                  <a:txBody>
                    <a:bodyPr wrap="square"/>
                    <a:lstStyle/>
                    <a:p>
                      <a:pPr algn="l"/>
                      <a:r>
                        <a:rPr sz="1100" b="1" i="0">
                          <a:solidFill>
                            <a:srgbClr val="000000"/>
                          </a:solidFill>
                          <a:latin typeface="Calibri"/>
                        </a:rPr>
                        <a:t>12.</a:t>
                      </a:r>
                      <a:r>
                        <a:rPr sz="700" b="1" i="0">
                          <a:solidFill>
                            <a:srgbClr val="000000"/>
                          </a:solidFill>
                          <a:latin typeface="Times New Roman"/>
                        </a:rPr>
                        <a:t>    </a:t>
                      </a:r>
                      <a:r>
                        <a:rPr sz="1100" b="1" i="0">
                          <a:solidFill>
                            <a:srgbClr val="000000"/>
                          </a:solidFill>
                          <a:latin typeface="Calibri"/>
                        </a:rPr>
                        <a:t>North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12.1.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(4/8)</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12.2.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12.3.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12.4.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12.4.1.</a:t>
                      </a:r>
                      <a:r>
                        <a:rPr sz="700" b="0" i="0">
                          <a:solidFill>
                            <a:srgbClr val="000000"/>
                          </a:solidFill>
                          <a:latin typeface="Times New Roman"/>
                        </a:rPr>
                        <a:t> </a:t>
                      </a:r>
                      <a:r>
                        <a:rPr sz="1100" b="0" i="0">
                          <a:solidFill>
                            <a:srgbClr val="000000"/>
                          </a:solidFill>
                          <a:latin typeface="Calibri"/>
                        </a:rPr>
                        <a:t>By Nature</a:t>
                      </a:r>
                      <a:endParaRPr sz="1100"/>
                    </a:p>
                  </a:txBody>
                  <a:tcPr marL="771525" marR="9525" marT="9525" marB="0" anchor="ctr"/>
                </a:tc>
              </a:tr>
              <a:tr h="175260">
                <a:tc>
                  <a:txBody>
                    <a:bodyPr wrap="square"/>
                    <a:lstStyle/>
                    <a:p>
                      <a:pPr algn="l"/>
                      <a:r>
                        <a:rPr sz="1100" b="0" i="0">
                          <a:solidFill>
                            <a:srgbClr val="000000"/>
                          </a:solidFill>
                          <a:latin typeface="Calibri"/>
                        </a:rPr>
                        <a:t>12.4.2.</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12.4.3.</a:t>
                      </a:r>
                      <a:r>
                        <a:rPr sz="700" b="0" i="0">
                          <a:solidFill>
                            <a:srgbClr val="000000"/>
                          </a:solidFill>
                          <a:latin typeface="Times New Roman"/>
                        </a:rPr>
                        <a:t> </a:t>
                      </a:r>
                      <a:r>
                        <a:rPr sz="1100" b="0" i="0">
                          <a:solidFill>
                            <a:srgbClr val="000000"/>
                          </a:solidFill>
                          <a:latin typeface="Calibri"/>
                        </a:rPr>
                        <a:t>By Form</a:t>
                      </a:r>
                      <a:endParaRPr sz="1100"/>
                    </a:p>
                  </a:txBody>
                  <a:tcPr marL="771525" marR="9525" marT="9525" marB="0" anchor="ctr"/>
                </a:tc>
              </a:tr>
              <a:tr h="175260">
                <a:tc>
                  <a:txBody>
                    <a:bodyPr wrap="square"/>
                    <a:lstStyle/>
                    <a:p>
                      <a:pPr algn="l"/>
                      <a:r>
                        <a:rPr sz="1100" b="0" i="0">
                          <a:solidFill>
                            <a:srgbClr val="000000"/>
                          </a:solidFill>
                          <a:latin typeface="Calibri"/>
                        </a:rPr>
                        <a:t>12.4.4.</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12.4.5.</a:t>
                      </a:r>
                      <a:r>
                        <a:rPr sz="700" b="0" i="0">
                          <a:solidFill>
                            <a:srgbClr val="000000"/>
                          </a:solidFill>
                          <a:latin typeface="Times New Roman"/>
                        </a:rPr>
                        <a:t> </a:t>
                      </a:r>
                      <a:r>
                        <a:rPr sz="1100" b="0" i="0">
                          <a:solidFill>
                            <a:srgbClr val="000000"/>
                          </a:solidFill>
                          <a:latin typeface="Calibri"/>
                        </a:rPr>
                        <a:t>By Packaging Type</a:t>
                      </a:r>
                      <a:endParaRPr sz="1100"/>
                    </a:p>
                  </a:txBody>
                  <a:tcPr marL="771525" marR="9525" marT="9525" marB="0" anchor="ctr"/>
                </a:tc>
              </a:tr>
              <a:tr h="175260">
                <a:tc>
                  <a:txBody>
                    <a:bodyPr wrap="square"/>
                    <a:lstStyle/>
                    <a:p>
                      <a:pPr algn="l"/>
                      <a:r>
                        <a:rPr sz="1100" b="0" i="0">
                          <a:solidFill>
                            <a:srgbClr val="000000"/>
                          </a:solidFill>
                          <a:latin typeface="Calibri"/>
                        </a:rPr>
                        <a:t>12.4.6.</a:t>
                      </a:r>
                      <a:r>
                        <a:rPr sz="700" b="0" i="0">
                          <a:solidFill>
                            <a:srgbClr val="000000"/>
                          </a:solidFill>
                          <a:latin typeface="Times New Roman"/>
                        </a:rPr>
                        <a:t> </a:t>
                      </a:r>
                      <a:r>
                        <a:rPr sz="1100" b="0" i="0">
                          <a:solidFill>
                            <a:srgbClr val="000000"/>
                          </a:solidFill>
                          <a:latin typeface="Calibri"/>
                        </a:rPr>
                        <a:t>By Grade Type</a:t>
                      </a:r>
                      <a:endParaRPr sz="1100"/>
                    </a:p>
                  </a:txBody>
                  <a:tcPr marL="771525" marR="9525" marT="9525" marB="0" anchor="ctr"/>
                </a:tc>
              </a:tr>
              <a:tr h="175260">
                <a:tc>
                  <a:txBody>
                    <a:bodyPr wrap="square"/>
                    <a:lstStyle/>
                    <a:p>
                      <a:pPr algn="l"/>
                      <a:r>
                        <a:rPr sz="1100" b="0" i="0">
                          <a:solidFill>
                            <a:srgbClr val="000000"/>
                          </a:solidFill>
                          <a:latin typeface="Calibri"/>
                        </a:rPr>
                        <a:t>12.4.7.</a:t>
                      </a:r>
                      <a:r>
                        <a:rPr sz="700" b="0" i="0">
                          <a:solidFill>
                            <a:srgbClr val="000000"/>
                          </a:solidFill>
                          <a:latin typeface="Times New Roman"/>
                        </a:rPr>
                        <a:t> </a:t>
                      </a:r>
                      <a:r>
                        <a:rPr sz="1100" b="0" i="0">
                          <a:solidFill>
                            <a:srgbClr val="000000"/>
                          </a:solidFill>
                          <a:latin typeface="Calibri"/>
                        </a:rPr>
                        <a:t>By Application</a:t>
                      </a:r>
                      <a:endParaRPr sz="1100"/>
                    </a:p>
                  </a:txBody>
                  <a:tcPr marL="771525" marR="9525" marT="9525" marB="0" anchor="ctr"/>
                </a:tc>
              </a:tr>
              <a:tr h="175260">
                <a:tc>
                  <a:txBody>
                    <a:bodyPr wrap="square"/>
                    <a:lstStyle/>
                    <a:p>
                      <a:pPr algn="l"/>
                      <a:r>
                        <a:rPr sz="1100" b="0" i="0">
                          <a:solidFill>
                            <a:srgbClr val="000000"/>
                          </a:solidFill>
                          <a:latin typeface="Calibri"/>
                        </a:rPr>
                        <a:t>12.4.8.</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12.4.9.</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13.</a:t>
                      </a:r>
                      <a:r>
                        <a:rPr sz="700" b="1" i="0">
                          <a:solidFill>
                            <a:srgbClr val="000000"/>
                          </a:solidFill>
                          <a:latin typeface="Times New Roman"/>
                        </a:rPr>
                        <a:t>    </a:t>
                      </a:r>
                      <a:r>
                        <a:rPr sz="1100" b="1" i="0">
                          <a:solidFill>
                            <a:srgbClr val="000000"/>
                          </a:solidFill>
                          <a:latin typeface="Calibri"/>
                        </a:rPr>
                        <a:t>Latin America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13.1.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13.2.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13.3.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13.4.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13.4.1.</a:t>
                      </a:r>
                      <a:r>
                        <a:rPr sz="700" b="0" i="0">
                          <a:solidFill>
                            <a:srgbClr val="000000"/>
                          </a:solidFill>
                          <a:latin typeface="Times New Roman"/>
                        </a:rPr>
                        <a:t> </a:t>
                      </a:r>
                      <a:r>
                        <a:rPr sz="1100" b="0" i="0">
                          <a:solidFill>
                            <a:srgbClr val="000000"/>
                          </a:solidFill>
                          <a:latin typeface="Calibri"/>
                        </a:rPr>
                        <a:t>By Nature</a:t>
                      </a:r>
                      <a:endParaRPr sz="1100"/>
                    </a:p>
                  </a:txBody>
                  <a:tcPr marL="771525" marR="9525" marT="9525" marB="0" anchor="ctr"/>
                </a:tc>
              </a:tr>
              <a:tr h="175260">
                <a:tc>
                  <a:txBody>
                    <a:bodyPr wrap="square"/>
                    <a:lstStyle/>
                    <a:p>
                      <a:pPr algn="l"/>
                      <a:r>
                        <a:rPr sz="1100" b="0" i="0">
                          <a:solidFill>
                            <a:srgbClr val="000000"/>
                          </a:solidFill>
                          <a:latin typeface="Calibri"/>
                        </a:rPr>
                        <a:t>13.4.2.</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13.4.3.</a:t>
                      </a:r>
                      <a:r>
                        <a:rPr sz="700" b="0" i="0">
                          <a:solidFill>
                            <a:srgbClr val="000000"/>
                          </a:solidFill>
                          <a:latin typeface="Times New Roman"/>
                        </a:rPr>
                        <a:t> </a:t>
                      </a:r>
                      <a:r>
                        <a:rPr sz="1100" b="0" i="0">
                          <a:solidFill>
                            <a:srgbClr val="000000"/>
                          </a:solidFill>
                          <a:latin typeface="Calibri"/>
                        </a:rPr>
                        <a:t>By Form</a:t>
                      </a:r>
                      <a:endParaRPr sz="1100"/>
                    </a:p>
                  </a:txBody>
                  <a:tcPr marL="771525" marR="9525" marT="9525" marB="0" anchor="ctr"/>
                </a:tc>
              </a:tr>
              <a:tr h="175260">
                <a:tc>
                  <a:txBody>
                    <a:bodyPr wrap="square"/>
                    <a:lstStyle/>
                    <a:p>
                      <a:pPr algn="l"/>
                      <a:r>
                        <a:rPr sz="1100" b="0" i="0">
                          <a:solidFill>
                            <a:srgbClr val="000000"/>
                          </a:solidFill>
                          <a:latin typeface="Calibri"/>
                        </a:rPr>
                        <a:t>13.4.4.</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13.4.5.</a:t>
                      </a:r>
                      <a:r>
                        <a:rPr sz="700" b="0" i="0">
                          <a:solidFill>
                            <a:srgbClr val="000000"/>
                          </a:solidFill>
                          <a:latin typeface="Times New Roman"/>
                        </a:rPr>
                        <a:t> </a:t>
                      </a:r>
                      <a:r>
                        <a:rPr sz="1100" b="0" i="0">
                          <a:solidFill>
                            <a:srgbClr val="000000"/>
                          </a:solidFill>
                          <a:latin typeface="Calibri"/>
                        </a:rPr>
                        <a:t>By Packaging Type</a:t>
                      </a:r>
                      <a:endParaRPr sz="1100"/>
                    </a:p>
                  </a:txBody>
                  <a:tcPr marL="771525" marR="9525" marT="9525" marB="0" anchor="ctr"/>
                </a:tc>
              </a:tr>
              <a:tr h="175260">
                <a:tc>
                  <a:txBody>
                    <a:bodyPr wrap="square"/>
                    <a:lstStyle/>
                    <a:p>
                      <a:pPr algn="l"/>
                      <a:r>
                        <a:rPr sz="1100" b="0" i="0">
                          <a:solidFill>
                            <a:srgbClr val="000000"/>
                          </a:solidFill>
                          <a:latin typeface="Calibri"/>
                        </a:rPr>
                        <a:t>13.4.6.</a:t>
                      </a:r>
                      <a:r>
                        <a:rPr sz="700" b="0" i="0">
                          <a:solidFill>
                            <a:srgbClr val="000000"/>
                          </a:solidFill>
                          <a:latin typeface="Times New Roman"/>
                        </a:rPr>
                        <a:t> </a:t>
                      </a:r>
                      <a:r>
                        <a:rPr sz="1100" b="0" i="0">
                          <a:solidFill>
                            <a:srgbClr val="000000"/>
                          </a:solidFill>
                          <a:latin typeface="Calibri"/>
                        </a:rPr>
                        <a:t>By Grade Type</a:t>
                      </a:r>
                      <a:endParaRPr sz="1100"/>
                    </a:p>
                  </a:txBody>
                  <a:tcPr marL="771525" marR="9525" marT="9525" marB="0" anchor="ctr"/>
                </a:tc>
              </a:tr>
              <a:tr h="175260">
                <a:tc>
                  <a:txBody>
                    <a:bodyPr wrap="square"/>
                    <a:lstStyle/>
                    <a:p>
                      <a:pPr algn="l"/>
                      <a:r>
                        <a:rPr sz="1100" b="0" i="0">
                          <a:solidFill>
                            <a:srgbClr val="000000"/>
                          </a:solidFill>
                          <a:latin typeface="Calibri"/>
                        </a:rPr>
                        <a:t>13.4.7.</a:t>
                      </a:r>
                      <a:r>
                        <a:rPr sz="700" b="0" i="0">
                          <a:solidFill>
                            <a:srgbClr val="000000"/>
                          </a:solidFill>
                          <a:latin typeface="Times New Roman"/>
                        </a:rPr>
                        <a:t> </a:t>
                      </a:r>
                      <a:r>
                        <a:rPr sz="1100" b="0" i="0">
                          <a:solidFill>
                            <a:srgbClr val="000000"/>
                          </a:solidFill>
                          <a:latin typeface="Calibri"/>
                        </a:rPr>
                        <a:t>By Application</a:t>
                      </a:r>
                      <a:endParaRPr sz="1100"/>
                    </a:p>
                  </a:txBody>
                  <a:tcPr marL="771525" marR="9525" marT="9525" marB="0" anchor="ctr"/>
                </a:tc>
              </a:tr>
              <a:tr h="175260">
                <a:tc>
                  <a:txBody>
                    <a:bodyPr wrap="square"/>
                    <a:lstStyle/>
                    <a:p>
                      <a:pPr algn="l"/>
                      <a:r>
                        <a:rPr sz="1100" b="0" i="0">
                          <a:solidFill>
                            <a:srgbClr val="000000"/>
                          </a:solidFill>
                          <a:latin typeface="Calibri"/>
                        </a:rPr>
                        <a:t>13.4.8.</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13.4.9.</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14.</a:t>
                      </a:r>
                      <a:r>
                        <a:rPr sz="700" b="1" i="0">
                          <a:solidFill>
                            <a:srgbClr val="000000"/>
                          </a:solidFill>
                          <a:latin typeface="Times New Roman"/>
                        </a:rPr>
                        <a:t>    </a:t>
                      </a:r>
                      <a:r>
                        <a:rPr sz="1100" b="1" i="0">
                          <a:solidFill>
                            <a:srgbClr val="000000"/>
                          </a:solidFill>
                          <a:latin typeface="Calibri"/>
                        </a:rPr>
                        <a:t>Europe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14.1.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14.2.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14.3.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14.4.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14.4.1.</a:t>
                      </a:r>
                      <a:r>
                        <a:rPr sz="700" b="0" i="0">
                          <a:solidFill>
                            <a:srgbClr val="000000"/>
                          </a:solidFill>
                          <a:latin typeface="Times New Roman"/>
                        </a:rPr>
                        <a:t> </a:t>
                      </a:r>
                      <a:r>
                        <a:rPr sz="1100" b="0" i="0">
                          <a:solidFill>
                            <a:srgbClr val="000000"/>
                          </a:solidFill>
                          <a:latin typeface="Calibri"/>
                        </a:rPr>
                        <a:t>By Nature</a:t>
                      </a:r>
                      <a:endParaRPr sz="1100"/>
                    </a:p>
                  </a:txBody>
                  <a:tcPr marL="771525" marR="9525" marT="9525" marB="0" anchor="ctr"/>
                </a:tc>
              </a:tr>
              <a:tr h="175260">
                <a:tc>
                  <a:txBody>
                    <a:bodyPr wrap="square"/>
                    <a:lstStyle/>
                    <a:p>
                      <a:pPr algn="l"/>
                      <a:r>
                        <a:rPr sz="1100" b="0" i="0">
                          <a:solidFill>
                            <a:srgbClr val="000000"/>
                          </a:solidFill>
                          <a:latin typeface="Calibri"/>
                        </a:rPr>
                        <a:t>14.4.2.</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14.4.3.</a:t>
                      </a:r>
                      <a:r>
                        <a:rPr sz="700" b="0" i="0">
                          <a:solidFill>
                            <a:srgbClr val="000000"/>
                          </a:solidFill>
                          <a:latin typeface="Times New Roman"/>
                        </a:rPr>
                        <a:t> </a:t>
                      </a:r>
                      <a:r>
                        <a:rPr sz="1100" b="0" i="0">
                          <a:solidFill>
                            <a:srgbClr val="000000"/>
                          </a:solidFill>
                          <a:latin typeface="Calibri"/>
                        </a:rPr>
                        <a:t>By Form</a:t>
                      </a:r>
                      <a:endParaRPr sz="1100"/>
                    </a:p>
                  </a:txBody>
                  <a:tcPr marL="771525" marR="9525" marT="9525" marB="0" anchor="ctr"/>
                </a:tc>
              </a:tr>
              <a:tr h="175260">
                <a:tc>
                  <a:txBody>
                    <a:bodyPr wrap="square"/>
                    <a:lstStyle/>
                    <a:p>
                      <a:pPr algn="l"/>
                      <a:r>
                        <a:rPr sz="1100" b="0" i="0">
                          <a:solidFill>
                            <a:srgbClr val="000000"/>
                          </a:solidFill>
                          <a:latin typeface="Calibri"/>
                        </a:rPr>
                        <a:t>14.4.4.</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14.4.5.</a:t>
                      </a:r>
                      <a:r>
                        <a:rPr sz="700" b="0" i="0">
                          <a:solidFill>
                            <a:srgbClr val="000000"/>
                          </a:solidFill>
                          <a:latin typeface="Times New Roman"/>
                        </a:rPr>
                        <a:t> </a:t>
                      </a:r>
                      <a:r>
                        <a:rPr sz="1100" b="0" i="0">
                          <a:solidFill>
                            <a:srgbClr val="000000"/>
                          </a:solidFill>
                          <a:latin typeface="Calibri"/>
                        </a:rPr>
                        <a:t>By Packaging Type</a:t>
                      </a:r>
                      <a:endParaRPr sz="1100"/>
                    </a:p>
                  </a:txBody>
                  <a:tcPr marL="771525" marR="9525" marT="9525" marB="0" anchor="ctr"/>
                </a:tc>
              </a:tr>
              <a:tr h="175260">
                <a:tc>
                  <a:txBody>
                    <a:bodyPr wrap="square"/>
                    <a:lstStyle/>
                    <a:p>
                      <a:pPr algn="l"/>
                      <a:r>
                        <a:rPr sz="1100" b="0" i="0">
                          <a:solidFill>
                            <a:srgbClr val="000000"/>
                          </a:solidFill>
                          <a:latin typeface="Calibri"/>
                        </a:rPr>
                        <a:t>14.4.6.</a:t>
                      </a:r>
                      <a:r>
                        <a:rPr sz="700" b="0" i="0">
                          <a:solidFill>
                            <a:srgbClr val="000000"/>
                          </a:solidFill>
                          <a:latin typeface="Times New Roman"/>
                        </a:rPr>
                        <a:t> </a:t>
                      </a:r>
                      <a:r>
                        <a:rPr sz="1100" b="0" i="0">
                          <a:solidFill>
                            <a:srgbClr val="000000"/>
                          </a:solidFill>
                          <a:latin typeface="Calibri"/>
                        </a:rPr>
                        <a:t>By Grade Type</a:t>
                      </a:r>
                      <a:endParaRPr sz="1100"/>
                    </a:p>
                  </a:txBody>
                  <a:tcPr marL="771525" marR="9525" marT="9525" marB="0" anchor="ctr"/>
                </a:tc>
              </a:tr>
              <a:tr h="175260">
                <a:tc>
                  <a:txBody>
                    <a:bodyPr wrap="square"/>
                    <a:lstStyle/>
                    <a:p>
                      <a:pPr algn="l"/>
                      <a:r>
                        <a:rPr sz="1100" b="0" i="0">
                          <a:solidFill>
                            <a:srgbClr val="000000"/>
                          </a:solidFill>
                          <a:latin typeface="Calibri"/>
                        </a:rPr>
                        <a:t>14.4.7.</a:t>
                      </a:r>
                      <a:r>
                        <a:rPr sz="700" b="0" i="0">
                          <a:solidFill>
                            <a:srgbClr val="000000"/>
                          </a:solidFill>
                          <a:latin typeface="Times New Roman"/>
                        </a:rPr>
                        <a:t> </a:t>
                      </a:r>
                      <a:r>
                        <a:rPr sz="1100" b="0" i="0">
                          <a:solidFill>
                            <a:srgbClr val="000000"/>
                          </a:solidFill>
                          <a:latin typeface="Calibri"/>
                        </a:rPr>
                        <a:t>By Application</a:t>
                      </a:r>
                      <a:endParaRPr sz="1100"/>
                    </a:p>
                  </a:txBody>
                  <a:tcPr marL="771525" marR="9525" marT="9525" marB="0" anchor="ctr"/>
                </a:tc>
              </a:tr>
              <a:tr h="175260">
                <a:tc>
                  <a:txBody>
                    <a:bodyPr wrap="square"/>
                    <a:lstStyle/>
                    <a:p>
                      <a:pPr algn="l"/>
                      <a:r>
                        <a:rPr sz="1100" b="0" i="0">
                          <a:solidFill>
                            <a:srgbClr val="000000"/>
                          </a:solidFill>
                          <a:latin typeface="Calibri"/>
                        </a:rPr>
                        <a:t>14.4.8.</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14.4.9.</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15.</a:t>
                      </a:r>
                      <a:r>
                        <a:rPr sz="700" b="1" i="0">
                          <a:solidFill>
                            <a:srgbClr val="000000"/>
                          </a:solidFill>
                          <a:latin typeface="Times New Roman"/>
                        </a:rPr>
                        <a:t>    </a:t>
                      </a:r>
                      <a:r>
                        <a:rPr sz="1100" b="1" i="0">
                          <a:solidFill>
                            <a:srgbClr val="000000"/>
                          </a:solidFill>
                          <a:latin typeface="Calibri"/>
                        </a:rPr>
                        <a:t>East Asia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15.1.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15.2.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15.3.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15.4.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15.4.1.</a:t>
                      </a:r>
                      <a:r>
                        <a:rPr sz="700" b="0" i="0">
                          <a:solidFill>
                            <a:srgbClr val="000000"/>
                          </a:solidFill>
                          <a:latin typeface="Times New Roman"/>
                        </a:rPr>
                        <a:t> </a:t>
                      </a:r>
                      <a:r>
                        <a:rPr sz="1100" b="0" i="0">
                          <a:solidFill>
                            <a:srgbClr val="000000"/>
                          </a:solidFill>
                          <a:latin typeface="Calibri"/>
                        </a:rPr>
                        <a:t>By Nature</a:t>
                      </a:r>
                      <a:endParaRPr sz="1100"/>
                    </a:p>
                  </a:txBody>
                  <a:tcPr marL="771525" marR="9525" marT="9525" marB="0" anchor="ctr"/>
                </a:tc>
              </a:tr>
              <a:tr h="175260">
                <a:tc>
                  <a:txBody>
                    <a:bodyPr wrap="square"/>
                    <a:lstStyle/>
                    <a:p>
                      <a:pPr algn="l"/>
                      <a:r>
                        <a:rPr sz="1100" b="0" i="0">
                          <a:solidFill>
                            <a:srgbClr val="000000"/>
                          </a:solidFill>
                          <a:latin typeface="Calibri"/>
                        </a:rPr>
                        <a:t>15.4.2.</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15.4.3.</a:t>
                      </a:r>
                      <a:r>
                        <a:rPr sz="700" b="0" i="0">
                          <a:solidFill>
                            <a:srgbClr val="000000"/>
                          </a:solidFill>
                          <a:latin typeface="Times New Roman"/>
                        </a:rPr>
                        <a:t> </a:t>
                      </a:r>
                      <a:r>
                        <a:rPr sz="1100" b="0" i="0">
                          <a:solidFill>
                            <a:srgbClr val="000000"/>
                          </a:solidFill>
                          <a:latin typeface="Calibri"/>
                        </a:rPr>
                        <a:t>By Form</a:t>
                      </a:r>
                      <a:endParaRPr sz="1100"/>
                    </a:p>
                  </a:txBody>
                  <a:tcPr marL="771525" marR="9525" marT="9525" marB="0" anchor="ctr"/>
                </a:tc>
              </a:tr>
              <a:tr h="175260">
                <a:tc>
                  <a:txBody>
                    <a:bodyPr wrap="square"/>
                    <a:lstStyle/>
                    <a:p>
                      <a:pPr algn="l"/>
                      <a:r>
                        <a:rPr sz="1100" b="0" i="0">
                          <a:solidFill>
                            <a:srgbClr val="000000"/>
                          </a:solidFill>
                          <a:latin typeface="Calibri"/>
                        </a:rPr>
                        <a:t>15.4.4.</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15.4.5.</a:t>
                      </a:r>
                      <a:r>
                        <a:rPr sz="700" b="0" i="0">
                          <a:solidFill>
                            <a:srgbClr val="000000"/>
                          </a:solidFill>
                          <a:latin typeface="Times New Roman"/>
                        </a:rPr>
                        <a:t> </a:t>
                      </a:r>
                      <a:r>
                        <a:rPr sz="1100" b="0" i="0">
                          <a:solidFill>
                            <a:srgbClr val="000000"/>
                          </a:solidFill>
                          <a:latin typeface="Calibri"/>
                        </a:rPr>
                        <a:t>By Packaging Type</a:t>
                      </a:r>
                      <a:endParaRPr sz="1100"/>
                    </a:p>
                  </a:txBody>
                  <a:tcPr marL="771525" marR="9525" marT="9525" marB="0" anchor="ctr"/>
                </a:tc>
              </a:tr>
              <a:tr h="175260">
                <a:tc>
                  <a:txBody>
                    <a:bodyPr wrap="square"/>
                    <a:lstStyle/>
                    <a:p>
                      <a:pPr algn="l"/>
                      <a:r>
                        <a:rPr sz="1100" b="0" i="0">
                          <a:solidFill>
                            <a:srgbClr val="000000"/>
                          </a:solidFill>
                          <a:latin typeface="Calibri"/>
                        </a:rPr>
                        <a:t>15.4.6.</a:t>
                      </a:r>
                      <a:r>
                        <a:rPr sz="700" b="0" i="0">
                          <a:solidFill>
                            <a:srgbClr val="000000"/>
                          </a:solidFill>
                          <a:latin typeface="Times New Roman"/>
                        </a:rPr>
                        <a:t> </a:t>
                      </a:r>
                      <a:r>
                        <a:rPr sz="1100" b="0" i="0">
                          <a:solidFill>
                            <a:srgbClr val="000000"/>
                          </a:solidFill>
                          <a:latin typeface="Calibri"/>
                        </a:rPr>
                        <a:t>By Grade Type</a:t>
                      </a:r>
                      <a:endParaRPr sz="1100"/>
                    </a:p>
                  </a:txBody>
                  <a:tcPr marL="771525" marR="9525" marT="9525" marB="0" anchor="ctr"/>
                </a:tc>
              </a:tr>
              <a:tr h="175260">
                <a:tc>
                  <a:txBody>
                    <a:bodyPr wrap="square"/>
                    <a:lstStyle/>
                    <a:p>
                      <a:pPr algn="l"/>
                      <a:r>
                        <a:rPr sz="1100" b="0" i="0">
                          <a:solidFill>
                            <a:srgbClr val="000000"/>
                          </a:solidFill>
                          <a:latin typeface="Calibri"/>
                        </a:rPr>
                        <a:t>15.4.7.</a:t>
                      </a:r>
                      <a:r>
                        <a:rPr sz="700" b="0" i="0">
                          <a:solidFill>
                            <a:srgbClr val="000000"/>
                          </a:solidFill>
                          <a:latin typeface="Times New Roman"/>
                        </a:rPr>
                        <a:t> </a:t>
                      </a:r>
                      <a:r>
                        <a:rPr sz="1100" b="0" i="0">
                          <a:solidFill>
                            <a:srgbClr val="000000"/>
                          </a:solidFill>
                          <a:latin typeface="Calibri"/>
                        </a:rPr>
                        <a:t>By Application</a:t>
                      </a:r>
                      <a:endParaRPr sz="1100"/>
                    </a:p>
                  </a:txBody>
                  <a:tcPr marL="771525" marR="9525" marT="9525" marB="0" anchor="ctr"/>
                </a:tc>
              </a:tr>
              <a:tr h="175260">
                <a:tc>
                  <a:txBody>
                    <a:bodyPr wrap="square"/>
                    <a:lstStyle/>
                    <a:p>
                      <a:pPr algn="l"/>
                      <a:r>
                        <a:rPr sz="1100" b="0" i="0">
                          <a:solidFill>
                            <a:srgbClr val="000000"/>
                          </a:solidFill>
                          <a:latin typeface="Calibri"/>
                        </a:rPr>
                        <a:t>15.4.8.</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15.4.9.</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16.</a:t>
                      </a:r>
                      <a:r>
                        <a:rPr sz="700" b="1" i="0">
                          <a:solidFill>
                            <a:srgbClr val="000000"/>
                          </a:solidFill>
                          <a:latin typeface="Times New Roman"/>
                        </a:rPr>
                        <a:t>    </a:t>
                      </a:r>
                      <a:r>
                        <a:rPr sz="1100" b="1" i="0">
                          <a:solidFill>
                            <a:srgbClr val="000000"/>
                          </a:solidFill>
                          <a:latin typeface="Calibri"/>
                        </a:rPr>
                        <a:t>South Asia &amp; Pacific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16.1.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16.2.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16.3.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16.4.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16.4.1.</a:t>
                      </a:r>
                      <a:r>
                        <a:rPr sz="700" b="0" i="0">
                          <a:solidFill>
                            <a:srgbClr val="000000"/>
                          </a:solidFill>
                          <a:latin typeface="Times New Roman"/>
                        </a:rPr>
                        <a:t> </a:t>
                      </a:r>
                      <a:r>
                        <a:rPr sz="1100" b="0" i="0">
                          <a:solidFill>
                            <a:srgbClr val="000000"/>
                          </a:solidFill>
                          <a:latin typeface="Calibri"/>
                        </a:rPr>
                        <a:t>By Nature</a:t>
                      </a:r>
                      <a:endParaRPr sz="1100"/>
                    </a:p>
                  </a:txBody>
                  <a:tcPr marL="771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(5/8)</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16.4.2.</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16.4.3.</a:t>
                      </a:r>
                      <a:r>
                        <a:rPr sz="700" b="0" i="0">
                          <a:solidFill>
                            <a:srgbClr val="000000"/>
                          </a:solidFill>
                          <a:latin typeface="Times New Roman"/>
                        </a:rPr>
                        <a:t> </a:t>
                      </a:r>
                      <a:r>
                        <a:rPr sz="1100" b="0" i="0">
                          <a:solidFill>
                            <a:srgbClr val="000000"/>
                          </a:solidFill>
                          <a:latin typeface="Calibri"/>
                        </a:rPr>
                        <a:t>By Form</a:t>
                      </a:r>
                      <a:endParaRPr sz="1100"/>
                    </a:p>
                  </a:txBody>
                  <a:tcPr marL="771525" marR="9525" marT="9525" marB="0" anchor="ctr"/>
                </a:tc>
              </a:tr>
              <a:tr h="175260">
                <a:tc>
                  <a:txBody>
                    <a:bodyPr wrap="square"/>
                    <a:lstStyle/>
                    <a:p>
                      <a:pPr algn="l"/>
                      <a:r>
                        <a:rPr sz="1100" b="0" i="0">
                          <a:solidFill>
                            <a:srgbClr val="000000"/>
                          </a:solidFill>
                          <a:latin typeface="Calibri"/>
                        </a:rPr>
                        <a:t>16.4.4.</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16.4.5.</a:t>
                      </a:r>
                      <a:r>
                        <a:rPr sz="700" b="0" i="0">
                          <a:solidFill>
                            <a:srgbClr val="000000"/>
                          </a:solidFill>
                          <a:latin typeface="Times New Roman"/>
                        </a:rPr>
                        <a:t> </a:t>
                      </a:r>
                      <a:r>
                        <a:rPr sz="1100" b="0" i="0">
                          <a:solidFill>
                            <a:srgbClr val="000000"/>
                          </a:solidFill>
                          <a:latin typeface="Calibri"/>
                        </a:rPr>
                        <a:t>By Packaging Type</a:t>
                      </a:r>
                      <a:endParaRPr sz="1100"/>
                    </a:p>
                  </a:txBody>
                  <a:tcPr marL="771525" marR="9525" marT="9525" marB="0" anchor="ctr"/>
                </a:tc>
              </a:tr>
              <a:tr h="175260">
                <a:tc>
                  <a:txBody>
                    <a:bodyPr wrap="square"/>
                    <a:lstStyle/>
                    <a:p>
                      <a:pPr algn="l"/>
                      <a:r>
                        <a:rPr sz="1100" b="0" i="0">
                          <a:solidFill>
                            <a:srgbClr val="000000"/>
                          </a:solidFill>
                          <a:latin typeface="Calibri"/>
                        </a:rPr>
                        <a:t>16.4.6.</a:t>
                      </a:r>
                      <a:r>
                        <a:rPr sz="700" b="0" i="0">
                          <a:solidFill>
                            <a:srgbClr val="000000"/>
                          </a:solidFill>
                          <a:latin typeface="Times New Roman"/>
                        </a:rPr>
                        <a:t> </a:t>
                      </a:r>
                      <a:r>
                        <a:rPr sz="1100" b="0" i="0">
                          <a:solidFill>
                            <a:srgbClr val="000000"/>
                          </a:solidFill>
                          <a:latin typeface="Calibri"/>
                        </a:rPr>
                        <a:t>By Grade Type</a:t>
                      </a:r>
                      <a:endParaRPr sz="1100"/>
                    </a:p>
                  </a:txBody>
                  <a:tcPr marL="771525" marR="9525" marT="9525" marB="0" anchor="ctr"/>
                </a:tc>
              </a:tr>
              <a:tr h="175260">
                <a:tc>
                  <a:txBody>
                    <a:bodyPr wrap="square"/>
                    <a:lstStyle/>
                    <a:p>
                      <a:pPr algn="l"/>
                      <a:r>
                        <a:rPr sz="1100" b="0" i="0">
                          <a:solidFill>
                            <a:srgbClr val="000000"/>
                          </a:solidFill>
                          <a:latin typeface="Calibri"/>
                        </a:rPr>
                        <a:t>16.4.7.</a:t>
                      </a:r>
                      <a:r>
                        <a:rPr sz="700" b="0" i="0">
                          <a:solidFill>
                            <a:srgbClr val="000000"/>
                          </a:solidFill>
                          <a:latin typeface="Times New Roman"/>
                        </a:rPr>
                        <a:t> </a:t>
                      </a:r>
                      <a:r>
                        <a:rPr sz="1100" b="0" i="0">
                          <a:solidFill>
                            <a:srgbClr val="000000"/>
                          </a:solidFill>
                          <a:latin typeface="Calibri"/>
                        </a:rPr>
                        <a:t>By Application</a:t>
                      </a:r>
                      <a:endParaRPr sz="1100"/>
                    </a:p>
                  </a:txBody>
                  <a:tcPr marL="771525" marR="9525" marT="9525" marB="0" anchor="ctr"/>
                </a:tc>
              </a:tr>
              <a:tr h="175260">
                <a:tc>
                  <a:txBody>
                    <a:bodyPr wrap="square"/>
                    <a:lstStyle/>
                    <a:p>
                      <a:pPr algn="l"/>
                      <a:r>
                        <a:rPr sz="1100" b="0" i="0">
                          <a:solidFill>
                            <a:srgbClr val="000000"/>
                          </a:solidFill>
                          <a:latin typeface="Calibri"/>
                        </a:rPr>
                        <a:t>16.4.8.</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16.4.9.</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17.</a:t>
                      </a:r>
                      <a:r>
                        <a:rPr sz="700" b="1" i="0">
                          <a:solidFill>
                            <a:srgbClr val="000000"/>
                          </a:solidFill>
                          <a:latin typeface="Times New Roman"/>
                        </a:rPr>
                        <a:t>    </a:t>
                      </a:r>
                      <a:r>
                        <a:rPr sz="1100" b="1" i="0">
                          <a:solidFill>
                            <a:srgbClr val="000000"/>
                          </a:solidFill>
                          <a:latin typeface="Calibri"/>
                        </a:rPr>
                        <a:t>Middle East &amp; Africa Market Size (Value &amp; Volume) 2021–2036</a:t>
                      </a:r>
                      <a:endParaRPr sz="1100"/>
                    </a:p>
                  </a:txBody>
                  <a:tcPr marL="171450" marR="9525" marT="9525" marB="0" anchor="ctr"/>
                </a:tc>
              </a:tr>
              <a:tr h="175260">
                <a:tc>
                  <a:txBody>
                    <a:bodyPr wrap="square"/>
                    <a:lstStyle/>
                    <a:p>
                      <a:pPr algn="l"/>
                      <a:r>
                        <a:rPr sz="1100" b="0" i="0">
                          <a:solidFill>
                            <a:srgbClr val="0070C0"/>
                          </a:solidFill>
                          <a:latin typeface="Calibri"/>
                        </a:rPr>
                        <a:t>17.1.</a:t>
                      </a:r>
                      <a:r>
                        <a:rPr sz="700" b="0" i="0">
                          <a:solidFill>
                            <a:srgbClr val="0070C0"/>
                          </a:solidFill>
                          <a:latin typeface="Times New Roman"/>
                        </a:rPr>
                        <a:t>  </a:t>
                      </a:r>
                      <a:r>
                        <a:rPr sz="1100" b="0" i="0">
                          <a:solidFill>
                            <a:srgbClr val="0070C0"/>
                          </a:solidFill>
                          <a:latin typeface="Calibri"/>
                        </a:rPr>
                        <a:t>2021–2025: Historical Analysis</a:t>
                      </a:r>
                      <a:endParaRPr sz="1100"/>
                    </a:p>
                  </a:txBody>
                  <a:tcPr marL="428625" marR="9525" marT="9525" marB="0" anchor="ctr"/>
                </a:tc>
              </a:tr>
              <a:tr h="175260">
                <a:tc>
                  <a:txBody>
                    <a:bodyPr wrap="square"/>
                    <a:lstStyle/>
                    <a:p>
                      <a:pPr algn="l"/>
                      <a:r>
                        <a:rPr sz="1100" b="0" i="0">
                          <a:solidFill>
                            <a:srgbClr val="0070C0"/>
                          </a:solidFill>
                          <a:latin typeface="Calibri"/>
                        </a:rPr>
                        <a:t>17.2.</a:t>
                      </a:r>
                      <a:r>
                        <a:rPr sz="700" b="0" i="0">
                          <a:solidFill>
                            <a:srgbClr val="0070C0"/>
                          </a:solidFill>
                          <a:latin typeface="Times New Roman"/>
                        </a:rPr>
                        <a:t>  </a:t>
                      </a:r>
                      <a:r>
                        <a:rPr sz="1100" b="0" i="0">
                          <a:solidFill>
                            <a:srgbClr val="0070C0"/>
                          </a:solidFill>
                          <a:latin typeface="Calibri"/>
                        </a:rPr>
                        <a:t>2026–2036: Forecast Outlook</a:t>
                      </a:r>
                      <a:endParaRPr sz="1100"/>
                    </a:p>
                  </a:txBody>
                  <a:tcPr marL="428625" marR="9525" marT="9525" marB="0" anchor="ctr"/>
                </a:tc>
              </a:tr>
              <a:tr h="175260">
                <a:tc>
                  <a:txBody>
                    <a:bodyPr wrap="square"/>
                    <a:lstStyle/>
                    <a:p>
                      <a:pPr algn="l"/>
                      <a:r>
                        <a:rPr sz="1100" b="0" i="0">
                          <a:solidFill>
                            <a:srgbClr val="0070C0"/>
                          </a:solidFill>
                          <a:latin typeface="Calibri"/>
                        </a:rPr>
                        <a:t>17.3.</a:t>
                      </a:r>
                      <a:r>
                        <a:rPr sz="700" b="0" i="0">
                          <a:solidFill>
                            <a:srgbClr val="0070C0"/>
                          </a:solidFill>
                          <a:latin typeface="Times New Roman"/>
                        </a:rPr>
                        <a:t>  </a:t>
                      </a:r>
                      <a:r>
                        <a:rPr sz="1100" b="0" i="0">
                          <a:solidFill>
                            <a:srgbClr val="0070C0"/>
                          </a:solidFill>
                          <a:latin typeface="Calibri"/>
                        </a:rPr>
                        <a:t>Y-o-Y Growth Trend Analysis</a:t>
                      </a:r>
                      <a:endParaRPr sz="1100"/>
                    </a:p>
                  </a:txBody>
                  <a:tcPr marL="428625" marR="9525" marT="9525" marB="0" anchor="ctr"/>
                </a:tc>
              </a:tr>
              <a:tr h="175260">
                <a:tc>
                  <a:txBody>
                    <a:bodyPr wrap="square"/>
                    <a:lstStyle/>
                    <a:p>
                      <a:pPr algn="l"/>
                      <a:r>
                        <a:rPr sz="1100" b="0" i="0">
                          <a:solidFill>
                            <a:srgbClr val="0070C0"/>
                          </a:solidFill>
                          <a:latin typeface="Calibri"/>
                        </a:rPr>
                        <a:t>17.4.</a:t>
                      </a:r>
                      <a:r>
                        <a:rPr sz="700" b="0" i="0">
                          <a:solidFill>
                            <a:srgbClr val="0070C0"/>
                          </a:solidFill>
                          <a:latin typeface="Times New Roman"/>
                        </a:rPr>
                        <a:t>  </a:t>
                      </a:r>
                      <a:r>
                        <a:rPr sz="1100" b="0" i="0">
                          <a:solidFill>
                            <a:srgbClr val="0070C0"/>
                          </a:solidFill>
                          <a:latin typeface="Calibri"/>
                        </a:rPr>
                        <a:t>Absolute $ Opportunity Analysis</a:t>
                      </a:r>
                      <a:endParaRPr sz="1100"/>
                    </a:p>
                  </a:txBody>
                  <a:tcPr marL="428625" marR="9525" marT="9525" marB="0" anchor="ctr"/>
                </a:tc>
              </a:tr>
              <a:tr h="175260">
                <a:tc>
                  <a:txBody>
                    <a:bodyPr wrap="square"/>
                    <a:lstStyle/>
                    <a:p>
                      <a:pPr algn="l"/>
                      <a:r>
                        <a:rPr sz="1100" b="0" i="0">
                          <a:solidFill>
                            <a:srgbClr val="000000"/>
                          </a:solidFill>
                          <a:latin typeface="Calibri"/>
                        </a:rPr>
                        <a:t>17.4.1.</a:t>
                      </a:r>
                      <a:r>
                        <a:rPr sz="700" b="0" i="0">
                          <a:solidFill>
                            <a:srgbClr val="000000"/>
                          </a:solidFill>
                          <a:latin typeface="Times New Roman"/>
                        </a:rPr>
                        <a:t> </a:t>
                      </a:r>
                      <a:r>
                        <a:rPr sz="1100" b="0" i="0">
                          <a:solidFill>
                            <a:srgbClr val="000000"/>
                          </a:solidFill>
                          <a:latin typeface="Calibri"/>
                        </a:rPr>
                        <a:t>By Nature</a:t>
                      </a:r>
                      <a:endParaRPr sz="1100"/>
                    </a:p>
                  </a:txBody>
                  <a:tcPr marL="771525" marR="9525" marT="9525" marB="0" anchor="ctr"/>
                </a:tc>
              </a:tr>
              <a:tr h="175260">
                <a:tc>
                  <a:txBody>
                    <a:bodyPr wrap="square"/>
                    <a:lstStyle/>
                    <a:p>
                      <a:pPr algn="l"/>
                      <a:r>
                        <a:rPr sz="1100" b="0" i="0">
                          <a:solidFill>
                            <a:srgbClr val="000000"/>
                          </a:solidFill>
                          <a:latin typeface="Calibri"/>
                        </a:rPr>
                        <a:t>17.4.2.</a:t>
                      </a:r>
                      <a:r>
                        <a:rPr sz="700" b="0" i="0">
                          <a:solidFill>
                            <a:srgbClr val="000000"/>
                          </a:solidFill>
                          <a:latin typeface="Times New Roman"/>
                        </a:rPr>
                        <a:t> </a:t>
                      </a:r>
                      <a:r>
                        <a:rPr sz="1100" b="0" i="0">
                          <a:solidFill>
                            <a:srgbClr val="000000"/>
                          </a:solidFill>
                          <a:latin typeface="Calibri"/>
                        </a:rPr>
                        <a:t>By Product Type</a:t>
                      </a:r>
                      <a:endParaRPr sz="1100"/>
                    </a:p>
                  </a:txBody>
                  <a:tcPr marL="771525" marR="9525" marT="9525" marB="0" anchor="ctr"/>
                </a:tc>
              </a:tr>
              <a:tr h="175260">
                <a:tc>
                  <a:txBody>
                    <a:bodyPr wrap="square"/>
                    <a:lstStyle/>
                    <a:p>
                      <a:pPr algn="l"/>
                      <a:r>
                        <a:rPr sz="1100" b="0" i="0">
                          <a:solidFill>
                            <a:srgbClr val="000000"/>
                          </a:solidFill>
                          <a:latin typeface="Calibri"/>
                        </a:rPr>
                        <a:t>17.4.3.</a:t>
                      </a:r>
                      <a:r>
                        <a:rPr sz="700" b="0" i="0">
                          <a:solidFill>
                            <a:srgbClr val="000000"/>
                          </a:solidFill>
                          <a:latin typeface="Times New Roman"/>
                        </a:rPr>
                        <a:t> </a:t>
                      </a:r>
                      <a:r>
                        <a:rPr sz="1100" b="0" i="0">
                          <a:solidFill>
                            <a:srgbClr val="000000"/>
                          </a:solidFill>
                          <a:latin typeface="Calibri"/>
                        </a:rPr>
                        <a:t>By Form</a:t>
                      </a:r>
                      <a:endParaRPr sz="1100"/>
                    </a:p>
                  </a:txBody>
                  <a:tcPr marL="771525" marR="9525" marT="9525" marB="0" anchor="ctr"/>
                </a:tc>
              </a:tr>
              <a:tr h="175260">
                <a:tc>
                  <a:txBody>
                    <a:bodyPr wrap="square"/>
                    <a:lstStyle/>
                    <a:p>
                      <a:pPr algn="l"/>
                      <a:r>
                        <a:rPr sz="1100" b="0" i="0">
                          <a:solidFill>
                            <a:srgbClr val="000000"/>
                          </a:solidFill>
                          <a:latin typeface="Calibri"/>
                        </a:rPr>
                        <a:t>17.4.4.</a:t>
                      </a:r>
                      <a:r>
                        <a:rPr sz="700" b="0" i="0">
                          <a:solidFill>
                            <a:srgbClr val="000000"/>
                          </a:solidFill>
                          <a:latin typeface="Times New Roman"/>
                        </a:rPr>
                        <a:t> </a:t>
                      </a:r>
                      <a:r>
                        <a:rPr sz="1100" b="0" i="0">
                          <a:solidFill>
                            <a:srgbClr val="000000"/>
                          </a:solidFill>
                          <a:latin typeface="Calibri"/>
                        </a:rPr>
                        <a:t>By Flavour</a:t>
                      </a:r>
                      <a:endParaRPr sz="1100"/>
                    </a:p>
                  </a:txBody>
                  <a:tcPr marL="771525" marR="9525" marT="9525" marB="0" anchor="ctr"/>
                </a:tc>
              </a:tr>
              <a:tr h="175260">
                <a:tc>
                  <a:txBody>
                    <a:bodyPr wrap="square"/>
                    <a:lstStyle/>
                    <a:p>
                      <a:pPr algn="l"/>
                      <a:r>
                        <a:rPr sz="1100" b="0" i="0">
                          <a:solidFill>
                            <a:srgbClr val="000000"/>
                          </a:solidFill>
                          <a:latin typeface="Calibri"/>
                        </a:rPr>
                        <a:t>17.4.5.</a:t>
                      </a:r>
                      <a:r>
                        <a:rPr sz="700" b="0" i="0">
                          <a:solidFill>
                            <a:srgbClr val="000000"/>
                          </a:solidFill>
                          <a:latin typeface="Times New Roman"/>
                        </a:rPr>
                        <a:t> </a:t>
                      </a:r>
                      <a:r>
                        <a:rPr sz="1100" b="0" i="0">
                          <a:solidFill>
                            <a:srgbClr val="000000"/>
                          </a:solidFill>
                          <a:latin typeface="Calibri"/>
                        </a:rPr>
                        <a:t>By Packaging Type</a:t>
                      </a:r>
                      <a:endParaRPr sz="1100"/>
                    </a:p>
                  </a:txBody>
                  <a:tcPr marL="771525" marR="9525" marT="9525" marB="0" anchor="ctr"/>
                </a:tc>
              </a:tr>
              <a:tr h="175260">
                <a:tc>
                  <a:txBody>
                    <a:bodyPr wrap="square"/>
                    <a:lstStyle/>
                    <a:p>
                      <a:pPr algn="l"/>
                      <a:r>
                        <a:rPr sz="1100" b="0" i="0">
                          <a:solidFill>
                            <a:srgbClr val="000000"/>
                          </a:solidFill>
                          <a:latin typeface="Calibri"/>
                        </a:rPr>
                        <a:t>17.4.6.</a:t>
                      </a:r>
                      <a:r>
                        <a:rPr sz="700" b="0" i="0">
                          <a:solidFill>
                            <a:srgbClr val="000000"/>
                          </a:solidFill>
                          <a:latin typeface="Times New Roman"/>
                        </a:rPr>
                        <a:t> </a:t>
                      </a:r>
                      <a:r>
                        <a:rPr sz="1100" b="0" i="0">
                          <a:solidFill>
                            <a:srgbClr val="000000"/>
                          </a:solidFill>
                          <a:latin typeface="Calibri"/>
                        </a:rPr>
                        <a:t>By Grade Type</a:t>
                      </a:r>
                      <a:endParaRPr sz="1100"/>
                    </a:p>
                  </a:txBody>
                  <a:tcPr marL="771525" marR="9525" marT="9525" marB="0" anchor="ctr"/>
                </a:tc>
              </a:tr>
              <a:tr h="175260">
                <a:tc>
                  <a:txBody>
                    <a:bodyPr wrap="square"/>
                    <a:lstStyle/>
                    <a:p>
                      <a:pPr algn="l"/>
                      <a:r>
                        <a:rPr sz="1100" b="0" i="0">
                          <a:solidFill>
                            <a:srgbClr val="000000"/>
                          </a:solidFill>
                          <a:latin typeface="Calibri"/>
                        </a:rPr>
                        <a:t>17.4.7.</a:t>
                      </a:r>
                      <a:r>
                        <a:rPr sz="700" b="0" i="0">
                          <a:solidFill>
                            <a:srgbClr val="000000"/>
                          </a:solidFill>
                          <a:latin typeface="Times New Roman"/>
                        </a:rPr>
                        <a:t> </a:t>
                      </a:r>
                      <a:r>
                        <a:rPr sz="1100" b="0" i="0">
                          <a:solidFill>
                            <a:srgbClr val="000000"/>
                          </a:solidFill>
                          <a:latin typeface="Calibri"/>
                        </a:rPr>
                        <a:t>By Application</a:t>
                      </a:r>
                      <a:endParaRPr sz="1100"/>
                    </a:p>
                  </a:txBody>
                  <a:tcPr marL="771525" marR="9525" marT="9525" marB="0" anchor="ctr"/>
                </a:tc>
              </a:tr>
              <a:tr h="175260">
                <a:tc>
                  <a:txBody>
                    <a:bodyPr wrap="square"/>
                    <a:lstStyle/>
                    <a:p>
                      <a:pPr algn="l"/>
                      <a:r>
                        <a:rPr sz="1100" b="0" i="0">
                          <a:solidFill>
                            <a:srgbClr val="000000"/>
                          </a:solidFill>
                          <a:latin typeface="Calibri"/>
                        </a:rPr>
                        <a:t>17.4.8.</a:t>
                      </a:r>
                      <a:r>
                        <a:rPr sz="700" b="0" i="0">
                          <a:solidFill>
                            <a:srgbClr val="000000"/>
                          </a:solidFill>
                          <a:latin typeface="Times New Roman"/>
                        </a:rPr>
                        <a:t> </a:t>
                      </a:r>
                      <a:r>
                        <a:rPr sz="1100" b="0" i="0">
                          <a:solidFill>
                            <a:srgbClr val="000000"/>
                          </a:solidFill>
                          <a:latin typeface="Calibri"/>
                        </a:rPr>
                        <a:t>By Distribution Channel</a:t>
                      </a:r>
                      <a:endParaRPr sz="1100"/>
                    </a:p>
                  </a:txBody>
                  <a:tcPr marL="771525" marR="9525" marT="9525" marB="0" anchor="ctr"/>
                </a:tc>
              </a:tr>
              <a:tr h="175260">
                <a:tc>
                  <a:txBody>
                    <a:bodyPr wrap="square"/>
                    <a:lstStyle/>
                    <a:p>
                      <a:pPr algn="l"/>
                      <a:r>
                        <a:rPr sz="1100" b="0" i="0">
                          <a:solidFill>
                            <a:srgbClr val="000000"/>
                          </a:solidFill>
                          <a:latin typeface="Calibri"/>
                        </a:rPr>
                        <a:t>17.4.9.</a:t>
                      </a:r>
                      <a:r>
                        <a:rPr sz="700" b="0" i="0">
                          <a:solidFill>
                            <a:srgbClr val="000000"/>
                          </a:solidFill>
                          <a:latin typeface="Times New Roman"/>
                        </a:rPr>
                        <a:t> </a:t>
                      </a:r>
                      <a:r>
                        <a:rPr sz="1100" b="0" i="0">
                          <a:solidFill>
                            <a:srgbClr val="000000"/>
                          </a:solidFill>
                          <a:latin typeface="Calibri"/>
                        </a:rPr>
                        <a:t>By Country</a:t>
                      </a:r>
                      <a:endParaRPr sz="1100"/>
                    </a:p>
                  </a:txBody>
                  <a:tcPr marL="771525" marR="9525" marT="9525" marB="0" anchor="ctr"/>
                </a:tc>
              </a:tr>
              <a:tr h="175260">
                <a:tc>
                  <a:txBody>
                    <a:bodyPr wrap="square"/>
                    <a:lstStyle/>
                    <a:p>
                      <a:pPr algn="l"/>
                      <a:r>
                        <a:rPr sz="1100" b="1" i="0">
                          <a:solidFill>
                            <a:srgbClr val="000000"/>
                          </a:solidFill>
                          <a:latin typeface="Calibri"/>
                        </a:rPr>
                        <a:t>Section 3: Pricing Assessment</a:t>
                      </a:r>
                      <a:endParaRPr sz="1100"/>
                    </a:p>
                  </a:txBody>
                  <a:tcPr marL="9525" marR="9525" marT="9525" marB="0" anchor="ctr"/>
                </a:tc>
              </a:tr>
              <a:tr h="175260">
                <a:tc>
                  <a:txBody>
                    <a:bodyPr wrap="square"/>
                    <a:lstStyle/>
                    <a:p>
                      <a:pPr algn="l"/>
                      <a:r>
                        <a:rPr sz="1100" b="1" i="0">
                          <a:solidFill>
                            <a:srgbClr val="000000"/>
                          </a:solidFill>
                          <a:latin typeface="Calibri"/>
                        </a:rPr>
                        <a:t>18.</a:t>
                      </a:r>
                      <a:r>
                        <a:rPr sz="700" b="1" i="0">
                          <a:solidFill>
                            <a:srgbClr val="000000"/>
                          </a:solidFill>
                          <a:latin typeface="Times New Roman"/>
                        </a:rPr>
                        <a:t>    </a:t>
                      </a:r>
                      <a:r>
                        <a:rPr sz="1100" b="1" i="0">
                          <a:solidFill>
                            <a:srgbClr val="000000"/>
                          </a:solidFill>
                          <a:latin typeface="Calibri"/>
                        </a:rPr>
                        <a:t>Global Pricing Analysis</a:t>
                      </a:r>
                      <a:endParaRPr sz="1100"/>
                    </a:p>
                  </a:txBody>
                  <a:tcPr marL="171450" marR="9525" marT="9525" marB="0" anchor="ctr"/>
                </a:tc>
              </a:tr>
              <a:tr h="175260">
                <a:tc>
                  <a:txBody>
                    <a:bodyPr wrap="square"/>
                    <a:lstStyle/>
                    <a:p>
                      <a:pPr algn="l"/>
                      <a:r>
                        <a:rPr sz="1100" b="0" i="0">
                          <a:solidFill>
                            <a:srgbClr val="0070C0"/>
                          </a:solidFill>
                          <a:latin typeface="Calibri"/>
                        </a:rPr>
                        <a:t>18.1.</a:t>
                      </a:r>
                      <a:r>
                        <a:rPr sz="700" b="0" i="0">
                          <a:solidFill>
                            <a:srgbClr val="0070C0"/>
                          </a:solidFill>
                          <a:latin typeface="Times New Roman"/>
                        </a:rPr>
                        <a:t>  </a:t>
                      </a:r>
                      <a:r>
                        <a:rPr sz="1100" b="0" i="0">
                          <a:solidFill>
                            <a:srgbClr val="0070C0"/>
                          </a:solidFill>
                          <a:latin typeface="Calibri"/>
                        </a:rPr>
                        <a:t>Regional Price Assessment</a:t>
                      </a:r>
                      <a:endParaRPr sz="1100"/>
                    </a:p>
                  </a:txBody>
                  <a:tcPr marL="428625" marR="9525" marT="9525" marB="0" anchor="ctr"/>
                </a:tc>
              </a:tr>
              <a:tr h="175260">
                <a:tc>
                  <a:txBody>
                    <a:bodyPr wrap="square"/>
                    <a:lstStyle/>
                    <a:p>
                      <a:pPr algn="l"/>
                      <a:r>
                        <a:rPr sz="1100" b="0" i="0">
                          <a:solidFill>
                            <a:srgbClr val="000000"/>
                          </a:solidFill>
                          <a:latin typeface="Calibri"/>
                        </a:rPr>
                        <a:t>18.1.1.</a:t>
                      </a:r>
                      <a:r>
                        <a:rPr sz="700" b="0" i="0">
                          <a:solidFill>
                            <a:srgbClr val="000000"/>
                          </a:solidFill>
                          <a:latin typeface="Times New Roman"/>
                        </a:rPr>
                        <a:t> </a:t>
                      </a:r>
                      <a:r>
                        <a:rPr sz="1100" b="0" i="0">
                          <a:solidFill>
                            <a:srgbClr val="000000"/>
                          </a:solidFill>
                          <a:latin typeface="Calibri"/>
                        </a:rPr>
                        <a:t>Manufacturer Level Pricing</a:t>
                      </a:r>
                      <a:endParaRPr sz="1100"/>
                    </a:p>
                  </a:txBody>
                  <a:tcPr marL="771525" marR="9525" marT="9525" marB="0" anchor="ctr"/>
                </a:tc>
              </a:tr>
              <a:tr h="175260">
                <a:tc>
                  <a:txBody>
                    <a:bodyPr wrap="square"/>
                    <a:lstStyle/>
                    <a:p>
                      <a:pPr algn="l"/>
                      <a:r>
                        <a:rPr sz="1100" b="0" i="0">
                          <a:solidFill>
                            <a:srgbClr val="000000"/>
                          </a:solidFill>
                          <a:latin typeface="Calibri"/>
                        </a:rPr>
                        <a:t>18.1.2.</a:t>
                      </a:r>
                      <a:r>
                        <a:rPr sz="700" b="0" i="0">
                          <a:solidFill>
                            <a:srgbClr val="000000"/>
                          </a:solidFill>
                          <a:latin typeface="Times New Roman"/>
                        </a:rPr>
                        <a:t> </a:t>
                      </a:r>
                      <a:r>
                        <a:rPr sz="1100" b="0" i="0">
                          <a:solidFill>
                            <a:srgbClr val="000000"/>
                          </a:solidFill>
                          <a:latin typeface="Calibri"/>
                        </a:rPr>
                        <a:t>Distributor Level Pricing</a:t>
                      </a:r>
                      <a:endParaRPr sz="1100"/>
                    </a:p>
                  </a:txBody>
                  <a:tcPr marL="771525" marR="9525" marT="9525" marB="0" anchor="ctr"/>
                </a:tc>
              </a:tr>
              <a:tr h="175260">
                <a:tc>
                  <a:txBody>
                    <a:bodyPr wrap="square"/>
                    <a:lstStyle/>
                    <a:p>
                      <a:pPr algn="l"/>
                      <a:r>
                        <a:rPr sz="1100" b="0" i="0">
                          <a:solidFill>
                            <a:srgbClr val="000000"/>
                          </a:solidFill>
                          <a:latin typeface="Calibri"/>
                        </a:rPr>
                        <a:t>18.1.3.</a:t>
                      </a:r>
                      <a:r>
                        <a:rPr sz="700" b="0" i="0">
                          <a:solidFill>
                            <a:srgbClr val="000000"/>
                          </a:solidFill>
                          <a:latin typeface="Times New Roman"/>
                        </a:rPr>
                        <a:t> </a:t>
                      </a:r>
                      <a:r>
                        <a:rPr sz="1100" b="0" i="0">
                          <a:solidFill>
                            <a:srgbClr val="000000"/>
                          </a:solidFill>
                          <a:latin typeface="Calibri"/>
                        </a:rPr>
                        <a:t>Retail Pricing (where applicable)</a:t>
                      </a:r>
                      <a:endParaRPr sz="1100"/>
                    </a:p>
                  </a:txBody>
                  <a:tcPr marL="771525" marR="9525" marT="9525" marB="0" anchor="ctr"/>
                </a:tc>
              </a:tr>
              <a:tr h="175260">
                <a:tc>
                  <a:txBody>
                    <a:bodyPr wrap="square"/>
                    <a:lstStyle/>
                    <a:p>
                      <a:pPr algn="l"/>
                      <a:r>
                        <a:rPr sz="1100" b="0" i="0">
                          <a:solidFill>
                            <a:srgbClr val="0070C0"/>
                          </a:solidFill>
                          <a:latin typeface="Calibri"/>
                        </a:rPr>
                        <a:t>18.2.</a:t>
                      </a:r>
                      <a:r>
                        <a:rPr sz="700" b="0" i="0">
                          <a:solidFill>
                            <a:srgbClr val="0070C0"/>
                          </a:solidFill>
                          <a:latin typeface="Times New Roman"/>
                        </a:rPr>
                        <a:t>  </a:t>
                      </a:r>
                      <a:r>
                        <a:rPr sz="1100" b="0" i="0">
                          <a:solidFill>
                            <a:srgbClr val="0070C0"/>
                          </a:solidFill>
                          <a:latin typeface="Calibri"/>
                        </a:rPr>
                        <a:t>Segment-wise Price Comparison (Nature vs Product Type)</a:t>
                      </a:r>
                      <a:endParaRPr sz="1100"/>
                    </a:p>
                  </a:txBody>
                  <a:tcPr marL="428625" marR="9525" marT="9525" marB="0" anchor="ctr"/>
                </a:tc>
              </a:tr>
              <a:tr h="175260">
                <a:tc>
                  <a:txBody>
                    <a:bodyPr wrap="square"/>
                    <a:lstStyle/>
                    <a:p>
                      <a:pPr algn="l"/>
                      <a:r>
                        <a:rPr sz="1100" b="0" i="0">
                          <a:solidFill>
                            <a:srgbClr val="0070C0"/>
                          </a:solidFill>
                          <a:latin typeface="Calibri"/>
                        </a:rPr>
                        <a:t>18.3.</a:t>
                      </a:r>
                      <a:r>
                        <a:rPr sz="700" b="0" i="0">
                          <a:solidFill>
                            <a:srgbClr val="0070C0"/>
                          </a:solidFill>
                          <a:latin typeface="Times New Roman"/>
                        </a:rPr>
                        <a:t>  </a:t>
                      </a:r>
                      <a:r>
                        <a:rPr sz="1100" b="0" i="0">
                          <a:solidFill>
                            <a:srgbClr val="0070C0"/>
                          </a:solidFill>
                          <a:latin typeface="Calibri"/>
                        </a:rPr>
                        <a:t>Country-wise Price Comparison (Nature)</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18.4.</a:t>
                      </a:r>
                      <a:r>
                        <a:rPr sz="700" b="0" i="0">
                          <a:solidFill>
                            <a:srgbClr val="0070C0"/>
                          </a:solidFill>
                          <a:latin typeface="Times New Roman"/>
                        </a:rPr>
                        <a:t>  </a:t>
                      </a:r>
                      <a:r>
                        <a:rPr sz="1100" b="0" i="0">
                          <a:solidFill>
                            <a:srgbClr val="0070C0"/>
                          </a:solidFill>
                          <a:latin typeface="Calibri"/>
                        </a:rPr>
                        <a:t>Price Forecast till 2036</a:t>
                      </a:r>
                      <a:endParaRPr sz="1100"/>
                    </a:p>
                  </a:txBody>
                  <a:tcPr marL="428625" marR="9525" marT="9525" marB="0" anchor="ctr"/>
                </a:tc>
              </a:tr>
              <a:tr h="175260">
                <a:tc>
                  <a:txBody>
                    <a:bodyPr wrap="square"/>
                    <a:lstStyle/>
                    <a:p>
                      <a:pPr algn="l"/>
                      <a:r>
                        <a:rPr sz="1100" b="0" i="0">
                          <a:solidFill>
                            <a:srgbClr val="0070C0"/>
                          </a:solidFill>
                          <a:latin typeface="Calibri"/>
                        </a:rPr>
                        <a:t>18.5.</a:t>
                      </a:r>
                      <a:r>
                        <a:rPr sz="700" b="0" i="0">
                          <a:solidFill>
                            <a:srgbClr val="0070C0"/>
                          </a:solidFill>
                          <a:latin typeface="Times New Roman"/>
                        </a:rPr>
                        <a:t>  </a:t>
                      </a:r>
                      <a:r>
                        <a:rPr sz="1100" b="0" i="0">
                          <a:solidFill>
                            <a:srgbClr val="0070C0"/>
                          </a:solidFill>
                          <a:latin typeface="Calibri"/>
                        </a:rPr>
                        <a:t>Factors Impacting Pricing</a:t>
                      </a:r>
                      <a:endParaRPr sz="1100"/>
                    </a:p>
                  </a:txBody>
                  <a:tcPr marL="428625" marR="9525" marT="9525" marB="0" anchor="ctr"/>
                </a:tc>
              </a:tr>
              <a:tr h="175260">
                <a:tc>
                  <a:txBody>
                    <a:bodyPr wrap="square"/>
                    <a:lstStyle/>
                    <a:p>
                      <a:pPr algn="l"/>
                      <a:r>
                        <a:rPr sz="1100" b="0" i="0">
                          <a:solidFill>
                            <a:srgbClr val="0070C0"/>
                          </a:solidFill>
                          <a:latin typeface="Calibri"/>
                        </a:rPr>
                        <a:t>18.6.</a:t>
                      </a:r>
                      <a:r>
                        <a:rPr sz="700" b="0" i="0">
                          <a:solidFill>
                            <a:srgbClr val="0070C0"/>
                          </a:solidFill>
                          <a:latin typeface="Times New Roman"/>
                        </a:rPr>
                        <a:t>  </a:t>
                      </a:r>
                      <a:r>
                        <a:rPr sz="1100" b="0" i="0">
                          <a:solidFill>
                            <a:srgbClr val="0070C0"/>
                          </a:solidFill>
                          <a:latin typeface="Calibri"/>
                        </a:rPr>
                        <a:t>Competitor Pricing Strategies</a:t>
                      </a:r>
                      <a:endParaRPr sz="1100"/>
                    </a:p>
                  </a:txBody>
                  <a:tcPr marL="428625" marR="9525" marT="9525" marB="0" anchor="ctr"/>
                </a:tc>
              </a:tr>
              <a:tr h="175260">
                <a:tc>
                  <a:txBody>
                    <a:bodyPr wrap="square"/>
                    <a:lstStyle/>
                    <a:p>
                      <a:pPr algn="l"/>
                      <a:r>
                        <a:rPr sz="1100" b="1" i="0">
                          <a:solidFill>
                            <a:srgbClr val="000000"/>
                          </a:solidFill>
                          <a:latin typeface="Calibri"/>
                        </a:rPr>
                        <a:t>19.</a:t>
                      </a:r>
                      <a:r>
                        <a:rPr sz="700" b="1" i="0">
                          <a:solidFill>
                            <a:srgbClr val="000000"/>
                          </a:solidFill>
                          <a:latin typeface="Times New Roman"/>
                        </a:rPr>
                        <a:t>    </a:t>
                      </a:r>
                      <a:r>
                        <a:rPr sz="1100" b="1" i="0">
                          <a:solidFill>
                            <a:srgbClr val="000000"/>
                          </a:solidFill>
                          <a:latin typeface="Calibri"/>
                        </a:rPr>
                        <a:t>Pricing Assessment</a:t>
                      </a:r>
                      <a:endParaRPr sz="1100"/>
                    </a:p>
                  </a:txBody>
                  <a:tcPr marL="171450" marR="9525" marT="9525" marB="0" anchor="ctr"/>
                </a:tc>
              </a:tr>
              <a:tr h="350520">
                <a:tc>
                  <a:txBody>
                    <a:bodyPr wrap="square"/>
                    <a:lstStyle/>
                    <a:p>
                      <a:pPr algn="l"/>
                      <a:r>
                        <a:rPr sz="1100" b="0" i="0">
                          <a:solidFill>
                            <a:srgbClr val="0070C0"/>
                          </a:solidFill>
                          <a:latin typeface="Calibri"/>
                        </a:rPr>
                        <a:t>19.1.</a:t>
                      </a:r>
                      <a:r>
                        <a:rPr sz="700" b="0" i="0">
                          <a:solidFill>
                            <a:srgbClr val="0070C0"/>
                          </a:solidFill>
                          <a:latin typeface="Times New Roman"/>
                        </a:rPr>
                        <a:t>  </a:t>
                      </a:r>
                      <a:r>
                        <a:rPr sz="1100" b="0" i="0">
                          <a:solidFill>
                            <a:srgbClr val="0070C0"/>
                          </a:solidFill>
                          <a:latin typeface="Calibri"/>
                        </a:rPr>
                        <a:t>Historical and forecast matcha prices by grade, origin, and processing method (2026–2036)</a:t>
                      </a:r>
                      <a:endParaRPr sz="1100"/>
                    </a:p>
                  </a:txBody>
                  <a:tcPr marL="428625" marR="9525" marT="9525" marB="0" anchor="ctr"/>
                </a:tc>
              </a:tr>
              <a:tr h="350520">
                <a:tc>
                  <a:txBody>
                    <a:bodyPr wrap="square"/>
                    <a:lstStyle/>
                    <a:p>
                      <a:pPr algn="l"/>
                      <a:r>
                        <a:rPr sz="1100" b="0" i="0">
                          <a:solidFill>
                            <a:srgbClr val="0070C0"/>
                          </a:solidFill>
                          <a:latin typeface="Calibri"/>
                        </a:rPr>
                        <a:t>19.2.</a:t>
                      </a:r>
                      <a:r>
                        <a:rPr sz="700" b="0" i="0">
                          <a:solidFill>
                            <a:srgbClr val="0070C0"/>
                          </a:solidFill>
                          <a:latin typeface="Times New Roman"/>
                        </a:rPr>
                        <a:t>  </a:t>
                      </a:r>
                      <a:r>
                        <a:rPr sz="1100" b="0" i="0">
                          <a:solidFill>
                            <a:srgbClr val="0070C0"/>
                          </a:solidFill>
                          <a:latin typeface="Calibri"/>
                        </a:rPr>
                        <a:t>Country-wise wholesale price benchmarks for ceremonial, premium, and culinary-grade matcha (USD/kg)</a:t>
                      </a:r>
                      <a:endParaRPr sz="1100"/>
                    </a:p>
                  </a:txBody>
                  <a:tcPr marL="428625" marR="9525" marT="9525" marB="0" anchor="ctr"/>
                </a:tc>
              </a:tr>
              <a:tr h="350520">
                <a:tc>
                  <a:txBody>
                    <a:bodyPr wrap="square"/>
                    <a:lstStyle/>
                    <a:p>
                      <a:pPr algn="l"/>
                      <a:r>
                        <a:rPr sz="1100" b="0" i="0">
                          <a:solidFill>
                            <a:srgbClr val="0070C0"/>
                          </a:solidFill>
                          <a:latin typeface="Calibri"/>
                        </a:rPr>
                        <a:t>19.3.</a:t>
                      </a:r>
                      <a:r>
                        <a:rPr sz="700" b="0" i="0">
                          <a:solidFill>
                            <a:srgbClr val="0070C0"/>
                          </a:solidFill>
                          <a:latin typeface="Times New Roman"/>
                        </a:rPr>
                        <a:t>  </a:t>
                      </a:r>
                      <a:r>
                        <a:rPr sz="1100" b="0" i="0">
                          <a:solidFill>
                            <a:srgbClr val="0070C0"/>
                          </a:solidFill>
                          <a:latin typeface="Calibri"/>
                        </a:rPr>
                        <a:t>Organic versus conventional matcha price differentials by origin and certification status</a:t>
                      </a:r>
                      <a:endParaRPr sz="1100"/>
                    </a:p>
                  </a:txBody>
                  <a:tcPr marL="428625" marR="9525" marT="9525" marB="0" anchor="ctr"/>
                </a:tc>
              </a:tr>
              <a:tr h="175260">
                <a:tc>
                  <a:txBody>
                    <a:bodyPr wrap="square"/>
                    <a:lstStyle/>
                    <a:p>
                      <a:pPr algn="l"/>
                      <a:r>
                        <a:rPr sz="1100" b="0" i="0">
                          <a:solidFill>
                            <a:srgbClr val="0070C0"/>
                          </a:solidFill>
                          <a:latin typeface="Calibri"/>
                        </a:rPr>
                        <a:t>19.4.</a:t>
                      </a:r>
                      <a:r>
                        <a:rPr sz="700" b="0" i="0">
                          <a:solidFill>
                            <a:srgbClr val="0070C0"/>
                          </a:solidFill>
                          <a:latin typeface="Times New Roman"/>
                        </a:rPr>
                        <a:t>  </a:t>
                      </a:r>
                      <a:r>
                        <a:rPr sz="1100" b="0" i="0">
                          <a:solidFill>
                            <a:srgbClr val="0070C0"/>
                          </a:solidFill>
                          <a:latin typeface="Calibri"/>
                        </a:rPr>
                        <a:t>Bulk procurement prices by order volume, packaging format, and delivery terms</a:t>
                      </a:r>
                      <a:endParaRPr sz="1100"/>
                    </a:p>
                  </a:txBody>
                  <a:tcPr marL="428625" marR="9525" marT="9525" marB="0" anchor="ctr"/>
                </a:tc>
              </a:tr>
              <a:tr h="350520">
                <a:tc>
                  <a:txBody>
                    <a:bodyPr wrap="square"/>
                    <a:lstStyle/>
                    <a:p>
                      <a:pPr algn="l"/>
                      <a:r>
                        <a:rPr sz="1100" b="0" i="0">
                          <a:solidFill>
                            <a:srgbClr val="0070C0"/>
                          </a:solidFill>
                          <a:latin typeface="Calibri"/>
                        </a:rPr>
                        <a:t>19.5.</a:t>
                      </a:r>
                      <a:r>
                        <a:rPr sz="700" b="0" i="0">
                          <a:solidFill>
                            <a:srgbClr val="0070C0"/>
                          </a:solidFill>
                          <a:latin typeface="Times New Roman"/>
                        </a:rPr>
                        <a:t>  </a:t>
                      </a:r>
                      <a:r>
                        <a:rPr sz="1100" b="0" i="0">
                          <a:solidFill>
                            <a:srgbClr val="0070C0"/>
                          </a:solidFill>
                          <a:latin typeface="Calibri"/>
                        </a:rPr>
                        <a:t>Supplier quotation benchmarking by colour, flavour, particle size, and quality specifications</a:t>
                      </a:r>
                      <a:endParaRPr sz="1100"/>
                    </a:p>
                  </a:txBody>
                  <a:tcPr marL="428625" marR="9525" marT="9525" marB="0" anchor="ctr"/>
                </a:tc>
              </a:tr>
              <a:tr h="175260">
                <a:tc>
                  <a:txBody>
                    <a:bodyPr wrap="square"/>
                    <a:lstStyle/>
                    <a:p>
                      <a:pPr algn="l"/>
                      <a:r>
                        <a:rPr sz="1100" b="0" i="0">
                          <a:solidFill>
                            <a:srgbClr val="0070C0"/>
                          </a:solidFill>
                          <a:latin typeface="Calibri"/>
                        </a:rPr>
                        <a:t>19.6.</a:t>
                      </a:r>
                      <a:r>
                        <a:rPr sz="700" b="0" i="0">
                          <a:solidFill>
                            <a:srgbClr val="0070C0"/>
                          </a:solidFill>
                          <a:latin typeface="Times New Roman"/>
                        </a:rPr>
                        <a:t>  </a:t>
                      </a:r>
                      <a:r>
                        <a:rPr sz="1100" b="0" i="0">
                          <a:solidFill>
                            <a:srgbClr val="0070C0"/>
                          </a:solidFill>
                          <a:latin typeface="Calibri"/>
                        </a:rPr>
                        <a:t>Year-on-year price changes and price volatility by grade and sourcing country</a:t>
                      </a:r>
                      <a:endParaRPr sz="1100"/>
                    </a:p>
                  </a:txBody>
                  <a:tcPr marL="428625" marR="9525" marT="9525" marB="0" anchor="ctr"/>
                </a:tc>
              </a:tr>
              <a:tr h="175260">
                <a:tc>
                  <a:txBody>
                    <a:bodyPr wrap="square"/>
                    <a:lstStyle/>
                    <a:p>
                      <a:pPr algn="l"/>
                      <a:r>
                        <a:rPr sz="1100" b="0" i="0">
                          <a:solidFill>
                            <a:srgbClr val="0070C0"/>
                          </a:solidFill>
                          <a:latin typeface="Calibri"/>
                        </a:rPr>
                        <a:t>19.7.</a:t>
                      </a:r>
                      <a:r>
                        <a:rPr sz="700" b="0" i="0">
                          <a:solidFill>
                            <a:srgbClr val="0070C0"/>
                          </a:solidFill>
                          <a:latin typeface="Times New Roman"/>
                        </a:rPr>
                        <a:t>  </a:t>
                      </a:r>
                      <a:r>
                        <a:rPr sz="1100" b="0" i="0">
                          <a:solidFill>
                            <a:srgbClr val="0070C0"/>
                          </a:solidFill>
                          <a:latin typeface="Calibri"/>
                        </a:rPr>
                        <a:t>Matcha price forecast, CAGR, and absolute price change by grade and origin</a:t>
                      </a:r>
                      <a:endParaRPr sz="1100"/>
                    </a:p>
                  </a:txBody>
                  <a:tcPr marL="428625" marR="9525" marT="9525" marB="0" anchor="ctr"/>
                </a:tc>
              </a:tr>
              <a:tr h="350520">
                <a:tc>
                  <a:txBody>
                    <a:bodyPr wrap="square"/>
                    <a:lstStyle/>
                    <a:p>
                      <a:pPr algn="l"/>
                      <a:r>
                        <a:rPr sz="1100" b="0" i="0">
                          <a:solidFill>
                            <a:srgbClr val="0070C0"/>
                          </a:solidFill>
                          <a:latin typeface="Calibri"/>
                        </a:rPr>
                        <a:t>19.8.</a:t>
                      </a:r>
                      <a:r>
                        <a:rPr sz="700" b="0" i="0">
                          <a:solidFill>
                            <a:srgbClr val="0070C0"/>
                          </a:solidFill>
                          <a:latin typeface="Times New Roman"/>
                        </a:rPr>
                        <a:t>  </a:t>
                      </a:r>
                      <a:r>
                        <a:rPr sz="1100" b="0" i="0">
                          <a:solidFill>
                            <a:srgbClr val="0070C0"/>
                          </a:solidFill>
                          <a:latin typeface="Calibri"/>
                        </a:rPr>
                        <a:t>Delivered price comparison by sourcing country, freight cost, tariffs, and import destination</a:t>
                      </a:r>
                      <a:endParaRPr sz="1100"/>
                    </a:p>
                  </a:txBody>
                  <a:tcPr marL="428625" marR="9525" marT="9525" marB="0" anchor="ctr"/>
                </a:tc>
              </a:tr>
              <a:tr h="175260">
                <a:tc>
                  <a:txBody>
                    <a:bodyPr wrap="square"/>
                    <a:lstStyle/>
                    <a:p>
                      <a:pPr algn="l"/>
                      <a:r>
                        <a:rPr sz="1100" b="1" i="0">
                          <a:solidFill>
                            <a:srgbClr val="000000"/>
                          </a:solidFill>
                          <a:latin typeface="Calibri"/>
                        </a:rPr>
                        <a:t>Section 4: Market Dynamics</a:t>
                      </a:r>
                      <a:endParaRPr sz="1100"/>
                    </a:p>
                  </a:txBody>
                  <a:tcPr marL="9525" marR="9525" marT="9525" marB="0" anchor="ctr"/>
                </a:tc>
              </a:tr>
              <a:tr h="175260">
                <a:tc>
                  <a:txBody>
                    <a:bodyPr wrap="square"/>
                    <a:lstStyle/>
                    <a:p>
                      <a:pPr algn="l"/>
                      <a:r>
                        <a:rPr sz="1100" b="1" i="0">
                          <a:solidFill>
                            <a:srgbClr val="000000"/>
                          </a:solidFill>
                          <a:latin typeface="Calibri"/>
                        </a:rPr>
                        <a:t>20.</a:t>
                      </a:r>
                      <a:r>
                        <a:rPr sz="700" b="1" i="0">
                          <a:solidFill>
                            <a:srgbClr val="000000"/>
                          </a:solidFill>
                          <a:latin typeface="Times New Roman"/>
                        </a:rPr>
                        <a:t>    </a:t>
                      </a:r>
                      <a:r>
                        <a:rPr sz="1100" b="1" i="0">
                          <a:solidFill>
                            <a:srgbClr val="000000"/>
                          </a:solidFill>
                          <a:latin typeface="Calibri"/>
                        </a:rPr>
                        <a:t>Innovation Tracker</a:t>
                      </a:r>
                      <a:endParaRPr sz="1100"/>
                    </a:p>
                  </a:txBody>
                  <a:tcPr marL="171450" marR="9525" marT="9525" marB="0" anchor="ctr"/>
                </a:tc>
              </a:tr>
              <a:tr h="175260">
                <a:tc>
                  <a:txBody>
                    <a:bodyPr wrap="square"/>
                    <a:lstStyle/>
                    <a:p>
                      <a:pPr algn="l"/>
                      <a:r>
                        <a:rPr sz="1100" b="0" i="0">
                          <a:solidFill>
                            <a:srgbClr val="0070C0"/>
                          </a:solidFill>
                          <a:latin typeface="Calibri"/>
                        </a:rPr>
                        <a:t>20.1.</a:t>
                      </a:r>
                      <a:r>
                        <a:rPr sz="700" b="0" i="0">
                          <a:solidFill>
                            <a:srgbClr val="0070C0"/>
                          </a:solidFill>
                          <a:latin typeface="Times New Roman"/>
                        </a:rPr>
                        <a:t>  </a:t>
                      </a:r>
                      <a:r>
                        <a:rPr sz="1100" b="0" i="0">
                          <a:solidFill>
                            <a:srgbClr val="0070C0"/>
                          </a:solidFill>
                          <a:latin typeface="Calibri"/>
                        </a:rPr>
                        <a:t>Major Deals and Strategic Alliance</a:t>
                      </a:r>
                      <a:endParaRPr sz="1100"/>
                    </a:p>
                  </a:txBody>
                  <a:tcPr marL="428625" marR="9525" marT="9525" marB="0" anchor="ctr"/>
                </a:tc>
              </a:tr>
              <a:tr h="175260">
                <a:tc>
                  <a:txBody>
                    <a:bodyPr wrap="square"/>
                    <a:lstStyle/>
                    <a:p>
                      <a:pPr algn="l"/>
                      <a:r>
                        <a:rPr sz="1100" b="0" i="0">
                          <a:solidFill>
                            <a:srgbClr val="000000"/>
                          </a:solidFill>
                          <a:latin typeface="Calibri"/>
                        </a:rPr>
                        <a:t>20.1.1.</a:t>
                      </a:r>
                      <a:r>
                        <a:rPr sz="700" b="0" i="0">
                          <a:solidFill>
                            <a:srgbClr val="000000"/>
                          </a:solidFill>
                          <a:latin typeface="Times New Roman"/>
                        </a:rPr>
                        <a:t> </a:t>
                      </a:r>
                      <a:r>
                        <a:rPr sz="1100" b="0" i="0">
                          <a:solidFill>
                            <a:srgbClr val="000000"/>
                          </a:solidFill>
                          <a:latin typeface="Calibri"/>
                        </a:rPr>
                        <a:t>Joint Ventures, M&amp;A, Licensing &amp; Partnerships</a:t>
                      </a:r>
                      <a:endParaRPr sz="1100"/>
                    </a:p>
                  </a:txBody>
                  <a:tcPr marL="771525" marR="9525" marT="9525" marB="0" anchor="ctr"/>
                </a:tc>
              </a:tr>
              <a:tr h="175260">
                <a:tc>
                  <a:txBody>
                    <a:bodyPr wrap="square"/>
                    <a:lstStyle/>
                    <a:p>
                      <a:pPr algn="l"/>
                      <a:r>
                        <a:rPr sz="1100" b="0" i="0">
                          <a:solidFill>
                            <a:srgbClr val="000000"/>
                          </a:solidFill>
                          <a:latin typeface="Calibri"/>
                        </a:rPr>
                        <a:t>20.1.2.</a:t>
                      </a:r>
                      <a:r>
                        <a:rPr sz="700" b="0" i="0">
                          <a:solidFill>
                            <a:srgbClr val="000000"/>
                          </a:solidFill>
                          <a:latin typeface="Times New Roman"/>
                        </a:rPr>
                        <a:t> </a:t>
                      </a:r>
                      <a:r>
                        <a:rPr sz="1100" b="0" i="0">
                          <a:solidFill>
                            <a:srgbClr val="000000"/>
                          </a:solidFill>
                          <a:latin typeface="Calibri"/>
                        </a:rPr>
                        <a:t>Technology Collaboration</a:t>
                      </a:r>
                      <a:endParaRPr sz="1100"/>
                    </a:p>
                  </a:txBody>
                  <a:tcPr marL="771525" marR="9525" marT="9525" marB="0" anchor="ctr"/>
                </a:tc>
              </a:tr>
              <a:tr h="175260">
                <a:tc>
                  <a:txBody>
                    <a:bodyPr wrap="square"/>
                    <a:lstStyle/>
                    <a:p>
                      <a:pPr algn="l"/>
                      <a:r>
                        <a:rPr sz="1100" b="0" i="0">
                          <a:solidFill>
                            <a:srgbClr val="000000"/>
                          </a:solidFill>
                          <a:latin typeface="Calibri"/>
                        </a:rPr>
                        <a:t>20.1.3.</a:t>
                      </a:r>
                      <a:r>
                        <a:rPr sz="700" b="0" i="0">
                          <a:solidFill>
                            <a:srgbClr val="000000"/>
                          </a:solidFill>
                          <a:latin typeface="Times New Roman"/>
                        </a:rPr>
                        <a:t> </a:t>
                      </a:r>
                      <a:r>
                        <a:rPr sz="1100" b="0" i="0">
                          <a:solidFill>
                            <a:srgbClr val="000000"/>
                          </a:solidFill>
                          <a:latin typeface="Calibri"/>
                        </a:rPr>
                        <a:t>Strategic Divestments/ Investments</a:t>
                      </a:r>
                      <a:endParaRPr sz="1100"/>
                    </a:p>
                  </a:txBody>
                  <a:tcPr marL="771525" marR="9525" marT="9525" marB="0" anchor="ctr"/>
                </a:tc>
              </a:tr>
              <a:tr h="175260">
                <a:tc>
                  <a:txBody>
                    <a:bodyPr wrap="square"/>
                    <a:lstStyle/>
                    <a:p>
                      <a:pPr algn="l"/>
                      <a:r>
                        <a:rPr sz="1100" b="0" i="0">
                          <a:solidFill>
                            <a:srgbClr val="0070C0"/>
                          </a:solidFill>
                          <a:latin typeface="Calibri"/>
                        </a:rPr>
                        <a:t>20.2.</a:t>
                      </a:r>
                      <a:r>
                        <a:rPr sz="700" b="0" i="0">
                          <a:solidFill>
                            <a:srgbClr val="0070C0"/>
                          </a:solidFill>
                          <a:latin typeface="Times New Roman"/>
                        </a:rPr>
                        <a:t>  </a:t>
                      </a:r>
                      <a:r>
                        <a:rPr sz="1100" b="0" i="0">
                          <a:solidFill>
                            <a:srgbClr val="0070C0"/>
                          </a:solidFill>
                          <a:latin typeface="Calibri"/>
                        </a:rPr>
                        <a:t>Product Launches &amp; Development</a:t>
                      </a:r>
                      <a:endParaRPr sz="1100"/>
                    </a:p>
                  </a:txBody>
                  <a:tcPr marL="428625" marR="9525" marT="9525" marB="0" anchor="ctr"/>
                </a:tc>
              </a:tr>
              <a:tr h="175260">
                <a:tc>
                  <a:txBody>
                    <a:bodyPr wrap="square"/>
                    <a:lstStyle/>
                    <a:p>
                      <a:pPr algn="l"/>
                      <a:r>
                        <a:rPr sz="1100" b="1" i="0">
                          <a:solidFill>
                            <a:srgbClr val="000000"/>
                          </a:solidFill>
                          <a:latin typeface="Calibri"/>
                        </a:rPr>
                        <a:t>21.</a:t>
                      </a:r>
                      <a:r>
                        <a:rPr sz="700" b="1" i="0">
                          <a:solidFill>
                            <a:srgbClr val="000000"/>
                          </a:solidFill>
                          <a:latin typeface="Times New Roman"/>
                        </a:rPr>
                        <a:t>    </a:t>
                      </a:r>
                      <a:r>
                        <a:rPr sz="1100" b="1" i="0">
                          <a:solidFill>
                            <a:srgbClr val="000000"/>
                          </a:solidFill>
                          <a:latin typeface="Calibri"/>
                        </a:rPr>
                        <a:t>Application-wise Demand and Use-case Analysis</a:t>
                      </a:r>
                      <a:endParaRPr sz="1100"/>
                    </a:p>
                  </a:txBody>
                  <a:tcPr marL="171450" marR="9525" marT="9525" marB="0" anchor="ctr"/>
                </a:tc>
              </a:tr>
              <a:tr h="350520">
                <a:tc>
                  <a:txBody>
                    <a:bodyPr wrap="square"/>
                    <a:lstStyle/>
                    <a:p>
                      <a:pPr algn="l"/>
                      <a:r>
                        <a:rPr sz="1100" b="0" i="0">
                          <a:solidFill>
                            <a:srgbClr val="0070C0"/>
                          </a:solidFill>
                          <a:latin typeface="Calibri"/>
                        </a:rPr>
                        <a:t>21.1.</a:t>
                      </a:r>
                      <a:r>
                        <a:rPr sz="700" b="0" i="0">
                          <a:solidFill>
                            <a:srgbClr val="0070C0"/>
                          </a:solidFill>
                          <a:latin typeface="Times New Roman"/>
                        </a:rPr>
                        <a:t>  </a:t>
                      </a:r>
                      <a:r>
                        <a:rPr sz="1100" b="0" i="0">
                          <a:solidFill>
                            <a:srgbClr val="0070C0"/>
                          </a:solidFill>
                          <a:latin typeface="Calibri"/>
                        </a:rPr>
                        <a:t>Matcha demand volume and value by application across beverages, bakery, confectionery, dairy, and desserts</a:t>
                      </a:r>
                      <a:endParaRPr sz="1100"/>
                    </a:p>
                  </a:txBody>
                  <a:tcPr marL="428625" marR="9525" marT="9525" marB="0" anchor="ctr"/>
                </a:tc>
              </a:tr>
              <a:tr h="350520">
                <a:tc>
                  <a:txBody>
                    <a:bodyPr wrap="square"/>
                    <a:lstStyle/>
                    <a:p>
                      <a:pPr algn="l"/>
                      <a:r>
                        <a:rPr sz="1100" b="0" i="0">
                          <a:solidFill>
                            <a:srgbClr val="0070C0"/>
                          </a:solidFill>
                          <a:latin typeface="Calibri"/>
                        </a:rPr>
                        <a:t>21.2.</a:t>
                      </a:r>
                      <a:r>
                        <a:rPr sz="700" b="0" i="0">
                          <a:solidFill>
                            <a:srgbClr val="0070C0"/>
                          </a:solidFill>
                          <a:latin typeface="Times New Roman"/>
                        </a:rPr>
                        <a:t>  </a:t>
                      </a:r>
                      <a:r>
                        <a:rPr sz="1100" b="0" i="0">
                          <a:solidFill>
                            <a:srgbClr val="0070C0"/>
                          </a:solidFill>
                          <a:latin typeface="Calibri"/>
                        </a:rPr>
                        <a:t>Application-wise grade consumption split across ceremonial, premium, and culinary matcha (%)</a:t>
                      </a:r>
                      <a:endParaRPr sz="1100"/>
                    </a:p>
                  </a:txBody>
                  <a:tcPr marL="428625" marR="9525" marT="9525" marB="0" anchor="ctr"/>
                </a:tc>
              </a:tr>
              <a:tr h="175260">
                <a:tc>
                  <a:txBody>
                    <a:bodyPr wrap="square"/>
                    <a:lstStyle/>
                    <a:p>
                      <a:pPr algn="l"/>
                      <a:endParaRPr sz="110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(6/8)</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350520">
                <a:tc>
                  <a:txBody>
                    <a:bodyPr wrap="square"/>
                    <a:lstStyle/>
                    <a:p>
                      <a:pPr algn="l"/>
                      <a:r>
                        <a:rPr sz="1100" b="0" i="0">
                          <a:solidFill>
                            <a:srgbClr val="0070C0"/>
                          </a:solidFill>
                          <a:latin typeface="Calibri"/>
                        </a:rPr>
                        <a:t>21.3.</a:t>
                      </a:r>
                      <a:r>
                        <a:rPr sz="700" b="0" i="0">
                          <a:solidFill>
                            <a:srgbClr val="0070C0"/>
                          </a:solidFill>
                          <a:latin typeface="Times New Roman"/>
                        </a:rPr>
                        <a:t>  </a:t>
                      </a:r>
                      <a:r>
                        <a:rPr sz="1100" b="0" i="0">
                          <a:solidFill>
                            <a:srgbClr val="0070C0"/>
                          </a:solidFill>
                          <a:latin typeface="Calibri"/>
                        </a:rPr>
                        <a:t>Matcha ingredient prices by application, quality specification, and annual procurement volume (USD/kg)</a:t>
                      </a:r>
                      <a:endParaRPr sz="1100"/>
                    </a:p>
                  </a:txBody>
                  <a:tcPr marL="428625" marR="9525" marT="9525" marB="0" anchor="ctr"/>
                </a:tc>
              </a:tr>
              <a:tr h="175260">
                <a:tc>
                  <a:txBody>
                    <a:bodyPr wrap="square"/>
                    <a:lstStyle/>
                    <a:p>
                      <a:pPr algn="l"/>
                      <a:r>
                        <a:rPr sz="1100" b="0" i="0">
                          <a:solidFill>
                            <a:srgbClr val="0070C0"/>
                          </a:solidFill>
                          <a:latin typeface="Calibri"/>
                        </a:rPr>
                        <a:t>21.4.</a:t>
                      </a:r>
                      <a:r>
                        <a:rPr sz="700" b="0" i="0">
                          <a:solidFill>
                            <a:srgbClr val="0070C0"/>
                          </a:solidFill>
                          <a:latin typeface="Times New Roman"/>
                        </a:rPr>
                        <a:t>  </a:t>
                      </a:r>
                      <a:r>
                        <a:rPr sz="1100" b="0" i="0">
                          <a:solidFill>
                            <a:srgbClr val="0070C0"/>
                          </a:solidFill>
                          <a:latin typeface="Calibri"/>
                        </a:rPr>
                        <a:t>Matcha usage rates by finished product type (g/serving, g/kg, or % formulation)</a:t>
                      </a:r>
                      <a:endParaRPr sz="1100"/>
                    </a:p>
                  </a:txBody>
                  <a:tcPr marL="428625" marR="9525" marT="9525" marB="0" anchor="ctr"/>
                </a:tc>
              </a:tr>
              <a:tr h="175260">
                <a:tc>
                  <a:txBody>
                    <a:bodyPr wrap="square"/>
                    <a:lstStyle/>
                    <a:p>
                      <a:pPr algn="l"/>
                      <a:r>
                        <a:rPr sz="1100" b="0" i="0">
                          <a:solidFill>
                            <a:srgbClr val="0070C0"/>
                          </a:solidFill>
                          <a:latin typeface="Calibri"/>
                        </a:rPr>
                        <a:t>21.5.</a:t>
                      </a:r>
                      <a:r>
                        <a:rPr sz="700" b="0" i="0">
                          <a:solidFill>
                            <a:srgbClr val="0070C0"/>
                          </a:solidFill>
                          <a:latin typeface="Times New Roman"/>
                        </a:rPr>
                        <a:t>  </a:t>
                      </a:r>
                      <a:r>
                        <a:rPr sz="1100" b="0" i="0">
                          <a:solidFill>
                            <a:srgbClr val="0070C0"/>
                          </a:solidFill>
                          <a:latin typeface="Calibri"/>
                        </a:rPr>
                        <a:t>B2B demand growth by application, buyer type, and destination country (2026–2036)</a:t>
                      </a:r>
                      <a:endParaRPr sz="1100"/>
                    </a:p>
                  </a:txBody>
                  <a:tcPr marL="428625" marR="9525" marT="9525" marB="0" anchor="ctr"/>
                </a:tc>
              </a:tr>
              <a:tr h="175260">
                <a:tc>
                  <a:txBody>
                    <a:bodyPr wrap="square"/>
                    <a:lstStyle/>
                    <a:p>
                      <a:pPr algn="l"/>
                      <a:r>
                        <a:rPr sz="1100" b="0" i="0">
                          <a:solidFill>
                            <a:srgbClr val="0070C0"/>
                          </a:solidFill>
                          <a:latin typeface="Calibri"/>
                        </a:rPr>
                        <a:t>21.6.</a:t>
                      </a:r>
                      <a:r>
                        <a:rPr sz="700" b="0" i="0">
                          <a:solidFill>
                            <a:srgbClr val="0070C0"/>
                          </a:solidFill>
                          <a:latin typeface="Times New Roman"/>
                        </a:rPr>
                        <a:t>  </a:t>
                      </a:r>
                      <a:r>
                        <a:rPr sz="1100" b="0" i="0">
                          <a:solidFill>
                            <a:srgbClr val="0070C0"/>
                          </a:solidFill>
                          <a:latin typeface="Calibri"/>
                        </a:rPr>
                        <a:t>Colour, flavour, solubility, and heat-stability requirements by end-use application</a:t>
                      </a:r>
                      <a:endParaRPr sz="1100"/>
                    </a:p>
                  </a:txBody>
                  <a:tcPr marL="428625" marR="9525" marT="9525" marB="0" anchor="ctr"/>
                </a:tc>
              </a:tr>
              <a:tr h="350520">
                <a:tc>
                  <a:txBody>
                    <a:bodyPr wrap="square"/>
                    <a:lstStyle/>
                    <a:p>
                      <a:pPr algn="l"/>
                      <a:r>
                        <a:rPr sz="1100" b="0" i="0">
                          <a:solidFill>
                            <a:srgbClr val="0070C0"/>
                          </a:solidFill>
                          <a:latin typeface="Calibri"/>
                        </a:rPr>
                        <a:t>21.7.</a:t>
                      </a:r>
                      <a:r>
                        <a:rPr sz="700" b="0" i="0">
                          <a:solidFill>
                            <a:srgbClr val="0070C0"/>
                          </a:solidFill>
                          <a:latin typeface="Times New Roman"/>
                        </a:rPr>
                        <a:t>  </a:t>
                      </a:r>
                      <a:r>
                        <a:rPr sz="1100" b="0" i="0">
                          <a:solidFill>
                            <a:srgbClr val="0070C0"/>
                          </a:solidFill>
                          <a:latin typeface="Calibri"/>
                        </a:rPr>
                        <a:t>Conventional versus organic matcha adoption by application and end-use industry (%)</a:t>
                      </a:r>
                      <a:endParaRPr sz="1100"/>
                    </a:p>
                  </a:txBody>
                  <a:tcPr marL="428625" marR="9525" marT="9525" marB="0" anchor="ctr"/>
                </a:tc>
              </a:tr>
              <a:tr h="350520">
                <a:tc>
                  <a:txBody>
                    <a:bodyPr wrap="square"/>
                    <a:lstStyle/>
                    <a:p>
                      <a:pPr algn="l"/>
                      <a:r>
                        <a:rPr sz="1100" b="0" i="0">
                          <a:solidFill>
                            <a:srgbClr val="0070C0"/>
                          </a:solidFill>
                          <a:latin typeface="Calibri"/>
                        </a:rPr>
                        <a:t>21.8.</a:t>
                      </a:r>
                      <a:r>
                        <a:rPr sz="700" b="0" i="0">
                          <a:solidFill>
                            <a:srgbClr val="0070C0"/>
                          </a:solidFill>
                          <a:latin typeface="Times New Roman"/>
                        </a:rPr>
                        <a:t>  </a:t>
                      </a:r>
                      <a:r>
                        <a:rPr sz="1100" b="0" i="0">
                          <a:solidFill>
                            <a:srgbClr val="0070C0"/>
                          </a:solidFill>
                          <a:latin typeface="Calibri"/>
                        </a:rPr>
                        <a:t>Incremental demand opportunity by application, grade, and target market (tonnes and USD)</a:t>
                      </a:r>
                      <a:endParaRPr sz="1100"/>
                    </a:p>
                  </a:txBody>
                  <a:tcPr marL="428625" marR="9525" marT="9525" marB="0" anchor="ctr"/>
                </a:tc>
              </a:tr>
              <a:tr h="175260">
                <a:tc>
                  <a:txBody>
                    <a:bodyPr wrap="square"/>
                    <a:lstStyle/>
                    <a:p>
                      <a:pPr algn="l"/>
                      <a:r>
                        <a:rPr sz="1100" b="1" i="0">
                          <a:solidFill>
                            <a:srgbClr val="000000"/>
                          </a:solidFill>
                          <a:latin typeface="Calibri"/>
                        </a:rPr>
                        <a:t>22.</a:t>
                      </a:r>
                      <a:r>
                        <a:rPr sz="700" b="1" i="0">
                          <a:solidFill>
                            <a:srgbClr val="000000"/>
                          </a:solidFill>
                          <a:latin typeface="Times New Roman"/>
                        </a:rPr>
                        <a:t>    </a:t>
                      </a:r>
                      <a:r>
                        <a:rPr sz="1100" b="1" i="0">
                          <a:solidFill>
                            <a:srgbClr val="000000"/>
                          </a:solidFill>
                          <a:latin typeface="Calibri"/>
                        </a:rPr>
                        <a:t>Stakeholder Perspectives – Manufacturer, Customer &amp; Distributor Insights</a:t>
                      </a:r>
                      <a:endParaRPr sz="1100"/>
                    </a:p>
                  </a:txBody>
                  <a:tcPr marL="171450" marR="9525" marT="9525" marB="0" anchor="ctr"/>
                </a:tc>
              </a:tr>
              <a:tr h="175260">
                <a:tc>
                  <a:txBody>
                    <a:bodyPr wrap="square"/>
                    <a:lstStyle/>
                    <a:p>
                      <a:pPr algn="l"/>
                      <a:r>
                        <a:rPr sz="1100" b="0" i="0">
                          <a:solidFill>
                            <a:srgbClr val="0070C0"/>
                          </a:solidFill>
                          <a:latin typeface="Calibri"/>
                        </a:rPr>
                        <a:t>22.1.</a:t>
                      </a:r>
                      <a:r>
                        <a:rPr sz="700" b="0" i="0">
                          <a:solidFill>
                            <a:srgbClr val="0070C0"/>
                          </a:solidFill>
                          <a:latin typeface="Times New Roman"/>
                        </a:rPr>
                        <a:t>  </a:t>
                      </a:r>
                      <a:r>
                        <a:rPr sz="1100" b="0" i="0">
                          <a:solidFill>
                            <a:srgbClr val="0070C0"/>
                          </a:solidFill>
                          <a:latin typeface="Calibri"/>
                        </a:rPr>
                        <a:t>Stakeholder Insights</a:t>
                      </a:r>
                      <a:endParaRPr sz="1100"/>
                    </a:p>
                  </a:txBody>
                  <a:tcPr marL="428625" marR="9525" marT="9525" marB="0" anchor="ctr"/>
                </a:tc>
              </a:tr>
              <a:tr h="175260">
                <a:tc>
                  <a:txBody>
                    <a:bodyPr wrap="square"/>
                    <a:lstStyle/>
                    <a:p>
                      <a:pPr algn="l"/>
                      <a:r>
                        <a:rPr sz="1100" b="0" i="0">
                          <a:solidFill>
                            <a:srgbClr val="000000"/>
                          </a:solidFill>
                          <a:latin typeface="Calibri"/>
                        </a:rPr>
                        <a:t>22.1.1.</a:t>
                      </a:r>
                      <a:r>
                        <a:rPr sz="700" b="0" i="0">
                          <a:solidFill>
                            <a:srgbClr val="000000"/>
                          </a:solidFill>
                          <a:latin typeface="Times New Roman"/>
                        </a:rPr>
                        <a:t> </a:t>
                      </a:r>
                      <a:r>
                        <a:rPr sz="1100" b="0" i="0">
                          <a:solidFill>
                            <a:srgbClr val="000000"/>
                          </a:solidFill>
                          <a:latin typeface="Calibri"/>
                        </a:rPr>
                        <a:t>Manufacturers</a:t>
                      </a:r>
                      <a:endParaRPr sz="1100"/>
                    </a:p>
                  </a:txBody>
                  <a:tcPr marL="771525" marR="9525" marT="9525" marB="0" anchor="ctr"/>
                </a:tc>
              </a:tr>
              <a:tr h="175260">
                <a:tc>
                  <a:txBody>
                    <a:bodyPr wrap="square"/>
                    <a:lstStyle/>
                    <a:p>
                      <a:pPr algn="l"/>
                      <a:r>
                        <a:rPr sz="1100" b="0" i="0">
                          <a:solidFill>
                            <a:srgbClr val="000000"/>
                          </a:solidFill>
                          <a:latin typeface="Calibri"/>
                        </a:rPr>
                        <a:t>22.1.2.</a:t>
                      </a:r>
                      <a:r>
                        <a:rPr sz="700" b="0" i="0">
                          <a:solidFill>
                            <a:srgbClr val="000000"/>
                          </a:solidFill>
                          <a:latin typeface="Times New Roman"/>
                        </a:rPr>
                        <a:t> </a:t>
                      </a:r>
                      <a:r>
                        <a:rPr sz="1100" b="0" i="0">
                          <a:solidFill>
                            <a:srgbClr val="000000"/>
                          </a:solidFill>
                          <a:latin typeface="Calibri"/>
                        </a:rPr>
                        <a:t>Customers</a:t>
                      </a:r>
                      <a:endParaRPr sz="1100"/>
                    </a:p>
                  </a:txBody>
                  <a:tcPr marL="771525" marR="9525" marT="9525" marB="0" anchor="ctr"/>
                </a:tc>
              </a:tr>
              <a:tr h="175260">
                <a:tc>
                  <a:txBody>
                    <a:bodyPr wrap="square"/>
                    <a:lstStyle/>
                    <a:p>
                      <a:pPr algn="l"/>
                      <a:r>
                        <a:rPr sz="1100" b="0" i="0">
                          <a:solidFill>
                            <a:srgbClr val="000000"/>
                          </a:solidFill>
                          <a:latin typeface="Calibri"/>
                        </a:rPr>
                        <a:t>22.1.3.</a:t>
                      </a:r>
                      <a:r>
                        <a:rPr sz="700" b="0" i="0">
                          <a:solidFill>
                            <a:srgbClr val="000000"/>
                          </a:solidFill>
                          <a:latin typeface="Times New Roman"/>
                        </a:rPr>
                        <a:t> </a:t>
                      </a:r>
                      <a:r>
                        <a:rPr sz="1100" b="0" i="0">
                          <a:solidFill>
                            <a:srgbClr val="000000"/>
                          </a:solidFill>
                          <a:latin typeface="Calibri"/>
                        </a:rPr>
                        <a:t>Distributors</a:t>
                      </a:r>
                      <a:endParaRPr sz="1100"/>
                    </a:p>
                  </a:txBody>
                  <a:tcPr marL="771525" marR="9525" marT="9525" marB="0" anchor="ctr"/>
                </a:tc>
              </a:tr>
              <a:tr h="175260">
                <a:tc>
                  <a:txBody>
                    <a:bodyPr wrap="square"/>
                    <a:lstStyle/>
                    <a:p>
                      <a:pPr algn="l"/>
                      <a:r>
                        <a:rPr sz="1100" b="0" i="0">
                          <a:solidFill>
                            <a:srgbClr val="0070C0"/>
                          </a:solidFill>
                          <a:latin typeface="Calibri"/>
                        </a:rPr>
                        <a:t>22.2.</a:t>
                      </a:r>
                      <a:r>
                        <a:rPr sz="700" b="0" i="0">
                          <a:solidFill>
                            <a:srgbClr val="0070C0"/>
                          </a:solidFill>
                          <a:latin typeface="Times New Roman"/>
                        </a:rPr>
                        <a:t>  </a:t>
                      </a:r>
                      <a:r>
                        <a:rPr sz="1100" b="0" i="0">
                          <a:solidFill>
                            <a:srgbClr val="0070C0"/>
                          </a:solidFill>
                          <a:latin typeface="Calibri"/>
                        </a:rPr>
                        <a:t>Country- Level Market Drivers</a:t>
                      </a:r>
                      <a:endParaRPr sz="1100"/>
                    </a:p>
                  </a:txBody>
                  <a:tcPr marL="428625" marR="9525" marT="9525" marB="0" anchor="ctr"/>
                </a:tc>
              </a:tr>
              <a:tr h="175260">
                <a:tc>
                  <a:txBody>
                    <a:bodyPr wrap="square"/>
                    <a:lstStyle/>
                    <a:p>
                      <a:pPr algn="l"/>
                      <a:r>
                        <a:rPr sz="1100" b="0" i="0">
                          <a:solidFill>
                            <a:srgbClr val="000000"/>
                          </a:solidFill>
                          <a:latin typeface="Calibri"/>
                        </a:rPr>
                        <a:t>22.2.1.</a:t>
                      </a:r>
                      <a:r>
                        <a:rPr sz="700" b="0" i="0">
                          <a:solidFill>
                            <a:srgbClr val="000000"/>
                          </a:solidFill>
                          <a:latin typeface="Times New Roman"/>
                        </a:rPr>
                        <a:t> </a:t>
                      </a:r>
                      <a:r>
                        <a:rPr sz="1100" b="0" i="0">
                          <a:solidFill>
                            <a:srgbClr val="000000"/>
                          </a:solidFill>
                          <a:latin typeface="Calibri"/>
                        </a:rPr>
                        <a:t>Supply Side Drivers</a:t>
                      </a:r>
                      <a:endParaRPr sz="1100"/>
                    </a:p>
                  </a:txBody>
                  <a:tcPr marL="771525" marR="9525" marT="9525" marB="0" anchor="ctr"/>
                </a:tc>
              </a:tr>
              <a:tr h="175260">
                <a:tc>
                  <a:txBody>
                    <a:bodyPr wrap="square"/>
                    <a:lstStyle/>
                    <a:p>
                      <a:pPr algn="l"/>
                      <a:r>
                        <a:rPr sz="1100" b="0" i="0">
                          <a:solidFill>
                            <a:srgbClr val="000000"/>
                          </a:solidFill>
                          <a:latin typeface="Calibri"/>
                        </a:rPr>
                        <a:t>22.2.2.</a:t>
                      </a:r>
                      <a:r>
                        <a:rPr sz="700" b="0" i="0">
                          <a:solidFill>
                            <a:srgbClr val="000000"/>
                          </a:solidFill>
                          <a:latin typeface="Times New Roman"/>
                        </a:rPr>
                        <a:t> </a:t>
                      </a:r>
                      <a:r>
                        <a:rPr sz="1100" b="0" i="0">
                          <a:solidFill>
                            <a:srgbClr val="000000"/>
                          </a:solidFill>
                          <a:latin typeface="Calibri"/>
                        </a:rPr>
                        <a:t>Demand Side drivers</a:t>
                      </a:r>
                      <a:endParaRPr sz="1100"/>
                    </a:p>
                  </a:txBody>
                  <a:tcPr marL="771525" marR="9525" marT="9525" marB="0" anchor="ctr"/>
                </a:tc>
              </a:tr>
              <a:tr h="175260">
                <a:tc>
                  <a:txBody>
                    <a:bodyPr wrap="square"/>
                    <a:lstStyle/>
                    <a:p>
                      <a:pPr algn="l"/>
                      <a:r>
                        <a:rPr sz="1100" b="0" i="0">
                          <a:solidFill>
                            <a:srgbClr val="000000"/>
                          </a:solidFill>
                          <a:latin typeface="Calibri"/>
                        </a:rPr>
                        <a:t>22.2.3.</a:t>
                      </a:r>
                      <a:r>
                        <a:rPr sz="700" b="0" i="0">
                          <a:solidFill>
                            <a:srgbClr val="000000"/>
                          </a:solidFill>
                          <a:latin typeface="Times New Roman"/>
                        </a:rPr>
                        <a:t> </a:t>
                      </a:r>
                      <a:r>
                        <a:rPr sz="1100" b="0" i="0">
                          <a:solidFill>
                            <a:srgbClr val="000000"/>
                          </a:solidFill>
                          <a:latin typeface="Calibri"/>
                        </a:rPr>
                        <a:t>Economic Side Drivers</a:t>
                      </a:r>
                      <a:endParaRPr sz="1100"/>
                    </a:p>
                  </a:txBody>
                  <a:tcPr marL="771525" marR="9525" marT="9525" marB="0" anchor="ctr"/>
                </a:tc>
              </a:tr>
              <a:tr h="175260">
                <a:tc>
                  <a:txBody>
                    <a:bodyPr wrap="square"/>
                    <a:lstStyle/>
                    <a:p>
                      <a:pPr algn="l"/>
                      <a:r>
                        <a:rPr sz="1100" b="0" i="0">
                          <a:solidFill>
                            <a:srgbClr val="0070C0"/>
                          </a:solidFill>
                          <a:latin typeface="Calibri"/>
                        </a:rPr>
                        <a:t>22.3.</a:t>
                      </a:r>
                      <a:r>
                        <a:rPr sz="700" b="0" i="0">
                          <a:solidFill>
                            <a:srgbClr val="0070C0"/>
                          </a:solidFill>
                          <a:latin typeface="Times New Roman"/>
                        </a:rPr>
                        <a:t>  </a:t>
                      </a:r>
                      <a:r>
                        <a:rPr sz="1100" b="0" i="0">
                          <a:solidFill>
                            <a:srgbClr val="0070C0"/>
                          </a:solidFill>
                          <a:latin typeface="Calibri"/>
                        </a:rPr>
                        <a:t>Country Level Restraints</a:t>
                      </a:r>
                      <a:endParaRPr sz="1100"/>
                    </a:p>
                  </a:txBody>
                  <a:tcPr marL="428625" marR="9525" marT="9525" marB="0" anchor="ctr"/>
                </a:tc>
              </a:tr>
              <a:tr h="175260">
                <a:tc>
                  <a:txBody>
                    <a:bodyPr wrap="square"/>
                    <a:lstStyle/>
                    <a:p>
                      <a:pPr algn="l"/>
                      <a:r>
                        <a:rPr sz="1100" b="0" i="0">
                          <a:solidFill>
                            <a:srgbClr val="0070C0"/>
                          </a:solidFill>
                          <a:latin typeface="Calibri"/>
                        </a:rPr>
                        <a:t>22.4.</a:t>
                      </a:r>
                      <a:r>
                        <a:rPr sz="700" b="0" i="0">
                          <a:solidFill>
                            <a:srgbClr val="0070C0"/>
                          </a:solidFill>
                          <a:latin typeface="Times New Roman"/>
                        </a:rPr>
                        <a:t>  </a:t>
                      </a:r>
                      <a:r>
                        <a:rPr sz="1100" b="0" i="0">
                          <a:solidFill>
                            <a:srgbClr val="0070C0"/>
                          </a:solidFill>
                          <a:latin typeface="Calibri"/>
                        </a:rPr>
                        <a:t>Country Level Opportunity</a:t>
                      </a:r>
                      <a:endParaRPr sz="1100"/>
                    </a:p>
                  </a:txBody>
                  <a:tcPr marL="428625" marR="9525" marT="9525" marB="0" anchor="ctr"/>
                </a:tc>
              </a:tr>
              <a:tr h="175260">
                <a:tc>
                  <a:txBody>
                    <a:bodyPr wrap="square"/>
                    <a:lstStyle/>
                    <a:p>
                      <a:pPr algn="l"/>
                      <a:r>
                        <a:rPr sz="1100" b="0" i="0">
                          <a:solidFill>
                            <a:srgbClr val="0070C0"/>
                          </a:solidFill>
                          <a:latin typeface="Calibri"/>
                        </a:rPr>
                        <a:t>22.5.</a:t>
                      </a:r>
                      <a:r>
                        <a:rPr sz="700" b="0" i="0">
                          <a:solidFill>
                            <a:srgbClr val="0070C0"/>
                          </a:solidFill>
                          <a:latin typeface="Times New Roman"/>
                        </a:rPr>
                        <a:t>  </a:t>
                      </a:r>
                      <a:r>
                        <a:rPr sz="1100" b="0" i="0">
                          <a:solidFill>
                            <a:srgbClr val="0070C0"/>
                          </a:solidFill>
                          <a:latin typeface="Calibri"/>
                        </a:rPr>
                        <a:t>Country Level Market Trends</a:t>
                      </a:r>
                      <a:endParaRPr sz="1100"/>
                    </a:p>
                  </a:txBody>
                  <a:tcPr marL="428625" marR="9525" marT="9525" marB="0" anchor="ctr"/>
                </a:tc>
              </a:tr>
              <a:tr h="175260">
                <a:tc>
                  <a:txBody>
                    <a:bodyPr wrap="square"/>
                    <a:lstStyle/>
                    <a:p>
                      <a:pPr algn="l"/>
                      <a:r>
                        <a:rPr sz="1100" b="0" i="0">
                          <a:solidFill>
                            <a:srgbClr val="0070C0"/>
                          </a:solidFill>
                          <a:latin typeface="Calibri"/>
                        </a:rPr>
                        <a:t>22.6.</a:t>
                      </a:r>
                      <a:r>
                        <a:rPr sz="700" b="0" i="0">
                          <a:solidFill>
                            <a:srgbClr val="0070C0"/>
                          </a:solidFill>
                          <a:latin typeface="Times New Roman"/>
                        </a:rPr>
                        <a:t>  </a:t>
                      </a:r>
                      <a:r>
                        <a:rPr sz="1100" b="0" i="0">
                          <a:solidFill>
                            <a:srgbClr val="0070C0"/>
                          </a:solidFill>
                          <a:latin typeface="Calibri"/>
                        </a:rPr>
                        <a:t>Forecast Factors – Top 20 Drivers by Relevance &amp; Impact</a:t>
                      </a:r>
                      <a:endParaRPr sz="1100"/>
                    </a:p>
                  </a:txBody>
                  <a:tcPr marL="428625" marR="9525" marT="9525" marB="0" anchor="ctr"/>
                </a:tc>
              </a:tr>
              <a:tr h="175260">
                <a:tc>
                  <a:txBody>
                    <a:bodyPr wrap="square"/>
                    <a:lstStyle/>
                    <a:p>
                      <a:pPr algn="l"/>
                      <a:r>
                        <a:rPr sz="1100" b="0" i="0">
                          <a:solidFill>
                            <a:srgbClr val="0070C0"/>
                          </a:solidFill>
                          <a:latin typeface="Calibri"/>
                        </a:rPr>
                        <a:t>22.7.</a:t>
                      </a:r>
                      <a:r>
                        <a:rPr sz="700" b="0" i="0">
                          <a:solidFill>
                            <a:srgbClr val="0070C0"/>
                          </a:solidFill>
                          <a:latin typeface="Times New Roman"/>
                        </a:rPr>
                        <a:t>  </a:t>
                      </a:r>
                      <a:r>
                        <a:rPr sz="1100" b="0" i="0">
                          <a:solidFill>
                            <a:srgbClr val="0070C0"/>
                          </a:solidFill>
                          <a:latin typeface="Calibri"/>
                        </a:rPr>
                        <a:t>Regional Macro-&amp; Micro Economic Indicators</a:t>
                      </a:r>
                      <a:endParaRPr sz="1100"/>
                    </a:p>
                  </a:txBody>
                  <a:tcPr marL="428625" marR="9525" marT="9525" marB="0" anchor="ctr"/>
                </a:tc>
              </a:tr>
              <a:tr h="175260">
                <a:tc>
                  <a:txBody>
                    <a:bodyPr wrap="square"/>
                    <a:lstStyle/>
                    <a:p>
                      <a:pPr algn="l"/>
                      <a:r>
                        <a:rPr sz="1100" b="0" i="0">
                          <a:solidFill>
                            <a:srgbClr val="0070C0"/>
                          </a:solidFill>
                          <a:latin typeface="Calibri"/>
                        </a:rPr>
                        <a:t>22.8.</a:t>
                      </a:r>
                      <a:r>
                        <a:rPr sz="700" b="0" i="0">
                          <a:solidFill>
                            <a:srgbClr val="0070C0"/>
                          </a:solidFill>
                          <a:latin typeface="Times New Roman"/>
                        </a:rPr>
                        <a:t>  </a:t>
                      </a:r>
                      <a:r>
                        <a:rPr sz="1100" b="0" i="0">
                          <a:solidFill>
                            <a:srgbClr val="0070C0"/>
                          </a:solidFill>
                          <a:latin typeface="Calibri"/>
                        </a:rPr>
                        <a:t>PESTEL Analysis</a:t>
                      </a:r>
                      <a:endParaRPr sz="1100"/>
                    </a:p>
                  </a:txBody>
                  <a:tcPr marL="428625" marR="9525" marT="9525" marB="0" anchor="ctr"/>
                </a:tc>
              </a:tr>
              <a:tr h="175260">
                <a:tc>
                  <a:txBody>
                    <a:bodyPr wrap="square"/>
                    <a:lstStyle/>
                    <a:p>
                      <a:pPr algn="l"/>
                      <a:r>
                        <a:rPr sz="1100" b="0" i="0">
                          <a:solidFill>
                            <a:srgbClr val="0070C0"/>
                          </a:solidFill>
                          <a:latin typeface="Calibri"/>
                        </a:rPr>
                        <a:t>22.9.</a:t>
                      </a:r>
                      <a:r>
                        <a:rPr sz="700" b="0" i="0">
                          <a:solidFill>
                            <a:srgbClr val="0070C0"/>
                          </a:solidFill>
                          <a:latin typeface="Times New Roman"/>
                        </a:rPr>
                        <a:t>  </a:t>
                      </a:r>
                      <a:r>
                        <a:rPr sz="1100" b="0" i="0">
                          <a:solidFill>
                            <a:srgbClr val="0070C0"/>
                          </a:solidFill>
                          <a:latin typeface="Calibri"/>
                        </a:rPr>
                        <a:t>Porter’s Analysis</a:t>
                      </a:r>
                      <a:endParaRPr sz="1100"/>
                    </a:p>
                  </a:txBody>
                  <a:tcPr marL="428625" marR="9525" marT="9525" marB="0" anchor="ctr"/>
                </a:tc>
              </a:tr>
              <a:tr h="175260">
                <a:tc>
                  <a:txBody>
                    <a:bodyPr wrap="square"/>
                    <a:lstStyle/>
                    <a:p>
                      <a:pPr algn="l"/>
                      <a:r>
                        <a:rPr sz="1100" b="1" i="0">
                          <a:solidFill>
                            <a:srgbClr val="000000"/>
                          </a:solidFill>
                          <a:latin typeface="Calibri"/>
                        </a:rPr>
                        <a:t>23.</a:t>
                      </a:r>
                      <a:r>
                        <a:rPr sz="700" b="1" i="0">
                          <a:solidFill>
                            <a:srgbClr val="000000"/>
                          </a:solidFill>
                          <a:latin typeface="Times New Roman"/>
                        </a:rPr>
                        <a:t>    </a:t>
                      </a:r>
                      <a:r>
                        <a:rPr sz="1100" b="1" i="0">
                          <a:solidFill>
                            <a:srgbClr val="000000"/>
                          </a:solidFill>
                          <a:latin typeface="Calibri"/>
                        </a:rPr>
                        <a:t>Regulations</a:t>
                      </a:r>
                      <a:endParaRPr sz="1100"/>
                    </a:p>
                  </a:txBody>
                  <a:tcPr marL="171450" marR="9525" marT="9525" marB="0" anchor="ctr"/>
                </a:tc>
              </a:tr>
              <a:tr h="175260">
                <a:tc>
                  <a:txBody>
                    <a:bodyPr wrap="square"/>
                    <a:lstStyle/>
                    <a:p>
                      <a:pPr algn="l"/>
                      <a:r>
                        <a:rPr sz="1100" b="0" i="0">
                          <a:solidFill>
                            <a:srgbClr val="0070C0"/>
                          </a:solidFill>
                          <a:latin typeface="Calibri"/>
                        </a:rPr>
                        <a:t>23.1.</a:t>
                      </a:r>
                      <a:r>
                        <a:rPr sz="700" b="0" i="0">
                          <a:solidFill>
                            <a:srgbClr val="0070C0"/>
                          </a:solidFill>
                          <a:latin typeface="Times New Roman"/>
                        </a:rPr>
                        <a:t>  </a:t>
                      </a:r>
                      <a:r>
                        <a:rPr sz="1100" b="0" i="0">
                          <a:solidFill>
                            <a:srgbClr val="0070C0"/>
                          </a:solidFill>
                          <a:latin typeface="Calibri"/>
                        </a:rPr>
                        <a:t>Certifications and Certifying Agency Overview</a:t>
                      </a:r>
                      <a:endParaRPr sz="1100"/>
                    </a:p>
                  </a:txBody>
                  <a:tcPr marL="428625" marR="9525" marT="9525" marB="0" anchor="ctr"/>
                </a:tc>
              </a:tr>
              <a:tr h="175260">
                <a:tc>
                  <a:txBody>
                    <a:bodyPr wrap="square"/>
                    <a:lstStyle/>
                    <a:p>
                      <a:pPr algn="l"/>
                      <a:r>
                        <a:rPr sz="1100" b="0" i="0">
                          <a:solidFill>
                            <a:srgbClr val="0070C0"/>
                          </a:solidFill>
                          <a:latin typeface="Calibri"/>
                        </a:rPr>
                        <a:t>23.2.</a:t>
                      </a:r>
                      <a:r>
                        <a:rPr sz="700" b="0" i="0">
                          <a:solidFill>
                            <a:srgbClr val="0070C0"/>
                          </a:solidFill>
                          <a:latin typeface="Times New Roman"/>
                        </a:rPr>
                        <a:t>  </a:t>
                      </a:r>
                      <a:r>
                        <a:rPr sz="1100" b="0" i="0">
                          <a:solidFill>
                            <a:srgbClr val="0070C0"/>
                          </a:solidFill>
                          <a:latin typeface="Calibri"/>
                        </a:rPr>
                        <a:t>Import/Export Policies</a:t>
                      </a:r>
                      <a:endParaRPr sz="1100"/>
                    </a:p>
                  </a:txBody>
                  <a:tcPr marL="428625" marR="9525" marT="9525" marB="0" anchor="ctr"/>
                </a:tc>
              </a:tr>
              <a:tr h="175260">
                <a:tc>
                  <a:txBody>
                    <a:bodyPr wrap="square"/>
                    <a:lstStyle/>
                    <a:p>
                      <a:pPr algn="l"/>
                      <a:r>
                        <a:rPr sz="1100" b="0" i="0">
                          <a:solidFill>
                            <a:srgbClr val="0070C0"/>
                          </a:solidFill>
                          <a:latin typeface="Calibri"/>
                        </a:rPr>
                        <a:t>23.3.</a:t>
                      </a:r>
                      <a:r>
                        <a:rPr sz="700" b="0" i="0">
                          <a:solidFill>
                            <a:srgbClr val="0070C0"/>
                          </a:solidFill>
                          <a:latin typeface="Times New Roman"/>
                        </a:rPr>
                        <a:t>  </a:t>
                      </a:r>
                      <a:r>
                        <a:rPr sz="1100" b="0" i="0">
                          <a:solidFill>
                            <a:srgbClr val="0070C0"/>
                          </a:solidFill>
                          <a:latin typeface="Calibri"/>
                        </a:rPr>
                        <a:t>Formula Requirements</a:t>
                      </a:r>
                      <a:endParaRPr sz="1100"/>
                    </a:p>
                  </a:txBody>
                  <a:tcPr marL="428625" marR="9525" marT="9525" marB="0" anchor="ctr"/>
                </a:tc>
              </a:tr>
              <a:tr h="175260">
                <a:tc>
                  <a:txBody>
                    <a:bodyPr wrap="square"/>
                    <a:lstStyle/>
                    <a:p>
                      <a:pPr algn="l"/>
                      <a:r>
                        <a:rPr sz="1100" b="0" i="0">
                          <a:solidFill>
                            <a:srgbClr val="0070C0"/>
                          </a:solidFill>
                          <a:latin typeface="Calibri"/>
                        </a:rPr>
                        <a:t>23.4.</a:t>
                      </a:r>
                      <a:r>
                        <a:rPr sz="700" b="0" i="0">
                          <a:solidFill>
                            <a:srgbClr val="0070C0"/>
                          </a:solidFill>
                          <a:latin typeface="Times New Roman"/>
                        </a:rPr>
                        <a:t>  </a:t>
                      </a:r>
                      <a:r>
                        <a:rPr sz="1100" b="0" i="0">
                          <a:solidFill>
                            <a:srgbClr val="0070C0"/>
                          </a:solidFill>
                          <a:latin typeface="Calibri"/>
                        </a:rPr>
                        <a:t>Standards as per institutions</a:t>
                      </a:r>
                      <a:endParaRPr sz="1100"/>
                    </a:p>
                  </a:txBody>
                  <a:tcPr marL="4286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0000"/>
                          </a:solidFill>
                          <a:latin typeface="Calibri"/>
                        </a:rPr>
                        <a:t>23.4.1.</a:t>
                      </a:r>
                      <a:r>
                        <a:rPr sz="700" b="0" i="0">
                          <a:solidFill>
                            <a:srgbClr val="000000"/>
                          </a:solidFill>
                          <a:latin typeface="Times New Roman"/>
                        </a:rPr>
                        <a:t> </a:t>
                      </a:r>
                      <a:r>
                        <a:rPr sz="1100" b="0" i="0">
                          <a:solidFill>
                            <a:srgbClr val="000000"/>
                          </a:solidFill>
                          <a:latin typeface="Calibri"/>
                        </a:rPr>
                        <a:t>FDA</a:t>
                      </a:r>
                      <a:endParaRPr sz="1100"/>
                    </a:p>
                  </a:txBody>
                  <a:tcPr marL="771525" marR="9525" marT="9525" marB="0" anchor="ctr"/>
                </a:tc>
              </a:tr>
              <a:tr h="175260">
                <a:tc>
                  <a:txBody>
                    <a:bodyPr wrap="square"/>
                    <a:lstStyle/>
                    <a:p>
                      <a:pPr algn="l"/>
                      <a:r>
                        <a:rPr sz="1100" b="0" i="0">
                          <a:solidFill>
                            <a:srgbClr val="000000"/>
                          </a:solidFill>
                          <a:latin typeface="Calibri"/>
                        </a:rPr>
                        <a:t>23.4.2.</a:t>
                      </a:r>
                      <a:r>
                        <a:rPr sz="700" b="0" i="0">
                          <a:solidFill>
                            <a:srgbClr val="000000"/>
                          </a:solidFill>
                          <a:latin typeface="Times New Roman"/>
                        </a:rPr>
                        <a:t> </a:t>
                      </a:r>
                      <a:r>
                        <a:rPr sz="1100" b="0" i="0">
                          <a:solidFill>
                            <a:srgbClr val="000000"/>
                          </a:solidFill>
                          <a:latin typeface="Calibri"/>
                        </a:rPr>
                        <a:t>USDA</a:t>
                      </a:r>
                      <a:endParaRPr sz="1100"/>
                    </a:p>
                  </a:txBody>
                  <a:tcPr marL="771525" marR="9525" marT="9525" marB="0" anchor="ctr"/>
                </a:tc>
              </a:tr>
              <a:tr h="175260">
                <a:tc>
                  <a:txBody>
                    <a:bodyPr wrap="square"/>
                    <a:lstStyle/>
                    <a:p>
                      <a:pPr algn="l"/>
                      <a:r>
                        <a:rPr sz="1100" b="0" i="0">
                          <a:solidFill>
                            <a:srgbClr val="000000"/>
                          </a:solidFill>
                          <a:latin typeface="Calibri"/>
                        </a:rPr>
                        <a:t>23.4.3.</a:t>
                      </a:r>
                      <a:r>
                        <a:rPr sz="700" b="0" i="0">
                          <a:solidFill>
                            <a:srgbClr val="000000"/>
                          </a:solidFill>
                          <a:latin typeface="Times New Roman"/>
                        </a:rPr>
                        <a:t> </a:t>
                      </a:r>
                      <a:r>
                        <a:rPr sz="1100" b="0" i="0">
                          <a:solidFill>
                            <a:srgbClr val="000000"/>
                          </a:solidFill>
                          <a:latin typeface="Calibri"/>
                        </a:rPr>
                        <a:t>FASSAI</a:t>
                      </a:r>
                      <a:endParaRPr sz="1100"/>
                    </a:p>
                  </a:txBody>
                  <a:tcPr marL="771525" marR="9525" marT="9525" marB="0" anchor="ctr"/>
                </a:tc>
              </a:tr>
              <a:tr h="175260">
                <a:tc>
                  <a:txBody>
                    <a:bodyPr wrap="square"/>
                    <a:lstStyle/>
                    <a:p>
                      <a:pPr algn="l"/>
                      <a:r>
                        <a:rPr sz="1100" b="0" i="0">
                          <a:solidFill>
                            <a:srgbClr val="000000"/>
                          </a:solidFill>
                          <a:latin typeface="Calibri"/>
                        </a:rPr>
                        <a:t>23.4.4.</a:t>
                      </a:r>
                      <a:r>
                        <a:rPr sz="700" b="0" i="0">
                          <a:solidFill>
                            <a:srgbClr val="000000"/>
                          </a:solidFill>
                          <a:latin typeface="Times New Roman"/>
                        </a:rPr>
                        <a:t> </a:t>
                      </a:r>
                      <a:r>
                        <a:rPr sz="1100" b="0" i="0">
                          <a:solidFill>
                            <a:srgbClr val="000000"/>
                          </a:solidFill>
                          <a:latin typeface="Calibri"/>
                        </a:rPr>
                        <a:t>EU Commissions</a:t>
                      </a:r>
                      <a:endParaRPr sz="1100"/>
                    </a:p>
                  </a:txBody>
                  <a:tcPr marL="771525" marR="9525" marT="9525" marB="0" anchor="ctr"/>
                </a:tc>
              </a:tr>
              <a:tr h="175260">
                <a:tc>
                  <a:txBody>
                    <a:bodyPr wrap="square"/>
                    <a:lstStyle/>
                    <a:p>
                      <a:pPr algn="l"/>
                      <a:r>
                        <a:rPr sz="1100" b="1" i="0">
                          <a:solidFill>
                            <a:srgbClr val="000000"/>
                          </a:solidFill>
                          <a:latin typeface="Calibri"/>
                        </a:rPr>
                        <a:t>24.</a:t>
                      </a:r>
                      <a:r>
                        <a:rPr sz="700" b="1" i="0">
                          <a:solidFill>
                            <a:srgbClr val="000000"/>
                          </a:solidFill>
                          <a:latin typeface="Times New Roman"/>
                        </a:rPr>
                        <a:t>    </a:t>
                      </a:r>
                      <a:r>
                        <a:rPr sz="1100" b="1" i="0">
                          <a:solidFill>
                            <a:srgbClr val="000000"/>
                          </a:solidFill>
                          <a:latin typeface="Calibri"/>
                        </a:rPr>
                        <a:t>Regulatory Compliance Impact Analysis</a:t>
                      </a:r>
                      <a:endParaRPr sz="1100"/>
                    </a:p>
                  </a:txBody>
                  <a:tcPr marL="171450" marR="9525" marT="9525" marB="0" anchor="ctr"/>
                </a:tc>
              </a:tr>
              <a:tr h="350520">
                <a:tc>
                  <a:txBody>
                    <a:bodyPr wrap="square"/>
                    <a:lstStyle/>
                    <a:p>
                      <a:pPr algn="l"/>
                      <a:r>
                        <a:rPr sz="1100" b="0" i="0">
                          <a:solidFill>
                            <a:srgbClr val="0070C0"/>
                          </a:solidFill>
                          <a:latin typeface="Calibri"/>
                        </a:rPr>
                        <a:t>24.1.</a:t>
                      </a:r>
                      <a:r>
                        <a:rPr sz="700" b="0" i="0">
                          <a:solidFill>
                            <a:srgbClr val="0070C0"/>
                          </a:solidFill>
                          <a:latin typeface="Times New Roman"/>
                        </a:rPr>
                        <a:t>  </a:t>
                      </a:r>
                      <a:r>
                        <a:rPr sz="1100" b="0" i="0">
                          <a:solidFill>
                            <a:srgbClr val="0070C0"/>
                          </a:solidFill>
                          <a:latin typeface="Calibri"/>
                        </a:rPr>
                        <a:t>Matcha compliance cost by destination country, certification type, and product grade (USD/kg)</a:t>
                      </a:r>
                      <a:endParaRPr sz="1100"/>
                    </a:p>
                  </a:txBody>
                  <a:tcPr marL="428625" marR="9525" marT="9525" marB="0" anchor="ctr"/>
                </a:tc>
              </a:tr>
              <a:tr h="350520">
                <a:tc>
                  <a:txBody>
                    <a:bodyPr wrap="square"/>
                    <a:lstStyle/>
                    <a:p>
                      <a:pPr algn="l"/>
                      <a:r>
                        <a:rPr sz="1100" b="0" i="0">
                          <a:solidFill>
                            <a:srgbClr val="0070C0"/>
                          </a:solidFill>
                          <a:latin typeface="Calibri"/>
                        </a:rPr>
                        <a:t>24.2.</a:t>
                      </a:r>
                      <a:r>
                        <a:rPr sz="700" b="0" i="0">
                          <a:solidFill>
                            <a:srgbClr val="0070C0"/>
                          </a:solidFill>
                          <a:latin typeface="Times New Roman"/>
                        </a:rPr>
                        <a:t>  </a:t>
                      </a:r>
                      <a:r>
                        <a:rPr sz="1100" b="0" i="0">
                          <a:solidFill>
                            <a:srgbClr val="0070C0"/>
                          </a:solidFill>
                          <a:latin typeface="Calibri"/>
                        </a:rPr>
                        <a:t>Country-wise maximum residue limits for pesticides and applicable contaminant thresholds</a:t>
                      </a:r>
                      <a:endParaRPr sz="1100"/>
                    </a:p>
                  </a:txBody>
                  <a:tcPr marL="428625" marR="9525" marT="9525" marB="0" anchor="ctr"/>
                </a:tc>
              </a:tr>
              <a:tr h="350520">
                <a:tc>
                  <a:txBody>
                    <a:bodyPr wrap="square"/>
                    <a:lstStyle/>
                    <a:p>
                      <a:pPr algn="l"/>
                      <a:r>
                        <a:rPr sz="1100" b="0" i="0">
                          <a:solidFill>
                            <a:srgbClr val="0070C0"/>
                          </a:solidFill>
                          <a:latin typeface="Calibri"/>
                        </a:rPr>
                        <a:t>24.3.</a:t>
                      </a:r>
                      <a:r>
                        <a:rPr sz="700" b="0" i="0">
                          <a:solidFill>
                            <a:srgbClr val="0070C0"/>
                          </a:solidFill>
                          <a:latin typeface="Times New Roman"/>
                        </a:rPr>
                        <a:t>  </a:t>
                      </a:r>
                      <a:r>
                        <a:rPr sz="1100" b="0" i="0">
                          <a:solidFill>
                            <a:srgbClr val="0070C0"/>
                          </a:solidFill>
                          <a:latin typeface="Calibri"/>
                        </a:rPr>
                        <a:t>Heavy metal, microbiological, and food safety specification comparison by target market</a:t>
                      </a:r>
                      <a:endParaRPr sz="1100"/>
                    </a:p>
                  </a:txBody>
                  <a:tcPr marL="428625" marR="9525" marT="9525" marB="0" anchor="ctr"/>
                </a:tc>
              </a:tr>
              <a:tr h="175260">
                <a:tc>
                  <a:txBody>
                    <a:bodyPr wrap="square"/>
                    <a:lstStyle/>
                    <a:p>
                      <a:pPr algn="l"/>
                      <a:r>
                        <a:rPr sz="1100" b="0" i="0">
                          <a:solidFill>
                            <a:srgbClr val="0070C0"/>
                          </a:solidFill>
                          <a:latin typeface="Calibri"/>
                        </a:rPr>
                        <a:t>24.4.</a:t>
                      </a:r>
                      <a:r>
                        <a:rPr sz="700" b="0" i="0">
                          <a:solidFill>
                            <a:srgbClr val="0070C0"/>
                          </a:solidFill>
                          <a:latin typeface="Times New Roman"/>
                        </a:rPr>
                        <a:t>  </a:t>
                      </a:r>
                      <a:r>
                        <a:rPr sz="1100" b="0" i="0">
                          <a:solidFill>
                            <a:srgbClr val="0070C0"/>
                          </a:solidFill>
                          <a:latin typeface="Calibri"/>
                        </a:rPr>
                        <a:t>Organic certification costs, renewal frequency, and compliance timelines by market</a:t>
                      </a:r>
                      <a:endParaRPr sz="1100"/>
                    </a:p>
                  </a:txBody>
                  <a:tcPr marL="428625" marR="9525" marT="9525" marB="0" anchor="ctr"/>
                </a:tc>
              </a:tr>
              <a:tr h="350520">
                <a:tc>
                  <a:txBody>
                    <a:bodyPr wrap="square"/>
                    <a:lstStyle/>
                    <a:p>
                      <a:pPr algn="l"/>
                      <a:r>
                        <a:rPr sz="1100" b="0" i="0">
                          <a:solidFill>
                            <a:srgbClr val="0070C0"/>
                          </a:solidFill>
                          <a:latin typeface="Calibri"/>
                        </a:rPr>
                        <a:t>24.5.</a:t>
                      </a:r>
                      <a:r>
                        <a:rPr sz="700" b="0" i="0">
                          <a:solidFill>
                            <a:srgbClr val="0070C0"/>
                          </a:solidFill>
                          <a:latin typeface="Times New Roman"/>
                        </a:rPr>
                        <a:t>  </a:t>
                      </a:r>
                      <a:r>
                        <a:rPr sz="1100" b="0" i="0">
                          <a:solidFill>
                            <a:srgbClr val="0070C0"/>
                          </a:solidFill>
                          <a:latin typeface="Calibri"/>
                        </a:rPr>
                        <a:t>Import testing, inspection, documentation, and customs clearance costs by trade corridor</a:t>
                      </a:r>
                      <a:endParaRPr sz="1100"/>
                    </a:p>
                  </a:txBody>
                  <a:tcPr marL="428625" marR="9525" marT="9525" marB="0" anchor="ctr"/>
                </a:tc>
              </a:tr>
              <a:tr h="350520">
                <a:tc>
                  <a:txBody>
                    <a:bodyPr wrap="square"/>
                    <a:lstStyle/>
                    <a:p>
                      <a:pPr algn="l"/>
                      <a:r>
                        <a:rPr sz="1100" b="0" i="0">
                          <a:solidFill>
                            <a:srgbClr val="0070C0"/>
                          </a:solidFill>
                          <a:latin typeface="Calibri"/>
                        </a:rPr>
                        <a:t>24.6.</a:t>
                      </a:r>
                      <a:r>
                        <a:rPr sz="700" b="0" i="0">
                          <a:solidFill>
                            <a:srgbClr val="0070C0"/>
                          </a:solidFill>
                          <a:latin typeface="Times New Roman"/>
                        </a:rPr>
                        <a:t>  </a:t>
                      </a:r>
                      <a:r>
                        <a:rPr sz="1100" b="0" i="0">
                          <a:solidFill>
                            <a:srgbClr val="0070C0"/>
                          </a:solidFill>
                          <a:latin typeface="Calibri"/>
                        </a:rPr>
                        <a:t>Regulatory-driven price differentials between certified and non-certified matcha (USD/kg)</a:t>
                      </a:r>
                      <a:endParaRPr sz="1100"/>
                    </a:p>
                  </a:txBody>
                  <a:tcPr marL="428625" marR="9525" marT="9525" marB="0" anchor="ctr"/>
                </a:tc>
              </a:tr>
              <a:tr h="350520">
                <a:tc>
                  <a:txBody>
                    <a:bodyPr wrap="square"/>
                    <a:lstStyle/>
                    <a:p>
                      <a:pPr algn="l"/>
                      <a:r>
                        <a:rPr sz="1100" b="0" i="0">
                          <a:solidFill>
                            <a:srgbClr val="0070C0"/>
                          </a:solidFill>
                          <a:latin typeface="Calibri"/>
                        </a:rPr>
                        <a:t>24.7.</a:t>
                      </a:r>
                      <a:r>
                        <a:rPr sz="700" b="0" i="0">
                          <a:solidFill>
                            <a:srgbClr val="0070C0"/>
                          </a:solidFill>
                          <a:latin typeface="Times New Roman"/>
                        </a:rPr>
                        <a:t>  </a:t>
                      </a:r>
                      <a:r>
                        <a:rPr sz="1100" b="0" i="0">
                          <a:solidFill>
                            <a:srgbClr val="0070C0"/>
                          </a:solidFill>
                          <a:latin typeface="Calibri"/>
                        </a:rPr>
                        <a:t>Supplier qualification rates by food safety certification, traceability, and origin documentation (%)</a:t>
                      </a:r>
                      <a:endParaRPr sz="1100"/>
                    </a:p>
                  </a:txBody>
                  <a:tcPr marL="428625" marR="9525" marT="9525" marB="0" anchor="ctr"/>
                </a:tc>
              </a:tr>
              <a:tr h="350520">
                <a:tc>
                  <a:txBody>
                    <a:bodyPr wrap="square"/>
                    <a:lstStyle/>
                    <a:p>
                      <a:pPr algn="l"/>
                      <a:r>
                        <a:rPr sz="1100" b="0" i="0">
                          <a:solidFill>
                            <a:srgbClr val="0070C0"/>
                          </a:solidFill>
                          <a:latin typeface="Calibri"/>
                        </a:rPr>
                        <a:t>24.8.</a:t>
                      </a:r>
                      <a:r>
                        <a:rPr sz="700" b="0" i="0">
                          <a:solidFill>
                            <a:srgbClr val="0070C0"/>
                          </a:solidFill>
                          <a:latin typeface="Times New Roman"/>
                        </a:rPr>
                        <a:t>  </a:t>
                      </a:r>
                      <a:r>
                        <a:rPr sz="1100" b="0" i="0">
                          <a:solidFill>
                            <a:srgbClr val="0070C0"/>
                          </a:solidFill>
                          <a:latin typeface="Calibri"/>
                        </a:rPr>
                        <a:t>Compliance-related shipment rejection rates, delays, and additional costs by destination market</a:t>
                      </a:r>
                      <a:endParaRPr sz="1100"/>
                    </a:p>
                  </a:txBody>
                  <a:tcPr marL="428625" marR="9525" marT="9525" marB="0" anchor="ctr"/>
                </a:tc>
              </a:tr>
              <a:tr h="175260">
                <a:tc>
                  <a:txBody>
                    <a:bodyPr wrap="square"/>
                    <a:lstStyle/>
                    <a:p>
                      <a:pPr algn="l"/>
                      <a:r>
                        <a:rPr sz="1100" b="1" i="0">
                          <a:solidFill>
                            <a:srgbClr val="000000"/>
                          </a:solidFill>
                          <a:latin typeface="Calibri"/>
                        </a:rPr>
                        <a:t>Section 5: Production and Trade Outlook</a:t>
                      </a:r>
                      <a:endParaRPr sz="1100"/>
                    </a:p>
                  </a:txBody>
                  <a:tcPr marL="9525" marR="9525" marT="9525" marB="0" anchor="ctr"/>
                </a:tc>
              </a:tr>
              <a:tr h="175260">
                <a:tc>
                  <a:txBody>
                    <a:bodyPr wrap="square"/>
                    <a:lstStyle/>
                    <a:p>
                      <a:pPr algn="l"/>
                      <a:r>
                        <a:rPr sz="1100" b="1" i="0">
                          <a:solidFill>
                            <a:srgbClr val="000000"/>
                          </a:solidFill>
                          <a:latin typeface="Calibri"/>
                        </a:rPr>
                        <a:t>25.</a:t>
                      </a:r>
                      <a:r>
                        <a:rPr sz="700" b="1" i="0">
                          <a:solidFill>
                            <a:srgbClr val="000000"/>
                          </a:solidFill>
                          <a:latin typeface="Times New Roman"/>
                        </a:rPr>
                        <a:t>    </a:t>
                      </a:r>
                      <a:r>
                        <a:rPr sz="1100" b="1" i="0">
                          <a:solidFill>
                            <a:srgbClr val="000000"/>
                          </a:solidFill>
                          <a:latin typeface="Calibri"/>
                        </a:rPr>
                        <a:t>Global Market- Production and Trade Analysis</a:t>
                      </a:r>
                      <a:endParaRPr sz="1100"/>
                    </a:p>
                  </a:txBody>
                  <a:tcPr marL="171450" marR="9525" marT="9525" marB="0" anchor="ctr"/>
                </a:tc>
              </a:tr>
              <a:tr h="175260">
                <a:tc>
                  <a:txBody>
                    <a:bodyPr wrap="square"/>
                    <a:lstStyle/>
                    <a:p>
                      <a:pPr algn="l"/>
                      <a:r>
                        <a:rPr sz="1100" b="0" i="0">
                          <a:solidFill>
                            <a:srgbClr val="0070C0"/>
                          </a:solidFill>
                          <a:latin typeface="Calibri"/>
                        </a:rPr>
                        <a:t>25.1.</a:t>
                      </a:r>
                      <a:r>
                        <a:rPr sz="700" b="0" i="0">
                          <a:solidFill>
                            <a:srgbClr val="0070C0"/>
                          </a:solidFill>
                          <a:latin typeface="Times New Roman"/>
                        </a:rPr>
                        <a:t>  </a:t>
                      </a:r>
                      <a:r>
                        <a:rPr sz="1100" b="0" i="0">
                          <a:solidFill>
                            <a:srgbClr val="0070C0"/>
                          </a:solidFill>
                          <a:latin typeface="Calibri"/>
                        </a:rPr>
                        <a:t>Production Volume (MT), (2021-2026) by Region/ Country</a:t>
                      </a:r>
                      <a:endParaRPr sz="1100"/>
                    </a:p>
                  </a:txBody>
                  <a:tcPr marL="428625" marR="9525" marT="9525" marB="0" anchor="ctr"/>
                </a:tc>
              </a:tr>
              <a:tr h="175260">
                <a:tc>
                  <a:txBody>
                    <a:bodyPr wrap="square"/>
                    <a:lstStyle/>
                    <a:p>
                      <a:pPr algn="l"/>
                      <a:r>
                        <a:rPr sz="1100" b="0" i="0">
                          <a:solidFill>
                            <a:srgbClr val="0070C0"/>
                          </a:solidFill>
                          <a:latin typeface="Calibri"/>
                        </a:rPr>
                        <a:t>25.2.</a:t>
                      </a:r>
                      <a:r>
                        <a:rPr sz="700" b="0" i="0">
                          <a:solidFill>
                            <a:srgbClr val="0070C0"/>
                          </a:solidFill>
                          <a:latin typeface="Times New Roman"/>
                        </a:rPr>
                        <a:t>  </a:t>
                      </a:r>
                      <a:r>
                        <a:rPr sz="1100" b="0" i="0">
                          <a:solidFill>
                            <a:srgbClr val="0070C0"/>
                          </a:solidFill>
                          <a:latin typeface="Calibri"/>
                        </a:rPr>
                        <a:t>Exports: Key Countries, Share &amp; Value (US$ Mn / MT)</a:t>
                      </a:r>
                      <a:endParaRPr sz="1100"/>
                    </a:p>
                  </a:txBody>
                  <a:tcPr marL="428625" marR="9525" marT="9525" marB="0" anchor="ctr"/>
                </a:tc>
              </a:tr>
              <a:tr h="175260">
                <a:tc>
                  <a:txBody>
                    <a:bodyPr wrap="square"/>
                    <a:lstStyle/>
                    <a:p>
                      <a:pPr algn="l"/>
                      <a:r>
                        <a:rPr sz="1100" b="0" i="0">
                          <a:solidFill>
                            <a:srgbClr val="0070C0"/>
                          </a:solidFill>
                          <a:latin typeface="Calibri"/>
                        </a:rPr>
                        <a:t>25.3.</a:t>
                      </a:r>
                      <a:r>
                        <a:rPr sz="700" b="0" i="0">
                          <a:solidFill>
                            <a:srgbClr val="0070C0"/>
                          </a:solidFill>
                          <a:latin typeface="Times New Roman"/>
                        </a:rPr>
                        <a:t>  </a:t>
                      </a:r>
                      <a:r>
                        <a:rPr sz="1100" b="0" i="0">
                          <a:solidFill>
                            <a:srgbClr val="0070C0"/>
                          </a:solidFill>
                          <a:latin typeface="Calibri"/>
                        </a:rPr>
                        <a:t>Imports: Key Countries, Share &amp; Value (US$ Mn / MT)</a:t>
                      </a:r>
                      <a:endParaRPr sz="1100"/>
                    </a:p>
                  </a:txBody>
                  <a:tcPr marL="428625" marR="9525" marT="9525" marB="0" anchor="ctr"/>
                </a:tc>
              </a:tr>
              <a:tr h="175260">
                <a:tc>
                  <a:txBody>
                    <a:bodyPr wrap="square"/>
                    <a:lstStyle/>
                    <a:p>
                      <a:pPr algn="l"/>
                      <a:r>
                        <a:rPr sz="1100" b="0" i="0">
                          <a:solidFill>
                            <a:srgbClr val="0070C0"/>
                          </a:solidFill>
                          <a:latin typeface="Calibri"/>
                        </a:rPr>
                        <a:t>25.4.</a:t>
                      </a:r>
                      <a:r>
                        <a:rPr sz="700" b="0" i="0">
                          <a:solidFill>
                            <a:srgbClr val="0070C0"/>
                          </a:solidFill>
                          <a:latin typeface="Times New Roman"/>
                        </a:rPr>
                        <a:t>  </a:t>
                      </a:r>
                      <a:r>
                        <a:rPr sz="1100" b="0" i="0">
                          <a:solidFill>
                            <a:srgbClr val="0070C0"/>
                          </a:solidFill>
                          <a:latin typeface="Calibri"/>
                        </a:rPr>
                        <a:t>Global Supply-Demand Overview (Prod., Sales, Import, Export)</a:t>
                      </a:r>
                      <a:endParaRPr sz="1100"/>
                    </a:p>
                  </a:txBody>
                  <a:tcPr marL="428625" marR="9525" marT="9525" marB="0" anchor="ctr"/>
                </a:tc>
              </a:tr>
              <a:tr h="175260">
                <a:tc>
                  <a:txBody>
                    <a:bodyPr wrap="square"/>
                    <a:lstStyle/>
                    <a:p>
                      <a:pPr algn="l"/>
                      <a:r>
                        <a:rPr sz="1100" b="1" i="0">
                          <a:solidFill>
                            <a:srgbClr val="000000"/>
                          </a:solidFill>
                          <a:latin typeface="Calibri"/>
                        </a:rPr>
                        <a:t>26.</a:t>
                      </a:r>
                      <a:r>
                        <a:rPr sz="700" b="1" i="0">
                          <a:solidFill>
                            <a:srgbClr val="000000"/>
                          </a:solidFill>
                          <a:latin typeface="Times New Roman"/>
                        </a:rPr>
                        <a:t>    </a:t>
                      </a:r>
                      <a:r>
                        <a:rPr sz="1100" b="1" i="0">
                          <a:solidFill>
                            <a:srgbClr val="000000"/>
                          </a:solidFill>
                          <a:latin typeface="Calibri"/>
                        </a:rPr>
                        <a:t>Value Chain Cost and Margin Analysis</a:t>
                      </a:r>
                      <a:endParaRPr sz="1100"/>
                    </a:p>
                  </a:txBody>
                  <a:tcPr marL="171450" marR="9525" marT="9525" marB="0" anchor="ctr"/>
                </a:tc>
              </a:tr>
              <a:tr h="350520">
                <a:tc>
                  <a:txBody>
                    <a:bodyPr wrap="square"/>
                    <a:lstStyle/>
                    <a:p>
                      <a:pPr algn="l"/>
                      <a:r>
                        <a:rPr sz="1100" b="0" i="0">
                          <a:solidFill>
                            <a:srgbClr val="0070C0"/>
                          </a:solidFill>
                          <a:latin typeface="Calibri"/>
                        </a:rPr>
                        <a:t>26.1.</a:t>
                      </a:r>
                      <a:r>
                        <a:rPr sz="700" b="0" i="0">
                          <a:solidFill>
                            <a:srgbClr val="0070C0"/>
                          </a:solidFill>
                          <a:latin typeface="Times New Roman"/>
                        </a:rPr>
                        <a:t>  </a:t>
                      </a:r>
                      <a:r>
                        <a:rPr sz="1100" b="0" i="0">
                          <a:solidFill>
                            <a:srgbClr val="0070C0"/>
                          </a:solidFill>
                          <a:latin typeface="Calibri"/>
                        </a:rPr>
                        <a:t>Matcha cost build-up from tea cultivation and tencha processing to milling, packaging, and export (USD/kg)</a:t>
                      </a:r>
                      <a:endParaRPr sz="1100"/>
                    </a:p>
                  </a:txBody>
                  <a:tcPr marL="428625" marR="9525" marT="9525" marB="0" anchor="ctr"/>
                </a:tc>
              </a:tr>
              <a:tr h="175260">
                <a:tc>
                  <a:txBody>
                    <a:bodyPr wrap="square"/>
                    <a:lstStyle/>
                    <a:p>
                      <a:pPr algn="l"/>
                      <a:r>
                        <a:rPr sz="1100" b="0" i="0">
                          <a:solidFill>
                            <a:srgbClr val="0070C0"/>
                          </a:solidFill>
                          <a:latin typeface="Calibri"/>
                        </a:rPr>
                        <a:t>26.2.</a:t>
                      </a:r>
                      <a:r>
                        <a:rPr sz="700" b="0" i="0">
                          <a:solidFill>
                            <a:srgbClr val="0070C0"/>
                          </a:solidFill>
                          <a:latin typeface="Times New Roman"/>
                        </a:rPr>
                        <a:t>  </a:t>
                      </a:r>
                      <a:r>
                        <a:rPr sz="1100" b="0" i="0">
                          <a:solidFill>
                            <a:srgbClr val="0070C0"/>
                          </a:solidFill>
                          <a:latin typeface="Calibri"/>
                        </a:rPr>
                        <a:t>Raw tea leaf and tencha procurement costs by Japanese cultivation region</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(7/8)</a:t>
            </a:r>
          </a:p>
        </p:txBody>
      </p:sp>
      <p:graphicFrame>
        <p:nvGraphicFramePr>
          <p:cNvPr id="9" name="FMI Contents Table"/>
          <p:cNvGraphicFramePr>
            <a:graphicFrameLocks noGrp="1"/>
          </p:cNvGraphicFramePr>
          <p:nvPr/>
        </p:nvGraphicFramePr>
        <p:xfrm>
          <a:off x="142875"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26.3.</a:t>
                      </a:r>
                      <a:r>
                        <a:rPr sz="700" b="0" i="0">
                          <a:solidFill>
                            <a:srgbClr val="0070C0"/>
                          </a:solidFill>
                          <a:latin typeface="Times New Roman"/>
                        </a:rPr>
                        <a:t>  </a:t>
                      </a:r>
                      <a:r>
                        <a:rPr sz="1100" b="0" i="0">
                          <a:solidFill>
                            <a:srgbClr val="0070C0"/>
                          </a:solidFill>
                          <a:latin typeface="Calibri"/>
                        </a:rPr>
                        <a:t>Processing, stone-milling, quality testing, and packaging costs by production scale</a:t>
                      </a:r>
                      <a:endParaRPr sz="1100"/>
                    </a:p>
                  </a:txBody>
                  <a:tcPr marL="428625" marR="9525" marT="9525" marB="0" anchor="ctr"/>
                </a:tc>
              </a:tr>
              <a:tr h="175260">
                <a:tc>
                  <a:txBody>
                    <a:bodyPr wrap="square"/>
                    <a:lstStyle/>
                    <a:p>
                      <a:pPr algn="l"/>
                      <a:r>
                        <a:rPr sz="1100" b="0" i="0">
                          <a:solidFill>
                            <a:srgbClr val="0070C0"/>
                          </a:solidFill>
                          <a:latin typeface="Calibri"/>
                        </a:rPr>
                        <a:t>26.4.</a:t>
                      </a:r>
                      <a:r>
                        <a:rPr sz="700" b="0" i="0">
                          <a:solidFill>
                            <a:srgbClr val="0070C0"/>
                          </a:solidFill>
                          <a:latin typeface="Times New Roman"/>
                        </a:rPr>
                        <a:t>  </a:t>
                      </a:r>
                      <a:r>
                        <a:rPr sz="1100" b="0" i="0">
                          <a:solidFill>
                            <a:srgbClr val="0070C0"/>
                          </a:solidFill>
                          <a:latin typeface="Calibri"/>
                        </a:rPr>
                        <a:t>Export, freight, insurance, tariffs, and import handling costs by trade corridor</a:t>
                      </a:r>
                      <a:endParaRPr sz="1100"/>
                    </a:p>
                  </a:txBody>
                  <a:tcPr marL="428625" marR="9525" marT="9525" marB="0" anchor="ctr"/>
                </a:tc>
              </a:tr>
              <a:tr h="175260">
                <a:tc>
                  <a:txBody>
                    <a:bodyPr wrap="square"/>
                    <a:lstStyle/>
                    <a:p>
                      <a:pPr algn="l"/>
                      <a:r>
                        <a:rPr sz="1100" b="0" i="0">
                          <a:solidFill>
                            <a:srgbClr val="0070C0"/>
                          </a:solidFill>
                          <a:latin typeface="Calibri"/>
                        </a:rPr>
                        <a:t>26.5.</a:t>
                      </a:r>
                      <a:r>
                        <a:rPr sz="700" b="0" i="0">
                          <a:solidFill>
                            <a:srgbClr val="0070C0"/>
                          </a:solidFill>
                          <a:latin typeface="Times New Roman"/>
                        </a:rPr>
                        <a:t>  </a:t>
                      </a:r>
                      <a:r>
                        <a:rPr sz="1100" b="0" i="0">
                          <a:solidFill>
                            <a:srgbClr val="0070C0"/>
                          </a:solidFill>
                          <a:latin typeface="Calibri"/>
                        </a:rPr>
                        <a:t>Manufacturer gross margins by grade, origin, and product format</a:t>
                      </a:r>
                      <a:endParaRPr sz="1100"/>
                    </a:p>
                  </a:txBody>
                  <a:tcPr marL="428625" marR="9525" marT="9525" marB="0" anchor="ctr"/>
                </a:tc>
              </a:tr>
              <a:tr h="175260">
                <a:tc>
                  <a:txBody>
                    <a:bodyPr wrap="square"/>
                    <a:lstStyle/>
                    <a:p>
                      <a:pPr algn="l"/>
                      <a:r>
                        <a:rPr sz="1100" b="0" i="0">
                          <a:solidFill>
                            <a:srgbClr val="0070C0"/>
                          </a:solidFill>
                          <a:latin typeface="Calibri"/>
                        </a:rPr>
                        <a:t>26.6.</a:t>
                      </a:r>
                      <a:r>
                        <a:rPr sz="700" b="0" i="0">
                          <a:solidFill>
                            <a:srgbClr val="0070C0"/>
                          </a:solidFill>
                          <a:latin typeface="Times New Roman"/>
                        </a:rPr>
                        <a:t>  </a:t>
                      </a:r>
                      <a:r>
                        <a:rPr sz="1100" b="0" i="0">
                          <a:solidFill>
                            <a:srgbClr val="0070C0"/>
                          </a:solidFill>
                          <a:latin typeface="Calibri"/>
                        </a:rPr>
                        <a:t>Importer and distributor margins by country and distribution channel</a:t>
                      </a:r>
                      <a:endParaRPr sz="1100"/>
                    </a:p>
                  </a:txBody>
                  <a:tcPr marL="428625" marR="9525" marT="9525" marB="0" anchor="ctr"/>
                </a:tc>
              </a:tr>
              <a:tr h="350520">
                <a:tc>
                  <a:txBody>
                    <a:bodyPr wrap="square"/>
                    <a:lstStyle/>
                    <a:p>
                      <a:pPr algn="l"/>
                      <a:r>
                        <a:rPr sz="1100" b="0" i="0">
                          <a:solidFill>
                            <a:srgbClr val="0070C0"/>
                          </a:solidFill>
                          <a:latin typeface="Calibri"/>
                        </a:rPr>
                        <a:t>26.7.</a:t>
                      </a:r>
                      <a:r>
                        <a:rPr sz="700" b="0" i="0">
                          <a:solidFill>
                            <a:srgbClr val="0070C0"/>
                          </a:solidFill>
                          <a:latin typeface="Times New Roman"/>
                        </a:rPr>
                        <a:t>  </a:t>
                      </a:r>
                      <a:r>
                        <a:rPr sz="1100" b="0" i="0">
                          <a:solidFill>
                            <a:srgbClr val="0070C0"/>
                          </a:solidFill>
                          <a:latin typeface="Calibri"/>
                        </a:rPr>
                        <a:t>Wholesale-to-retail price spread across bulk ingredients, foodservice packs, and consumer packs</a:t>
                      </a:r>
                      <a:endParaRPr sz="1100"/>
                    </a:p>
                  </a:txBody>
                  <a:tcPr marL="428625" marR="9525" marT="9525" marB="0" anchor="ctr"/>
                </a:tc>
              </a:tr>
              <a:tr h="350520">
                <a:tc>
                  <a:txBody>
                    <a:bodyPr wrap="square"/>
                    <a:lstStyle/>
                    <a:p>
                      <a:pPr algn="l"/>
                      <a:r>
                        <a:rPr sz="1100" b="0" i="0">
                          <a:solidFill>
                            <a:srgbClr val="0070C0"/>
                          </a:solidFill>
                          <a:latin typeface="Calibri"/>
                        </a:rPr>
                        <a:t>26.8.</a:t>
                      </a:r>
                      <a:r>
                        <a:rPr sz="700" b="0" i="0">
                          <a:solidFill>
                            <a:srgbClr val="0070C0"/>
                          </a:solidFill>
                          <a:latin typeface="Times New Roman"/>
                        </a:rPr>
                        <a:t>  </a:t>
                      </a:r>
                      <a:r>
                        <a:rPr sz="1100" b="0" i="0">
                          <a:solidFill>
                            <a:srgbClr val="0070C0"/>
                          </a:solidFill>
                          <a:latin typeface="Calibri"/>
                        </a:rPr>
                        <a:t>Landed cost and contribution margin comparison by sourcing country and target market</a:t>
                      </a:r>
                      <a:endParaRPr sz="1100"/>
                    </a:p>
                  </a:txBody>
                  <a:tcPr marL="428625" marR="9525" marT="9525" marB="0" anchor="ctr"/>
                </a:tc>
              </a:tr>
              <a:tr h="175260">
                <a:tc>
                  <a:txBody>
                    <a:bodyPr wrap="square"/>
                    <a:lstStyle/>
                    <a:p>
                      <a:pPr algn="l"/>
                      <a:r>
                        <a:rPr sz="1100" b="1" i="0">
                          <a:solidFill>
                            <a:srgbClr val="000000"/>
                          </a:solidFill>
                          <a:latin typeface="Calibri"/>
                        </a:rPr>
                        <a:t>27.</a:t>
                      </a:r>
                      <a:r>
                        <a:rPr sz="700" b="1" i="0">
                          <a:solidFill>
                            <a:srgbClr val="000000"/>
                          </a:solidFill>
                          <a:latin typeface="Times New Roman"/>
                        </a:rPr>
                        <a:t>    </a:t>
                      </a:r>
                      <a:r>
                        <a:rPr sz="1100" b="1" i="0">
                          <a:solidFill>
                            <a:srgbClr val="000000"/>
                          </a:solidFill>
                          <a:latin typeface="Calibri"/>
                        </a:rPr>
                        <a:t>Value Chain Analysis</a:t>
                      </a:r>
                      <a:endParaRPr sz="1100"/>
                    </a:p>
                  </a:txBody>
                  <a:tcPr marL="171450" marR="9525" marT="9525" marB="0" anchor="ctr"/>
                </a:tc>
              </a:tr>
              <a:tr h="175260">
                <a:tc>
                  <a:txBody>
                    <a:bodyPr wrap="square"/>
                    <a:lstStyle/>
                    <a:p>
                      <a:pPr algn="l"/>
                      <a:r>
                        <a:rPr sz="1100" b="0" i="0">
                          <a:solidFill>
                            <a:srgbClr val="0070C0"/>
                          </a:solidFill>
                          <a:latin typeface="Calibri"/>
                        </a:rPr>
                        <a:t>27.1.</a:t>
                      </a:r>
                      <a:r>
                        <a:rPr sz="700" b="0" i="0">
                          <a:solidFill>
                            <a:srgbClr val="0070C0"/>
                          </a:solidFill>
                          <a:latin typeface="Times New Roman"/>
                        </a:rPr>
                        <a:t>  </a:t>
                      </a:r>
                      <a:r>
                        <a:rPr sz="1100" b="0" i="0">
                          <a:solidFill>
                            <a:srgbClr val="0070C0"/>
                          </a:solidFill>
                          <a:latin typeface="Calibri"/>
                        </a:rPr>
                        <a:t>Industry-Wide Operating Margin</a:t>
                      </a:r>
                      <a:endParaRPr sz="1100"/>
                    </a:p>
                  </a:txBody>
                  <a:tcPr marL="428625" marR="9525" marT="9525" marB="0" anchor="ctr"/>
                </a:tc>
              </a:tr>
              <a:tr h="175260">
                <a:tc>
                  <a:txBody>
                    <a:bodyPr wrap="square"/>
                    <a:lstStyle/>
                    <a:p>
                      <a:pPr algn="l"/>
                      <a:r>
                        <a:rPr sz="1100" b="0" i="0">
                          <a:solidFill>
                            <a:srgbClr val="000000"/>
                          </a:solidFill>
                          <a:latin typeface="Calibri"/>
                        </a:rPr>
                        <a:t>27.1.1.</a:t>
                      </a:r>
                      <a:r>
                        <a:rPr sz="700" b="0" i="0">
                          <a:solidFill>
                            <a:srgbClr val="000000"/>
                          </a:solidFill>
                          <a:latin typeface="Times New Roman"/>
                        </a:rPr>
                        <a:t> </a:t>
                      </a:r>
                      <a:r>
                        <a:rPr sz="1100" b="0" i="0">
                          <a:solidFill>
                            <a:srgbClr val="000000"/>
                          </a:solidFill>
                          <a:latin typeface="Calibri"/>
                        </a:rPr>
                        <a:t>Operating margins at each node of supply chain</a:t>
                      </a:r>
                      <a:endParaRPr sz="1100"/>
                    </a:p>
                  </a:txBody>
                  <a:tcPr marL="771525" marR="9525" marT="9525" marB="0" anchor="ctr"/>
                </a:tc>
              </a:tr>
              <a:tr h="175260">
                <a:tc>
                  <a:txBody>
                    <a:bodyPr wrap="square"/>
                    <a:lstStyle/>
                    <a:p>
                      <a:pPr algn="l"/>
                      <a:r>
                        <a:rPr sz="1100" b="0" i="0">
                          <a:solidFill>
                            <a:srgbClr val="000000"/>
                          </a:solidFill>
                          <a:latin typeface="Calibri"/>
                        </a:rPr>
                        <a:t>27.1.2.</a:t>
                      </a:r>
                      <a:r>
                        <a:rPr sz="700" b="0" i="0">
                          <a:solidFill>
                            <a:srgbClr val="000000"/>
                          </a:solidFill>
                          <a:latin typeface="Times New Roman"/>
                        </a:rPr>
                        <a:t> </a:t>
                      </a:r>
                      <a:r>
                        <a:rPr sz="1100" b="0" i="0">
                          <a:solidFill>
                            <a:srgbClr val="000000"/>
                          </a:solidFill>
                          <a:latin typeface="Calibri"/>
                        </a:rPr>
                        <a:t>Operating margins Comparison to Parent/Associated Market</a:t>
                      </a:r>
                      <a:endParaRPr sz="1100"/>
                    </a:p>
                  </a:txBody>
                  <a:tcPr marL="771525" marR="9525" marT="9525" marB="0" anchor="ctr"/>
                </a:tc>
              </a:tr>
              <a:tr h="175260">
                <a:tc>
                  <a:txBody>
                    <a:bodyPr wrap="square"/>
                    <a:lstStyle/>
                    <a:p>
                      <a:pPr algn="l"/>
                      <a:r>
                        <a:rPr sz="1100" b="0" i="0">
                          <a:solidFill>
                            <a:srgbClr val="0070C0"/>
                          </a:solidFill>
                          <a:latin typeface="Calibri"/>
                        </a:rPr>
                        <a:t>27.2.</a:t>
                      </a:r>
                      <a:r>
                        <a:rPr sz="700" b="0" i="0">
                          <a:solidFill>
                            <a:srgbClr val="0070C0"/>
                          </a:solidFill>
                          <a:latin typeface="Times New Roman"/>
                        </a:rPr>
                        <a:t>  </a:t>
                      </a:r>
                      <a:r>
                        <a:rPr sz="1100" b="0" i="0">
                          <a:solidFill>
                            <a:srgbClr val="0070C0"/>
                          </a:solidFill>
                          <a:latin typeface="Calibri"/>
                        </a:rPr>
                        <a:t>Margin Optimization Strategies</a:t>
                      </a:r>
                      <a:endParaRPr sz="1100"/>
                    </a:p>
                  </a:txBody>
                  <a:tcPr marL="428625" marR="9525" marT="9525" marB="0" anchor="ctr"/>
                </a:tc>
              </a:tr>
              <a:tr h="175260">
                <a:tc>
                  <a:txBody>
                    <a:bodyPr wrap="square"/>
                    <a:lstStyle/>
                    <a:p>
                      <a:pPr algn="l"/>
                      <a:r>
                        <a:rPr sz="1100" b="0" i="0">
                          <a:solidFill>
                            <a:srgbClr val="0070C0"/>
                          </a:solidFill>
                          <a:latin typeface="Calibri"/>
                        </a:rPr>
                        <a:t>27.3.</a:t>
                      </a:r>
                      <a:r>
                        <a:rPr sz="700" b="0" i="0">
                          <a:solidFill>
                            <a:srgbClr val="0070C0"/>
                          </a:solidFill>
                          <a:latin typeface="Times New Roman"/>
                        </a:rPr>
                        <a:t>  </a:t>
                      </a:r>
                      <a:r>
                        <a:rPr sz="1100" b="0" i="0">
                          <a:solidFill>
                            <a:srgbClr val="0070C0"/>
                          </a:solidFill>
                          <a:latin typeface="Calibri"/>
                        </a:rPr>
                        <a:t>List of Active Market Participants</a:t>
                      </a:r>
                      <a:endParaRPr sz="1100"/>
                    </a:p>
                  </a:txBody>
                  <a:tcPr marL="428625" marR="9525" marT="9525" marB="0" anchor="ctr"/>
                </a:tc>
              </a:tr>
              <a:tr h="175260">
                <a:tc>
                  <a:txBody>
                    <a:bodyPr wrap="square"/>
                    <a:lstStyle/>
                    <a:p>
                      <a:pPr algn="l"/>
                      <a:r>
                        <a:rPr sz="1100" b="0" i="0">
                          <a:solidFill>
                            <a:srgbClr val="000000"/>
                          </a:solidFill>
                          <a:latin typeface="Calibri"/>
                        </a:rPr>
                        <a:t>27.3.1.</a:t>
                      </a:r>
                      <a:r>
                        <a:rPr sz="700" b="0" i="0">
                          <a:solidFill>
                            <a:srgbClr val="000000"/>
                          </a:solidFill>
                          <a:latin typeface="Times New Roman"/>
                        </a:rPr>
                        <a:t> </a:t>
                      </a:r>
                      <a:r>
                        <a:rPr sz="1100" b="0" i="0">
                          <a:solidFill>
                            <a:srgbClr val="000000"/>
                          </a:solidFill>
                          <a:latin typeface="Calibri"/>
                        </a:rPr>
                        <a:t>Product Manufacturers/ Key Brands</a:t>
                      </a:r>
                      <a:endParaRPr sz="1100"/>
                    </a:p>
                  </a:txBody>
                  <a:tcPr marL="771525" marR="9525" marT="9525" marB="0" anchor="ctr"/>
                </a:tc>
              </a:tr>
              <a:tr h="175260">
                <a:tc>
                  <a:txBody>
                    <a:bodyPr wrap="square"/>
                    <a:lstStyle/>
                    <a:p>
                      <a:pPr algn="l"/>
                      <a:r>
                        <a:rPr sz="1100" b="0" i="0">
                          <a:solidFill>
                            <a:srgbClr val="000000"/>
                          </a:solidFill>
                          <a:latin typeface="Calibri"/>
                        </a:rPr>
                        <a:t>27.3.2.</a:t>
                      </a:r>
                      <a:r>
                        <a:rPr sz="700" b="0" i="0">
                          <a:solidFill>
                            <a:srgbClr val="000000"/>
                          </a:solidFill>
                          <a:latin typeface="Times New Roman"/>
                        </a:rPr>
                        <a:t> </a:t>
                      </a:r>
                      <a:r>
                        <a:rPr sz="1100" b="0" i="0">
                          <a:solidFill>
                            <a:srgbClr val="000000"/>
                          </a:solidFill>
                          <a:latin typeface="Calibri"/>
                        </a:rPr>
                        <a:t>Distributors/Suppliers</a:t>
                      </a:r>
                      <a:endParaRPr sz="1100"/>
                    </a:p>
                  </a:txBody>
                  <a:tcPr marL="771525" marR="9525" marT="9525" marB="0" anchor="ctr"/>
                </a:tc>
              </a:tr>
              <a:tr h="175260">
                <a:tc>
                  <a:txBody>
                    <a:bodyPr wrap="square"/>
                    <a:lstStyle/>
                    <a:p>
                      <a:pPr algn="l"/>
                      <a:r>
                        <a:rPr sz="1100" b="0" i="0">
                          <a:solidFill>
                            <a:srgbClr val="000000"/>
                          </a:solidFill>
                          <a:latin typeface="Calibri"/>
                        </a:rPr>
                        <a:t>27.3.3.</a:t>
                      </a:r>
                      <a:r>
                        <a:rPr sz="700" b="0" i="0">
                          <a:solidFill>
                            <a:srgbClr val="000000"/>
                          </a:solidFill>
                          <a:latin typeface="Times New Roman"/>
                        </a:rPr>
                        <a:t> </a:t>
                      </a:r>
                      <a:r>
                        <a:rPr sz="1100" b="0" i="0">
                          <a:solidFill>
                            <a:srgbClr val="000000"/>
                          </a:solidFill>
                          <a:latin typeface="Calibri"/>
                        </a:rPr>
                        <a:t>End Users</a:t>
                      </a:r>
                      <a:endParaRPr sz="1100"/>
                    </a:p>
                  </a:txBody>
                  <a:tcPr marL="771525" marR="9525" marT="9525" marB="0" anchor="ctr"/>
                </a:tc>
              </a:tr>
              <a:tr h="350520">
                <a:tc>
                  <a:txBody>
                    <a:bodyPr wrap="square"/>
                    <a:lstStyle/>
                    <a:p>
                      <a:pPr algn="l"/>
                      <a:r>
                        <a:rPr sz="1100" b="0" i="1">
                          <a:solidFill>
                            <a:srgbClr val="FF0000"/>
                          </a:solidFill>
                          <a:latin typeface="Calibri"/>
                        </a:rPr>
                        <a:t>Note: The section lists 20-30 active market participants. For a comprehensive list, please contact the respective sales personnel</a:t>
                      </a:r>
                      <a:endParaRPr sz="1100"/>
                    </a:p>
                  </a:txBody>
                  <a:tcPr marL="9525" marR="9525" marT="9525" marB="0" anchor="ctr"/>
                </a:tc>
              </a:tr>
              <a:tr h="175260">
                <a:tc>
                  <a:txBody>
                    <a:bodyPr wrap="square"/>
                    <a:lstStyle/>
                    <a:p>
                      <a:pPr algn="l"/>
                      <a:r>
                        <a:rPr sz="1100" b="1" i="0">
                          <a:solidFill>
                            <a:srgbClr val="000000"/>
                          </a:solidFill>
                          <a:latin typeface="Calibri"/>
                        </a:rPr>
                        <a:t>Section 6: Competition Assessment</a:t>
                      </a:r>
                      <a:endParaRPr sz="1100"/>
                    </a:p>
                  </a:txBody>
                  <a:tcPr marL="9525" marR="9525" marT="9525" marB="0" anchor="ctr"/>
                </a:tc>
              </a:tr>
              <a:tr h="175260">
                <a:tc>
                  <a:txBody>
                    <a:bodyPr wrap="square"/>
                    <a:lstStyle/>
                    <a:p>
                      <a:pPr algn="l"/>
                      <a:r>
                        <a:rPr sz="1100" b="1" i="0">
                          <a:solidFill>
                            <a:srgbClr val="000000"/>
                          </a:solidFill>
                          <a:latin typeface="Calibri"/>
                        </a:rPr>
                        <a:t>28.</a:t>
                      </a:r>
                      <a:r>
                        <a:rPr sz="700" b="1" i="0">
                          <a:solidFill>
                            <a:srgbClr val="000000"/>
                          </a:solidFill>
                          <a:latin typeface="Times New Roman"/>
                        </a:rPr>
                        <a:t>    </a:t>
                      </a:r>
                      <a:r>
                        <a:rPr sz="1100" b="1" i="0">
                          <a:solidFill>
                            <a:srgbClr val="000000"/>
                          </a:solidFill>
                          <a:latin typeface="Calibri"/>
                        </a:rPr>
                        <a:t>Competition at a Glance- a Dashboard View</a:t>
                      </a:r>
                      <a:endParaRPr sz="1100"/>
                    </a:p>
                  </a:txBody>
                  <a:tcPr marL="171450" marR="9525" marT="9525" marB="0" anchor="ctr"/>
                </a:tc>
              </a:tr>
              <a:tr h="175260">
                <a:tc>
                  <a:txBody>
                    <a:bodyPr wrap="square"/>
                    <a:lstStyle/>
                    <a:p>
                      <a:pPr algn="l"/>
                      <a:r>
                        <a:rPr sz="1100" b="1" i="0">
                          <a:solidFill>
                            <a:srgbClr val="000000"/>
                          </a:solidFill>
                          <a:latin typeface="Calibri"/>
                        </a:rPr>
                        <a:t>29.</a:t>
                      </a:r>
                      <a:r>
                        <a:rPr sz="700" b="1" i="0">
                          <a:solidFill>
                            <a:srgbClr val="000000"/>
                          </a:solidFill>
                          <a:latin typeface="Times New Roman"/>
                        </a:rPr>
                        <a:t>    </a:t>
                      </a:r>
                      <a:r>
                        <a:rPr sz="1100" b="1" i="0">
                          <a:solidFill>
                            <a:srgbClr val="000000"/>
                          </a:solidFill>
                          <a:latin typeface="Calibri"/>
                        </a:rPr>
                        <a:t>Company Share (%) Analysis, 2023, 2025, 2026</a:t>
                      </a:r>
                      <a:endParaRPr sz="1100"/>
                    </a:p>
                  </a:txBody>
                  <a:tcPr marL="171450" marR="9525" marT="9525" marB="0" anchor="ctr"/>
                </a:tc>
              </a:tr>
              <a:tr h="175260">
                <a:tc>
                  <a:txBody>
                    <a:bodyPr wrap="square"/>
                    <a:lstStyle/>
                    <a:p>
                      <a:pPr algn="l"/>
                      <a:r>
                        <a:rPr sz="1100" b="0" i="0">
                          <a:solidFill>
                            <a:srgbClr val="0070C0"/>
                          </a:solidFill>
                          <a:latin typeface="Calibri"/>
                        </a:rPr>
                        <a:t>29.1.</a:t>
                      </a:r>
                      <a:r>
                        <a:rPr sz="700" b="0" i="0">
                          <a:solidFill>
                            <a:srgbClr val="0070C0"/>
                          </a:solidFill>
                          <a:latin typeface="Times New Roman"/>
                        </a:rPr>
                        <a:t>  </a:t>
                      </a:r>
                      <a:r>
                        <a:rPr sz="1100" b="0" i="0">
                          <a:solidFill>
                            <a:srgbClr val="0070C0"/>
                          </a:solidFill>
                          <a:latin typeface="Calibri"/>
                        </a:rPr>
                        <a:t>By Region</a:t>
                      </a:r>
                      <a:endParaRPr sz="1100"/>
                    </a:p>
                  </a:txBody>
                  <a:tcPr marL="428625" marR="9525" marT="9525" marB="0" anchor="ctr"/>
                </a:tc>
              </a:tr>
              <a:tr h="175260">
                <a:tc>
                  <a:txBody>
                    <a:bodyPr wrap="square"/>
                    <a:lstStyle/>
                    <a:p>
                      <a:pPr algn="l"/>
                      <a:r>
                        <a:rPr sz="1100" b="0" i="0">
                          <a:solidFill>
                            <a:srgbClr val="0070C0"/>
                          </a:solidFill>
                          <a:latin typeface="Calibri"/>
                        </a:rPr>
                        <a:t>29.2.</a:t>
                      </a:r>
                      <a:r>
                        <a:rPr sz="700" b="0" i="0">
                          <a:solidFill>
                            <a:srgbClr val="0070C0"/>
                          </a:solidFill>
                          <a:latin typeface="Times New Roman"/>
                        </a:rPr>
                        <a:t>  </a:t>
                      </a:r>
                      <a:r>
                        <a:rPr sz="1100" b="0" i="0">
                          <a:solidFill>
                            <a:srgbClr val="0070C0"/>
                          </a:solidFill>
                          <a:latin typeface="Calibri"/>
                        </a:rPr>
                        <a:t>By Product Type</a:t>
                      </a:r>
                      <a:endParaRPr sz="1100"/>
                    </a:p>
                  </a:txBody>
                  <a:tcPr marL="428625" marR="9525" marT="9525" marB="0" anchor="ctr"/>
                </a:tc>
              </a:tr>
              <a:tr h="175260">
                <a:tc>
                  <a:txBody>
                    <a:bodyPr wrap="square"/>
                    <a:lstStyle/>
                    <a:p>
                      <a:pPr algn="l"/>
                      <a:r>
                        <a:rPr sz="1100" b="0" i="0">
                          <a:solidFill>
                            <a:srgbClr val="0070C0"/>
                          </a:solidFill>
                          <a:latin typeface="Calibri"/>
                        </a:rPr>
                        <a:t>29.3.</a:t>
                      </a:r>
                      <a:r>
                        <a:rPr sz="700" b="0" i="0">
                          <a:solidFill>
                            <a:srgbClr val="0070C0"/>
                          </a:solidFill>
                          <a:latin typeface="Times New Roman"/>
                        </a:rPr>
                        <a:t>  </a:t>
                      </a:r>
                      <a:r>
                        <a:rPr sz="1100" b="0" i="0">
                          <a:solidFill>
                            <a:srgbClr val="0070C0"/>
                          </a:solidFill>
                          <a:latin typeface="Calibri"/>
                        </a:rPr>
                        <a:t>By End Use Application/ Sales Channel</a:t>
                      </a:r>
                      <a:endParaRPr sz="1100"/>
                    </a:p>
                  </a:txBody>
                  <a:tcPr marL="428625" marR="9525" marT="9525" marB="0" anchor="ctr"/>
                </a:tc>
              </a:tr>
              <a:tr h="175260">
                <a:tc>
                  <a:txBody>
                    <a:bodyPr wrap="square"/>
                    <a:lstStyle/>
                    <a:p>
                      <a:pPr algn="l"/>
                      <a:r>
                        <a:rPr sz="1100" b="1" i="0">
                          <a:solidFill>
                            <a:srgbClr val="000000"/>
                          </a:solidFill>
                          <a:latin typeface="Calibri"/>
                        </a:rPr>
                        <a:t>30.</a:t>
                      </a:r>
                      <a:r>
                        <a:rPr sz="700" b="1" i="0">
                          <a:solidFill>
                            <a:srgbClr val="000000"/>
                          </a:solidFill>
                          <a:latin typeface="Times New Roman"/>
                        </a:rPr>
                        <a:t>    </a:t>
                      </a:r>
                      <a:r>
                        <a:rPr sz="1100" b="1" i="0">
                          <a:solidFill>
                            <a:srgbClr val="000000"/>
                          </a:solidFill>
                          <a:latin typeface="Calibri"/>
                        </a:rPr>
                        <a:t>Company Share Breakdown (2026)</a:t>
                      </a:r>
                      <a:endParaRPr sz="1100"/>
                    </a:p>
                  </a:txBody>
                  <a:tcPr marL="171450" marR="9525" marT="9525" marB="0" anchor="ctr"/>
                </a:tc>
              </a:tr>
              <a:tr h="175260">
                <a:tc>
                  <a:txBody>
                    <a:bodyPr wrap="square"/>
                    <a:lstStyle/>
                    <a:p>
                      <a:pPr algn="l"/>
                      <a:r>
                        <a:rPr sz="1100" b="0" i="0">
                          <a:solidFill>
                            <a:srgbClr val="0070C0"/>
                          </a:solidFill>
                          <a:latin typeface="Calibri"/>
                        </a:rPr>
                        <a:t>30.1.</a:t>
                      </a:r>
                      <a:r>
                        <a:rPr sz="700" b="0" i="0">
                          <a:solidFill>
                            <a:srgbClr val="0070C0"/>
                          </a:solidFill>
                          <a:latin typeface="Times New Roman"/>
                        </a:rPr>
                        <a:t>  </a:t>
                      </a:r>
                      <a:r>
                        <a:rPr sz="1100" b="0" i="0">
                          <a:solidFill>
                            <a:srgbClr val="0070C0"/>
                          </a:solidFill>
                          <a:latin typeface="Calibri"/>
                        </a:rPr>
                        <a:t>Top Players (Tier 1)</a:t>
                      </a:r>
                      <a:endParaRPr sz="1100"/>
                    </a:p>
                  </a:txBody>
                  <a:tcPr marL="428625" marR="9525" marT="9525" marB="0" anchor="ctr"/>
                </a:tc>
              </a:tr>
              <a:tr h="175260">
                <a:tc>
                  <a:txBody>
                    <a:bodyPr wrap="square"/>
                    <a:lstStyle/>
                    <a:p>
                      <a:pPr algn="l"/>
                      <a:r>
                        <a:rPr sz="1100" b="0" i="0">
                          <a:solidFill>
                            <a:srgbClr val="0070C0"/>
                          </a:solidFill>
                          <a:latin typeface="Calibri"/>
                        </a:rPr>
                        <a:t>30.2.</a:t>
                      </a:r>
                      <a:r>
                        <a:rPr sz="700" b="0" i="0">
                          <a:solidFill>
                            <a:srgbClr val="0070C0"/>
                          </a:solidFill>
                          <a:latin typeface="Times New Roman"/>
                        </a:rPr>
                        <a:t>  </a:t>
                      </a:r>
                      <a:r>
                        <a:rPr sz="1100" b="0" i="0">
                          <a:solidFill>
                            <a:srgbClr val="0070C0"/>
                          </a:solidFill>
                          <a:latin typeface="Calibri"/>
                        </a:rPr>
                        <a:t>Mid-Sized Players (Tier 2)</a:t>
                      </a:r>
                      <a:endParaRPr sz="1100"/>
                    </a:p>
                  </a:txBody>
                  <a:tcPr marL="428625" marR="9525" marT="9525" marB="0" anchor="ctr"/>
                </a:tc>
              </a:tr>
              <a:tr h="175260">
                <a:tc>
                  <a:txBody>
                    <a:bodyPr wrap="square"/>
                    <a:lstStyle/>
                    <a:p>
                      <a:pPr algn="l"/>
                      <a:r>
                        <a:rPr sz="1100" b="0" i="0">
                          <a:solidFill>
                            <a:srgbClr val="0070C0"/>
                          </a:solidFill>
                          <a:latin typeface="Calibri"/>
                        </a:rPr>
                        <a:t>30.3.</a:t>
                      </a:r>
                      <a:r>
                        <a:rPr sz="700" b="0" i="0">
                          <a:solidFill>
                            <a:srgbClr val="0070C0"/>
                          </a:solidFill>
                          <a:latin typeface="Times New Roman"/>
                        </a:rPr>
                        <a:t>  </a:t>
                      </a:r>
                      <a:r>
                        <a:rPr sz="1100" b="0" i="0">
                          <a:solidFill>
                            <a:srgbClr val="0070C0"/>
                          </a:solidFill>
                          <a:latin typeface="Calibri"/>
                        </a:rPr>
                        <a:t>Emerging/Local Players (Tier 3)</a:t>
                      </a:r>
                      <a:endParaRPr sz="1100"/>
                    </a:p>
                  </a:txBody>
                  <a:tcPr marL="428625" marR="9525" marT="9525" marB="0" anchor="ctr"/>
                </a:tc>
              </a:tr>
              <a:tr h="175260">
                <a:tc>
                  <a:txBody>
                    <a:bodyPr wrap="square"/>
                    <a:lstStyle/>
                    <a:p>
                      <a:pPr algn="l"/>
                      <a:r>
                        <a:rPr sz="1100" b="1" i="0">
                          <a:solidFill>
                            <a:srgbClr val="000000"/>
                          </a:solidFill>
                          <a:latin typeface="Calibri"/>
                        </a:rPr>
                        <a:t>31.</a:t>
                      </a:r>
                      <a:r>
                        <a:rPr sz="700" b="1" i="0">
                          <a:solidFill>
                            <a:srgbClr val="000000"/>
                          </a:solidFill>
                          <a:latin typeface="Times New Roman"/>
                        </a:rPr>
                        <a:t>    </a:t>
                      </a:r>
                      <a:r>
                        <a:rPr sz="1100" b="1" i="0">
                          <a:solidFill>
                            <a:srgbClr val="000000"/>
                          </a:solidFill>
                          <a:latin typeface="Calibri"/>
                        </a:rPr>
                        <a:t>Company Profile- America</a:t>
                      </a:r>
                      <a:endParaRPr sz="1100"/>
                    </a:p>
                  </a:txBody>
                  <a:tcPr marL="171450"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0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31.1.</a:t>
                      </a:r>
                      <a:r>
                        <a:rPr sz="700" b="0" i="0">
                          <a:solidFill>
                            <a:srgbClr val="0070C0"/>
                          </a:solidFill>
                          <a:latin typeface="Times New Roman"/>
                        </a:rPr>
                        <a:t>  </a:t>
                      </a:r>
                      <a:r>
                        <a:rPr sz="1100" b="0" i="0">
                          <a:solidFill>
                            <a:srgbClr val="0070C0"/>
                          </a:solidFill>
                          <a:latin typeface="Calibri"/>
                        </a:rPr>
                        <a:t>Jade Leaf Matcha</a:t>
                      </a:r>
                      <a:endParaRPr sz="1100"/>
                    </a:p>
                  </a:txBody>
                  <a:tcPr marL="428625" marR="9525" marT="9525" marB="0" anchor="ctr"/>
                </a:tc>
              </a:tr>
              <a:tr h="175260">
                <a:tc>
                  <a:txBody>
                    <a:bodyPr wrap="square"/>
                    <a:lstStyle/>
                    <a:p>
                      <a:pPr algn="l"/>
                      <a:r>
                        <a:rPr sz="1100" b="0" i="0">
                          <a:solidFill>
                            <a:srgbClr val="000000"/>
                          </a:solidFill>
                          <a:latin typeface="Calibri"/>
                        </a:rPr>
                        <a:t>31.1.1.</a:t>
                      </a:r>
                      <a:r>
                        <a:rPr sz="700" b="0" i="0">
                          <a:solidFill>
                            <a:srgbClr val="000000"/>
                          </a:solidFill>
                          <a:latin typeface="Times New Roman"/>
                        </a:rPr>
                        <a:t> </a:t>
                      </a:r>
                      <a:r>
                        <a:rPr sz="1100" b="0" i="0">
                          <a:solidFill>
                            <a:srgbClr val="000000"/>
                          </a:solidFill>
                          <a:latin typeface="Calibri"/>
                        </a:rPr>
                        <a:t>Product Portfolio</a:t>
                      </a:r>
                      <a:endParaRPr sz="1100"/>
                    </a:p>
                  </a:txBody>
                  <a:tcPr marL="771525" marR="9525" marT="9525" marB="0" anchor="ctr"/>
                </a:tc>
              </a:tr>
              <a:tr h="175260">
                <a:tc>
                  <a:txBody>
                    <a:bodyPr wrap="square"/>
                    <a:lstStyle/>
                    <a:p>
                      <a:pPr algn="l"/>
                      <a:r>
                        <a:rPr sz="1100" b="0" i="0">
                          <a:solidFill>
                            <a:srgbClr val="000000"/>
                          </a:solidFill>
                          <a:latin typeface="Calibri"/>
                        </a:rPr>
                        <a:t>31.1.2.</a:t>
                      </a:r>
                      <a:r>
                        <a:rPr sz="700" b="0" i="0">
                          <a:solidFill>
                            <a:srgbClr val="000000"/>
                          </a:solidFill>
                          <a:latin typeface="Times New Roman"/>
                        </a:rPr>
                        <a:t> </a:t>
                      </a:r>
                      <a:r>
                        <a:rPr sz="1100" b="0" i="0">
                          <a:solidFill>
                            <a:srgbClr val="000000"/>
                          </a:solidFill>
                          <a:latin typeface="Calibri"/>
                        </a:rPr>
                        <a:t>Apparent Production Volume (MT)</a:t>
                      </a:r>
                      <a:endParaRPr sz="1100"/>
                    </a:p>
                  </a:txBody>
                  <a:tcPr marL="771525" marR="9525" marT="9525" marB="0" anchor="ctr"/>
                </a:tc>
              </a:tr>
              <a:tr h="175260">
                <a:tc>
                  <a:txBody>
                    <a:bodyPr wrap="square"/>
                    <a:lstStyle/>
                    <a:p>
                      <a:pPr algn="l"/>
                      <a:r>
                        <a:rPr sz="1100" b="0" i="0">
                          <a:solidFill>
                            <a:srgbClr val="000000"/>
                          </a:solidFill>
                          <a:latin typeface="Calibri"/>
                        </a:rPr>
                        <a:t>31.1.3.</a:t>
                      </a:r>
                      <a:r>
                        <a:rPr sz="700" b="0" i="0">
                          <a:solidFill>
                            <a:srgbClr val="000000"/>
                          </a:solidFill>
                          <a:latin typeface="Times New Roman"/>
                        </a:rPr>
                        <a:t> </a:t>
                      </a:r>
                      <a:r>
                        <a:rPr sz="1100" b="0" i="0">
                          <a:solidFill>
                            <a:srgbClr val="000000"/>
                          </a:solidFill>
                          <a:latin typeface="Calibri"/>
                        </a:rPr>
                        <a:t>Pricing Analysis (USD Per Unit) By Product Type</a:t>
                      </a:r>
                      <a:endParaRPr sz="1100"/>
                    </a:p>
                  </a:txBody>
                  <a:tcPr marL="771525" marR="9525" marT="9525" marB="0" anchor="ctr"/>
                </a:tc>
              </a:tr>
              <a:tr h="175260">
                <a:tc>
                  <a:txBody>
                    <a:bodyPr wrap="square"/>
                    <a:lstStyle/>
                    <a:p>
                      <a:pPr algn="l"/>
                      <a:r>
                        <a:rPr sz="1100" b="0" i="0">
                          <a:solidFill>
                            <a:srgbClr val="000000"/>
                          </a:solidFill>
                          <a:latin typeface="Calibri"/>
                        </a:rPr>
                        <a:t>31.1.4.</a:t>
                      </a:r>
                      <a:r>
                        <a:rPr sz="700" b="0" i="0">
                          <a:solidFill>
                            <a:srgbClr val="000000"/>
                          </a:solidFill>
                          <a:latin typeface="Times New Roman"/>
                        </a:rPr>
                        <a:t> </a:t>
                      </a:r>
                      <a:r>
                        <a:rPr sz="1100" b="0" i="0">
                          <a:solidFill>
                            <a:srgbClr val="000000"/>
                          </a:solidFill>
                          <a:latin typeface="Calibri"/>
                        </a:rPr>
                        <a:t>Revenue (USD Mn) and Market Share by Market Segments</a:t>
                      </a:r>
                      <a:endParaRPr sz="1100"/>
                    </a:p>
                  </a:txBody>
                  <a:tcPr marL="771525" marR="9525" marT="9525" marB="0" anchor="ctr"/>
                </a:tc>
              </a:tr>
              <a:tr h="175260">
                <a:tc>
                  <a:txBody>
                    <a:bodyPr wrap="square"/>
                    <a:lstStyle/>
                    <a:p>
                      <a:pPr algn="l"/>
                      <a:r>
                        <a:rPr sz="1100" b="0" i="1">
                          <a:solidFill>
                            <a:srgbClr val="000000"/>
                          </a:solidFill>
                          <a:latin typeface="Calibri"/>
                        </a:rPr>
                        <a:t>31.1.4.1.</a:t>
                      </a:r>
                      <a:r>
                        <a:rPr sz="700" b="0" i="1">
                          <a:solidFill>
                            <a:srgbClr val="000000"/>
                          </a:solidFill>
                          <a:latin typeface="Times New Roman"/>
                        </a:rPr>
                        <a:t> </a:t>
                      </a:r>
                      <a:r>
                        <a:rPr sz="1100" b="0" i="1">
                          <a:solidFill>
                            <a:srgbClr val="000000"/>
                          </a:solidFill>
                          <a:latin typeface="Calibri"/>
                        </a:rPr>
                        <a:t>Product Sales</a:t>
                      </a:r>
                      <a:endParaRPr sz="1100"/>
                    </a:p>
                  </a:txBody>
                  <a:tcPr marL="1028700" marR="9525" marT="9525" marB="0" anchor="ctr"/>
                </a:tc>
              </a:tr>
              <a:tr h="175260">
                <a:tc>
                  <a:txBody>
                    <a:bodyPr wrap="square"/>
                    <a:lstStyle/>
                    <a:p>
                      <a:pPr algn="l"/>
                      <a:r>
                        <a:rPr sz="1100" b="0" i="1">
                          <a:solidFill>
                            <a:srgbClr val="000000"/>
                          </a:solidFill>
                          <a:latin typeface="Calibri"/>
                        </a:rPr>
                        <a:t>31.1.4.2.</a:t>
                      </a:r>
                      <a:r>
                        <a:rPr sz="700" b="0" i="1">
                          <a:solidFill>
                            <a:srgbClr val="000000"/>
                          </a:solidFill>
                          <a:latin typeface="Times New Roman"/>
                        </a:rPr>
                        <a:t> </a:t>
                      </a:r>
                      <a:r>
                        <a:rPr sz="1100" b="0" i="1">
                          <a:solidFill>
                            <a:srgbClr val="000000"/>
                          </a:solidFill>
                          <a:latin typeface="Calibri"/>
                        </a:rPr>
                        <a:t>Channel Sales</a:t>
                      </a:r>
                      <a:endParaRPr sz="1100"/>
                    </a:p>
                  </a:txBody>
                  <a:tcPr marL="1028700" marR="9525" marT="9525" marB="0" anchor="ctr"/>
                </a:tc>
              </a:tr>
              <a:tr h="175260">
                <a:tc>
                  <a:txBody>
                    <a:bodyPr wrap="square"/>
                    <a:lstStyle/>
                    <a:p>
                      <a:pPr algn="l"/>
                      <a:r>
                        <a:rPr sz="1100" b="0" i="1">
                          <a:solidFill>
                            <a:srgbClr val="000000"/>
                          </a:solidFill>
                          <a:latin typeface="Calibri"/>
                        </a:rPr>
                        <a:t>31.1.4.3.</a:t>
                      </a:r>
                      <a:r>
                        <a:rPr sz="700" b="0" i="1">
                          <a:solidFill>
                            <a:srgbClr val="000000"/>
                          </a:solidFill>
                          <a:latin typeface="Times New Roman"/>
                        </a:rPr>
                        <a:t> </a:t>
                      </a:r>
                      <a:r>
                        <a:rPr sz="1100" b="0" i="1">
                          <a:solidFill>
                            <a:srgbClr val="000000"/>
                          </a:solidFill>
                          <a:latin typeface="Calibri"/>
                        </a:rPr>
                        <a:t>Regional Sales</a:t>
                      </a:r>
                      <a:endParaRPr sz="1100"/>
                    </a:p>
                  </a:txBody>
                  <a:tcPr marL="1028700" marR="9525" marT="9525" marB="0" anchor="ctr"/>
                </a:tc>
              </a:tr>
              <a:tr h="175260">
                <a:tc>
                  <a:txBody>
                    <a:bodyPr wrap="square"/>
                    <a:lstStyle/>
                    <a:p>
                      <a:pPr algn="l"/>
                      <a:r>
                        <a:rPr sz="1100" b="0" i="0">
                          <a:solidFill>
                            <a:srgbClr val="000000"/>
                          </a:solidFill>
                          <a:latin typeface="Calibri"/>
                        </a:rPr>
                        <a:t>31.1.5.</a:t>
                      </a:r>
                      <a:r>
                        <a:rPr sz="700" b="0" i="0">
                          <a:solidFill>
                            <a:srgbClr val="000000"/>
                          </a:solidFill>
                          <a:latin typeface="Times New Roman"/>
                        </a:rPr>
                        <a:t> </a:t>
                      </a:r>
                      <a:r>
                        <a:rPr sz="1100" b="0" i="0">
                          <a:solidFill>
                            <a:srgbClr val="000000"/>
                          </a:solidFill>
                          <a:latin typeface="Calibri"/>
                        </a:rPr>
                        <a:t>Sales Footprint</a:t>
                      </a:r>
                      <a:endParaRPr sz="1100"/>
                    </a:p>
                  </a:txBody>
                  <a:tcPr marL="771525" marR="9525" marT="9525" marB="0" anchor="ctr"/>
                </a:tc>
              </a:tr>
              <a:tr h="175260">
                <a:tc>
                  <a:txBody>
                    <a:bodyPr wrap="square"/>
                    <a:lstStyle/>
                    <a:p>
                      <a:pPr algn="l"/>
                      <a:r>
                        <a:rPr sz="1100" b="0" i="0">
                          <a:solidFill>
                            <a:srgbClr val="000000"/>
                          </a:solidFill>
                          <a:latin typeface="Calibri"/>
                        </a:rPr>
                        <a:t>31.1.6.</a:t>
                      </a:r>
                      <a:r>
                        <a:rPr sz="700" b="0" i="0">
                          <a:solidFill>
                            <a:srgbClr val="000000"/>
                          </a:solidFill>
                          <a:latin typeface="Times New Roman"/>
                        </a:rPr>
                        <a:t> </a:t>
                      </a:r>
                      <a:r>
                        <a:rPr sz="1100" b="0" i="0">
                          <a:solidFill>
                            <a:srgbClr val="000000"/>
                          </a:solidFill>
                          <a:latin typeface="Calibri"/>
                        </a:rPr>
                        <a:t>Strategy Overview</a:t>
                      </a:r>
                      <a:endParaRPr sz="1100"/>
                    </a:p>
                  </a:txBody>
                  <a:tcPr marL="771525" marR="9525" marT="9525" marB="0" anchor="ctr"/>
                </a:tc>
              </a:tr>
              <a:tr h="175260">
                <a:tc>
                  <a:txBody>
                    <a:bodyPr wrap="square"/>
                    <a:lstStyle/>
                    <a:p>
                      <a:pPr algn="l"/>
                      <a:r>
                        <a:rPr sz="1100" b="0" i="1">
                          <a:solidFill>
                            <a:srgbClr val="000000"/>
                          </a:solidFill>
                          <a:latin typeface="Calibri"/>
                        </a:rPr>
                        <a:t>31.1.6.1.</a:t>
                      </a:r>
                      <a:r>
                        <a:rPr sz="700" b="0" i="1">
                          <a:solidFill>
                            <a:srgbClr val="000000"/>
                          </a:solidFill>
                          <a:latin typeface="Times New Roman"/>
                        </a:rPr>
                        <a:t> </a:t>
                      </a:r>
                      <a:r>
                        <a:rPr sz="1100" b="0" i="1">
                          <a:solidFill>
                            <a:srgbClr val="000000"/>
                          </a:solidFill>
                          <a:latin typeface="Calibri"/>
                        </a:rPr>
                        <a:t>Marketing Strategy</a:t>
                      </a:r>
                      <a:endParaRPr sz="1100"/>
                    </a:p>
                  </a:txBody>
                  <a:tcPr marL="1028700" marR="9525" marT="9525" marB="0" anchor="ctr"/>
                </a:tc>
              </a:tr>
              <a:tr h="175260">
                <a:tc>
                  <a:txBody>
                    <a:bodyPr wrap="square"/>
                    <a:lstStyle/>
                    <a:p>
                      <a:pPr algn="l"/>
                      <a:r>
                        <a:rPr sz="1100" b="0" i="1">
                          <a:solidFill>
                            <a:srgbClr val="000000"/>
                          </a:solidFill>
                          <a:latin typeface="Calibri"/>
                        </a:rPr>
                        <a:t>31.1.6.2.</a:t>
                      </a:r>
                      <a:r>
                        <a:rPr sz="700" b="0" i="1">
                          <a:solidFill>
                            <a:srgbClr val="000000"/>
                          </a:solidFill>
                          <a:latin typeface="Times New Roman"/>
                        </a:rPr>
                        <a:t> </a:t>
                      </a:r>
                      <a:r>
                        <a:rPr sz="1100" b="0" i="1">
                          <a:solidFill>
                            <a:srgbClr val="000000"/>
                          </a:solidFill>
                          <a:latin typeface="Calibri"/>
                        </a:rPr>
                        <a:t>Product Strategy</a:t>
                      </a:r>
                      <a:endParaRPr sz="1100"/>
                    </a:p>
                  </a:txBody>
                  <a:tcPr marL="1028700" marR="9525" marT="9525" marB="0" anchor="ctr"/>
                </a:tc>
              </a:tr>
              <a:tr h="175260">
                <a:tc>
                  <a:txBody>
                    <a:bodyPr wrap="square"/>
                    <a:lstStyle/>
                    <a:p>
                      <a:pPr algn="l"/>
                      <a:r>
                        <a:rPr sz="1100" b="0" i="1">
                          <a:solidFill>
                            <a:srgbClr val="000000"/>
                          </a:solidFill>
                          <a:latin typeface="Calibri"/>
                        </a:rPr>
                        <a:t>31.1.6.3.</a:t>
                      </a:r>
                      <a:r>
                        <a:rPr sz="700" b="0" i="1">
                          <a:solidFill>
                            <a:srgbClr val="000000"/>
                          </a:solidFill>
                          <a:latin typeface="Times New Roman"/>
                        </a:rPr>
                        <a:t> </a:t>
                      </a:r>
                      <a:r>
                        <a:rPr sz="1100" b="0" i="1">
                          <a:solidFill>
                            <a:srgbClr val="000000"/>
                          </a:solidFill>
                          <a:latin typeface="Calibri"/>
                        </a:rPr>
                        <a:t>Channel Strategy</a:t>
                      </a:r>
                      <a:endParaRPr sz="1100"/>
                    </a:p>
                  </a:txBody>
                  <a:tcPr marL="1028700" marR="9525" marT="9525" marB="0" anchor="ctr"/>
                </a:tc>
              </a:tr>
              <a:tr h="175260">
                <a:tc>
                  <a:txBody>
                    <a:bodyPr wrap="square"/>
                    <a:lstStyle/>
                    <a:p>
                      <a:pPr algn="l"/>
                      <a:r>
                        <a:rPr sz="1100" b="0" i="1">
                          <a:solidFill>
                            <a:srgbClr val="000000"/>
                          </a:solidFill>
                          <a:latin typeface="Calibri"/>
                        </a:rPr>
                        <a:t>31.1.6.4.</a:t>
                      </a:r>
                      <a:r>
                        <a:rPr sz="700" b="0" i="1">
                          <a:solidFill>
                            <a:srgbClr val="000000"/>
                          </a:solidFill>
                          <a:latin typeface="Times New Roman"/>
                        </a:rPr>
                        <a:t> </a:t>
                      </a:r>
                      <a:r>
                        <a:rPr sz="1100" b="0" i="1">
                          <a:solidFill>
                            <a:srgbClr val="000000"/>
                          </a:solidFill>
                          <a:latin typeface="Calibri"/>
                        </a:rPr>
                        <a:t>Pricing Strategy</a:t>
                      </a:r>
                      <a:endParaRPr sz="1100"/>
                    </a:p>
                  </a:txBody>
                  <a:tcPr marL="1028700" marR="9525" marT="9525" marB="0" anchor="ctr"/>
                </a:tc>
              </a:tr>
              <a:tr h="175260">
                <a:tc>
                  <a:txBody>
                    <a:bodyPr wrap="square"/>
                    <a:lstStyle/>
                    <a:p>
                      <a:pPr algn="l"/>
                      <a:r>
                        <a:rPr sz="1100" b="0" i="0">
                          <a:solidFill>
                            <a:srgbClr val="000000"/>
                          </a:solidFill>
                          <a:latin typeface="Calibri"/>
                        </a:rPr>
                        <a:t>31.1.7.</a:t>
                      </a:r>
                      <a:r>
                        <a:rPr sz="700" b="0" i="0">
                          <a:solidFill>
                            <a:srgbClr val="000000"/>
                          </a:solidFill>
                          <a:latin typeface="Times New Roman"/>
                        </a:rPr>
                        <a:t> </a:t>
                      </a:r>
                      <a:r>
                        <a:rPr sz="1100" b="0" i="0">
                          <a:solidFill>
                            <a:srgbClr val="000000"/>
                          </a:solidFill>
                          <a:latin typeface="Calibri"/>
                        </a:rPr>
                        <a:t>SWOT</a:t>
                      </a:r>
                      <a:endParaRPr sz="1100"/>
                    </a:p>
                  </a:txBody>
                  <a:tcPr marL="771525" marR="9525" marT="9525" marB="0" anchor="ctr"/>
                </a:tc>
              </a:tr>
              <a:tr h="175260">
                <a:tc>
                  <a:txBody>
                    <a:bodyPr wrap="square"/>
                    <a:lstStyle/>
                    <a:p>
                      <a:pPr algn="l"/>
                      <a:r>
                        <a:rPr sz="1100" b="0" i="0">
                          <a:solidFill>
                            <a:srgbClr val="000000"/>
                          </a:solidFill>
                          <a:latin typeface="Calibri"/>
                        </a:rPr>
                        <a:t>31.1.8.</a:t>
                      </a:r>
                      <a:r>
                        <a:rPr sz="700" b="0" i="0">
                          <a:solidFill>
                            <a:srgbClr val="000000"/>
                          </a:solidFill>
                          <a:latin typeface="Times New Roman"/>
                        </a:rPr>
                        <a:t> </a:t>
                      </a:r>
                      <a:r>
                        <a:rPr sz="1100" b="0" i="0">
                          <a:solidFill>
                            <a:srgbClr val="000000"/>
                          </a:solidFill>
                          <a:latin typeface="Calibri"/>
                        </a:rPr>
                        <a:t>Analyst Comment</a:t>
                      </a:r>
                      <a:endParaRPr sz="1100"/>
                    </a:p>
                  </a:txBody>
                  <a:tcPr marL="771525" marR="9525" marT="9525" marB="0" anchor="ctr"/>
                </a:tc>
              </a:tr>
              <a:tr h="175260">
                <a:tc>
                  <a:txBody>
                    <a:bodyPr wrap="square"/>
                    <a:lstStyle/>
                    <a:p>
                      <a:pPr algn="l"/>
                      <a:r>
                        <a:rPr sz="1100" b="0" i="1">
                          <a:solidFill>
                            <a:srgbClr val="EE0000"/>
                          </a:solidFill>
                          <a:latin typeface="Calibri"/>
                        </a:rPr>
                        <a:t>Note: All companies shall be indicated in similar manner</a:t>
                      </a:r>
                      <a:endParaRPr sz="1100"/>
                    </a:p>
                  </a:txBody>
                  <a:tcPr marL="9525" marR="9525" marT="9525" marB="0" anchor="ctr"/>
                </a:tc>
              </a:tr>
              <a:tr h="175260">
                <a:tc>
                  <a:txBody>
                    <a:bodyPr wrap="square"/>
                    <a:lstStyle/>
                    <a:p>
                      <a:pPr algn="l"/>
                      <a:r>
                        <a:rPr sz="1100" b="0" i="0">
                          <a:solidFill>
                            <a:srgbClr val="0070C0"/>
                          </a:solidFill>
                          <a:latin typeface="Calibri"/>
                        </a:rPr>
                        <a:t>31.2.</a:t>
                      </a:r>
                      <a:r>
                        <a:rPr sz="700" b="0" i="0">
                          <a:solidFill>
                            <a:srgbClr val="0070C0"/>
                          </a:solidFill>
                          <a:latin typeface="Times New Roman"/>
                        </a:rPr>
                        <a:t>  </a:t>
                      </a:r>
                      <a:r>
                        <a:rPr sz="1100" b="0" i="0">
                          <a:solidFill>
                            <a:srgbClr val="0070C0"/>
                          </a:solidFill>
                          <a:latin typeface="Calibri"/>
                        </a:rPr>
                        <a:t>DoMatcha</a:t>
                      </a:r>
                      <a:endParaRPr sz="1100"/>
                    </a:p>
                  </a:txBody>
                  <a:tcPr marL="428625" marR="9525" marT="9525" marB="0" anchor="ctr"/>
                </a:tc>
              </a:tr>
              <a:tr h="175260">
                <a:tc>
                  <a:txBody>
                    <a:bodyPr wrap="square"/>
                    <a:lstStyle/>
                    <a:p>
                      <a:pPr algn="l"/>
                      <a:r>
                        <a:rPr sz="1100" b="0" i="0">
                          <a:solidFill>
                            <a:srgbClr val="0070C0"/>
                          </a:solidFill>
                          <a:latin typeface="Calibri"/>
                        </a:rPr>
                        <a:t>31.3.</a:t>
                      </a:r>
                      <a:r>
                        <a:rPr sz="700" b="0" i="0">
                          <a:solidFill>
                            <a:srgbClr val="0070C0"/>
                          </a:solidFill>
                          <a:latin typeface="Times New Roman"/>
                        </a:rPr>
                        <a:t>  </a:t>
                      </a:r>
                      <a:r>
                        <a:rPr sz="1100" b="0" i="0">
                          <a:solidFill>
                            <a:srgbClr val="0070C0"/>
                          </a:solidFill>
                          <a:latin typeface="Calibri"/>
                        </a:rPr>
                        <a:t>Encha</a:t>
                      </a:r>
                      <a:endParaRPr sz="1100"/>
                    </a:p>
                  </a:txBody>
                  <a:tcPr marL="428625" marR="9525" marT="9525" marB="0" anchor="ctr"/>
                </a:tc>
              </a:tr>
              <a:tr h="175260">
                <a:tc>
                  <a:txBody>
                    <a:bodyPr wrap="square"/>
                    <a:lstStyle/>
                    <a:p>
                      <a:pPr algn="l"/>
                      <a:r>
                        <a:rPr sz="1100" b="0" i="0">
                          <a:solidFill>
                            <a:srgbClr val="0070C0"/>
                          </a:solidFill>
                          <a:latin typeface="Calibri"/>
                        </a:rPr>
                        <a:t>31.4.</a:t>
                      </a:r>
                      <a:r>
                        <a:rPr sz="700" b="0" i="0">
                          <a:solidFill>
                            <a:srgbClr val="0070C0"/>
                          </a:solidFill>
                          <a:latin typeface="Times New Roman"/>
                        </a:rPr>
                        <a:t>  </a:t>
                      </a:r>
                      <a:r>
                        <a:rPr sz="1100" b="0" i="0">
                          <a:solidFill>
                            <a:srgbClr val="0070C0"/>
                          </a:solidFill>
                          <a:latin typeface="Calibri"/>
                        </a:rPr>
                        <a:t>Rishi Tea and Botanicals</a:t>
                      </a:r>
                      <a:endParaRPr sz="1100"/>
                    </a:p>
                  </a:txBody>
                  <a:tcPr marL="428625" marR="9525" marT="9525" marB="0" anchor="ctr"/>
                </a:tc>
              </a:tr>
              <a:tr h="175260">
                <a:tc>
                  <a:txBody>
                    <a:bodyPr wrap="square"/>
                    <a:lstStyle/>
                    <a:p>
                      <a:pPr algn="l"/>
                      <a:r>
                        <a:rPr sz="1100" b="0" i="0">
                          <a:solidFill>
                            <a:srgbClr val="0070C0"/>
                          </a:solidFill>
                          <a:latin typeface="Calibri"/>
                        </a:rPr>
                        <a:t>31.5.</a:t>
                      </a:r>
                      <a:r>
                        <a:rPr sz="700" b="0" i="0">
                          <a:solidFill>
                            <a:srgbClr val="0070C0"/>
                          </a:solidFill>
                          <a:latin typeface="Times New Roman"/>
                        </a:rPr>
                        <a:t>  </a:t>
                      </a:r>
                      <a:r>
                        <a:rPr sz="1100" b="0" i="0">
                          <a:solidFill>
                            <a:srgbClr val="0070C0"/>
                          </a:solidFill>
                          <a:latin typeface="Calibri"/>
                        </a:rPr>
                        <a:t>Tenzo</a:t>
                      </a:r>
                      <a:endParaRPr sz="1100"/>
                    </a:p>
                  </a:txBody>
                  <a:tcPr marL="428625" marR="9525" marT="9525" marB="0" anchor="ctr"/>
                </a:tc>
              </a:tr>
              <a:tr h="175260">
                <a:tc>
                  <a:txBody>
                    <a:bodyPr wrap="square"/>
                    <a:lstStyle/>
                    <a:p>
                      <a:pPr algn="l"/>
                      <a:r>
                        <a:rPr sz="1100" b="0" i="0">
                          <a:solidFill>
                            <a:srgbClr val="0070C0"/>
                          </a:solidFill>
                          <a:latin typeface="Calibri"/>
                        </a:rPr>
                        <a:t>31.6.</a:t>
                      </a:r>
                      <a:r>
                        <a:rPr sz="700" b="0" i="0">
                          <a:solidFill>
                            <a:srgbClr val="0070C0"/>
                          </a:solidFill>
                          <a:latin typeface="Times New Roman"/>
                        </a:rPr>
                        <a:t>  </a:t>
                      </a:r>
                      <a:r>
                        <a:rPr sz="1100" b="0" i="0">
                          <a:solidFill>
                            <a:srgbClr val="0070C0"/>
                          </a:solidFill>
                          <a:latin typeface="Calibri"/>
                        </a:rPr>
                        <a:t>Matchaful</a:t>
                      </a:r>
                      <a:endParaRPr sz="1100"/>
                    </a:p>
                  </a:txBody>
                  <a:tcPr marL="428625" marR="9525" marT="9525" marB="0" anchor="ctr"/>
                </a:tc>
              </a:tr>
              <a:tr h="175260">
                <a:tc>
                  <a:txBody>
                    <a:bodyPr wrap="square"/>
                    <a:lstStyle/>
                    <a:p>
                      <a:pPr algn="l"/>
                      <a:r>
                        <a:rPr sz="1100" b="0" i="0">
                          <a:solidFill>
                            <a:srgbClr val="0070C0"/>
                          </a:solidFill>
                          <a:latin typeface="Calibri"/>
                        </a:rPr>
                        <a:t>31.7.</a:t>
                      </a:r>
                      <a:r>
                        <a:rPr sz="700" b="0" i="0">
                          <a:solidFill>
                            <a:srgbClr val="0070C0"/>
                          </a:solidFill>
                          <a:latin typeface="Times New Roman"/>
                        </a:rPr>
                        <a:t>  </a:t>
                      </a:r>
                      <a:r>
                        <a:rPr sz="1100" b="0" i="0">
                          <a:solidFill>
                            <a:srgbClr val="0070C0"/>
                          </a:solidFill>
                          <a:latin typeface="Calibri"/>
                        </a:rPr>
                        <a:t>Kettl</a:t>
                      </a:r>
                      <a:endParaRPr sz="1100"/>
                    </a:p>
                  </a:txBody>
                  <a:tcPr marL="428625" marR="9525" marT="9525" marB="0" anchor="ctr"/>
                </a:tc>
              </a:tr>
              <a:tr h="175260">
                <a:tc>
                  <a:txBody>
                    <a:bodyPr wrap="square"/>
                    <a:lstStyle/>
                    <a:p>
                      <a:pPr algn="l"/>
                      <a:r>
                        <a:rPr sz="1100" b="0" i="0">
                          <a:solidFill>
                            <a:srgbClr val="0070C0"/>
                          </a:solidFill>
                          <a:latin typeface="Calibri"/>
                        </a:rPr>
                        <a:t>31.8.</a:t>
                      </a:r>
                      <a:r>
                        <a:rPr sz="700" b="0" i="0">
                          <a:solidFill>
                            <a:srgbClr val="0070C0"/>
                          </a:solidFill>
                          <a:latin typeface="Times New Roman"/>
                        </a:rPr>
                        <a:t>  </a:t>
                      </a:r>
                      <a:r>
                        <a:rPr sz="1100" b="0" i="0">
                          <a:solidFill>
                            <a:srgbClr val="0070C0"/>
                          </a:solidFill>
                          <a:latin typeface="Calibri"/>
                        </a:rPr>
                        <a:t>Harney and Sons</a:t>
                      </a:r>
                      <a:endParaRPr sz="1100"/>
                    </a:p>
                  </a:txBody>
                  <a:tcPr marL="428625" marR="9525" marT="9525" marB="0" anchor="ctr"/>
                </a:tc>
              </a:tr>
              <a:tr h="175260">
                <a:tc>
                  <a:txBody>
                    <a:bodyPr wrap="square"/>
                    <a:lstStyle/>
                    <a:p>
                      <a:pPr algn="l"/>
                      <a:r>
                        <a:rPr sz="1100" b="0" i="0">
                          <a:solidFill>
                            <a:srgbClr val="0070C0"/>
                          </a:solidFill>
                          <a:latin typeface="Calibri"/>
                        </a:rPr>
                        <a:t>31.9.</a:t>
                      </a:r>
                      <a:r>
                        <a:rPr sz="700" b="0" i="0">
                          <a:solidFill>
                            <a:srgbClr val="0070C0"/>
                          </a:solidFill>
                          <a:latin typeface="Times New Roman"/>
                        </a:rPr>
                        <a:t>  </a:t>
                      </a:r>
                      <a:r>
                        <a:rPr sz="1100" b="0" i="0">
                          <a:solidFill>
                            <a:srgbClr val="0070C0"/>
                          </a:solidFill>
                          <a:latin typeface="Calibri"/>
                        </a:rPr>
                        <a:t>Sencha Naturals</a:t>
                      </a:r>
                      <a:endParaRPr sz="1100"/>
                    </a:p>
                  </a:txBody>
                  <a:tcPr marL="428625" marR="9525" marT="9525" marB="0" anchor="ctr"/>
                </a:tc>
              </a:tr>
              <a:tr h="175260">
                <a:tc>
                  <a:txBody>
                    <a:bodyPr wrap="square"/>
                    <a:lstStyle/>
                    <a:p>
                      <a:pPr algn="l"/>
                      <a:r>
                        <a:rPr sz="1100" b="0" i="0">
                          <a:solidFill>
                            <a:srgbClr val="0070C0"/>
                          </a:solidFill>
                          <a:latin typeface="Calibri"/>
                        </a:rPr>
                        <a:t>31.10.</a:t>
                      </a:r>
                      <a:r>
                        <a:rPr sz="700" b="0" i="0">
                          <a:solidFill>
                            <a:srgbClr val="0070C0"/>
                          </a:solidFill>
                          <a:latin typeface="Times New Roman"/>
                        </a:rPr>
                        <a:t> </a:t>
                      </a:r>
                      <a:r>
                        <a:rPr sz="1100" b="0" i="0">
                          <a:solidFill>
                            <a:srgbClr val="0070C0"/>
                          </a:solidFill>
                          <a:latin typeface="Calibri"/>
                        </a:rPr>
                        <a:t>Aoi Matcha</a:t>
                      </a:r>
                      <a:endParaRPr sz="1100"/>
                    </a:p>
                  </a:txBody>
                  <a:tcPr marL="428625" marR="9525" marT="9525" marB="0" anchor="ctr"/>
                </a:tc>
              </a:tr>
              <a:tr h="175260">
                <a:tc>
                  <a:txBody>
                    <a:bodyPr wrap="square"/>
                    <a:lstStyle/>
                    <a:p>
                      <a:pPr algn="l"/>
                      <a:r>
                        <a:rPr sz="1100" b="0" i="0">
                          <a:solidFill>
                            <a:srgbClr val="0070C0"/>
                          </a:solidFill>
                          <a:latin typeface="Calibri"/>
                        </a:rPr>
                        <a:t>31.11.</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32.</a:t>
                      </a:r>
                      <a:r>
                        <a:rPr sz="700" b="1" i="0">
                          <a:solidFill>
                            <a:srgbClr val="000000"/>
                          </a:solidFill>
                          <a:latin typeface="Times New Roman"/>
                        </a:rPr>
                        <a:t>    </a:t>
                      </a:r>
                      <a:r>
                        <a:rPr sz="1100" b="1" i="0">
                          <a:solidFill>
                            <a:srgbClr val="000000"/>
                          </a:solidFill>
                          <a:latin typeface="Calibri"/>
                        </a:rPr>
                        <a:t>Company Profile- Europe</a:t>
                      </a:r>
                      <a:endParaRPr sz="1100"/>
                    </a:p>
                  </a:txBody>
                  <a:tcPr marL="171450" marR="9525" marT="9525" marB="0" anchor="ctr"/>
                </a:tc>
              </a:tr>
              <a:tr h="175260">
                <a:tc>
                  <a:txBody>
                    <a:bodyPr wrap="square"/>
                    <a:lstStyle/>
                    <a:p>
                      <a:pPr algn="l"/>
                      <a:r>
                        <a:rPr sz="1100" b="0" i="0">
                          <a:solidFill>
                            <a:srgbClr val="0070C0"/>
                          </a:solidFill>
                          <a:latin typeface="Calibri"/>
                        </a:rPr>
                        <a:t>32.1.</a:t>
                      </a:r>
                      <a:r>
                        <a:rPr sz="700" b="0" i="0">
                          <a:solidFill>
                            <a:srgbClr val="0070C0"/>
                          </a:solidFill>
                          <a:latin typeface="Times New Roman"/>
                        </a:rPr>
                        <a:t>  </a:t>
                      </a:r>
                      <a:r>
                        <a:rPr sz="1100" b="0" i="0">
                          <a:solidFill>
                            <a:srgbClr val="0070C0"/>
                          </a:solidFill>
                          <a:latin typeface="Calibri"/>
                        </a:rPr>
                        <a:t>AIYA Europe</a:t>
                      </a:r>
                      <a:endParaRPr sz="1100"/>
                    </a:p>
                  </a:txBody>
                  <a:tcPr marL="428625" marR="9525" marT="9525" marB="0" anchor="ctr"/>
                </a:tc>
              </a:tr>
              <a:tr h="175260">
                <a:tc>
                  <a:txBody>
                    <a:bodyPr wrap="square"/>
                    <a:lstStyle/>
                    <a:p>
                      <a:pPr algn="l"/>
                      <a:r>
                        <a:rPr sz="1100" b="0" i="0">
                          <a:solidFill>
                            <a:srgbClr val="0070C0"/>
                          </a:solidFill>
                          <a:latin typeface="Calibri"/>
                        </a:rPr>
                        <a:t>32.2.</a:t>
                      </a:r>
                      <a:r>
                        <a:rPr sz="700" b="0" i="0">
                          <a:solidFill>
                            <a:srgbClr val="0070C0"/>
                          </a:solidFill>
                          <a:latin typeface="Times New Roman"/>
                        </a:rPr>
                        <a:t>  </a:t>
                      </a:r>
                      <a:r>
                        <a:rPr sz="1100" b="0" i="0">
                          <a:solidFill>
                            <a:srgbClr val="0070C0"/>
                          </a:solidFill>
                          <a:latin typeface="Calibri"/>
                        </a:rPr>
                        <a:t>MOYA Matcha</a:t>
                      </a:r>
                      <a:endParaRPr sz="1100"/>
                    </a:p>
                  </a:txBody>
                  <a:tcPr marL="4286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Table of Contents (8/8)</a:t>
            </a:r>
          </a:p>
        </p:txBody>
      </p:sp>
      <p:graphicFrame>
        <p:nvGraphicFramePr>
          <p:cNvPr id="9" name="FMI Contents Table"/>
          <p:cNvGraphicFramePr>
            <a:graphicFrameLocks noGrp="1"/>
          </p:cNvGraphicFramePr>
          <p:nvPr/>
        </p:nvGraphicFramePr>
        <p:xfrm>
          <a:off x="142875" y="981075"/>
          <a:ext cx="5876925" cy="4030980"/>
        </p:xfrm>
        <a:graphic>
          <a:graphicData uri="http://schemas.openxmlformats.org/drawingml/2006/table">
            <a:tbl>
              <a:tblPr>
                <a:tableStyleId>{3B4B98B0-60AC-42C2-AFA5-B58CD77FA1E5}</a:tableStyleId>
              </a:tblPr>
              <a:tblGrid>
                <a:gridCol w="5876925"/>
              </a:tblGrid>
              <a:tr h="175260">
                <a:tc>
                  <a:txBody>
                    <a:bodyPr wrap="square"/>
                    <a:lstStyle/>
                    <a:p>
                      <a:pPr algn="l"/>
                      <a:r>
                        <a:rPr sz="1100" b="0" i="0">
                          <a:solidFill>
                            <a:srgbClr val="0070C0"/>
                          </a:solidFill>
                          <a:latin typeface="Calibri"/>
                        </a:rPr>
                        <a:t>32.3.</a:t>
                      </a:r>
                      <a:r>
                        <a:rPr sz="700" b="0" i="0">
                          <a:solidFill>
                            <a:srgbClr val="0070C0"/>
                          </a:solidFill>
                          <a:latin typeface="Times New Roman"/>
                        </a:rPr>
                        <a:t>  </a:t>
                      </a:r>
                      <a:r>
                        <a:rPr sz="1100" b="0" i="0">
                          <a:solidFill>
                            <a:srgbClr val="0070C0"/>
                          </a:solidFill>
                          <a:latin typeface="Calibri"/>
                        </a:rPr>
                        <a:t>Kissa Tea</a:t>
                      </a:r>
                      <a:endParaRPr sz="1100"/>
                    </a:p>
                  </a:txBody>
                  <a:tcPr marL="428625" marR="9525" marT="9525" marB="0" anchor="ctr"/>
                </a:tc>
              </a:tr>
              <a:tr h="175260">
                <a:tc>
                  <a:txBody>
                    <a:bodyPr wrap="square"/>
                    <a:lstStyle/>
                    <a:p>
                      <a:pPr algn="l"/>
                      <a:r>
                        <a:rPr sz="1100" b="0" i="0">
                          <a:solidFill>
                            <a:srgbClr val="0070C0"/>
                          </a:solidFill>
                          <a:latin typeface="Calibri"/>
                        </a:rPr>
                        <a:t>32.4.</a:t>
                      </a:r>
                      <a:r>
                        <a:rPr sz="700" b="0" i="0">
                          <a:solidFill>
                            <a:srgbClr val="0070C0"/>
                          </a:solidFill>
                          <a:latin typeface="Times New Roman"/>
                        </a:rPr>
                        <a:t>  </a:t>
                      </a:r>
                      <a:r>
                        <a:rPr sz="1100" b="0" i="0">
                          <a:solidFill>
                            <a:srgbClr val="0070C0"/>
                          </a:solidFill>
                          <a:latin typeface="Calibri"/>
                        </a:rPr>
                        <a:t>The Matcha House</a:t>
                      </a:r>
                      <a:endParaRPr sz="1100"/>
                    </a:p>
                  </a:txBody>
                  <a:tcPr marL="428625" marR="9525" marT="9525" marB="0" anchor="ctr"/>
                </a:tc>
              </a:tr>
              <a:tr h="175260">
                <a:tc>
                  <a:txBody>
                    <a:bodyPr wrap="square"/>
                    <a:lstStyle/>
                    <a:p>
                      <a:pPr algn="l"/>
                      <a:r>
                        <a:rPr sz="1100" b="0" i="0">
                          <a:solidFill>
                            <a:srgbClr val="0070C0"/>
                          </a:solidFill>
                          <a:latin typeface="Calibri"/>
                        </a:rPr>
                        <a:t>32.5.</a:t>
                      </a:r>
                      <a:r>
                        <a:rPr sz="700" b="0" i="0">
                          <a:solidFill>
                            <a:srgbClr val="0070C0"/>
                          </a:solidFill>
                          <a:latin typeface="Times New Roman"/>
                        </a:rPr>
                        <a:t>  </a:t>
                      </a:r>
                      <a:r>
                        <a:rPr sz="1100" b="0" i="0">
                          <a:solidFill>
                            <a:srgbClr val="0070C0"/>
                          </a:solidFill>
                          <a:latin typeface="Calibri"/>
                        </a:rPr>
                        <a:t>Clearspring</a:t>
                      </a:r>
                      <a:endParaRPr sz="1100"/>
                    </a:p>
                  </a:txBody>
                  <a:tcPr marL="428625" marR="9525" marT="9525" marB="0" anchor="ctr"/>
                </a:tc>
              </a:tr>
              <a:tr h="175260">
                <a:tc>
                  <a:txBody>
                    <a:bodyPr wrap="square"/>
                    <a:lstStyle/>
                    <a:p>
                      <a:pPr algn="l"/>
                      <a:r>
                        <a:rPr sz="1100" b="0" i="0">
                          <a:solidFill>
                            <a:srgbClr val="0070C0"/>
                          </a:solidFill>
                          <a:latin typeface="Calibri"/>
                        </a:rPr>
                        <a:t>32.6.</a:t>
                      </a:r>
                      <a:r>
                        <a:rPr sz="700" b="0" i="0">
                          <a:solidFill>
                            <a:srgbClr val="0070C0"/>
                          </a:solidFill>
                          <a:latin typeface="Times New Roman"/>
                        </a:rPr>
                        <a:t>  </a:t>
                      </a:r>
                      <a:r>
                        <a:rPr sz="1100" b="0" i="0">
                          <a:solidFill>
                            <a:srgbClr val="0070C0"/>
                          </a:solidFill>
                          <a:latin typeface="Calibri"/>
                        </a:rPr>
                        <a:t>Matcha and CO</a:t>
                      </a:r>
                      <a:endParaRPr sz="1100"/>
                    </a:p>
                  </a:txBody>
                  <a:tcPr marL="428625" marR="9525" marT="9525" marB="0" anchor="ctr"/>
                </a:tc>
              </a:tr>
              <a:tr h="175260">
                <a:tc>
                  <a:txBody>
                    <a:bodyPr wrap="square"/>
                    <a:lstStyle/>
                    <a:p>
                      <a:pPr algn="l"/>
                      <a:r>
                        <a:rPr sz="1100" b="0" i="0">
                          <a:solidFill>
                            <a:srgbClr val="0070C0"/>
                          </a:solidFill>
                          <a:latin typeface="Calibri"/>
                        </a:rPr>
                        <a:t>32.7.</a:t>
                      </a:r>
                      <a:r>
                        <a:rPr sz="700" b="0" i="0">
                          <a:solidFill>
                            <a:srgbClr val="0070C0"/>
                          </a:solidFill>
                          <a:latin typeface="Times New Roman"/>
                        </a:rPr>
                        <a:t>  </a:t>
                      </a:r>
                      <a:r>
                        <a:rPr sz="1100" b="0" i="0">
                          <a:solidFill>
                            <a:srgbClr val="0070C0"/>
                          </a:solidFill>
                          <a:latin typeface="Calibri"/>
                        </a:rPr>
                        <a:t>NaturaleBio</a:t>
                      </a:r>
                      <a:endParaRPr sz="1100"/>
                    </a:p>
                  </a:txBody>
                  <a:tcPr marL="428625" marR="9525" marT="9525" marB="0" anchor="ctr"/>
                </a:tc>
              </a:tr>
              <a:tr h="175260">
                <a:tc>
                  <a:txBody>
                    <a:bodyPr wrap="square"/>
                    <a:lstStyle/>
                    <a:p>
                      <a:pPr algn="l"/>
                      <a:r>
                        <a:rPr sz="1100" b="0" i="0">
                          <a:solidFill>
                            <a:srgbClr val="0070C0"/>
                          </a:solidFill>
                          <a:latin typeface="Calibri"/>
                        </a:rPr>
                        <a:t>32.8.</a:t>
                      </a:r>
                      <a:r>
                        <a:rPr sz="700" b="0" i="0">
                          <a:solidFill>
                            <a:srgbClr val="0070C0"/>
                          </a:solidFill>
                          <a:latin typeface="Times New Roman"/>
                        </a:rPr>
                        <a:t>  </a:t>
                      </a:r>
                      <a:r>
                        <a:rPr sz="1100" b="0" i="0">
                          <a:solidFill>
                            <a:srgbClr val="0070C0"/>
                          </a:solidFill>
                          <a:latin typeface="Calibri"/>
                        </a:rPr>
                        <a:t>Pukka Herbs</a:t>
                      </a:r>
                      <a:endParaRPr sz="1100"/>
                    </a:p>
                  </a:txBody>
                  <a:tcPr marL="428625" marR="9525" marT="9525" marB="0" anchor="ctr"/>
                </a:tc>
              </a:tr>
              <a:tr h="175260">
                <a:tc>
                  <a:txBody>
                    <a:bodyPr wrap="square"/>
                    <a:lstStyle/>
                    <a:p>
                      <a:pPr algn="l"/>
                      <a:r>
                        <a:rPr sz="1100" b="0" i="0">
                          <a:solidFill>
                            <a:srgbClr val="0070C0"/>
                          </a:solidFill>
                          <a:latin typeface="Calibri"/>
                        </a:rPr>
                        <a:t>32.9.</a:t>
                      </a:r>
                      <a:r>
                        <a:rPr sz="700" b="0" i="0">
                          <a:solidFill>
                            <a:srgbClr val="0070C0"/>
                          </a:solidFill>
                          <a:latin typeface="Times New Roman"/>
                        </a:rPr>
                        <a:t>  </a:t>
                      </a:r>
                      <a:r>
                        <a:rPr sz="1100" b="0" i="0">
                          <a:solidFill>
                            <a:srgbClr val="0070C0"/>
                          </a:solidFill>
                          <a:latin typeface="Calibri"/>
                        </a:rPr>
                        <a:t>teapigs</a:t>
                      </a:r>
                      <a:endParaRPr sz="1100"/>
                    </a:p>
                  </a:txBody>
                  <a:tcPr marL="428625" marR="9525" marT="9525" marB="0" anchor="ctr"/>
                </a:tc>
              </a:tr>
              <a:tr h="175260">
                <a:tc>
                  <a:txBody>
                    <a:bodyPr wrap="square"/>
                    <a:lstStyle/>
                    <a:p>
                      <a:pPr algn="l"/>
                      <a:r>
                        <a:rPr sz="1100" b="0" i="0">
                          <a:solidFill>
                            <a:srgbClr val="0070C0"/>
                          </a:solidFill>
                          <a:latin typeface="Calibri"/>
                        </a:rPr>
                        <a:t>32.10.</a:t>
                      </a:r>
                      <a:r>
                        <a:rPr sz="700" b="0" i="0">
                          <a:solidFill>
                            <a:srgbClr val="0070C0"/>
                          </a:solidFill>
                          <a:latin typeface="Times New Roman"/>
                        </a:rPr>
                        <a:t> </a:t>
                      </a:r>
                      <a:r>
                        <a:rPr sz="1100" b="0" i="0">
                          <a:solidFill>
                            <a:srgbClr val="0070C0"/>
                          </a:solidFill>
                          <a:latin typeface="Calibri"/>
                        </a:rPr>
                        <a:t>Bird and Blend Tea Co.</a:t>
                      </a:r>
                      <a:endParaRPr sz="1100"/>
                    </a:p>
                  </a:txBody>
                  <a:tcPr marL="428625" marR="9525" marT="9525" marB="0" anchor="ctr"/>
                </a:tc>
              </a:tr>
              <a:tr h="175260">
                <a:tc>
                  <a:txBody>
                    <a:bodyPr wrap="square"/>
                    <a:lstStyle/>
                    <a:p>
                      <a:pPr algn="l"/>
                      <a:r>
                        <a:rPr sz="1100" b="0" i="0">
                          <a:solidFill>
                            <a:srgbClr val="0070C0"/>
                          </a:solidFill>
                          <a:latin typeface="Calibri"/>
                        </a:rPr>
                        <a:t>32.11.</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33.</a:t>
                      </a:r>
                      <a:r>
                        <a:rPr sz="700" b="1" i="0">
                          <a:solidFill>
                            <a:srgbClr val="000000"/>
                          </a:solidFill>
                          <a:latin typeface="Times New Roman"/>
                        </a:rPr>
                        <a:t>    </a:t>
                      </a:r>
                      <a:r>
                        <a:rPr sz="1100" b="1" i="0">
                          <a:solidFill>
                            <a:srgbClr val="000000"/>
                          </a:solidFill>
                          <a:latin typeface="Calibri"/>
                        </a:rPr>
                        <a:t>Company Profile- Asia Pacific</a:t>
                      </a:r>
                      <a:endParaRPr sz="1100"/>
                    </a:p>
                  </a:txBody>
                  <a:tcPr marL="171450" marR="9525" marT="9525" marB="0" anchor="ctr"/>
                </a:tc>
              </a:tr>
              <a:tr h="175260">
                <a:tc>
                  <a:txBody>
                    <a:bodyPr wrap="square"/>
                    <a:lstStyle/>
                    <a:p>
                      <a:pPr algn="l"/>
                      <a:r>
                        <a:rPr sz="1100" b="0" i="0">
                          <a:solidFill>
                            <a:srgbClr val="0070C0"/>
                          </a:solidFill>
                          <a:latin typeface="Calibri"/>
                        </a:rPr>
                        <a:t>33.1.</a:t>
                      </a:r>
                      <a:r>
                        <a:rPr sz="700" b="0" i="0">
                          <a:solidFill>
                            <a:srgbClr val="0070C0"/>
                          </a:solidFill>
                          <a:latin typeface="Times New Roman"/>
                        </a:rPr>
                        <a:t>  </a:t>
                      </a:r>
                      <a:r>
                        <a:rPr sz="1100" b="0" i="0">
                          <a:solidFill>
                            <a:srgbClr val="0070C0"/>
                          </a:solidFill>
                          <a:latin typeface="Calibri"/>
                        </a:rPr>
                        <a:t>Guizhou Gui Tea Group</a:t>
                      </a:r>
                      <a:endParaRPr sz="1100"/>
                    </a:p>
                  </a:txBody>
                  <a:tcPr marL="428625" marR="9525" marT="9525" marB="0" anchor="ctr"/>
                </a:tc>
              </a:tr>
              <a:tr h="175260">
                <a:tc>
                  <a:txBody>
                    <a:bodyPr wrap="square"/>
                    <a:lstStyle/>
                    <a:p>
                      <a:pPr algn="l"/>
                      <a:r>
                        <a:rPr sz="1100" b="0" i="0">
                          <a:solidFill>
                            <a:srgbClr val="0070C0"/>
                          </a:solidFill>
                          <a:latin typeface="Calibri"/>
                        </a:rPr>
                        <a:t>33.2.</a:t>
                      </a:r>
                      <a:r>
                        <a:rPr sz="700" b="0" i="0">
                          <a:solidFill>
                            <a:srgbClr val="0070C0"/>
                          </a:solidFill>
                          <a:latin typeface="Times New Roman"/>
                        </a:rPr>
                        <a:t>  </a:t>
                      </a:r>
                      <a:r>
                        <a:rPr sz="1100" b="0" i="0">
                          <a:solidFill>
                            <a:srgbClr val="0070C0"/>
                          </a:solidFill>
                          <a:latin typeface="Calibri"/>
                        </a:rPr>
                        <a:t>Aiya Co., Ltd.</a:t>
                      </a:r>
                      <a:endParaRPr sz="1100"/>
                    </a:p>
                  </a:txBody>
                  <a:tcPr marL="428625" marR="9525" marT="9525" marB="0" anchor="ctr"/>
                </a:tc>
              </a:tr>
              <a:tr h="175260">
                <a:tc>
                  <a:txBody>
                    <a:bodyPr wrap="square"/>
                    <a:lstStyle/>
                    <a:p>
                      <a:pPr algn="l"/>
                      <a:r>
                        <a:rPr sz="1100" b="0" i="0">
                          <a:solidFill>
                            <a:srgbClr val="0070C0"/>
                          </a:solidFill>
                          <a:latin typeface="Calibri"/>
                        </a:rPr>
                        <a:t>33.3.</a:t>
                      </a:r>
                      <a:r>
                        <a:rPr sz="700" b="0" i="0">
                          <a:solidFill>
                            <a:srgbClr val="0070C0"/>
                          </a:solidFill>
                          <a:latin typeface="Times New Roman"/>
                        </a:rPr>
                        <a:t>  </a:t>
                      </a:r>
                      <a:r>
                        <a:rPr sz="1100" b="0" i="0">
                          <a:solidFill>
                            <a:srgbClr val="0070C0"/>
                          </a:solidFill>
                          <a:latin typeface="Calibri"/>
                        </a:rPr>
                        <a:t>Ito En, Ltd.</a:t>
                      </a:r>
                      <a:endParaRPr sz="1100"/>
                    </a:p>
                  </a:txBody>
                  <a:tcPr marL="428625" marR="9525" marT="9525" marB="0" anchor="ctr"/>
                </a:tc>
              </a:tr>
              <a:tr h="175260">
                <a:tc>
                  <a:txBody>
                    <a:bodyPr wrap="square"/>
                    <a:lstStyle/>
                    <a:p>
                      <a:pPr algn="l"/>
                      <a:r>
                        <a:rPr sz="1100" b="0" i="0">
                          <a:solidFill>
                            <a:srgbClr val="0070C0"/>
                          </a:solidFill>
                          <a:latin typeface="Calibri"/>
                        </a:rPr>
                        <a:t>33.4.</a:t>
                      </a:r>
                      <a:r>
                        <a:rPr sz="700" b="0" i="0">
                          <a:solidFill>
                            <a:srgbClr val="0070C0"/>
                          </a:solidFill>
                          <a:latin typeface="Times New Roman"/>
                        </a:rPr>
                        <a:t>  </a:t>
                      </a:r>
                      <a:r>
                        <a:rPr sz="1100" b="0" i="0">
                          <a:solidFill>
                            <a:srgbClr val="0070C0"/>
                          </a:solidFill>
                          <a:latin typeface="Calibri"/>
                        </a:rPr>
                        <a:t>Marushichi Seicha</a:t>
                      </a:r>
                      <a:endParaRPr sz="1100"/>
                    </a:p>
                  </a:txBody>
                  <a:tcPr marL="428625" marR="9525" marT="9525" marB="0" anchor="ctr"/>
                </a:tc>
              </a:tr>
              <a:tr h="175260">
                <a:tc>
                  <a:txBody>
                    <a:bodyPr wrap="square"/>
                    <a:lstStyle/>
                    <a:p>
                      <a:pPr algn="l"/>
                      <a:r>
                        <a:rPr sz="1100" b="0" i="0">
                          <a:solidFill>
                            <a:srgbClr val="0070C0"/>
                          </a:solidFill>
                          <a:latin typeface="Calibri"/>
                        </a:rPr>
                        <a:t>33.5.</a:t>
                      </a:r>
                      <a:r>
                        <a:rPr sz="700" b="0" i="0">
                          <a:solidFill>
                            <a:srgbClr val="0070C0"/>
                          </a:solidFill>
                          <a:latin typeface="Times New Roman"/>
                        </a:rPr>
                        <a:t>  </a:t>
                      </a:r>
                      <a:r>
                        <a:rPr sz="1100" b="0" i="0">
                          <a:solidFill>
                            <a:srgbClr val="0070C0"/>
                          </a:solidFill>
                          <a:latin typeface="Calibri"/>
                        </a:rPr>
                        <a:t>Marukyu Koyamaen</a:t>
                      </a:r>
                      <a:endParaRPr sz="1100"/>
                    </a:p>
                  </a:txBody>
                  <a:tcPr marL="428625" marR="9525" marT="9525" marB="0" anchor="ctr"/>
                </a:tc>
              </a:tr>
              <a:tr h="175260">
                <a:tc>
                  <a:txBody>
                    <a:bodyPr wrap="square"/>
                    <a:lstStyle/>
                    <a:p>
                      <a:pPr algn="l"/>
                      <a:r>
                        <a:rPr sz="1100" b="0" i="0">
                          <a:solidFill>
                            <a:srgbClr val="0070C0"/>
                          </a:solidFill>
                          <a:latin typeface="Calibri"/>
                        </a:rPr>
                        <a:t>33.6.</a:t>
                      </a:r>
                      <a:r>
                        <a:rPr sz="700" b="0" i="0">
                          <a:solidFill>
                            <a:srgbClr val="0070C0"/>
                          </a:solidFill>
                          <a:latin typeface="Times New Roman"/>
                        </a:rPr>
                        <a:t>  </a:t>
                      </a:r>
                      <a:r>
                        <a:rPr sz="1100" b="0" i="0">
                          <a:solidFill>
                            <a:srgbClr val="0070C0"/>
                          </a:solidFill>
                          <a:latin typeface="Calibri"/>
                        </a:rPr>
                        <a:t>Ippodo Tea Co.</a:t>
                      </a:r>
                      <a:endParaRPr sz="1100"/>
                    </a:p>
                  </a:txBody>
                  <a:tcPr marL="428625" marR="9525" marT="9525" marB="0" anchor="ctr"/>
                </a:tc>
              </a:tr>
              <a:tr h="175260">
                <a:tc>
                  <a:txBody>
                    <a:bodyPr wrap="square"/>
                    <a:lstStyle/>
                    <a:p>
                      <a:pPr algn="l"/>
                      <a:r>
                        <a:rPr sz="1100" b="0" i="0">
                          <a:solidFill>
                            <a:srgbClr val="0070C0"/>
                          </a:solidFill>
                          <a:latin typeface="Calibri"/>
                        </a:rPr>
                        <a:t>33.7.</a:t>
                      </a:r>
                      <a:r>
                        <a:rPr sz="700" b="0" i="0">
                          <a:solidFill>
                            <a:srgbClr val="0070C0"/>
                          </a:solidFill>
                          <a:latin typeface="Times New Roman"/>
                        </a:rPr>
                        <a:t>  </a:t>
                      </a:r>
                      <a:r>
                        <a:rPr sz="1100" b="0" i="0">
                          <a:solidFill>
                            <a:srgbClr val="0070C0"/>
                          </a:solidFill>
                          <a:latin typeface="Calibri"/>
                        </a:rPr>
                        <a:t>Yamamasa Koyamaen</a:t>
                      </a:r>
                      <a:endParaRPr sz="1100"/>
                    </a:p>
                  </a:txBody>
                  <a:tcPr marL="428625" marR="9525" marT="9525" marB="0" anchor="ctr"/>
                </a:tc>
              </a:tr>
              <a:tr h="175260">
                <a:tc>
                  <a:txBody>
                    <a:bodyPr wrap="square"/>
                    <a:lstStyle/>
                    <a:p>
                      <a:pPr algn="l"/>
                      <a:r>
                        <a:rPr sz="1100" b="0" i="0">
                          <a:solidFill>
                            <a:srgbClr val="0070C0"/>
                          </a:solidFill>
                          <a:latin typeface="Calibri"/>
                        </a:rPr>
                        <a:t>33.8.</a:t>
                      </a:r>
                      <a:r>
                        <a:rPr sz="700" b="0" i="0">
                          <a:solidFill>
                            <a:srgbClr val="0070C0"/>
                          </a:solidFill>
                          <a:latin typeface="Times New Roman"/>
                        </a:rPr>
                        <a:t>  </a:t>
                      </a:r>
                      <a:r>
                        <a:rPr sz="1100" b="0" i="0">
                          <a:solidFill>
                            <a:srgbClr val="0070C0"/>
                          </a:solidFill>
                          <a:latin typeface="Calibri"/>
                        </a:rPr>
                        <a:t>ShaoXing Royal Tea</a:t>
                      </a:r>
                      <a:endParaRPr sz="1100"/>
                    </a:p>
                  </a:txBody>
                  <a:tcPr marL="428625" marR="9525" marT="9525" marB="0" anchor="ctr"/>
                </a:tc>
              </a:tr>
              <a:tr h="175260">
                <a:tc>
                  <a:txBody>
                    <a:bodyPr wrap="square"/>
                    <a:lstStyle/>
                    <a:p>
                      <a:pPr algn="l"/>
                      <a:r>
                        <a:rPr sz="1100" b="0" i="0">
                          <a:solidFill>
                            <a:srgbClr val="0070C0"/>
                          </a:solidFill>
                          <a:latin typeface="Calibri"/>
                        </a:rPr>
                        <a:t>33.9.</a:t>
                      </a:r>
                      <a:r>
                        <a:rPr sz="700" b="0" i="0">
                          <a:solidFill>
                            <a:srgbClr val="0070C0"/>
                          </a:solidFill>
                          <a:latin typeface="Times New Roman"/>
                        </a:rPr>
                        <a:t>  </a:t>
                      </a:r>
                      <a:r>
                        <a:rPr sz="1100" b="0" i="0">
                          <a:solidFill>
                            <a:srgbClr val="0070C0"/>
                          </a:solidFill>
                          <a:latin typeface="Calibri"/>
                        </a:rPr>
                        <a:t>Zhejiang Tea Group</a:t>
                      </a:r>
                      <a:endParaRPr sz="1100"/>
                    </a:p>
                  </a:txBody>
                  <a:tcPr marL="428625" marR="9525" marT="9525" marB="0" anchor="ctr"/>
                </a:tc>
              </a:tr>
              <a:tr h="175260">
                <a:tc>
                  <a:txBody>
                    <a:bodyPr wrap="square"/>
                    <a:lstStyle/>
                    <a:p>
                      <a:pPr algn="l"/>
                      <a:r>
                        <a:rPr sz="1100" b="0" i="0">
                          <a:solidFill>
                            <a:srgbClr val="0070C0"/>
                          </a:solidFill>
                          <a:latin typeface="Calibri"/>
                        </a:rPr>
                        <a:t>33.10.</a:t>
                      </a:r>
                      <a:r>
                        <a:rPr sz="700" b="0" i="0">
                          <a:solidFill>
                            <a:srgbClr val="0070C0"/>
                          </a:solidFill>
                          <a:latin typeface="Times New Roman"/>
                        </a:rPr>
                        <a:t> </a:t>
                      </a:r>
                      <a:r>
                        <a:rPr sz="1100" b="0" i="0">
                          <a:solidFill>
                            <a:srgbClr val="0070C0"/>
                          </a:solidFill>
                          <a:latin typeface="Calibri"/>
                        </a:rPr>
                        <a:t>Horii Shichimeien</a:t>
                      </a:r>
                      <a:endParaRPr sz="1100"/>
                    </a:p>
                  </a:txBody>
                  <a:tcPr marL="428625" marR="9525" marT="9525" marB="0" anchor="ctr"/>
                </a:tc>
              </a:tr>
              <a:tr h="175260">
                <a:tc>
                  <a:txBody>
                    <a:bodyPr wrap="square"/>
                    <a:lstStyle/>
                    <a:p>
                      <a:pPr algn="l"/>
                      <a:r>
                        <a:rPr sz="1100" b="0" i="0">
                          <a:solidFill>
                            <a:srgbClr val="0070C0"/>
                          </a:solidFill>
                          <a:latin typeface="Calibri"/>
                        </a:rPr>
                        <a:t>33.11.</a:t>
                      </a:r>
                      <a:r>
                        <a:rPr sz="700" b="0" i="0">
                          <a:solidFill>
                            <a:srgbClr val="0070C0"/>
                          </a:solidFill>
                          <a:latin typeface="Times New Roman"/>
                        </a:rPr>
                        <a:t> </a:t>
                      </a:r>
                      <a:r>
                        <a:rPr sz="1100" b="0" i="0">
                          <a:solidFill>
                            <a:srgbClr val="0070C0"/>
                          </a:solidFill>
                          <a:latin typeface="Calibri"/>
                        </a:rPr>
                        <a:t>Others on request</a:t>
                      </a:r>
                      <a:endParaRPr sz="1100"/>
                    </a:p>
                  </a:txBody>
                  <a:tcPr marL="428625" marR="9525" marT="9525" marB="0" anchor="ctr"/>
                </a:tc>
              </a:tr>
              <a:tr h="175260">
                <a:tc>
                  <a:txBody>
                    <a:bodyPr wrap="square"/>
                    <a:lstStyle/>
                    <a:p>
                      <a:pPr algn="l"/>
                      <a:r>
                        <a:rPr sz="1100" b="1" i="0">
                          <a:solidFill>
                            <a:srgbClr val="000000"/>
                          </a:solidFill>
                          <a:latin typeface="Calibri"/>
                        </a:rPr>
                        <a:t>34.</a:t>
                      </a:r>
                      <a:r>
                        <a:rPr sz="700" b="1" i="0">
                          <a:solidFill>
                            <a:srgbClr val="000000"/>
                          </a:solidFill>
                          <a:latin typeface="Times New Roman"/>
                        </a:rPr>
                        <a:t>    </a:t>
                      </a:r>
                      <a:r>
                        <a:rPr sz="1100" b="1" i="0">
                          <a:solidFill>
                            <a:srgbClr val="000000"/>
                          </a:solidFill>
                          <a:latin typeface="Calibri"/>
                        </a:rPr>
                        <a:t>Assumptions and Acronyms Used</a:t>
                      </a:r>
                      <a:endParaRPr sz="1100"/>
                    </a:p>
                  </a:txBody>
                  <a:tcPr marL="171450" marR="9525" marT="9525" marB="0" anchor="ctr"/>
                </a:tc>
              </a:tr>
              <a:tr h="175260">
                <a:tc>
                  <a:txBody>
                    <a:bodyPr wrap="square"/>
                    <a:lstStyle/>
                    <a:p>
                      <a:pPr algn="l"/>
                      <a:r>
                        <a:rPr sz="1100" b="1" i="0">
                          <a:solidFill>
                            <a:srgbClr val="000000"/>
                          </a:solidFill>
                          <a:latin typeface="Calibri"/>
                        </a:rPr>
                        <a:t>35.</a:t>
                      </a:r>
                      <a:r>
                        <a:rPr sz="700" b="1" i="0">
                          <a:solidFill>
                            <a:srgbClr val="000000"/>
                          </a:solidFill>
                          <a:latin typeface="Times New Roman"/>
                        </a:rPr>
                        <a:t>    </a:t>
                      </a:r>
                      <a:r>
                        <a:rPr sz="1100" b="1" i="0">
                          <a:solidFill>
                            <a:srgbClr val="000000"/>
                          </a:solidFill>
                          <a:latin typeface="Calibri"/>
                        </a:rPr>
                        <a:t>Research Methodology</a:t>
                      </a:r>
                      <a:endParaRPr sz="1100"/>
                    </a:p>
                  </a:txBody>
                  <a:tcPr marL="171450"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94957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292475"/>
            <a:ext cx="8572500" cy="514350"/>
          </a:xfrm>
          <a:prstGeom prst="rect">
            <a:avLst/>
          </a:prstGeom>
          <a:noFill/>
        </p:spPr>
        <p:txBody>
          <a:bodyPr wrap="square" lIns="0" rIns="0" tIns="0">
            <a:spAutoFit/>
          </a:bodyPr>
          <a:lstStyle/>
          <a:p>
            <a:r>
              <a:rPr sz="3000" b="1">
                <a:solidFill>
                  <a:srgbClr val="0B3C8C"/>
                </a:solidFill>
                <a:latin typeface="Calibri"/>
              </a:rPr>
              <a:t>List of Figures, List of Tables</a:t>
            </a:r>
          </a:p>
        </p:txBody>
      </p:sp>
      <p:sp>
        <p:nvSpPr>
          <p:cNvPr id="11" name="TextBox 10"/>
          <p:cNvSpPr txBox="1"/>
          <p:nvPr/>
        </p:nvSpPr>
        <p:spPr>
          <a:xfrm>
            <a:off x="914400" y="3978275"/>
            <a:ext cx="8458200" cy="8826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figure in the full study, by analysis block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Every table in the full study, by analysis block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2: Global Market Value Snapshot, US$ Mn, 2026 and 2036</a:t>
                      </a:r>
                      <a:endParaRPr sz="1050"/>
                    </a:p>
                  </a:txBody>
                  <a:tcPr marL="9525" marR="9525" marT="9525" marB="0" anchor="ctr"/>
                </a:tc>
              </a:tr>
              <a:tr h="169606">
                <a:tc>
                  <a:txBody>
                    <a:bodyPr wrap="square"/>
                    <a:lstStyle/>
                    <a:p>
                      <a:pPr algn="l"/>
                      <a:r>
                        <a:rPr sz="1050" b="0" i="0">
                          <a:solidFill>
                            <a:srgbClr val="000000"/>
                          </a:solidFill>
                          <a:latin typeface="Calibri"/>
                        </a:rPr>
                        <a:t>Figure 3: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Figure 4: Global Market Share by Nature, %, 2026</a:t>
                      </a:r>
                      <a:endParaRPr sz="1050"/>
                    </a:p>
                  </a:txBody>
                  <a:tcPr marL="9525" marR="9525" marT="9525" marB="0" anchor="ctr"/>
                </a:tc>
              </a:tr>
              <a:tr h="169606">
                <a:tc>
                  <a:txBody>
                    <a:bodyPr wrap="square"/>
                    <a:lstStyle/>
                    <a:p>
                      <a:pPr algn="l"/>
                      <a:r>
                        <a:rPr sz="1050" b="0" i="0">
                          <a:solidFill>
                            <a:srgbClr val="000000"/>
                          </a:solidFill>
                          <a:latin typeface="Calibri"/>
                        </a:rPr>
                        <a:t>Figure 5: Global Market Share by Product Type, %, 2026</a:t>
                      </a:r>
                      <a:endParaRPr sz="1050"/>
                    </a:p>
                  </a:txBody>
                  <a:tcPr marL="9525" marR="9525" marT="9525" marB="0" anchor="ctr"/>
                </a:tc>
              </a:tr>
              <a:tr h="169606">
                <a:tc>
                  <a:txBody>
                    <a:bodyPr wrap="square"/>
                    <a:lstStyle/>
                    <a:p>
                      <a:pPr algn="l"/>
                      <a:r>
                        <a:rPr sz="1050" b="0" i="0">
                          <a:solidFill>
                            <a:srgbClr val="000000"/>
                          </a:solidFill>
                          <a:latin typeface="Calibri"/>
                        </a:rPr>
                        <a:t>Figure 6: Global Market Share by Form, %, 2026</a:t>
                      </a:r>
                      <a:endParaRPr sz="1050"/>
                    </a:p>
                  </a:txBody>
                  <a:tcPr marL="9525" marR="9525" marT="9525" marB="0" anchor="ctr"/>
                </a:tc>
              </a:tr>
              <a:tr h="169606">
                <a:tc>
                  <a:txBody>
                    <a:bodyPr wrap="square"/>
                    <a:lstStyle/>
                    <a:p>
                      <a:pPr algn="l"/>
                      <a:r>
                        <a:rPr sz="1050" b="0" i="0">
                          <a:solidFill>
                            <a:srgbClr val="000000"/>
                          </a:solidFill>
                          <a:latin typeface="Calibri"/>
                        </a:rPr>
                        <a:t>Figure 7: Global Market Share by Flavour, %, 2026</a:t>
                      </a:r>
                      <a:endParaRPr sz="1050"/>
                    </a:p>
                  </a:txBody>
                  <a:tcPr marL="9525" marR="9525" marT="9525" marB="0" anchor="ctr"/>
                </a:tc>
              </a:tr>
              <a:tr h="169606">
                <a:tc>
                  <a:txBody>
                    <a:bodyPr wrap="square"/>
                    <a:lstStyle/>
                    <a:p>
                      <a:pPr algn="l"/>
                      <a:r>
                        <a:rPr sz="1050" b="0" i="0">
                          <a:solidFill>
                            <a:srgbClr val="000000"/>
                          </a:solidFill>
                          <a:latin typeface="Calibri"/>
                        </a:rPr>
                        <a:t>Figure 8: Global Market Share by Packaging Type, %, 2026</a:t>
                      </a:r>
                      <a:endParaRPr sz="1050"/>
                    </a:p>
                  </a:txBody>
                  <a:tcPr marL="9525" marR="9525" marT="9525" marB="0" anchor="ctr"/>
                </a:tc>
              </a:tr>
              <a:tr h="169606">
                <a:tc>
                  <a:txBody>
                    <a:bodyPr wrap="square"/>
                    <a:lstStyle/>
                    <a:p>
                      <a:pPr algn="l"/>
                      <a:r>
                        <a:rPr sz="1050" b="0" i="0">
                          <a:solidFill>
                            <a:srgbClr val="000000"/>
                          </a:solidFill>
                          <a:latin typeface="Calibri"/>
                        </a:rPr>
                        <a:t>Figure 9: Global Market Share by Grade Type, %, 2026</a:t>
                      </a:r>
                      <a:endParaRPr sz="1050"/>
                    </a:p>
                  </a:txBody>
                  <a:tcPr marL="9525" marR="9525" marT="9525" marB="0" anchor="ctr"/>
                </a:tc>
              </a:tr>
              <a:tr h="169606">
                <a:tc>
                  <a:txBody>
                    <a:bodyPr wrap="square"/>
                    <a:lstStyle/>
                    <a:p>
                      <a:pPr algn="l"/>
                      <a:r>
                        <a:rPr sz="1050" b="0" i="0">
                          <a:solidFill>
                            <a:srgbClr val="000000"/>
                          </a:solidFill>
                          <a:latin typeface="Calibri"/>
                        </a:rPr>
                        <a:t>Figure 10: Global Market Historical Value, US$ Mn, 2021–2025</a:t>
                      </a:r>
                      <a:endParaRPr sz="1050"/>
                    </a:p>
                  </a:txBody>
                  <a:tcPr marL="9525" marR="9525" marT="9525" marB="0" anchor="ctr"/>
                </a:tc>
              </a:tr>
              <a:tr h="169606">
                <a:tc>
                  <a:txBody>
                    <a:bodyPr wrap="square"/>
                    <a:lstStyle/>
                    <a:p>
                      <a:pPr algn="l"/>
                      <a:r>
                        <a:rPr sz="1050" b="0" i="0">
                          <a:solidFill>
                            <a:srgbClr val="000000"/>
                          </a:solidFill>
                          <a:latin typeface="Calibri"/>
                        </a:rPr>
                        <a:t>Figure 11: Global Market Forecast Value, US$ Mn, 2026–2036</a:t>
                      </a:r>
                      <a:endParaRPr sz="1050"/>
                    </a:p>
                  </a:txBody>
                  <a:tcPr marL="9525" marR="9525" marT="9525" marB="0" anchor="ctr"/>
                </a:tc>
              </a:tr>
              <a:tr h="169606">
                <a:tc>
                  <a:txBody>
                    <a:bodyPr wrap="square"/>
                    <a:lstStyle/>
                    <a:p>
                      <a:pPr algn="l"/>
                      <a:r>
                        <a:rPr sz="1050" b="0" i="0">
                          <a:solidFill>
                            <a:srgbClr val="000000"/>
                          </a:solidFill>
                          <a:latin typeface="Calibri"/>
                        </a:rPr>
                        <a:t>Figure 12: Global Market YoY Growth, %, 2021–2036</a:t>
                      </a:r>
                      <a:endParaRPr sz="1050"/>
                    </a:p>
                  </a:txBody>
                  <a:tcPr marL="9525" marR="9525" marT="9525" marB="0" anchor="ctr"/>
                </a:tc>
              </a:tr>
              <a:tr h="169606">
                <a:tc>
                  <a:txBody>
                    <a:bodyPr wrap="square"/>
                    <a:lstStyle/>
                    <a:p>
                      <a:pPr algn="l"/>
                      <a:r>
                        <a:rPr sz="1050" b="0" i="0">
                          <a:solidFill>
                            <a:srgbClr val="000000"/>
                          </a:solidFill>
                          <a:latin typeface="Calibri"/>
                        </a:rPr>
                        <a:t>Figure 13: Global Market Volume and YoY Growth, MT and %, 2021–2036</a:t>
                      </a:r>
                      <a:endParaRPr sz="1050"/>
                    </a:p>
                  </a:txBody>
                  <a:tcPr marL="9525" marR="9525" marT="9525" marB="0" anchor="ctr"/>
                </a:tc>
              </a:tr>
              <a:tr h="169606">
                <a:tc>
                  <a:txBody>
                    <a:bodyPr wrap="square"/>
                    <a:lstStyle/>
                    <a:p>
                      <a:pPr algn="l"/>
                      <a:r>
                        <a:rPr sz="1050" b="0" i="0">
                          <a:solidFill>
                            <a:srgbClr val="000000"/>
                          </a:solidFill>
                          <a:latin typeface="Calibri"/>
                        </a:rPr>
                        <a:t>Figure 14: Global Market Volume vs Value CAGR Comparison, %, 2026–2036</a:t>
                      </a:r>
                      <a:endParaRPr sz="1050"/>
                    </a:p>
                  </a:txBody>
                  <a:tcPr marL="9525" marR="9525" marT="9525" marB="0" anchor="ctr"/>
                </a:tc>
              </a:tr>
              <a:tr h="169606">
                <a:tc>
                  <a:txBody>
                    <a:bodyPr wrap="square"/>
                    <a:lstStyle/>
                    <a:p>
                      <a:pPr algn="l"/>
                      <a:r>
                        <a:rPr sz="1050" b="0" i="0">
                          <a:solidFill>
                            <a:srgbClr val="000000"/>
                          </a:solidFill>
                          <a:latin typeface="Calibri"/>
                        </a:rPr>
                        <a:t>Figure 15: Global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Figure 16: Global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17: Global Market Incremental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Figure 18: Global Market Historical vs Forecast CAGR, %, 2021–2036</a:t>
                      </a:r>
                      <a:endParaRPr sz="1050"/>
                    </a:p>
                  </a:txBody>
                  <a:tcPr marL="9525" marR="9525" marT="9525" marB="0" anchor="ctr"/>
                </a:tc>
              </a:tr>
              <a:tr h="169606">
                <a:tc>
                  <a:txBody>
                    <a:bodyPr wrap="square"/>
                    <a:lstStyle/>
                    <a:p>
                      <a:pPr algn="l"/>
                      <a:r>
                        <a:rPr sz="1050" b="0" i="0">
                          <a:solidFill>
                            <a:srgbClr val="000000"/>
                          </a:solidFill>
                          <a:latin typeface="Calibri"/>
                        </a:rPr>
                        <a:t>Figure 19: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Figure 20: Global Market Value by Nature, US$ Mn, 2021–2036</a:t>
                      </a:r>
                      <a:endParaRPr sz="1050"/>
                    </a:p>
                  </a:txBody>
                  <a:tcPr marL="9525" marR="9525" marT="9525" marB="0" anchor="ctr"/>
                </a:tc>
              </a:tr>
              <a:tr h="169606">
                <a:tc>
                  <a:txBody>
                    <a:bodyPr wrap="square"/>
                    <a:lstStyle/>
                    <a:p>
                      <a:pPr algn="l"/>
                      <a:r>
                        <a:rPr sz="1050" b="0" i="0">
                          <a:solidFill>
                            <a:srgbClr val="000000"/>
                          </a:solidFill>
                          <a:latin typeface="Calibri"/>
                        </a:rPr>
                        <a:t>Figure 21: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22: Global Market Value by Form, US$ Mn, 2021–2036</a:t>
                      </a:r>
                      <a:endParaRPr sz="1050"/>
                    </a:p>
                  </a:txBody>
                  <a:tcPr marL="9525" marR="9525" marT="9525" marB="0" anchor="ctr"/>
                </a:tc>
              </a:tr>
              <a:tr h="169606">
                <a:tc>
                  <a:txBody>
                    <a:bodyPr wrap="square"/>
                    <a:lstStyle/>
                    <a:p>
                      <a:pPr algn="l"/>
                      <a:r>
                        <a:rPr sz="1050" b="0" i="0">
                          <a:solidFill>
                            <a:srgbClr val="000000"/>
                          </a:solidFill>
                          <a:latin typeface="Calibri"/>
                        </a:rPr>
                        <a:t>Figure 23: Global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Figure 24: Global Market Value by Packaging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25: Global Market Value by Grade Type, US$ Mn, 2021–2036</a:t>
                      </a:r>
                      <a:endParaRPr sz="1050"/>
                    </a:p>
                  </a:txBody>
                  <a:tcPr marL="9525" marR="9525" marT="9525" marB="0" anchor="ctr"/>
                </a:tc>
              </a:tr>
              <a:tr h="169606">
                <a:tc>
                  <a:txBody>
                    <a:bodyPr wrap="square"/>
                    <a:lstStyle/>
                    <a:p>
                      <a:pPr algn="l"/>
                      <a:r>
                        <a:rPr sz="1050" b="0" i="0">
                          <a:solidFill>
                            <a:srgbClr val="000000"/>
                          </a:solidFill>
                          <a:latin typeface="Calibri"/>
                        </a:rPr>
                        <a:t>Figure 26: Global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Figure 27: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Figure 28: Global Market Share by Nature, %, 2026 and 2036</a:t>
                      </a:r>
                      <a:endParaRPr sz="1050"/>
                    </a:p>
                  </a:txBody>
                  <a:tcPr marL="9525" marR="9525" marT="9525" marB="0" anchor="ctr"/>
                </a:tc>
              </a:tr>
              <a:tr h="169606">
                <a:tc>
                  <a:txBody>
                    <a:bodyPr wrap="square"/>
                    <a:lstStyle/>
                    <a:p>
                      <a:pPr algn="l"/>
                      <a:r>
                        <a:rPr sz="1050" b="0" i="0">
                          <a:solidFill>
                            <a:srgbClr val="000000"/>
                          </a:solidFill>
                          <a:latin typeface="Calibri"/>
                        </a:rPr>
                        <a:t>Figure 29: Global Market Share by Product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30: Global Market Share by Form, %, 2026 and 2036</a:t>
                      </a:r>
                      <a:endParaRPr sz="1050"/>
                    </a:p>
                  </a:txBody>
                  <a:tcPr marL="9525" marR="9525" marT="9525" marB="0" anchor="ctr"/>
                </a:tc>
              </a:tr>
              <a:tr h="169606">
                <a:tc>
                  <a:txBody>
                    <a:bodyPr wrap="square"/>
                    <a:lstStyle/>
                    <a:p>
                      <a:pPr algn="l"/>
                      <a:r>
                        <a:rPr sz="1050" b="0" i="0">
                          <a:solidFill>
                            <a:srgbClr val="000000"/>
                          </a:solidFill>
                          <a:latin typeface="Calibri"/>
                        </a:rPr>
                        <a:t>Figure 31: Global Market Share by Flavour,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32: Global Market Share by Packaging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33: Global Market Share by Grade Type, %, 2026 and 2036</a:t>
                      </a:r>
                      <a:endParaRPr sz="1050"/>
                    </a:p>
                  </a:txBody>
                  <a:tcPr marL="9525" marR="9525" marT="9525" marB="0" anchor="ctr"/>
                </a:tc>
              </a:tr>
              <a:tr h="169606">
                <a:tc>
                  <a:txBody>
                    <a:bodyPr wrap="square"/>
                    <a:lstStyle/>
                    <a:p>
                      <a:pPr algn="l"/>
                      <a:r>
                        <a:rPr sz="1050" b="0" i="0">
                          <a:solidFill>
                            <a:srgbClr val="000000"/>
                          </a:solidFill>
                          <a:latin typeface="Calibri"/>
                        </a:rPr>
                        <a:t>Figure 34: Global Market Share by Application, %, 2026 and 2036</a:t>
                      </a:r>
                      <a:endParaRPr sz="1050"/>
                    </a:p>
                  </a:txBody>
                  <a:tcPr marL="9525" marR="9525" marT="9525" marB="0" anchor="ctr"/>
                </a:tc>
              </a:tr>
              <a:tr h="169606">
                <a:tc>
                  <a:txBody>
                    <a:bodyPr wrap="square"/>
                    <a:lstStyle/>
                    <a:p>
                      <a:pPr algn="l"/>
                      <a:r>
                        <a:rPr sz="1050" b="0" i="0">
                          <a:solidFill>
                            <a:srgbClr val="000000"/>
                          </a:solidFill>
                          <a:latin typeface="Calibri"/>
                        </a:rPr>
                        <a:t>Figure 35: Global Market Share by Distribution Channel, %, 2026 and 2036</a:t>
                      </a:r>
                      <a:endParaRPr sz="1050"/>
                    </a:p>
                  </a:txBody>
                  <a:tcPr marL="9525" marR="9525" marT="9525" marB="0" anchor="ctr"/>
                </a:tc>
              </a:tr>
              <a:tr h="169606">
                <a:tc>
                  <a:txBody>
                    <a:bodyPr wrap="square"/>
                    <a:lstStyle/>
                    <a:p>
                      <a:pPr algn="l"/>
                      <a:r>
                        <a:rPr sz="1050" b="0" i="0">
                          <a:solidFill>
                            <a:srgbClr val="000000"/>
                          </a:solidFill>
                          <a:latin typeface="Calibri"/>
                        </a:rPr>
                        <a:t>Figure 36: Global Market Absolute $ Opportunity by Nature, US$ Mn, 2026–2036</a:t>
                      </a:r>
                      <a:endParaRPr sz="1050"/>
                    </a:p>
                  </a:txBody>
                  <a:tcPr marL="9525" marR="9525" marT="9525" marB="0" anchor="ctr"/>
                </a:tc>
              </a:tr>
              <a:tr h="169606">
                <a:tc>
                  <a:txBody>
                    <a:bodyPr wrap="square"/>
                    <a:lstStyle/>
                    <a:p>
                      <a:pPr algn="l"/>
                      <a:r>
                        <a:rPr sz="1050" b="0" i="0">
                          <a:solidFill>
                            <a:srgbClr val="000000"/>
                          </a:solidFill>
                          <a:latin typeface="Calibri"/>
                        </a:rPr>
                        <a:t>Figure 37: Global Market Absolute $ Opportunity by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Figure 38: Global Market Absolute $ Opportunity by Form, US$ Mn, 2026–2036</a:t>
                      </a:r>
                      <a:endParaRPr sz="1050"/>
                    </a:p>
                  </a:txBody>
                  <a:tcPr marL="9525" marR="9525" marT="9525" marB="0" anchor="ctr"/>
                </a:tc>
              </a:tr>
              <a:tr h="169606">
                <a:tc>
                  <a:txBody>
                    <a:bodyPr wrap="square"/>
                    <a:lstStyle/>
                    <a:p>
                      <a:pPr algn="l"/>
                      <a:r>
                        <a:rPr sz="1050" b="0" i="0">
                          <a:solidFill>
                            <a:srgbClr val="000000"/>
                          </a:solidFill>
                          <a:latin typeface="Calibri"/>
                        </a:rPr>
                        <a:t>Figure 39: Global Market Absolute $ Opportunity by Flavour, US$ Mn, 2026–2036</a:t>
                      </a:r>
                      <a:endParaRPr sz="1050"/>
                    </a:p>
                  </a:txBody>
                  <a:tcPr marL="9525" marR="9525" marT="9525" marB="0" anchor="ctr"/>
                </a:tc>
              </a:tr>
              <a:tr h="169606">
                <a:tc>
                  <a:txBody>
                    <a:bodyPr wrap="square"/>
                    <a:lstStyle/>
                    <a:p>
                      <a:pPr algn="l"/>
                      <a:r>
                        <a:rPr sz="1050" b="0" i="0">
                          <a:solidFill>
                            <a:srgbClr val="000000"/>
                          </a:solidFill>
                          <a:latin typeface="Calibri"/>
                        </a:rPr>
                        <a:t>Figure 40: Global Market Absolute $ Opportunity by Packaging Type, US$ Mn, 2026–2036</a:t>
                      </a:r>
                      <a:endParaRPr sz="1050"/>
                    </a:p>
                  </a:txBody>
                  <a:tcPr marL="9525" marR="9525" marT="9525" marB="0" anchor="ctr"/>
                </a:tc>
              </a:tr>
              <a:tr h="169606">
                <a:tc>
                  <a:txBody>
                    <a:bodyPr wrap="square"/>
                    <a:lstStyle/>
                    <a:p>
                      <a:pPr algn="l"/>
                      <a:r>
                        <a:rPr sz="1050" b="0" i="0">
                          <a:solidFill>
                            <a:srgbClr val="000000"/>
                          </a:solidFill>
                          <a:latin typeface="Calibri"/>
                        </a:rPr>
                        <a:t>Figure 41: Global Market Absolute $ Opportunity by Grade Type, US$ Mn, 2026–2036</a:t>
                      </a:r>
                      <a:endParaRPr sz="1050"/>
                    </a:p>
                  </a:txBody>
                  <a:tcPr marL="9525" marR="9525" marT="9525" marB="0" anchor="ctr"/>
                </a:tc>
              </a:tr>
              <a:tr h="169606">
                <a:tc>
                  <a:txBody>
                    <a:bodyPr wrap="square"/>
                    <a:lstStyle/>
                    <a:p>
                      <a:pPr algn="l"/>
                      <a:r>
                        <a:rPr sz="1050" b="0" i="0">
                          <a:solidFill>
                            <a:srgbClr val="000000"/>
                          </a:solidFill>
                          <a:latin typeface="Calibri"/>
                        </a:rPr>
                        <a:t>Figure 42: Global Market Absolute $ Opportunity by Application, US$ Mn, 2026–2036</a:t>
                      </a:r>
                      <a:endParaRPr sz="1050"/>
                    </a:p>
                  </a:txBody>
                  <a:tcPr marL="9525" marR="9525" marT="9525" marB="0" anchor="ctr"/>
                </a:tc>
              </a:tr>
              <a:tr h="169606">
                <a:tc>
                  <a:txBody>
                    <a:bodyPr wrap="square"/>
                    <a:lstStyle/>
                    <a:p>
                      <a:pPr algn="l"/>
                      <a:r>
                        <a:rPr sz="1050" b="0" i="0">
                          <a:solidFill>
                            <a:srgbClr val="000000"/>
                          </a:solidFill>
                          <a:latin typeface="Calibri"/>
                        </a:rPr>
                        <a:t>Figure 43: Global Market Absolute $ Opportunity by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Figure 44: Global Market BPS Share Change by Nature, 2026–2036</a:t>
                      </a:r>
                      <a:endParaRPr sz="1050"/>
                    </a:p>
                  </a:txBody>
                  <a:tcPr marL="9525" marR="9525" marT="9525" marB="0" anchor="ctr"/>
                </a:tc>
              </a:tr>
              <a:tr h="169606">
                <a:tc>
                  <a:txBody>
                    <a:bodyPr wrap="square"/>
                    <a:lstStyle/>
                    <a:p>
                      <a:pPr algn="l"/>
                      <a:r>
                        <a:rPr sz="1050" b="0" i="0">
                          <a:solidFill>
                            <a:srgbClr val="000000"/>
                          </a:solidFill>
                          <a:latin typeface="Calibri"/>
                        </a:rPr>
                        <a:t>Figure 45: Global Market BPS Share Change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46: Global Market BPS Share Change by Form, 2026–2036</a:t>
                      </a:r>
                      <a:endParaRPr sz="1050"/>
                    </a:p>
                  </a:txBody>
                  <a:tcPr marL="9525" marR="9525" marT="9525" marB="0" anchor="ctr"/>
                </a:tc>
              </a:tr>
              <a:tr h="169606">
                <a:tc>
                  <a:txBody>
                    <a:bodyPr wrap="square"/>
                    <a:lstStyle/>
                    <a:p>
                      <a:pPr algn="l"/>
                      <a:r>
                        <a:rPr sz="1050" b="0" i="0">
                          <a:solidFill>
                            <a:srgbClr val="000000"/>
                          </a:solidFill>
                          <a:latin typeface="Calibri"/>
                        </a:rPr>
                        <a:t>Figure 47: Global Market BPS Share Change by Flavour, 2026–2036</a:t>
                      </a:r>
                      <a:endParaRPr sz="1050"/>
                    </a:p>
                  </a:txBody>
                  <a:tcPr marL="9525" marR="9525" marT="9525" marB="0" anchor="ctr"/>
                </a:tc>
              </a:tr>
              <a:tr h="169606">
                <a:tc>
                  <a:txBody>
                    <a:bodyPr wrap="square"/>
                    <a:lstStyle/>
                    <a:p>
                      <a:pPr algn="l"/>
                      <a:r>
                        <a:rPr sz="1050" b="0" i="0">
                          <a:solidFill>
                            <a:srgbClr val="000000"/>
                          </a:solidFill>
                          <a:latin typeface="Calibri"/>
                        </a:rPr>
                        <a:t>Figure 48: Global Market BPS Share Change by Packaging Type, 2026–2036</a:t>
                      </a:r>
                      <a:endParaRPr sz="1050"/>
                    </a:p>
                  </a:txBody>
                  <a:tcPr marL="9525" marR="9525" marT="9525" marB="0" anchor="ctr"/>
                </a:tc>
              </a:tr>
              <a:tr h="169606">
                <a:tc>
                  <a:txBody>
                    <a:bodyPr wrap="square"/>
                    <a:lstStyle/>
                    <a:p>
                      <a:pPr algn="l"/>
                      <a:r>
                        <a:rPr sz="1050" b="0" i="0">
                          <a:solidFill>
                            <a:srgbClr val="000000"/>
                          </a:solidFill>
                          <a:latin typeface="Calibri"/>
                        </a:rPr>
                        <a:t>Figure 49: Global Market BPS Share Change by Grade Type, 2026–2036</a:t>
                      </a:r>
                      <a:endParaRPr sz="1050"/>
                    </a:p>
                  </a:txBody>
                  <a:tcPr marL="9525" marR="9525" marT="9525" marB="0" anchor="ctr"/>
                </a:tc>
              </a:tr>
              <a:tr h="169606">
                <a:tc>
                  <a:txBody>
                    <a:bodyPr wrap="square"/>
                    <a:lstStyle/>
                    <a:p>
                      <a:pPr algn="l"/>
                      <a:r>
                        <a:rPr sz="1050" b="0" i="0">
                          <a:solidFill>
                            <a:srgbClr val="000000"/>
                          </a:solidFill>
                          <a:latin typeface="Calibri"/>
                        </a:rPr>
                        <a:t>Figure 50: Global Market BPS Share Change by Application, 2026–2036</a:t>
                      </a:r>
                      <a:endParaRPr sz="1050"/>
                    </a:p>
                  </a:txBody>
                  <a:tcPr marL="9525" marR="9525" marT="9525" marB="0" anchor="ctr"/>
                </a:tc>
              </a:tr>
              <a:tr h="169606">
                <a:tc>
                  <a:txBody>
                    <a:bodyPr wrap="square"/>
                    <a:lstStyle/>
                    <a:p>
                      <a:pPr algn="l"/>
                      <a:r>
                        <a:rPr sz="1050" b="0" i="0">
                          <a:solidFill>
                            <a:srgbClr val="000000"/>
                          </a:solidFill>
                          <a:latin typeface="Calibri"/>
                        </a:rPr>
                        <a:t>Figure 51: Global Market BPS Share Change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52: Global Market YoY Growth by Nature, %, 2026–2036</a:t>
                      </a:r>
                      <a:endParaRPr sz="1050"/>
                    </a:p>
                  </a:txBody>
                  <a:tcPr marL="9525" marR="9525" marT="9525" marB="0" anchor="ctr"/>
                </a:tc>
              </a:tr>
              <a:tr h="169606">
                <a:tc>
                  <a:txBody>
                    <a:bodyPr wrap="square"/>
                    <a:lstStyle/>
                    <a:p>
                      <a:pPr algn="l"/>
                      <a:r>
                        <a:rPr sz="1050" b="0" i="0">
                          <a:solidFill>
                            <a:srgbClr val="000000"/>
                          </a:solidFill>
                          <a:latin typeface="Calibri"/>
                        </a:rPr>
                        <a:t>Figure 53: Global Market YoY Growth by Product Type, %, 2026–2036</a:t>
                      </a:r>
                      <a:endParaRPr sz="1050"/>
                    </a:p>
                  </a:txBody>
                  <a:tcPr marL="9525" marR="9525" marT="9525" marB="0" anchor="ctr"/>
                </a:tc>
              </a:tr>
              <a:tr h="169606">
                <a:tc>
                  <a:txBody>
                    <a:bodyPr wrap="square"/>
                    <a:lstStyle/>
                    <a:p>
                      <a:pPr algn="l"/>
                      <a:r>
                        <a:rPr sz="1050" b="0" i="0">
                          <a:solidFill>
                            <a:srgbClr val="000000"/>
                          </a:solidFill>
                          <a:latin typeface="Calibri"/>
                        </a:rPr>
                        <a:t>Figure 54: Global Market YoY Growth by Form, %, 2026–2036</a:t>
                      </a:r>
                      <a:endParaRPr sz="1050"/>
                    </a:p>
                  </a:txBody>
                  <a:tcPr marL="9525" marR="9525" marT="9525" marB="0" anchor="ctr"/>
                </a:tc>
              </a:tr>
              <a:tr h="169606">
                <a:tc>
                  <a:txBody>
                    <a:bodyPr wrap="square"/>
                    <a:lstStyle/>
                    <a:p>
                      <a:pPr algn="l"/>
                      <a:r>
                        <a:rPr sz="1050" b="0" i="0">
                          <a:solidFill>
                            <a:srgbClr val="000000"/>
                          </a:solidFill>
                          <a:latin typeface="Calibri"/>
                        </a:rPr>
                        <a:t>Figure 55: Global Market YoY Growth by Flavour, %, 2026–2036</a:t>
                      </a:r>
                      <a:endParaRPr sz="1050"/>
                    </a:p>
                  </a:txBody>
                  <a:tcPr marL="9525" marR="9525" marT="9525" marB="0" anchor="ctr"/>
                </a:tc>
              </a:tr>
              <a:tr h="169606">
                <a:tc>
                  <a:txBody>
                    <a:bodyPr wrap="square"/>
                    <a:lstStyle/>
                    <a:p>
                      <a:pPr algn="l"/>
                      <a:r>
                        <a:rPr sz="1050" b="0" i="0">
                          <a:solidFill>
                            <a:srgbClr val="000000"/>
                          </a:solidFill>
                          <a:latin typeface="Calibri"/>
                        </a:rPr>
                        <a:t>Figure 56: Global Market YoY Growth by Packaging Type, %, 2026–2036</a:t>
                      </a:r>
                      <a:endParaRPr sz="1050"/>
                    </a:p>
                  </a:txBody>
                  <a:tcPr marL="9525" marR="9525" marT="9525" marB="0" anchor="ctr"/>
                </a:tc>
              </a:tr>
              <a:tr h="169606">
                <a:tc>
                  <a:txBody>
                    <a:bodyPr wrap="square"/>
                    <a:lstStyle/>
                    <a:p>
                      <a:pPr algn="l"/>
                      <a:r>
                        <a:rPr sz="1050" b="0" i="0">
                          <a:solidFill>
                            <a:srgbClr val="000000"/>
                          </a:solidFill>
                          <a:latin typeface="Calibri"/>
                        </a:rPr>
                        <a:t>Figure 57: Global Market YoY Growth by Grade Type, %, 2026–2036</a:t>
                      </a:r>
                      <a:endParaRPr sz="1050"/>
                    </a:p>
                  </a:txBody>
                  <a:tcPr marL="9525" marR="9525" marT="9525" marB="0" anchor="ctr"/>
                </a:tc>
              </a:tr>
              <a:tr h="169606">
                <a:tc>
                  <a:txBody>
                    <a:bodyPr wrap="square"/>
                    <a:lstStyle/>
                    <a:p>
                      <a:pPr algn="l"/>
                      <a:r>
                        <a:rPr sz="1050" b="0" i="0">
                          <a:solidFill>
                            <a:srgbClr val="000000"/>
                          </a:solidFill>
                          <a:latin typeface="Calibri"/>
                        </a:rPr>
                        <a:t>Figure 58: Global Market YoY Growth by Application, %, 2026–2036</a:t>
                      </a:r>
                      <a:endParaRPr sz="1050"/>
                    </a:p>
                  </a:txBody>
                  <a:tcPr marL="9525" marR="9525" marT="9525" marB="0" anchor="ctr"/>
                </a:tc>
              </a:tr>
              <a:tr h="169606">
                <a:tc>
                  <a:txBody>
                    <a:bodyPr wrap="square"/>
                    <a:lstStyle/>
                    <a:p>
                      <a:pPr algn="l"/>
                      <a:r>
                        <a:rPr sz="1050" b="0" i="0">
                          <a:solidFill>
                            <a:srgbClr val="000000"/>
                          </a:solidFill>
                          <a:latin typeface="Calibri"/>
                        </a:rPr>
                        <a:t>Figure 59: Global Market YoY Growth by Distribution Channel, %, 2026–2036</a:t>
                      </a:r>
                      <a:endParaRPr sz="1050"/>
                    </a:p>
                  </a:txBody>
                  <a:tcPr marL="9525" marR="9525" marT="9525" marB="0" anchor="ctr"/>
                </a:tc>
              </a:tr>
              <a:tr h="169606">
                <a:tc>
                  <a:txBody>
                    <a:bodyPr wrap="square"/>
                    <a:lstStyle/>
                    <a:p>
                      <a:pPr algn="l"/>
                      <a:r>
                        <a:rPr sz="1050" b="0" i="0">
                          <a:solidFill>
                            <a:srgbClr val="000000"/>
                          </a:solidFill>
                          <a:latin typeface="Calibri"/>
                        </a:rPr>
                        <a:t>Figure 60: Global Market Attractiveness by Nature, 2026–2036</a:t>
                      </a:r>
                      <a:endParaRPr sz="1050"/>
                    </a:p>
                  </a:txBody>
                  <a:tcPr marL="9525" marR="9525" marT="9525" marB="0" anchor="ctr"/>
                </a:tc>
              </a:tr>
              <a:tr h="169606">
                <a:tc>
                  <a:txBody>
                    <a:bodyPr wrap="square"/>
                    <a:lstStyle/>
                    <a:p>
                      <a:pPr algn="l"/>
                      <a:r>
                        <a:rPr sz="1050" b="0" i="0">
                          <a:solidFill>
                            <a:srgbClr val="000000"/>
                          </a:solidFill>
                          <a:latin typeface="Calibri"/>
                        </a:rPr>
                        <a:t>Figure 61: Global Market Attractiveness by Product Type, 2026–2036</a:t>
                      </a:r>
                      <a:endParaRPr sz="1050"/>
                    </a:p>
                  </a:txBody>
                  <a:tcPr marL="9525" marR="9525" marT="9525" marB="0" anchor="ctr"/>
                </a:tc>
              </a:tr>
              <a:tr h="169606">
                <a:tc>
                  <a:txBody>
                    <a:bodyPr wrap="square"/>
                    <a:lstStyle/>
                    <a:p>
                      <a:pPr algn="l"/>
                      <a:r>
                        <a:rPr sz="1050" b="0" i="0">
                          <a:solidFill>
                            <a:srgbClr val="000000"/>
                          </a:solidFill>
                          <a:latin typeface="Calibri"/>
                        </a:rPr>
                        <a:t>Figure 62: Global Market Attractiveness by Form,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63: Global Market Attractiveness by Flavour, 2026–2036</a:t>
                      </a:r>
                      <a:endParaRPr sz="1050"/>
                    </a:p>
                  </a:txBody>
                  <a:tcPr marL="9525" marR="9525" marT="9525" marB="0" anchor="ctr"/>
                </a:tc>
              </a:tr>
              <a:tr h="169606">
                <a:tc>
                  <a:txBody>
                    <a:bodyPr wrap="square"/>
                    <a:lstStyle/>
                    <a:p>
                      <a:pPr algn="l"/>
                      <a:r>
                        <a:rPr sz="1050" b="0" i="0">
                          <a:solidFill>
                            <a:srgbClr val="000000"/>
                          </a:solidFill>
                          <a:latin typeface="Calibri"/>
                        </a:rPr>
                        <a:t>Figure 64: Global Market Attractiveness by Packaging Type, 2026–2036</a:t>
                      </a:r>
                      <a:endParaRPr sz="1050"/>
                    </a:p>
                  </a:txBody>
                  <a:tcPr marL="9525" marR="9525" marT="9525" marB="0" anchor="ctr"/>
                </a:tc>
              </a:tr>
              <a:tr h="169606">
                <a:tc>
                  <a:txBody>
                    <a:bodyPr wrap="square"/>
                    <a:lstStyle/>
                    <a:p>
                      <a:pPr algn="l"/>
                      <a:r>
                        <a:rPr sz="1050" b="0" i="0">
                          <a:solidFill>
                            <a:srgbClr val="000000"/>
                          </a:solidFill>
                          <a:latin typeface="Calibri"/>
                        </a:rPr>
                        <a:t>Figure 65: Global Market Attractiveness by Grade Type, 2026–2036</a:t>
                      </a:r>
                      <a:endParaRPr sz="1050"/>
                    </a:p>
                  </a:txBody>
                  <a:tcPr marL="9525" marR="9525" marT="9525" marB="0" anchor="ctr"/>
                </a:tc>
              </a:tr>
              <a:tr h="169606">
                <a:tc>
                  <a:txBody>
                    <a:bodyPr wrap="square"/>
                    <a:lstStyle/>
                    <a:p>
                      <a:pPr algn="l"/>
                      <a:r>
                        <a:rPr sz="1050" b="0" i="0">
                          <a:solidFill>
                            <a:srgbClr val="000000"/>
                          </a:solidFill>
                          <a:latin typeface="Calibri"/>
                        </a:rPr>
                        <a:t>Figure 66: Global Market Attractiveness by Application, 2026–2036</a:t>
                      </a:r>
                      <a:endParaRPr sz="1050"/>
                    </a:p>
                  </a:txBody>
                  <a:tcPr marL="9525" marR="9525" marT="9525" marB="0" anchor="ctr"/>
                </a:tc>
              </a:tr>
              <a:tr h="169606">
                <a:tc>
                  <a:txBody>
                    <a:bodyPr wrap="square"/>
                    <a:lstStyle/>
                    <a:p>
                      <a:pPr algn="l"/>
                      <a:r>
                        <a:rPr sz="1050" b="0" i="0">
                          <a:solidFill>
                            <a:srgbClr val="000000"/>
                          </a:solidFill>
                          <a:latin typeface="Calibri"/>
                        </a:rPr>
                        <a:t>Figure 67: Global Market Attractiveness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Figure 68: Global Market Volume by Nature, MT, 2021–2036</a:t>
                      </a:r>
                      <a:endParaRPr sz="1050"/>
                    </a:p>
                  </a:txBody>
                  <a:tcPr marL="9525" marR="9525" marT="9525" marB="0" anchor="ctr"/>
                </a:tc>
              </a:tr>
              <a:tr h="169606">
                <a:tc>
                  <a:txBody>
                    <a:bodyPr wrap="square"/>
                    <a:lstStyle/>
                    <a:p>
                      <a:pPr algn="l"/>
                      <a:r>
                        <a:rPr sz="1050" b="0" i="0">
                          <a:solidFill>
                            <a:srgbClr val="000000"/>
                          </a:solidFill>
                          <a:latin typeface="Calibri"/>
                        </a:rPr>
                        <a:t>Figure 69: Global Market Volume by Product Type, MT, 2021–2036</a:t>
                      </a:r>
                      <a:endParaRPr sz="1050"/>
                    </a:p>
                  </a:txBody>
                  <a:tcPr marL="9525" marR="9525" marT="9525" marB="0" anchor="ctr"/>
                </a:tc>
              </a:tr>
              <a:tr h="169606">
                <a:tc>
                  <a:txBody>
                    <a:bodyPr wrap="square"/>
                    <a:lstStyle/>
                    <a:p>
                      <a:pPr algn="l"/>
                      <a:r>
                        <a:rPr sz="1050" b="0" i="0">
                          <a:solidFill>
                            <a:srgbClr val="000000"/>
                          </a:solidFill>
                          <a:latin typeface="Calibri"/>
                        </a:rPr>
                        <a:t>Figure 70: Global Market Volume by Form, MT, 2021–2036</a:t>
                      </a:r>
                      <a:endParaRPr sz="1050"/>
                    </a:p>
                  </a:txBody>
                  <a:tcPr marL="9525" marR="9525" marT="9525" marB="0" anchor="ctr"/>
                </a:tc>
              </a:tr>
              <a:tr h="169606">
                <a:tc>
                  <a:txBody>
                    <a:bodyPr wrap="square"/>
                    <a:lstStyle/>
                    <a:p>
                      <a:pPr algn="l"/>
                      <a:r>
                        <a:rPr sz="1050" b="0" i="0">
                          <a:solidFill>
                            <a:srgbClr val="000000"/>
                          </a:solidFill>
                          <a:latin typeface="Calibri"/>
                        </a:rPr>
                        <a:t>Figure 71: Nature × Product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72: Nature × Form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73: Nature × Flavour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74: Nature × Packaging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75: Nature × Grade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76: Nature × Application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77: Nature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78: Product Type × Form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79: Product Type × Flavour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80: Product Type × Packaging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81: Product Type × Grade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82: Product Type × Application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83: Product Type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84: Form × Flavour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85: Form × Packaging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86: Form × Grade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87: Form × Application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88: Form × Distribution Channel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89: Flavour × Packaging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90: Flavour × Grade Type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91: Flavour × Application Opportunity Matrix, 2026–2036</a:t>
                      </a:r>
                      <a:endParaRPr sz="1050"/>
                    </a:p>
                  </a:txBody>
                  <a:tcPr marL="9525" marR="9525" marT="9525" marB="0" anchor="ctr"/>
                </a:tc>
              </a:tr>
              <a:tr h="169606">
                <a:tc>
                  <a:txBody>
                    <a:bodyPr wrap="square"/>
                    <a:lstStyle/>
                    <a:p>
                      <a:pPr algn="l"/>
                      <a:r>
                        <a:rPr sz="1050" b="0" i="0">
                          <a:solidFill>
                            <a:srgbClr val="000000"/>
                          </a:solidFill>
                          <a:latin typeface="Calibri"/>
                        </a:rPr>
                        <a:t>Figure 92: Global Market Value by Region, US$ Mn, 2021–2036</a:t>
                      </a:r>
                      <a:endParaRPr sz="1050"/>
                    </a:p>
                  </a:txBody>
                  <a:tcPr marL="9525" marR="9525" marT="9525" marB="0" anchor="ctr"/>
                </a:tc>
              </a:tr>
              <a:tr h="169606">
                <a:tc>
                  <a:txBody>
                    <a:bodyPr wrap="square"/>
                    <a:lstStyle/>
                    <a:p>
                      <a:pPr algn="l"/>
                      <a:r>
                        <a:rPr sz="1050" b="0" i="0">
                          <a:solidFill>
                            <a:srgbClr val="000000"/>
                          </a:solidFill>
                          <a:latin typeface="Calibri"/>
                        </a:rPr>
                        <a:t>Figure 93: Global Market Share by Region, %,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94: Global Market CAGR by Region, %, 2026–2036</a:t>
                      </a:r>
                      <a:endParaRPr sz="1050"/>
                    </a:p>
                  </a:txBody>
                  <a:tcPr marL="9525" marR="9525" marT="9525" marB="0" anchor="ctr"/>
                </a:tc>
              </a:tr>
              <a:tr h="169606">
                <a:tc>
                  <a:txBody>
                    <a:bodyPr wrap="square"/>
                    <a:lstStyle/>
                    <a:p>
                      <a:pPr algn="l"/>
                      <a:r>
                        <a:rPr sz="1050" b="0" i="0">
                          <a:solidFill>
                            <a:srgbClr val="000000"/>
                          </a:solidFill>
                          <a:latin typeface="Calibri"/>
                        </a:rPr>
                        <a:t>Figure 95: Global Market Absolute $ Opportunity by Region, US$ Mn, 2026–2036</a:t>
                      </a:r>
                      <a:endParaRPr sz="1050"/>
                    </a:p>
                  </a:txBody>
                  <a:tcPr marL="9525" marR="9525" marT="9525" marB="0" anchor="ctr"/>
                </a:tc>
              </a:tr>
              <a:tr h="169606">
                <a:tc>
                  <a:txBody>
                    <a:bodyPr wrap="square"/>
                    <a:lstStyle/>
                    <a:p>
                      <a:pPr algn="l"/>
                      <a:r>
                        <a:rPr sz="1050" b="0" i="0">
                          <a:solidFill>
                            <a:srgbClr val="000000"/>
                          </a:solidFill>
                          <a:latin typeface="Calibri"/>
                        </a:rPr>
                        <a:t>Figure 96: Global Market Attractiveness by Region, 2026–2036</a:t>
                      </a:r>
                      <a:endParaRPr sz="1050"/>
                    </a:p>
                  </a:txBody>
                  <a:tcPr marL="9525" marR="9525" marT="9525" marB="0" anchor="ctr"/>
                </a:tc>
              </a:tr>
              <a:tr h="169606">
                <a:tc>
                  <a:txBody>
                    <a:bodyPr wrap="square"/>
                    <a:lstStyle/>
                    <a:p>
                      <a:pPr algn="l"/>
                      <a:r>
                        <a:rPr sz="1050" b="0" i="0">
                          <a:solidFill>
                            <a:srgbClr val="000000"/>
                          </a:solidFill>
                          <a:latin typeface="Calibri"/>
                        </a:rPr>
                        <a:t>Figure 97: Global Market BPS Share Change by Region, 2026–2036</a:t>
                      </a:r>
                      <a:endParaRPr sz="1050"/>
                    </a:p>
                  </a:txBody>
                  <a:tcPr marL="9525" marR="9525" marT="9525" marB="0" anchor="ctr"/>
                </a:tc>
              </a:tr>
              <a:tr h="169606">
                <a:tc>
                  <a:txBody>
                    <a:bodyPr wrap="square"/>
                    <a:lstStyle/>
                    <a:p>
                      <a:pPr algn="l"/>
                      <a:r>
                        <a:rPr sz="1050" b="0" i="0">
                          <a:solidFill>
                            <a:srgbClr val="000000"/>
                          </a:solidFill>
                          <a:latin typeface="Calibri"/>
                        </a:rPr>
                        <a:t>Figure 98: North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99: Latin America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100: Europe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101: East Asia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102: South Asia &amp; Pacific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103: Middle East &amp; Africa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104: North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105: Latin America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106: Europe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107: East Asia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108: South Asia &amp; Pacific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109: Middle East &amp; Africa Market Share of Global Market, %, 2026 and 2036</a:t>
                      </a:r>
                      <a:endParaRPr sz="1050"/>
                    </a:p>
                  </a:txBody>
                  <a:tcPr marL="9525" marR="9525" marT="9525" marB="0" anchor="ctr"/>
                </a:tc>
              </a:tr>
              <a:tr h="169606">
                <a:tc>
                  <a:txBody>
                    <a:bodyPr wrap="square"/>
                    <a:lstStyle/>
                    <a:p>
                      <a:pPr algn="l"/>
                      <a:r>
                        <a:rPr sz="1050" b="0" i="0">
                          <a:solidFill>
                            <a:srgbClr val="000000"/>
                          </a:solidFill>
                          <a:latin typeface="Calibri"/>
                        </a:rPr>
                        <a:t>Figure 110: North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111: Latin America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112: Europe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113: East Asia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114: South Asia &amp; Pacific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115: Middle East &amp; Africa Market Value by Country,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116: North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117: Latin America Market Absolute $ Opportunity, US$ Mn, 2026–2036</a:t>
                      </a:r>
                      <a:endParaRPr sz="1050"/>
                    </a:p>
                  </a:txBody>
                  <a:tcPr marL="9525" marR="9525" marT="9525" marB="0" anchor="ctr"/>
                </a:tc>
              </a:tr>
              <a:tr h="169606">
                <a:tc>
                  <a:txBody>
                    <a:bodyPr wrap="square"/>
                    <a:lstStyle/>
                    <a:p>
                      <a:pPr algn="l"/>
                      <a:r>
                        <a:rPr sz="1050" b="0" i="0">
                          <a:solidFill>
                            <a:srgbClr val="000000"/>
                          </a:solidFill>
                          <a:latin typeface="Calibri"/>
                        </a:rPr>
                        <a:t>Figure 118: U.S.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119: U.S.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120: U.S. Market Value by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121: U.S.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122: U.S.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123: U.S. Market Value by Form,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124: U.S. Market Value by Flavour, US$ Mn, 2026 and 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(3/4)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125: U.S. Market Value by Packaging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126: Germany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127: Germany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128: Germany Market Value by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129: Germany Market Share within Europe, %, 2026 and 2036</a:t>
                      </a:r>
                      <a:endParaRPr sz="1050"/>
                    </a:p>
                  </a:txBody>
                  <a:tcPr marL="9525" marR="9525" marT="9525" marB="0" anchor="ctr"/>
                </a:tc>
              </a:tr>
              <a:tr h="169606">
                <a:tc>
                  <a:txBody>
                    <a:bodyPr wrap="square"/>
                    <a:lstStyle/>
                    <a:p>
                      <a:pPr algn="l"/>
                      <a:r>
                        <a:rPr sz="1050" b="0" i="0">
                          <a:solidFill>
                            <a:srgbClr val="000000"/>
                          </a:solidFill>
                          <a:latin typeface="Calibri"/>
                        </a:rPr>
                        <a:t>Figure 130: Germany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131: Germany Market Value by Form,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132: Germany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133: Germany Market Value by Packaging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134: Canada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135: Canada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136: Canada Market Value by Application,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137: Canada Market Share within North America, %, 2026 and 2036</a:t>
                      </a:r>
                      <a:endParaRPr sz="1050"/>
                    </a:p>
                  </a:txBody>
                  <a:tcPr marL="9525" marR="9525" marT="9525" marB="0" anchor="ctr"/>
                </a:tc>
              </a:tr>
              <a:tr h="169606">
                <a:tc>
                  <a:txBody>
                    <a:bodyPr wrap="square"/>
                    <a:lstStyle/>
                    <a:p>
                      <a:pPr algn="l"/>
                      <a:r>
                        <a:rPr sz="1050" b="0" i="0">
                          <a:solidFill>
                            <a:srgbClr val="000000"/>
                          </a:solidFill>
                          <a:latin typeface="Calibri"/>
                        </a:rPr>
                        <a:t>Figure 138: Canada Market Value by Product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139: Canada Market Value by Form,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140: Canada Market Value by Flavour,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141: Canada Market Value by Packaging Type,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142: China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143: China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144: India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145: India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146: Brazil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147: Brazil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148: U.K.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149: U.K.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150: Japan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Figure 151: Japan Market Value by Nature, US$ Mn, 2026 and 2036</a:t>
                      </a:r>
                      <a:endParaRPr sz="1050"/>
                    </a:p>
                  </a:txBody>
                  <a:tcPr marL="9525" marR="9525" marT="9525" marB="0" anchor="ctr"/>
                </a:tc>
              </a:tr>
              <a:tr h="169606">
                <a:tc>
                  <a:txBody>
                    <a:bodyPr wrap="square"/>
                    <a:lstStyle/>
                    <a:p>
                      <a:pPr algn="l"/>
                      <a:r>
                        <a:rPr sz="1050" b="0" i="0">
                          <a:solidFill>
                            <a:srgbClr val="000000"/>
                          </a:solidFill>
                          <a:latin typeface="Calibri"/>
                        </a:rPr>
                        <a:t>Figure 152: Global Market Average Selling Price Trend, US$/MT, 2021–2036</a:t>
                      </a:r>
                      <a:endParaRPr sz="1050"/>
                    </a:p>
                  </a:txBody>
                  <a:tcPr marL="9525" marR="9525" marT="9525" marB="0" anchor="ctr"/>
                </a:tc>
              </a:tr>
              <a:tr h="169606">
                <a:tc>
                  <a:txBody>
                    <a:bodyPr wrap="square"/>
                    <a:lstStyle/>
                    <a:p>
                      <a:pPr algn="l"/>
                      <a:r>
                        <a:rPr sz="1050" b="0" i="0">
                          <a:solidFill>
                            <a:srgbClr val="000000"/>
                          </a:solidFill>
                          <a:latin typeface="Calibri"/>
                        </a:rPr>
                        <a:t>Figure 153: Global Market Average Selling Price by Region,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154: Global Market Average Selling Price by Nature,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155: Global Market Average Selling Price by Product Type, US$/MT, 2026 and 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Figure 156: Global Market Average Selling Price by Form,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157: Global Market Average Selling Price by Flavour,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158: Global Market Average Selling Price by Packaging Type, US$/MT, 2026 and 2036</a:t>
                      </a:r>
                      <a:endParaRPr sz="1050"/>
                    </a:p>
                  </a:txBody>
                  <a:tcPr marL="9525" marR="9525" marT="9525" marB="0" anchor="ctr"/>
                </a:tc>
              </a:tr>
              <a:tr h="169606">
                <a:tc>
                  <a:txBody>
                    <a:bodyPr wrap="square"/>
                    <a:lstStyle/>
                    <a:p>
                      <a:pPr algn="l"/>
                      <a:r>
                        <a:rPr sz="1050" b="0" i="0">
                          <a:solidFill>
                            <a:srgbClr val="000000"/>
                          </a:solidFill>
                          <a:latin typeface="Calibri"/>
                        </a:rPr>
                        <a:t>Figure 159: Global Market Average Selling Price by Grade Type, US$/MT, 2026 and 2036</a:t>
                      </a:r>
                      <a:endParaRPr sz="1050"/>
                    </a:p>
                  </a:txBody>
                  <a:tcPr marL="9525" marR="9525" marT="9525" marB="0" anchor="ctr"/>
                </a:tc>
              </a:tr>
              <a:tr h="169606">
                <a:tc>
                  <a:txBody>
                    <a:bodyPr wrap="square"/>
                    <a:lstStyle/>
                    <a:p>
                      <a:pPr algn="l"/>
                      <a:r>
                        <a:rPr sz="1050" b="0" i="0">
                          <a:solidFill>
                            <a:srgbClr val="000000"/>
                          </a:solidFill>
                          <a:latin typeface="Calibri"/>
                        </a:rPr>
                        <a:t>Figure 160: Global Market Average Selling Price by Application, US$/MT, 2026 and 2036</a:t>
                      </a:r>
                      <a:endParaRPr sz="1050"/>
                    </a:p>
                  </a:txBody>
                  <a:tcPr marL="9525" marR="9525" marT="9525" marB="0" anchor="ctr"/>
                </a:tc>
              </a:tr>
              <a:tr h="169606">
                <a:tc>
                  <a:txBody>
                    <a:bodyPr wrap="square"/>
                    <a:lstStyle/>
                    <a:p>
                      <a:pPr algn="l"/>
                      <a:r>
                        <a:rPr sz="1050" b="0" i="0">
                          <a:solidFill>
                            <a:srgbClr val="000000"/>
                          </a:solidFill>
                          <a:latin typeface="Calibri"/>
                        </a:rPr>
                        <a:t>Figure 161: Global Market Average Selling Price by Distribution Channel, US$/MT, 2026 and 2036</a:t>
                      </a:r>
                      <a:endParaRPr sz="1050"/>
                    </a:p>
                  </a:txBody>
                  <a:tcPr marL="9525" marR="9525" marT="9525" marB="0" anchor="ctr"/>
                </a:tc>
              </a:tr>
              <a:tr h="169606">
                <a:tc>
                  <a:txBody>
                    <a:bodyPr wrap="square"/>
                    <a:lstStyle/>
                    <a:p>
                      <a:pPr algn="l"/>
                      <a:r>
                        <a:rPr sz="1050" b="0" i="0">
                          <a:solidFill>
                            <a:srgbClr val="000000"/>
                          </a:solidFill>
                          <a:latin typeface="Calibri"/>
                        </a:rPr>
                        <a:t>Figure 162: Global Market Value Chain Structure, 2026</a:t>
                      </a:r>
                      <a:endParaRPr sz="1050"/>
                    </a:p>
                  </a:txBody>
                  <a:tcPr marL="9525" marR="9525" marT="9525" marB="0" anchor="ctr"/>
                </a:tc>
              </a:tr>
              <a:tr h="169606">
                <a:tc>
                  <a:txBody>
                    <a:bodyPr wrap="square"/>
                    <a:lstStyle/>
                    <a:p>
                      <a:pPr algn="l"/>
                      <a:r>
                        <a:rPr sz="1050" b="0" i="0">
                          <a:solidFill>
                            <a:srgbClr val="000000"/>
                          </a:solidFill>
                          <a:latin typeface="Calibri"/>
                        </a:rPr>
                        <a:t>Figure 163: Global Market Margin Distribution across the Value Chain, %, 2026</a:t>
                      </a:r>
                      <a:endParaRPr sz="1050"/>
                    </a:p>
                  </a:txBody>
                  <a:tcPr marL="9525" marR="9525" marT="9525" marB="0" anchor="ctr"/>
                </a:tc>
              </a:tr>
              <a:tr h="169606">
                <a:tc>
                  <a:txBody>
                    <a:bodyPr wrap="square"/>
                    <a:lstStyle/>
                    <a:p>
                      <a:pPr algn="l"/>
                      <a:r>
                        <a:rPr sz="1050" b="0" i="0">
                          <a:solidFill>
                            <a:srgbClr val="000000"/>
                          </a:solidFill>
                          <a:latin typeface="Calibri"/>
                        </a:rPr>
                        <a:t>Figure 164: Global Market Cost Structure Breakdown, %, 2026</a:t>
                      </a:r>
                      <a:endParaRPr sz="1050"/>
                    </a:p>
                  </a:txBody>
                  <a:tcPr marL="9525" marR="9525" marT="9525" marB="0" anchor="ctr"/>
                </a:tc>
              </a:tr>
              <a:tr h="169606">
                <a:tc>
                  <a:txBody>
                    <a:bodyPr wrap="square"/>
                    <a:lstStyle/>
                    <a:p>
                      <a:pPr algn="l"/>
                      <a:r>
                        <a:rPr sz="1050" b="0" i="0">
                          <a:solidFill>
                            <a:srgbClr val="000000"/>
                          </a:solidFill>
                          <a:latin typeface="Calibri"/>
                        </a:rPr>
                        <a:t>Figure 165: Company Market Share in the Global Market, %, 2026</a:t>
                      </a:r>
                      <a:endParaRPr sz="1050"/>
                    </a:p>
                  </a:txBody>
                  <a:tcPr marL="9525" marR="9525" marT="9525" marB="0" anchor="ctr"/>
                </a:tc>
              </a:tr>
              <a:tr h="169606">
                <a:tc>
                  <a:txBody>
                    <a:bodyPr wrap="square"/>
                    <a:lstStyle/>
                    <a:p>
                      <a:pPr algn="l"/>
                      <a:r>
                        <a:rPr sz="1050" b="0" i="0">
                          <a:solidFill>
                            <a:srgbClr val="000000"/>
                          </a:solidFill>
                          <a:latin typeface="Calibri"/>
                        </a:rPr>
                        <a:t>Figure 166: Competitive Positioning of Leading Matcha Manufacturers, 2026</a:t>
                      </a:r>
                      <a:endParaRPr sz="1050"/>
                    </a:p>
                  </a:txBody>
                  <a:tcPr marL="9525" marR="9525" marT="9525" marB="0" anchor="ctr"/>
                </a:tc>
              </a:tr>
              <a:tr h="169606">
                <a:tc>
                  <a:txBody>
                    <a:bodyPr wrap="square"/>
                    <a:lstStyle/>
                    <a:p>
                      <a:pPr algn="l"/>
                      <a:r>
                        <a:rPr sz="1050" b="0" i="0">
                          <a:solidFill>
                            <a:srgbClr val="000000"/>
                          </a:solidFill>
                          <a:latin typeface="Calibri"/>
                        </a:rPr>
                        <a:t>Figure 167: Company Revenue from the Global Market, US$ Mn, 2026</a:t>
                      </a:r>
                      <a:endParaRPr sz="1050"/>
                    </a:p>
                  </a:txBody>
                  <a:tcPr marL="9525" marR="9525" marT="9525" marB="0" anchor="ctr"/>
                </a:tc>
              </a:tr>
              <a:tr h="169606">
                <a:tc>
                  <a:txBody>
                    <a:bodyPr wrap="square"/>
                    <a:lstStyle/>
                    <a:p>
                      <a:pPr algn="l"/>
                      <a:r>
                        <a:rPr sz="1050" b="0" i="0">
                          <a:solidFill>
                            <a:srgbClr val="000000"/>
                          </a:solidFill>
                          <a:latin typeface="Calibri"/>
                        </a:rPr>
                        <a:t>Figure 168: Global Market Concentration by Company Tier, %, 2026</a:t>
                      </a:r>
                      <a:endParaRPr sz="1050"/>
                    </a:p>
                  </a:txBody>
                  <a:tcPr marL="9525" marR="9525" marT="9525" marB="0" anchor="ctr"/>
                </a:tc>
              </a:tr>
              <a:tr h="169606">
                <a:tc>
                  <a:txBody>
                    <a:bodyPr wrap="square"/>
                    <a:lstStyle/>
                    <a:p>
                      <a:pPr algn="l"/>
                      <a:r>
                        <a:rPr sz="1050" b="0" i="0">
                          <a:solidFill>
                            <a:srgbClr val="000000"/>
                          </a:solidFill>
                          <a:latin typeface="Calibri"/>
                        </a:rPr>
                        <a:t>Figure 169: Global Market Competitive Intensity Assessment, 2026</a:t>
                      </a:r>
                      <a:endParaRPr sz="1050"/>
                    </a:p>
                  </a:txBody>
                  <a:tcPr marL="9525" marR="9525" marT="9525" marB="0" anchor="ctr"/>
                </a:tc>
              </a:tr>
              <a:tr h="169606">
                <a:tc>
                  <a:txBody>
                    <a:bodyPr wrap="square"/>
                    <a:lstStyle/>
                    <a:p>
                      <a:pPr algn="l"/>
                      <a:r>
                        <a:rPr sz="1050" b="0" i="0">
                          <a:solidFill>
                            <a:srgbClr val="000000"/>
                          </a:solidFill>
                          <a:latin typeface="Calibri"/>
                        </a:rPr>
                        <a:t>Figure 170: Company Market Share in the North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171: Company Market Share in the Latin America Market, %, 2026</a:t>
                      </a:r>
                      <a:endParaRPr sz="1050"/>
                    </a:p>
                  </a:txBody>
                  <a:tcPr marL="9525" marR="9525" marT="9525" marB="0" anchor="ctr"/>
                </a:tc>
              </a:tr>
              <a:tr h="169606">
                <a:tc>
                  <a:txBody>
                    <a:bodyPr wrap="square"/>
                    <a:lstStyle/>
                    <a:p>
                      <a:pPr algn="l"/>
                      <a:r>
                        <a:rPr sz="1050" b="0" i="0">
                          <a:solidFill>
                            <a:srgbClr val="000000"/>
                          </a:solidFill>
                          <a:latin typeface="Calibri"/>
                        </a:rPr>
                        <a:t>Figure 172: Company Market Share in the Europe Market, %, 2026</a:t>
                      </a:r>
                      <a:endParaRPr sz="1050"/>
                    </a:p>
                  </a:txBody>
                  <a:tcPr marL="9525" marR="9525" marT="9525" marB="0" anchor="ctr"/>
                </a:tc>
              </a:tr>
              <a:tr h="169606">
                <a:tc>
                  <a:txBody>
                    <a:bodyPr wrap="square"/>
                    <a:lstStyle/>
                    <a:p>
                      <a:pPr algn="l"/>
                      <a:r>
                        <a:rPr sz="1050" b="0" i="0">
                          <a:solidFill>
                            <a:srgbClr val="000000"/>
                          </a:solidFill>
                          <a:latin typeface="Calibri"/>
                        </a:rPr>
                        <a:t>Figure 173: Company Market Share in the East Asia Market, %, 2026</a:t>
                      </a:r>
                      <a:endParaRPr sz="1050"/>
                    </a:p>
                  </a:txBody>
                  <a:tcPr marL="9525" marR="9525" marT="9525" marB="0" anchor="ctr"/>
                </a:tc>
              </a:tr>
              <a:tr h="169606">
                <a:tc>
                  <a:txBody>
                    <a:bodyPr wrap="square"/>
                    <a:lstStyle/>
                    <a:p>
                      <a:pPr algn="l"/>
                      <a:r>
                        <a:rPr sz="1050" b="0" i="0">
                          <a:solidFill>
                            <a:srgbClr val="000000"/>
                          </a:solidFill>
                          <a:latin typeface="Calibri"/>
                        </a:rPr>
                        <a:t>Figure 174: Company Market Share in the South Asia &amp; Pacific Market, %, 2026</a:t>
                      </a:r>
                      <a:endParaRPr sz="1050"/>
                    </a:p>
                  </a:txBody>
                  <a:tcPr marL="9525" marR="9525" marT="9525" marB="0" anchor="ctr"/>
                </a:tc>
              </a:tr>
              <a:tr h="169606">
                <a:tc>
                  <a:txBody>
                    <a:bodyPr wrap="square"/>
                    <a:lstStyle/>
                    <a:p>
                      <a:pPr algn="l"/>
                      <a:r>
                        <a:rPr sz="1050" b="0" i="0">
                          <a:solidFill>
                            <a:srgbClr val="000000"/>
                          </a:solidFill>
                          <a:latin typeface="Calibri"/>
                        </a:rPr>
                        <a:t>Figure 175: Company Market Share in the Middle East &amp; Africa Market, %, 2026</a:t>
                      </a:r>
                      <a:endParaRPr sz="1050"/>
                    </a:p>
                  </a:txBody>
                  <a:tcPr marL="9525" marR="9525" marT="9525" marB="0" anchor="ctr"/>
                </a:tc>
              </a:tr>
              <a:tr h="169606">
                <a:tc>
                  <a:txBody>
                    <a:bodyPr wrap="square"/>
                    <a:lstStyle/>
                    <a:p>
                      <a:pPr algn="l"/>
                      <a:r>
                        <a:rPr sz="1050" b="0" i="0">
                          <a:solidFill>
                            <a:srgbClr val="000000"/>
                          </a:solidFill>
                          <a:latin typeface="Calibri"/>
                        </a:rPr>
                        <a:t>Figure 176: Jade Leaf Matcha: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177: DoMatcha: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178: Encha: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179: Rishi Tea and Botanicals: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180: Tenzo: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181: Matchaful: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182: Kettl: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183: Harney and Sons: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184: Sencha Naturals: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185: Aoi Matcha: Revenue from the Global Market and Share, US$ Mn and %, 2026</a:t>
                      </a:r>
                      <a:endParaRPr sz="1050"/>
                    </a:p>
                  </a:txBody>
                  <a:tcPr marL="9525" marR="9525" marT="9525" marB="0" anchor="ctr"/>
                </a:tc>
              </a:tr>
              <a:tr h="169606">
                <a:tc>
                  <a:txBody>
                    <a:bodyPr wrap="square"/>
                    <a:lstStyle/>
                    <a:p>
                      <a:pPr algn="l"/>
                      <a:r>
                        <a:rPr sz="1050" b="0" i="0">
                          <a:solidFill>
                            <a:srgbClr val="000000"/>
                          </a:solidFill>
                          <a:latin typeface="Calibri"/>
                        </a:rPr>
                        <a:t>Figure 186: Global Market Value Forecast by Scenario,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Figures (4/4)</a:t>
            </a:r>
          </a:p>
        </p:txBody>
      </p:sp>
      <p:graphicFrame>
        <p:nvGraphicFramePr>
          <p:cNvPr id="9" name="FMI Contents Table"/>
          <p:cNvGraphicFramePr>
            <a:graphicFrameLocks noGrp="1"/>
          </p:cNvGraphicFramePr>
          <p:nvPr/>
        </p:nvGraphicFramePr>
        <p:xfrm>
          <a:off x="142875" y="981075"/>
          <a:ext cx="5876925" cy="2333632"/>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Figure 187: Global Market YoY Growth by Scenario, %, 2026–2036</a:t>
                      </a:r>
                      <a:endParaRPr sz="1050"/>
                    </a:p>
                  </a:txBody>
                  <a:tcPr marL="9525" marR="9525" marT="9525" marB="0" anchor="ctr"/>
                </a:tc>
              </a:tr>
              <a:tr h="166688">
                <a:tc>
                  <a:txBody>
                    <a:bodyPr wrap="square"/>
                    <a:lstStyle/>
                    <a:p>
                      <a:pPr algn="l"/>
                      <a:r>
                        <a:rPr sz="1050" b="0" i="0">
                          <a:solidFill>
                            <a:srgbClr val="000000"/>
                          </a:solidFill>
                          <a:latin typeface="Calibri"/>
                        </a:rPr>
                        <a:t>Figure 188: Global Market Key Trends Impact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189: Global Market Drivers, Restraints and Opportunities Impact, 2026–2036</a:t>
                      </a:r>
                      <a:endParaRPr sz="1050"/>
                    </a:p>
                  </a:txBody>
                  <a:tcPr marL="9525" marR="9525" marT="9525" marB="0" anchor="ctr"/>
                </a:tc>
              </a:tr>
              <a:tr h="166688">
                <a:tc>
                  <a:txBody>
                    <a:bodyPr wrap="square"/>
                    <a:lstStyle/>
                    <a:p>
                      <a:pPr algn="l"/>
                      <a:r>
                        <a:rPr sz="1050" b="0" i="0">
                          <a:solidFill>
                            <a:srgbClr val="000000"/>
                          </a:solidFill>
                          <a:latin typeface="Calibri"/>
                        </a:rPr>
                        <a:t>Figure 190: Global Market Opportunity Map by Region and Nature, 2026–2036</a:t>
                      </a:r>
                      <a:endParaRPr sz="1050"/>
                    </a:p>
                  </a:txBody>
                  <a:tcPr marL="9525" marR="9525" marT="9525" marB="0" anchor="ctr"/>
                </a:tc>
              </a:tr>
              <a:tr h="166688">
                <a:tc>
                  <a:txBody>
                    <a:bodyPr wrap="square"/>
                    <a:lstStyle/>
                    <a:p>
                      <a:pPr algn="l"/>
                      <a:r>
                        <a:rPr sz="1050" b="0" i="0">
                          <a:solidFill>
                            <a:srgbClr val="000000"/>
                          </a:solidFill>
                          <a:latin typeface="Calibri"/>
                        </a:rPr>
                        <a:t>Figure 191: Global Market Technology Adoption Roadmap, 2021–2036</a:t>
                      </a:r>
                      <a:endParaRPr sz="1050"/>
                    </a:p>
                  </a:txBody>
                  <a:tcPr marL="9525" marR="9525" marT="9525" marB="0" anchor="ctr"/>
                </a:tc>
              </a:tr>
              <a:tr h="166688">
                <a:tc>
                  <a:txBody>
                    <a:bodyPr wrap="square"/>
                    <a:lstStyle/>
                    <a:p>
                      <a:pPr algn="l"/>
                      <a:r>
                        <a:rPr sz="1050" b="0" i="0">
                          <a:solidFill>
                            <a:srgbClr val="000000"/>
                          </a:solidFill>
                          <a:latin typeface="Calibri"/>
                        </a:rPr>
                        <a:t>Figure 192: Global Market Emerging Opportunity Pockets by Nature, US$ Mn, 2026–2036</a:t>
                      </a:r>
                      <a:endParaRPr sz="1050"/>
                    </a:p>
                  </a:txBody>
                  <a:tcPr marL="9525" marR="9525" marT="9525" marB="0" anchor="ctr"/>
                </a:tc>
              </a:tr>
              <a:tr h="166688">
                <a:tc>
                  <a:txBody>
                    <a:bodyPr wrap="square"/>
                    <a:lstStyle/>
                    <a:p>
                      <a:pPr algn="l"/>
                      <a:r>
                        <a:rPr sz="1050" b="0" i="0">
                          <a:solidFill>
                            <a:srgbClr val="000000"/>
                          </a:solidFill>
                          <a:latin typeface="Calibri"/>
                        </a:rPr>
                        <a:t>Figure 193: Global Market Risk and Sensitivity Analysis, %, 2026–2036</a:t>
                      </a:r>
                      <a:endParaRPr sz="1050"/>
                    </a:p>
                  </a:txBody>
                  <a:tcPr marL="9525" marR="9525" marT="9525" marB="0" anchor="ctr"/>
                </a:tc>
              </a:tr>
              <a:tr h="166688">
                <a:tc>
                  <a:txBody>
                    <a:bodyPr wrap="square"/>
                    <a:lstStyle/>
                    <a:p>
                      <a:pPr algn="l"/>
                      <a:r>
                        <a:rPr sz="1050" b="0" i="0">
                          <a:solidFill>
                            <a:srgbClr val="000000"/>
                          </a:solidFill>
                          <a:latin typeface="Calibri"/>
                        </a:rPr>
                        <a:t>Figure 194: Global Market Regulatory Landscape Timeline, 2021–2036</a:t>
                      </a:r>
                      <a:endParaRPr sz="1050"/>
                    </a:p>
                  </a:txBody>
                  <a:tcPr marL="9525" marR="9525" marT="9525" marB="0" anchor="ctr"/>
                </a:tc>
              </a:tr>
              <a:tr h="166688">
                <a:tc>
                  <a:txBody>
                    <a:bodyPr wrap="square"/>
                    <a:lstStyle/>
                    <a:p>
                      <a:pPr algn="l"/>
                      <a:r>
                        <a:rPr sz="1050" b="0" i="0">
                          <a:solidFill>
                            <a:srgbClr val="000000"/>
                          </a:solidFill>
                          <a:latin typeface="Calibri"/>
                        </a:rPr>
                        <a:t>Figure 195: Global Market Investment Hotspots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196: Global Market White-Space Opportunity Assessment, 2026–2036</a:t>
                      </a:r>
                      <a:endParaRPr sz="1050"/>
                    </a:p>
                  </a:txBody>
                  <a:tcPr marL="9525" marR="9525" marT="9525" marB="0" anchor="ctr"/>
                </a:tc>
              </a:tr>
              <a:tr h="166688">
                <a:tc>
                  <a:txBody>
                    <a:bodyPr wrap="square"/>
                    <a:lstStyle/>
                    <a:p>
                      <a:pPr algn="l"/>
                      <a:r>
                        <a:rPr sz="1050" b="0" i="0">
                          <a:solidFill>
                            <a:srgbClr val="000000"/>
                          </a:solidFill>
                          <a:latin typeface="Calibri"/>
                        </a:rPr>
                        <a:t>Figure 197: Global Market Customer Purchase Criteria Assessment, 2026</a:t>
                      </a:r>
                      <a:endParaRPr sz="1050"/>
                    </a:p>
                  </a:txBody>
                  <a:tcPr marL="9525" marR="9525" marT="9525" marB="0" anchor="ctr"/>
                </a:tc>
              </a:tr>
              <a:tr h="166688">
                <a:tc>
                  <a:txBody>
                    <a:bodyPr wrap="square"/>
                    <a:lstStyle/>
                    <a:p>
                      <a:pPr algn="l"/>
                      <a:r>
                        <a:rPr sz="1050" b="0" i="0">
                          <a:solidFill>
                            <a:srgbClr val="000000"/>
                          </a:solidFill>
                          <a:latin typeface="Calibri"/>
                        </a:rPr>
                        <a:t>Figure 198: Global Market Go-to-Market Priority by Region, 2026–2036</a:t>
                      </a:r>
                      <a:endParaRPr sz="1050"/>
                    </a:p>
                  </a:txBody>
                  <a:tcPr marL="9525" marR="9525" marT="9525" marB="0" anchor="ctr"/>
                </a:tc>
              </a:tr>
              <a:tr h="166688">
                <a:tc>
                  <a:txBody>
                    <a:bodyPr wrap="square"/>
                    <a:lstStyle/>
                    <a:p>
                      <a:pPr algn="l"/>
                      <a:r>
                        <a:rPr sz="1050" b="0" i="0">
                          <a:solidFill>
                            <a:srgbClr val="000000"/>
                          </a:solidFill>
                          <a:latin typeface="Calibri"/>
                        </a:rPr>
                        <a:t>Figure 199: Global Market Unmet Needs Analysis by Nature, 2026</a:t>
                      </a:r>
                      <a:endParaRPr sz="1050"/>
                    </a:p>
                  </a:txBody>
                  <a:tcPr marL="9525" marR="9525" marT="9525" marB="0" anchor="ctr"/>
                </a:tc>
              </a:tr>
              <a:tr h="166688">
                <a:tc>
                  <a:txBody>
                    <a:bodyPr wrap="square"/>
                    <a:lstStyle/>
                    <a:p>
                      <a:pPr algn="l"/>
                      <a:r>
                        <a:rPr sz="1050" b="0" i="0">
                          <a:solidFill>
                            <a:srgbClr val="000000"/>
                          </a:solidFill>
                          <a:latin typeface="Calibri"/>
                        </a:rPr>
                        <a:t>Figure 200: Global Market Right-to-Win Assessment, 2026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(1/4)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 Global Market Snapshot: Value, Volume and CAGR, US$ Mn, 2025–2036</a:t>
                      </a:r>
                      <a:endParaRPr sz="1050"/>
                    </a:p>
                  </a:txBody>
                  <a:tcPr marL="9525" marR="9525" marT="9525" marB="0" anchor="ctr"/>
                </a:tc>
              </a:tr>
              <a:tr h="169606">
                <a:tc>
                  <a:txBody>
                    <a:bodyPr wrap="square"/>
                    <a:lstStyle/>
                    <a:p>
                      <a:pPr algn="l"/>
                      <a:r>
                        <a:rPr sz="1050" b="0" i="0">
                          <a:solidFill>
                            <a:srgbClr val="000000"/>
                          </a:solidFill>
                          <a:latin typeface="Calibri"/>
                        </a:rPr>
                        <a:t>Table 2: Global Market Taxonomy by Segment, 2026</a:t>
                      </a:r>
                      <a:endParaRPr sz="1050"/>
                    </a:p>
                  </a:txBody>
                  <a:tcPr marL="9525" marR="9525" marT="9525" marB="0" anchor="ctr"/>
                </a:tc>
              </a:tr>
              <a:tr h="169606">
                <a:tc>
                  <a:txBody>
                    <a:bodyPr wrap="square"/>
                    <a:lstStyle/>
                    <a:p>
                      <a:pPr algn="l"/>
                      <a:r>
                        <a:rPr sz="1050" b="0" i="0">
                          <a:solidFill>
                            <a:srgbClr val="000000"/>
                          </a:solidFill>
                          <a:latin typeface="Calibri"/>
                        </a:rPr>
                        <a:t>Table 3: Global Market Scope: Inclusions and Exclusions by Segment, 2026</a:t>
                      </a:r>
                      <a:endParaRPr sz="1050"/>
                    </a:p>
                  </a:txBody>
                  <a:tcPr marL="9525" marR="9525" marT="9525" marB="0" anchor="ctr"/>
                </a:tc>
              </a:tr>
              <a:tr h="169606">
                <a:tc>
                  <a:txBody>
                    <a:bodyPr wrap="square"/>
                    <a:lstStyle/>
                    <a:p>
                      <a:pPr algn="l"/>
                      <a:r>
                        <a:rPr sz="1050" b="0" i="0">
                          <a:solidFill>
                            <a:srgbClr val="000000"/>
                          </a:solidFill>
                          <a:latin typeface="Calibri"/>
                        </a:rPr>
                        <a:t>Table 4: Global Market Key Demand Drivers and Impact Rating, 2026–2036</a:t>
                      </a:r>
                      <a:endParaRPr sz="1050"/>
                    </a:p>
                  </a:txBody>
                  <a:tcPr marL="9525" marR="9525" marT="9525" marB="0" anchor="ctr"/>
                </a:tc>
              </a:tr>
              <a:tr h="169606">
                <a:tc>
                  <a:txBody>
                    <a:bodyPr wrap="square"/>
                    <a:lstStyle/>
                    <a:p>
                      <a:pPr algn="l"/>
                      <a:r>
                        <a:rPr sz="1050" b="0" i="0">
                          <a:solidFill>
                            <a:srgbClr val="000000"/>
                          </a:solidFill>
                          <a:latin typeface="Calibri"/>
                        </a:rPr>
                        <a:t>Table 5: Global Market Key Restraints and Impact Rating, 2026–2036</a:t>
                      </a:r>
                      <a:endParaRPr sz="1050"/>
                    </a:p>
                  </a:txBody>
                  <a:tcPr marL="9525" marR="9525" marT="9525" marB="0" anchor="ctr"/>
                </a:tc>
              </a:tr>
              <a:tr h="169606">
                <a:tc>
                  <a:txBody>
                    <a:bodyPr wrap="square"/>
                    <a:lstStyle/>
                    <a:p>
                      <a:pPr algn="l"/>
                      <a:r>
                        <a:rPr sz="1050" b="0" i="0">
                          <a:solidFill>
                            <a:srgbClr val="000000"/>
                          </a:solidFill>
                          <a:latin typeface="Calibri"/>
                        </a:rPr>
                        <a:t>Table 6: Global Market Analyst Recommendations by Segment, 2026–2036</a:t>
                      </a:r>
                      <a:endParaRPr sz="1050"/>
                    </a:p>
                  </a:txBody>
                  <a:tcPr marL="9525" marR="9525" marT="9525" marB="0" anchor="ctr"/>
                </a:tc>
              </a:tr>
              <a:tr h="169606">
                <a:tc>
                  <a:txBody>
                    <a:bodyPr wrap="square"/>
                    <a:lstStyle/>
                    <a:p>
                      <a:pPr algn="l"/>
                      <a:r>
                        <a:rPr sz="1050" b="0" i="0">
                          <a:solidFill>
                            <a:srgbClr val="000000"/>
                          </a:solidFill>
                          <a:latin typeface="Calibri"/>
                        </a:rPr>
                        <a:t>Table 7: Global Market Key Market Signals and Data Points, 2026</a:t>
                      </a:r>
                      <a:endParaRPr sz="1050"/>
                    </a:p>
                  </a:txBody>
                  <a:tcPr marL="9525" marR="9525" marT="9525" marB="0" anchor="ctr"/>
                </a:tc>
              </a:tr>
              <a:tr h="169606">
                <a:tc>
                  <a:txBody>
                    <a:bodyPr wrap="square"/>
                    <a:lstStyle/>
                    <a:p>
                      <a:pPr algn="l"/>
                      <a:r>
                        <a:rPr sz="1050" b="0" i="0">
                          <a:solidFill>
                            <a:srgbClr val="000000"/>
                          </a:solidFill>
                          <a:latin typeface="Calibri"/>
                        </a:rPr>
                        <a:t>Table 8: Global Market Value and YoY Growth, US$ Mn and %, 2021–2036</a:t>
                      </a:r>
                      <a:endParaRPr sz="1050"/>
                    </a:p>
                  </a:txBody>
                  <a:tcPr marL="9525" marR="9525" marT="9525" marB="0" anchor="ctr"/>
                </a:tc>
              </a:tr>
              <a:tr h="169606">
                <a:tc>
                  <a:txBody>
                    <a:bodyPr wrap="square"/>
                    <a:lstStyle/>
                    <a:p>
                      <a:pPr algn="l"/>
                      <a:r>
                        <a:rPr sz="1050" b="0" i="0">
                          <a:solidFill>
                            <a:srgbClr val="000000"/>
                          </a:solidFill>
                          <a:latin typeface="Calibri"/>
                        </a:rPr>
                        <a:t>Table 9: Global Market Historical Value Analysis, US$ Mn, 2021–2025</a:t>
                      </a:r>
                      <a:endParaRPr sz="1050"/>
                    </a:p>
                  </a:txBody>
                  <a:tcPr marL="9525" marR="9525" marT="9525" marB="0" anchor="ctr"/>
                </a:tc>
              </a:tr>
              <a:tr h="169606">
                <a:tc>
                  <a:txBody>
                    <a:bodyPr wrap="square"/>
                    <a:lstStyle/>
                    <a:p>
                      <a:pPr algn="l"/>
                      <a:r>
                        <a:rPr sz="1050" b="0" i="0">
                          <a:solidFill>
                            <a:srgbClr val="000000"/>
                          </a:solidFill>
                          <a:latin typeface="Calibri"/>
                        </a:rPr>
                        <a:t>Table 10: Global Market Forecast Value Analysis, US$ Mn, 2026–2036</a:t>
                      </a:r>
                      <a:endParaRPr sz="1050"/>
                    </a:p>
                  </a:txBody>
                  <a:tcPr marL="9525" marR="9525" marT="9525" marB="0" anchor="ctr"/>
                </a:tc>
              </a:tr>
              <a:tr h="169606">
                <a:tc>
                  <a:txBody>
                    <a:bodyPr wrap="square"/>
                    <a:lstStyle/>
                    <a:p>
                      <a:pPr algn="l"/>
                      <a:r>
                        <a:rPr sz="1050" b="0" i="0">
                          <a:solidFill>
                            <a:srgbClr val="000000"/>
                          </a:solidFill>
                          <a:latin typeface="Calibri"/>
                        </a:rPr>
                        <a:t>Table 11: Global Market Volume and YoY Growth, MT and %, 2021–2036</a:t>
                      </a:r>
                      <a:endParaRPr sz="1050"/>
                    </a:p>
                  </a:txBody>
                  <a:tcPr marL="9525" marR="9525" marT="9525" marB="0" anchor="ctr"/>
                </a:tc>
              </a:tr>
              <a:tr h="169606">
                <a:tc>
                  <a:txBody>
                    <a:bodyPr wrap="square"/>
                    <a:lstStyle/>
                    <a:p>
                      <a:pPr algn="l"/>
                      <a:r>
                        <a:rPr sz="1050" b="0" i="0">
                          <a:solidFill>
                            <a:srgbClr val="000000"/>
                          </a:solidFill>
                          <a:latin typeface="Calibri"/>
                        </a:rPr>
                        <a:t>Table 12: Global Market Volume Forecast, MT, 2026–2036</a:t>
                      </a:r>
                      <a:endParaRPr sz="1050"/>
                    </a:p>
                  </a:txBody>
                  <a:tcPr marL="9525" marR="9525" marT="9525" marB="0" anchor="ctr"/>
                </a:tc>
              </a:tr>
              <a:tr h="169606">
                <a:tc>
                  <a:txBody>
                    <a:bodyPr wrap="square"/>
                    <a:lstStyle/>
                    <a:p>
                      <a:pPr algn="l"/>
                      <a:r>
                        <a:rPr sz="1050" b="0" i="0">
                          <a:solidFill>
                            <a:srgbClr val="000000"/>
                          </a:solidFill>
                          <a:latin typeface="Calibri"/>
                        </a:rPr>
                        <a:t>Table 13: Global Market Average Selling Price, US$/MT, 2021–2036</a:t>
                      </a:r>
                      <a:endParaRPr sz="1050"/>
                    </a:p>
                  </a:txBody>
                  <a:tcPr marL="9525" marR="9525" marT="9525" marB="0" anchor="ctr"/>
                </a:tc>
              </a:tr>
              <a:tr h="169606">
                <a:tc>
                  <a:txBody>
                    <a:bodyPr wrap="square"/>
                    <a:lstStyle/>
                    <a:p>
                      <a:pPr algn="l"/>
                      <a:r>
                        <a:rPr sz="1050" b="0" i="0">
                          <a:solidFill>
                            <a:srgbClr val="000000"/>
                          </a:solidFill>
                          <a:latin typeface="Calibri"/>
                        </a:rPr>
                        <a:t>Table 14: Global Market Average Selling Price YoY Change, %, 2026–2036</a:t>
                      </a:r>
                      <a:endParaRPr sz="1050"/>
                    </a:p>
                  </a:txBody>
                  <a:tcPr marL="9525" marR="9525" marT="9525" marB="0" anchor="ctr"/>
                </a:tc>
              </a:tr>
              <a:tr h="169606">
                <a:tc>
                  <a:txBody>
                    <a:bodyPr wrap="square"/>
                    <a:lstStyle/>
                    <a:p>
                      <a:pPr algn="l"/>
                      <a:r>
                        <a:rPr sz="1050" b="0" i="0">
                          <a:solidFill>
                            <a:srgbClr val="000000"/>
                          </a:solidFill>
                          <a:latin typeface="Calibri"/>
                        </a:rPr>
                        <a:t>Table 15: Global Market CAGR and Absolute $ Opportunity, %, US$ Mn, 2026–2036</a:t>
                      </a:r>
                      <a:endParaRPr sz="1050"/>
                    </a:p>
                  </a:txBody>
                  <a:tcPr marL="9525" marR="9525" marT="9525" marB="0" anchor="ctr"/>
                </a:tc>
              </a:tr>
              <a:tr h="169606">
                <a:tc>
                  <a:txBody>
                    <a:bodyPr wrap="square"/>
                    <a:lstStyle/>
                    <a:p>
                      <a:pPr algn="l"/>
                      <a:r>
                        <a:rPr sz="1050" b="0" i="0">
                          <a:solidFill>
                            <a:srgbClr val="000000"/>
                          </a:solidFill>
                          <a:latin typeface="Calibri"/>
                        </a:rPr>
                        <a:t>Table 16: Global Market Absolute $ Opportunity by Year, US$ Mn, 2026–2036</a:t>
                      </a:r>
                      <a:endParaRPr sz="1050"/>
                    </a:p>
                  </a:txBody>
                  <a:tcPr marL="9525" marR="9525" marT="9525" marB="0" anchor="ctr"/>
                </a:tc>
              </a:tr>
              <a:tr h="169606">
                <a:tc>
                  <a:txBody>
                    <a:bodyPr wrap="square"/>
                    <a:lstStyle/>
                    <a:p>
                      <a:pPr algn="l"/>
                      <a:r>
                        <a:rPr sz="1050" b="0" i="0">
                          <a:solidFill>
                            <a:srgbClr val="000000"/>
                          </a:solidFill>
                          <a:latin typeface="Calibri"/>
                        </a:rPr>
                        <a:t>Table 17: Global Market Value by Scenario (Optimistic, Likely, Pessimistic), US$ Mn, 2026–2036</a:t>
                      </a:r>
                      <a:endParaRPr sz="1050"/>
                    </a:p>
                  </a:txBody>
                  <a:tcPr marL="9525" marR="9525" marT="9525" marB="0" anchor="ctr"/>
                </a:tc>
              </a:tr>
              <a:tr h="169606">
                <a:tc>
                  <a:txBody>
                    <a:bodyPr wrap="square"/>
                    <a:lstStyle/>
                    <a:p>
                      <a:pPr algn="l"/>
                      <a:r>
                        <a:rPr sz="1050" b="0" i="0">
                          <a:solidFill>
                            <a:srgbClr val="000000"/>
                          </a:solidFill>
                          <a:latin typeface="Calibri"/>
                        </a:rPr>
                        <a:t>Table 18: Global Market Scenario CAGR Comparison, %, 2026–2036</a:t>
                      </a:r>
                      <a:endParaRPr sz="1050"/>
                    </a:p>
                  </a:txBody>
                  <a:tcPr marL="9525" marR="9525" marT="9525" marB="0" anchor="ctr"/>
                </a:tc>
              </a:tr>
              <a:tr h="169606">
                <a:tc>
                  <a:txBody>
                    <a:bodyPr wrap="square"/>
                    <a:lstStyle/>
                    <a:p>
                      <a:pPr algn="l"/>
                      <a:r>
                        <a:rPr sz="1050" b="0" i="0">
                          <a:solidFill>
                            <a:srgbClr val="000000"/>
                          </a:solidFill>
                          <a:latin typeface="Calibri"/>
                        </a:rPr>
                        <a:t>Table 19: Global Market Historical vs Forecast Growth Comparison, %, 2021–2036</a:t>
                      </a:r>
                      <a:endParaRPr sz="1050"/>
                    </a:p>
                  </a:txBody>
                  <a:tcPr marL="9525" marR="9525" marT="9525" marB="0" anchor="ctr"/>
                </a:tc>
              </a:tr>
              <a:tr h="169606">
                <a:tc>
                  <a:txBody>
                    <a:bodyPr wrap="square"/>
                    <a:lstStyle/>
                    <a:p>
                      <a:pPr algn="l"/>
                      <a:r>
                        <a:rPr sz="1050" b="0" i="0">
                          <a:solidFill>
                            <a:srgbClr val="000000"/>
                          </a:solidFill>
                          <a:latin typeface="Calibri"/>
                        </a:rPr>
                        <a:t>Table 20: Global Market Value by Nature, US$ Mn, 2021–2036</a:t>
                      </a:r>
                      <a:endParaRPr sz="1050"/>
                    </a:p>
                  </a:txBody>
                  <a:tcPr marL="9525" marR="9525" marT="9525" marB="0" anchor="ctr"/>
                </a:tc>
              </a:tr>
              <a:tr h="169606">
                <a:tc>
                  <a:txBody>
                    <a:bodyPr wrap="square"/>
                    <a:lstStyle/>
                    <a:p>
                      <a:pPr algn="l"/>
                      <a:r>
                        <a:rPr sz="1050" b="0" i="0">
                          <a:solidFill>
                            <a:srgbClr val="000000"/>
                          </a:solidFill>
                          <a:latin typeface="Calibri"/>
                        </a:rPr>
                        <a:t>Table 21: Global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22: Global Market Value by Form, US$ Mn, 2021–2036</a:t>
                      </a:r>
                      <a:endParaRPr sz="1050"/>
                    </a:p>
                  </a:txBody>
                  <a:tcPr marL="9525" marR="9525" marT="9525" marB="0" anchor="ctr"/>
                </a:tc>
              </a:tr>
              <a:tr h="169606">
                <a:tc>
                  <a:txBody>
                    <a:bodyPr wrap="square"/>
                    <a:lstStyle/>
                    <a:p>
                      <a:pPr algn="l"/>
                      <a:r>
                        <a:rPr sz="1050" b="0" i="0">
                          <a:solidFill>
                            <a:srgbClr val="000000"/>
                          </a:solidFill>
                          <a:latin typeface="Calibri"/>
                        </a:rPr>
                        <a:t>Table 23: Global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24: Global Market Value by Packaging Type, US$ Mn, 2021–2036</a:t>
                      </a:r>
                      <a:endParaRPr sz="1050"/>
                    </a:p>
                  </a:txBody>
                  <a:tcPr marL="9525" marR="9525" marT="9525" marB="0" anchor="ctr"/>
                </a:tc>
              </a:tr>
              <a:tr h="169606">
                <a:tc>
                  <a:txBody>
                    <a:bodyPr wrap="square"/>
                    <a:lstStyle/>
                    <a:p>
                      <a:pPr algn="l"/>
                      <a:r>
                        <a:rPr sz="1050" b="0" i="0">
                          <a:solidFill>
                            <a:srgbClr val="000000"/>
                          </a:solidFill>
                          <a:latin typeface="Calibri"/>
                        </a:rPr>
                        <a:t>Table 25: Global Market Value by Grade Type, US$ Mn, 2021–2036</a:t>
                      </a:r>
                      <a:endParaRPr sz="1050"/>
                    </a:p>
                  </a:txBody>
                  <a:tcPr marL="9525" marR="9525" marT="9525" marB="0" anchor="ctr"/>
                </a:tc>
              </a:tr>
              <a:tr h="169606">
                <a:tc>
                  <a:txBody>
                    <a:bodyPr wrap="square"/>
                    <a:lstStyle/>
                    <a:p>
                      <a:pPr algn="l"/>
                      <a:r>
                        <a:rPr sz="1050" b="0" i="0">
                          <a:solidFill>
                            <a:srgbClr val="000000"/>
                          </a:solidFill>
                          <a:latin typeface="Calibri"/>
                        </a:rPr>
                        <a:t>Table 26: Global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27: Global Market Value by Distribution Channel, US$ Mn, 2021–2036</a:t>
                      </a:r>
                      <a:endParaRPr sz="1050"/>
                    </a:p>
                  </a:txBody>
                  <a:tcPr marL="9525" marR="9525" marT="9525" marB="0" anchor="ctr"/>
                </a:tc>
              </a:tr>
              <a:tr h="169606">
                <a:tc>
                  <a:txBody>
                    <a:bodyPr wrap="square"/>
                    <a:lstStyle/>
                    <a:p>
                      <a:pPr algn="l"/>
                      <a:r>
                        <a:rPr sz="1050" b="0" i="0">
                          <a:solidFill>
                            <a:srgbClr val="000000"/>
                          </a:solidFill>
                          <a:latin typeface="Calibri"/>
                        </a:rPr>
                        <a:t>Table 28: Global Market CAGR and Absolute $ Opportunity by Nature, %, US$ Mn, 2026–2036</a:t>
                      </a:r>
                      <a:endParaRPr sz="1050"/>
                    </a:p>
                  </a:txBody>
                  <a:tcPr marL="9525" marR="9525" marT="9525" marB="0" anchor="ctr"/>
                </a:tc>
              </a:tr>
              <a:tr h="169606">
                <a:tc>
                  <a:txBody>
                    <a:bodyPr wrap="square"/>
                    <a:lstStyle/>
                    <a:p>
                      <a:pPr algn="l"/>
                      <a:r>
                        <a:rPr sz="1050" b="0" i="0">
                          <a:solidFill>
                            <a:srgbClr val="000000"/>
                          </a:solidFill>
                          <a:latin typeface="Calibri"/>
                        </a:rPr>
                        <a:t>Table 29: Global Market CAGR and Absolute $ Opportunity by Product Type, %, US$ Mn, 2026–2036</a:t>
                      </a:r>
                      <a:endParaRPr sz="1050"/>
                    </a:p>
                  </a:txBody>
                  <a:tcPr marL="9525" marR="9525" marT="9525" marB="0" anchor="ctr"/>
                </a:tc>
              </a:tr>
              <a:tr h="169606">
                <a:tc>
                  <a:txBody>
                    <a:bodyPr wrap="square"/>
                    <a:lstStyle/>
                    <a:p>
                      <a:pPr algn="l"/>
                      <a:r>
                        <a:rPr sz="1050" b="0" i="0">
                          <a:solidFill>
                            <a:srgbClr val="000000"/>
                          </a:solidFill>
                          <a:latin typeface="Calibri"/>
                        </a:rPr>
                        <a:t>Table 30: Global Market CAGR and Absolute $ Opportunity by Form, %, US$ Mn, 2026–2036</a:t>
                      </a:r>
                      <a:endParaRPr sz="1050"/>
                    </a:p>
                  </a:txBody>
                  <a:tcPr marL="9525" marR="9525" marT="9525" marB="0" anchor="ctr"/>
                </a:tc>
              </a:tr>
              <a:tr h="169606">
                <a:tc>
                  <a:txBody>
                    <a:bodyPr wrap="square"/>
                    <a:lstStyle/>
                    <a:p>
                      <a:pPr algn="l"/>
                      <a:r>
                        <a:rPr sz="1050" b="0" i="0">
                          <a:solidFill>
                            <a:srgbClr val="000000"/>
                          </a:solidFill>
                          <a:latin typeface="Calibri"/>
                        </a:rPr>
                        <a:t>Table 31: Global Market CAGR and Absolute $ Opportunity by Flavour, %,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32: Global Market CAGR and Absolute $ Opportunity by Packaging Type, %, US$ Mn, 2026–2036</a:t>
                      </a:r>
                      <a:endParaRPr sz="1050"/>
                    </a:p>
                  </a:txBody>
                  <a:tcPr marL="9525" marR="9525" marT="9525" marB="0" anchor="ctr"/>
                </a:tc>
              </a:tr>
              <a:tr h="169826">
                <a:tc>
                  <a:txBody>
                    <a:bodyPr wrap="square"/>
                    <a:lstStyle/>
                    <a:p>
                      <a:pPr algn="l"/>
                      <a:r>
                        <a:rPr sz="1050" b="0" i="0">
                          <a:solidFill>
                            <a:srgbClr val="000000"/>
                          </a:solidFill>
                          <a:latin typeface="Calibri"/>
                        </a:rPr>
                        <a:t>Table 33: Global Market CAGR and Absolute $ Opportunity by Grade Type, %, US$ Mn, 2026–2036</a:t>
                      </a:r>
                      <a:endParaRPr sz="1050"/>
                    </a:p>
                  </a:txBody>
                  <a:tcPr marL="9525" marR="9525" marT="9525" marB="0" anchor="ctr"/>
                </a:tc>
              </a:tr>
              <a:tr h="169826">
                <a:tc>
                  <a:txBody>
                    <a:bodyPr wrap="square"/>
                    <a:lstStyle/>
                    <a:p>
                      <a:pPr algn="l"/>
                      <a:r>
                        <a:rPr sz="1050" b="0" i="0">
                          <a:solidFill>
                            <a:srgbClr val="000000"/>
                          </a:solidFill>
                          <a:latin typeface="Calibri"/>
                        </a:rPr>
                        <a:t>Table 34: Global Market CAGR and Absolute $ Opportunity by Application, %, US$ Mn, 2026–2036</a:t>
                      </a:r>
                      <a:endParaRPr sz="1050"/>
                    </a:p>
                  </a:txBody>
                  <a:tcPr marL="9525" marR="9525" marT="9525" marB="0" anchor="ctr"/>
                </a:tc>
              </a:tr>
              <a:tr h="332858">
                <a:tc>
                  <a:txBody>
                    <a:bodyPr wrap="square"/>
                    <a:lstStyle/>
                    <a:p>
                      <a:pPr algn="l"/>
                      <a:r>
                        <a:rPr sz="1050" b="0" i="0">
                          <a:solidFill>
                            <a:srgbClr val="000000"/>
                          </a:solidFill>
                          <a:latin typeface="Calibri"/>
                        </a:rPr>
                        <a:t>Table 35: Global Market CAGR and Absolute $ Opportunity by Distribution Channel, %, US$ Mn, 2026–2036</a:t>
                      </a:r>
                      <a:endParaRPr sz="1050"/>
                    </a:p>
                  </a:txBody>
                  <a:tcPr marL="9525" marR="9525" marT="9525" marB="0" anchor="ctr"/>
                </a:tc>
              </a:tr>
              <a:tr h="169826">
                <a:tc>
                  <a:txBody>
                    <a:bodyPr wrap="square"/>
                    <a:lstStyle/>
                    <a:p>
                      <a:pPr algn="l"/>
                      <a:r>
                        <a:rPr sz="1050" b="0" i="0">
                          <a:solidFill>
                            <a:srgbClr val="000000"/>
                          </a:solidFill>
                          <a:latin typeface="Calibri"/>
                        </a:rPr>
                        <a:t>Table 36: Global Market Share and BPS Change by Nature, %, 2025, 2026 and 2036</a:t>
                      </a:r>
                      <a:endParaRPr sz="1050"/>
                    </a:p>
                  </a:txBody>
                  <a:tcPr marL="9525" marR="9525" marT="9525" marB="0" anchor="ctr"/>
                </a:tc>
              </a:tr>
              <a:tr h="169826">
                <a:tc>
                  <a:txBody>
                    <a:bodyPr wrap="square"/>
                    <a:lstStyle/>
                    <a:p>
                      <a:pPr algn="l"/>
                      <a:r>
                        <a:rPr sz="1050" b="0" i="0">
                          <a:solidFill>
                            <a:srgbClr val="000000"/>
                          </a:solidFill>
                          <a:latin typeface="Calibri"/>
                        </a:rPr>
                        <a:t>Table 37: Global Market Share and BPS Change by Product Type,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38: Global Market Share and BPS Change by Form, %, 2025, 2026 and 2036</a:t>
                      </a:r>
                      <a:endParaRPr sz="1050"/>
                    </a:p>
                  </a:txBody>
                  <a:tcPr marL="9525" marR="9525" marT="9525" marB="0" anchor="ctr"/>
                </a:tc>
              </a:tr>
              <a:tr h="169826">
                <a:tc>
                  <a:txBody>
                    <a:bodyPr wrap="square"/>
                    <a:lstStyle/>
                    <a:p>
                      <a:pPr algn="l"/>
                      <a:r>
                        <a:rPr sz="1050" b="0" i="0">
                          <a:solidFill>
                            <a:srgbClr val="000000"/>
                          </a:solidFill>
                          <a:latin typeface="Calibri"/>
                        </a:rPr>
                        <a:t>Table 39: Global Market Share and BPS Change by Flavour, %, 2025, 2026 and 2036</a:t>
                      </a:r>
                      <a:endParaRPr sz="1050"/>
                    </a:p>
                  </a:txBody>
                  <a:tcPr marL="9525" marR="9525" marT="9525" marB="0" anchor="ctr"/>
                </a:tc>
              </a:tr>
              <a:tr h="169826">
                <a:tc>
                  <a:txBody>
                    <a:bodyPr wrap="square"/>
                    <a:lstStyle/>
                    <a:p>
                      <a:pPr algn="l"/>
                      <a:r>
                        <a:rPr sz="1050" b="0" i="0">
                          <a:solidFill>
                            <a:srgbClr val="000000"/>
                          </a:solidFill>
                          <a:latin typeface="Calibri"/>
                        </a:rPr>
                        <a:t>Table 40: Global Market Share and BPS Change by Packaging Type,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41: Global Market Share and BPS Change by Grade Type, %, 2025, 2026 and 2036</a:t>
                      </a:r>
                      <a:endParaRPr sz="1050"/>
                    </a:p>
                  </a:txBody>
                  <a:tcPr marL="9525" marR="9525" marT="9525" marB="0" anchor="ctr"/>
                </a:tc>
              </a:tr>
              <a:tr h="169826">
                <a:tc>
                  <a:txBody>
                    <a:bodyPr wrap="square"/>
                    <a:lstStyle/>
                    <a:p>
                      <a:pPr algn="l"/>
                      <a:r>
                        <a:rPr sz="1050" b="0" i="0">
                          <a:solidFill>
                            <a:srgbClr val="000000"/>
                          </a:solidFill>
                          <a:latin typeface="Calibri"/>
                        </a:rPr>
                        <a:t>Table 42: Global Market Share and BPS Change by Application, %, 2025, 2026 and 2036</a:t>
                      </a:r>
                      <a:endParaRPr sz="1050"/>
                    </a:p>
                  </a:txBody>
                  <a:tcPr marL="9525" marR="9525" marT="9525" marB="0" anchor="ctr"/>
                </a:tc>
              </a:tr>
              <a:tr h="169826">
                <a:tc>
                  <a:txBody>
                    <a:bodyPr wrap="square"/>
                    <a:lstStyle/>
                    <a:p>
                      <a:pPr algn="l"/>
                      <a:r>
                        <a:rPr sz="1050" b="0" i="0">
                          <a:solidFill>
                            <a:srgbClr val="000000"/>
                          </a:solidFill>
                          <a:latin typeface="Calibri"/>
                        </a:rPr>
                        <a:t>Table 43: Global Market Share and BPS Change by Distribution Channel, %, 2025, 2026 and 2036</a:t>
                      </a:r>
                      <a:endParaRPr sz="1050"/>
                    </a:p>
                  </a:txBody>
                  <a:tcPr marL="9525" marR="9525" marT="9525" marB="0" anchor="ctr"/>
                </a:tc>
              </a:tr>
              <a:tr h="169826">
                <a:tc>
                  <a:txBody>
                    <a:bodyPr wrap="square"/>
                    <a:lstStyle/>
                    <a:p>
                      <a:pPr algn="l"/>
                      <a:r>
                        <a:rPr sz="1050" b="0" i="0">
                          <a:solidFill>
                            <a:srgbClr val="000000"/>
                          </a:solidFill>
                          <a:latin typeface="Calibri"/>
                        </a:rPr>
                        <a:t>Table 44: Global Market YoY Growth by Nature, %, 2026–2036</a:t>
                      </a:r>
                      <a:endParaRPr sz="1050"/>
                    </a:p>
                  </a:txBody>
                  <a:tcPr marL="9525" marR="9525" marT="9525" marB="0" anchor="ctr"/>
                </a:tc>
              </a:tr>
              <a:tr h="169826">
                <a:tc>
                  <a:txBody>
                    <a:bodyPr wrap="square"/>
                    <a:lstStyle/>
                    <a:p>
                      <a:pPr algn="l"/>
                      <a:r>
                        <a:rPr sz="1050" b="0" i="0">
                          <a:solidFill>
                            <a:srgbClr val="000000"/>
                          </a:solidFill>
                          <a:latin typeface="Calibri"/>
                        </a:rPr>
                        <a:t>Table 45: Global Market YoY Growth by Product Type, %, 2026–2036</a:t>
                      </a:r>
                      <a:endParaRPr sz="1050"/>
                    </a:p>
                  </a:txBody>
                  <a:tcPr marL="9525" marR="9525" marT="9525" marB="0" anchor="ctr"/>
                </a:tc>
              </a:tr>
              <a:tr h="169826">
                <a:tc>
                  <a:txBody>
                    <a:bodyPr wrap="square"/>
                    <a:lstStyle/>
                    <a:p>
                      <a:pPr algn="l"/>
                      <a:r>
                        <a:rPr sz="1050" b="0" i="0">
                          <a:solidFill>
                            <a:srgbClr val="000000"/>
                          </a:solidFill>
                          <a:latin typeface="Calibri"/>
                        </a:rPr>
                        <a:t>Table 46: Global Market YoY Growth by Form, %, 2026–2036</a:t>
                      </a:r>
                      <a:endParaRPr sz="1050"/>
                    </a:p>
                  </a:txBody>
                  <a:tcPr marL="9525" marR="9525" marT="9525" marB="0" anchor="ctr"/>
                </a:tc>
              </a:tr>
              <a:tr h="169826">
                <a:tc>
                  <a:txBody>
                    <a:bodyPr wrap="square"/>
                    <a:lstStyle/>
                    <a:p>
                      <a:pPr algn="l"/>
                      <a:r>
                        <a:rPr sz="1050" b="0" i="0">
                          <a:solidFill>
                            <a:srgbClr val="000000"/>
                          </a:solidFill>
                          <a:latin typeface="Calibri"/>
                        </a:rPr>
                        <a:t>Table 47: Global Market YoY Growth by Flavour, %, 2026–2036</a:t>
                      </a:r>
                      <a:endParaRPr sz="1050"/>
                    </a:p>
                  </a:txBody>
                  <a:tcPr marL="9525" marR="9525" marT="9525" marB="0" anchor="ctr"/>
                </a:tc>
              </a:tr>
              <a:tr h="169826">
                <a:tc>
                  <a:txBody>
                    <a:bodyPr wrap="square"/>
                    <a:lstStyle/>
                    <a:p>
                      <a:pPr algn="l"/>
                      <a:r>
                        <a:rPr sz="1050" b="0" i="0">
                          <a:solidFill>
                            <a:srgbClr val="000000"/>
                          </a:solidFill>
                          <a:latin typeface="Calibri"/>
                        </a:rPr>
                        <a:t>Table 48: Global Market YoY Growth by Packaging Type, %, 2026–2036</a:t>
                      </a:r>
                      <a:endParaRPr sz="1050"/>
                    </a:p>
                  </a:txBody>
                  <a:tcPr marL="9525" marR="9525" marT="9525" marB="0" anchor="ctr"/>
                </a:tc>
              </a:tr>
              <a:tr h="169826">
                <a:tc>
                  <a:txBody>
                    <a:bodyPr wrap="square"/>
                    <a:lstStyle/>
                    <a:p>
                      <a:pPr algn="l"/>
                      <a:r>
                        <a:rPr sz="1050" b="0" i="0">
                          <a:solidFill>
                            <a:srgbClr val="000000"/>
                          </a:solidFill>
                          <a:latin typeface="Calibri"/>
                        </a:rPr>
                        <a:t>Table 49: Global Market YoY Growth by Grade Type, %, 2026–2036</a:t>
                      </a:r>
                      <a:endParaRPr sz="1050"/>
                    </a:p>
                  </a:txBody>
                  <a:tcPr marL="9525" marR="9525" marT="9525" marB="0" anchor="ctr"/>
                </a:tc>
              </a:tr>
              <a:tr h="169826">
                <a:tc>
                  <a:txBody>
                    <a:bodyPr wrap="square"/>
                    <a:lstStyle/>
                    <a:p>
                      <a:pPr algn="l"/>
                      <a:r>
                        <a:rPr sz="1050" b="0" i="0">
                          <a:solidFill>
                            <a:srgbClr val="000000"/>
                          </a:solidFill>
                          <a:latin typeface="Calibri"/>
                        </a:rPr>
                        <a:t>Table 50: Global Market YoY Growth by Application, %, 2026–2036</a:t>
                      </a:r>
                      <a:endParaRPr sz="1050"/>
                    </a:p>
                  </a:txBody>
                  <a:tcPr marL="9525" marR="9525" marT="9525" marB="0" anchor="ctr"/>
                </a:tc>
              </a:tr>
              <a:tr h="169826">
                <a:tc>
                  <a:txBody>
                    <a:bodyPr wrap="square"/>
                    <a:lstStyle/>
                    <a:p>
                      <a:pPr algn="l"/>
                      <a:r>
                        <a:rPr sz="1050" b="0" i="0">
                          <a:solidFill>
                            <a:srgbClr val="000000"/>
                          </a:solidFill>
                          <a:latin typeface="Calibri"/>
                        </a:rPr>
                        <a:t>Table 51: Global Market YoY Growth by Distribution Channel, %, 2026–2036</a:t>
                      </a:r>
                      <a:endParaRPr sz="1050"/>
                    </a:p>
                  </a:txBody>
                  <a:tcPr marL="9525" marR="9525" marT="9525" marB="0" anchor="ctr"/>
                </a:tc>
              </a:tr>
              <a:tr h="169826">
                <a:tc>
                  <a:txBody>
                    <a:bodyPr wrap="square"/>
                    <a:lstStyle/>
                    <a:p>
                      <a:pPr algn="l"/>
                      <a:r>
                        <a:rPr sz="1050" b="0" i="0">
                          <a:solidFill>
                            <a:srgbClr val="000000"/>
                          </a:solidFill>
                          <a:latin typeface="Calibri"/>
                        </a:rPr>
                        <a:t>Table 52: Global Market Volume by Nature, MT, 2021–2036</a:t>
                      </a:r>
                      <a:endParaRPr sz="1050"/>
                    </a:p>
                  </a:txBody>
                  <a:tcPr marL="9525" marR="9525" marT="9525" marB="0" anchor="ctr"/>
                </a:tc>
              </a:tr>
              <a:tr h="169826">
                <a:tc>
                  <a:txBody>
                    <a:bodyPr wrap="square"/>
                    <a:lstStyle/>
                    <a:p>
                      <a:pPr algn="l"/>
                      <a:r>
                        <a:rPr sz="1050" b="0" i="0">
                          <a:solidFill>
                            <a:srgbClr val="000000"/>
                          </a:solidFill>
                          <a:latin typeface="Calibri"/>
                        </a:rPr>
                        <a:t>Table 53: Global Market Volume by Product Type, MT, 2021–2036</a:t>
                      </a:r>
                      <a:endParaRPr sz="1050"/>
                    </a:p>
                  </a:txBody>
                  <a:tcPr marL="9525" marR="9525" marT="9525" marB="0" anchor="ctr"/>
                </a:tc>
              </a:tr>
              <a:tr h="169826">
                <a:tc>
                  <a:txBody>
                    <a:bodyPr wrap="square"/>
                    <a:lstStyle/>
                    <a:p>
                      <a:pPr algn="l"/>
                      <a:r>
                        <a:rPr sz="1050" b="0" i="0">
                          <a:solidFill>
                            <a:srgbClr val="000000"/>
                          </a:solidFill>
                          <a:latin typeface="Calibri"/>
                        </a:rPr>
                        <a:t>Table 54: Global Market Volume by Form, MT, 2021–2036</a:t>
                      </a:r>
                      <a:endParaRPr sz="1050"/>
                    </a:p>
                  </a:txBody>
                  <a:tcPr marL="9525" marR="9525" marT="9525" marB="0" anchor="ctr"/>
                </a:tc>
              </a:tr>
              <a:tr h="169826">
                <a:tc>
                  <a:txBody>
                    <a:bodyPr wrap="square"/>
                    <a:lstStyle/>
                    <a:p>
                      <a:pPr algn="l"/>
                      <a:r>
                        <a:rPr sz="1050" b="0" i="0">
                          <a:solidFill>
                            <a:srgbClr val="000000"/>
                          </a:solidFill>
                          <a:latin typeface="Calibri"/>
                        </a:rPr>
                        <a:t>Table 55: Global Market Volume by Flavour, MT, 2021–2036</a:t>
                      </a:r>
                      <a:endParaRPr sz="1050"/>
                    </a:p>
                  </a:txBody>
                  <a:tcPr marL="9525" marR="9525" marT="9525" marB="0" anchor="ctr"/>
                </a:tc>
              </a:tr>
              <a:tr h="169826">
                <a:tc>
                  <a:txBody>
                    <a:bodyPr wrap="square"/>
                    <a:lstStyle/>
                    <a:p>
                      <a:pPr algn="l"/>
                      <a:r>
                        <a:rPr sz="1050" b="0" i="0">
                          <a:solidFill>
                            <a:srgbClr val="000000"/>
                          </a:solidFill>
                          <a:latin typeface="Calibri"/>
                        </a:rPr>
                        <a:t>Table 56: Global Market Volume by Packaging Type, MT, 2021–2036</a:t>
                      </a:r>
                      <a:endParaRPr sz="1050"/>
                    </a:p>
                  </a:txBody>
                  <a:tcPr marL="9525" marR="9525" marT="9525" marB="0" anchor="ctr"/>
                </a:tc>
              </a:tr>
              <a:tr h="169826">
                <a:tc>
                  <a:txBody>
                    <a:bodyPr wrap="square"/>
                    <a:lstStyle/>
                    <a:p>
                      <a:pPr algn="l"/>
                      <a:r>
                        <a:rPr sz="1050" b="0" i="0">
                          <a:solidFill>
                            <a:srgbClr val="000000"/>
                          </a:solidFill>
                          <a:latin typeface="Calibri"/>
                        </a:rPr>
                        <a:t>Table 57: Global Market Volume by Grade Type, MT, 2021–2036</a:t>
                      </a:r>
                      <a:endParaRPr sz="1050"/>
                    </a:p>
                  </a:txBody>
                  <a:tcPr marL="9525" marR="9525" marT="9525" marB="0" anchor="ctr"/>
                </a:tc>
              </a:tr>
              <a:tr h="169826">
                <a:tc>
                  <a:txBody>
                    <a:bodyPr wrap="square"/>
                    <a:lstStyle/>
                    <a:p>
                      <a:pPr algn="l"/>
                      <a:r>
                        <a:rPr sz="1050" b="0" i="0">
                          <a:solidFill>
                            <a:srgbClr val="000000"/>
                          </a:solidFill>
                          <a:latin typeface="Calibri"/>
                        </a:rPr>
                        <a:t>Table 58: Global Market Volume by Application, MT, 2021–2036</a:t>
                      </a:r>
                      <a:endParaRPr sz="1050"/>
                    </a:p>
                  </a:txBody>
                  <a:tcPr marL="9525" marR="9525" marT="9525" marB="0" anchor="ctr"/>
                </a:tc>
              </a:tr>
              <a:tr h="169826">
                <a:tc>
                  <a:txBody>
                    <a:bodyPr wrap="square"/>
                    <a:lstStyle/>
                    <a:p>
                      <a:pPr algn="l"/>
                      <a:r>
                        <a:rPr sz="1050" b="0" i="0">
                          <a:solidFill>
                            <a:srgbClr val="000000"/>
                          </a:solidFill>
                          <a:latin typeface="Calibri"/>
                        </a:rPr>
                        <a:t>Table 59: Global Market Volume by Distribution Channel, MT, 2021–2036</a:t>
                      </a:r>
                      <a:endParaRPr sz="1050"/>
                    </a:p>
                  </a:txBody>
                  <a:tcPr marL="9525" marR="9525" marT="9525" marB="0" anchor="ctr"/>
                </a:tc>
              </a:tr>
              <a:tr h="169826">
                <a:tc>
                  <a:txBody>
                    <a:bodyPr wrap="square"/>
                    <a:lstStyle/>
                    <a:p>
                      <a:pPr algn="l"/>
                      <a:r>
                        <a:rPr sz="1050" b="0" i="0">
                          <a:solidFill>
                            <a:srgbClr val="000000"/>
                          </a:solidFill>
                          <a:latin typeface="Calibri"/>
                        </a:rPr>
                        <a:t>Table 60: Global Market Average Selling Price by Nature, US$/MT, 2021–2036</a:t>
                      </a:r>
                      <a:endParaRPr sz="1050"/>
                    </a:p>
                  </a:txBody>
                  <a:tcPr marL="9525" marR="9525" marT="9525" marB="0" anchor="ctr"/>
                </a:tc>
              </a:tr>
              <a:tr h="169826">
                <a:tc>
                  <a:txBody>
                    <a:bodyPr wrap="square"/>
                    <a:lstStyle/>
                    <a:p>
                      <a:pPr algn="l"/>
                      <a:r>
                        <a:rPr sz="1050" b="0" i="0">
                          <a:solidFill>
                            <a:srgbClr val="000000"/>
                          </a:solidFill>
                          <a:latin typeface="Calibri"/>
                        </a:rPr>
                        <a:t>Table 61: Global Market Average Selling Price by Product Type, US$/MT, 2021–2036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(2/4)</a:t>
            </a:r>
          </a:p>
        </p:txBody>
      </p:sp>
      <p:graphicFrame>
        <p:nvGraphicFramePr>
          <p:cNvPr id="9" name="FMI Contents Table"/>
          <p:cNvGraphicFramePr>
            <a:graphicFrameLocks noGrp="1"/>
          </p:cNvGraphicFramePr>
          <p:nvPr/>
        </p:nvGraphicFramePr>
        <p:xfrm>
          <a:off x="142875"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62: Global Market Average Selling Price by Form, US$/MT, 2021–2036</a:t>
                      </a:r>
                      <a:endParaRPr sz="1050"/>
                    </a:p>
                  </a:txBody>
                  <a:tcPr marL="9525" marR="9525" marT="9525" marB="0" anchor="ctr"/>
                </a:tc>
              </a:tr>
              <a:tr h="169606">
                <a:tc>
                  <a:txBody>
                    <a:bodyPr wrap="square"/>
                    <a:lstStyle/>
                    <a:p>
                      <a:pPr algn="l"/>
                      <a:r>
                        <a:rPr sz="1050" b="0" i="0">
                          <a:solidFill>
                            <a:srgbClr val="000000"/>
                          </a:solidFill>
                          <a:latin typeface="Calibri"/>
                        </a:rPr>
                        <a:t>Table 63: Global Market Average Selling Price by Flavour, US$/MT, 2021–2036</a:t>
                      </a:r>
                      <a:endParaRPr sz="1050"/>
                    </a:p>
                  </a:txBody>
                  <a:tcPr marL="9525" marR="9525" marT="9525" marB="0" anchor="ctr"/>
                </a:tc>
              </a:tr>
              <a:tr h="169606">
                <a:tc>
                  <a:txBody>
                    <a:bodyPr wrap="square"/>
                    <a:lstStyle/>
                    <a:p>
                      <a:pPr algn="l"/>
                      <a:r>
                        <a:rPr sz="1050" b="0" i="0">
                          <a:solidFill>
                            <a:srgbClr val="000000"/>
                          </a:solidFill>
                          <a:latin typeface="Calibri"/>
                        </a:rPr>
                        <a:t>Table 64: Global Market Average Selling Price by Packaging Type, US$/MT, 2021–2036</a:t>
                      </a:r>
                      <a:endParaRPr sz="1050"/>
                    </a:p>
                  </a:txBody>
                  <a:tcPr marL="9525" marR="9525" marT="9525" marB="0" anchor="ctr"/>
                </a:tc>
              </a:tr>
              <a:tr h="169606">
                <a:tc>
                  <a:txBody>
                    <a:bodyPr wrap="square"/>
                    <a:lstStyle/>
                    <a:p>
                      <a:pPr algn="l"/>
                      <a:r>
                        <a:rPr sz="1050" b="0" i="0">
                          <a:solidFill>
                            <a:srgbClr val="000000"/>
                          </a:solidFill>
                          <a:latin typeface="Calibri"/>
                        </a:rPr>
                        <a:t>Table 65: Global Market Average Selling Price by Grade Type, US$/MT, 2021–2036</a:t>
                      </a:r>
                      <a:endParaRPr sz="1050"/>
                    </a:p>
                  </a:txBody>
                  <a:tcPr marL="9525" marR="9525" marT="9525" marB="0" anchor="ctr"/>
                </a:tc>
              </a:tr>
              <a:tr h="169606">
                <a:tc>
                  <a:txBody>
                    <a:bodyPr wrap="square"/>
                    <a:lstStyle/>
                    <a:p>
                      <a:pPr algn="l"/>
                      <a:r>
                        <a:rPr sz="1050" b="0" i="0">
                          <a:solidFill>
                            <a:srgbClr val="000000"/>
                          </a:solidFill>
                          <a:latin typeface="Calibri"/>
                        </a:rPr>
                        <a:t>Table 66: Global Market Average Selling Price by Application, US$/MT, 2021–2036</a:t>
                      </a:r>
                      <a:endParaRPr sz="1050"/>
                    </a:p>
                  </a:txBody>
                  <a:tcPr marL="9525" marR="9525" marT="9525" marB="0" anchor="ctr"/>
                </a:tc>
              </a:tr>
              <a:tr h="169606">
                <a:tc>
                  <a:txBody>
                    <a:bodyPr wrap="square"/>
                    <a:lstStyle/>
                    <a:p>
                      <a:pPr algn="l"/>
                      <a:r>
                        <a:rPr sz="1050" b="0" i="0">
                          <a:solidFill>
                            <a:srgbClr val="000000"/>
                          </a:solidFill>
                          <a:latin typeface="Calibri"/>
                        </a:rPr>
                        <a:t>Table 67: Global Market Average Selling Price by Distribution Channel, US$/MT, 2021–2036</a:t>
                      </a:r>
                      <a:endParaRPr sz="1050"/>
                    </a:p>
                  </a:txBody>
                  <a:tcPr marL="9525" marR="9525" marT="9525" marB="0" anchor="ctr"/>
                </a:tc>
              </a:tr>
              <a:tr h="169606">
                <a:tc>
                  <a:txBody>
                    <a:bodyPr wrap="square"/>
                    <a:lstStyle/>
                    <a:p>
                      <a:pPr algn="l"/>
                      <a:r>
                        <a:rPr sz="1050" b="0" i="0">
                          <a:solidFill>
                            <a:srgbClr val="000000"/>
                          </a:solidFill>
                          <a:latin typeface="Calibri"/>
                        </a:rPr>
                        <a:t>Table 68: Global Market Attractiveness Index by Nature, 2026–2036</a:t>
                      </a:r>
                      <a:endParaRPr sz="1050"/>
                    </a:p>
                  </a:txBody>
                  <a:tcPr marL="9525" marR="9525" marT="9525" marB="0" anchor="ctr"/>
                </a:tc>
              </a:tr>
              <a:tr h="169606">
                <a:tc>
                  <a:txBody>
                    <a:bodyPr wrap="square"/>
                    <a:lstStyle/>
                    <a:p>
                      <a:pPr algn="l"/>
                      <a:r>
                        <a:rPr sz="1050" b="0" i="0">
                          <a:solidFill>
                            <a:srgbClr val="000000"/>
                          </a:solidFill>
                          <a:latin typeface="Calibri"/>
                        </a:rPr>
                        <a:t>Table 69: Global Market Attractiveness Index by Product Type, 2026–2036</a:t>
                      </a:r>
                      <a:endParaRPr sz="1050"/>
                    </a:p>
                  </a:txBody>
                  <a:tcPr marL="9525" marR="9525" marT="9525" marB="0" anchor="ctr"/>
                </a:tc>
              </a:tr>
              <a:tr h="169606">
                <a:tc>
                  <a:txBody>
                    <a:bodyPr wrap="square"/>
                    <a:lstStyle/>
                    <a:p>
                      <a:pPr algn="l"/>
                      <a:r>
                        <a:rPr sz="1050" b="0" i="0">
                          <a:solidFill>
                            <a:srgbClr val="000000"/>
                          </a:solidFill>
                          <a:latin typeface="Calibri"/>
                        </a:rPr>
                        <a:t>Table 70: Global Market Attractiveness Index by Form, 2026–2036</a:t>
                      </a:r>
                      <a:endParaRPr sz="1050"/>
                    </a:p>
                  </a:txBody>
                  <a:tcPr marL="9525" marR="9525" marT="9525" marB="0" anchor="ctr"/>
                </a:tc>
              </a:tr>
              <a:tr h="169606">
                <a:tc>
                  <a:txBody>
                    <a:bodyPr wrap="square"/>
                    <a:lstStyle/>
                    <a:p>
                      <a:pPr algn="l"/>
                      <a:r>
                        <a:rPr sz="1050" b="0" i="0">
                          <a:solidFill>
                            <a:srgbClr val="000000"/>
                          </a:solidFill>
                          <a:latin typeface="Calibri"/>
                        </a:rPr>
                        <a:t>Table 71: Global Market Attractiveness Index by Flavour, 2026–2036</a:t>
                      </a:r>
                      <a:endParaRPr sz="1050"/>
                    </a:p>
                  </a:txBody>
                  <a:tcPr marL="9525" marR="9525" marT="9525" marB="0" anchor="ctr"/>
                </a:tc>
              </a:tr>
              <a:tr h="169606">
                <a:tc>
                  <a:txBody>
                    <a:bodyPr wrap="square"/>
                    <a:lstStyle/>
                    <a:p>
                      <a:pPr algn="l"/>
                      <a:r>
                        <a:rPr sz="1050" b="0" i="0">
                          <a:solidFill>
                            <a:srgbClr val="000000"/>
                          </a:solidFill>
                          <a:latin typeface="Calibri"/>
                        </a:rPr>
                        <a:t>Table 72: Global Market Attractiveness Index by Packaging Type, 2026–2036</a:t>
                      </a:r>
                      <a:endParaRPr sz="1050"/>
                    </a:p>
                  </a:txBody>
                  <a:tcPr marL="9525" marR="9525" marT="9525" marB="0" anchor="ctr"/>
                </a:tc>
              </a:tr>
              <a:tr h="169606">
                <a:tc>
                  <a:txBody>
                    <a:bodyPr wrap="square"/>
                    <a:lstStyle/>
                    <a:p>
                      <a:pPr algn="l"/>
                      <a:r>
                        <a:rPr sz="1050" b="0" i="0">
                          <a:solidFill>
                            <a:srgbClr val="000000"/>
                          </a:solidFill>
                          <a:latin typeface="Calibri"/>
                        </a:rPr>
                        <a:t>Table 73: Global Market Attractiveness Index by Grade Type, 2026–2036</a:t>
                      </a:r>
                      <a:endParaRPr sz="1050"/>
                    </a:p>
                  </a:txBody>
                  <a:tcPr marL="9525" marR="9525" marT="9525" marB="0" anchor="ctr"/>
                </a:tc>
              </a:tr>
              <a:tr h="169606">
                <a:tc>
                  <a:txBody>
                    <a:bodyPr wrap="square"/>
                    <a:lstStyle/>
                    <a:p>
                      <a:pPr algn="l"/>
                      <a:r>
                        <a:rPr sz="1050" b="0" i="0">
                          <a:solidFill>
                            <a:srgbClr val="000000"/>
                          </a:solidFill>
                          <a:latin typeface="Calibri"/>
                        </a:rPr>
                        <a:t>Table 74: Global Market Attractiveness Index by Application, 2026–2036</a:t>
                      </a:r>
                      <a:endParaRPr sz="1050"/>
                    </a:p>
                  </a:txBody>
                  <a:tcPr marL="9525" marR="9525" marT="9525" marB="0" anchor="ctr"/>
                </a:tc>
              </a:tr>
              <a:tr h="169606">
                <a:tc>
                  <a:txBody>
                    <a:bodyPr wrap="square"/>
                    <a:lstStyle/>
                    <a:p>
                      <a:pPr algn="l"/>
                      <a:r>
                        <a:rPr sz="1050" b="0" i="0">
                          <a:solidFill>
                            <a:srgbClr val="000000"/>
                          </a:solidFill>
                          <a:latin typeface="Calibri"/>
                        </a:rPr>
                        <a:t>Table 75: Global Market Attractiveness Index by Distribution Channel, 2026–2036</a:t>
                      </a:r>
                      <a:endParaRPr sz="1050"/>
                    </a:p>
                  </a:txBody>
                  <a:tcPr marL="9525" marR="9525" marT="9525" marB="0" anchor="ctr"/>
                </a:tc>
              </a:tr>
              <a:tr h="169606">
                <a:tc>
                  <a:txBody>
                    <a:bodyPr wrap="square"/>
                    <a:lstStyle/>
                    <a:p>
                      <a:pPr algn="l"/>
                      <a:r>
                        <a:rPr sz="1050" b="0" i="0">
                          <a:solidFill>
                            <a:srgbClr val="000000"/>
                          </a:solidFill>
                          <a:latin typeface="Calibri"/>
                        </a:rPr>
                        <a:t>Table 76: Global Market Value of Organic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77: Global Market Value of Matcha Powder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78: Global Market Value of Powder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79: Global Market Value of Unflavoured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80: Global Market Value of Pouches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81: Global Market Value of Ceremonial Grade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82: Global Market Value of Beverages by Region, US$ Mn, 2021–2036</a:t>
                      </a:r>
                      <a:endParaRPr sz="1050"/>
                    </a:p>
                  </a:txBody>
                  <a:tcPr marL="9525" marR="9525" marT="9525" marB="0" anchor="ctr"/>
                </a:tc>
              </a:tr>
              <a:tr h="169606">
                <a:tc>
                  <a:txBody>
                    <a:bodyPr wrap="square"/>
                    <a:lstStyle/>
                    <a:p>
                      <a:pPr algn="l"/>
                      <a:r>
                        <a:rPr sz="1050" b="0" i="0">
                          <a:solidFill>
                            <a:srgbClr val="000000"/>
                          </a:solidFill>
                          <a:latin typeface="Calibri"/>
                        </a:rPr>
                        <a:t>Table 83: Global Market Value by Nature and Product Type, US$ Mn, 2026–2036</a:t>
                      </a:r>
                      <a:endParaRPr sz="1050"/>
                    </a:p>
                  </a:txBody>
                  <a:tcPr marL="9525" marR="9525" marT="9525" marB="0" anchor="ctr"/>
                </a:tc>
              </a:tr>
              <a:tr h="169606">
                <a:tc>
                  <a:txBody>
                    <a:bodyPr wrap="square"/>
                    <a:lstStyle/>
                    <a:p>
                      <a:pPr algn="l"/>
                      <a:r>
                        <a:rPr sz="1050" b="0" i="0">
                          <a:solidFill>
                            <a:srgbClr val="000000"/>
                          </a:solidFill>
                          <a:latin typeface="Calibri"/>
                        </a:rPr>
                        <a:t>Table 84: Global Market Value by Nature and Form, US$ Mn, 2026–2036</a:t>
                      </a:r>
                      <a:endParaRPr sz="1050"/>
                    </a:p>
                  </a:txBody>
                  <a:tcPr marL="9525" marR="9525" marT="9525" marB="0" anchor="ctr"/>
                </a:tc>
              </a:tr>
              <a:tr h="169606">
                <a:tc>
                  <a:txBody>
                    <a:bodyPr wrap="square"/>
                    <a:lstStyle/>
                    <a:p>
                      <a:pPr algn="l"/>
                      <a:r>
                        <a:rPr sz="1050" b="0" i="0">
                          <a:solidFill>
                            <a:srgbClr val="000000"/>
                          </a:solidFill>
                          <a:latin typeface="Calibri"/>
                        </a:rPr>
                        <a:t>Table 85: Global Market Value by Nature and Flavour, US$ Mn, 2026–2036</a:t>
                      </a:r>
                      <a:endParaRPr sz="1050"/>
                    </a:p>
                  </a:txBody>
                  <a:tcPr marL="9525" marR="9525" marT="9525" marB="0" anchor="ctr"/>
                </a:tc>
              </a:tr>
              <a:tr h="169606">
                <a:tc>
                  <a:txBody>
                    <a:bodyPr wrap="square"/>
                    <a:lstStyle/>
                    <a:p>
                      <a:pPr algn="l"/>
                      <a:r>
                        <a:rPr sz="1050" b="0" i="0">
                          <a:solidFill>
                            <a:srgbClr val="000000"/>
                          </a:solidFill>
                          <a:latin typeface="Calibri"/>
                        </a:rPr>
                        <a:t>Table 86: Global Market Value by Nature and Packaging Type, US$ Mn, 2026–2036</a:t>
                      </a:r>
                      <a:endParaRPr sz="1050"/>
                    </a:p>
                  </a:txBody>
                  <a:tcPr marL="9525" marR="9525" marT="9525" marB="0" anchor="ctr"/>
                </a:tc>
              </a:tr>
              <a:tr h="169606">
                <a:tc>
                  <a:txBody>
                    <a:bodyPr wrap="square"/>
                    <a:lstStyle/>
                    <a:p>
                      <a:pPr algn="l"/>
                      <a:r>
                        <a:rPr sz="1050" b="0" i="0">
                          <a:solidFill>
                            <a:srgbClr val="000000"/>
                          </a:solidFill>
                          <a:latin typeface="Calibri"/>
                        </a:rPr>
                        <a:t>Table 87: Global Market Value by Nature and Grade Type, US$ Mn, 2026–2036</a:t>
                      </a:r>
                      <a:endParaRPr sz="1050"/>
                    </a:p>
                  </a:txBody>
                  <a:tcPr marL="9525" marR="9525" marT="9525" marB="0" anchor="ctr"/>
                </a:tc>
              </a:tr>
              <a:tr h="169606">
                <a:tc>
                  <a:txBody>
                    <a:bodyPr wrap="square"/>
                    <a:lstStyle/>
                    <a:p>
                      <a:pPr algn="l"/>
                      <a:r>
                        <a:rPr sz="1050" b="0" i="0">
                          <a:solidFill>
                            <a:srgbClr val="000000"/>
                          </a:solidFill>
                          <a:latin typeface="Calibri"/>
                        </a:rPr>
                        <a:t>Table 88: Global Market Value by Nature and Application, US$ Mn, 2026–2036</a:t>
                      </a:r>
                      <a:endParaRPr sz="1050"/>
                    </a:p>
                  </a:txBody>
                  <a:tcPr marL="9525" marR="9525" marT="9525" marB="0" anchor="ctr"/>
                </a:tc>
              </a:tr>
              <a:tr h="169606">
                <a:tc>
                  <a:txBody>
                    <a:bodyPr wrap="square"/>
                    <a:lstStyle/>
                    <a:p>
                      <a:pPr algn="l"/>
                      <a:r>
                        <a:rPr sz="1050" b="0" i="0">
                          <a:solidFill>
                            <a:srgbClr val="000000"/>
                          </a:solidFill>
                          <a:latin typeface="Calibri"/>
                        </a:rPr>
                        <a:t>Table 89: Global Market Value by Nature and Distribution Channel, US$ Mn, 2026–2036</a:t>
                      </a:r>
                      <a:endParaRPr sz="1050"/>
                    </a:p>
                  </a:txBody>
                  <a:tcPr marL="9525" marR="9525" marT="9525" marB="0" anchor="ctr"/>
                </a:tc>
              </a:tr>
              <a:tr h="169606">
                <a:tc>
                  <a:txBody>
                    <a:bodyPr wrap="square"/>
                    <a:lstStyle/>
                    <a:p>
                      <a:pPr algn="l"/>
                      <a:r>
                        <a:rPr sz="1050" b="0" i="0">
                          <a:solidFill>
                            <a:srgbClr val="000000"/>
                          </a:solidFill>
                          <a:latin typeface="Calibri"/>
                        </a:rPr>
                        <a:t>Table 90: Global Market Value by Product Type and Form, US$ Mn, 2026–2036</a:t>
                      </a:r>
                      <a:endParaRPr sz="1050"/>
                    </a:p>
                  </a:txBody>
                  <a:tcPr marL="9525" marR="9525" marT="9525" marB="0" anchor="ctr"/>
                </a:tc>
              </a:tr>
              <a:tr h="169606">
                <a:tc>
                  <a:txBody>
                    <a:bodyPr wrap="square"/>
                    <a:lstStyle/>
                    <a:p>
                      <a:pPr algn="l"/>
                      <a:r>
                        <a:rPr sz="1050" b="0" i="0">
                          <a:solidFill>
                            <a:srgbClr val="000000"/>
                          </a:solidFill>
                          <a:latin typeface="Calibri"/>
                        </a:rPr>
                        <a:t>Table 91: Global Market Value by Product Type and Flavour, US$ Mn, 2026–2036</a:t>
                      </a:r>
                      <a:endParaRPr sz="1050"/>
                    </a:p>
                  </a:txBody>
                  <a:tcPr marL="9525" marR="9525" marT="9525" marB="0" anchor="ctr"/>
                </a:tc>
              </a:tr>
              <a:tr h="169606">
                <a:tc>
                  <a:txBody>
                    <a:bodyPr wrap="square"/>
                    <a:lstStyle/>
                    <a:p>
                      <a:pPr algn="l"/>
                      <a:r>
                        <a:rPr sz="1050" b="0" i="0">
                          <a:solidFill>
                            <a:srgbClr val="000000"/>
                          </a:solidFill>
                          <a:latin typeface="Calibri"/>
                        </a:rPr>
                        <a:t>Table 92: Global Market Value by Product Type and Packaging Type, US$ Mn, 2026–2036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812"/>
        </p:xfrm>
        <a:graphic>
          <a:graphicData uri="http://schemas.openxmlformats.org/drawingml/2006/table">
            <a:tbl>
              <a:tblPr>
                <a:tableStyleId>{3B4B98B0-60AC-42C2-AFA5-B58CD77FA1E5}</a:tableStyleId>
              </a:tblPr>
              <a:tblGrid>
                <a:gridCol w="5876925"/>
              </a:tblGrid>
              <a:tr h="169826">
                <a:tc>
                  <a:txBody>
                    <a:bodyPr wrap="square"/>
                    <a:lstStyle/>
                    <a:p>
                      <a:pPr algn="l"/>
                      <a:r>
                        <a:rPr sz="1050" b="0" i="0">
                          <a:solidFill>
                            <a:srgbClr val="000000"/>
                          </a:solidFill>
                          <a:latin typeface="Calibri"/>
                        </a:rPr>
                        <a:t>Table 93: Global Market Value by Product Type and Grade Type, US$ Mn, 2026–2036</a:t>
                      </a:r>
                      <a:endParaRPr sz="1050"/>
                    </a:p>
                  </a:txBody>
                  <a:tcPr marL="9525" marR="9525" marT="9525" marB="0" anchor="ctr"/>
                </a:tc>
              </a:tr>
              <a:tr h="169826">
                <a:tc>
                  <a:txBody>
                    <a:bodyPr wrap="square"/>
                    <a:lstStyle/>
                    <a:p>
                      <a:pPr algn="l"/>
                      <a:r>
                        <a:rPr sz="1050" b="0" i="0">
                          <a:solidFill>
                            <a:srgbClr val="000000"/>
                          </a:solidFill>
                          <a:latin typeface="Calibri"/>
                        </a:rPr>
                        <a:t>Table 94: Global Market Value by Product Type and Application, US$ Mn, 2026–2036</a:t>
                      </a:r>
                      <a:endParaRPr sz="1050"/>
                    </a:p>
                  </a:txBody>
                  <a:tcPr marL="9525" marR="9525" marT="9525" marB="0" anchor="ctr"/>
                </a:tc>
              </a:tr>
              <a:tr h="169826">
                <a:tc>
                  <a:txBody>
                    <a:bodyPr wrap="square"/>
                    <a:lstStyle/>
                    <a:p>
                      <a:pPr algn="l"/>
                      <a:r>
                        <a:rPr sz="1050" b="0" i="0">
                          <a:solidFill>
                            <a:srgbClr val="000000"/>
                          </a:solidFill>
                          <a:latin typeface="Calibri"/>
                        </a:rPr>
                        <a:t>Table 95: Global Market Value by Product Type and Distribution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96: Global Market Value by Form and Flavour, US$ Mn, 2026–2036</a:t>
                      </a:r>
                      <a:endParaRPr sz="1050"/>
                    </a:p>
                  </a:txBody>
                  <a:tcPr marL="9525" marR="9525" marT="9525" marB="0" anchor="ctr"/>
                </a:tc>
              </a:tr>
              <a:tr h="169826">
                <a:tc>
                  <a:txBody>
                    <a:bodyPr wrap="square"/>
                    <a:lstStyle/>
                    <a:p>
                      <a:pPr algn="l"/>
                      <a:r>
                        <a:rPr sz="1050" b="0" i="0">
                          <a:solidFill>
                            <a:srgbClr val="000000"/>
                          </a:solidFill>
                          <a:latin typeface="Calibri"/>
                        </a:rPr>
                        <a:t>Table 97: Global Market Value by Form and Packaging Type, US$ Mn, 2026–2036</a:t>
                      </a:r>
                      <a:endParaRPr sz="1050"/>
                    </a:p>
                  </a:txBody>
                  <a:tcPr marL="9525" marR="9525" marT="9525" marB="0" anchor="ctr"/>
                </a:tc>
              </a:tr>
              <a:tr h="169826">
                <a:tc>
                  <a:txBody>
                    <a:bodyPr wrap="square"/>
                    <a:lstStyle/>
                    <a:p>
                      <a:pPr algn="l"/>
                      <a:r>
                        <a:rPr sz="1050" b="0" i="0">
                          <a:solidFill>
                            <a:srgbClr val="000000"/>
                          </a:solidFill>
                          <a:latin typeface="Calibri"/>
                        </a:rPr>
                        <a:t>Table 98: Global Market Value by Form and Grade Type, US$ Mn, 2026–2036</a:t>
                      </a:r>
                      <a:endParaRPr sz="1050"/>
                    </a:p>
                  </a:txBody>
                  <a:tcPr marL="9525" marR="9525" marT="9525" marB="0" anchor="ctr"/>
                </a:tc>
              </a:tr>
              <a:tr h="169826">
                <a:tc>
                  <a:txBody>
                    <a:bodyPr wrap="square"/>
                    <a:lstStyle/>
                    <a:p>
                      <a:pPr algn="l"/>
                      <a:r>
                        <a:rPr sz="1050" b="0" i="0">
                          <a:solidFill>
                            <a:srgbClr val="000000"/>
                          </a:solidFill>
                          <a:latin typeface="Calibri"/>
                        </a:rPr>
                        <a:t>Table 99: Global Market Value by Form and Application, US$ Mn, 2026–2036</a:t>
                      </a:r>
                      <a:endParaRPr sz="1050"/>
                    </a:p>
                  </a:txBody>
                  <a:tcPr marL="9525" marR="9525" marT="9525" marB="0" anchor="ctr"/>
                </a:tc>
              </a:tr>
              <a:tr h="169826">
                <a:tc>
                  <a:txBody>
                    <a:bodyPr wrap="square"/>
                    <a:lstStyle/>
                    <a:p>
                      <a:pPr algn="l"/>
                      <a:r>
                        <a:rPr sz="1050" b="0" i="0">
                          <a:solidFill>
                            <a:srgbClr val="000000"/>
                          </a:solidFill>
                          <a:latin typeface="Calibri"/>
                        </a:rPr>
                        <a:t>Table 100: Global Market Value by Form and Distribution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101: Global Market Value by Flavour and Packaging Type, US$ Mn, 2026–2036</a:t>
                      </a:r>
                      <a:endParaRPr sz="1050"/>
                    </a:p>
                  </a:txBody>
                  <a:tcPr marL="9525" marR="9525" marT="9525" marB="0" anchor="ctr"/>
                </a:tc>
              </a:tr>
              <a:tr h="169826">
                <a:tc>
                  <a:txBody>
                    <a:bodyPr wrap="square"/>
                    <a:lstStyle/>
                    <a:p>
                      <a:pPr algn="l"/>
                      <a:r>
                        <a:rPr sz="1050" b="0" i="0">
                          <a:solidFill>
                            <a:srgbClr val="000000"/>
                          </a:solidFill>
                          <a:latin typeface="Calibri"/>
                        </a:rPr>
                        <a:t>Table 102: Global Market Value by Flavour and Grade Type, US$ Mn, 2026–2036</a:t>
                      </a:r>
                      <a:endParaRPr sz="1050"/>
                    </a:p>
                  </a:txBody>
                  <a:tcPr marL="9525" marR="9525" marT="9525" marB="0" anchor="ctr"/>
                </a:tc>
              </a:tr>
              <a:tr h="169826">
                <a:tc>
                  <a:txBody>
                    <a:bodyPr wrap="square"/>
                    <a:lstStyle/>
                    <a:p>
                      <a:pPr algn="l"/>
                      <a:r>
                        <a:rPr sz="1050" b="0" i="0">
                          <a:solidFill>
                            <a:srgbClr val="000000"/>
                          </a:solidFill>
                          <a:latin typeface="Calibri"/>
                        </a:rPr>
                        <a:t>Table 103: Global Market Value by Flavour and Application, US$ Mn, 2026–2036</a:t>
                      </a:r>
                      <a:endParaRPr sz="1050"/>
                    </a:p>
                  </a:txBody>
                  <a:tcPr marL="9525" marR="9525" marT="9525" marB="0" anchor="ctr"/>
                </a:tc>
              </a:tr>
              <a:tr h="169826">
                <a:tc>
                  <a:txBody>
                    <a:bodyPr wrap="square"/>
                    <a:lstStyle/>
                    <a:p>
                      <a:pPr algn="l"/>
                      <a:r>
                        <a:rPr sz="1050" b="0" i="0">
                          <a:solidFill>
                            <a:srgbClr val="000000"/>
                          </a:solidFill>
                          <a:latin typeface="Calibri"/>
                        </a:rPr>
                        <a:t>Table 104: Global Market Value by Flavour and Distribution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105: Global Market Value by Packaging Type and Grade Type, US$ Mn, 2026–2036</a:t>
                      </a:r>
                      <a:endParaRPr sz="1050"/>
                    </a:p>
                  </a:txBody>
                  <a:tcPr marL="9525" marR="9525" marT="9525" marB="0" anchor="ctr"/>
                </a:tc>
              </a:tr>
              <a:tr h="169826">
                <a:tc>
                  <a:txBody>
                    <a:bodyPr wrap="square"/>
                    <a:lstStyle/>
                    <a:p>
                      <a:pPr algn="l"/>
                      <a:r>
                        <a:rPr sz="1050" b="0" i="0">
                          <a:solidFill>
                            <a:srgbClr val="000000"/>
                          </a:solidFill>
                          <a:latin typeface="Calibri"/>
                        </a:rPr>
                        <a:t>Table 106: Global Market Value by Packaging Type and Application, US$ Mn, 2026–2036</a:t>
                      </a:r>
                      <a:endParaRPr sz="1050"/>
                    </a:p>
                  </a:txBody>
                  <a:tcPr marL="9525" marR="9525" marT="9525" marB="0" anchor="ctr"/>
                </a:tc>
              </a:tr>
              <a:tr h="169826">
                <a:tc>
                  <a:txBody>
                    <a:bodyPr wrap="square"/>
                    <a:lstStyle/>
                    <a:p>
                      <a:pPr algn="l"/>
                      <a:r>
                        <a:rPr sz="1050" b="0" i="0">
                          <a:solidFill>
                            <a:srgbClr val="000000"/>
                          </a:solidFill>
                          <a:latin typeface="Calibri"/>
                        </a:rPr>
                        <a:t>Table 107: Global Market Value by Packaging Type and Distribution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108: Global Market Value by Grade Type and Application, US$ Mn, 2026–2036</a:t>
                      </a:r>
                      <a:endParaRPr sz="1050"/>
                    </a:p>
                  </a:txBody>
                  <a:tcPr marL="9525" marR="9525" marT="9525" marB="0" anchor="ctr"/>
                </a:tc>
              </a:tr>
              <a:tr h="169826">
                <a:tc>
                  <a:txBody>
                    <a:bodyPr wrap="square"/>
                    <a:lstStyle/>
                    <a:p>
                      <a:pPr algn="l"/>
                      <a:r>
                        <a:rPr sz="1050" b="0" i="0">
                          <a:solidFill>
                            <a:srgbClr val="000000"/>
                          </a:solidFill>
                          <a:latin typeface="Calibri"/>
                        </a:rPr>
                        <a:t>Table 109: Global Market Value by Grade Type and Distribution Channel, US$ Mn, 2026–2036</a:t>
                      </a:r>
                      <a:endParaRPr sz="1050"/>
                    </a:p>
                  </a:txBody>
                  <a:tcPr marL="9525" marR="9525" marT="9525" marB="0" anchor="ctr"/>
                </a:tc>
              </a:tr>
              <a:tr h="169826">
                <a:tc>
                  <a:txBody>
                    <a:bodyPr wrap="square"/>
                    <a:lstStyle/>
                    <a:p>
                      <a:pPr algn="l"/>
                      <a:r>
                        <a:rPr sz="1050" b="0" i="0">
                          <a:solidFill>
                            <a:srgbClr val="000000"/>
                          </a:solidFill>
                          <a:latin typeface="Calibri"/>
                        </a:rPr>
                        <a:t>Table 110: Global Market Value by Region, US$ Mn, 2021–2036</a:t>
                      </a:r>
                      <a:endParaRPr sz="1050"/>
                    </a:p>
                  </a:txBody>
                  <a:tcPr marL="9525" marR="9525" marT="9525" marB="0" anchor="ctr"/>
                </a:tc>
              </a:tr>
              <a:tr h="169826">
                <a:tc>
                  <a:txBody>
                    <a:bodyPr wrap="square"/>
                    <a:lstStyle/>
                    <a:p>
                      <a:pPr algn="l"/>
                      <a:r>
                        <a:rPr sz="1050" b="0" i="0">
                          <a:solidFill>
                            <a:srgbClr val="000000"/>
                          </a:solidFill>
                          <a:latin typeface="Calibri"/>
                        </a:rPr>
                        <a:t>Table 111: Global Market CAGR and Absolute $ Opportunity by Region, %, US$ Mn, 2026–2036</a:t>
                      </a:r>
                      <a:endParaRPr sz="1050"/>
                    </a:p>
                  </a:txBody>
                  <a:tcPr marL="9525" marR="9525" marT="9525" marB="0" anchor="ctr"/>
                </a:tc>
              </a:tr>
              <a:tr h="169826">
                <a:tc>
                  <a:txBody>
                    <a:bodyPr wrap="square"/>
                    <a:lstStyle/>
                    <a:p>
                      <a:pPr algn="l"/>
                      <a:r>
                        <a:rPr sz="1050" b="0" i="0">
                          <a:solidFill>
                            <a:srgbClr val="000000"/>
                          </a:solidFill>
                          <a:latin typeface="Calibri"/>
                        </a:rPr>
                        <a:t>Table 112: Global Market Share and BPS Change by Region, %, 2026 and 2036</a:t>
                      </a:r>
                      <a:endParaRPr sz="1050"/>
                    </a:p>
                  </a:txBody>
                  <a:tcPr marL="9525" marR="9525" marT="9525" marB="0" anchor="ctr"/>
                </a:tc>
              </a:tr>
              <a:tr h="169826">
                <a:tc>
                  <a:txBody>
                    <a:bodyPr wrap="square"/>
                    <a:lstStyle/>
                    <a:p>
                      <a:pPr algn="l"/>
                      <a:r>
                        <a:rPr sz="1050" b="0" i="0">
                          <a:solidFill>
                            <a:srgbClr val="000000"/>
                          </a:solidFill>
                          <a:latin typeface="Calibri"/>
                        </a:rPr>
                        <a:t>Table 113: Global Market Volume by Region, MT, 2021–2036</a:t>
                      </a:r>
                      <a:endParaRPr sz="1050"/>
                    </a:p>
                  </a:txBody>
                  <a:tcPr marL="9525" marR="9525" marT="9525" marB="0" anchor="ctr"/>
                </a:tc>
              </a:tr>
              <a:tr h="169826">
                <a:tc>
                  <a:txBody>
                    <a:bodyPr wrap="square"/>
                    <a:lstStyle/>
                    <a:p>
                      <a:pPr algn="l"/>
                      <a:r>
                        <a:rPr sz="1050" b="0" i="0">
                          <a:solidFill>
                            <a:srgbClr val="000000"/>
                          </a:solidFill>
                          <a:latin typeface="Calibri"/>
                        </a:rPr>
                        <a:t>Table 114: North America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115: Latin America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116: Europe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117: East Asia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118: South Asia &amp; Pacific Market Value by Country, US$ Mn, 2021–2036</a:t>
                      </a:r>
                      <a:endParaRPr sz="1050"/>
                    </a:p>
                  </a:txBody>
                  <a:tcPr marL="9525" marR="9525" marT="9525" marB="0" anchor="ctr"/>
                </a:tc>
              </a:tr>
              <a:tr h="169826">
                <a:tc>
                  <a:txBody>
                    <a:bodyPr wrap="square"/>
                    <a:lstStyle/>
                    <a:p>
                      <a:pPr algn="l"/>
                      <a:r>
                        <a:rPr sz="1050" b="0" i="0">
                          <a:solidFill>
                            <a:srgbClr val="000000"/>
                          </a:solidFill>
                          <a:latin typeface="Calibri"/>
                        </a:rPr>
                        <a:t>Table 119: Middle East &amp; Africa Market Value by Country, US$ Mn, 2021–2036</a:t>
                      </a:r>
                      <a:endParaRPr sz="1050"/>
                    </a:p>
                  </a:txBody>
                  <a:tcPr marL="9525" marR="9525" marT="9525" marB="0" anchor="ctr"/>
                </a:tc>
              </a:tr>
              <a:tr h="332858">
                <a:tc>
                  <a:txBody>
                    <a:bodyPr wrap="square"/>
                    <a:lstStyle/>
                    <a:p>
                      <a:pPr algn="l"/>
                      <a:r>
                        <a:rPr sz="1050" b="0" i="0">
                          <a:solidFill>
                            <a:srgbClr val="000000"/>
                          </a:solidFill>
                          <a:latin typeface="Calibri"/>
                        </a:rPr>
                        <a:t>Table 120: North America Market CAGR and Absolute $ Opportunity by Country, %, US$ Mn, 2026–2036</a:t>
                      </a:r>
                      <a:endParaRPr sz="1050"/>
                    </a:p>
                  </a:txBody>
                  <a:tcPr marL="9525" marR="9525" marT="9525" marB="0" anchor="ctr"/>
                </a:tc>
              </a:tr>
              <a:tr h="169826">
                <a:tc>
                  <a:txBody>
                    <a:bodyPr wrap="square"/>
                    <a:lstStyle/>
                    <a:p>
                      <a:pPr algn="l"/>
                      <a:r>
                        <a:rPr sz="1050" b="0" i="0">
                          <a:solidFill>
                            <a:srgbClr val="000000"/>
                          </a:solidFill>
                          <a:latin typeface="Calibri"/>
                        </a:rPr>
                        <a:t>Table 121: Latin America Market CAGR and Absolute $ Opportunity by Country, %, US$ Mn, 2026–2036</a:t>
                      </a:r>
                      <a:endParaRPr sz="1050"/>
                    </a:p>
                  </a:txBody>
                  <a:tcPr marL="9525" marR="9525" marT="9525" marB="0" anchor="ctr"/>
                </a:tc>
              </a:tr>
              <a:tr h="169826">
                <a:tc>
                  <a:txBody>
                    <a:bodyPr wrap="square"/>
                    <a:lstStyle/>
                    <a:p>
                      <a:pPr algn="l"/>
                      <a:r>
                        <a:rPr sz="1050" b="0" i="0">
                          <a:solidFill>
                            <a:srgbClr val="000000"/>
                          </a:solidFill>
                          <a:latin typeface="Calibri"/>
                        </a:rPr>
                        <a:t>Table 122: Europe Market CAGR and Absolute $ Opportunity by Country, %, US$ Mn, 2026–2036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(3/4)</a:t>
            </a:r>
          </a:p>
        </p:txBody>
      </p:sp>
      <p:graphicFrame>
        <p:nvGraphicFramePr>
          <p:cNvPr id="9" name="FMI Contents Table"/>
          <p:cNvGraphicFramePr>
            <a:graphicFrameLocks noGrp="1"/>
          </p:cNvGraphicFramePr>
          <p:nvPr/>
        </p:nvGraphicFramePr>
        <p:xfrm>
          <a:off x="142875" y="981075"/>
          <a:ext cx="5876925" cy="5257793"/>
        </p:xfrm>
        <a:graphic>
          <a:graphicData uri="http://schemas.openxmlformats.org/drawingml/2006/table">
            <a:tbl>
              <a:tblPr>
                <a:tableStyleId>{3B4B98B0-60AC-42C2-AFA5-B58CD77FA1E5}</a:tableStyleId>
              </a:tblPr>
              <a:tblGrid>
                <a:gridCol w="5876925"/>
              </a:tblGrid>
              <a:tr h="170045">
                <a:tc>
                  <a:txBody>
                    <a:bodyPr wrap="square"/>
                    <a:lstStyle/>
                    <a:p>
                      <a:pPr algn="l"/>
                      <a:r>
                        <a:rPr sz="1050" b="0" i="0">
                          <a:solidFill>
                            <a:srgbClr val="000000"/>
                          </a:solidFill>
                          <a:latin typeface="Calibri"/>
                        </a:rPr>
                        <a:t>Table 123: East Asia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124: South Asia &amp; Pacific Market CAGR and Absolute $ Opportunity by Country, %, US$ Mn, 2026–2036</a:t>
                      </a:r>
                      <a:endParaRPr sz="1050"/>
                    </a:p>
                  </a:txBody>
                  <a:tcPr marL="9525" marR="9525" marT="9525" marB="0" anchor="ctr"/>
                </a:tc>
              </a:tr>
              <a:tr h="333289">
                <a:tc>
                  <a:txBody>
                    <a:bodyPr wrap="square"/>
                    <a:lstStyle/>
                    <a:p>
                      <a:pPr algn="l"/>
                      <a:r>
                        <a:rPr sz="1050" b="0" i="0">
                          <a:solidFill>
                            <a:srgbClr val="000000"/>
                          </a:solidFill>
                          <a:latin typeface="Calibri"/>
                        </a:rPr>
                        <a:t>Table 125: Middle East &amp; Africa Market CAGR and Absolute $ Opportunity by Country, %, US$ Mn, 2026–2036</a:t>
                      </a:r>
                      <a:endParaRPr sz="1050"/>
                    </a:p>
                  </a:txBody>
                  <a:tcPr marL="9525" marR="9525" marT="9525" marB="0" anchor="ctr"/>
                </a:tc>
              </a:tr>
              <a:tr h="170045">
                <a:tc>
                  <a:txBody>
                    <a:bodyPr wrap="square"/>
                    <a:lstStyle/>
                    <a:p>
                      <a:pPr algn="l"/>
                      <a:r>
                        <a:rPr sz="1050" b="0" i="0">
                          <a:solidFill>
                            <a:srgbClr val="000000"/>
                          </a:solidFill>
                          <a:latin typeface="Calibri"/>
                        </a:rPr>
                        <a:t>Table 126: North America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127: Latin America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128: Europe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129: East Asia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130: South Asia &amp; Pacific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131: Middle East &amp; Africa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132: North America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133: U.S.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134: U.S.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135: U.S. Market Value by Application, US$ Mn, 2021–2036</a:t>
                      </a:r>
                      <a:endParaRPr sz="1050"/>
                    </a:p>
                  </a:txBody>
                  <a:tcPr marL="9525" marR="9525" marT="9525" marB="0" anchor="ctr"/>
                </a:tc>
              </a:tr>
              <a:tr h="170045">
                <a:tc>
                  <a:txBody>
                    <a:bodyPr wrap="square"/>
                    <a:lstStyle/>
                    <a:p>
                      <a:pPr algn="l"/>
                      <a:r>
                        <a:rPr sz="1050" b="0" i="0">
                          <a:solidFill>
                            <a:srgbClr val="000000"/>
                          </a:solidFill>
                          <a:latin typeface="Calibri"/>
                        </a:rPr>
                        <a:t>Table 136: U.S. Market Share within North America, %, 2025, 2026 and 2036</a:t>
                      </a:r>
                      <a:endParaRPr sz="1050"/>
                    </a:p>
                  </a:txBody>
                  <a:tcPr marL="9525" marR="9525" marT="9525" marB="0" anchor="ctr"/>
                </a:tc>
              </a:tr>
              <a:tr h="170045">
                <a:tc>
                  <a:txBody>
                    <a:bodyPr wrap="square"/>
                    <a:lstStyle/>
                    <a:p>
                      <a:pPr algn="l"/>
                      <a:r>
                        <a:rPr sz="1050" b="0" i="0">
                          <a:solidFill>
                            <a:srgbClr val="000000"/>
                          </a:solidFill>
                          <a:latin typeface="Calibri"/>
                        </a:rPr>
                        <a:t>Table 137: U.S.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138: U.S. Market Value by Form, US$ Mn, 2021–2036</a:t>
                      </a:r>
                      <a:endParaRPr sz="1050"/>
                    </a:p>
                  </a:txBody>
                  <a:tcPr marL="9525" marR="9525" marT="9525" marB="0" anchor="ctr"/>
                </a:tc>
              </a:tr>
              <a:tr h="170045">
                <a:tc>
                  <a:txBody>
                    <a:bodyPr wrap="square"/>
                    <a:lstStyle/>
                    <a:p>
                      <a:pPr algn="l"/>
                      <a:r>
                        <a:rPr sz="1050" b="0" i="0">
                          <a:solidFill>
                            <a:srgbClr val="000000"/>
                          </a:solidFill>
                          <a:latin typeface="Calibri"/>
                        </a:rPr>
                        <a:t>Table 139: U.S. Market Value by Flavour, US$ Mn, 2021–2036</a:t>
                      </a:r>
                      <a:endParaRPr sz="1050"/>
                    </a:p>
                  </a:txBody>
                  <a:tcPr marL="9525" marR="9525" marT="9525" marB="0" anchor="ctr"/>
                </a:tc>
              </a:tr>
              <a:tr h="170045">
                <a:tc>
                  <a:txBody>
                    <a:bodyPr wrap="square"/>
                    <a:lstStyle/>
                    <a:p>
                      <a:pPr algn="l"/>
                      <a:r>
                        <a:rPr sz="1050" b="0" i="0">
                          <a:solidFill>
                            <a:srgbClr val="000000"/>
                          </a:solidFill>
                          <a:latin typeface="Calibri"/>
                        </a:rPr>
                        <a:t>Table 140: U.S. Market Value by Packaging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141: Germany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142: Germany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143: Germany Market Value by Application, US$ Mn, 2021–2036</a:t>
                      </a:r>
                      <a:endParaRPr sz="1050"/>
                    </a:p>
                  </a:txBody>
                  <a:tcPr marL="9525" marR="9525" marT="9525" marB="0" anchor="ctr"/>
                </a:tc>
              </a:tr>
              <a:tr h="170045">
                <a:tc>
                  <a:txBody>
                    <a:bodyPr wrap="square"/>
                    <a:lstStyle/>
                    <a:p>
                      <a:pPr algn="l"/>
                      <a:r>
                        <a:rPr sz="1050" b="0" i="0">
                          <a:solidFill>
                            <a:srgbClr val="000000"/>
                          </a:solidFill>
                          <a:latin typeface="Calibri"/>
                        </a:rPr>
                        <a:t>Table 144: Germany Market Share within Europe, %, 2025, 2026 and 2036</a:t>
                      </a:r>
                      <a:endParaRPr sz="1050"/>
                    </a:p>
                  </a:txBody>
                  <a:tcPr marL="9525" marR="9525" marT="9525" marB="0" anchor="ctr"/>
                </a:tc>
              </a:tr>
              <a:tr h="170045">
                <a:tc>
                  <a:txBody>
                    <a:bodyPr wrap="square"/>
                    <a:lstStyle/>
                    <a:p>
                      <a:pPr algn="l"/>
                      <a:r>
                        <a:rPr sz="1050" b="0" i="0">
                          <a:solidFill>
                            <a:srgbClr val="000000"/>
                          </a:solidFill>
                          <a:latin typeface="Calibri"/>
                        </a:rPr>
                        <a:t>Table 145: Germany Market Value by Product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146: Germany Market Value by Form, US$ Mn, 2021–2036</a:t>
                      </a:r>
                      <a:endParaRPr sz="1050"/>
                    </a:p>
                  </a:txBody>
                  <a:tcPr marL="9525" marR="9525" marT="9525" marB="0" anchor="ctr"/>
                </a:tc>
              </a:tr>
              <a:tr h="170045">
                <a:tc>
                  <a:txBody>
                    <a:bodyPr wrap="square"/>
                    <a:lstStyle/>
                    <a:p>
                      <a:pPr algn="l"/>
                      <a:r>
                        <a:rPr sz="1050" b="0" i="0">
                          <a:solidFill>
                            <a:srgbClr val="000000"/>
                          </a:solidFill>
                          <a:latin typeface="Calibri"/>
                        </a:rPr>
                        <a:t>Table 147: Germany Market Value by Flavour, US$ Mn, 2021–2036</a:t>
                      </a:r>
                      <a:endParaRPr sz="1050"/>
                    </a:p>
                  </a:txBody>
                  <a:tcPr marL="9525" marR="9525" marT="9525" marB="0" anchor="ctr"/>
                </a:tc>
              </a:tr>
              <a:tr h="170045">
                <a:tc>
                  <a:txBody>
                    <a:bodyPr wrap="square"/>
                    <a:lstStyle/>
                    <a:p>
                      <a:pPr algn="l"/>
                      <a:r>
                        <a:rPr sz="1050" b="0" i="0">
                          <a:solidFill>
                            <a:srgbClr val="000000"/>
                          </a:solidFill>
                          <a:latin typeface="Calibri"/>
                        </a:rPr>
                        <a:t>Table 148: Germany Market Value by Packaging Type, US$ Mn, 2021–2036</a:t>
                      </a:r>
                      <a:endParaRPr sz="1050"/>
                    </a:p>
                  </a:txBody>
                  <a:tcPr marL="9525" marR="9525" marT="9525" marB="0" anchor="ctr"/>
                </a:tc>
              </a:tr>
              <a:tr h="170045">
                <a:tc>
                  <a:txBody>
                    <a:bodyPr wrap="square"/>
                    <a:lstStyle/>
                    <a:p>
                      <a:pPr algn="l"/>
                      <a:r>
                        <a:rPr sz="1050" b="0" i="0">
                          <a:solidFill>
                            <a:srgbClr val="000000"/>
                          </a:solidFill>
                          <a:latin typeface="Calibri"/>
                        </a:rPr>
                        <a:t>Table 149: Canada Market Value by Nature, US$ Mn, 2021–2036</a:t>
                      </a:r>
                      <a:endParaRPr sz="1050"/>
                    </a:p>
                  </a:txBody>
                  <a:tcPr marL="9525" marR="9525" marT="9525" marB="0" anchor="ctr"/>
                </a:tc>
              </a:tr>
              <a:tr h="170045">
                <a:tc>
                  <a:txBody>
                    <a:bodyPr wrap="square"/>
                    <a:lstStyle/>
                    <a:p>
                      <a:pPr algn="l"/>
                      <a:r>
                        <a:rPr sz="1050" b="0" i="0">
                          <a:solidFill>
                            <a:srgbClr val="000000"/>
                          </a:solidFill>
                          <a:latin typeface="Calibri"/>
                        </a:rPr>
                        <a:t>Table 150: Canada Market Historical and Forecast Growth, %, 2021–2036</a:t>
                      </a:r>
                      <a:endParaRPr sz="1050"/>
                    </a:p>
                  </a:txBody>
                  <a:tcPr marL="9525" marR="9525" marT="9525" marB="0" anchor="ctr"/>
                </a:tc>
              </a:tr>
              <a:tr h="170045">
                <a:tc>
                  <a:txBody>
                    <a:bodyPr wrap="square"/>
                    <a:lstStyle/>
                    <a:p>
                      <a:pPr algn="l"/>
                      <a:r>
                        <a:rPr sz="1050" b="0" i="0">
                          <a:solidFill>
                            <a:srgbClr val="000000"/>
                          </a:solidFill>
                          <a:latin typeface="Calibri"/>
                        </a:rPr>
                        <a:t>Table 151: Canada Market Value by Application, US$ Mn, 2021–2036</a:t>
                      </a:r>
                      <a:endParaRPr sz="1050"/>
                    </a:p>
                  </a:txBody>
                  <a:tcPr marL="9525" marR="9525" marT="9525" marB="0" anchor="ctr"/>
                </a:tc>
              </a:tr>
            </a:tbl>
          </a:graphicData>
        </a:graphic>
      </p:graphicFrame>
      <p:graphicFrame>
        <p:nvGraphicFramePr>
          <p:cNvPr id="10" name="FMI Contents Table"/>
          <p:cNvGraphicFramePr>
            <a:graphicFrameLocks noGrp="1"/>
          </p:cNvGraphicFramePr>
          <p:nvPr/>
        </p:nvGraphicFramePr>
        <p:xfrm>
          <a:off x="6172200" y="981075"/>
          <a:ext cx="5876925" cy="5257786"/>
        </p:xfrm>
        <a:graphic>
          <a:graphicData uri="http://schemas.openxmlformats.org/drawingml/2006/table">
            <a:tbl>
              <a:tblPr>
                <a:tableStyleId>{3B4B98B0-60AC-42C2-AFA5-B58CD77FA1E5}</a:tableStyleId>
              </a:tblPr>
              <a:tblGrid>
                <a:gridCol w="5876925"/>
              </a:tblGrid>
              <a:tr h="169606">
                <a:tc>
                  <a:txBody>
                    <a:bodyPr wrap="square"/>
                    <a:lstStyle/>
                    <a:p>
                      <a:pPr algn="l"/>
                      <a:r>
                        <a:rPr sz="1050" b="0" i="0">
                          <a:solidFill>
                            <a:srgbClr val="000000"/>
                          </a:solidFill>
                          <a:latin typeface="Calibri"/>
                        </a:rPr>
                        <a:t>Table 152: Canada Market Share within North America, %, 2025, 2026 and 2036</a:t>
                      </a:r>
                      <a:endParaRPr sz="1050"/>
                    </a:p>
                  </a:txBody>
                  <a:tcPr marL="9525" marR="9525" marT="9525" marB="0" anchor="ctr"/>
                </a:tc>
              </a:tr>
              <a:tr h="169606">
                <a:tc>
                  <a:txBody>
                    <a:bodyPr wrap="square"/>
                    <a:lstStyle/>
                    <a:p>
                      <a:pPr algn="l"/>
                      <a:r>
                        <a:rPr sz="1050" b="0" i="0">
                          <a:solidFill>
                            <a:srgbClr val="000000"/>
                          </a:solidFill>
                          <a:latin typeface="Calibri"/>
                        </a:rPr>
                        <a:t>Table 153: Canada Market Value by Product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154: Canada Market Value by Form, US$ Mn, 2021–2036</a:t>
                      </a:r>
                      <a:endParaRPr sz="1050"/>
                    </a:p>
                  </a:txBody>
                  <a:tcPr marL="9525" marR="9525" marT="9525" marB="0" anchor="ctr"/>
                </a:tc>
              </a:tr>
              <a:tr h="169606">
                <a:tc>
                  <a:txBody>
                    <a:bodyPr wrap="square"/>
                    <a:lstStyle/>
                    <a:p>
                      <a:pPr algn="l"/>
                      <a:r>
                        <a:rPr sz="1050" b="0" i="0">
                          <a:solidFill>
                            <a:srgbClr val="000000"/>
                          </a:solidFill>
                          <a:latin typeface="Calibri"/>
                        </a:rPr>
                        <a:t>Table 155: Canada Market Value by Flavour, US$ Mn, 2021–2036</a:t>
                      </a:r>
                      <a:endParaRPr sz="1050"/>
                    </a:p>
                  </a:txBody>
                  <a:tcPr marL="9525" marR="9525" marT="9525" marB="0" anchor="ctr"/>
                </a:tc>
              </a:tr>
              <a:tr h="169606">
                <a:tc>
                  <a:txBody>
                    <a:bodyPr wrap="square"/>
                    <a:lstStyle/>
                    <a:p>
                      <a:pPr algn="l"/>
                      <a:r>
                        <a:rPr sz="1050" b="0" i="0">
                          <a:solidFill>
                            <a:srgbClr val="000000"/>
                          </a:solidFill>
                          <a:latin typeface="Calibri"/>
                        </a:rPr>
                        <a:t>Table 156: Canada Market Value by Packaging Type, US$ Mn, 2021–2036</a:t>
                      </a:r>
                      <a:endParaRPr sz="1050"/>
                    </a:p>
                  </a:txBody>
                  <a:tcPr marL="9525" marR="9525" marT="9525" marB="0" anchor="ctr"/>
                </a:tc>
              </a:tr>
              <a:tr h="169606">
                <a:tc>
                  <a:txBody>
                    <a:bodyPr wrap="square"/>
                    <a:lstStyle/>
                    <a:p>
                      <a:pPr algn="l"/>
                      <a:r>
                        <a:rPr sz="1050" b="0" i="0">
                          <a:solidFill>
                            <a:srgbClr val="000000"/>
                          </a:solidFill>
                          <a:latin typeface="Calibri"/>
                        </a:rPr>
                        <a:t>Table 157: China Market Value by Nature, US$ Mn, 2021–2036</a:t>
                      </a:r>
                      <a:endParaRPr sz="1050"/>
                    </a:p>
                  </a:txBody>
                  <a:tcPr marL="9525" marR="9525" marT="9525" marB="0" anchor="ctr"/>
                </a:tc>
              </a:tr>
              <a:tr h="169606">
                <a:tc>
                  <a:txBody>
                    <a:bodyPr wrap="square"/>
                    <a:lstStyle/>
                    <a:p>
                      <a:pPr algn="l"/>
                      <a:r>
                        <a:rPr sz="1050" b="0" i="0">
                          <a:solidFill>
                            <a:srgbClr val="000000"/>
                          </a:solidFill>
                          <a:latin typeface="Calibri"/>
                        </a:rPr>
                        <a:t>Table 158: China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159: China Market Value by Application, US$ Mn, 2021–2036</a:t>
                      </a:r>
                      <a:endParaRPr sz="1050"/>
                    </a:p>
                  </a:txBody>
                  <a:tcPr marL="9525" marR="9525" marT="9525" marB="0" anchor="ctr"/>
                </a:tc>
              </a:tr>
              <a:tr h="169606">
                <a:tc>
                  <a:txBody>
                    <a:bodyPr wrap="square"/>
                    <a:lstStyle/>
                    <a:p>
                      <a:pPr algn="l"/>
                      <a:r>
                        <a:rPr sz="1050" b="0" i="0">
                          <a:solidFill>
                            <a:srgbClr val="000000"/>
                          </a:solidFill>
                          <a:latin typeface="Calibri"/>
                        </a:rPr>
                        <a:t>Table 160: India Market Value by Nature, US$ Mn, 2021–2036</a:t>
                      </a:r>
                      <a:endParaRPr sz="1050"/>
                    </a:p>
                  </a:txBody>
                  <a:tcPr marL="9525" marR="9525" marT="9525" marB="0" anchor="ctr"/>
                </a:tc>
              </a:tr>
              <a:tr h="169606">
                <a:tc>
                  <a:txBody>
                    <a:bodyPr wrap="square"/>
                    <a:lstStyle/>
                    <a:p>
                      <a:pPr algn="l"/>
                      <a:r>
                        <a:rPr sz="1050" b="0" i="0">
                          <a:solidFill>
                            <a:srgbClr val="000000"/>
                          </a:solidFill>
                          <a:latin typeface="Calibri"/>
                        </a:rPr>
                        <a:t>Table 161: India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162: Brazil Market Value by Nature, US$ Mn, 2021–2036</a:t>
                      </a:r>
                      <a:endParaRPr sz="1050"/>
                    </a:p>
                  </a:txBody>
                  <a:tcPr marL="9525" marR="9525" marT="9525" marB="0" anchor="ctr"/>
                </a:tc>
              </a:tr>
              <a:tr h="169606">
                <a:tc>
                  <a:txBody>
                    <a:bodyPr wrap="square"/>
                    <a:lstStyle/>
                    <a:p>
                      <a:pPr algn="l"/>
                      <a:r>
                        <a:rPr sz="1050" b="0" i="0">
                          <a:solidFill>
                            <a:srgbClr val="000000"/>
                          </a:solidFill>
                          <a:latin typeface="Calibri"/>
                        </a:rPr>
                        <a:t>Table 163: Brazil Market Historical and Forecast Growth, %, 2021–2036</a:t>
                      </a:r>
                      <a:endParaRPr sz="1050"/>
                    </a:p>
                  </a:txBody>
                  <a:tcPr marL="9525" marR="9525" marT="9525" marB="0" anchor="ctr"/>
                </a:tc>
              </a:tr>
              <a:tr h="169606">
                <a:tc>
                  <a:txBody>
                    <a:bodyPr wrap="square"/>
                    <a:lstStyle/>
                    <a:p>
                      <a:pPr algn="l"/>
                      <a:r>
                        <a:rPr sz="1050" b="0" i="0">
                          <a:solidFill>
                            <a:srgbClr val="000000"/>
                          </a:solidFill>
                          <a:latin typeface="Calibri"/>
                        </a:rPr>
                        <a:t>Table 164: Market Product Price Comparison by Company and Nature, US$/MT, 2026</a:t>
                      </a:r>
                      <a:endParaRPr sz="1050"/>
                    </a:p>
                  </a:txBody>
                  <a:tcPr marL="9525" marR="9525" marT="9525" marB="0" anchor="ctr"/>
                </a:tc>
              </a:tr>
              <a:tr h="169606">
                <a:tc>
                  <a:txBody>
                    <a:bodyPr wrap="square"/>
                    <a:lstStyle/>
                    <a:p>
                      <a:pPr algn="l"/>
                      <a:r>
                        <a:rPr sz="1050" b="0" i="0">
                          <a:solidFill>
                            <a:srgbClr val="000000"/>
                          </a:solidFill>
                          <a:latin typeface="Calibri"/>
                        </a:rPr>
                        <a:t>Table 165: Global Market Average Selling Price by Region, US$/MT, 2021–2036</a:t>
                      </a:r>
                      <a:endParaRPr sz="1050"/>
                    </a:p>
                  </a:txBody>
                  <a:tcPr marL="9525" marR="9525" marT="9525" marB="0" anchor="ctr"/>
                </a:tc>
              </a:tr>
              <a:tr h="169606">
                <a:tc>
                  <a:txBody>
                    <a:bodyPr wrap="square"/>
                    <a:lstStyle/>
                    <a:p>
                      <a:pPr algn="l"/>
                      <a:r>
                        <a:rPr sz="1050" b="0" i="0">
                          <a:solidFill>
                            <a:srgbClr val="000000"/>
                          </a:solidFill>
                          <a:latin typeface="Calibri"/>
                        </a:rPr>
                        <a:t>Table 166: Global Market Average Selling Price by Nature, US$/MT, 2021–2036</a:t>
                      </a:r>
                      <a:endParaRPr sz="1050"/>
                    </a:p>
                  </a:txBody>
                  <a:tcPr marL="9525" marR="9525" marT="9525" marB="0" anchor="ctr"/>
                </a:tc>
              </a:tr>
              <a:tr h="169606">
                <a:tc>
                  <a:txBody>
                    <a:bodyPr wrap="square"/>
                    <a:lstStyle/>
                    <a:p>
                      <a:pPr algn="l"/>
                      <a:r>
                        <a:rPr sz="1050" b="0" i="0">
                          <a:solidFill>
                            <a:srgbClr val="000000"/>
                          </a:solidFill>
                          <a:latin typeface="Calibri"/>
                        </a:rPr>
                        <a:t>Table 167: Global Market Average Selling Price by Product Type, US$/MT, 2021–2036</a:t>
                      </a:r>
                      <a:endParaRPr sz="1050"/>
                    </a:p>
                  </a:txBody>
                  <a:tcPr marL="9525" marR="9525" marT="9525" marB="0" anchor="ctr"/>
                </a:tc>
              </a:tr>
              <a:tr h="169606">
                <a:tc>
                  <a:txBody>
                    <a:bodyPr wrap="square"/>
                    <a:lstStyle/>
                    <a:p>
                      <a:pPr algn="l"/>
                      <a:r>
                        <a:rPr sz="1050" b="0" i="0">
                          <a:solidFill>
                            <a:srgbClr val="000000"/>
                          </a:solidFill>
                          <a:latin typeface="Calibri"/>
                        </a:rPr>
                        <a:t>Table 168: Global Market Average Selling Price by Form, US$/MT, 2021–2036</a:t>
                      </a:r>
                      <a:endParaRPr sz="1050"/>
                    </a:p>
                  </a:txBody>
                  <a:tcPr marL="9525" marR="9525" marT="9525" marB="0" anchor="ctr"/>
                </a:tc>
              </a:tr>
              <a:tr h="169606">
                <a:tc>
                  <a:txBody>
                    <a:bodyPr wrap="square"/>
                    <a:lstStyle/>
                    <a:p>
                      <a:pPr algn="l"/>
                      <a:r>
                        <a:rPr sz="1050" b="0" i="0">
                          <a:solidFill>
                            <a:srgbClr val="000000"/>
                          </a:solidFill>
                          <a:latin typeface="Calibri"/>
                        </a:rPr>
                        <a:t>Table 169: Global Market Average Selling Price by Flavour, US$/MT, 2021–2036</a:t>
                      </a:r>
                      <a:endParaRPr sz="1050"/>
                    </a:p>
                  </a:txBody>
                  <a:tcPr marL="9525" marR="9525" marT="9525" marB="0" anchor="ctr"/>
                </a:tc>
              </a:tr>
              <a:tr h="169606">
                <a:tc>
                  <a:txBody>
                    <a:bodyPr wrap="square"/>
                    <a:lstStyle/>
                    <a:p>
                      <a:pPr algn="l"/>
                      <a:r>
                        <a:rPr sz="1050" b="0" i="0">
                          <a:solidFill>
                            <a:srgbClr val="000000"/>
                          </a:solidFill>
                          <a:latin typeface="Calibri"/>
                        </a:rPr>
                        <a:t>Table 170: Global Market Average Selling Price by Packaging Type, US$/MT, 2021–2036</a:t>
                      </a:r>
                      <a:endParaRPr sz="1050"/>
                    </a:p>
                  </a:txBody>
                  <a:tcPr marL="9525" marR="9525" marT="9525" marB="0" anchor="ctr"/>
                </a:tc>
              </a:tr>
              <a:tr h="169606">
                <a:tc>
                  <a:txBody>
                    <a:bodyPr wrap="square"/>
                    <a:lstStyle/>
                    <a:p>
                      <a:pPr algn="l"/>
                      <a:r>
                        <a:rPr sz="1050" b="0" i="0">
                          <a:solidFill>
                            <a:srgbClr val="000000"/>
                          </a:solidFill>
                          <a:latin typeface="Calibri"/>
                        </a:rPr>
                        <a:t>Table 171: Global Market Average Selling Price by Grade Type, US$/MT, 2021–2036</a:t>
                      </a:r>
                      <a:endParaRPr sz="1050"/>
                    </a:p>
                  </a:txBody>
                  <a:tcPr marL="9525" marR="9525" marT="9525" marB="0" anchor="ctr"/>
                </a:tc>
              </a:tr>
              <a:tr h="169606">
                <a:tc>
                  <a:txBody>
                    <a:bodyPr wrap="square"/>
                    <a:lstStyle/>
                    <a:p>
                      <a:pPr algn="l"/>
                      <a:r>
                        <a:rPr sz="1050" b="0" i="0">
                          <a:solidFill>
                            <a:srgbClr val="000000"/>
                          </a:solidFill>
                          <a:latin typeface="Calibri"/>
                        </a:rPr>
                        <a:t>Table 172: Global Market Average Selling Price by Application, US$/MT, 2021–2036</a:t>
                      </a:r>
                      <a:endParaRPr sz="1050"/>
                    </a:p>
                  </a:txBody>
                  <a:tcPr marL="9525" marR="9525" marT="9525" marB="0" anchor="ctr"/>
                </a:tc>
              </a:tr>
              <a:tr h="169606">
                <a:tc>
                  <a:txBody>
                    <a:bodyPr wrap="square"/>
                    <a:lstStyle/>
                    <a:p>
                      <a:pPr algn="l"/>
                      <a:r>
                        <a:rPr sz="1050" b="0" i="0">
                          <a:solidFill>
                            <a:srgbClr val="000000"/>
                          </a:solidFill>
                          <a:latin typeface="Calibri"/>
                        </a:rPr>
                        <a:t>Table 173: Global Market Average Selling Price by Distribution Channel, US$/MT, 2021–2036</a:t>
                      </a:r>
                      <a:endParaRPr sz="1050"/>
                    </a:p>
                  </a:txBody>
                  <a:tcPr marL="9525" marR="9525" marT="9525" marB="0" anchor="ctr"/>
                </a:tc>
              </a:tr>
              <a:tr h="169606">
                <a:tc>
                  <a:txBody>
                    <a:bodyPr wrap="square"/>
                    <a:lstStyle/>
                    <a:p>
                      <a:pPr algn="l"/>
                      <a:r>
                        <a:rPr sz="1050" b="0" i="0">
                          <a:solidFill>
                            <a:srgbClr val="000000"/>
                          </a:solidFill>
                          <a:latin typeface="Calibri"/>
                        </a:rPr>
                        <a:t>Table 174: Supplier-to-Customer Relationship Mapping in U.S., 2026</a:t>
                      </a:r>
                      <a:endParaRPr sz="1050"/>
                    </a:p>
                  </a:txBody>
                  <a:tcPr marL="9525" marR="9525" marT="9525" marB="0" anchor="ctr"/>
                </a:tc>
              </a:tr>
              <a:tr h="169606">
                <a:tc>
                  <a:txBody>
                    <a:bodyPr wrap="square"/>
                    <a:lstStyle/>
                    <a:p>
                      <a:pPr algn="l"/>
                      <a:r>
                        <a:rPr sz="1050" b="0" i="0">
                          <a:solidFill>
                            <a:srgbClr val="000000"/>
                          </a:solidFill>
                          <a:latin typeface="Calibri"/>
                        </a:rPr>
                        <a:t>Table 175: Global Market Value Chain Participants by Stage, 2026</a:t>
                      </a:r>
                      <a:endParaRPr sz="1050"/>
                    </a:p>
                  </a:txBody>
                  <a:tcPr marL="9525" marR="9525" marT="9525" marB="0" anchor="ctr"/>
                </a:tc>
              </a:tr>
              <a:tr h="169606">
                <a:tc>
                  <a:txBody>
                    <a:bodyPr wrap="square"/>
                    <a:lstStyle/>
                    <a:p>
                      <a:pPr algn="l"/>
                      <a:r>
                        <a:rPr sz="1050" b="0" i="0">
                          <a:solidFill>
                            <a:srgbClr val="000000"/>
                          </a:solidFill>
                          <a:latin typeface="Calibri"/>
                        </a:rPr>
                        <a:t>Table 176: Global Market Margin Analysis by Value Chain Stage, %, 2026</a:t>
                      </a:r>
                      <a:endParaRPr sz="1050"/>
                    </a:p>
                  </a:txBody>
                  <a:tcPr marL="9525" marR="9525" marT="9525" marB="0" anchor="ctr"/>
                </a:tc>
              </a:tr>
              <a:tr h="169606">
                <a:tc>
                  <a:txBody>
                    <a:bodyPr wrap="square"/>
                    <a:lstStyle/>
                    <a:p>
                      <a:pPr algn="l"/>
                      <a:r>
                        <a:rPr sz="1050" b="0" i="0">
                          <a:solidFill>
                            <a:srgbClr val="000000"/>
                          </a:solidFill>
                          <a:latin typeface="Calibri"/>
                        </a:rPr>
                        <a:t>Table 177: Global Market Cost Structure by Component, %, 2026</a:t>
                      </a:r>
                      <a:endParaRPr sz="1050"/>
                    </a:p>
                  </a:txBody>
                  <a:tcPr marL="9525" marR="9525" marT="9525" marB="0" anchor="ctr"/>
                </a:tc>
              </a:tr>
              <a:tr h="169606">
                <a:tc>
                  <a:txBody>
                    <a:bodyPr wrap="square"/>
                    <a:lstStyle/>
                    <a:p>
                      <a:pPr algn="l"/>
                      <a:r>
                        <a:rPr sz="1050" b="0" i="0">
                          <a:solidFill>
                            <a:srgbClr val="000000"/>
                          </a:solidFill>
                          <a:latin typeface="Calibri"/>
                        </a:rPr>
                        <a:t>Table 178: Global Market Import Value by Leading Country, US$ Mn, 2021–2025</a:t>
                      </a:r>
                      <a:endParaRPr sz="1050"/>
                    </a:p>
                  </a:txBody>
                  <a:tcPr marL="9525" marR="9525" marT="9525" marB="0" anchor="ctr"/>
                </a:tc>
              </a:tr>
              <a:tr h="169606">
                <a:tc>
                  <a:txBody>
                    <a:bodyPr wrap="square"/>
                    <a:lstStyle/>
                    <a:p>
                      <a:pPr algn="l"/>
                      <a:r>
                        <a:rPr sz="1050" b="0" i="0">
                          <a:solidFill>
                            <a:srgbClr val="000000"/>
                          </a:solidFill>
                          <a:latin typeface="Calibri"/>
                        </a:rPr>
                        <a:t>Table 179: Leading Matcha Manufacturers: Product Portfolio and Geographic Presence, 2026</a:t>
                      </a:r>
                      <a:endParaRPr sz="1050"/>
                    </a:p>
                  </a:txBody>
                  <a:tcPr marL="9525" marR="9525" marT="9525" marB="0" anchor="ctr"/>
                </a:tc>
              </a:tr>
              <a:tr h="169606">
                <a:tc>
                  <a:txBody>
                    <a:bodyPr wrap="square"/>
                    <a:lstStyle/>
                    <a:p>
                      <a:pPr algn="l"/>
                      <a:r>
                        <a:rPr sz="1050" b="0" i="0">
                          <a:solidFill>
                            <a:srgbClr val="000000"/>
                          </a:solidFill>
                          <a:latin typeface="Calibri"/>
                        </a:rPr>
                        <a:t>Table 180: Company Revenue from the Global Market, US$ Mn, 2025–2026</a:t>
                      </a:r>
                      <a:endParaRPr sz="1050"/>
                    </a:p>
                  </a:txBody>
                  <a:tcPr marL="9525" marR="9525" marT="9525" marB="0" anchor="ctr"/>
                </a:tc>
              </a:tr>
              <a:tr h="169606">
                <a:tc>
                  <a:txBody>
                    <a:bodyPr wrap="square"/>
                    <a:lstStyle/>
                    <a:p>
                      <a:pPr algn="l"/>
                      <a:r>
                        <a:rPr sz="1050" b="0" i="0">
                          <a:solidFill>
                            <a:srgbClr val="000000"/>
                          </a:solidFill>
                          <a:latin typeface="Calibri"/>
                        </a:rPr>
                        <a:t>Table 181: Company Market Share in the Global Market by Region, %, 2026</a:t>
                      </a:r>
                      <a:endParaRPr sz="1050"/>
                    </a:p>
                  </a:txBody>
                  <a:tcPr marL="9525" marR="9525" marT="9525" marB="0" anchor="ctr"/>
                </a:tc>
              </a:tr>
              <a:tr h="169606">
                <a:tc>
                  <a:txBody>
                    <a:bodyPr wrap="square"/>
                    <a:lstStyle/>
                    <a:p>
                      <a:pPr algn="l"/>
                      <a:r>
                        <a:rPr sz="1050" b="0" i="0">
                          <a:solidFill>
                            <a:srgbClr val="000000"/>
                          </a:solidFill>
                          <a:latin typeface="Calibri"/>
                        </a:rPr>
                        <a:t>Table 182: Global Market Competitive Benchmarking Matrix, 2026</a:t>
                      </a:r>
                      <a:endParaRPr sz="1050"/>
                    </a:p>
                  </a:txBody>
                  <a:tcPr marL="9525" marR="9525" marT="9525" marB="0" anchor="ctr"/>
                </a:tc>
              </a:tr>
            </a:tbl>
          </a:graphicData>
        </a:graphic>
      </p:graphicFrame>
      <p:sp>
        <p:nvSpPr>
          <p:cNvPr id="11" name="TextBox 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76200"/>
            <a:ext cx="10506075" cy="762000"/>
          </a:xfrm>
          <a:prstGeom prst="rect">
            <a:avLst/>
          </a:prstGeom>
          <a:noFill/>
        </p:spPr>
        <p:txBody>
          <a:bodyPr wrap="square" lIns="28575" rIns="28575" tIns="0" bIns="0" anchor="ctr">
            <a:spAutoFit/>
          </a:bodyPr>
          <a:lstStyle/>
          <a:p>
            <a:pPr algn="l">
              <a:lnSpc>
                <a:spcPct val="90000"/>
              </a:lnSpc>
            </a:pPr>
            <a:r>
              <a:rPr sz="2100" b="1">
                <a:solidFill>
                  <a:srgbClr val="000000"/>
                </a:solidFill>
                <a:latin typeface="Calibri"/>
              </a:rPr>
              <a:t>List of Tables (4/4)</a:t>
            </a:r>
          </a:p>
        </p:txBody>
      </p:sp>
      <p:graphicFrame>
        <p:nvGraphicFramePr>
          <p:cNvPr id="9" name="FMI Contents Table"/>
          <p:cNvGraphicFramePr>
            <a:graphicFrameLocks noGrp="1"/>
          </p:cNvGraphicFramePr>
          <p:nvPr/>
        </p:nvGraphicFramePr>
        <p:xfrm>
          <a:off x="142875" y="981075"/>
          <a:ext cx="5876925" cy="3000384"/>
        </p:xfrm>
        <a:graphic>
          <a:graphicData uri="http://schemas.openxmlformats.org/drawingml/2006/table">
            <a:tbl>
              <a:tblPr>
                <a:tableStyleId>{3B4B98B0-60AC-42C2-AFA5-B58CD77FA1E5}</a:tableStyleId>
              </a:tblPr>
              <a:tblGrid>
                <a:gridCol w="5876925"/>
              </a:tblGrid>
              <a:tr h="166688">
                <a:tc>
                  <a:txBody>
                    <a:bodyPr wrap="square"/>
                    <a:lstStyle/>
                    <a:p>
                      <a:pPr algn="l"/>
                      <a:r>
                        <a:rPr sz="1050" b="0" i="0">
                          <a:solidFill>
                            <a:srgbClr val="000000"/>
                          </a:solidFill>
                          <a:latin typeface="Calibri"/>
                        </a:rPr>
                        <a:t>Table 183: Global Market Mergers, Acquisitions and Partnerships, 2021–2026</a:t>
                      </a:r>
                      <a:endParaRPr sz="1050"/>
                    </a:p>
                  </a:txBody>
                  <a:tcPr marL="9525" marR="9525" marT="9525" marB="0" anchor="ctr"/>
                </a:tc>
              </a:tr>
              <a:tr h="166688">
                <a:tc>
                  <a:txBody>
                    <a:bodyPr wrap="square"/>
                    <a:lstStyle/>
                    <a:p>
                      <a:pPr algn="l"/>
                      <a:r>
                        <a:rPr sz="1050" b="0" i="0">
                          <a:solidFill>
                            <a:srgbClr val="000000"/>
                          </a:solidFill>
                          <a:latin typeface="Calibri"/>
                        </a:rPr>
                        <a:t>Table 184: Jade Leaf Matcha: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185: DoMatcha: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186: Encha: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187: Rishi Tea and Botanicals: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188: Tenzo: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189: Matchaful: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190: Kettl: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191: Harney and Sons: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192: Sencha Naturals: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193: Aoi Matcha: Company Overview, Products and Strategy, 2026</a:t>
                      </a:r>
                      <a:endParaRPr sz="1050"/>
                    </a:p>
                  </a:txBody>
                  <a:tcPr marL="9525" marR="9525" marT="9525" marB="0" anchor="ctr"/>
                </a:tc>
              </a:tr>
              <a:tr h="166688">
                <a:tc>
                  <a:txBody>
                    <a:bodyPr wrap="square"/>
                    <a:lstStyle/>
                    <a:p>
                      <a:pPr algn="l"/>
                      <a:r>
                        <a:rPr sz="1050" b="0" i="0">
                          <a:solidFill>
                            <a:srgbClr val="000000"/>
                          </a:solidFill>
                          <a:latin typeface="Calibri"/>
                        </a:rPr>
                        <a:t>Table 194: Global Market Value by Scenario and Region, US$ Mn, 2026–2036</a:t>
                      </a:r>
                      <a:endParaRPr sz="1050"/>
                    </a:p>
                  </a:txBody>
                  <a:tcPr marL="9525" marR="9525" marT="9525" marB="0" anchor="ctr"/>
                </a:tc>
              </a:tr>
              <a:tr h="166688">
                <a:tc>
                  <a:txBody>
                    <a:bodyPr wrap="square"/>
                    <a:lstStyle/>
                    <a:p>
                      <a:pPr algn="l"/>
                      <a:r>
                        <a:rPr sz="1050" b="0" i="0">
                          <a:solidFill>
                            <a:srgbClr val="000000"/>
                          </a:solidFill>
                          <a:latin typeface="Calibri"/>
                        </a:rPr>
                        <a:t>Table 195: Global Market Key Trends and Impact Rating, 2026–2036</a:t>
                      </a:r>
                      <a:endParaRPr sz="1050"/>
                    </a:p>
                  </a:txBody>
                  <a:tcPr marL="9525" marR="9525" marT="9525" marB="0" anchor="ctr"/>
                </a:tc>
              </a:tr>
              <a:tr h="166688">
                <a:tc>
                  <a:txBody>
                    <a:bodyPr wrap="square"/>
                    <a:lstStyle/>
                    <a:p>
                      <a:pPr algn="l"/>
                      <a:r>
                        <a:rPr sz="1050" b="0" i="0">
                          <a:solidFill>
                            <a:srgbClr val="000000"/>
                          </a:solidFill>
                          <a:latin typeface="Calibri"/>
                        </a:rPr>
                        <a:t>Table 196: Global Market Opportunity Assessment by Nature, US$ Mn, 2026–2036</a:t>
                      </a:r>
                      <a:endParaRPr sz="1050"/>
                    </a:p>
                  </a:txBody>
                  <a:tcPr marL="9525" marR="9525" marT="9525" marB="0" anchor="ctr"/>
                </a:tc>
              </a:tr>
              <a:tr h="166688">
                <a:tc>
                  <a:txBody>
                    <a:bodyPr wrap="square"/>
                    <a:lstStyle/>
                    <a:p>
                      <a:pPr algn="l"/>
                      <a:r>
                        <a:rPr sz="1050" b="0" i="0">
                          <a:solidFill>
                            <a:srgbClr val="000000"/>
                          </a:solidFill>
                          <a:latin typeface="Calibri"/>
                        </a:rPr>
                        <a:t>Table 197: Global Market Scenario Assumptions, 2026–2036</a:t>
                      </a:r>
                      <a:endParaRPr sz="1050"/>
                    </a:p>
                  </a:txBody>
                  <a:tcPr marL="9525" marR="9525" marT="9525" marB="0" anchor="ctr"/>
                </a:tc>
              </a:tr>
              <a:tr h="166688">
                <a:tc>
                  <a:txBody>
                    <a:bodyPr wrap="square"/>
                    <a:lstStyle/>
                    <a:p>
                      <a:pPr algn="l"/>
                      <a:r>
                        <a:rPr sz="1050" b="0" i="0">
                          <a:solidFill>
                            <a:srgbClr val="000000"/>
                          </a:solidFill>
                          <a:latin typeface="Calibri"/>
                        </a:rPr>
                        <a:t>Table 198: Global Market Client Opportunity Prioritisation by Nature, 2026–2036</a:t>
                      </a:r>
                      <a:endParaRPr sz="1050"/>
                    </a:p>
                  </a:txBody>
                  <a:tcPr marL="9525" marR="9525" marT="9525" marB="0" anchor="ctr"/>
                </a:tc>
              </a:tr>
              <a:tr h="166688">
                <a:tc>
                  <a:txBody>
                    <a:bodyPr wrap="square"/>
                    <a:lstStyle/>
                    <a:p>
                      <a:pPr algn="l"/>
                      <a:r>
                        <a:rPr sz="1050" b="0" i="0">
                          <a:solidFill>
                            <a:srgbClr val="000000"/>
                          </a:solidFill>
                          <a:latin typeface="Calibri"/>
                        </a:rPr>
                        <a:t>Table 199: Global Market Customer Purchase Criteria by Nature, 2026</a:t>
                      </a:r>
                      <a:endParaRPr sz="1050"/>
                    </a:p>
                  </a:txBody>
                  <a:tcPr marL="9525" marR="9525" marT="9525" marB="0" anchor="ctr"/>
                </a:tc>
              </a:tr>
              <a:tr h="166688">
                <a:tc>
                  <a:txBody>
                    <a:bodyPr wrap="square"/>
                    <a:lstStyle/>
                    <a:p>
                      <a:pPr algn="l"/>
                      <a:r>
                        <a:rPr sz="1050" b="0" i="0">
                          <a:solidFill>
                            <a:srgbClr val="000000"/>
                          </a:solidFill>
                          <a:latin typeface="Calibri"/>
                        </a:rPr>
                        <a:t>Table 200: Global Market Strategic Recommendations and Action Plan, 2026–2036</a:t>
                      </a:r>
                      <a:endParaRPr sz="1050"/>
                    </a:p>
                  </a:txBody>
                  <a:tcPr marL="9525" marR="9525" marT="9525" marB="0" anchor="ctr"/>
                </a:tc>
              </a:tr>
            </a:tbl>
          </a:graphicData>
        </a:graphic>
      </p:graphicFrame>
      <p:sp>
        <p:nvSpPr>
          <p:cNvPr id="10" name="TextBox 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429510"/>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2734310"/>
            <a:ext cx="7239000" cy="514350"/>
          </a:xfrm>
          <a:prstGeom prst="rect">
            <a:avLst/>
          </a:prstGeom>
          <a:noFill/>
        </p:spPr>
        <p:txBody>
          <a:bodyPr wrap="square" lIns="0" rIns="0" tIns="0">
            <a:spAutoFit/>
          </a:bodyPr>
          <a:lstStyle/>
          <a:p>
            <a:r>
              <a:rPr sz="3000" b="1" cap="all" spc="400">
                <a:solidFill>
                  <a:srgbClr val="FFFFFF"/>
                </a:solidFill>
                <a:latin typeface="Calibri"/>
              </a:rPr>
              <a:t>Global Market Outlook</a:t>
            </a:r>
          </a:p>
        </p:txBody>
      </p:sp>
      <p:sp>
        <p:nvSpPr>
          <p:cNvPr id="7" name="TextBox 6"/>
          <p:cNvSpPr txBox="1"/>
          <p:nvPr/>
        </p:nvSpPr>
        <p:spPr>
          <a:xfrm>
            <a:off x="914400" y="3439160"/>
            <a:ext cx="5067300" cy="237871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Region</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Global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Nature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Form</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Flavour</a:t>
            </a:r>
          </a:p>
        </p:txBody>
      </p:sp>
      <p:sp>
        <p:nvSpPr>
          <p:cNvPr id="8" name="TextBox 7"/>
          <p:cNvSpPr txBox="1"/>
          <p:nvPr/>
        </p:nvSpPr>
        <p:spPr>
          <a:xfrm>
            <a:off x="6096000" y="3439160"/>
            <a:ext cx="5067300" cy="241808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Packaging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Grade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Nature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Form ×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Packaging Type × Distribution Channel</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3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Global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volume growth, incremental opportunity and the geographies driving it, 2021–2036</a:t>
            </a:r>
          </a:p>
        </p:txBody>
      </p:sp>
      <p:sp>
        <p:nvSpPr>
          <p:cNvPr id="10" name="Rounded Rectangle 9"/>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1" name="Rounded Rectangle 10"/>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2" name="Rounded Rectangle 11"/>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3" name="Rounded Rectangle 12"/>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4" name="Rounded Rectangle 13"/>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6" name="Chart 15"/>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7" name="Rounded Rectangle 16"/>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19" name="Chart 18"/>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0" name="Rounded Rectangle 19"/>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2" name="Rectangle 21"/>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Rounded Rectangle 23"/>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6" name="Rectangle 25"/>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6"/>
          <a:stretch>
            <a:fillRect/>
          </a:stretch>
        </p:blipFill>
        <p:spPr>
          <a:xfrm>
            <a:off x="1502569" y="1250587"/>
            <a:ext cx="157162" cy="228600"/>
          </a:xfrm>
          <a:prstGeom prst="rect">
            <a:avLst/>
          </a:prstGeom>
        </p:spPr>
      </p:pic>
      <p:pic>
        <p:nvPicPr>
          <p:cNvPr id="30" name="Picture 29" descr="lock.png"/>
          <p:cNvPicPr>
            <a:picLocks noChangeAspect="1"/>
          </p:cNvPicPr>
          <p:nvPr/>
        </p:nvPicPr>
        <p:blipFill>
          <a:blip r:embed="rId6"/>
          <a:stretch>
            <a:fillRect/>
          </a:stretch>
        </p:blipFill>
        <p:spPr>
          <a:xfrm>
            <a:off x="4502944"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75128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105227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3991062" y="5157531"/>
            <a:ext cx="289830" cy="421571"/>
          </a:xfrm>
          <a:prstGeom prst="rect">
            <a:avLst/>
          </a:prstGeom>
        </p:spPr>
      </p:pic>
      <p:sp>
        <p:nvSpPr>
          <p:cNvPr id="34" name="TextBox 33"/>
          <p:cNvSpPr txBox="1"/>
          <p:nvPr/>
        </p:nvSpPr>
        <p:spPr>
          <a:xfrm>
            <a:off x="8048625" y="2046987"/>
            <a:ext cx="2773846" cy="194310"/>
          </a:xfrm>
          <a:prstGeom prst="rect">
            <a:avLst/>
          </a:prstGeom>
          <a:noFill/>
        </p:spPr>
        <p:txBody>
          <a:bodyPr wrap="none" lIns="0" rIns="0" tIns="0" bIns="0">
            <a:spAutoFit/>
          </a:bodyPr>
          <a:lstStyle/>
          <a:p>
            <a:r>
              <a:rPr sz="1150" b="0">
                <a:solidFill>
                  <a:srgbClr val="2E2E2E"/>
                </a:solidFill>
                <a:latin typeface="Calibri"/>
              </a:rPr>
              <a:t>Global matcha market is projected to register</a:t>
            </a:r>
          </a:p>
        </p:txBody>
      </p:sp>
      <p:pic>
        <p:nvPicPr>
          <p:cNvPr id="35" name="Picture 34" descr="lock.png"/>
          <p:cNvPicPr>
            <a:picLocks noChangeAspect="1"/>
          </p:cNvPicPr>
          <p:nvPr/>
        </p:nvPicPr>
        <p:blipFill>
          <a:blip r:embed="rId6"/>
          <a:stretch>
            <a:fillRect/>
          </a:stretch>
        </p:blipFill>
        <p:spPr>
          <a:xfrm>
            <a:off x="10771625" y="2036763"/>
            <a:ext cx="134549" cy="195707"/>
          </a:xfrm>
          <a:prstGeom prst="rect">
            <a:avLst/>
          </a:prstGeom>
        </p:spPr>
      </p:pic>
      <p:sp>
        <p:nvSpPr>
          <p:cNvPr id="36" name="TextBox 35"/>
          <p:cNvSpPr txBox="1"/>
          <p:nvPr/>
        </p:nvSpPr>
        <p:spPr>
          <a:xfrm>
            <a:off x="10946734" y="2046987"/>
            <a:ext cx="824420" cy="194310"/>
          </a:xfrm>
          <a:prstGeom prst="rect">
            <a:avLst/>
          </a:prstGeom>
          <a:noFill/>
        </p:spPr>
        <p:txBody>
          <a:bodyPr wrap="none" lIns="0" rIns="0" tIns="0" bIns="0">
            <a:spAutoFit/>
          </a:bodyPr>
          <a:lstStyle/>
          <a:p>
            <a:r>
              <a:rPr sz="1150" b="0">
                <a:solidFill>
                  <a:srgbClr val="2E2E2E"/>
                </a:solidFill>
                <a:latin typeface="Calibri"/>
              </a:rPr>
              <a:t>X increase in</a:t>
            </a:r>
          </a:p>
        </p:txBody>
      </p:sp>
      <p:sp>
        <p:nvSpPr>
          <p:cNvPr id="37" name="TextBox 36"/>
          <p:cNvSpPr txBox="1"/>
          <p:nvPr/>
        </p:nvSpPr>
        <p:spPr>
          <a:xfrm>
            <a:off x="8048625" y="2222247"/>
            <a:ext cx="3574268" cy="194310"/>
          </a:xfrm>
          <a:prstGeom prst="rect">
            <a:avLst/>
          </a:prstGeom>
          <a:noFill/>
        </p:spPr>
        <p:txBody>
          <a:bodyPr wrap="none" lIns="0" rIns="0" tIns="0" bIns="0">
            <a:spAutoFit/>
          </a:bodyPr>
          <a:lstStyle/>
          <a:p>
            <a:r>
              <a:rPr sz="1150" b="0">
                <a:solidFill>
                  <a:srgbClr val="2E2E2E"/>
                </a:solidFill>
                <a:latin typeface="Calibri"/>
              </a:rPr>
              <a:t>volume by the end of forecast period, 2036. Global matcha</a:t>
            </a:r>
          </a:p>
        </p:txBody>
      </p:sp>
      <p:sp>
        <p:nvSpPr>
          <p:cNvPr id="38" name="TextBox 37"/>
          <p:cNvSpPr txBox="1"/>
          <p:nvPr/>
        </p:nvSpPr>
        <p:spPr>
          <a:xfrm>
            <a:off x="8048625" y="2397507"/>
            <a:ext cx="1499902" cy="194310"/>
          </a:xfrm>
          <a:prstGeom prst="rect">
            <a:avLst/>
          </a:prstGeom>
          <a:noFill/>
        </p:spPr>
        <p:txBody>
          <a:bodyPr wrap="none" lIns="0" rIns="0" tIns="0" bIns="0">
            <a:spAutoFit/>
          </a:bodyPr>
          <a:lstStyle/>
          <a:p>
            <a:r>
              <a:rPr sz="1150" b="0">
                <a:solidFill>
                  <a:srgbClr val="2E2E2E"/>
                </a:solidFill>
                <a:latin typeface="Calibri"/>
              </a:rPr>
              <a:t>market volume stood at</a:t>
            </a:r>
          </a:p>
        </p:txBody>
      </p:sp>
      <p:pic>
        <p:nvPicPr>
          <p:cNvPr id="39" name="Picture 38" descr="lock.png"/>
          <p:cNvPicPr>
            <a:picLocks noChangeAspect="1"/>
          </p:cNvPicPr>
          <p:nvPr/>
        </p:nvPicPr>
        <p:blipFill>
          <a:blip r:embed="rId6"/>
          <a:stretch>
            <a:fillRect/>
          </a:stretch>
        </p:blipFill>
        <p:spPr>
          <a:xfrm>
            <a:off x="9497681" y="2387283"/>
            <a:ext cx="134549" cy="195707"/>
          </a:xfrm>
          <a:prstGeom prst="rect">
            <a:avLst/>
          </a:prstGeom>
        </p:spPr>
      </p:pic>
      <p:sp>
        <p:nvSpPr>
          <p:cNvPr id="40" name="TextBox 39"/>
          <p:cNvSpPr txBox="1"/>
          <p:nvPr/>
        </p:nvSpPr>
        <p:spPr>
          <a:xfrm>
            <a:off x="9672790" y="2397507"/>
            <a:ext cx="1864171" cy="194310"/>
          </a:xfrm>
          <a:prstGeom prst="rect">
            <a:avLst/>
          </a:prstGeom>
          <a:noFill/>
        </p:spPr>
        <p:txBody>
          <a:bodyPr wrap="none" lIns="0" rIns="0" tIns="0" bIns="0">
            <a:spAutoFit/>
          </a:bodyPr>
          <a:lstStyle/>
          <a:p>
            <a:r>
              <a:rPr sz="1150" b="0">
                <a:solidFill>
                  <a:srgbClr val="2E2E2E"/>
                </a:solidFill>
                <a:latin typeface="Calibri"/>
              </a:rPr>
              <a:t>MT in 2025 and is expected to</a:t>
            </a:r>
          </a:p>
        </p:txBody>
      </p:sp>
      <p:sp>
        <p:nvSpPr>
          <p:cNvPr id="41" name="TextBox 40"/>
          <p:cNvSpPr txBox="1"/>
          <p:nvPr/>
        </p:nvSpPr>
        <p:spPr>
          <a:xfrm>
            <a:off x="8048625" y="2572767"/>
            <a:ext cx="408520" cy="194310"/>
          </a:xfrm>
          <a:prstGeom prst="rect">
            <a:avLst/>
          </a:prstGeom>
          <a:noFill/>
        </p:spPr>
        <p:txBody>
          <a:bodyPr wrap="none" lIns="0" rIns="0" tIns="0" bIns="0">
            <a:spAutoFit/>
          </a:bodyPr>
          <a:lstStyle/>
          <a:p>
            <a:r>
              <a:rPr sz="1150" b="0">
                <a:solidFill>
                  <a:srgbClr val="2E2E2E"/>
                </a:solidFill>
                <a:latin typeface="Calibri"/>
              </a:rPr>
              <a:t>reach</a:t>
            </a:r>
          </a:p>
        </p:txBody>
      </p:sp>
      <p:pic>
        <p:nvPicPr>
          <p:cNvPr id="42" name="Picture 41" descr="lock.png"/>
          <p:cNvPicPr>
            <a:picLocks noChangeAspect="1"/>
          </p:cNvPicPr>
          <p:nvPr/>
        </p:nvPicPr>
        <p:blipFill>
          <a:blip r:embed="rId6"/>
          <a:stretch>
            <a:fillRect/>
          </a:stretch>
        </p:blipFill>
        <p:spPr>
          <a:xfrm>
            <a:off x="8406299" y="2562543"/>
            <a:ext cx="134549" cy="195707"/>
          </a:xfrm>
          <a:prstGeom prst="rect">
            <a:avLst/>
          </a:prstGeom>
        </p:spPr>
      </p:pic>
      <p:sp>
        <p:nvSpPr>
          <p:cNvPr id="43" name="TextBox 42"/>
          <p:cNvSpPr txBox="1"/>
          <p:nvPr/>
        </p:nvSpPr>
        <p:spPr>
          <a:xfrm>
            <a:off x="8581409" y="2572767"/>
            <a:ext cx="1850461" cy="194310"/>
          </a:xfrm>
          <a:prstGeom prst="rect">
            <a:avLst/>
          </a:prstGeom>
          <a:noFill/>
        </p:spPr>
        <p:txBody>
          <a:bodyPr wrap="none" lIns="0" rIns="0" tIns="0" bIns="0">
            <a:spAutoFit/>
          </a:bodyPr>
          <a:lstStyle/>
          <a:p>
            <a:r>
              <a:rPr sz="1150" b="0">
                <a:solidFill>
                  <a:srgbClr val="2E2E2E"/>
                </a:solidFill>
                <a:latin typeface="Calibri"/>
              </a:rPr>
              <a:t>MT by 2036 end, at a CAGR of</a:t>
            </a:r>
          </a:p>
        </p:txBody>
      </p:sp>
      <p:pic>
        <p:nvPicPr>
          <p:cNvPr id="44" name="Picture 43" descr="lock.png"/>
          <p:cNvPicPr>
            <a:picLocks noChangeAspect="1"/>
          </p:cNvPicPr>
          <p:nvPr/>
        </p:nvPicPr>
        <p:blipFill>
          <a:blip r:embed="rId6"/>
          <a:stretch>
            <a:fillRect/>
          </a:stretch>
        </p:blipFill>
        <p:spPr>
          <a:xfrm>
            <a:off x="10381024" y="2562543"/>
            <a:ext cx="134549" cy="195707"/>
          </a:xfrm>
          <a:prstGeom prst="rect">
            <a:avLst/>
          </a:prstGeom>
        </p:spPr>
      </p:pic>
      <p:sp>
        <p:nvSpPr>
          <p:cNvPr id="45" name="TextBox 44"/>
          <p:cNvSpPr txBox="1"/>
          <p:nvPr/>
        </p:nvSpPr>
        <p:spPr>
          <a:xfrm>
            <a:off x="10556133" y="257276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8048625" y="2800604"/>
            <a:ext cx="3842122" cy="194310"/>
          </a:xfrm>
          <a:prstGeom prst="rect">
            <a:avLst/>
          </a:prstGeom>
          <a:noFill/>
        </p:spPr>
        <p:txBody>
          <a:bodyPr wrap="none" lIns="0" rIns="0" tIns="0" bIns="0">
            <a:spAutoFit/>
          </a:bodyPr>
          <a:lstStyle/>
          <a:p>
            <a:r>
              <a:rPr sz="1150" b="0">
                <a:solidFill>
                  <a:srgbClr val="2E2E2E"/>
                </a:solidFill>
                <a:latin typeface="Calibri"/>
              </a:rPr>
              <a:t>Value is projected to grow faster than volume over the forecast</a:t>
            </a:r>
          </a:p>
        </p:txBody>
      </p:sp>
      <p:sp>
        <p:nvSpPr>
          <p:cNvPr id="47" name="TextBox 46"/>
          <p:cNvSpPr txBox="1"/>
          <p:nvPr/>
        </p:nvSpPr>
        <p:spPr>
          <a:xfrm>
            <a:off x="8048625" y="2975864"/>
            <a:ext cx="3184897" cy="194310"/>
          </a:xfrm>
          <a:prstGeom prst="rect">
            <a:avLst/>
          </a:prstGeom>
          <a:noFill/>
        </p:spPr>
        <p:txBody>
          <a:bodyPr wrap="none" lIns="0" rIns="0" tIns="0" bIns="0">
            <a:spAutoFit/>
          </a:bodyPr>
          <a:lstStyle/>
          <a:p>
            <a:r>
              <a:rPr sz="1150" b="0">
                <a:solidFill>
                  <a:srgbClr val="2E2E2E"/>
                </a:solidFill>
                <a:latin typeface="Calibri"/>
              </a:rPr>
              <a:t>period, owing to an increase in average selling price.</a:t>
            </a:r>
          </a:p>
        </p:txBody>
      </p:sp>
      <p:sp>
        <p:nvSpPr>
          <p:cNvPr id="48" name="TextBox 47"/>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9" name="Picture 48" descr="lock.png"/>
          <p:cNvPicPr>
            <a:picLocks noChangeAspect="1"/>
          </p:cNvPicPr>
          <p:nvPr/>
        </p:nvPicPr>
        <p:blipFill>
          <a:blip r:embed="rId6"/>
          <a:stretch>
            <a:fillRect/>
          </a:stretch>
        </p:blipFill>
        <p:spPr>
          <a:xfrm>
            <a:off x="10866614" y="4446251"/>
            <a:ext cx="134549" cy="195707"/>
          </a:xfrm>
          <a:prstGeom prst="rect">
            <a:avLst/>
          </a:prstGeom>
        </p:spPr>
      </p:pic>
      <p:sp>
        <p:nvSpPr>
          <p:cNvPr id="50" name="TextBox 49"/>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8048625" y="4684312"/>
            <a:ext cx="3063378" cy="194310"/>
          </a:xfrm>
          <a:prstGeom prst="rect">
            <a:avLst/>
          </a:prstGeom>
          <a:noFill/>
        </p:spPr>
        <p:txBody>
          <a:bodyPr wrap="none" lIns="0" rIns="0" tIns="0" bIns="0">
            <a:spAutoFit/>
          </a:bodyPr>
          <a:lstStyle/>
          <a:p>
            <a:r>
              <a:rPr sz="1150" b="0">
                <a:solidFill>
                  <a:srgbClr val="2E2E2E"/>
                </a:solidFill>
                <a:latin typeface="Calibri"/>
              </a:rPr>
              <a:t>▪ Demand concentrates in 'Organic' within Nature.</a:t>
            </a:r>
          </a:p>
        </p:txBody>
      </p:sp>
      <p:sp>
        <p:nvSpPr>
          <p:cNvPr id="52" name="TextBox 51"/>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3" name="TextBox 52"/>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4" name="lockshield_16"/>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lockshield_19"/>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region, highlighting where pricing power sits</a:t>
            </a:r>
          </a:p>
        </p:txBody>
      </p:sp>
      <p:sp>
        <p:nvSpPr>
          <p:cNvPr id="10" name="Rounded Rectangle 9"/>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Nature  ·  range across 2021–2036 (US$/MT)</a:t>
            </a:r>
          </a:p>
        </p:txBody>
      </p:sp>
      <p:cxnSp>
        <p:nvCxnSpPr>
          <p:cNvPr id="12" name="Connector 11"/>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3"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4"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5"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6" name="Connector 25"/>
          <p:cNvCxnSpPr/>
          <p:nvPr/>
        </p:nvCxnSpPr>
        <p:spPr>
          <a:xfrm flipV="1">
            <a:off x="2409825" y="2863132"/>
            <a:ext cx="0" cy="25642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22783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2278380" y="286313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2190750" y="2924910"/>
            <a:ext cx="438150" cy="128330"/>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0" name="Connector 29"/>
          <p:cNvCxnSpPr/>
          <p:nvPr/>
        </p:nvCxnSpPr>
        <p:spPr>
          <a:xfrm>
            <a:off x="2190750" y="2988321"/>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657225" y="2710732"/>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2" name="Connector 31"/>
          <p:cNvCxnSpPr/>
          <p:nvPr/>
        </p:nvCxnSpPr>
        <p:spPr>
          <a:xfrm flipV="1">
            <a:off x="5915025" y="1670329"/>
            <a:ext cx="0" cy="33164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783580" y="2001977"/>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7835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5695950" y="1750337"/>
            <a:ext cx="438150" cy="165927"/>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6" name="Connector 35"/>
          <p:cNvCxnSpPr/>
          <p:nvPr/>
        </p:nvCxnSpPr>
        <p:spPr>
          <a:xfrm>
            <a:off x="5695950" y="1832348"/>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4162425" y="15179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8" name="TextBox 37"/>
          <p:cNvSpPr txBox="1"/>
          <p:nvPr/>
        </p:nvSpPr>
        <p:spPr>
          <a:xfrm>
            <a:off x="6572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Organic</a:t>
            </a:r>
          </a:p>
        </p:txBody>
      </p:sp>
      <p:sp>
        <p:nvSpPr>
          <p:cNvPr id="39" name="TextBox 38"/>
          <p:cNvSpPr txBox="1"/>
          <p:nvPr/>
        </p:nvSpPr>
        <p:spPr>
          <a:xfrm>
            <a:off x="41624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Conventional</a:t>
            </a:r>
          </a:p>
        </p:txBody>
      </p:sp>
      <p:sp>
        <p:nvSpPr>
          <p:cNvPr id="40" name="Rounded Rectangle 39"/>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  2026–2036</a:t>
            </a:r>
          </a:p>
        </p:txBody>
      </p:sp>
      <p:cxnSp>
        <p:nvCxnSpPr>
          <p:cNvPr id="42" name="Connector 41"/>
          <p:cNvCxnSpPr/>
          <p:nvPr/>
        </p:nvCxnSpPr>
        <p:spPr>
          <a:xfrm>
            <a:off x="619125" y="431860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619125" y="472919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619125" y="513977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619125" y="555036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9125" y="596094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19125" y="4318605"/>
            <a:ext cx="0" cy="1642341"/>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590550" y="431860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90550" y="472919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590550" y="513977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590550" y="555036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90550" y="596094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53" name="FMI Scale tick"/>
          <p:cNvSpPr txBox="1"/>
          <p:nvPr/>
        </p:nvSpPr>
        <p:spPr>
          <a:xfrm>
            <a:off x="219075" y="4251930"/>
            <a:ext cx="361950" cy="13335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4" name="FMI Scale tick"/>
          <p:cNvSpPr txBox="1"/>
          <p:nvPr/>
        </p:nvSpPr>
        <p:spPr>
          <a:xfrm>
            <a:off x="219075" y="4662515"/>
            <a:ext cx="361950" cy="133350"/>
          </a:xfrm>
          <a:prstGeom prst="rect">
            <a:avLst/>
          </a:prstGeom>
          <a:noFill/>
        </p:spPr>
        <p:txBody>
          <a:bodyPr wrap="none" lIns="0" rIns="0" tIns="0" bIns="0" anchor="ctr">
            <a:spAutoFit/>
          </a:bodyPr>
          <a:lstStyle/>
          <a:p>
            <a:pPr algn="r"/>
            <a:r>
              <a:rPr sz="1100" b="0">
                <a:solidFill>
                  <a:srgbClr val="6C7A89"/>
                </a:solidFill>
                <a:latin typeface="Calibri"/>
              </a:rPr>
              <a:t>+25%</a:t>
            </a:r>
          </a:p>
        </p:txBody>
      </p:sp>
      <p:sp>
        <p:nvSpPr>
          <p:cNvPr id="55" name="FMI Scale tick"/>
          <p:cNvSpPr txBox="1"/>
          <p:nvPr/>
        </p:nvSpPr>
        <p:spPr>
          <a:xfrm>
            <a:off x="107156" y="5073101"/>
            <a:ext cx="473869" cy="133350"/>
          </a:xfrm>
          <a:prstGeom prst="rect">
            <a:avLst/>
          </a:prstGeom>
          <a:noFill/>
        </p:spPr>
        <p:txBody>
          <a:bodyPr wrap="square" lIns="28575" rIns="28575" tIns="9525" bIns="9525" anchor="ctr">
            <a:spAutoFit/>
          </a:bodyPr>
          <a:lstStyle/>
          <a:p>
            <a:pPr algn="r"/>
            <a:r>
              <a:rPr sz="1100" b="1">
                <a:solidFill>
                  <a:srgbClr val="6C7A89"/>
                </a:solidFill>
                <a:latin typeface="Calibri"/>
              </a:rPr>
              <a:t>Global</a:t>
            </a:r>
          </a:p>
        </p:txBody>
      </p:sp>
      <p:sp>
        <p:nvSpPr>
          <p:cNvPr id="56" name="FMI Scale tick"/>
          <p:cNvSpPr txBox="1"/>
          <p:nvPr/>
        </p:nvSpPr>
        <p:spPr>
          <a:xfrm>
            <a:off x="219075" y="5483686"/>
            <a:ext cx="361950" cy="133350"/>
          </a:xfrm>
          <a:prstGeom prst="rect">
            <a:avLst/>
          </a:prstGeom>
          <a:noFill/>
        </p:spPr>
        <p:txBody>
          <a:bodyPr wrap="none" lIns="0" rIns="0" tIns="0" bIns="0" anchor="ctr">
            <a:spAutoFit/>
          </a:bodyPr>
          <a:lstStyle/>
          <a:p>
            <a:pPr algn="r"/>
            <a:r>
              <a:rPr sz="1100" b="0">
                <a:solidFill>
                  <a:srgbClr val="6C7A89"/>
                </a:solidFill>
                <a:latin typeface="Calibri"/>
              </a:rPr>
              <a:t>-25%</a:t>
            </a:r>
          </a:p>
        </p:txBody>
      </p:sp>
      <p:sp>
        <p:nvSpPr>
          <p:cNvPr id="57" name="FMI Scale tick"/>
          <p:cNvSpPr txBox="1"/>
          <p:nvPr/>
        </p:nvSpPr>
        <p:spPr>
          <a:xfrm>
            <a:off x="219075" y="5894271"/>
            <a:ext cx="361950" cy="133350"/>
          </a:xfrm>
          <a:prstGeom prst="rect">
            <a:avLst/>
          </a:prstGeom>
          <a:noFill/>
        </p:spPr>
        <p:txBody>
          <a:bodyPr wrap="none" lIns="0" rIns="0" tIns="0" bIns="0" anchor="ctr">
            <a:spAutoFit/>
          </a:bodyPr>
          <a:lstStyle/>
          <a:p>
            <a:pPr algn="r"/>
            <a:r>
              <a:rPr sz="1100" b="0">
                <a:solidFill>
                  <a:srgbClr val="6C7A89"/>
                </a:solidFill>
                <a:latin typeface="Calibri"/>
              </a:rPr>
              <a:t>-50%</a:t>
            </a:r>
          </a:p>
        </p:txBody>
      </p:sp>
      <p:cxnSp>
        <p:nvCxnSpPr>
          <p:cNvPr id="58" name="Connector 57"/>
          <p:cNvCxnSpPr/>
          <p:nvPr/>
        </p:nvCxnSpPr>
        <p:spPr>
          <a:xfrm>
            <a:off x="619125" y="513977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977900" y="4423458"/>
            <a:ext cx="457200" cy="716318"/>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619125" y="4280583"/>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1" name="Rectangle 60"/>
          <p:cNvSpPr/>
          <p:nvPr/>
        </p:nvSpPr>
        <p:spPr>
          <a:xfrm>
            <a:off x="2152650" y="5139776"/>
            <a:ext cx="457200" cy="60594"/>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1793875" y="520989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3" name="Rectangle 62"/>
          <p:cNvSpPr/>
          <p:nvPr/>
        </p:nvSpPr>
        <p:spPr>
          <a:xfrm>
            <a:off x="3327400" y="4702359"/>
            <a:ext cx="457200" cy="437417"/>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MI Data Label"/>
          <p:cNvSpPr txBox="1"/>
          <p:nvPr/>
        </p:nvSpPr>
        <p:spPr>
          <a:xfrm>
            <a:off x="2968625" y="4559484"/>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5" name="Rectangle 64"/>
          <p:cNvSpPr/>
          <p:nvPr/>
        </p:nvSpPr>
        <p:spPr>
          <a:xfrm>
            <a:off x="4502150" y="5139776"/>
            <a:ext cx="457200" cy="51607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FMI Data Label"/>
          <p:cNvSpPr txBox="1"/>
          <p:nvPr/>
        </p:nvSpPr>
        <p:spPr>
          <a:xfrm>
            <a:off x="4143375" y="566537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7" name="Rectangle 66"/>
          <p:cNvSpPr/>
          <p:nvPr/>
        </p:nvSpPr>
        <p:spPr>
          <a:xfrm>
            <a:off x="5676900" y="5139776"/>
            <a:ext cx="457200" cy="66704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MI Data Label"/>
          <p:cNvSpPr txBox="1"/>
          <p:nvPr/>
        </p:nvSpPr>
        <p:spPr>
          <a:xfrm>
            <a:off x="5318125" y="5816346"/>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9" name="Rectangle 68"/>
          <p:cNvSpPr/>
          <p:nvPr/>
        </p:nvSpPr>
        <p:spPr>
          <a:xfrm>
            <a:off x="6851650" y="5139776"/>
            <a:ext cx="457200" cy="143379"/>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MI Data Label"/>
          <p:cNvSpPr txBox="1"/>
          <p:nvPr/>
        </p:nvSpPr>
        <p:spPr>
          <a:xfrm>
            <a:off x="6492875" y="5292679"/>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71" name="TextBox 70"/>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72" name="TextBox 71"/>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73" name="TextBox 72"/>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74" name="TextBox 73"/>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75" name="TextBox 74"/>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76" name="TextBox 75"/>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77" name="Rounded Rectangle 76"/>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79" name="Rectangle 78"/>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81" name="TextBox 8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2" name="Picture 81" descr="lock.png"/>
          <p:cNvPicPr>
            <a:picLocks noChangeAspect="1"/>
          </p:cNvPicPr>
          <p:nvPr/>
        </p:nvPicPr>
        <p:blipFill>
          <a:blip r:embed="rId4"/>
          <a:stretch>
            <a:fillRect/>
          </a:stretch>
        </p:blipFill>
        <p:spPr>
          <a:xfrm>
            <a:off x="2345475" y="2683808"/>
            <a:ext cx="128699" cy="187198"/>
          </a:xfrm>
          <a:prstGeom prst="rect">
            <a:avLst/>
          </a:prstGeom>
        </p:spPr>
      </p:pic>
      <p:pic>
        <p:nvPicPr>
          <p:cNvPr id="83" name="Picture 82" descr="lock.png"/>
          <p:cNvPicPr>
            <a:picLocks noChangeAspect="1"/>
          </p:cNvPicPr>
          <p:nvPr/>
        </p:nvPicPr>
        <p:blipFill>
          <a:blip r:embed="rId4"/>
          <a:stretch>
            <a:fillRect/>
          </a:stretch>
        </p:blipFill>
        <p:spPr>
          <a:xfrm>
            <a:off x="5850675" y="1491005"/>
            <a:ext cx="128699" cy="187198"/>
          </a:xfrm>
          <a:prstGeom prst="rect">
            <a:avLst/>
          </a:prstGeom>
        </p:spPr>
      </p:pic>
      <p:pic>
        <p:nvPicPr>
          <p:cNvPr id="84" name="Picture 83" descr="lock.png"/>
          <p:cNvPicPr>
            <a:picLocks noChangeAspect="1"/>
          </p:cNvPicPr>
          <p:nvPr/>
        </p:nvPicPr>
        <p:blipFill>
          <a:blip r:embed="rId4"/>
          <a:stretch>
            <a:fillRect/>
          </a:stretch>
        </p:blipFill>
        <p:spPr>
          <a:xfrm>
            <a:off x="1142150" y="4253659"/>
            <a:ext cx="128699" cy="187198"/>
          </a:xfrm>
          <a:prstGeom prst="rect">
            <a:avLst/>
          </a:prstGeom>
        </p:spPr>
      </p:pic>
      <p:pic>
        <p:nvPicPr>
          <p:cNvPr id="85" name="Picture 84" descr="lock.png"/>
          <p:cNvPicPr>
            <a:picLocks noChangeAspect="1"/>
          </p:cNvPicPr>
          <p:nvPr/>
        </p:nvPicPr>
        <p:blipFill>
          <a:blip r:embed="rId4"/>
          <a:stretch>
            <a:fillRect/>
          </a:stretch>
        </p:blipFill>
        <p:spPr>
          <a:xfrm>
            <a:off x="2316900" y="5182971"/>
            <a:ext cx="128699" cy="187198"/>
          </a:xfrm>
          <a:prstGeom prst="rect">
            <a:avLst/>
          </a:prstGeom>
        </p:spPr>
      </p:pic>
      <p:pic>
        <p:nvPicPr>
          <p:cNvPr id="86" name="Picture 85" descr="lock.png"/>
          <p:cNvPicPr>
            <a:picLocks noChangeAspect="1"/>
          </p:cNvPicPr>
          <p:nvPr/>
        </p:nvPicPr>
        <p:blipFill>
          <a:blip r:embed="rId4"/>
          <a:stretch>
            <a:fillRect/>
          </a:stretch>
        </p:blipFill>
        <p:spPr>
          <a:xfrm>
            <a:off x="3491650" y="4532560"/>
            <a:ext cx="128699" cy="187198"/>
          </a:xfrm>
          <a:prstGeom prst="rect">
            <a:avLst/>
          </a:prstGeom>
        </p:spPr>
      </p:pic>
      <p:pic>
        <p:nvPicPr>
          <p:cNvPr id="87" name="Picture 86" descr="lock.png"/>
          <p:cNvPicPr>
            <a:picLocks noChangeAspect="1"/>
          </p:cNvPicPr>
          <p:nvPr/>
        </p:nvPicPr>
        <p:blipFill>
          <a:blip r:embed="rId4"/>
          <a:stretch>
            <a:fillRect/>
          </a:stretch>
        </p:blipFill>
        <p:spPr>
          <a:xfrm>
            <a:off x="4666400" y="5638446"/>
            <a:ext cx="128699" cy="187198"/>
          </a:xfrm>
          <a:prstGeom prst="rect">
            <a:avLst/>
          </a:prstGeom>
        </p:spPr>
      </p:pic>
      <p:pic>
        <p:nvPicPr>
          <p:cNvPr id="88" name="Picture 87" descr="lock.png"/>
          <p:cNvPicPr>
            <a:picLocks noChangeAspect="1"/>
          </p:cNvPicPr>
          <p:nvPr/>
        </p:nvPicPr>
        <p:blipFill>
          <a:blip r:embed="rId4"/>
          <a:stretch>
            <a:fillRect/>
          </a:stretch>
        </p:blipFill>
        <p:spPr>
          <a:xfrm>
            <a:off x="5841150" y="5789421"/>
            <a:ext cx="128699" cy="187198"/>
          </a:xfrm>
          <a:prstGeom prst="rect">
            <a:avLst/>
          </a:prstGeom>
        </p:spPr>
      </p:pic>
      <p:pic>
        <p:nvPicPr>
          <p:cNvPr id="89" name="Picture 88" descr="lock.png"/>
          <p:cNvPicPr>
            <a:picLocks noChangeAspect="1"/>
          </p:cNvPicPr>
          <p:nvPr/>
        </p:nvPicPr>
        <p:blipFill>
          <a:blip r:embed="rId4"/>
          <a:stretch>
            <a:fillRect/>
          </a:stretch>
        </p:blipFill>
        <p:spPr>
          <a:xfrm>
            <a:off x="7015900" y="5265754"/>
            <a:ext cx="128699" cy="187198"/>
          </a:xfrm>
          <a:prstGeom prst="rect">
            <a:avLst/>
          </a:prstGeom>
        </p:spPr>
      </p:pic>
      <p:sp>
        <p:nvSpPr>
          <p:cNvPr id="90" name="TextBox 89"/>
          <p:cNvSpPr txBox="1"/>
          <p:nvPr/>
        </p:nvSpPr>
        <p:spPr>
          <a:xfrm>
            <a:off x="8048625" y="1471995"/>
            <a:ext cx="3600226" cy="194310"/>
          </a:xfrm>
          <a:prstGeom prst="rect">
            <a:avLst/>
          </a:prstGeom>
          <a:noFill/>
        </p:spPr>
        <p:txBody>
          <a:bodyPr wrap="none" lIns="0" rIns="0" tIns="0" bIns="0">
            <a:spAutoFit/>
          </a:bodyPr>
          <a:lstStyle/>
          <a:p>
            <a:r>
              <a:rPr sz="1150" b="0">
                <a:solidFill>
                  <a:srgbClr val="2E2E2E"/>
                </a:solidFill>
                <a:latin typeface="Calibri"/>
              </a:rPr>
              <a:t>Conventional segment is expected to command the highest</a:t>
            </a:r>
          </a:p>
        </p:txBody>
      </p:sp>
      <p:sp>
        <p:nvSpPr>
          <p:cNvPr id="91" name="TextBox 90"/>
          <p:cNvSpPr txBox="1"/>
          <p:nvPr/>
        </p:nvSpPr>
        <p:spPr>
          <a:xfrm>
            <a:off x="8048625" y="1647255"/>
            <a:ext cx="1299083" cy="194310"/>
          </a:xfrm>
          <a:prstGeom prst="rect">
            <a:avLst/>
          </a:prstGeom>
          <a:noFill/>
        </p:spPr>
        <p:txBody>
          <a:bodyPr wrap="none" lIns="0" rIns="0" tIns="0" bIns="0">
            <a:spAutoFit/>
          </a:bodyPr>
          <a:lstStyle/>
          <a:p>
            <a:r>
              <a:rPr sz="1150" b="0">
                <a:solidFill>
                  <a:srgbClr val="2E2E2E"/>
                </a:solidFill>
                <a:latin typeface="Calibri"/>
              </a:rPr>
              <a:t>average price of US$</a:t>
            </a:r>
          </a:p>
        </p:txBody>
      </p:sp>
      <p:pic>
        <p:nvPicPr>
          <p:cNvPr id="92" name="Picture 91" descr="lock.png"/>
          <p:cNvPicPr>
            <a:picLocks noChangeAspect="1"/>
          </p:cNvPicPr>
          <p:nvPr/>
        </p:nvPicPr>
        <p:blipFill>
          <a:blip r:embed="rId4"/>
          <a:stretch>
            <a:fillRect/>
          </a:stretch>
        </p:blipFill>
        <p:spPr>
          <a:xfrm>
            <a:off x="9296862" y="1637031"/>
            <a:ext cx="134549" cy="195707"/>
          </a:xfrm>
          <a:prstGeom prst="rect">
            <a:avLst/>
          </a:prstGeom>
        </p:spPr>
      </p:pic>
      <p:sp>
        <p:nvSpPr>
          <p:cNvPr id="93" name="TextBox 92"/>
          <p:cNvSpPr txBox="1"/>
          <p:nvPr/>
        </p:nvSpPr>
        <p:spPr>
          <a:xfrm>
            <a:off x="9471971" y="1647255"/>
            <a:ext cx="2273185" cy="194310"/>
          </a:xfrm>
          <a:prstGeom prst="rect">
            <a:avLst/>
          </a:prstGeom>
          <a:noFill/>
        </p:spPr>
        <p:txBody>
          <a:bodyPr wrap="none" lIns="0" rIns="0" tIns="0" bIns="0">
            <a:spAutoFit/>
          </a:bodyPr>
          <a:lstStyle/>
          <a:p>
            <a:r>
              <a:rPr sz="1150" b="0">
                <a:solidFill>
                  <a:srgbClr val="2E2E2E"/>
                </a:solidFill>
                <a:latin typeface="Calibri"/>
              </a:rPr>
              <a:t>per MT in 2036. Average selling price</a:t>
            </a:r>
          </a:p>
        </p:txBody>
      </p:sp>
      <p:sp>
        <p:nvSpPr>
          <p:cNvPr id="94" name="TextBox 93"/>
          <p:cNvSpPr txBox="1"/>
          <p:nvPr/>
        </p:nvSpPr>
        <p:spPr>
          <a:xfrm>
            <a:off x="8048625" y="1822515"/>
            <a:ext cx="1849623" cy="194310"/>
          </a:xfrm>
          <a:prstGeom prst="rect">
            <a:avLst/>
          </a:prstGeom>
          <a:noFill/>
        </p:spPr>
        <p:txBody>
          <a:bodyPr wrap="none" lIns="0" rIns="0" tIns="0" bIns="0">
            <a:spAutoFit/>
          </a:bodyPr>
          <a:lstStyle/>
          <a:p>
            <a:r>
              <a:rPr sz="1150" b="0">
                <a:solidFill>
                  <a:srgbClr val="2E2E2E"/>
                </a:solidFill>
                <a:latin typeface="Calibri"/>
              </a:rPr>
              <a:t>of matcha is estimated at US$</a:t>
            </a:r>
          </a:p>
        </p:txBody>
      </p:sp>
      <p:pic>
        <p:nvPicPr>
          <p:cNvPr id="95" name="Picture 94" descr="lock.png"/>
          <p:cNvPicPr>
            <a:picLocks noChangeAspect="1"/>
          </p:cNvPicPr>
          <p:nvPr/>
        </p:nvPicPr>
        <p:blipFill>
          <a:blip r:embed="rId4"/>
          <a:stretch>
            <a:fillRect/>
          </a:stretch>
        </p:blipFill>
        <p:spPr>
          <a:xfrm>
            <a:off x="9847402" y="1812291"/>
            <a:ext cx="134549" cy="195707"/>
          </a:xfrm>
          <a:prstGeom prst="rect">
            <a:avLst/>
          </a:prstGeom>
        </p:spPr>
      </p:pic>
      <p:sp>
        <p:nvSpPr>
          <p:cNvPr id="96" name="TextBox 95"/>
          <p:cNvSpPr txBox="1"/>
          <p:nvPr/>
        </p:nvSpPr>
        <p:spPr>
          <a:xfrm>
            <a:off x="10022511" y="1822515"/>
            <a:ext cx="1359557" cy="194310"/>
          </a:xfrm>
          <a:prstGeom prst="rect">
            <a:avLst/>
          </a:prstGeom>
          <a:noFill/>
        </p:spPr>
        <p:txBody>
          <a:bodyPr wrap="none" lIns="0" rIns="0" tIns="0" bIns="0">
            <a:spAutoFit/>
          </a:bodyPr>
          <a:lstStyle/>
          <a:p>
            <a:r>
              <a:rPr sz="1150" b="0">
                <a:solidFill>
                  <a:srgbClr val="2E2E2E"/>
                </a:solidFill>
                <a:latin typeface="Calibri"/>
              </a:rPr>
              <a:t>per MT in 2025 and is</a:t>
            </a:r>
          </a:p>
        </p:txBody>
      </p:sp>
      <p:sp>
        <p:nvSpPr>
          <p:cNvPr id="97" name="TextBox 96"/>
          <p:cNvSpPr txBox="1"/>
          <p:nvPr/>
        </p:nvSpPr>
        <p:spPr>
          <a:xfrm>
            <a:off x="8048625" y="1997775"/>
            <a:ext cx="1764617" cy="194310"/>
          </a:xfrm>
          <a:prstGeom prst="rect">
            <a:avLst/>
          </a:prstGeom>
          <a:noFill/>
        </p:spPr>
        <p:txBody>
          <a:bodyPr wrap="none" lIns="0" rIns="0" tIns="0" bIns="0">
            <a:spAutoFit/>
          </a:bodyPr>
          <a:lstStyle/>
          <a:p>
            <a:r>
              <a:rPr sz="1150" b="0">
                <a:solidFill>
                  <a:srgbClr val="2E2E2E"/>
                </a:solidFill>
                <a:latin typeface="Calibri"/>
              </a:rPr>
              <a:t>projected to increase to US$</a:t>
            </a:r>
          </a:p>
        </p:txBody>
      </p:sp>
      <p:pic>
        <p:nvPicPr>
          <p:cNvPr id="98" name="Picture 97" descr="lock.png"/>
          <p:cNvPicPr>
            <a:picLocks noChangeAspect="1"/>
          </p:cNvPicPr>
          <p:nvPr/>
        </p:nvPicPr>
        <p:blipFill>
          <a:blip r:embed="rId4"/>
          <a:stretch>
            <a:fillRect/>
          </a:stretch>
        </p:blipFill>
        <p:spPr>
          <a:xfrm>
            <a:off x="9762396" y="1987551"/>
            <a:ext cx="134549" cy="195707"/>
          </a:xfrm>
          <a:prstGeom prst="rect">
            <a:avLst/>
          </a:prstGeom>
        </p:spPr>
      </p:pic>
      <p:sp>
        <p:nvSpPr>
          <p:cNvPr id="99" name="TextBox 98"/>
          <p:cNvSpPr txBox="1"/>
          <p:nvPr/>
        </p:nvSpPr>
        <p:spPr>
          <a:xfrm>
            <a:off x="9937506" y="1997775"/>
            <a:ext cx="1048630" cy="194310"/>
          </a:xfrm>
          <a:prstGeom prst="rect">
            <a:avLst/>
          </a:prstGeom>
          <a:noFill/>
        </p:spPr>
        <p:txBody>
          <a:bodyPr wrap="none" lIns="0" rIns="0" tIns="0" bIns="0">
            <a:spAutoFit/>
          </a:bodyPr>
          <a:lstStyle/>
          <a:p>
            <a:r>
              <a:rPr sz="1150" b="0">
                <a:solidFill>
                  <a:srgbClr val="2E2E2E"/>
                </a:solidFill>
                <a:latin typeface="Calibri"/>
              </a:rPr>
              <a:t>per MT by 2036.</a:t>
            </a:r>
          </a:p>
        </p:txBody>
      </p:sp>
      <p:sp>
        <p:nvSpPr>
          <p:cNvPr id="100" name="TextBox 99"/>
          <p:cNvSpPr txBox="1"/>
          <p:nvPr/>
        </p:nvSpPr>
        <p:spPr>
          <a:xfrm>
            <a:off x="8048625" y="2225613"/>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101" name="TextBox 100"/>
          <p:cNvSpPr txBox="1"/>
          <p:nvPr/>
        </p:nvSpPr>
        <p:spPr>
          <a:xfrm>
            <a:off x="8048625" y="2400873"/>
            <a:ext cx="382158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Against the global</a:t>
            </a:r>
          </a:p>
        </p:txBody>
      </p:sp>
      <p:sp>
        <p:nvSpPr>
          <p:cNvPr id="102" name="TextBox 101"/>
          <p:cNvSpPr txBox="1"/>
          <p:nvPr/>
        </p:nvSpPr>
        <p:spPr>
          <a:xfrm>
            <a:off x="8048625" y="2576133"/>
            <a:ext cx="526901" cy="194310"/>
          </a:xfrm>
          <a:prstGeom prst="rect">
            <a:avLst/>
          </a:prstGeom>
          <a:noFill/>
        </p:spPr>
        <p:txBody>
          <a:bodyPr wrap="none" lIns="0" rIns="0" tIns="0" bIns="0">
            <a:spAutoFit/>
          </a:bodyPr>
          <a:lstStyle/>
          <a:p>
            <a:r>
              <a:rPr sz="1150" b="0">
                <a:solidFill>
                  <a:srgbClr val="2E2E2E"/>
                </a:solidFill>
                <a:latin typeface="Calibri"/>
              </a:rPr>
              <a:t>price of</a:t>
            </a:r>
          </a:p>
        </p:txBody>
      </p:sp>
      <p:pic>
        <p:nvPicPr>
          <p:cNvPr id="103" name="Picture 102" descr="lock.png"/>
          <p:cNvPicPr>
            <a:picLocks noChangeAspect="1"/>
          </p:cNvPicPr>
          <p:nvPr/>
        </p:nvPicPr>
        <p:blipFill>
          <a:blip r:embed="rId4"/>
          <a:stretch>
            <a:fillRect/>
          </a:stretch>
        </p:blipFill>
        <p:spPr>
          <a:xfrm>
            <a:off x="8524680" y="2565909"/>
            <a:ext cx="134549" cy="195707"/>
          </a:xfrm>
          <a:prstGeom prst="rect">
            <a:avLst/>
          </a:prstGeom>
        </p:spPr>
      </p:pic>
      <p:sp>
        <p:nvSpPr>
          <p:cNvPr id="104" name="TextBox 103"/>
          <p:cNvSpPr txBox="1"/>
          <p:nvPr/>
        </p:nvSpPr>
        <p:spPr>
          <a:xfrm>
            <a:off x="8699789" y="2576133"/>
            <a:ext cx="2962399" cy="194310"/>
          </a:xfrm>
          <a:prstGeom prst="rect">
            <a:avLst/>
          </a:prstGeom>
          <a:noFill/>
        </p:spPr>
        <p:txBody>
          <a:bodyPr wrap="none" lIns="0" rIns="0" tIns="0" bIns="0">
            <a:spAutoFit/>
          </a:bodyPr>
          <a:lstStyle/>
          <a:p>
            <a:r>
              <a:rPr sz="1150" b="0">
                <a:solidFill>
                  <a:srgbClr val="2E2E2E"/>
                </a:solidFill>
                <a:latin typeface="Calibri"/>
              </a:rPr>
              <a:t>US$/MT, 2 of 6 regions price above and 4 below.</a:t>
            </a:r>
          </a:p>
        </p:txBody>
      </p:sp>
      <p:sp>
        <p:nvSpPr>
          <p:cNvPr id="105" name="TextBox 104"/>
          <p:cNvSpPr txBox="1"/>
          <p:nvPr/>
        </p:nvSpPr>
        <p:spPr>
          <a:xfrm>
            <a:off x="8048625" y="2803971"/>
            <a:ext cx="2108063" cy="194310"/>
          </a:xfrm>
          <a:prstGeom prst="rect">
            <a:avLst/>
          </a:prstGeom>
          <a:noFill/>
        </p:spPr>
        <p:txBody>
          <a:bodyPr wrap="none" lIns="0" rIns="0" tIns="0" bIns="0">
            <a:spAutoFit/>
          </a:bodyPr>
          <a:lstStyle/>
          <a:p>
            <a:r>
              <a:rPr sz="1150" b="0">
                <a:solidFill>
                  <a:srgbClr val="2E2E2E"/>
                </a:solidFill>
                <a:latin typeface="Calibri"/>
              </a:rPr>
              <a:t>'North America' is the dearest at +</a:t>
            </a:r>
          </a:p>
        </p:txBody>
      </p:sp>
      <p:pic>
        <p:nvPicPr>
          <p:cNvPr id="106" name="Picture 105" descr="lock.png"/>
          <p:cNvPicPr>
            <a:picLocks noChangeAspect="1"/>
          </p:cNvPicPr>
          <p:nvPr/>
        </p:nvPicPr>
        <p:blipFill>
          <a:blip r:embed="rId4"/>
          <a:stretch>
            <a:fillRect/>
          </a:stretch>
        </p:blipFill>
        <p:spPr>
          <a:xfrm>
            <a:off x="10105842" y="2793747"/>
            <a:ext cx="134549" cy="195707"/>
          </a:xfrm>
          <a:prstGeom prst="rect">
            <a:avLst/>
          </a:prstGeom>
        </p:spPr>
      </p:pic>
      <p:sp>
        <p:nvSpPr>
          <p:cNvPr id="107" name="TextBox 106"/>
          <p:cNvSpPr txBox="1"/>
          <p:nvPr/>
        </p:nvSpPr>
        <p:spPr>
          <a:xfrm>
            <a:off x="10280951" y="2803971"/>
            <a:ext cx="1599455" cy="194310"/>
          </a:xfrm>
          <a:prstGeom prst="rect">
            <a:avLst/>
          </a:prstGeom>
          <a:noFill/>
        </p:spPr>
        <p:txBody>
          <a:bodyPr wrap="none" lIns="0" rIns="0" tIns="0" bIns="0">
            <a:spAutoFit/>
          </a:bodyPr>
          <a:lstStyle/>
          <a:p>
            <a:r>
              <a:rPr sz="1150" b="0">
                <a:solidFill>
                  <a:srgbClr val="2E2E2E"/>
                </a:solidFill>
                <a:latin typeface="Calibri"/>
              </a:rPr>
              <a:t>versus Global, 'South Asia</a:t>
            </a:r>
          </a:p>
        </p:txBody>
      </p:sp>
      <p:sp>
        <p:nvSpPr>
          <p:cNvPr id="108" name="TextBox 107"/>
          <p:cNvSpPr txBox="1"/>
          <p:nvPr/>
        </p:nvSpPr>
        <p:spPr>
          <a:xfrm>
            <a:off x="8048625" y="2979230"/>
            <a:ext cx="1653654" cy="194310"/>
          </a:xfrm>
          <a:prstGeom prst="rect">
            <a:avLst/>
          </a:prstGeom>
          <a:noFill/>
        </p:spPr>
        <p:txBody>
          <a:bodyPr wrap="none" lIns="0" rIns="0" tIns="0" bIns="0">
            <a:spAutoFit/>
          </a:bodyPr>
          <a:lstStyle/>
          <a:p>
            <a:r>
              <a:rPr sz="1150" b="0">
                <a:solidFill>
                  <a:srgbClr val="2E2E2E"/>
                </a:solidFill>
                <a:latin typeface="Calibri"/>
              </a:rPr>
              <a:t>&amp; Pacific' the cheapest at -</a:t>
            </a:r>
          </a:p>
        </p:txBody>
      </p:sp>
      <p:pic>
        <p:nvPicPr>
          <p:cNvPr id="109" name="Picture 108" descr="lock.png"/>
          <p:cNvPicPr>
            <a:picLocks noChangeAspect="1"/>
          </p:cNvPicPr>
          <p:nvPr/>
        </p:nvPicPr>
        <p:blipFill>
          <a:blip r:embed="rId4"/>
          <a:stretch>
            <a:fillRect/>
          </a:stretch>
        </p:blipFill>
        <p:spPr>
          <a:xfrm>
            <a:off x="9651433" y="2969007"/>
            <a:ext cx="134549" cy="195707"/>
          </a:xfrm>
          <a:prstGeom prst="rect">
            <a:avLst/>
          </a:prstGeom>
        </p:spPr>
      </p:pic>
      <p:sp>
        <p:nvSpPr>
          <p:cNvPr id="110" name="TextBox 109"/>
          <p:cNvSpPr txBox="1"/>
          <p:nvPr/>
        </p:nvSpPr>
        <p:spPr>
          <a:xfrm>
            <a:off x="9826542" y="2979230"/>
            <a:ext cx="1702147" cy="194310"/>
          </a:xfrm>
          <a:prstGeom prst="rect">
            <a:avLst/>
          </a:prstGeom>
          <a:noFill/>
        </p:spPr>
        <p:txBody>
          <a:bodyPr wrap="none" lIns="0" rIns="0" tIns="0" bIns="0">
            <a:spAutoFit/>
          </a:bodyPr>
          <a:lstStyle/>
          <a:p>
            <a:r>
              <a:rPr sz="1150" b="0">
                <a:solidFill>
                  <a:srgbClr val="2E2E2E"/>
                </a:solidFill>
                <a:latin typeface="Calibri"/>
              </a:rPr>
              <a:t>pointing to premiumisation</a:t>
            </a:r>
          </a:p>
        </p:txBody>
      </p:sp>
      <p:sp>
        <p:nvSpPr>
          <p:cNvPr id="111" name="TextBox 110"/>
          <p:cNvSpPr txBox="1"/>
          <p:nvPr/>
        </p:nvSpPr>
        <p:spPr>
          <a:xfrm>
            <a:off x="8048625" y="3154490"/>
            <a:ext cx="2365647" cy="194310"/>
          </a:xfrm>
          <a:prstGeom prst="rect">
            <a:avLst/>
          </a:prstGeom>
          <a:noFill/>
        </p:spPr>
        <p:txBody>
          <a:bodyPr wrap="none" lIns="0" rIns="0" tIns="0" bIns="0">
            <a:spAutoFit/>
          </a:bodyPr>
          <a:lstStyle/>
          <a:p>
            <a:r>
              <a:rPr sz="1150" b="0">
                <a:solidFill>
                  <a:srgbClr val="2E2E2E"/>
                </a:solidFill>
                <a:latin typeface="Calibri"/>
              </a:rPr>
              <a:t>headroom in the lower-priced regions.</a:t>
            </a:r>
          </a:p>
        </p:txBody>
      </p:sp>
    </p:spTree>
  </p:cSld>
  <p:clrMapOvr>
    <a:masterClrMapping/>
  </p:clrMapOvr>
</p:sld>
</file>

<file path=ppt/slides/slide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global market value growth, incremental opportunity and the geographies driving it, 2021–2036</a:t>
            </a:r>
          </a:p>
        </p:txBody>
      </p:sp>
      <p:sp>
        <p:nvSpPr>
          <p:cNvPr id="10" name="Rounded Rectangle 9"/>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3,374</a:t>
            </a:r>
          </a:p>
        </p:txBody>
      </p:sp>
      <p:sp>
        <p:nvSpPr>
          <p:cNvPr id="11" name="Rounded Rectangle 10"/>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6,718</a:t>
            </a:r>
          </a:p>
        </p:txBody>
      </p:sp>
      <p:sp>
        <p:nvSpPr>
          <p:cNvPr id="12" name="Rounded Rectangle 11"/>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3" name="Rounded Rectangle 12"/>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7.1%</a:t>
            </a:r>
          </a:p>
        </p:txBody>
      </p:sp>
      <p:sp>
        <p:nvSpPr>
          <p:cNvPr id="14" name="Rounded Rectangle 13"/>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6" name="Chart 15"/>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7" name="Rounded Rectangle 16"/>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19" name="Chart 18"/>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0" name="Rounded Rectangle 19"/>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2" name="Rectangle 21"/>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Rounded Rectangle 23"/>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6" name="Rectangle 25"/>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6"/>
          <a:stretch>
            <a:fillRect/>
          </a:stretch>
        </p:blipFill>
        <p:spPr>
          <a:xfrm>
            <a:off x="7512844" y="1250587"/>
            <a:ext cx="157162" cy="228600"/>
          </a:xfrm>
          <a:prstGeom prst="rect">
            <a:avLst/>
          </a:prstGeom>
        </p:spPr>
      </p:pic>
      <p:pic>
        <p:nvPicPr>
          <p:cNvPr id="30" name="Picture 29" descr="lock.png"/>
          <p:cNvPicPr>
            <a:picLocks noChangeAspect="1"/>
          </p:cNvPicPr>
          <p:nvPr/>
        </p:nvPicPr>
        <p:blipFill>
          <a:blip r:embed="rId6"/>
          <a:stretch>
            <a:fillRect/>
          </a:stretch>
        </p:blipFill>
        <p:spPr>
          <a:xfrm>
            <a:off x="3991062" y="5157531"/>
            <a:ext cx="289830" cy="421571"/>
          </a:xfrm>
          <a:prstGeom prst="rect">
            <a:avLst/>
          </a:prstGeom>
        </p:spPr>
      </p:pic>
      <p:sp>
        <p:nvSpPr>
          <p:cNvPr id="31" name="TextBox 30"/>
          <p:cNvSpPr txBox="1"/>
          <p:nvPr/>
        </p:nvSpPr>
        <p:spPr>
          <a:xfrm>
            <a:off x="8048625" y="2046987"/>
            <a:ext cx="2365933" cy="194310"/>
          </a:xfrm>
          <a:prstGeom prst="rect">
            <a:avLst/>
          </a:prstGeom>
          <a:noFill/>
        </p:spPr>
        <p:txBody>
          <a:bodyPr wrap="none" lIns="0" rIns="0" tIns="0" bIns="0">
            <a:spAutoFit/>
          </a:bodyPr>
          <a:lstStyle/>
          <a:p>
            <a:r>
              <a:rPr sz="1150" b="0">
                <a:solidFill>
                  <a:srgbClr val="2E2E2E"/>
                </a:solidFill>
                <a:latin typeface="Calibri"/>
              </a:rPr>
              <a:t>Matcha market is projected to register</a:t>
            </a:r>
          </a:p>
        </p:txBody>
      </p:sp>
      <p:pic>
        <p:nvPicPr>
          <p:cNvPr id="32" name="Picture 31" descr="lock.png"/>
          <p:cNvPicPr>
            <a:picLocks noChangeAspect="1"/>
          </p:cNvPicPr>
          <p:nvPr/>
        </p:nvPicPr>
        <p:blipFill>
          <a:blip r:embed="rId6"/>
          <a:stretch>
            <a:fillRect/>
          </a:stretch>
        </p:blipFill>
        <p:spPr>
          <a:xfrm>
            <a:off x="10363712" y="2036763"/>
            <a:ext cx="134549" cy="195707"/>
          </a:xfrm>
          <a:prstGeom prst="rect">
            <a:avLst/>
          </a:prstGeom>
        </p:spPr>
      </p:pic>
      <p:sp>
        <p:nvSpPr>
          <p:cNvPr id="33" name="TextBox 32"/>
          <p:cNvSpPr txBox="1"/>
          <p:nvPr/>
        </p:nvSpPr>
        <p:spPr>
          <a:xfrm>
            <a:off x="10538821" y="2046987"/>
            <a:ext cx="997284" cy="194310"/>
          </a:xfrm>
          <a:prstGeom prst="rect">
            <a:avLst/>
          </a:prstGeom>
          <a:noFill/>
        </p:spPr>
        <p:txBody>
          <a:bodyPr wrap="none" lIns="0" rIns="0" tIns="0" bIns="0">
            <a:spAutoFit/>
          </a:bodyPr>
          <a:lstStyle/>
          <a:p>
            <a:r>
              <a:rPr sz="1150" b="0">
                <a:solidFill>
                  <a:srgbClr val="2E2E2E"/>
                </a:solidFill>
                <a:latin typeface="Calibri"/>
              </a:rPr>
              <a:t>X increase in its</a:t>
            </a:r>
          </a:p>
        </p:txBody>
      </p:sp>
      <p:sp>
        <p:nvSpPr>
          <p:cNvPr id="34" name="TextBox 33"/>
          <p:cNvSpPr txBox="1"/>
          <p:nvPr/>
        </p:nvSpPr>
        <p:spPr>
          <a:xfrm>
            <a:off x="8048625" y="2222247"/>
            <a:ext cx="3620194" cy="194310"/>
          </a:xfrm>
          <a:prstGeom prst="rect">
            <a:avLst/>
          </a:prstGeom>
          <a:noFill/>
        </p:spPr>
        <p:txBody>
          <a:bodyPr wrap="none" lIns="0" rIns="0" tIns="0" bIns="0">
            <a:spAutoFit/>
          </a:bodyPr>
          <a:lstStyle/>
          <a:p>
            <a:r>
              <a:rPr sz="1150" b="0">
                <a:solidFill>
                  <a:srgbClr val="2E2E2E"/>
                </a:solidFill>
                <a:latin typeface="Calibri"/>
              </a:rPr>
              <a:t>revenue by the end of forecast period, 2036. Global matcha</a:t>
            </a:r>
          </a:p>
        </p:txBody>
      </p:sp>
      <p:sp>
        <p:nvSpPr>
          <p:cNvPr id="35" name="TextBox 34"/>
          <p:cNvSpPr txBox="1"/>
          <p:nvPr/>
        </p:nvSpPr>
        <p:spPr>
          <a:xfrm>
            <a:off x="8048625" y="2397507"/>
            <a:ext cx="3798478" cy="194310"/>
          </a:xfrm>
          <a:prstGeom prst="rect">
            <a:avLst/>
          </a:prstGeom>
          <a:noFill/>
        </p:spPr>
        <p:txBody>
          <a:bodyPr wrap="none" lIns="0" rIns="0" tIns="0" bIns="0">
            <a:spAutoFit/>
          </a:bodyPr>
          <a:lstStyle/>
          <a:p>
            <a:r>
              <a:rPr sz="1150" b="0">
                <a:solidFill>
                  <a:srgbClr val="2E2E2E"/>
                </a:solidFill>
                <a:latin typeface="Calibri"/>
              </a:rPr>
              <a:t>market is expected to be valued at US$ 6,718 Mn by 2036 end.</a:t>
            </a:r>
          </a:p>
        </p:txBody>
      </p:sp>
      <p:sp>
        <p:nvSpPr>
          <p:cNvPr id="36" name="TextBox 35"/>
          <p:cNvSpPr txBox="1"/>
          <p:nvPr/>
        </p:nvSpPr>
        <p:spPr>
          <a:xfrm>
            <a:off x="8048625" y="2625345"/>
            <a:ext cx="3812455" cy="194310"/>
          </a:xfrm>
          <a:prstGeom prst="rect">
            <a:avLst/>
          </a:prstGeom>
          <a:noFill/>
        </p:spPr>
        <p:txBody>
          <a:bodyPr wrap="none" lIns="0" rIns="0" tIns="0" bIns="0">
            <a:spAutoFit/>
          </a:bodyPr>
          <a:lstStyle/>
          <a:p>
            <a:r>
              <a:rPr sz="1150" b="0">
                <a:solidFill>
                  <a:srgbClr val="2E2E2E"/>
                </a:solidFill>
                <a:latin typeface="Calibri"/>
              </a:rPr>
              <a:t>It is projected to create overall incremental opportunity of US$</a:t>
            </a:r>
          </a:p>
        </p:txBody>
      </p:sp>
      <p:pic>
        <p:nvPicPr>
          <p:cNvPr id="37" name="Picture 36" descr="lock.png"/>
          <p:cNvPicPr>
            <a:picLocks noChangeAspect="1"/>
          </p:cNvPicPr>
          <p:nvPr/>
        </p:nvPicPr>
        <p:blipFill>
          <a:blip r:embed="rId6"/>
          <a:stretch>
            <a:fillRect/>
          </a:stretch>
        </p:blipFill>
        <p:spPr>
          <a:xfrm>
            <a:off x="8034545" y="2790381"/>
            <a:ext cx="134549" cy="195707"/>
          </a:xfrm>
          <a:prstGeom prst="rect">
            <a:avLst/>
          </a:prstGeom>
        </p:spPr>
      </p:pic>
      <p:sp>
        <p:nvSpPr>
          <p:cNvPr id="38" name="TextBox 37"/>
          <p:cNvSpPr txBox="1"/>
          <p:nvPr/>
        </p:nvSpPr>
        <p:spPr>
          <a:xfrm>
            <a:off x="8209654" y="2800604"/>
            <a:ext cx="1455687" cy="194310"/>
          </a:xfrm>
          <a:prstGeom prst="rect">
            <a:avLst/>
          </a:prstGeom>
          <a:noFill/>
        </p:spPr>
        <p:txBody>
          <a:bodyPr wrap="none" lIns="0" rIns="0" tIns="0" bIns="0">
            <a:spAutoFit/>
          </a:bodyPr>
          <a:lstStyle/>
          <a:p>
            <a:r>
              <a:rPr sz="1150" b="0">
                <a:solidFill>
                  <a:srgbClr val="2E2E2E"/>
                </a:solidFill>
                <a:latin typeface="Calibri"/>
              </a:rPr>
              <a:t>Mn from 2025 to 2036.</a:t>
            </a:r>
          </a:p>
        </p:txBody>
      </p:sp>
      <p:sp>
        <p:nvSpPr>
          <p:cNvPr id="39" name="TextBox 38"/>
          <p:cNvSpPr txBox="1"/>
          <p:nvPr/>
        </p:nvSpPr>
        <p:spPr>
          <a:xfrm>
            <a:off x="8048625" y="4456475"/>
            <a:ext cx="2868835" cy="194310"/>
          </a:xfrm>
          <a:prstGeom prst="rect">
            <a:avLst/>
          </a:prstGeom>
          <a:noFill/>
        </p:spPr>
        <p:txBody>
          <a:bodyPr wrap="none" lIns="0" rIns="0" tIns="0" bIns="0">
            <a:spAutoFit/>
          </a:bodyPr>
          <a:lstStyle/>
          <a:p>
            <a:r>
              <a:rPr sz="1150" b="0">
                <a:solidFill>
                  <a:srgbClr val="2E2E2E"/>
                </a:solidFill>
                <a:latin typeface="Calibri"/>
              </a:rPr>
              <a:t>▪ 'South Asia &amp; Pacific' leads regional growth at</a:t>
            </a:r>
          </a:p>
        </p:txBody>
      </p:sp>
      <p:pic>
        <p:nvPicPr>
          <p:cNvPr id="40" name="Picture 39" descr="lock.png"/>
          <p:cNvPicPr>
            <a:picLocks noChangeAspect="1"/>
          </p:cNvPicPr>
          <p:nvPr/>
        </p:nvPicPr>
        <p:blipFill>
          <a:blip r:embed="rId6"/>
          <a:stretch>
            <a:fillRect/>
          </a:stretch>
        </p:blipFill>
        <p:spPr>
          <a:xfrm>
            <a:off x="10866614" y="4446251"/>
            <a:ext cx="134549" cy="195707"/>
          </a:xfrm>
          <a:prstGeom prst="rect">
            <a:avLst/>
          </a:prstGeom>
        </p:spPr>
      </p:pic>
      <p:sp>
        <p:nvSpPr>
          <p:cNvPr id="41" name="TextBox 40"/>
          <p:cNvSpPr txBox="1"/>
          <p:nvPr/>
        </p:nvSpPr>
        <p:spPr>
          <a:xfrm>
            <a:off x="11041723"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42" name="TextBox 41"/>
          <p:cNvSpPr txBox="1"/>
          <p:nvPr/>
        </p:nvSpPr>
        <p:spPr>
          <a:xfrm>
            <a:off x="8048625" y="4684312"/>
            <a:ext cx="3063378" cy="194310"/>
          </a:xfrm>
          <a:prstGeom prst="rect">
            <a:avLst/>
          </a:prstGeom>
          <a:noFill/>
        </p:spPr>
        <p:txBody>
          <a:bodyPr wrap="none" lIns="0" rIns="0" tIns="0" bIns="0">
            <a:spAutoFit/>
          </a:bodyPr>
          <a:lstStyle/>
          <a:p>
            <a:r>
              <a:rPr sz="1150" b="0">
                <a:solidFill>
                  <a:srgbClr val="2E2E2E"/>
                </a:solidFill>
                <a:latin typeface="Calibri"/>
              </a:rPr>
              <a:t>▪ Demand concentrates in 'Organic' within Nature.</a:t>
            </a:r>
          </a:p>
        </p:txBody>
      </p:sp>
      <p:sp>
        <p:nvSpPr>
          <p:cNvPr id="43" name="TextBox 42"/>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44" name="TextBox 43"/>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45" name="lockshield_16"/>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lockshield_19"/>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global market and the incremental $ opportunity it creates, 2021–2036</a:t>
            </a:r>
          </a:p>
        </p:txBody>
      </p:sp>
      <p:sp>
        <p:nvSpPr>
          <p:cNvPr id="10" name="Rounded Rectangle 9"/>
          <p:cNvSpPr/>
          <p:nvPr/>
        </p:nvSpPr>
        <p:spPr>
          <a:xfrm>
            <a:off x="142875" y="981075"/>
            <a:ext cx="4695825"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2021–2025 (Historical)</a:t>
            </a:r>
          </a:p>
        </p:txBody>
      </p:sp>
      <p:graphicFrame>
        <p:nvGraphicFramePr>
          <p:cNvPr id="12" name="Chart 11"/>
          <p:cNvGraphicFramePr>
            <a:graphicFrameLocks noGrp="1"/>
          </p:cNvGraphicFramePr>
          <p:nvPr/>
        </p:nvGraphicFramePr>
        <p:xfrm>
          <a:off x="238125" y="1266825"/>
          <a:ext cx="4505325" cy="2228850"/>
        </p:xfrm>
        <a:graphic>
          <a:graphicData uri="http://schemas.openxmlformats.org/drawingml/2006/chart">
            <c:chart xmlns:c="http://schemas.openxmlformats.org/drawingml/2006/chart" r:id="rId3"/>
          </a:graphicData>
        </a:graphic>
      </p:graphicFrame>
      <p:sp>
        <p:nvSpPr>
          <p:cNvPr id="13" name="Rounded Rectangle 12"/>
          <p:cNvSpPr/>
          <p:nvPr/>
        </p:nvSpPr>
        <p:spPr>
          <a:xfrm>
            <a:off x="4991100" y="981075"/>
            <a:ext cx="7048500" cy="2571750"/>
          </a:xfrm>
          <a:prstGeom prst="roundRect">
            <a:avLst>
              <a:gd name="adj" fmla="val 29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2026–2036 (Forecast)</a:t>
            </a:r>
          </a:p>
        </p:txBody>
      </p:sp>
      <p:graphicFrame>
        <p:nvGraphicFramePr>
          <p:cNvPr id="15" name="Chart 14"/>
          <p:cNvGraphicFramePr>
            <a:graphicFrameLocks noGrp="1"/>
          </p:cNvGraphicFramePr>
          <p:nvPr/>
        </p:nvGraphicFramePr>
        <p:xfrm>
          <a:off x="5086350" y="1266825"/>
          <a:ext cx="6858000" cy="22288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7" name="Rounded Rectangle 16"/>
          <p:cNvSpPr/>
          <p:nvPr/>
        </p:nvSpPr>
        <p:spPr>
          <a:xfrm>
            <a:off x="2809875" y="3686175"/>
            <a:ext cx="25146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7.1%</a:t>
            </a:r>
          </a:p>
        </p:txBody>
      </p:sp>
      <p:sp>
        <p:nvSpPr>
          <p:cNvPr id="18" name="Rounded Rectangle 17"/>
          <p:cNvSpPr/>
          <p:nvPr/>
        </p:nvSpPr>
        <p:spPr>
          <a:xfrm>
            <a:off x="54768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19" name="Rounded Rectangle 18"/>
          <p:cNvSpPr/>
          <p:nvPr/>
        </p:nvSpPr>
        <p:spPr>
          <a:xfrm>
            <a:off x="8829675" y="3686175"/>
            <a:ext cx="3200400" cy="7334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0" name="Rounded Rectangle 19"/>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&amp; Value Analysis</a:t>
            </a:r>
          </a:p>
        </p:txBody>
      </p:sp>
      <p:sp>
        <p:nvSpPr>
          <p:cNvPr id="22" name="Rectangle 21"/>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2533894" y="2050946"/>
            <a:ext cx="205327" cy="298657"/>
          </a:xfrm>
          <a:prstGeom prst="rect">
            <a:avLst/>
          </a:prstGeom>
        </p:spPr>
      </p:pic>
      <p:pic>
        <p:nvPicPr>
          <p:cNvPr id="26" name="Picture 25" descr="lock.png"/>
          <p:cNvPicPr>
            <a:picLocks noChangeAspect="1"/>
          </p:cNvPicPr>
          <p:nvPr/>
        </p:nvPicPr>
        <p:blipFill>
          <a:blip r:embed="rId6"/>
          <a:stretch>
            <a:fillRect/>
          </a:stretch>
        </p:blipFill>
        <p:spPr>
          <a:xfrm>
            <a:off x="8530846" y="2011501"/>
            <a:ext cx="259564" cy="377547"/>
          </a:xfrm>
          <a:prstGeom prst="rect">
            <a:avLst/>
          </a:prstGeom>
        </p:spPr>
      </p:pic>
      <p:pic>
        <p:nvPicPr>
          <p:cNvPr id="27" name="Picture 26" descr="lock.png"/>
          <p:cNvPicPr>
            <a:picLocks noChangeAspect="1"/>
          </p:cNvPicPr>
          <p:nvPr/>
        </p:nvPicPr>
        <p:blipFill>
          <a:blip r:embed="rId6"/>
          <a:stretch>
            <a:fillRect/>
          </a:stretch>
        </p:blipFill>
        <p:spPr>
          <a:xfrm>
            <a:off x="1321594" y="4022407"/>
            <a:ext cx="157162" cy="228600"/>
          </a:xfrm>
          <a:prstGeom prst="rect">
            <a:avLst/>
          </a:prstGeom>
        </p:spPr>
      </p:pic>
      <p:pic>
        <p:nvPicPr>
          <p:cNvPr id="28" name="Picture 27" descr="lock.png"/>
          <p:cNvPicPr>
            <a:picLocks noChangeAspect="1"/>
          </p:cNvPicPr>
          <p:nvPr/>
        </p:nvPicPr>
        <p:blipFill>
          <a:blip r:embed="rId6"/>
          <a:stretch>
            <a:fillRect/>
          </a:stretch>
        </p:blipFill>
        <p:spPr>
          <a:xfrm>
            <a:off x="6998494" y="4022407"/>
            <a:ext cx="157162" cy="228600"/>
          </a:xfrm>
          <a:prstGeom prst="rect">
            <a:avLst/>
          </a:prstGeom>
        </p:spPr>
      </p:pic>
      <p:pic>
        <p:nvPicPr>
          <p:cNvPr id="29" name="Picture 28" descr="lock.png"/>
          <p:cNvPicPr>
            <a:picLocks noChangeAspect="1"/>
          </p:cNvPicPr>
          <p:nvPr/>
        </p:nvPicPr>
        <p:blipFill>
          <a:blip r:embed="rId6"/>
          <a:stretch>
            <a:fillRect/>
          </a:stretch>
        </p:blipFill>
        <p:spPr>
          <a:xfrm>
            <a:off x="10351294" y="4022407"/>
            <a:ext cx="157162" cy="228600"/>
          </a:xfrm>
          <a:prstGeom prst="rect">
            <a:avLst/>
          </a:prstGeom>
        </p:spPr>
      </p:pic>
      <p:sp>
        <p:nvSpPr>
          <p:cNvPr id="30" name="TextBox 29"/>
          <p:cNvSpPr txBox="1"/>
          <p:nvPr/>
        </p:nvSpPr>
        <p:spPr>
          <a:xfrm>
            <a:off x="276225" y="4972050"/>
            <a:ext cx="2365933" cy="194310"/>
          </a:xfrm>
          <a:prstGeom prst="rect">
            <a:avLst/>
          </a:prstGeom>
          <a:noFill/>
        </p:spPr>
        <p:txBody>
          <a:bodyPr wrap="none" lIns="0" rIns="0" tIns="0" bIns="0">
            <a:spAutoFit/>
          </a:bodyPr>
          <a:lstStyle/>
          <a:p>
            <a:r>
              <a:rPr sz="1150" b="0">
                <a:solidFill>
                  <a:srgbClr val="2E2E2E"/>
                </a:solidFill>
                <a:latin typeface="Calibri"/>
              </a:rPr>
              <a:t>Matcha market is projected to register</a:t>
            </a:r>
          </a:p>
        </p:txBody>
      </p:sp>
      <p:pic>
        <p:nvPicPr>
          <p:cNvPr id="31" name="Picture 30" descr="lock.png"/>
          <p:cNvPicPr>
            <a:picLocks noChangeAspect="1"/>
          </p:cNvPicPr>
          <p:nvPr/>
        </p:nvPicPr>
        <p:blipFill>
          <a:blip r:embed="rId6"/>
          <a:stretch>
            <a:fillRect/>
          </a:stretch>
        </p:blipFill>
        <p:spPr>
          <a:xfrm>
            <a:off x="2591312" y="4961826"/>
            <a:ext cx="134549" cy="195707"/>
          </a:xfrm>
          <a:prstGeom prst="rect">
            <a:avLst/>
          </a:prstGeom>
        </p:spPr>
      </p:pic>
      <p:sp>
        <p:nvSpPr>
          <p:cNvPr id="32" name="TextBox 31"/>
          <p:cNvSpPr txBox="1"/>
          <p:nvPr/>
        </p:nvSpPr>
        <p:spPr>
          <a:xfrm>
            <a:off x="2766421" y="4972050"/>
            <a:ext cx="8329736" cy="194310"/>
          </a:xfrm>
          <a:prstGeom prst="rect">
            <a:avLst/>
          </a:prstGeom>
          <a:noFill/>
        </p:spPr>
        <p:txBody>
          <a:bodyPr wrap="none" lIns="0" rIns="0" tIns="0" bIns="0">
            <a:spAutoFit/>
          </a:bodyPr>
          <a:lstStyle/>
          <a:p>
            <a:r>
              <a:rPr sz="1150" b="0">
                <a:solidFill>
                  <a:srgbClr val="2E2E2E"/>
                </a:solidFill>
                <a:latin typeface="Calibri"/>
              </a:rPr>
              <a:t>X increase in its revenue by the end of forecast period, 2036. Global matcha market is expected to be valued at US$ 6,718 Mn by 2036 end.</a:t>
            </a:r>
          </a:p>
        </p:txBody>
      </p:sp>
      <p:sp>
        <p:nvSpPr>
          <p:cNvPr id="33" name="TextBox 32"/>
          <p:cNvSpPr txBox="1"/>
          <p:nvPr/>
        </p:nvSpPr>
        <p:spPr>
          <a:xfrm>
            <a:off x="276225" y="5199888"/>
            <a:ext cx="3812455" cy="194310"/>
          </a:xfrm>
          <a:prstGeom prst="rect">
            <a:avLst/>
          </a:prstGeom>
          <a:noFill/>
        </p:spPr>
        <p:txBody>
          <a:bodyPr wrap="none" lIns="0" rIns="0" tIns="0" bIns="0">
            <a:spAutoFit/>
          </a:bodyPr>
          <a:lstStyle/>
          <a:p>
            <a:r>
              <a:rPr sz="1150" b="0">
                <a:solidFill>
                  <a:srgbClr val="2E2E2E"/>
                </a:solidFill>
                <a:latin typeface="Calibri"/>
              </a:rPr>
              <a:t>It is projected to create overall incremental opportunity of US$</a:t>
            </a:r>
          </a:p>
        </p:txBody>
      </p:sp>
      <p:pic>
        <p:nvPicPr>
          <p:cNvPr id="34" name="Picture 33" descr="lock.png"/>
          <p:cNvPicPr>
            <a:picLocks noChangeAspect="1"/>
          </p:cNvPicPr>
          <p:nvPr/>
        </p:nvPicPr>
        <p:blipFill>
          <a:blip r:embed="rId6"/>
          <a:stretch>
            <a:fillRect/>
          </a:stretch>
        </p:blipFill>
        <p:spPr>
          <a:xfrm>
            <a:off x="4037834" y="5189664"/>
            <a:ext cx="134549" cy="195707"/>
          </a:xfrm>
          <a:prstGeom prst="rect">
            <a:avLst/>
          </a:prstGeom>
        </p:spPr>
      </p:pic>
      <p:sp>
        <p:nvSpPr>
          <p:cNvPr id="35" name="TextBox 34"/>
          <p:cNvSpPr txBox="1"/>
          <p:nvPr/>
        </p:nvSpPr>
        <p:spPr>
          <a:xfrm>
            <a:off x="4212943" y="5199888"/>
            <a:ext cx="4186423" cy="194310"/>
          </a:xfrm>
          <a:prstGeom prst="rect">
            <a:avLst/>
          </a:prstGeom>
          <a:noFill/>
        </p:spPr>
        <p:txBody>
          <a:bodyPr wrap="none" lIns="0" rIns="0" tIns="0" bIns="0">
            <a:spAutoFit/>
          </a:bodyPr>
          <a:lstStyle/>
          <a:p>
            <a:r>
              <a:rPr sz="1150" b="0">
                <a:solidFill>
                  <a:srgbClr val="2E2E2E"/>
                </a:solidFill>
                <a:latin typeface="Calibri"/>
              </a:rPr>
              <a:t>Mn from 2025 to 2036. Global matcha market is projected to register</a:t>
            </a:r>
          </a:p>
        </p:txBody>
      </p:sp>
      <p:pic>
        <p:nvPicPr>
          <p:cNvPr id="36" name="Picture 35" descr="lock.png"/>
          <p:cNvPicPr>
            <a:picLocks noChangeAspect="1"/>
          </p:cNvPicPr>
          <p:nvPr/>
        </p:nvPicPr>
        <p:blipFill>
          <a:blip r:embed="rId6"/>
          <a:stretch>
            <a:fillRect/>
          </a:stretch>
        </p:blipFill>
        <p:spPr>
          <a:xfrm>
            <a:off x="8348521" y="5189664"/>
            <a:ext cx="134549" cy="195707"/>
          </a:xfrm>
          <a:prstGeom prst="rect">
            <a:avLst/>
          </a:prstGeom>
        </p:spPr>
      </p:pic>
      <p:sp>
        <p:nvSpPr>
          <p:cNvPr id="37" name="TextBox 36"/>
          <p:cNvSpPr txBox="1"/>
          <p:nvPr/>
        </p:nvSpPr>
        <p:spPr>
          <a:xfrm>
            <a:off x="8523630" y="5199888"/>
            <a:ext cx="3095612"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a:t>
            </a:r>
          </a:p>
        </p:txBody>
      </p:sp>
      <p:sp>
        <p:nvSpPr>
          <p:cNvPr id="38" name="TextBox 37"/>
          <p:cNvSpPr txBox="1"/>
          <p:nvPr/>
        </p:nvSpPr>
        <p:spPr>
          <a:xfrm>
            <a:off x="276225" y="5375147"/>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39" name="TextBox 38"/>
          <p:cNvSpPr txBox="1"/>
          <p:nvPr/>
        </p:nvSpPr>
        <p:spPr>
          <a:xfrm>
            <a:off x="276225" y="5602985"/>
            <a:ext cx="2393317" cy="194310"/>
          </a:xfrm>
          <a:prstGeom prst="rect">
            <a:avLst/>
          </a:prstGeom>
          <a:noFill/>
        </p:spPr>
        <p:txBody>
          <a:bodyPr wrap="none" lIns="0" rIns="0" tIns="0" bIns="0">
            <a:spAutoFit/>
          </a:bodyPr>
          <a:lstStyle/>
          <a:p>
            <a:r>
              <a:rPr sz="1150" b="0">
                <a:solidFill>
                  <a:srgbClr val="2E2E2E"/>
                </a:solidFill>
                <a:latin typeface="Calibri"/>
              </a:rPr>
              <a:t>Global matcha market volume stood at</a:t>
            </a:r>
          </a:p>
        </p:txBody>
      </p:sp>
      <p:pic>
        <p:nvPicPr>
          <p:cNvPr id="40" name="Picture 39" descr="lock.png"/>
          <p:cNvPicPr>
            <a:picLocks noChangeAspect="1"/>
          </p:cNvPicPr>
          <p:nvPr/>
        </p:nvPicPr>
        <p:blipFill>
          <a:blip r:embed="rId6"/>
          <a:stretch>
            <a:fillRect/>
          </a:stretch>
        </p:blipFill>
        <p:spPr>
          <a:xfrm>
            <a:off x="2618696" y="5592762"/>
            <a:ext cx="134549" cy="195707"/>
          </a:xfrm>
          <a:prstGeom prst="rect">
            <a:avLst/>
          </a:prstGeom>
        </p:spPr>
      </p:pic>
      <p:sp>
        <p:nvSpPr>
          <p:cNvPr id="41" name="TextBox 40"/>
          <p:cNvSpPr txBox="1"/>
          <p:nvPr/>
        </p:nvSpPr>
        <p:spPr>
          <a:xfrm>
            <a:off x="2793805" y="5602985"/>
            <a:ext cx="2229581" cy="194310"/>
          </a:xfrm>
          <a:prstGeom prst="rect">
            <a:avLst/>
          </a:prstGeom>
          <a:noFill/>
        </p:spPr>
        <p:txBody>
          <a:bodyPr wrap="none" lIns="0" rIns="0" tIns="0" bIns="0">
            <a:spAutoFit/>
          </a:bodyPr>
          <a:lstStyle/>
          <a:p>
            <a:r>
              <a:rPr sz="1150" b="0">
                <a:solidFill>
                  <a:srgbClr val="2E2E2E"/>
                </a:solidFill>
                <a:latin typeface="Calibri"/>
              </a:rPr>
              <a:t>MT in 2025 and is expected to reach</a:t>
            </a:r>
          </a:p>
        </p:txBody>
      </p:sp>
      <p:pic>
        <p:nvPicPr>
          <p:cNvPr id="42" name="Picture 41" descr="lock.png"/>
          <p:cNvPicPr>
            <a:picLocks noChangeAspect="1"/>
          </p:cNvPicPr>
          <p:nvPr/>
        </p:nvPicPr>
        <p:blipFill>
          <a:blip r:embed="rId6"/>
          <a:stretch>
            <a:fillRect/>
          </a:stretch>
        </p:blipFill>
        <p:spPr>
          <a:xfrm>
            <a:off x="4972541" y="5592762"/>
            <a:ext cx="134549" cy="195707"/>
          </a:xfrm>
          <a:prstGeom prst="rect">
            <a:avLst/>
          </a:prstGeom>
        </p:spPr>
      </p:pic>
      <p:sp>
        <p:nvSpPr>
          <p:cNvPr id="43" name="TextBox 42"/>
          <p:cNvSpPr txBox="1"/>
          <p:nvPr/>
        </p:nvSpPr>
        <p:spPr>
          <a:xfrm>
            <a:off x="5147650" y="5602985"/>
            <a:ext cx="1850461" cy="194310"/>
          </a:xfrm>
          <a:prstGeom prst="rect">
            <a:avLst/>
          </a:prstGeom>
          <a:noFill/>
        </p:spPr>
        <p:txBody>
          <a:bodyPr wrap="none" lIns="0" rIns="0" tIns="0" bIns="0">
            <a:spAutoFit/>
          </a:bodyPr>
          <a:lstStyle/>
          <a:p>
            <a:r>
              <a:rPr sz="1150" b="0">
                <a:solidFill>
                  <a:srgbClr val="2E2E2E"/>
                </a:solidFill>
                <a:latin typeface="Calibri"/>
              </a:rPr>
              <a:t>MT by 2036 end, at a CAGR of</a:t>
            </a:r>
          </a:p>
        </p:txBody>
      </p:sp>
      <p:pic>
        <p:nvPicPr>
          <p:cNvPr id="44" name="Picture 43" descr="lock.png"/>
          <p:cNvPicPr>
            <a:picLocks noChangeAspect="1"/>
          </p:cNvPicPr>
          <p:nvPr/>
        </p:nvPicPr>
        <p:blipFill>
          <a:blip r:embed="rId6"/>
          <a:stretch>
            <a:fillRect/>
          </a:stretch>
        </p:blipFill>
        <p:spPr>
          <a:xfrm>
            <a:off x="6947266" y="5592762"/>
            <a:ext cx="134549" cy="195707"/>
          </a:xfrm>
          <a:prstGeom prst="rect">
            <a:avLst/>
          </a:prstGeom>
        </p:spPr>
      </p:pic>
      <p:sp>
        <p:nvSpPr>
          <p:cNvPr id="45" name="TextBox 44"/>
          <p:cNvSpPr txBox="1"/>
          <p:nvPr/>
        </p:nvSpPr>
        <p:spPr>
          <a:xfrm>
            <a:off x="7122375" y="5602985"/>
            <a:ext cx="4369556" cy="194310"/>
          </a:xfrm>
          <a:prstGeom prst="rect">
            <a:avLst/>
          </a:prstGeom>
          <a:noFill/>
        </p:spPr>
        <p:txBody>
          <a:bodyPr wrap="none" lIns="0" rIns="0" tIns="0" bIns="0">
            <a:spAutoFit/>
          </a:bodyPr>
          <a:lstStyle/>
          <a:p>
            <a:r>
              <a:rPr sz="1150" b="0">
                <a:solidFill>
                  <a:srgbClr val="2E2E2E"/>
                </a:solidFill>
                <a:latin typeface="Calibri"/>
              </a:rPr>
              <a:t>. Value is projected to grow faster than volume over the forecast period,</a:t>
            </a:r>
          </a:p>
        </p:txBody>
      </p:sp>
      <p:sp>
        <p:nvSpPr>
          <p:cNvPr id="46" name="TextBox 45"/>
          <p:cNvSpPr txBox="1"/>
          <p:nvPr/>
        </p:nvSpPr>
        <p:spPr>
          <a:xfrm>
            <a:off x="276225" y="5778245"/>
            <a:ext cx="2727349" cy="194310"/>
          </a:xfrm>
          <a:prstGeom prst="rect">
            <a:avLst/>
          </a:prstGeom>
          <a:noFill/>
        </p:spPr>
        <p:txBody>
          <a:bodyPr wrap="none" lIns="0" rIns="0" tIns="0" bIns="0">
            <a:spAutoFit/>
          </a:bodyPr>
          <a:lstStyle/>
          <a:p>
            <a:r>
              <a:rPr sz="1150" b="0">
                <a:solidFill>
                  <a:srgbClr val="2E2E2E"/>
                </a:solidFill>
                <a:latin typeface="Calibri"/>
              </a:rPr>
              <a:t>owing to an increase in average selling price.</a:t>
            </a:r>
          </a:p>
        </p:txBody>
      </p:sp>
      <p:sp>
        <p:nvSpPr>
          <p:cNvPr id="47" name="lockshield_12"/>
          <p:cNvSpPr/>
          <p:nvPr/>
        </p:nvSpPr>
        <p:spPr>
          <a:xfrm>
            <a:off x="238125" y="1266825"/>
            <a:ext cx="4505325"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lockshield_15"/>
          <p:cNvSpPr/>
          <p:nvPr/>
        </p:nvSpPr>
        <p:spPr>
          <a:xfrm>
            <a:off x="5086350" y="1266825"/>
            <a:ext cx="6858000" cy="22288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Summary Country Indices (Value)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14776" cy="2132071"/>
        </p:xfrm>
        <a:graphic>
          <a:graphicData uri="http://schemas.openxmlformats.org/drawingml/2006/table">
            <a:tbl>
              <a:tblPr>
                <a:tableStyleId>{5C22544A-7EE6-4342-B048-85BDC9FD1C3A}</a:tableStyleId>
              </a:tblPr>
              <a:tblGrid>
                <a:gridCol w="1026891"/>
                <a:gridCol w="965533"/>
                <a:gridCol w="658971"/>
                <a:gridCol w="12633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77189">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Saudi Arabia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Germany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77189">
                <a:tc>
                  <a:txBody>
                    <a:bodyPr wrap="none"/>
                    <a:lstStyle/>
                    <a:p>
                      <a:pPr algn="l"/>
                      <a:r>
                        <a:rPr sz="1100" b="1">
                          <a:solidFill>
                            <a:srgbClr val="2E2E2E"/>
                          </a:solidFill>
                          <a:latin typeface="Calibri"/>
                        </a:rPr>
                        <a:t>Netherlands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77189">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2374032" cy="1981679"/>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6584082" y="1293011"/>
            <a:ext cx="1369293" cy="1981679"/>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20" name="Rectangle 19"/>
          <p:cNvSpPr/>
          <p:nvPr/>
        </p:nvSpPr>
        <p:spPr>
          <a:xfrm>
            <a:off x="4210050" y="3274690"/>
            <a:ext cx="1544155" cy="1471923"/>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1" name="Rectangle 20"/>
          <p:cNvSpPr/>
          <p:nvPr/>
        </p:nvSpPr>
        <p:spPr>
          <a:xfrm>
            <a:off x="4210050" y="4746614"/>
            <a:ext cx="1544155" cy="113199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22" name="Rectangle 21"/>
          <p:cNvSpPr/>
          <p:nvPr/>
        </p:nvSpPr>
        <p:spPr>
          <a:xfrm>
            <a:off x="5754205" y="3274690"/>
            <a:ext cx="1130942" cy="1177604"/>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23" name="Rectangle 22"/>
          <p:cNvSpPr/>
          <p:nvPr/>
        </p:nvSpPr>
        <p:spPr>
          <a:xfrm>
            <a:off x="6885147" y="3274690"/>
            <a:ext cx="1068228" cy="1177604"/>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24" name="Rectangle 23"/>
          <p:cNvSpPr/>
          <p:nvPr/>
        </p:nvSpPr>
        <p:spPr>
          <a:xfrm>
            <a:off x="5754205" y="4452294"/>
            <a:ext cx="1192218" cy="795850"/>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25" name="Rectangle 24"/>
          <p:cNvSpPr/>
          <p:nvPr/>
        </p:nvSpPr>
        <p:spPr>
          <a:xfrm>
            <a:off x="5754205" y="5248144"/>
            <a:ext cx="1192218" cy="630465"/>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6" name="Rectangle 25"/>
          <p:cNvSpPr/>
          <p:nvPr/>
        </p:nvSpPr>
        <p:spPr>
          <a:xfrm>
            <a:off x="6946423" y="4452294"/>
            <a:ext cx="1006952" cy="733459"/>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7" name="Rectangle 26"/>
          <p:cNvSpPr/>
          <p:nvPr/>
        </p:nvSpPr>
        <p:spPr>
          <a:xfrm>
            <a:off x="6946423" y="5185753"/>
            <a:ext cx="1006952" cy="692856"/>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 </a:t>
            </a:r>
          </a:p>
        </p:txBody>
      </p:sp>
      <p:sp>
        <p:nvSpPr>
          <p:cNvPr id="28" name="Rounded Rectangle 27"/>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30" name="Chart 29"/>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31" name="Rounded Rectangle 30"/>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32" name="Table 31"/>
          <p:cNvGraphicFramePr>
            <a:graphicFrameLocks noGrp="1"/>
          </p:cNvGraphicFramePr>
          <p:nvPr/>
        </p:nvGraphicFramePr>
        <p:xfrm>
          <a:off x="8096250" y="3547710"/>
          <a:ext cx="3927746" cy="2159451"/>
        </p:xfrm>
        <a:graphic>
          <a:graphicData uri="http://schemas.openxmlformats.org/drawingml/2006/table">
            <a:tbl>
              <a:tblPr>
                <a:tableStyleId>{5C22544A-7EE6-4342-B048-85BDC9FD1C3A}</a:tableStyleId>
              </a:tblPr>
              <a:tblGrid>
                <a:gridCol w="710293"/>
                <a:gridCol w="1068161"/>
                <a:gridCol w="1068161"/>
                <a:gridCol w="10811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382665">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Germany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82665">
                <a:tc>
                  <a:txBody>
                    <a:bodyPr wrap="none"/>
                    <a:lstStyle/>
                    <a:p>
                      <a:pPr algn="l"/>
                      <a:r>
                        <a:rPr sz="1100" b="1">
                          <a:solidFill>
                            <a:srgbClr val="2E2E2E"/>
                          </a:solidFill>
                          <a:latin typeface="Calibri"/>
                        </a:rPr>
                        <a:t>China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82665">
                <a:tc>
                  <a:txBody>
                    <a:bodyPr wrap="none"/>
                    <a:lstStyle/>
                    <a:p>
                      <a:pPr algn="l"/>
                      <a:r>
                        <a:rPr sz="1100" b="1">
                          <a:solidFill>
                            <a:srgbClr val="2E2E2E"/>
                          </a:solidFill>
                          <a:latin typeface="Calibri"/>
                        </a:rPr>
                        <a:t>India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33" name="TextBox 32"/>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34" name="Rounded Rectangle 33"/>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5" name="TextBox 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6" name="Picture 35" descr="lock.png"/>
          <p:cNvPicPr>
            <a:picLocks noChangeAspect="1"/>
          </p:cNvPicPr>
          <p:nvPr/>
        </p:nvPicPr>
        <p:blipFill>
          <a:blip r:embed="rId6"/>
          <a:stretch>
            <a:fillRect/>
          </a:stretch>
        </p:blipFill>
        <p:spPr>
          <a:xfrm>
            <a:off x="3188017" y="2125483"/>
            <a:ext cx="183356" cy="266700"/>
          </a:xfrm>
          <a:prstGeom prst="rect">
            <a:avLst/>
          </a:prstGeom>
        </p:spPr>
      </p:pic>
      <p:pic>
        <p:nvPicPr>
          <p:cNvPr id="37" name="Picture 36" descr="lock.png"/>
          <p:cNvPicPr>
            <a:picLocks noChangeAspect="1"/>
          </p:cNvPicPr>
          <p:nvPr/>
        </p:nvPicPr>
        <p:blipFill>
          <a:blip r:embed="rId6"/>
          <a:stretch>
            <a:fillRect/>
          </a:stretch>
        </p:blipFill>
        <p:spPr>
          <a:xfrm>
            <a:off x="2454153" y="4513519"/>
            <a:ext cx="332122" cy="483086"/>
          </a:xfrm>
          <a:prstGeom prst="rect">
            <a:avLst/>
          </a:prstGeom>
        </p:spPr>
      </p:pic>
      <p:pic>
        <p:nvPicPr>
          <p:cNvPr id="38" name="Picture 37" descr="lock.png"/>
          <p:cNvPicPr>
            <a:picLocks noChangeAspect="1"/>
          </p:cNvPicPr>
          <p:nvPr/>
        </p:nvPicPr>
        <p:blipFill>
          <a:blip r:embed="rId6"/>
          <a:stretch>
            <a:fillRect/>
          </a:stretch>
        </p:blipFill>
        <p:spPr>
          <a:xfrm>
            <a:off x="5339440" y="2283850"/>
            <a:ext cx="115252" cy="167639"/>
          </a:xfrm>
          <a:prstGeom prst="rect">
            <a:avLst/>
          </a:prstGeom>
        </p:spPr>
      </p:pic>
      <p:pic>
        <p:nvPicPr>
          <p:cNvPr id="39" name="Picture 38" descr="lock.png"/>
          <p:cNvPicPr>
            <a:picLocks noChangeAspect="1"/>
          </p:cNvPicPr>
          <p:nvPr/>
        </p:nvPicPr>
        <p:blipFill>
          <a:blip r:embed="rId6"/>
          <a:stretch>
            <a:fillRect/>
          </a:stretch>
        </p:blipFill>
        <p:spPr>
          <a:xfrm>
            <a:off x="7211102" y="2283850"/>
            <a:ext cx="115252" cy="167639"/>
          </a:xfrm>
          <a:prstGeom prst="rect">
            <a:avLst/>
          </a:prstGeom>
        </p:spPr>
      </p:pic>
      <p:pic>
        <p:nvPicPr>
          <p:cNvPr id="40" name="Picture 39" descr="lock.png"/>
          <p:cNvPicPr>
            <a:picLocks noChangeAspect="1"/>
          </p:cNvPicPr>
          <p:nvPr/>
        </p:nvPicPr>
        <p:blipFill>
          <a:blip r:embed="rId6"/>
          <a:stretch>
            <a:fillRect/>
          </a:stretch>
        </p:blipFill>
        <p:spPr>
          <a:xfrm>
            <a:off x="4924501" y="4010651"/>
            <a:ext cx="115252" cy="167639"/>
          </a:xfrm>
          <a:prstGeom prst="rect">
            <a:avLst/>
          </a:prstGeom>
        </p:spPr>
      </p:pic>
      <p:pic>
        <p:nvPicPr>
          <p:cNvPr id="41" name="Picture 40" descr="lock.png"/>
          <p:cNvPicPr>
            <a:picLocks noChangeAspect="1"/>
          </p:cNvPicPr>
          <p:nvPr/>
        </p:nvPicPr>
        <p:blipFill>
          <a:blip r:embed="rId6"/>
          <a:stretch>
            <a:fillRect/>
          </a:stretch>
        </p:blipFill>
        <p:spPr>
          <a:xfrm>
            <a:off x="4924501" y="5312612"/>
            <a:ext cx="115252" cy="167639"/>
          </a:xfrm>
          <a:prstGeom prst="rect">
            <a:avLst/>
          </a:prstGeom>
        </p:spPr>
      </p:pic>
      <p:pic>
        <p:nvPicPr>
          <p:cNvPr id="42" name="Picture 41" descr="lock.png"/>
          <p:cNvPicPr>
            <a:picLocks noChangeAspect="1"/>
          </p:cNvPicPr>
          <p:nvPr/>
        </p:nvPicPr>
        <p:blipFill>
          <a:blip r:embed="rId6"/>
          <a:stretch>
            <a:fillRect/>
          </a:stretch>
        </p:blipFill>
        <p:spPr>
          <a:xfrm>
            <a:off x="6262050" y="3863491"/>
            <a:ext cx="115252" cy="167639"/>
          </a:xfrm>
          <a:prstGeom prst="rect">
            <a:avLst/>
          </a:prstGeom>
        </p:spPr>
      </p:pic>
      <p:pic>
        <p:nvPicPr>
          <p:cNvPr id="43" name="Picture 42" descr="lock.png"/>
          <p:cNvPicPr>
            <a:picLocks noChangeAspect="1"/>
          </p:cNvPicPr>
          <p:nvPr/>
        </p:nvPicPr>
        <p:blipFill>
          <a:blip r:embed="rId6"/>
          <a:stretch>
            <a:fillRect/>
          </a:stretch>
        </p:blipFill>
        <p:spPr>
          <a:xfrm>
            <a:off x="7361635" y="3863491"/>
            <a:ext cx="115252" cy="167639"/>
          </a:xfrm>
          <a:prstGeom prst="rect">
            <a:avLst/>
          </a:prstGeom>
        </p:spPr>
      </p:pic>
      <p:pic>
        <p:nvPicPr>
          <p:cNvPr id="44" name="Picture 43" descr="lock.png"/>
          <p:cNvPicPr>
            <a:picLocks noChangeAspect="1"/>
          </p:cNvPicPr>
          <p:nvPr/>
        </p:nvPicPr>
        <p:blipFill>
          <a:blip r:embed="rId6"/>
          <a:stretch>
            <a:fillRect/>
          </a:stretch>
        </p:blipFill>
        <p:spPr>
          <a:xfrm>
            <a:off x="6292688" y="4850218"/>
            <a:ext cx="115252" cy="167639"/>
          </a:xfrm>
          <a:prstGeom prst="rect">
            <a:avLst/>
          </a:prstGeom>
        </p:spPr>
      </p:pic>
      <p:pic>
        <p:nvPicPr>
          <p:cNvPr id="45" name="Picture 44" descr="lock.png"/>
          <p:cNvPicPr>
            <a:picLocks noChangeAspect="1"/>
          </p:cNvPicPr>
          <p:nvPr/>
        </p:nvPicPr>
        <p:blipFill>
          <a:blip r:embed="rId6"/>
          <a:stretch>
            <a:fillRect/>
          </a:stretch>
        </p:blipFill>
        <p:spPr>
          <a:xfrm>
            <a:off x="6292688" y="5563376"/>
            <a:ext cx="115252" cy="167639"/>
          </a:xfrm>
          <a:prstGeom prst="rect">
            <a:avLst/>
          </a:prstGeom>
        </p:spPr>
      </p:pic>
      <p:pic>
        <p:nvPicPr>
          <p:cNvPr id="46" name="Picture 45" descr="lock.png"/>
          <p:cNvPicPr>
            <a:picLocks noChangeAspect="1"/>
          </p:cNvPicPr>
          <p:nvPr/>
        </p:nvPicPr>
        <p:blipFill>
          <a:blip r:embed="rId6"/>
          <a:stretch>
            <a:fillRect/>
          </a:stretch>
        </p:blipFill>
        <p:spPr>
          <a:xfrm>
            <a:off x="7392273" y="4819023"/>
            <a:ext cx="115252" cy="167639"/>
          </a:xfrm>
          <a:prstGeom prst="rect">
            <a:avLst/>
          </a:prstGeom>
        </p:spPr>
      </p:pic>
      <p:pic>
        <p:nvPicPr>
          <p:cNvPr id="47" name="Picture 46" descr="lock.png"/>
          <p:cNvPicPr>
            <a:picLocks noChangeAspect="1"/>
          </p:cNvPicPr>
          <p:nvPr/>
        </p:nvPicPr>
        <p:blipFill>
          <a:blip r:embed="rId6"/>
          <a:stretch>
            <a:fillRect/>
          </a:stretch>
        </p:blipFill>
        <p:spPr>
          <a:xfrm>
            <a:off x="7392273" y="5532181"/>
            <a:ext cx="115252" cy="167639"/>
          </a:xfrm>
          <a:prstGeom prst="rect">
            <a:avLst/>
          </a:prstGeom>
        </p:spPr>
      </p:pic>
      <p:pic>
        <p:nvPicPr>
          <p:cNvPr id="48" name="Picture 47" descr="lock.png"/>
          <p:cNvPicPr>
            <a:picLocks noChangeAspect="1"/>
          </p:cNvPicPr>
          <p:nvPr/>
        </p:nvPicPr>
        <p:blipFill>
          <a:blip r:embed="rId6"/>
          <a:stretch>
            <a:fillRect/>
          </a:stretch>
        </p:blipFill>
        <p:spPr>
          <a:xfrm>
            <a:off x="11131867" y="2120920"/>
            <a:ext cx="183356" cy="266700"/>
          </a:xfrm>
          <a:prstGeom prst="rect">
            <a:avLst/>
          </a:prstGeom>
        </p:spPr>
      </p:pic>
      <p:pic>
        <p:nvPicPr>
          <p:cNvPr id="49" name="Picture 48" descr="lock.png"/>
          <p:cNvPicPr>
            <a:picLocks noChangeAspect="1"/>
          </p:cNvPicPr>
          <p:nvPr/>
        </p:nvPicPr>
        <p:blipFill>
          <a:blip r:embed="rId6"/>
          <a:stretch>
            <a:fillRect/>
          </a:stretch>
        </p:blipFill>
        <p:spPr>
          <a:xfrm>
            <a:off x="10208848" y="4492667"/>
            <a:ext cx="354517" cy="515661"/>
          </a:xfrm>
          <a:prstGeom prst="rect">
            <a:avLst/>
          </a:prstGeom>
        </p:spPr>
      </p:pic>
      <p:sp>
        <p:nvSpPr>
          <p:cNvPr id="50" name="TextBox 49"/>
          <p:cNvSpPr txBox="1"/>
          <p:nvPr/>
        </p:nvSpPr>
        <p:spPr>
          <a:xfrm>
            <a:off x="257175" y="6160574"/>
            <a:ext cx="2757239" cy="186689"/>
          </a:xfrm>
          <a:prstGeom prst="rect">
            <a:avLst/>
          </a:prstGeom>
          <a:noFill/>
        </p:spPr>
        <p:txBody>
          <a:bodyPr wrap="none" lIns="0" rIns="0" tIns="0" bIns="0">
            <a:spAutoFit/>
          </a:bodyPr>
          <a:lstStyle/>
          <a:p>
            <a:r>
              <a:rPr sz="1100" b="0">
                <a:solidFill>
                  <a:srgbClr val="2E2E2E"/>
                </a:solidFill>
                <a:latin typeface="Calibri"/>
              </a:rPr>
              <a:t>The U.S. matcha market is projected to register</a:t>
            </a:r>
          </a:p>
        </p:txBody>
      </p:sp>
      <p:pic>
        <p:nvPicPr>
          <p:cNvPr id="51" name="Picture 50" descr="lock.png"/>
          <p:cNvPicPr>
            <a:picLocks noChangeAspect="1"/>
          </p:cNvPicPr>
          <p:nvPr/>
        </p:nvPicPr>
        <p:blipFill>
          <a:blip r:embed="rId6"/>
          <a:stretch>
            <a:fillRect/>
          </a:stretch>
        </p:blipFill>
        <p:spPr>
          <a:xfrm>
            <a:off x="2962466" y="6150795"/>
            <a:ext cx="128699" cy="187198"/>
          </a:xfrm>
          <a:prstGeom prst="rect">
            <a:avLst/>
          </a:prstGeom>
        </p:spPr>
      </p:pic>
      <p:sp>
        <p:nvSpPr>
          <p:cNvPr id="52" name="TextBox 51"/>
          <p:cNvSpPr txBox="1"/>
          <p:nvPr/>
        </p:nvSpPr>
        <p:spPr>
          <a:xfrm>
            <a:off x="3129961" y="6160574"/>
            <a:ext cx="4298833" cy="186689"/>
          </a:xfrm>
          <a:prstGeom prst="rect">
            <a:avLst/>
          </a:prstGeom>
          <a:noFill/>
        </p:spPr>
        <p:txBody>
          <a:bodyPr wrap="none" lIns="0" rIns="0" tIns="0" bIns="0">
            <a:spAutoFit/>
          </a:bodyPr>
          <a:lstStyle/>
          <a:p>
            <a:r>
              <a:rPr sz="1100" b="0">
                <a:solidFill>
                  <a:srgbClr val="2E2E2E"/>
                </a:solidFill>
                <a:latin typeface="Calibri"/>
              </a:rPr>
              <a:t>X higher value than Germany in 2036. India posts the highest CAGR Index (</a:t>
            </a:r>
          </a:p>
        </p:txBody>
      </p:sp>
      <p:pic>
        <p:nvPicPr>
          <p:cNvPr id="53" name="Picture 52" descr="lock.png"/>
          <p:cNvPicPr>
            <a:picLocks noChangeAspect="1"/>
          </p:cNvPicPr>
          <p:nvPr/>
        </p:nvPicPr>
        <p:blipFill>
          <a:blip r:embed="rId6"/>
          <a:stretch>
            <a:fillRect/>
          </a:stretch>
        </p:blipFill>
        <p:spPr>
          <a:xfrm>
            <a:off x="7376847" y="6150795"/>
            <a:ext cx="128699" cy="187198"/>
          </a:xfrm>
          <a:prstGeom prst="rect">
            <a:avLst/>
          </a:prstGeom>
        </p:spPr>
      </p:pic>
      <p:sp>
        <p:nvSpPr>
          <p:cNvPr id="54" name="TextBox 53"/>
          <p:cNvSpPr txBox="1"/>
          <p:nvPr/>
        </p:nvSpPr>
        <p:spPr>
          <a:xfrm>
            <a:off x="7544343"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55" name="Picture 54" descr="lock.png"/>
          <p:cNvPicPr>
            <a:picLocks noChangeAspect="1"/>
          </p:cNvPicPr>
          <p:nvPr/>
        </p:nvPicPr>
        <p:blipFill>
          <a:blip r:embed="rId6"/>
          <a:stretch>
            <a:fillRect/>
          </a:stretch>
        </p:blipFill>
        <p:spPr>
          <a:xfrm>
            <a:off x="8282374" y="6150795"/>
            <a:ext cx="128699" cy="187198"/>
          </a:xfrm>
          <a:prstGeom prst="rect">
            <a:avLst/>
          </a:prstGeom>
        </p:spPr>
      </p:pic>
      <p:sp>
        <p:nvSpPr>
          <p:cNvPr id="56" name="TextBox 55"/>
          <p:cNvSpPr txBox="1"/>
          <p:nvPr/>
        </p:nvSpPr>
        <p:spPr>
          <a:xfrm>
            <a:off x="8449870" y="6160574"/>
            <a:ext cx="2125315" cy="186689"/>
          </a:xfrm>
          <a:prstGeom prst="rect">
            <a:avLst/>
          </a:prstGeom>
          <a:noFill/>
        </p:spPr>
        <p:txBody>
          <a:bodyPr wrap="none" lIns="0" rIns="0" tIns="0" bIns="0">
            <a:spAutoFit/>
          </a:bodyPr>
          <a:lstStyle/>
          <a:p>
            <a:r>
              <a:rPr sz="1100" b="0">
                <a:solidFill>
                  <a:srgbClr val="2E2E2E"/>
                </a:solidFill>
                <a:latin typeface="Calibri"/>
              </a:rPr>
              <a:t>against the global benchmark, while</a:t>
            </a:r>
          </a:p>
        </p:txBody>
      </p:sp>
      <p:sp>
        <p:nvSpPr>
          <p:cNvPr id="57" name="TextBox 56"/>
          <p:cNvSpPr txBox="1"/>
          <p:nvPr/>
        </p:nvSpPr>
        <p:spPr>
          <a:xfrm>
            <a:off x="257175" y="6328214"/>
            <a:ext cx="2534865" cy="186689"/>
          </a:xfrm>
          <a:prstGeom prst="rect">
            <a:avLst/>
          </a:prstGeom>
          <a:noFill/>
        </p:spPr>
        <p:txBody>
          <a:bodyPr wrap="none" lIns="0" rIns="0" tIns="0" bIns="0">
            <a:spAutoFit/>
          </a:bodyPr>
          <a:lstStyle/>
          <a:p>
            <a:r>
              <a:rPr sz="1100" b="0">
                <a:solidFill>
                  <a:srgbClr val="2E2E2E"/>
                </a:solidFill>
                <a:latin typeface="Calibri"/>
              </a:rPr>
              <a:t>U.S. offers the largest absolute opportunity</a:t>
            </a:r>
          </a:p>
        </p:txBody>
      </p:sp>
      <p:pic>
        <p:nvPicPr>
          <p:cNvPr id="58" name="Picture 57" descr="lock.png"/>
          <p:cNvPicPr>
            <a:picLocks noChangeAspect="1"/>
          </p:cNvPicPr>
          <p:nvPr/>
        </p:nvPicPr>
        <p:blipFill>
          <a:blip r:embed="rId6"/>
          <a:stretch>
            <a:fillRect/>
          </a:stretch>
        </p:blipFill>
        <p:spPr>
          <a:xfrm>
            <a:off x="2740092" y="6318435"/>
            <a:ext cx="128699" cy="187198"/>
          </a:xfrm>
          <a:prstGeom prst="rect">
            <a:avLst/>
          </a:prstGeom>
        </p:spPr>
      </p:pic>
      <p:sp>
        <p:nvSpPr>
          <p:cNvPr id="59" name="TextBox 58"/>
          <p:cNvSpPr txBox="1"/>
          <p:nvPr/>
        </p:nvSpPr>
        <p:spPr>
          <a:xfrm>
            <a:off x="2907587"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60" name="Picture 59" descr="lock.png"/>
          <p:cNvPicPr>
            <a:picLocks noChangeAspect="1"/>
          </p:cNvPicPr>
          <p:nvPr/>
        </p:nvPicPr>
        <p:blipFill>
          <a:blip r:embed="rId6"/>
          <a:stretch>
            <a:fillRect/>
          </a:stretch>
        </p:blipFill>
        <p:spPr>
          <a:xfrm>
            <a:off x="6167586" y="6318435"/>
            <a:ext cx="128699" cy="187198"/>
          </a:xfrm>
          <a:prstGeom prst="rect">
            <a:avLst/>
          </a:prstGeom>
        </p:spPr>
      </p:pic>
      <p:sp>
        <p:nvSpPr>
          <p:cNvPr id="61" name="TextBox 60"/>
          <p:cNvSpPr txBox="1"/>
          <p:nvPr/>
        </p:nvSpPr>
        <p:spPr>
          <a:xfrm>
            <a:off x="6335081" y="6328214"/>
            <a:ext cx="1483568" cy="186689"/>
          </a:xfrm>
          <a:prstGeom prst="rect">
            <a:avLst/>
          </a:prstGeom>
          <a:noFill/>
        </p:spPr>
        <p:txBody>
          <a:bodyPr wrap="none" lIns="0" rIns="0" tIns="0" bIns="0">
            <a:spAutoFit/>
          </a:bodyPr>
          <a:lstStyle/>
          <a:p>
            <a:r>
              <a:rPr sz="1100" b="0">
                <a:solidFill>
                  <a:srgbClr val="2E2E2E"/>
                </a:solidFill>
                <a:latin typeface="Calibri"/>
              </a:rPr>
              <a:t>of the global increment).</a:t>
            </a:r>
          </a:p>
        </p:txBody>
      </p:sp>
      <p:sp>
        <p:nvSpPr>
          <p:cNvPr id="62"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lockshield_30"/>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Summary Country Indices (Value)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9810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1" name="Table 10"/>
          <p:cNvGraphicFramePr>
            <a:graphicFrameLocks noGrp="1"/>
          </p:cNvGraphicFramePr>
          <p:nvPr/>
        </p:nvGraphicFramePr>
        <p:xfrm>
          <a:off x="152400" y="1057275"/>
          <a:ext cx="11887199" cy="1485896"/>
        </p:xfrm>
        <a:graphic>
          <a:graphicData uri="http://schemas.openxmlformats.org/drawingml/2006/table">
            <a:tbl>
              <a:tblPr>
                <a:tableStyleId>{5C22544A-7EE6-4342-B048-85BDC9FD1C3A}</a:tableStyleId>
              </a:tblPr>
              <a:tblGrid>
                <a:gridCol w="1994456"/>
                <a:gridCol w="3297581"/>
                <a:gridCol w="3297581"/>
                <a:gridCol w="329758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Thailand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Spain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Malaysia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China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2" name="TextBox 11"/>
          <p:cNvSpPr txBox="1"/>
          <p:nvPr/>
        </p:nvSpPr>
        <p:spPr>
          <a:xfrm>
            <a:off x="219075" y="25527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3" name="Rounded Rectangle 12"/>
          <p:cNvSpPr/>
          <p:nvPr/>
        </p:nvSpPr>
        <p:spPr>
          <a:xfrm>
            <a:off x="142875" y="290512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2981325"/>
          <a:ext cx="11887200" cy="1485896"/>
        </p:xfrm>
        <a:graphic>
          <a:graphicData uri="http://schemas.openxmlformats.org/drawingml/2006/table">
            <a:tbl>
              <a:tblPr>
                <a:tableStyleId>{5C22544A-7EE6-4342-B048-85BDC9FD1C3A}</a:tableStyleId>
              </a:tblPr>
              <a:tblGrid>
                <a:gridCol w="1846407"/>
                <a:gridCol w="3346931"/>
                <a:gridCol w="3346931"/>
                <a:gridCol w="334693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247954">
                <a:tc>
                  <a:txBody>
                    <a:bodyPr wrap="none"/>
                    <a:lstStyle/>
                    <a:p>
                      <a:pPr algn="l"/>
                      <a:r>
                        <a:rPr sz="1100" b="1">
                          <a:solidFill>
                            <a:srgbClr val="2E2E2E"/>
                          </a:solidFill>
                          <a:latin typeface="Calibri"/>
                        </a:rPr>
                        <a:t>Brazil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U.K.</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France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7954">
                <a:tc>
                  <a:txBody>
                    <a:bodyPr wrap="none"/>
                    <a:lstStyle/>
                    <a:p>
                      <a:pPr algn="l"/>
                      <a:r>
                        <a:rPr sz="1100" b="1">
                          <a:solidFill>
                            <a:srgbClr val="2E2E2E"/>
                          </a:solidFill>
                          <a:latin typeface="Calibri"/>
                        </a:rPr>
                        <a:t>Japan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7954">
                <a:tc>
                  <a:txBody>
                    <a:bodyPr wrap="none"/>
                    <a:lstStyle/>
                    <a:p>
                      <a:pPr algn="l"/>
                      <a:r>
                        <a:rPr sz="1100" b="1">
                          <a:solidFill>
                            <a:srgbClr val="2E2E2E"/>
                          </a:solidFill>
                          <a:latin typeface="Calibri"/>
                        </a:rPr>
                        <a:t>UAE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5" name="TextBox 14"/>
          <p:cNvSpPr txBox="1"/>
          <p:nvPr/>
        </p:nvSpPr>
        <p:spPr>
          <a:xfrm>
            <a:off x="219075" y="4476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4"/>
          <a:stretch>
            <a:fillRect/>
          </a:stretch>
        </p:blipFill>
        <p:spPr>
          <a:xfrm>
            <a:off x="6906537" y="1656588"/>
            <a:ext cx="366712" cy="533400"/>
          </a:xfrm>
          <a:prstGeom prst="rect">
            <a:avLst/>
          </a:prstGeom>
        </p:spPr>
      </p:pic>
      <p:pic>
        <p:nvPicPr>
          <p:cNvPr id="18" name="Picture 17" descr="lock.png"/>
          <p:cNvPicPr>
            <a:picLocks noChangeAspect="1"/>
          </p:cNvPicPr>
          <p:nvPr/>
        </p:nvPicPr>
        <p:blipFill>
          <a:blip r:embed="rId4"/>
          <a:stretch>
            <a:fillRect/>
          </a:stretch>
        </p:blipFill>
        <p:spPr>
          <a:xfrm>
            <a:off x="6832513" y="3580638"/>
            <a:ext cx="366712" cy="533400"/>
          </a:xfrm>
          <a:prstGeom prst="rect">
            <a:avLst/>
          </a:prstGeom>
        </p:spPr>
      </p:pic>
    </p:spTree>
  </p:cSld>
  <p:clrMapOvr>
    <a:masterClrMapping/>
  </p:clrMapOvr>
</p:sld>
</file>

<file path=ppt/slides/slide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'Matcha Powder'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South Asia &amp; Pacific outpacing the global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2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2741327" cy="194310"/>
          </a:xfrm>
          <a:prstGeom prst="rect">
            <a:avLst/>
          </a:prstGeom>
          <a:noFill/>
        </p:spPr>
        <p:txBody>
          <a:bodyPr wrap="none" lIns="0" rIns="0" tIns="0" bIns="0">
            <a:spAutoFit/>
          </a:bodyPr>
          <a:lstStyle/>
          <a:p>
            <a:r>
              <a:rPr sz="1150" b="0">
                <a:solidFill>
                  <a:srgbClr val="2E2E2E"/>
                </a:solidFill>
                <a:latin typeface="Calibri"/>
              </a:rPr>
              <a:t>Global matcha market is expected to witness</a:t>
            </a:r>
          </a:p>
        </p:txBody>
      </p:sp>
      <p:pic>
        <p:nvPicPr>
          <p:cNvPr id="32" name="Picture 31" descr="lock.png"/>
          <p:cNvPicPr>
            <a:picLocks noChangeAspect="1"/>
          </p:cNvPicPr>
          <p:nvPr/>
        </p:nvPicPr>
        <p:blipFill>
          <a:blip r:embed="rId4"/>
          <a:stretch>
            <a:fillRect/>
          </a:stretch>
        </p:blipFill>
        <p:spPr>
          <a:xfrm>
            <a:off x="2966706" y="1389951"/>
            <a:ext cx="134549" cy="195707"/>
          </a:xfrm>
          <a:prstGeom prst="rect">
            <a:avLst/>
          </a:prstGeom>
        </p:spPr>
      </p:pic>
      <p:sp>
        <p:nvSpPr>
          <p:cNvPr id="33" name="TextBox 32"/>
          <p:cNvSpPr txBox="1"/>
          <p:nvPr/>
        </p:nvSpPr>
        <p:spPr>
          <a:xfrm>
            <a:off x="3141815" y="1400175"/>
            <a:ext cx="4629993" cy="194310"/>
          </a:xfrm>
          <a:prstGeom prst="rect">
            <a:avLst/>
          </a:prstGeom>
          <a:noFill/>
        </p:spPr>
        <p:txBody>
          <a:bodyPr wrap="none" lIns="0" rIns="0" tIns="0" bIns="0">
            <a:spAutoFit/>
          </a:bodyPr>
          <a:lstStyle/>
          <a:p>
            <a:r>
              <a:rPr sz="1150" b="0">
                <a:solidFill>
                  <a:srgbClr val="2E2E2E"/>
                </a:solidFill>
                <a:latin typeface="Calibri"/>
              </a:rPr>
              <a:t>X increase in revenue by 2036 end. Global matcha market accounted for US$</a:t>
            </a:r>
          </a:p>
        </p:txBody>
      </p:sp>
      <p:pic>
        <p:nvPicPr>
          <p:cNvPr id="34" name="Picture 33" descr="lock.png"/>
          <p:cNvPicPr>
            <a:picLocks noChangeAspect="1"/>
          </p:cNvPicPr>
          <p:nvPr/>
        </p:nvPicPr>
        <p:blipFill>
          <a:blip r:embed="rId4"/>
          <a:stretch>
            <a:fillRect/>
          </a:stretch>
        </p:blipFill>
        <p:spPr>
          <a:xfrm>
            <a:off x="7720962" y="1389951"/>
            <a:ext cx="134549" cy="195707"/>
          </a:xfrm>
          <a:prstGeom prst="rect">
            <a:avLst/>
          </a:prstGeom>
        </p:spPr>
      </p:pic>
      <p:sp>
        <p:nvSpPr>
          <p:cNvPr id="35" name="TextBox 34"/>
          <p:cNvSpPr txBox="1"/>
          <p:nvPr/>
        </p:nvSpPr>
        <p:spPr>
          <a:xfrm>
            <a:off x="7896072" y="1400175"/>
            <a:ext cx="3736863" cy="194310"/>
          </a:xfrm>
          <a:prstGeom prst="rect">
            <a:avLst/>
          </a:prstGeom>
          <a:noFill/>
        </p:spPr>
        <p:txBody>
          <a:bodyPr wrap="none" lIns="0" rIns="0" tIns="0" bIns="0">
            <a:spAutoFit/>
          </a:bodyPr>
          <a:lstStyle/>
          <a:p>
            <a:r>
              <a:rPr sz="1150" b="0">
                <a:solidFill>
                  <a:srgbClr val="2E2E2E"/>
                </a:solidFill>
                <a:latin typeface="Calibri"/>
              </a:rPr>
              <a:t>Mn in 2025, which is expected to increase to US$ 6,718 Mn in</a:t>
            </a:r>
          </a:p>
        </p:txBody>
      </p:sp>
      <p:sp>
        <p:nvSpPr>
          <p:cNvPr id="36" name="TextBox 35"/>
          <p:cNvSpPr txBox="1"/>
          <p:nvPr/>
        </p:nvSpPr>
        <p:spPr>
          <a:xfrm>
            <a:off x="276225" y="1575435"/>
            <a:ext cx="1508727" cy="194310"/>
          </a:xfrm>
          <a:prstGeom prst="rect">
            <a:avLst/>
          </a:prstGeom>
          <a:noFill/>
        </p:spPr>
        <p:txBody>
          <a:bodyPr wrap="none" lIns="0" rIns="0" tIns="0" bIns="0">
            <a:spAutoFit/>
          </a:bodyPr>
          <a:lstStyle/>
          <a:p>
            <a:r>
              <a:rPr sz="1150" b="0">
                <a:solidFill>
                  <a:srgbClr val="2E2E2E"/>
                </a:solidFill>
                <a:latin typeface="Calibri"/>
              </a:rPr>
              <a:t>2036 at a CAGR of 7.1%.</a:t>
            </a:r>
          </a:p>
        </p:txBody>
      </p:sp>
      <p:sp>
        <p:nvSpPr>
          <p:cNvPr id="37" name="TextBox 36"/>
          <p:cNvSpPr txBox="1"/>
          <p:nvPr/>
        </p:nvSpPr>
        <p:spPr>
          <a:xfrm>
            <a:off x="276225" y="1803273"/>
            <a:ext cx="11442141" cy="194310"/>
          </a:xfrm>
          <a:prstGeom prst="rect">
            <a:avLst/>
          </a:prstGeom>
          <a:noFill/>
        </p:spPr>
        <p:txBody>
          <a:bodyPr wrap="none" lIns="0" rIns="0" tIns="0" bIns="0">
            <a:spAutoFit/>
          </a:bodyPr>
          <a:lstStyle/>
          <a:p>
            <a:r>
              <a:rPr sz="1150" b="0">
                <a:solidFill>
                  <a:srgbClr val="2E2E2E"/>
                </a:solidFill>
                <a:latin typeface="Calibri"/>
              </a:rPr>
              <a:t>The global matcha market has been analysed on the basis of nature, product type, form and flavour across the globe. North America is expected to remain the largest market for matcha, while</a:t>
            </a:r>
          </a:p>
        </p:txBody>
      </p:sp>
      <p:sp>
        <p:nvSpPr>
          <p:cNvPr id="38" name="TextBox 37"/>
          <p:cNvSpPr txBox="1"/>
          <p:nvPr/>
        </p:nvSpPr>
        <p:spPr>
          <a:xfrm>
            <a:off x="276225" y="1978533"/>
            <a:ext cx="4704712" cy="194310"/>
          </a:xfrm>
          <a:prstGeom prst="rect">
            <a:avLst/>
          </a:prstGeom>
          <a:noFill/>
        </p:spPr>
        <p:txBody>
          <a:bodyPr wrap="none" lIns="0" rIns="0" tIns="0" bIns="0">
            <a:spAutoFit/>
          </a:bodyPr>
          <a:lstStyle/>
          <a:p>
            <a:r>
              <a:rPr sz="1150" b="0">
                <a:solidFill>
                  <a:srgbClr val="2E2E2E"/>
                </a:solidFill>
                <a:latin typeface="Calibri"/>
              </a:rPr>
              <a:t>demand in South Asia &amp; Pacific is projected to increase at the highest CAGR of</a:t>
            </a:r>
          </a:p>
        </p:txBody>
      </p:sp>
      <p:pic>
        <p:nvPicPr>
          <p:cNvPr id="39" name="Picture 38" descr="lock.png"/>
          <p:cNvPicPr>
            <a:picLocks noChangeAspect="1"/>
          </p:cNvPicPr>
          <p:nvPr/>
        </p:nvPicPr>
        <p:blipFill>
          <a:blip r:embed="rId4"/>
          <a:stretch>
            <a:fillRect/>
          </a:stretch>
        </p:blipFill>
        <p:spPr>
          <a:xfrm>
            <a:off x="4930090" y="1968309"/>
            <a:ext cx="134549" cy="195707"/>
          </a:xfrm>
          <a:prstGeom prst="rect">
            <a:avLst/>
          </a:prstGeom>
        </p:spPr>
      </p:pic>
      <p:sp>
        <p:nvSpPr>
          <p:cNvPr id="40" name="TextBox 39"/>
          <p:cNvSpPr txBox="1"/>
          <p:nvPr/>
        </p:nvSpPr>
        <p:spPr>
          <a:xfrm>
            <a:off x="5105200"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1" name="TextBox 40"/>
          <p:cNvSpPr txBox="1"/>
          <p:nvPr/>
        </p:nvSpPr>
        <p:spPr>
          <a:xfrm>
            <a:off x="276225" y="3276600"/>
            <a:ext cx="4996829" cy="194310"/>
          </a:xfrm>
          <a:prstGeom prst="rect">
            <a:avLst/>
          </a:prstGeom>
          <a:noFill/>
        </p:spPr>
        <p:txBody>
          <a:bodyPr wrap="none" lIns="0" rIns="0" tIns="0" bIns="0">
            <a:spAutoFit/>
          </a:bodyPr>
          <a:lstStyle/>
          <a:p>
            <a:r>
              <a:rPr sz="1150" b="0">
                <a:solidFill>
                  <a:srgbClr val="2E2E2E"/>
                </a:solidFill>
                <a:latin typeface="Calibri"/>
              </a:rPr>
              <a:t>▪ The market is consolidated: the leading product type category 'Matcha Tea' holds</a:t>
            </a:r>
          </a:p>
        </p:txBody>
      </p:sp>
      <p:pic>
        <p:nvPicPr>
          <p:cNvPr id="42" name="Picture 41" descr="lock.png"/>
          <p:cNvPicPr>
            <a:picLocks noChangeAspect="1"/>
          </p:cNvPicPr>
          <p:nvPr/>
        </p:nvPicPr>
        <p:blipFill>
          <a:blip r:embed="rId4"/>
          <a:stretch>
            <a:fillRect/>
          </a:stretch>
        </p:blipFill>
        <p:spPr>
          <a:xfrm>
            <a:off x="5222208" y="3266376"/>
            <a:ext cx="134549" cy="195707"/>
          </a:xfrm>
          <a:prstGeom prst="rect">
            <a:avLst/>
          </a:prstGeom>
        </p:spPr>
      </p:pic>
      <p:sp>
        <p:nvSpPr>
          <p:cNvPr id="43" name="TextBox 42"/>
          <p:cNvSpPr txBox="1"/>
          <p:nvPr/>
        </p:nvSpPr>
        <p:spPr>
          <a:xfrm>
            <a:off x="539731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4" name="TextBox 43"/>
          <p:cNvSpPr txBox="1"/>
          <p:nvPr/>
        </p:nvSpPr>
        <p:spPr>
          <a:xfrm>
            <a:off x="276225" y="3504437"/>
            <a:ext cx="4985134" cy="194310"/>
          </a:xfrm>
          <a:prstGeom prst="rect">
            <a:avLst/>
          </a:prstGeom>
          <a:noFill/>
        </p:spPr>
        <p:txBody>
          <a:bodyPr wrap="none" lIns="0" rIns="0" tIns="0" bIns="0">
            <a:spAutoFit/>
          </a:bodyPr>
          <a:lstStyle/>
          <a:p>
            <a:r>
              <a:rPr sz="1150" b="0">
                <a:solidFill>
                  <a:srgbClr val="2E2E2E"/>
                </a:solidFill>
                <a:latin typeface="Calibri"/>
              </a:rPr>
              <a:t>▪ Demand spans 6 regions and 11 segmentation lenses (2 product type categories).</a:t>
            </a:r>
          </a:p>
        </p:txBody>
      </p:sp>
      <p:sp>
        <p:nvSpPr>
          <p:cNvPr id="45" name="TextBox 44"/>
          <p:cNvSpPr txBox="1"/>
          <p:nvPr/>
        </p:nvSpPr>
        <p:spPr>
          <a:xfrm>
            <a:off x="276225" y="3732275"/>
            <a:ext cx="2950988" cy="194310"/>
          </a:xfrm>
          <a:prstGeom prst="rect">
            <a:avLst/>
          </a:prstGeom>
          <a:noFill/>
        </p:spPr>
        <p:txBody>
          <a:bodyPr wrap="none" lIns="0" rIns="0" tIns="0" bIns="0">
            <a:spAutoFit/>
          </a:bodyPr>
          <a:lstStyle/>
          <a:p>
            <a:r>
              <a:rPr sz="1150" b="0">
                <a:solidFill>
                  <a:srgbClr val="2E2E2E"/>
                </a:solidFill>
                <a:latin typeface="Calibri"/>
              </a:rPr>
              <a:t>▪ North America is the largest regional market at</a:t>
            </a:r>
          </a:p>
        </p:txBody>
      </p:sp>
      <p:pic>
        <p:nvPicPr>
          <p:cNvPr id="46" name="Picture 45" descr="lock.png"/>
          <p:cNvPicPr>
            <a:picLocks noChangeAspect="1"/>
          </p:cNvPicPr>
          <p:nvPr/>
        </p:nvPicPr>
        <p:blipFill>
          <a:blip r:embed="rId4"/>
          <a:stretch>
            <a:fillRect/>
          </a:stretch>
        </p:blipFill>
        <p:spPr>
          <a:xfrm>
            <a:off x="3176367" y="3722052"/>
            <a:ext cx="134549" cy="195707"/>
          </a:xfrm>
          <a:prstGeom prst="rect">
            <a:avLst/>
          </a:prstGeom>
        </p:spPr>
      </p:pic>
      <p:sp>
        <p:nvSpPr>
          <p:cNvPr id="47" name="TextBox 46"/>
          <p:cNvSpPr txBox="1"/>
          <p:nvPr/>
        </p:nvSpPr>
        <p:spPr>
          <a:xfrm>
            <a:off x="3351477"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5038725"/>
            <a:ext cx="2614674" cy="194310"/>
          </a:xfrm>
          <a:prstGeom prst="rect">
            <a:avLst/>
          </a:prstGeom>
          <a:noFill/>
        </p:spPr>
        <p:txBody>
          <a:bodyPr wrap="none" lIns="0" rIns="0" tIns="0" bIns="0">
            <a:spAutoFit/>
          </a:bodyPr>
          <a:lstStyle/>
          <a:p>
            <a:r>
              <a:rPr sz="1150" b="0">
                <a:solidFill>
                  <a:srgbClr val="2E2E2E"/>
                </a:solidFill>
                <a:latin typeface="Calibri"/>
              </a:rPr>
              <a:t>▪ Accelerating uptake of 'Matcha Powder' (</a:t>
            </a:r>
          </a:p>
        </p:txBody>
      </p:sp>
      <p:pic>
        <p:nvPicPr>
          <p:cNvPr id="49" name="Picture 48" descr="lock.png"/>
          <p:cNvPicPr>
            <a:picLocks noChangeAspect="1"/>
          </p:cNvPicPr>
          <p:nvPr/>
        </p:nvPicPr>
        <p:blipFill>
          <a:blip r:embed="rId4"/>
          <a:stretch>
            <a:fillRect/>
          </a:stretch>
        </p:blipFill>
        <p:spPr>
          <a:xfrm>
            <a:off x="2840053" y="5028501"/>
            <a:ext cx="134549" cy="195707"/>
          </a:xfrm>
          <a:prstGeom prst="rect">
            <a:avLst/>
          </a:prstGeom>
        </p:spPr>
      </p:pic>
      <p:sp>
        <p:nvSpPr>
          <p:cNvPr id="50" name="TextBox 49"/>
          <p:cNvSpPr txBox="1"/>
          <p:nvPr/>
        </p:nvSpPr>
        <p:spPr>
          <a:xfrm>
            <a:off x="3015162" y="503872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276225" y="5266563"/>
            <a:ext cx="2877045" cy="194310"/>
          </a:xfrm>
          <a:prstGeom prst="rect">
            <a:avLst/>
          </a:prstGeom>
          <a:noFill/>
        </p:spPr>
        <p:txBody>
          <a:bodyPr wrap="none" lIns="0" rIns="0" tIns="0" bIns="0">
            <a:spAutoFit/>
          </a:bodyPr>
          <a:lstStyle/>
          <a:p>
            <a:r>
              <a:rPr sz="1150" b="0">
                <a:solidFill>
                  <a:srgbClr val="2E2E2E"/>
                </a:solidFill>
                <a:latin typeface="Calibri"/>
              </a:rPr>
              <a:t>▪ Fast-growing demand in South Asia &amp; Pacific (</a:t>
            </a:r>
          </a:p>
        </p:txBody>
      </p:sp>
      <p:pic>
        <p:nvPicPr>
          <p:cNvPr id="52" name="Picture 51" descr="lock.png"/>
          <p:cNvPicPr>
            <a:picLocks noChangeAspect="1"/>
          </p:cNvPicPr>
          <p:nvPr/>
        </p:nvPicPr>
        <p:blipFill>
          <a:blip r:embed="rId4"/>
          <a:stretch>
            <a:fillRect/>
          </a:stretch>
        </p:blipFill>
        <p:spPr>
          <a:xfrm>
            <a:off x="3102424" y="5256339"/>
            <a:ext cx="134549" cy="195707"/>
          </a:xfrm>
          <a:prstGeom prst="rect">
            <a:avLst/>
          </a:prstGeom>
        </p:spPr>
      </p:pic>
      <p:sp>
        <p:nvSpPr>
          <p:cNvPr id="53" name="TextBox 52"/>
          <p:cNvSpPr txBox="1"/>
          <p:nvPr/>
        </p:nvSpPr>
        <p:spPr>
          <a:xfrm>
            <a:off x="3277533" y="526656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4" name="TextBox 53"/>
          <p:cNvSpPr txBox="1"/>
          <p:nvPr/>
        </p:nvSpPr>
        <p:spPr>
          <a:xfrm>
            <a:off x="276225" y="5494400"/>
            <a:ext cx="3334655" cy="194310"/>
          </a:xfrm>
          <a:prstGeom prst="rect">
            <a:avLst/>
          </a:prstGeom>
          <a:noFill/>
        </p:spPr>
        <p:txBody>
          <a:bodyPr wrap="none" lIns="0" rIns="0" tIns="0" bIns="0">
            <a:spAutoFit/>
          </a:bodyPr>
          <a:lstStyle/>
          <a:p>
            <a:r>
              <a:rPr sz="1150" b="0">
                <a:solidFill>
                  <a:srgbClr val="2E2E2E"/>
                </a:solidFill>
                <a:latin typeface="Calibri"/>
              </a:rPr>
              <a:t>▪ Momentum in Other Applications within application (</a:t>
            </a:r>
          </a:p>
        </p:txBody>
      </p:sp>
      <p:pic>
        <p:nvPicPr>
          <p:cNvPr id="55" name="Picture 54" descr="lock.png"/>
          <p:cNvPicPr>
            <a:picLocks noChangeAspect="1"/>
          </p:cNvPicPr>
          <p:nvPr/>
        </p:nvPicPr>
        <p:blipFill>
          <a:blip r:embed="rId4"/>
          <a:stretch>
            <a:fillRect/>
          </a:stretch>
        </p:blipFill>
        <p:spPr>
          <a:xfrm>
            <a:off x="3560034" y="5484177"/>
            <a:ext cx="134549" cy="195707"/>
          </a:xfrm>
          <a:prstGeom prst="rect">
            <a:avLst/>
          </a:prstGeom>
        </p:spPr>
      </p:pic>
      <p:sp>
        <p:nvSpPr>
          <p:cNvPr id="56" name="TextBox 55"/>
          <p:cNvSpPr txBox="1"/>
          <p:nvPr/>
        </p:nvSpPr>
        <p:spPr>
          <a:xfrm>
            <a:off x="3735143" y="54944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7" name="TextBox 56"/>
          <p:cNvSpPr txBox="1"/>
          <p:nvPr/>
        </p:nvSpPr>
        <p:spPr>
          <a:xfrm>
            <a:off x="4371975" y="5038725"/>
            <a:ext cx="2320007" cy="194310"/>
          </a:xfrm>
          <a:prstGeom prst="rect">
            <a:avLst/>
          </a:prstGeom>
          <a:noFill/>
        </p:spPr>
        <p:txBody>
          <a:bodyPr wrap="none" lIns="0" rIns="0" tIns="0" bIns="0">
            <a:spAutoFit/>
          </a:bodyPr>
          <a:lstStyle/>
          <a:p>
            <a:r>
              <a:rPr sz="1150" b="0">
                <a:solidFill>
                  <a:srgbClr val="2E2E2E"/>
                </a:solidFill>
                <a:latin typeface="Calibri"/>
              </a:rPr>
              <a:t>▪ Slower momentum in 'Matcha Tea' (</a:t>
            </a:r>
          </a:p>
        </p:txBody>
      </p:sp>
      <p:pic>
        <p:nvPicPr>
          <p:cNvPr id="58" name="Picture 57" descr="lock.png"/>
          <p:cNvPicPr>
            <a:picLocks noChangeAspect="1"/>
          </p:cNvPicPr>
          <p:nvPr/>
        </p:nvPicPr>
        <p:blipFill>
          <a:blip r:embed="rId4"/>
          <a:stretch>
            <a:fillRect/>
          </a:stretch>
        </p:blipFill>
        <p:spPr>
          <a:xfrm>
            <a:off x="6641136" y="5028501"/>
            <a:ext cx="134549" cy="195707"/>
          </a:xfrm>
          <a:prstGeom prst="rect">
            <a:avLst/>
          </a:prstGeom>
        </p:spPr>
      </p:pic>
      <p:sp>
        <p:nvSpPr>
          <p:cNvPr id="59" name="TextBox 58"/>
          <p:cNvSpPr txBox="1"/>
          <p:nvPr/>
        </p:nvSpPr>
        <p:spPr>
          <a:xfrm>
            <a:off x="6816245"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0" name="TextBox 59"/>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1" name="TextBox 60"/>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2" name="Picture 61" descr="lock.png"/>
          <p:cNvPicPr>
            <a:picLocks noChangeAspect="1"/>
          </p:cNvPicPr>
          <p:nvPr/>
        </p:nvPicPr>
        <p:blipFill>
          <a:blip r:embed="rId4"/>
          <a:stretch>
            <a:fillRect/>
          </a:stretch>
        </p:blipFill>
        <p:spPr>
          <a:xfrm>
            <a:off x="4883401" y="5431599"/>
            <a:ext cx="134549" cy="195707"/>
          </a:xfrm>
          <a:prstGeom prst="rect">
            <a:avLst/>
          </a:prstGeom>
        </p:spPr>
      </p:pic>
      <p:sp>
        <p:nvSpPr>
          <p:cNvPr id="63" name="TextBox 62"/>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4" name="TextBox 63"/>
          <p:cNvSpPr txBox="1"/>
          <p:nvPr/>
        </p:nvSpPr>
        <p:spPr>
          <a:xfrm>
            <a:off x="4371975" y="5669660"/>
            <a:ext cx="3380581" cy="194310"/>
          </a:xfrm>
          <a:prstGeom prst="rect">
            <a:avLst/>
          </a:prstGeom>
          <a:noFill/>
        </p:spPr>
        <p:txBody>
          <a:bodyPr wrap="none" lIns="0" rIns="0" tIns="0" bIns="0">
            <a:spAutoFit/>
          </a:bodyPr>
          <a:lstStyle/>
          <a:p>
            <a:r>
              <a:rPr sz="1150" b="0">
                <a:solidFill>
                  <a:srgbClr val="2E2E2E"/>
                </a:solidFill>
                <a:latin typeface="Calibri"/>
              </a:rPr>
              <a:t>▪ Value concentration in 'Matcha Tea' raises barriers for</a:t>
            </a:r>
          </a:p>
        </p:txBody>
      </p:sp>
      <p:sp>
        <p:nvSpPr>
          <p:cNvPr id="65" name="TextBox 64"/>
          <p:cNvSpPr txBox="1"/>
          <p:nvPr/>
        </p:nvSpPr>
        <p:spPr>
          <a:xfrm>
            <a:off x="4371975" y="5844920"/>
            <a:ext cx="902295" cy="194310"/>
          </a:xfrm>
          <a:prstGeom prst="rect">
            <a:avLst/>
          </a:prstGeom>
          <a:noFill/>
        </p:spPr>
        <p:txBody>
          <a:bodyPr wrap="none" lIns="0" rIns="0" tIns="0" bIns="0">
            <a:spAutoFit/>
          </a:bodyPr>
          <a:lstStyle/>
          <a:p>
            <a:r>
              <a:rPr sz="1150" b="0">
                <a:solidFill>
                  <a:srgbClr val="2E2E2E"/>
                </a:solidFill>
                <a:latin typeface="Calibri"/>
              </a:rPr>
              <a:t>new entrants.</a:t>
            </a:r>
          </a:p>
        </p:txBody>
      </p:sp>
    </p:spTree>
  </p:cSld>
  <p:clrMapOvr>
    <a:masterClrMapping/>
  </p:clrMapOvr>
</p:sld>
</file>

<file path=ppt/slides/slide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'Matcha Powder' and South Asia &amp; Pacific.</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North America and South Asia &amp; Pacific.</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R&amp;D aligns with the migration to 'Matcha Powder' and adjacent premium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Development spend targets product type categories gaining share to 2036.</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Innovation underpins the 7.1% forecast CAGR.</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2734865" cy="186689"/>
          </a:xfrm>
          <a:prstGeom prst="rect">
            <a:avLst/>
          </a:prstGeom>
          <a:noFill/>
        </p:spPr>
        <p:txBody>
          <a:bodyPr wrap="none" lIns="0" rIns="0" tIns="0" bIns="0">
            <a:spAutoFit/>
          </a:bodyPr>
          <a:lstStyle/>
          <a:p>
            <a:r>
              <a:rPr sz="1100" b="0">
                <a:solidFill>
                  <a:srgbClr val="2E2E2E"/>
                </a:solidFill>
                <a:latin typeface="Calibri"/>
              </a:rPr>
              <a:t>▪ 2026 size 3,374 US$ Mn; 2036 6,718 US$ Mn.</a:t>
            </a:r>
          </a:p>
        </p:txBody>
      </p:sp>
      <p:sp>
        <p:nvSpPr>
          <p:cNvPr id="33" name="TextBox 32"/>
          <p:cNvSpPr txBox="1"/>
          <p:nvPr/>
        </p:nvSpPr>
        <p:spPr>
          <a:xfrm>
            <a:off x="6305550" y="1618107"/>
            <a:ext cx="2088979" cy="186689"/>
          </a:xfrm>
          <a:prstGeom prst="rect">
            <a:avLst/>
          </a:prstGeom>
          <a:noFill/>
        </p:spPr>
        <p:txBody>
          <a:bodyPr wrap="none" lIns="0" rIns="0" tIns="0" bIns="0">
            <a:spAutoFit/>
          </a:bodyPr>
          <a:lstStyle/>
          <a:p>
            <a:r>
              <a:rPr sz="1100" b="0">
                <a:solidFill>
                  <a:srgbClr val="2E2E2E"/>
                </a:solidFill>
                <a:latin typeface="Calibri"/>
              </a:rPr>
              <a:t>▪ Forecast CAGR 7.1% (2026–2036).</a:t>
            </a:r>
          </a:p>
        </p:txBody>
      </p:sp>
      <p:sp>
        <p:nvSpPr>
          <p:cNvPr id="34" name="TextBox 33"/>
          <p:cNvSpPr txBox="1"/>
          <p:nvPr/>
        </p:nvSpPr>
        <p:spPr>
          <a:xfrm>
            <a:off x="6305550" y="1836039"/>
            <a:ext cx="1713855" cy="186689"/>
          </a:xfrm>
          <a:prstGeom prst="rect">
            <a:avLst/>
          </a:prstGeom>
          <a:noFill/>
        </p:spPr>
        <p:txBody>
          <a:bodyPr wrap="none" lIns="0" rIns="0" tIns="0" bIns="0">
            <a:spAutoFit/>
          </a:bodyPr>
          <a:lstStyle/>
          <a:p>
            <a:r>
              <a:rPr sz="1100" b="0">
                <a:solidFill>
                  <a:srgbClr val="2E2E2E"/>
                </a:solidFill>
                <a:latin typeface="Calibri"/>
              </a:rPr>
              <a:t>▪ Lead category 'Matcha Tea'</a:t>
            </a:r>
          </a:p>
        </p:txBody>
      </p:sp>
      <p:pic>
        <p:nvPicPr>
          <p:cNvPr id="35" name="Picture 34" descr="lock.png"/>
          <p:cNvPicPr>
            <a:picLocks noChangeAspect="1"/>
          </p:cNvPicPr>
          <p:nvPr/>
        </p:nvPicPr>
        <p:blipFill>
          <a:blip r:embed="rId5"/>
          <a:stretch>
            <a:fillRect/>
          </a:stretch>
        </p:blipFill>
        <p:spPr>
          <a:xfrm>
            <a:off x="7967456" y="1826260"/>
            <a:ext cx="128699" cy="187198"/>
          </a:xfrm>
          <a:prstGeom prst="rect">
            <a:avLst/>
          </a:prstGeom>
        </p:spPr>
      </p:pic>
      <p:sp>
        <p:nvSpPr>
          <p:cNvPr id="36" name="TextBox 35"/>
          <p:cNvSpPr txBox="1"/>
          <p:nvPr/>
        </p:nvSpPr>
        <p:spPr>
          <a:xfrm>
            <a:off x="8134952"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37" name="TextBox 36"/>
          <p:cNvSpPr txBox="1"/>
          <p:nvPr/>
        </p:nvSpPr>
        <p:spPr>
          <a:xfrm>
            <a:off x="6305550" y="2053970"/>
            <a:ext cx="1686297" cy="186689"/>
          </a:xfrm>
          <a:prstGeom prst="rect">
            <a:avLst/>
          </a:prstGeom>
          <a:noFill/>
        </p:spPr>
        <p:txBody>
          <a:bodyPr wrap="none" lIns="0" rIns="0" tIns="0" bIns="0">
            <a:spAutoFit/>
          </a:bodyPr>
          <a:lstStyle/>
          <a:p>
            <a:r>
              <a:rPr sz="1100" b="0">
                <a:solidFill>
                  <a:srgbClr val="2E2E2E"/>
                </a:solidFill>
                <a:latin typeface="Calibri"/>
              </a:rPr>
              <a:t>▪ Lead region North America</a:t>
            </a:r>
          </a:p>
        </p:txBody>
      </p:sp>
      <p:pic>
        <p:nvPicPr>
          <p:cNvPr id="38" name="Picture 37" descr="lock.png"/>
          <p:cNvPicPr>
            <a:picLocks noChangeAspect="1"/>
          </p:cNvPicPr>
          <p:nvPr/>
        </p:nvPicPr>
        <p:blipFill>
          <a:blip r:embed="rId5"/>
          <a:stretch>
            <a:fillRect/>
          </a:stretch>
        </p:blipFill>
        <p:spPr>
          <a:xfrm>
            <a:off x="7939898" y="2044192"/>
            <a:ext cx="128699" cy="187198"/>
          </a:xfrm>
          <a:prstGeom prst="rect">
            <a:avLst/>
          </a:prstGeom>
        </p:spPr>
      </p:pic>
      <p:sp>
        <p:nvSpPr>
          <p:cNvPr id="39" name="TextBox 38"/>
          <p:cNvSpPr txBox="1"/>
          <p:nvPr/>
        </p:nvSpPr>
        <p:spPr>
          <a:xfrm>
            <a:off x="8107394"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0" name="TextBox 39"/>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1" name="Picture 40" descr="lock.png"/>
          <p:cNvPicPr>
            <a:picLocks noChangeAspect="1"/>
          </p:cNvPicPr>
          <p:nvPr/>
        </p:nvPicPr>
        <p:blipFill>
          <a:blip r:embed="rId5"/>
          <a:stretch>
            <a:fillRect/>
          </a:stretch>
        </p:blipFill>
        <p:spPr>
          <a:xfrm>
            <a:off x="7808384" y="2262124"/>
            <a:ext cx="128699" cy="187198"/>
          </a:xfrm>
          <a:prstGeom prst="rect">
            <a:avLst/>
          </a:prstGeom>
        </p:spPr>
      </p:pic>
      <p:sp>
        <p:nvSpPr>
          <p:cNvPr id="42" name="TextBox 41"/>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3" name="TextBox 42"/>
          <p:cNvSpPr txBox="1"/>
          <p:nvPr/>
        </p:nvSpPr>
        <p:spPr>
          <a:xfrm>
            <a:off x="276225" y="3314700"/>
            <a:ext cx="4438017" cy="194310"/>
          </a:xfrm>
          <a:prstGeom prst="rect">
            <a:avLst/>
          </a:prstGeom>
          <a:noFill/>
        </p:spPr>
        <p:txBody>
          <a:bodyPr wrap="none" lIns="0" rIns="0" tIns="0" bIns="0">
            <a:spAutoFit/>
          </a:bodyPr>
          <a:lstStyle/>
          <a:p>
            <a:r>
              <a:rPr sz="1150" b="0">
                <a:solidFill>
                  <a:srgbClr val="2E2E2E"/>
                </a:solidFill>
                <a:latin typeface="Calibri"/>
              </a:rPr>
              <a:t>▪ Investment is flowing toward the fastest-growing tier 'Matcha Powder' (</a:t>
            </a:r>
          </a:p>
        </p:txBody>
      </p:sp>
      <p:pic>
        <p:nvPicPr>
          <p:cNvPr id="44" name="Picture 43" descr="lock.png"/>
          <p:cNvPicPr>
            <a:picLocks noChangeAspect="1"/>
          </p:cNvPicPr>
          <p:nvPr/>
        </p:nvPicPr>
        <p:blipFill>
          <a:blip r:embed="rId5"/>
          <a:stretch>
            <a:fillRect/>
          </a:stretch>
        </p:blipFill>
        <p:spPr>
          <a:xfrm>
            <a:off x="4663396" y="3304476"/>
            <a:ext cx="134549" cy="195707"/>
          </a:xfrm>
          <a:prstGeom prst="rect">
            <a:avLst/>
          </a:prstGeom>
        </p:spPr>
      </p:pic>
      <p:sp>
        <p:nvSpPr>
          <p:cNvPr id="45" name="TextBox 44"/>
          <p:cNvSpPr txBox="1"/>
          <p:nvPr/>
        </p:nvSpPr>
        <p:spPr>
          <a:xfrm>
            <a:off x="4838505" y="33147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3542537"/>
            <a:ext cx="1409762" cy="194310"/>
          </a:xfrm>
          <a:prstGeom prst="rect">
            <a:avLst/>
          </a:prstGeom>
          <a:noFill/>
        </p:spPr>
        <p:txBody>
          <a:bodyPr wrap="none" lIns="0" rIns="0" tIns="0" bIns="0">
            <a:spAutoFit/>
          </a:bodyPr>
          <a:lstStyle/>
          <a:p>
            <a:r>
              <a:rPr sz="1150" b="0">
                <a:solidFill>
                  <a:srgbClr val="2E2E2E"/>
                </a:solidFill>
                <a:latin typeface="Calibri"/>
              </a:rPr>
              <a:t>▪ South Asia &amp; Pacific (</a:t>
            </a:r>
          </a:p>
        </p:txBody>
      </p:sp>
      <p:pic>
        <p:nvPicPr>
          <p:cNvPr id="47" name="Picture 46" descr="lock.png"/>
          <p:cNvPicPr>
            <a:picLocks noChangeAspect="1"/>
          </p:cNvPicPr>
          <p:nvPr/>
        </p:nvPicPr>
        <p:blipFill>
          <a:blip r:embed="rId5"/>
          <a:stretch>
            <a:fillRect/>
          </a:stretch>
        </p:blipFill>
        <p:spPr>
          <a:xfrm>
            <a:off x="1635140" y="3532314"/>
            <a:ext cx="134549" cy="195707"/>
          </a:xfrm>
          <a:prstGeom prst="rect">
            <a:avLst/>
          </a:prstGeom>
        </p:spPr>
      </p:pic>
      <p:sp>
        <p:nvSpPr>
          <p:cNvPr id="48" name="TextBox 47"/>
          <p:cNvSpPr txBox="1"/>
          <p:nvPr/>
        </p:nvSpPr>
        <p:spPr>
          <a:xfrm>
            <a:off x="1810250" y="3542537"/>
            <a:ext cx="2283494" cy="194310"/>
          </a:xfrm>
          <a:prstGeom prst="rect">
            <a:avLst/>
          </a:prstGeom>
          <a:noFill/>
        </p:spPr>
        <p:txBody>
          <a:bodyPr wrap="none" lIns="0" rIns="0" tIns="0" bIns="0">
            <a:spAutoFit/>
          </a:bodyPr>
          <a:lstStyle/>
          <a:p>
            <a:r>
              <a:rPr sz="1150" b="0">
                <a:solidFill>
                  <a:srgbClr val="2E2E2E"/>
                </a:solidFill>
                <a:latin typeface="Calibri"/>
              </a:rPr>
              <a:t>) is a priority region for new capacity.</a:t>
            </a:r>
          </a:p>
        </p:txBody>
      </p:sp>
      <p:sp>
        <p:nvSpPr>
          <p:cNvPr id="49" name="TextBox 48"/>
          <p:cNvSpPr txBox="1"/>
          <p:nvPr/>
        </p:nvSpPr>
        <p:spPr>
          <a:xfrm>
            <a:off x="276225" y="3770375"/>
            <a:ext cx="2708523" cy="194310"/>
          </a:xfrm>
          <a:prstGeom prst="rect">
            <a:avLst/>
          </a:prstGeom>
          <a:noFill/>
        </p:spPr>
        <p:txBody>
          <a:bodyPr wrap="none" lIns="0" rIns="0" tIns="0" bIns="0">
            <a:spAutoFit/>
          </a:bodyPr>
          <a:lstStyle/>
          <a:p>
            <a:r>
              <a:rPr sz="1150" b="0">
                <a:solidFill>
                  <a:srgbClr val="2E2E2E"/>
                </a:solidFill>
                <a:latin typeface="Calibri"/>
              </a:rPr>
              <a:t>▪ Scale players anchor around 'Matcha Tea' (</a:t>
            </a:r>
          </a:p>
        </p:txBody>
      </p:sp>
      <p:pic>
        <p:nvPicPr>
          <p:cNvPr id="50" name="Picture 49" descr="lock.png"/>
          <p:cNvPicPr>
            <a:picLocks noChangeAspect="1"/>
          </p:cNvPicPr>
          <p:nvPr/>
        </p:nvPicPr>
        <p:blipFill>
          <a:blip r:embed="rId5"/>
          <a:stretch>
            <a:fillRect/>
          </a:stretch>
        </p:blipFill>
        <p:spPr>
          <a:xfrm>
            <a:off x="2933901" y="3760152"/>
            <a:ext cx="134549" cy="195707"/>
          </a:xfrm>
          <a:prstGeom prst="rect">
            <a:avLst/>
          </a:prstGeom>
        </p:spPr>
      </p:pic>
      <p:sp>
        <p:nvSpPr>
          <p:cNvPr id="51" name="TextBox 50"/>
          <p:cNvSpPr txBox="1"/>
          <p:nvPr/>
        </p:nvSpPr>
        <p:spPr>
          <a:xfrm>
            <a:off x="3109011" y="3770375"/>
            <a:ext cx="484683"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52"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'Matcha Powder' tier and Other Applications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Region</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197078" cy="194310"/>
          </a:xfrm>
          <a:prstGeom prst="rect">
            <a:avLst/>
          </a:prstGeom>
          <a:noFill/>
        </p:spPr>
        <p:txBody>
          <a:bodyPr wrap="none" lIns="0" rIns="0" tIns="0" bIns="0">
            <a:spAutoFit/>
          </a:bodyPr>
          <a:lstStyle/>
          <a:p>
            <a:r>
              <a:rPr sz="1150" b="0">
                <a:solidFill>
                  <a:srgbClr val="2E2E2E"/>
                </a:solidFill>
                <a:latin typeface="Calibri"/>
              </a:rPr>
              <a:t>▪ Balance scale in 'Matcha Tea' with targeted growth in 'Matcha Powder', pursuing the</a:t>
            </a:r>
          </a:p>
        </p:txBody>
      </p:sp>
      <p:pic>
        <p:nvPicPr>
          <p:cNvPr id="32" name="Picture 31" descr="lock.png"/>
          <p:cNvPicPr>
            <a:picLocks noChangeAspect="1"/>
          </p:cNvPicPr>
          <p:nvPr/>
        </p:nvPicPr>
        <p:blipFill>
          <a:blip r:embed="rId4"/>
          <a:stretch>
            <a:fillRect/>
          </a:stretch>
        </p:blipFill>
        <p:spPr>
          <a:xfrm>
            <a:off x="5422457" y="1389951"/>
            <a:ext cx="134549" cy="195707"/>
          </a:xfrm>
          <a:prstGeom prst="rect">
            <a:avLst/>
          </a:prstGeom>
        </p:spPr>
      </p:pic>
      <p:sp>
        <p:nvSpPr>
          <p:cNvPr id="33" name="TextBox 32"/>
          <p:cNvSpPr txBox="1"/>
          <p:nvPr/>
        </p:nvSpPr>
        <p:spPr>
          <a:xfrm>
            <a:off x="276225"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4" name="TextBox 33"/>
          <p:cNvSpPr txBox="1"/>
          <p:nvPr/>
        </p:nvSpPr>
        <p:spPr>
          <a:xfrm>
            <a:off x="276225" y="3276600"/>
            <a:ext cx="1813396" cy="194310"/>
          </a:xfrm>
          <a:prstGeom prst="rect">
            <a:avLst/>
          </a:prstGeom>
          <a:noFill/>
        </p:spPr>
        <p:txBody>
          <a:bodyPr wrap="none" lIns="0" rIns="0" tIns="0" bIns="0">
            <a:spAutoFit/>
          </a:bodyPr>
          <a:lstStyle/>
          <a:p>
            <a:r>
              <a:rPr sz="1150" b="0">
                <a:solidFill>
                  <a:srgbClr val="2E2E2E"/>
                </a:solidFill>
                <a:latin typeface="Calibri"/>
              </a:rPr>
              <a:t>▪ Prioritise 'Matcha Powder' (</a:t>
            </a:r>
          </a:p>
        </p:txBody>
      </p:sp>
      <p:pic>
        <p:nvPicPr>
          <p:cNvPr id="35" name="Picture 34" descr="lock.png"/>
          <p:cNvPicPr>
            <a:picLocks noChangeAspect="1"/>
          </p:cNvPicPr>
          <p:nvPr/>
        </p:nvPicPr>
        <p:blipFill>
          <a:blip r:embed="rId4"/>
          <a:stretch>
            <a:fillRect/>
          </a:stretch>
        </p:blipFill>
        <p:spPr>
          <a:xfrm>
            <a:off x="2038775" y="3266376"/>
            <a:ext cx="134549" cy="195707"/>
          </a:xfrm>
          <a:prstGeom prst="rect">
            <a:avLst/>
          </a:prstGeom>
        </p:spPr>
      </p:pic>
      <p:sp>
        <p:nvSpPr>
          <p:cNvPr id="36" name="TextBox 35"/>
          <p:cNvSpPr txBox="1"/>
          <p:nvPr/>
        </p:nvSpPr>
        <p:spPr>
          <a:xfrm>
            <a:off x="2213884" y="3276600"/>
            <a:ext cx="1459966" cy="194310"/>
          </a:xfrm>
          <a:prstGeom prst="rect">
            <a:avLst/>
          </a:prstGeom>
          <a:noFill/>
        </p:spPr>
        <p:txBody>
          <a:bodyPr wrap="none" lIns="0" rIns="0" tIns="0" bIns="0">
            <a:spAutoFit/>
          </a:bodyPr>
          <a:lstStyle/>
          <a:p>
            <a:r>
              <a:rPr sz="1150" b="0">
                <a:solidFill>
                  <a:srgbClr val="2E2E2E"/>
                </a:solidFill>
                <a:latin typeface="Calibri"/>
              </a:rPr>
              <a:t>); 'Matcha Tea' anchors</a:t>
            </a:r>
          </a:p>
        </p:txBody>
      </p:sp>
      <p:pic>
        <p:nvPicPr>
          <p:cNvPr id="37" name="Picture 36" descr="lock.png"/>
          <p:cNvPicPr>
            <a:picLocks noChangeAspect="1"/>
          </p:cNvPicPr>
          <p:nvPr/>
        </p:nvPicPr>
        <p:blipFill>
          <a:blip r:embed="rId4"/>
          <a:stretch>
            <a:fillRect/>
          </a:stretch>
        </p:blipFill>
        <p:spPr>
          <a:xfrm>
            <a:off x="3623005" y="3266376"/>
            <a:ext cx="134549" cy="195707"/>
          </a:xfrm>
          <a:prstGeom prst="rect">
            <a:avLst/>
          </a:prstGeom>
        </p:spPr>
      </p:pic>
      <p:sp>
        <p:nvSpPr>
          <p:cNvPr id="38" name="TextBox 37"/>
          <p:cNvSpPr txBox="1"/>
          <p:nvPr/>
        </p:nvSpPr>
        <p:spPr>
          <a:xfrm>
            <a:off x="3798114" y="3276600"/>
            <a:ext cx="586519" cy="194310"/>
          </a:xfrm>
          <a:prstGeom prst="rect">
            <a:avLst/>
          </a:prstGeom>
          <a:noFill/>
        </p:spPr>
        <p:txBody>
          <a:bodyPr wrap="none" lIns="0" rIns="0" tIns="0" bIns="0">
            <a:spAutoFit/>
          </a:bodyPr>
          <a:lstStyle/>
          <a:p>
            <a:r>
              <a:rPr sz="1150" b="0">
                <a:solidFill>
                  <a:srgbClr val="2E2E2E"/>
                </a:solidFill>
                <a:latin typeface="Calibri"/>
              </a:rPr>
              <a:t>of value.</a:t>
            </a:r>
          </a:p>
        </p:txBody>
      </p:sp>
      <p:sp>
        <p:nvSpPr>
          <p:cNvPr id="39" name="TextBox 38"/>
          <p:cNvSpPr txBox="1"/>
          <p:nvPr/>
        </p:nvSpPr>
        <p:spPr>
          <a:xfrm>
            <a:off x="6305550" y="3276600"/>
            <a:ext cx="1720688" cy="194310"/>
          </a:xfrm>
          <a:prstGeom prst="rect">
            <a:avLst/>
          </a:prstGeom>
          <a:noFill/>
        </p:spPr>
        <p:txBody>
          <a:bodyPr wrap="none" lIns="0" rIns="0" tIns="0" bIns="0">
            <a:spAutoFit/>
          </a:bodyPr>
          <a:lstStyle/>
          <a:p>
            <a:r>
              <a:rPr sz="1150" b="0">
                <a:solidFill>
                  <a:srgbClr val="2E2E2E"/>
                </a:solidFill>
                <a:latin typeface="Calibri"/>
              </a:rPr>
              <a:t>▪ Lead with North America (</a:t>
            </a:r>
          </a:p>
        </p:txBody>
      </p:sp>
      <p:pic>
        <p:nvPicPr>
          <p:cNvPr id="40" name="Picture 39" descr="lock.png"/>
          <p:cNvPicPr>
            <a:picLocks noChangeAspect="1"/>
          </p:cNvPicPr>
          <p:nvPr/>
        </p:nvPicPr>
        <p:blipFill>
          <a:blip r:embed="rId4"/>
          <a:stretch>
            <a:fillRect/>
          </a:stretch>
        </p:blipFill>
        <p:spPr>
          <a:xfrm>
            <a:off x="7975392" y="3266376"/>
            <a:ext cx="134549" cy="195707"/>
          </a:xfrm>
          <a:prstGeom prst="rect">
            <a:avLst/>
          </a:prstGeom>
        </p:spPr>
      </p:pic>
      <p:sp>
        <p:nvSpPr>
          <p:cNvPr id="41" name="TextBox 40"/>
          <p:cNvSpPr txBox="1"/>
          <p:nvPr/>
        </p:nvSpPr>
        <p:spPr>
          <a:xfrm>
            <a:off x="8150501" y="3276600"/>
            <a:ext cx="2502854" cy="194310"/>
          </a:xfrm>
          <a:prstGeom prst="rect">
            <a:avLst/>
          </a:prstGeom>
          <a:noFill/>
        </p:spPr>
        <p:txBody>
          <a:bodyPr wrap="none" lIns="0" rIns="0" tIns="0" bIns="0">
            <a:spAutoFit/>
          </a:bodyPr>
          <a:lstStyle/>
          <a:p>
            <a:r>
              <a:rPr sz="1150" b="0">
                <a:solidFill>
                  <a:srgbClr val="2E2E2E"/>
                </a:solidFill>
                <a:latin typeface="Calibri"/>
              </a:rPr>
              <a:t>); capture upside in South Asia &amp; Pacific (</a:t>
            </a:r>
          </a:p>
        </p:txBody>
      </p:sp>
      <p:pic>
        <p:nvPicPr>
          <p:cNvPr id="42" name="Picture 41" descr="lock.png"/>
          <p:cNvPicPr>
            <a:picLocks noChangeAspect="1"/>
          </p:cNvPicPr>
          <p:nvPr/>
        </p:nvPicPr>
        <p:blipFill>
          <a:blip r:embed="rId4"/>
          <a:stretch>
            <a:fillRect/>
          </a:stretch>
        </p:blipFill>
        <p:spPr>
          <a:xfrm>
            <a:off x="10602510" y="3266376"/>
            <a:ext cx="134549" cy="195707"/>
          </a:xfrm>
          <a:prstGeom prst="rect">
            <a:avLst/>
          </a:prstGeom>
        </p:spPr>
      </p:pic>
      <p:sp>
        <p:nvSpPr>
          <p:cNvPr id="43" name="TextBox 42"/>
          <p:cNvSpPr txBox="1"/>
          <p:nvPr/>
        </p:nvSpPr>
        <p:spPr>
          <a:xfrm>
            <a:off x="10777620" y="32766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4972050"/>
            <a:ext cx="926827" cy="194310"/>
          </a:xfrm>
          <a:prstGeom prst="rect">
            <a:avLst/>
          </a:prstGeom>
          <a:noFill/>
        </p:spPr>
        <p:txBody>
          <a:bodyPr wrap="none" lIns="0" rIns="0" tIns="0" bIns="0">
            <a:spAutoFit/>
          </a:bodyPr>
          <a:lstStyle/>
          <a:p>
            <a:r>
              <a:rPr sz="1150" b="0">
                <a:solidFill>
                  <a:srgbClr val="2E2E2E"/>
                </a:solidFill>
                <a:latin typeface="Calibri"/>
              </a:rPr>
              <a:t>▪ Matcha adds</a:t>
            </a:r>
          </a:p>
        </p:txBody>
      </p:sp>
      <p:pic>
        <p:nvPicPr>
          <p:cNvPr id="45" name="Picture 44" descr="lock.png"/>
          <p:cNvPicPr>
            <a:picLocks noChangeAspect="1"/>
          </p:cNvPicPr>
          <p:nvPr/>
        </p:nvPicPr>
        <p:blipFill>
          <a:blip r:embed="rId4"/>
          <a:stretch>
            <a:fillRect/>
          </a:stretch>
        </p:blipFill>
        <p:spPr>
          <a:xfrm>
            <a:off x="1152206" y="4961826"/>
            <a:ext cx="134549" cy="195707"/>
          </a:xfrm>
          <a:prstGeom prst="rect">
            <a:avLst/>
          </a:prstGeom>
        </p:spPr>
      </p:pic>
      <p:sp>
        <p:nvSpPr>
          <p:cNvPr id="46" name="TextBox 45"/>
          <p:cNvSpPr txBox="1"/>
          <p:nvPr/>
        </p:nvSpPr>
        <p:spPr>
          <a:xfrm>
            <a:off x="1327315" y="4972050"/>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7" name="Picture 46" descr="lock.png"/>
          <p:cNvPicPr>
            <a:picLocks noChangeAspect="1"/>
          </p:cNvPicPr>
          <p:nvPr/>
        </p:nvPicPr>
        <p:blipFill>
          <a:blip r:embed="rId4"/>
          <a:stretch>
            <a:fillRect/>
          </a:stretch>
        </p:blipFill>
        <p:spPr>
          <a:xfrm>
            <a:off x="3091577" y="4961826"/>
            <a:ext cx="134549" cy="195707"/>
          </a:xfrm>
          <a:prstGeom prst="rect">
            <a:avLst/>
          </a:prstGeom>
        </p:spPr>
      </p:pic>
      <p:sp>
        <p:nvSpPr>
          <p:cNvPr id="48" name="TextBox 47"/>
          <p:cNvSpPr txBox="1"/>
          <p:nvPr/>
        </p:nvSpPr>
        <p:spPr>
          <a:xfrm>
            <a:off x="3266686" y="4972050"/>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9" name="TextBox 48"/>
          <p:cNvSpPr txBox="1"/>
          <p:nvPr/>
        </p:nvSpPr>
        <p:spPr>
          <a:xfrm>
            <a:off x="276225" y="5199888"/>
            <a:ext cx="626563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segment/region while seeding the fastest-growing pockets early.</a:t>
            </a:r>
          </a:p>
        </p:txBody>
      </p:sp>
      <p:sp>
        <p:nvSpPr>
          <p:cNvPr id="50" name="TextBox 49"/>
          <p:cNvSpPr txBox="1"/>
          <p:nvPr/>
        </p:nvSpPr>
        <p:spPr>
          <a:xfrm>
            <a:off x="276225" y="5427725"/>
            <a:ext cx="4061197" cy="194310"/>
          </a:xfrm>
          <a:prstGeom prst="rect">
            <a:avLst/>
          </a:prstGeom>
          <a:noFill/>
        </p:spPr>
        <p:txBody>
          <a:bodyPr wrap="none" lIns="0" rIns="0" tIns="0" bIns="0">
            <a:spAutoFit/>
          </a:bodyPr>
          <a:lstStyle/>
          <a:p>
            <a:r>
              <a:rPr sz="1150" b="0">
                <a:solidFill>
                  <a:srgbClr val="2E2E2E"/>
                </a:solidFill>
                <a:latin typeface="Calibri"/>
              </a:rPr>
              <a:t>▪ Defend share in 'Matcha Tea' as the value anchor of the portfolio.</a:t>
            </a:r>
          </a:p>
        </p:txBody>
      </p:sp>
    </p:spTree>
  </p:cSld>
  <p:clrMapOvr>
    <a:masterClrMapping/>
  </p:clrMapOvr>
</p:sld>
</file>

<file path=ppt/slides/slide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Matcha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583595"/>
            <a:ext cx="635826" cy="721705"/>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3025244"/>
            <a:ext cx="635826" cy="1280056"/>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65781"/>
            <a:ext cx="635826" cy="1539519"/>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459355"/>
            <a:ext cx="635826" cy="184594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91894"/>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87119"/>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632431"/>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527656"/>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326005"/>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21230"/>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Matcha Market Attractiveness Analysis By Region, 2026–2036</a:t>
            </a:r>
          </a:p>
        </p:txBody>
      </p:sp>
      <p:graphicFrame>
        <p:nvGraphicFramePr>
          <p:cNvPr id="36" name="Chart 35"/>
          <p:cNvGraphicFramePr>
            <a:graphicFrameLocks noGrp="1"/>
          </p:cNvGraphicFramePr>
          <p:nvPr/>
        </p:nvGraphicFramePr>
        <p:xfrm>
          <a:off x="6267450" y="2095500"/>
          <a:ext cx="5686425" cy="266700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821485"/>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813270"/>
            <a:ext cx="108107" cy="157246"/>
          </a:xfrm>
          <a:prstGeom prst="rect">
            <a:avLst/>
          </a:prstGeom>
        </p:spPr>
      </p:pic>
      <p:sp>
        <p:nvSpPr>
          <p:cNvPr id="56" name="TextBox 55"/>
          <p:cNvSpPr txBox="1"/>
          <p:nvPr/>
        </p:nvSpPr>
        <p:spPr>
          <a:xfrm>
            <a:off x="2032418" y="2562022"/>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553807"/>
            <a:ext cx="108107" cy="157246"/>
          </a:xfrm>
          <a:prstGeom prst="rect">
            <a:avLst/>
          </a:prstGeom>
        </p:spPr>
      </p:pic>
      <p:sp>
        <p:nvSpPr>
          <p:cNvPr id="58" name="TextBox 57"/>
          <p:cNvSpPr txBox="1"/>
          <p:nvPr/>
        </p:nvSpPr>
        <p:spPr>
          <a:xfrm>
            <a:off x="2032418" y="2255596"/>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247381"/>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095500"/>
            <a:ext cx="5686425" cy="2667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Global Market Analysis By Region</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Matcha – Regional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Region</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4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 Regional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6 regions, highlighting where value concentrates,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Region view breaks the Global market down geographically. Each region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North America</a:t>
            </a:r>
          </a:p>
        </p:txBody>
      </p:sp>
      <p:sp>
        <p:nvSpPr>
          <p:cNvPr id="22" name="Rectangle 21"/>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Europe</a:t>
            </a:r>
          </a:p>
        </p:txBody>
      </p:sp>
      <p:sp>
        <p:nvSpPr>
          <p:cNvPr id="29" name="Rectangle 28"/>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East Asia</a:t>
            </a:r>
          </a:p>
        </p:txBody>
      </p:sp>
      <p:sp>
        <p:nvSpPr>
          <p:cNvPr id="36" name="Rectangle 35"/>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South Asia &amp; Pacific</a:t>
            </a:r>
          </a:p>
        </p:txBody>
      </p:sp>
      <p:sp>
        <p:nvSpPr>
          <p:cNvPr id="43" name="Rectangle 42"/>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Latin America</a:t>
            </a:r>
          </a:p>
        </p:txBody>
      </p:sp>
      <p:sp>
        <p:nvSpPr>
          <p:cNvPr id="50" name="Rectangle 49"/>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Middle East &amp; Africa</a:t>
            </a:r>
          </a:p>
        </p:txBody>
      </p:sp>
      <p:sp>
        <p:nvSpPr>
          <p:cNvPr id="57" name="Rectangle 56"/>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3" name="Rectangle 6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65" name="Rounded Rectangle 6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Region Insights</a:t>
            </a:r>
          </a:p>
        </p:txBody>
      </p:sp>
      <p:sp>
        <p:nvSpPr>
          <p:cNvPr id="67" name="Rectangle 6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69" name="Rounded Rectangle 6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Region Overview</a:t>
            </a:r>
          </a:p>
        </p:txBody>
      </p:sp>
      <p:sp>
        <p:nvSpPr>
          <p:cNvPr id="71" name="Rectangle 7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Region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73" name="Rectangle 7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The Global market is projected to grow at a CAGR of 7.1% from 2026 to 2036.</a:t>
            </a:r>
          </a:p>
        </p:txBody>
      </p:sp>
      <p:sp>
        <p:nvSpPr>
          <p:cNvPr id="75" name="TextBox 7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6" name="TextBox 7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7" name="Picture 76" descr="1_113_605E5C.png"/>
          <p:cNvPicPr>
            <a:picLocks noChangeAspect="1"/>
          </p:cNvPicPr>
          <p:nvPr/>
        </p:nvPicPr>
        <p:blipFill>
          <a:blip r:embed="rId4"/>
          <a:stretch>
            <a:fillRect/>
          </a:stretch>
        </p:blipFill>
        <p:spPr>
          <a:xfrm>
            <a:off x="2054848" y="2286582"/>
            <a:ext cx="1195728" cy="361950"/>
          </a:xfrm>
          <a:prstGeom prst="rect">
            <a:avLst/>
          </a:prstGeom>
        </p:spPr>
      </p:pic>
      <p:pic>
        <p:nvPicPr>
          <p:cNvPr id="78" name="Picture 77" descr="2_026_605E5C.png"/>
          <p:cNvPicPr>
            <a:picLocks noChangeAspect="1"/>
          </p:cNvPicPr>
          <p:nvPr/>
        </p:nvPicPr>
        <p:blipFill>
          <a:blip r:embed="rId5"/>
          <a:stretch>
            <a:fillRect/>
          </a:stretch>
        </p:blipFill>
        <p:spPr>
          <a:xfrm>
            <a:off x="2054848" y="2779432"/>
            <a:ext cx="1195728" cy="361950"/>
          </a:xfrm>
          <a:prstGeom prst="rect">
            <a:avLst/>
          </a:prstGeom>
        </p:spPr>
      </p:pic>
      <p:pic>
        <p:nvPicPr>
          <p:cNvPr id="79" name="Picture 78" descr="6_2__605E5C.png"/>
          <p:cNvPicPr>
            <a:picLocks noChangeAspect="1"/>
          </p:cNvPicPr>
          <p:nvPr/>
        </p:nvPicPr>
        <p:blipFill>
          <a:blip r:embed="rId6"/>
          <a:stretch>
            <a:fillRect/>
          </a:stretch>
        </p:blipFill>
        <p:spPr>
          <a:xfrm>
            <a:off x="2161494" y="3272281"/>
            <a:ext cx="982436" cy="361950"/>
          </a:xfrm>
          <a:prstGeom prst="rect">
            <a:avLst/>
          </a:prstGeom>
        </p:spPr>
      </p:pic>
      <p:pic>
        <p:nvPicPr>
          <p:cNvPr id="80" name="Picture 79" descr="910_9_605E5C.png"/>
          <p:cNvPicPr>
            <a:picLocks noChangeAspect="1"/>
          </p:cNvPicPr>
          <p:nvPr/>
        </p:nvPicPr>
        <p:blipFill>
          <a:blip r:embed="rId7"/>
          <a:stretch>
            <a:fillRect/>
          </a:stretch>
        </p:blipFill>
        <p:spPr>
          <a:xfrm>
            <a:off x="3740773" y="2286582"/>
            <a:ext cx="1195728" cy="361950"/>
          </a:xfrm>
          <a:prstGeom prst="rect">
            <a:avLst/>
          </a:prstGeom>
        </p:spPr>
      </p:pic>
      <p:pic>
        <p:nvPicPr>
          <p:cNvPr id="81" name="Picture 80" descr="1_914_605E5C.png"/>
          <p:cNvPicPr>
            <a:picLocks noChangeAspect="1"/>
          </p:cNvPicPr>
          <p:nvPr/>
        </p:nvPicPr>
        <p:blipFill>
          <a:blip r:embed="rId8"/>
          <a:stretch>
            <a:fillRect/>
          </a:stretch>
        </p:blipFill>
        <p:spPr>
          <a:xfrm>
            <a:off x="3740773" y="2779432"/>
            <a:ext cx="1195728" cy="361950"/>
          </a:xfrm>
          <a:prstGeom prst="rect">
            <a:avLst/>
          </a:prstGeom>
        </p:spPr>
      </p:pic>
      <p:pic>
        <p:nvPicPr>
          <p:cNvPr id="82" name="Picture 81" descr="7_7__605E5C.png"/>
          <p:cNvPicPr>
            <a:picLocks noChangeAspect="1"/>
          </p:cNvPicPr>
          <p:nvPr/>
        </p:nvPicPr>
        <p:blipFill>
          <a:blip r:embed="rId9"/>
          <a:stretch>
            <a:fillRect/>
          </a:stretch>
        </p:blipFill>
        <p:spPr>
          <a:xfrm>
            <a:off x="3847419" y="3272281"/>
            <a:ext cx="982436" cy="361950"/>
          </a:xfrm>
          <a:prstGeom prst="rect">
            <a:avLst/>
          </a:prstGeom>
        </p:spPr>
      </p:pic>
      <p:pic>
        <p:nvPicPr>
          <p:cNvPr id="83" name="Picture 82" descr="438_6_605E5C.png"/>
          <p:cNvPicPr>
            <a:picLocks noChangeAspect="1"/>
          </p:cNvPicPr>
          <p:nvPr/>
        </p:nvPicPr>
        <p:blipFill>
          <a:blip r:embed="rId10"/>
          <a:stretch>
            <a:fillRect/>
          </a:stretch>
        </p:blipFill>
        <p:spPr>
          <a:xfrm>
            <a:off x="5426698" y="2286582"/>
            <a:ext cx="1195728" cy="361950"/>
          </a:xfrm>
          <a:prstGeom prst="rect">
            <a:avLst/>
          </a:prstGeom>
        </p:spPr>
      </p:pic>
      <p:pic>
        <p:nvPicPr>
          <p:cNvPr id="84" name="Picture 83" descr="856_8_605E5C.png"/>
          <p:cNvPicPr>
            <a:picLocks noChangeAspect="1"/>
          </p:cNvPicPr>
          <p:nvPr/>
        </p:nvPicPr>
        <p:blipFill>
          <a:blip r:embed="rId11"/>
          <a:stretch>
            <a:fillRect/>
          </a:stretch>
        </p:blipFill>
        <p:spPr>
          <a:xfrm>
            <a:off x="5426698" y="2779432"/>
            <a:ext cx="1195728" cy="361950"/>
          </a:xfrm>
          <a:prstGeom prst="rect">
            <a:avLst/>
          </a:prstGeom>
        </p:spPr>
      </p:pic>
      <p:pic>
        <p:nvPicPr>
          <p:cNvPr id="85" name="Picture 84" descr="6_9__605E5C.png"/>
          <p:cNvPicPr>
            <a:picLocks noChangeAspect="1"/>
          </p:cNvPicPr>
          <p:nvPr/>
        </p:nvPicPr>
        <p:blipFill>
          <a:blip r:embed="rId12"/>
          <a:stretch>
            <a:fillRect/>
          </a:stretch>
        </p:blipFill>
        <p:spPr>
          <a:xfrm>
            <a:off x="5533344" y="3272281"/>
            <a:ext cx="982436" cy="361950"/>
          </a:xfrm>
          <a:prstGeom prst="rect">
            <a:avLst/>
          </a:prstGeom>
        </p:spPr>
      </p:pic>
      <p:pic>
        <p:nvPicPr>
          <p:cNvPr id="86" name="Picture 85" descr="404_8_605E5C.png"/>
          <p:cNvPicPr>
            <a:picLocks noChangeAspect="1"/>
          </p:cNvPicPr>
          <p:nvPr/>
        </p:nvPicPr>
        <p:blipFill>
          <a:blip r:embed="rId13"/>
          <a:stretch>
            <a:fillRect/>
          </a:stretch>
        </p:blipFill>
        <p:spPr>
          <a:xfrm>
            <a:off x="7112623" y="2286582"/>
            <a:ext cx="1195728" cy="361950"/>
          </a:xfrm>
          <a:prstGeom prst="rect">
            <a:avLst/>
          </a:prstGeom>
        </p:spPr>
      </p:pic>
      <p:pic>
        <p:nvPicPr>
          <p:cNvPr id="87" name="Picture 86" descr="876_1_605E5C.png"/>
          <p:cNvPicPr>
            <a:picLocks noChangeAspect="1"/>
          </p:cNvPicPr>
          <p:nvPr/>
        </p:nvPicPr>
        <p:blipFill>
          <a:blip r:embed="rId14"/>
          <a:stretch>
            <a:fillRect/>
          </a:stretch>
        </p:blipFill>
        <p:spPr>
          <a:xfrm>
            <a:off x="7112623" y="2779432"/>
            <a:ext cx="1195728" cy="361950"/>
          </a:xfrm>
          <a:prstGeom prst="rect">
            <a:avLst/>
          </a:prstGeom>
        </p:spPr>
      </p:pic>
      <p:pic>
        <p:nvPicPr>
          <p:cNvPr id="88" name="Picture 87" descr="8_0__605E5C.png"/>
          <p:cNvPicPr>
            <a:picLocks noChangeAspect="1"/>
          </p:cNvPicPr>
          <p:nvPr/>
        </p:nvPicPr>
        <p:blipFill>
          <a:blip r:embed="rId15"/>
          <a:stretch>
            <a:fillRect/>
          </a:stretch>
        </p:blipFill>
        <p:spPr>
          <a:xfrm>
            <a:off x="7219269" y="3272281"/>
            <a:ext cx="982436" cy="361950"/>
          </a:xfrm>
          <a:prstGeom prst="rect">
            <a:avLst/>
          </a:prstGeom>
        </p:spPr>
      </p:pic>
      <p:pic>
        <p:nvPicPr>
          <p:cNvPr id="89" name="Picture 88" descr="269_9_605E5C.png"/>
          <p:cNvPicPr>
            <a:picLocks noChangeAspect="1"/>
          </p:cNvPicPr>
          <p:nvPr/>
        </p:nvPicPr>
        <p:blipFill>
          <a:blip r:embed="rId16"/>
          <a:stretch>
            <a:fillRect/>
          </a:stretch>
        </p:blipFill>
        <p:spPr>
          <a:xfrm>
            <a:off x="8798548" y="2286582"/>
            <a:ext cx="1195728" cy="361950"/>
          </a:xfrm>
          <a:prstGeom prst="rect">
            <a:avLst/>
          </a:prstGeom>
        </p:spPr>
      </p:pic>
      <p:pic>
        <p:nvPicPr>
          <p:cNvPr id="90" name="Picture 89" descr="578_0_605E5C.png"/>
          <p:cNvPicPr>
            <a:picLocks noChangeAspect="1"/>
          </p:cNvPicPr>
          <p:nvPr/>
        </p:nvPicPr>
        <p:blipFill>
          <a:blip r:embed="rId17"/>
          <a:stretch>
            <a:fillRect/>
          </a:stretch>
        </p:blipFill>
        <p:spPr>
          <a:xfrm>
            <a:off x="8798548" y="2779432"/>
            <a:ext cx="1195728" cy="361950"/>
          </a:xfrm>
          <a:prstGeom prst="rect">
            <a:avLst/>
          </a:prstGeom>
        </p:spPr>
      </p:pic>
      <p:pic>
        <p:nvPicPr>
          <p:cNvPr id="91" name="Picture 90" descr="7_9__605E5C.png"/>
          <p:cNvPicPr>
            <a:picLocks noChangeAspect="1"/>
          </p:cNvPicPr>
          <p:nvPr/>
        </p:nvPicPr>
        <p:blipFill>
          <a:blip r:embed="rId18"/>
          <a:stretch>
            <a:fillRect/>
          </a:stretch>
        </p:blipFill>
        <p:spPr>
          <a:xfrm>
            <a:off x="8905194" y="3272281"/>
            <a:ext cx="982436" cy="361950"/>
          </a:xfrm>
          <a:prstGeom prst="rect">
            <a:avLst/>
          </a:prstGeom>
        </p:spPr>
      </p:pic>
      <p:pic>
        <p:nvPicPr>
          <p:cNvPr id="92" name="Picture 91" descr="236_2_605E5C.png"/>
          <p:cNvPicPr>
            <a:picLocks noChangeAspect="1"/>
          </p:cNvPicPr>
          <p:nvPr/>
        </p:nvPicPr>
        <p:blipFill>
          <a:blip r:embed="rId19"/>
          <a:stretch>
            <a:fillRect/>
          </a:stretch>
        </p:blipFill>
        <p:spPr>
          <a:xfrm>
            <a:off x="10484473" y="2286582"/>
            <a:ext cx="1195728" cy="361950"/>
          </a:xfrm>
          <a:prstGeom prst="rect">
            <a:avLst/>
          </a:prstGeom>
        </p:spPr>
      </p:pic>
      <p:pic>
        <p:nvPicPr>
          <p:cNvPr id="93" name="Picture 92" descr="466_1_605E5C.png"/>
          <p:cNvPicPr>
            <a:picLocks noChangeAspect="1"/>
          </p:cNvPicPr>
          <p:nvPr/>
        </p:nvPicPr>
        <p:blipFill>
          <a:blip r:embed="rId20"/>
          <a:stretch>
            <a:fillRect/>
          </a:stretch>
        </p:blipFill>
        <p:spPr>
          <a:xfrm>
            <a:off x="10484473" y="2779432"/>
            <a:ext cx="1195728" cy="361950"/>
          </a:xfrm>
          <a:prstGeom prst="rect">
            <a:avLst/>
          </a:prstGeom>
        </p:spPr>
      </p:pic>
      <p:pic>
        <p:nvPicPr>
          <p:cNvPr id="94" name="Picture 93" descr="7_0__605E5C.png"/>
          <p:cNvPicPr>
            <a:picLocks noChangeAspect="1"/>
          </p:cNvPicPr>
          <p:nvPr/>
        </p:nvPicPr>
        <p:blipFill>
          <a:blip r:embed="rId21"/>
          <a:stretch>
            <a:fillRect/>
          </a:stretch>
        </p:blipFill>
        <p:spPr>
          <a:xfrm>
            <a:off x="10591119" y="3272281"/>
            <a:ext cx="982436" cy="361950"/>
          </a:xfrm>
          <a:prstGeom prst="rect">
            <a:avLst/>
          </a:prstGeom>
        </p:spPr>
      </p:pic>
      <p:pic>
        <p:nvPicPr>
          <p:cNvPr id="95" name="Picture 94" descr="lock.png"/>
          <p:cNvPicPr>
            <a:picLocks noChangeAspect="1"/>
          </p:cNvPicPr>
          <p:nvPr/>
        </p:nvPicPr>
        <p:blipFill>
          <a:blip r:embed="rId22"/>
          <a:stretch>
            <a:fillRect/>
          </a:stretch>
        </p:blipFill>
        <p:spPr>
          <a:xfrm>
            <a:off x="2559367" y="2827057"/>
            <a:ext cx="183356" cy="266700"/>
          </a:xfrm>
          <a:prstGeom prst="rect">
            <a:avLst/>
          </a:prstGeom>
        </p:spPr>
      </p:pic>
      <p:pic>
        <p:nvPicPr>
          <p:cNvPr id="96" name="Picture 95" descr="lock.png"/>
          <p:cNvPicPr>
            <a:picLocks noChangeAspect="1"/>
          </p:cNvPicPr>
          <p:nvPr/>
        </p:nvPicPr>
        <p:blipFill>
          <a:blip r:embed="rId22"/>
          <a:stretch>
            <a:fillRect/>
          </a:stretch>
        </p:blipFill>
        <p:spPr>
          <a:xfrm>
            <a:off x="4245292"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5931217"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7617142"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9303067"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10988992" y="2827057"/>
            <a:ext cx="183356" cy="266700"/>
          </a:xfrm>
          <a:prstGeom prst="rect">
            <a:avLst/>
          </a:prstGeom>
        </p:spPr>
      </p:pic>
      <p:sp>
        <p:nvSpPr>
          <p:cNvPr id="101" name="TextBox 100"/>
          <p:cNvSpPr txBox="1"/>
          <p:nvPr/>
        </p:nvSpPr>
        <p:spPr>
          <a:xfrm>
            <a:off x="485775" y="4229437"/>
            <a:ext cx="2656011" cy="186689"/>
          </a:xfrm>
          <a:prstGeom prst="rect">
            <a:avLst/>
          </a:prstGeom>
          <a:noFill/>
        </p:spPr>
        <p:txBody>
          <a:bodyPr wrap="none" lIns="0" rIns="0" tIns="0" bIns="0">
            <a:spAutoFit/>
          </a:bodyPr>
          <a:lstStyle/>
          <a:p>
            <a:r>
              <a:rPr sz="1100" b="0">
                <a:solidFill>
                  <a:srgbClr val="2E2E2E"/>
                </a:solidFill>
                <a:latin typeface="Calibri"/>
              </a:rPr>
              <a:t>North America matcha market is projected to</a:t>
            </a:r>
          </a:p>
        </p:txBody>
      </p:sp>
      <p:sp>
        <p:nvSpPr>
          <p:cNvPr id="102" name="TextBox 101"/>
          <p:cNvSpPr txBox="1"/>
          <p:nvPr/>
        </p:nvSpPr>
        <p:spPr>
          <a:xfrm>
            <a:off x="485775" y="4397077"/>
            <a:ext cx="512489" cy="186689"/>
          </a:xfrm>
          <a:prstGeom prst="rect">
            <a:avLst/>
          </a:prstGeom>
          <a:noFill/>
        </p:spPr>
        <p:txBody>
          <a:bodyPr wrap="none" lIns="0" rIns="0" tIns="0" bIns="0">
            <a:spAutoFit/>
          </a:bodyPr>
          <a:lstStyle/>
          <a:p>
            <a:r>
              <a:rPr sz="1100" b="0">
                <a:solidFill>
                  <a:srgbClr val="2E2E2E"/>
                </a:solidFill>
                <a:latin typeface="Calibri"/>
              </a:rPr>
              <a:t>register</a:t>
            </a:r>
          </a:p>
        </p:txBody>
      </p:sp>
      <p:pic>
        <p:nvPicPr>
          <p:cNvPr id="103" name="Picture 102" descr="lock.png"/>
          <p:cNvPicPr>
            <a:picLocks noChangeAspect="1"/>
          </p:cNvPicPr>
          <p:nvPr/>
        </p:nvPicPr>
        <p:blipFill>
          <a:blip r:embed="rId22"/>
          <a:stretch>
            <a:fillRect/>
          </a:stretch>
        </p:blipFill>
        <p:spPr>
          <a:xfrm>
            <a:off x="946316" y="4387298"/>
            <a:ext cx="128699" cy="187198"/>
          </a:xfrm>
          <a:prstGeom prst="rect">
            <a:avLst/>
          </a:prstGeom>
        </p:spPr>
      </p:pic>
      <p:sp>
        <p:nvSpPr>
          <p:cNvPr id="104" name="TextBox 103"/>
          <p:cNvSpPr txBox="1"/>
          <p:nvPr/>
        </p:nvSpPr>
        <p:spPr>
          <a:xfrm>
            <a:off x="1113812" y="4397077"/>
            <a:ext cx="2099121" cy="186689"/>
          </a:xfrm>
          <a:prstGeom prst="rect">
            <a:avLst/>
          </a:prstGeom>
          <a:noFill/>
        </p:spPr>
        <p:txBody>
          <a:bodyPr wrap="none" lIns="0" rIns="0" tIns="0" bIns="0">
            <a:spAutoFit/>
          </a:bodyPr>
          <a:lstStyle/>
          <a:p>
            <a:r>
              <a:rPr sz="1100" b="0">
                <a:solidFill>
                  <a:srgbClr val="2E2E2E"/>
                </a:solidFill>
                <a:latin typeface="Calibri"/>
              </a:rPr>
              <a:t>X higher value than Europe in 2036.</a:t>
            </a:r>
          </a:p>
        </p:txBody>
      </p:sp>
      <p:sp>
        <p:nvSpPr>
          <p:cNvPr id="105" name="TextBox 104"/>
          <p:cNvSpPr txBox="1"/>
          <p:nvPr/>
        </p:nvSpPr>
        <p:spPr>
          <a:xfrm>
            <a:off x="485775" y="4564717"/>
            <a:ext cx="2806898" cy="186689"/>
          </a:xfrm>
          <a:prstGeom prst="rect">
            <a:avLst/>
          </a:prstGeom>
          <a:noFill/>
        </p:spPr>
        <p:txBody>
          <a:bodyPr wrap="none" lIns="0" rIns="0" tIns="0" bIns="0">
            <a:spAutoFit/>
          </a:bodyPr>
          <a:lstStyle/>
          <a:p>
            <a:r>
              <a:rPr sz="1100" b="0">
                <a:solidFill>
                  <a:srgbClr val="2E2E2E"/>
                </a:solidFill>
                <a:latin typeface="Calibri"/>
              </a:rPr>
              <a:t>Among matcha by region, South Asia &amp; Pacific is</a:t>
            </a:r>
          </a:p>
        </p:txBody>
      </p:sp>
      <p:sp>
        <p:nvSpPr>
          <p:cNvPr id="106" name="TextBox 105"/>
          <p:cNvSpPr txBox="1"/>
          <p:nvPr/>
        </p:nvSpPr>
        <p:spPr>
          <a:xfrm>
            <a:off x="485775" y="473235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07" name="Picture 106" descr="lock.png"/>
          <p:cNvPicPr>
            <a:picLocks noChangeAspect="1"/>
          </p:cNvPicPr>
          <p:nvPr/>
        </p:nvPicPr>
        <p:blipFill>
          <a:blip r:embed="rId22"/>
          <a:stretch>
            <a:fillRect/>
          </a:stretch>
        </p:blipFill>
        <p:spPr>
          <a:xfrm>
            <a:off x="2815059" y="4722578"/>
            <a:ext cx="128699" cy="187198"/>
          </a:xfrm>
          <a:prstGeom prst="rect">
            <a:avLst/>
          </a:prstGeom>
        </p:spPr>
      </p:pic>
      <p:sp>
        <p:nvSpPr>
          <p:cNvPr id="108" name="TextBox 107"/>
          <p:cNvSpPr txBox="1"/>
          <p:nvPr/>
        </p:nvSpPr>
        <p:spPr>
          <a:xfrm>
            <a:off x="2982555" y="473235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09" name="TextBox 108"/>
          <p:cNvSpPr txBox="1"/>
          <p:nvPr/>
        </p:nvSpPr>
        <p:spPr>
          <a:xfrm>
            <a:off x="485775" y="4899997"/>
            <a:ext cx="1197892" cy="186689"/>
          </a:xfrm>
          <a:prstGeom prst="rect">
            <a:avLst/>
          </a:prstGeom>
          <a:noFill/>
        </p:spPr>
        <p:txBody>
          <a:bodyPr wrap="none" lIns="0" rIns="0" tIns="0" bIns="0">
            <a:spAutoFit/>
          </a:bodyPr>
          <a:lstStyle/>
          <a:p>
            <a:r>
              <a:rPr sz="1100" b="0">
                <a:solidFill>
                  <a:srgbClr val="2E2E2E"/>
                </a:solidFill>
                <a:latin typeface="Calibri"/>
              </a:rPr>
              <a:t>the forecast period.</a:t>
            </a:r>
          </a:p>
        </p:txBody>
      </p:sp>
      <p:sp>
        <p:nvSpPr>
          <p:cNvPr id="110" name="TextBox 109"/>
          <p:cNvSpPr txBox="1"/>
          <p:nvPr/>
        </p:nvSpPr>
        <p:spPr>
          <a:xfrm>
            <a:off x="485775" y="5117929"/>
            <a:ext cx="2914650" cy="186689"/>
          </a:xfrm>
          <a:prstGeom prst="rect">
            <a:avLst/>
          </a:prstGeom>
          <a:noFill/>
        </p:spPr>
        <p:txBody>
          <a:bodyPr wrap="none" lIns="0" rIns="0" tIns="0" bIns="0">
            <a:spAutoFit/>
          </a:bodyPr>
          <a:lstStyle/>
          <a:p>
            <a:r>
              <a:rPr sz="1100" b="0">
                <a:solidFill>
                  <a:srgbClr val="2E2E2E"/>
                </a:solidFill>
                <a:latin typeface="Calibri"/>
              </a:rPr>
              <a:t>In terms of value share by region, North America is</a:t>
            </a:r>
          </a:p>
        </p:txBody>
      </p:sp>
      <p:sp>
        <p:nvSpPr>
          <p:cNvPr id="111" name="TextBox 110"/>
          <p:cNvSpPr txBox="1"/>
          <p:nvPr/>
        </p:nvSpPr>
        <p:spPr>
          <a:xfrm>
            <a:off x="485775" y="5285569"/>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112" name="Picture 111" descr="lock.png"/>
          <p:cNvPicPr>
            <a:picLocks noChangeAspect="1"/>
          </p:cNvPicPr>
          <p:nvPr/>
        </p:nvPicPr>
        <p:blipFill>
          <a:blip r:embed="rId22"/>
          <a:stretch>
            <a:fillRect/>
          </a:stretch>
        </p:blipFill>
        <p:spPr>
          <a:xfrm>
            <a:off x="2822716" y="5275790"/>
            <a:ext cx="128699" cy="187198"/>
          </a:xfrm>
          <a:prstGeom prst="rect">
            <a:avLst/>
          </a:prstGeom>
        </p:spPr>
      </p:pic>
      <p:sp>
        <p:nvSpPr>
          <p:cNvPr id="113" name="TextBox 112"/>
          <p:cNvSpPr txBox="1"/>
          <p:nvPr/>
        </p:nvSpPr>
        <p:spPr>
          <a:xfrm>
            <a:off x="2990212" y="5285569"/>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114" name="TextBox 113"/>
          <p:cNvSpPr txBox="1"/>
          <p:nvPr/>
        </p:nvSpPr>
        <p:spPr>
          <a:xfrm>
            <a:off x="485775" y="5453209"/>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115" name="Picture 114" descr="lock.png"/>
          <p:cNvPicPr>
            <a:picLocks noChangeAspect="1"/>
          </p:cNvPicPr>
          <p:nvPr/>
        </p:nvPicPr>
        <p:blipFill>
          <a:blip r:embed="rId22"/>
          <a:stretch>
            <a:fillRect/>
          </a:stretch>
        </p:blipFill>
        <p:spPr>
          <a:xfrm>
            <a:off x="1576057" y="5443430"/>
            <a:ext cx="128699" cy="187198"/>
          </a:xfrm>
          <a:prstGeom prst="rect">
            <a:avLst/>
          </a:prstGeom>
        </p:spPr>
      </p:pic>
      <p:sp>
        <p:nvSpPr>
          <p:cNvPr id="116" name="TextBox 115"/>
          <p:cNvSpPr txBox="1"/>
          <p:nvPr/>
        </p:nvSpPr>
        <p:spPr>
          <a:xfrm>
            <a:off x="1743553" y="545320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17" name="TextBox 116"/>
          <p:cNvSpPr txBox="1"/>
          <p:nvPr/>
        </p:nvSpPr>
        <p:spPr>
          <a:xfrm>
            <a:off x="3838575" y="4229437"/>
            <a:ext cx="1063376" cy="186689"/>
          </a:xfrm>
          <a:prstGeom prst="rect">
            <a:avLst/>
          </a:prstGeom>
          <a:noFill/>
        </p:spPr>
        <p:txBody>
          <a:bodyPr wrap="none" lIns="0" rIns="0" tIns="0" bIns="0">
            <a:spAutoFit/>
          </a:bodyPr>
          <a:lstStyle/>
          <a:p>
            <a:r>
              <a:rPr sz="1100" b="0">
                <a:solidFill>
                  <a:srgbClr val="2E2E2E"/>
                </a:solidFill>
                <a:latin typeface="Calibri"/>
              </a:rPr>
              <a:t>● North America:</a:t>
            </a:r>
          </a:p>
        </p:txBody>
      </p:sp>
      <p:pic>
        <p:nvPicPr>
          <p:cNvPr id="118" name="Picture 117" descr="lock.png"/>
          <p:cNvPicPr>
            <a:picLocks noChangeAspect="1"/>
          </p:cNvPicPr>
          <p:nvPr/>
        </p:nvPicPr>
        <p:blipFill>
          <a:blip r:embed="rId22"/>
          <a:stretch>
            <a:fillRect/>
          </a:stretch>
        </p:blipFill>
        <p:spPr>
          <a:xfrm>
            <a:off x="4850003" y="4219658"/>
            <a:ext cx="128699" cy="187198"/>
          </a:xfrm>
          <a:prstGeom prst="rect">
            <a:avLst/>
          </a:prstGeom>
        </p:spPr>
      </p:pic>
      <p:sp>
        <p:nvSpPr>
          <p:cNvPr id="119" name="TextBox 118"/>
          <p:cNvSpPr txBox="1"/>
          <p:nvPr/>
        </p:nvSpPr>
        <p:spPr>
          <a:xfrm>
            <a:off x="50174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0" name="Picture 119" descr="lock.png"/>
          <p:cNvPicPr>
            <a:picLocks noChangeAspect="1"/>
          </p:cNvPicPr>
          <p:nvPr/>
        </p:nvPicPr>
        <p:blipFill>
          <a:blip r:embed="rId22"/>
          <a:stretch>
            <a:fillRect/>
          </a:stretch>
        </p:blipFill>
        <p:spPr>
          <a:xfrm>
            <a:off x="5876949" y="4219658"/>
            <a:ext cx="128699" cy="187198"/>
          </a:xfrm>
          <a:prstGeom prst="rect">
            <a:avLst/>
          </a:prstGeom>
        </p:spPr>
      </p:pic>
      <p:sp>
        <p:nvSpPr>
          <p:cNvPr id="121" name="TextBox 120"/>
          <p:cNvSpPr txBox="1"/>
          <p:nvPr/>
        </p:nvSpPr>
        <p:spPr>
          <a:xfrm>
            <a:off x="604444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122" name="TextBox 121"/>
          <p:cNvSpPr txBox="1"/>
          <p:nvPr/>
        </p:nvSpPr>
        <p:spPr>
          <a:xfrm>
            <a:off x="3838575" y="4447369"/>
            <a:ext cx="636637" cy="186689"/>
          </a:xfrm>
          <a:prstGeom prst="rect">
            <a:avLst/>
          </a:prstGeom>
          <a:noFill/>
        </p:spPr>
        <p:txBody>
          <a:bodyPr wrap="none" lIns="0" rIns="0" tIns="0" bIns="0">
            <a:spAutoFit/>
          </a:bodyPr>
          <a:lstStyle/>
          <a:p>
            <a:r>
              <a:rPr sz="1100" b="0">
                <a:solidFill>
                  <a:srgbClr val="2E2E2E"/>
                </a:solidFill>
                <a:latin typeface="Calibri"/>
              </a:rPr>
              <a:t>● Europe:</a:t>
            </a:r>
          </a:p>
        </p:txBody>
      </p:sp>
      <p:pic>
        <p:nvPicPr>
          <p:cNvPr id="123" name="Picture 122" descr="lock.png"/>
          <p:cNvPicPr>
            <a:picLocks noChangeAspect="1"/>
          </p:cNvPicPr>
          <p:nvPr/>
        </p:nvPicPr>
        <p:blipFill>
          <a:blip r:embed="rId22"/>
          <a:stretch>
            <a:fillRect/>
          </a:stretch>
        </p:blipFill>
        <p:spPr>
          <a:xfrm>
            <a:off x="4423263" y="4437590"/>
            <a:ext cx="128699" cy="187198"/>
          </a:xfrm>
          <a:prstGeom prst="rect">
            <a:avLst/>
          </a:prstGeom>
        </p:spPr>
      </p:pic>
      <p:sp>
        <p:nvSpPr>
          <p:cNvPr id="124" name="TextBox 123"/>
          <p:cNvSpPr txBox="1"/>
          <p:nvPr/>
        </p:nvSpPr>
        <p:spPr>
          <a:xfrm>
            <a:off x="4590759"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5" name="Picture 124" descr="lock.png"/>
          <p:cNvPicPr>
            <a:picLocks noChangeAspect="1"/>
          </p:cNvPicPr>
          <p:nvPr/>
        </p:nvPicPr>
        <p:blipFill>
          <a:blip r:embed="rId22"/>
          <a:stretch>
            <a:fillRect/>
          </a:stretch>
        </p:blipFill>
        <p:spPr>
          <a:xfrm>
            <a:off x="5450209" y="4437590"/>
            <a:ext cx="128699" cy="187198"/>
          </a:xfrm>
          <a:prstGeom prst="rect">
            <a:avLst/>
          </a:prstGeom>
        </p:spPr>
      </p:pic>
      <p:sp>
        <p:nvSpPr>
          <p:cNvPr id="126" name="TextBox 125"/>
          <p:cNvSpPr txBox="1"/>
          <p:nvPr/>
        </p:nvSpPr>
        <p:spPr>
          <a:xfrm>
            <a:off x="5617705" y="4447369"/>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27" name="TextBox 126"/>
          <p:cNvSpPr txBox="1"/>
          <p:nvPr/>
        </p:nvSpPr>
        <p:spPr>
          <a:xfrm>
            <a:off x="3838575" y="4665301"/>
            <a:ext cx="732101" cy="186689"/>
          </a:xfrm>
          <a:prstGeom prst="rect">
            <a:avLst/>
          </a:prstGeom>
          <a:noFill/>
        </p:spPr>
        <p:txBody>
          <a:bodyPr wrap="none" lIns="0" rIns="0" tIns="0" bIns="0">
            <a:spAutoFit/>
          </a:bodyPr>
          <a:lstStyle/>
          <a:p>
            <a:r>
              <a:rPr sz="1100" b="0">
                <a:solidFill>
                  <a:srgbClr val="2E2E2E"/>
                </a:solidFill>
                <a:latin typeface="Calibri"/>
              </a:rPr>
              <a:t>● East Asia:</a:t>
            </a:r>
          </a:p>
        </p:txBody>
      </p:sp>
      <p:pic>
        <p:nvPicPr>
          <p:cNvPr id="128" name="Picture 127" descr="lock.png"/>
          <p:cNvPicPr>
            <a:picLocks noChangeAspect="1"/>
          </p:cNvPicPr>
          <p:nvPr/>
        </p:nvPicPr>
        <p:blipFill>
          <a:blip r:embed="rId22"/>
          <a:stretch>
            <a:fillRect/>
          </a:stretch>
        </p:blipFill>
        <p:spPr>
          <a:xfrm>
            <a:off x="4518727" y="4655522"/>
            <a:ext cx="128699" cy="187198"/>
          </a:xfrm>
          <a:prstGeom prst="rect">
            <a:avLst/>
          </a:prstGeom>
        </p:spPr>
      </p:pic>
      <p:sp>
        <p:nvSpPr>
          <p:cNvPr id="129" name="TextBox 128"/>
          <p:cNvSpPr txBox="1"/>
          <p:nvPr/>
        </p:nvSpPr>
        <p:spPr>
          <a:xfrm>
            <a:off x="4686223"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0" name="Picture 129" descr="lock.png"/>
          <p:cNvPicPr>
            <a:picLocks noChangeAspect="1"/>
          </p:cNvPicPr>
          <p:nvPr/>
        </p:nvPicPr>
        <p:blipFill>
          <a:blip r:embed="rId22"/>
          <a:stretch>
            <a:fillRect/>
          </a:stretch>
        </p:blipFill>
        <p:spPr>
          <a:xfrm>
            <a:off x="5545673" y="4655522"/>
            <a:ext cx="128699" cy="187198"/>
          </a:xfrm>
          <a:prstGeom prst="rect">
            <a:avLst/>
          </a:prstGeom>
        </p:spPr>
      </p:pic>
      <p:sp>
        <p:nvSpPr>
          <p:cNvPr id="131" name="TextBox 130"/>
          <p:cNvSpPr txBox="1"/>
          <p:nvPr/>
        </p:nvSpPr>
        <p:spPr>
          <a:xfrm>
            <a:off x="5713169" y="4665301"/>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32" name="TextBox 131"/>
          <p:cNvSpPr txBox="1"/>
          <p:nvPr/>
        </p:nvSpPr>
        <p:spPr>
          <a:xfrm>
            <a:off x="3838575" y="4883233"/>
            <a:ext cx="1350143" cy="186689"/>
          </a:xfrm>
          <a:prstGeom prst="rect">
            <a:avLst/>
          </a:prstGeom>
          <a:noFill/>
        </p:spPr>
        <p:txBody>
          <a:bodyPr wrap="none" lIns="0" rIns="0" tIns="0" bIns="0">
            <a:spAutoFit/>
          </a:bodyPr>
          <a:lstStyle/>
          <a:p>
            <a:r>
              <a:rPr sz="1100" b="0">
                <a:solidFill>
                  <a:srgbClr val="2E2E2E"/>
                </a:solidFill>
                <a:latin typeface="Calibri"/>
              </a:rPr>
              <a:t>● South Asia &amp; Pacific:</a:t>
            </a:r>
          </a:p>
        </p:txBody>
      </p:sp>
      <p:pic>
        <p:nvPicPr>
          <p:cNvPr id="133" name="Picture 132" descr="lock.png"/>
          <p:cNvPicPr>
            <a:picLocks noChangeAspect="1"/>
          </p:cNvPicPr>
          <p:nvPr/>
        </p:nvPicPr>
        <p:blipFill>
          <a:blip r:embed="rId22"/>
          <a:stretch>
            <a:fillRect/>
          </a:stretch>
        </p:blipFill>
        <p:spPr>
          <a:xfrm>
            <a:off x="5136770" y="4873454"/>
            <a:ext cx="128699" cy="187198"/>
          </a:xfrm>
          <a:prstGeom prst="rect">
            <a:avLst/>
          </a:prstGeom>
        </p:spPr>
      </p:pic>
      <p:sp>
        <p:nvSpPr>
          <p:cNvPr id="134" name="TextBox 133"/>
          <p:cNvSpPr txBox="1"/>
          <p:nvPr/>
        </p:nvSpPr>
        <p:spPr>
          <a:xfrm>
            <a:off x="5304266"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5" name="Picture 134" descr="lock.png"/>
          <p:cNvPicPr>
            <a:picLocks noChangeAspect="1"/>
          </p:cNvPicPr>
          <p:nvPr/>
        </p:nvPicPr>
        <p:blipFill>
          <a:blip r:embed="rId22"/>
          <a:stretch>
            <a:fillRect/>
          </a:stretch>
        </p:blipFill>
        <p:spPr>
          <a:xfrm>
            <a:off x="6163716" y="4873454"/>
            <a:ext cx="128699" cy="187198"/>
          </a:xfrm>
          <a:prstGeom prst="rect">
            <a:avLst/>
          </a:prstGeom>
        </p:spPr>
      </p:pic>
      <p:sp>
        <p:nvSpPr>
          <p:cNvPr id="136" name="TextBox 135"/>
          <p:cNvSpPr txBox="1"/>
          <p:nvPr/>
        </p:nvSpPr>
        <p:spPr>
          <a:xfrm>
            <a:off x="6331212" y="4883233"/>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7" name="TextBox 136"/>
          <p:cNvSpPr txBox="1"/>
          <p:nvPr/>
        </p:nvSpPr>
        <p:spPr>
          <a:xfrm>
            <a:off x="3838575" y="5101165"/>
            <a:ext cx="1008260" cy="186689"/>
          </a:xfrm>
          <a:prstGeom prst="rect">
            <a:avLst/>
          </a:prstGeom>
          <a:noFill/>
        </p:spPr>
        <p:txBody>
          <a:bodyPr wrap="none" lIns="0" rIns="0" tIns="0" bIns="0">
            <a:spAutoFit/>
          </a:bodyPr>
          <a:lstStyle/>
          <a:p>
            <a:r>
              <a:rPr sz="1100" b="0">
                <a:solidFill>
                  <a:srgbClr val="2E2E2E"/>
                </a:solidFill>
                <a:latin typeface="Calibri"/>
              </a:rPr>
              <a:t>● Latin America:</a:t>
            </a:r>
          </a:p>
        </p:txBody>
      </p:sp>
      <p:pic>
        <p:nvPicPr>
          <p:cNvPr id="138" name="Picture 137" descr="lock.png"/>
          <p:cNvPicPr>
            <a:picLocks noChangeAspect="1"/>
          </p:cNvPicPr>
          <p:nvPr/>
        </p:nvPicPr>
        <p:blipFill>
          <a:blip r:embed="rId22"/>
          <a:stretch>
            <a:fillRect/>
          </a:stretch>
        </p:blipFill>
        <p:spPr>
          <a:xfrm>
            <a:off x="4794887" y="5091385"/>
            <a:ext cx="128699" cy="187198"/>
          </a:xfrm>
          <a:prstGeom prst="rect">
            <a:avLst/>
          </a:prstGeom>
        </p:spPr>
      </p:pic>
      <p:sp>
        <p:nvSpPr>
          <p:cNvPr id="139" name="TextBox 138"/>
          <p:cNvSpPr txBox="1"/>
          <p:nvPr/>
        </p:nvSpPr>
        <p:spPr>
          <a:xfrm>
            <a:off x="4962383"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0" name="Picture 139" descr="lock.png"/>
          <p:cNvPicPr>
            <a:picLocks noChangeAspect="1"/>
          </p:cNvPicPr>
          <p:nvPr/>
        </p:nvPicPr>
        <p:blipFill>
          <a:blip r:embed="rId22"/>
          <a:stretch>
            <a:fillRect/>
          </a:stretch>
        </p:blipFill>
        <p:spPr>
          <a:xfrm>
            <a:off x="5821833" y="5091385"/>
            <a:ext cx="128699" cy="187198"/>
          </a:xfrm>
          <a:prstGeom prst="rect">
            <a:avLst/>
          </a:prstGeom>
        </p:spPr>
      </p:pic>
      <p:sp>
        <p:nvSpPr>
          <p:cNvPr id="141" name="TextBox 140"/>
          <p:cNvSpPr txBox="1"/>
          <p:nvPr/>
        </p:nvSpPr>
        <p:spPr>
          <a:xfrm>
            <a:off x="5989329" y="5101165"/>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
        <p:nvSpPr>
          <p:cNvPr id="142" name="TextBox 141"/>
          <p:cNvSpPr txBox="1"/>
          <p:nvPr/>
        </p:nvSpPr>
        <p:spPr>
          <a:xfrm>
            <a:off x="3838575" y="5319097"/>
            <a:ext cx="1386944" cy="186689"/>
          </a:xfrm>
          <a:prstGeom prst="rect">
            <a:avLst/>
          </a:prstGeom>
          <a:noFill/>
        </p:spPr>
        <p:txBody>
          <a:bodyPr wrap="none" lIns="0" rIns="0" tIns="0" bIns="0">
            <a:spAutoFit/>
          </a:bodyPr>
          <a:lstStyle/>
          <a:p>
            <a:r>
              <a:rPr sz="1100" b="0">
                <a:solidFill>
                  <a:srgbClr val="2E2E2E"/>
                </a:solidFill>
                <a:latin typeface="Calibri"/>
              </a:rPr>
              <a:t>● Middle East &amp; Africa:</a:t>
            </a:r>
          </a:p>
        </p:txBody>
      </p:sp>
      <p:pic>
        <p:nvPicPr>
          <p:cNvPr id="143" name="Picture 142" descr="lock.png"/>
          <p:cNvPicPr>
            <a:picLocks noChangeAspect="1"/>
          </p:cNvPicPr>
          <p:nvPr/>
        </p:nvPicPr>
        <p:blipFill>
          <a:blip r:embed="rId22"/>
          <a:stretch>
            <a:fillRect/>
          </a:stretch>
        </p:blipFill>
        <p:spPr>
          <a:xfrm>
            <a:off x="5173571" y="5309317"/>
            <a:ext cx="128699" cy="187198"/>
          </a:xfrm>
          <a:prstGeom prst="rect">
            <a:avLst/>
          </a:prstGeom>
        </p:spPr>
      </p:pic>
      <p:sp>
        <p:nvSpPr>
          <p:cNvPr id="144" name="TextBox 143"/>
          <p:cNvSpPr txBox="1"/>
          <p:nvPr/>
        </p:nvSpPr>
        <p:spPr>
          <a:xfrm>
            <a:off x="5341067"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5" name="Picture 144" descr="lock.png"/>
          <p:cNvPicPr>
            <a:picLocks noChangeAspect="1"/>
          </p:cNvPicPr>
          <p:nvPr/>
        </p:nvPicPr>
        <p:blipFill>
          <a:blip r:embed="rId22"/>
          <a:stretch>
            <a:fillRect/>
          </a:stretch>
        </p:blipFill>
        <p:spPr>
          <a:xfrm>
            <a:off x="6200517" y="5309317"/>
            <a:ext cx="128699" cy="187198"/>
          </a:xfrm>
          <a:prstGeom prst="rect">
            <a:avLst/>
          </a:prstGeom>
        </p:spPr>
      </p:pic>
      <p:sp>
        <p:nvSpPr>
          <p:cNvPr id="146" name="TextBox 145"/>
          <p:cNvSpPr txBox="1"/>
          <p:nvPr/>
        </p:nvSpPr>
        <p:spPr>
          <a:xfrm>
            <a:off x="6368013" y="5319097"/>
            <a:ext cx="1415611" cy="186689"/>
          </a:xfrm>
          <a:prstGeom prst="rect">
            <a:avLst/>
          </a:prstGeom>
          <a:noFill/>
        </p:spPr>
        <p:txBody>
          <a:bodyPr wrap="none" lIns="0" rIns="0" tIns="0" bIns="0">
            <a:spAutoFit/>
          </a:bodyPr>
          <a:lstStyle/>
          <a:p>
            <a:r>
              <a:rPr sz="1100" b="0">
                <a:solidFill>
                  <a:srgbClr val="2E2E2E"/>
                </a:solidFill>
                <a:latin typeface="Calibri"/>
              </a:rPr>
              <a:t>CAGR a smaller market.</a:t>
            </a:r>
          </a:p>
        </p:txBody>
      </p:sp>
    </p:spTree>
  </p:cSld>
  <p:clrMapOvr>
    <a:masterClrMapping/>
  </p:clrMapOvr>
</p:sld>
</file>

<file path=ppt/slides/slide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region in 2026 and 2036, highlighting share gains and losses in basis points</a:t>
            </a:r>
          </a:p>
        </p:txBody>
      </p:sp>
      <p:sp>
        <p:nvSpPr>
          <p:cNvPr id="10" name="Rounded Rectangle 9"/>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2" name="Chart 11"/>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3" name="TextBox 12"/>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4" name="FMI Lock Anchor"/>
          <p:cNvSpPr txBox="1"/>
          <p:nvPr/>
        </p:nvSpPr>
        <p:spPr>
          <a:xfrm>
            <a:off x="2489835" y="3352800"/>
            <a:ext cx="38100" cy="38100"/>
          </a:xfrm>
          <a:prstGeom prst="rect">
            <a:avLst/>
          </a:prstGeom>
          <a:noFill/>
        </p:spPr>
        <p:txBody>
          <a:bodyPr wrap="none">
            <a:spAutoFit/>
          </a:bodyPr>
          <a:lstStyle/>
          <a:p/>
        </p:txBody>
      </p:sp>
      <p:sp>
        <p:nvSpPr>
          <p:cNvPr id="15" name="FMI Legend Chip"/>
          <p:cNvSpPr/>
          <p:nvPr/>
        </p:nvSpPr>
        <p:spPr>
          <a:xfrm>
            <a:off x="4551045" y="160196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4712970" y="1597199"/>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4855845" y="1520999"/>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8" name="BPS Value 1"/>
          <p:cNvSpPr txBox="1"/>
          <p:nvPr/>
        </p:nvSpPr>
        <p:spPr>
          <a:xfrm>
            <a:off x="6305550" y="158291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551045" y="190513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4712970" y="190037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4855845" y="182417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2" name="BPS Value 2"/>
          <p:cNvSpPr txBox="1"/>
          <p:nvPr/>
        </p:nvSpPr>
        <p:spPr>
          <a:xfrm>
            <a:off x="6305550" y="188608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551045" y="241636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a:off x="4712970" y="241160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4855845" y="2335400"/>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6" name="BPS Value 3"/>
          <p:cNvSpPr txBox="1"/>
          <p:nvPr/>
        </p:nvSpPr>
        <p:spPr>
          <a:xfrm>
            <a:off x="6305550" y="23973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7" name="FMI Legend Chip"/>
          <p:cNvSpPr/>
          <p:nvPr/>
        </p:nvSpPr>
        <p:spPr>
          <a:xfrm>
            <a:off x="4551045" y="313526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rot="10800000">
            <a:off x="4712970" y="31305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4855845" y="305430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0" name="BPS Value 4"/>
          <p:cNvSpPr txBox="1"/>
          <p:nvPr/>
        </p:nvSpPr>
        <p:spPr>
          <a:xfrm>
            <a:off x="6305550" y="311621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1" name="FMI Legend Chip"/>
          <p:cNvSpPr/>
          <p:nvPr/>
        </p:nvSpPr>
        <p:spPr>
          <a:xfrm>
            <a:off x="4551045" y="39077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4712970" y="390295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4855845" y="3826756"/>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4" name="BPS Value 5"/>
          <p:cNvSpPr txBox="1"/>
          <p:nvPr/>
        </p:nvSpPr>
        <p:spPr>
          <a:xfrm>
            <a:off x="6305550" y="388866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FMI Legend Chip"/>
          <p:cNvSpPr/>
          <p:nvPr/>
        </p:nvSpPr>
        <p:spPr>
          <a:xfrm>
            <a:off x="4551045" y="471919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a:off x="4712970" y="471443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4855845" y="463823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8" name="BPS Value 6"/>
          <p:cNvSpPr txBox="1"/>
          <p:nvPr/>
        </p:nvSpPr>
        <p:spPr>
          <a:xfrm>
            <a:off x="6305550" y="470014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9" name="Rounded Rectangle 38"/>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1" name="Rectangle 40"/>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3" name="Rounded Rectangle 42"/>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4" name="Rounded Rectangle 43"/>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45" name="Rounded Rectangle 44"/>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r>
          </a:p>
        </p:txBody>
      </p:sp>
      <p:sp>
        <p:nvSpPr>
          <p:cNvPr id="46" name="TextBox 4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7" name="Picture 46" descr="lock.png"/>
          <p:cNvPicPr>
            <a:picLocks noChangeAspect="1"/>
          </p:cNvPicPr>
          <p:nvPr/>
        </p:nvPicPr>
        <p:blipFill>
          <a:blip r:embed="rId5"/>
          <a:stretch>
            <a:fillRect/>
          </a:stretch>
        </p:blipFill>
        <p:spPr>
          <a:xfrm>
            <a:off x="2333863" y="3121818"/>
            <a:ext cx="343793" cy="500062"/>
          </a:xfrm>
          <a:prstGeom prst="rect">
            <a:avLst/>
          </a:prstGeom>
        </p:spPr>
      </p:pic>
      <p:pic>
        <p:nvPicPr>
          <p:cNvPr id="48" name="Picture 47" descr="6_5__605E5C.png"/>
          <p:cNvPicPr>
            <a:picLocks noChangeAspect="1"/>
          </p:cNvPicPr>
          <p:nvPr/>
        </p:nvPicPr>
        <p:blipFill>
          <a:blip r:embed="rId6"/>
          <a:stretch>
            <a:fillRect/>
          </a:stretch>
        </p:blipFill>
        <p:spPr>
          <a:xfrm>
            <a:off x="9465355" y="5897562"/>
            <a:ext cx="1309912" cy="482599"/>
          </a:xfrm>
          <a:prstGeom prst="rect">
            <a:avLst/>
          </a:prstGeom>
        </p:spPr>
      </p:pic>
      <p:pic>
        <p:nvPicPr>
          <p:cNvPr id="49" name="Picture 48" descr="lock.png"/>
          <p:cNvPicPr>
            <a:picLocks noChangeAspect="1"/>
          </p:cNvPicPr>
          <p:nvPr/>
        </p:nvPicPr>
        <p:blipFill>
          <a:blip r:embed="rId5"/>
          <a:stretch>
            <a:fillRect/>
          </a:stretch>
        </p:blipFill>
        <p:spPr>
          <a:xfrm>
            <a:off x="10003631" y="5972175"/>
            <a:ext cx="229195" cy="333375"/>
          </a:xfrm>
          <a:prstGeom prst="rect">
            <a:avLst/>
          </a:prstGeom>
        </p:spPr>
      </p:pic>
      <p:sp>
        <p:nvSpPr>
          <p:cNvPr id="50" name="TextBox 49"/>
          <p:cNvSpPr txBox="1"/>
          <p:nvPr/>
        </p:nvSpPr>
        <p:spPr>
          <a:xfrm>
            <a:off x="7239000" y="1400175"/>
            <a:ext cx="3562287" cy="194310"/>
          </a:xfrm>
          <a:prstGeom prst="rect">
            <a:avLst/>
          </a:prstGeom>
          <a:noFill/>
        </p:spPr>
        <p:txBody>
          <a:bodyPr wrap="none" lIns="0" rIns="0" tIns="0" bIns="0">
            <a:spAutoFit/>
          </a:bodyPr>
          <a:lstStyle/>
          <a:p>
            <a:r>
              <a:rPr sz="1150" b="0">
                <a:solidFill>
                  <a:srgbClr val="2E2E2E"/>
                </a:solidFill>
                <a:latin typeface="Calibri"/>
              </a:rPr>
              <a:t>South Asia &amp; Pacific matcha market is projected to register</a:t>
            </a:r>
          </a:p>
        </p:txBody>
      </p:sp>
      <p:pic>
        <p:nvPicPr>
          <p:cNvPr id="51" name="Picture 50" descr="lock.png"/>
          <p:cNvPicPr>
            <a:picLocks noChangeAspect="1"/>
          </p:cNvPicPr>
          <p:nvPr/>
        </p:nvPicPr>
        <p:blipFill>
          <a:blip r:embed="rId5"/>
          <a:stretch>
            <a:fillRect/>
          </a:stretch>
        </p:blipFill>
        <p:spPr>
          <a:xfrm>
            <a:off x="10750441" y="1389951"/>
            <a:ext cx="134549" cy="195707"/>
          </a:xfrm>
          <a:prstGeom prst="rect">
            <a:avLst/>
          </a:prstGeom>
        </p:spPr>
      </p:pic>
      <p:sp>
        <p:nvSpPr>
          <p:cNvPr id="52" name="TextBox 51"/>
          <p:cNvSpPr txBox="1"/>
          <p:nvPr/>
        </p:nvSpPr>
        <p:spPr>
          <a:xfrm>
            <a:off x="10925551" y="1400175"/>
            <a:ext cx="564839" cy="194310"/>
          </a:xfrm>
          <a:prstGeom prst="rect">
            <a:avLst/>
          </a:prstGeom>
          <a:noFill/>
        </p:spPr>
        <p:txBody>
          <a:bodyPr wrap="none" lIns="0" rIns="0" tIns="0" bIns="0">
            <a:spAutoFit/>
          </a:bodyPr>
          <a:lstStyle/>
          <a:p>
            <a:r>
              <a:rPr sz="1150" b="0">
                <a:solidFill>
                  <a:srgbClr val="2E2E2E"/>
                </a:solidFill>
                <a:latin typeface="Calibri"/>
              </a:rPr>
              <a:t>X higher</a:t>
            </a:r>
          </a:p>
        </p:txBody>
      </p:sp>
      <p:sp>
        <p:nvSpPr>
          <p:cNvPr id="53" name="TextBox 52"/>
          <p:cNvSpPr txBox="1"/>
          <p:nvPr/>
        </p:nvSpPr>
        <p:spPr>
          <a:xfrm>
            <a:off x="7239000" y="1575435"/>
            <a:ext cx="4648200" cy="194310"/>
          </a:xfrm>
          <a:prstGeom prst="rect">
            <a:avLst/>
          </a:prstGeom>
          <a:noFill/>
        </p:spPr>
        <p:txBody>
          <a:bodyPr wrap="none" lIns="0" rIns="0" tIns="0" bIns="0">
            <a:spAutoFit/>
          </a:bodyPr>
          <a:lstStyle/>
          <a:p>
            <a:r>
              <a:rPr sz="1150" b="0">
                <a:solidFill>
                  <a:srgbClr val="2E2E2E"/>
                </a:solidFill>
                <a:latin typeface="Calibri"/>
              </a:rPr>
              <a:t>volume than Europe in 2036. Among matcha by region, South Asia &amp; Pacific is</a:t>
            </a:r>
          </a:p>
        </p:txBody>
      </p:sp>
      <p:sp>
        <p:nvSpPr>
          <p:cNvPr id="54" name="TextBox 53"/>
          <p:cNvSpPr txBox="1"/>
          <p:nvPr/>
        </p:nvSpPr>
        <p:spPr>
          <a:xfrm>
            <a:off x="7239000" y="175069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55" name="Picture 54" descr="lock.png"/>
          <p:cNvPicPr>
            <a:picLocks noChangeAspect="1"/>
          </p:cNvPicPr>
          <p:nvPr/>
        </p:nvPicPr>
        <p:blipFill>
          <a:blip r:embed="rId5"/>
          <a:stretch>
            <a:fillRect/>
          </a:stretch>
        </p:blipFill>
        <p:spPr>
          <a:xfrm>
            <a:off x="9674161" y="1740471"/>
            <a:ext cx="134549" cy="195707"/>
          </a:xfrm>
          <a:prstGeom prst="rect">
            <a:avLst/>
          </a:prstGeom>
        </p:spPr>
      </p:pic>
      <p:sp>
        <p:nvSpPr>
          <p:cNvPr id="56" name="TextBox 55"/>
          <p:cNvSpPr txBox="1"/>
          <p:nvPr/>
        </p:nvSpPr>
        <p:spPr>
          <a:xfrm>
            <a:off x="9849270"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57" name="TextBox 56"/>
          <p:cNvSpPr txBox="1"/>
          <p:nvPr/>
        </p:nvSpPr>
        <p:spPr>
          <a:xfrm>
            <a:off x="7239000" y="1978533"/>
            <a:ext cx="4252602" cy="194310"/>
          </a:xfrm>
          <a:prstGeom prst="rect">
            <a:avLst/>
          </a:prstGeom>
          <a:noFill/>
        </p:spPr>
        <p:txBody>
          <a:bodyPr wrap="none" lIns="0" rIns="0" tIns="0" bIns="0">
            <a:spAutoFit/>
          </a:bodyPr>
          <a:lstStyle/>
          <a:p>
            <a:r>
              <a:rPr sz="1150" b="0">
                <a:solidFill>
                  <a:srgbClr val="2E2E2E"/>
                </a:solidFill>
                <a:latin typeface="Calibri"/>
              </a:rPr>
              <a:t>In terms of volume share by region, South Asia &amp; Pacific is expected to</a:t>
            </a:r>
          </a:p>
        </p:txBody>
      </p:sp>
      <p:sp>
        <p:nvSpPr>
          <p:cNvPr id="58" name="TextBox 57"/>
          <p:cNvSpPr txBox="1"/>
          <p:nvPr/>
        </p:nvSpPr>
        <p:spPr>
          <a:xfrm>
            <a:off x="7239000" y="2153793"/>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59" name="Picture 58" descr="lock.png"/>
          <p:cNvPicPr>
            <a:picLocks noChangeAspect="1"/>
          </p:cNvPicPr>
          <p:nvPr/>
        </p:nvPicPr>
        <p:blipFill>
          <a:blip r:embed="rId5"/>
          <a:stretch>
            <a:fillRect/>
          </a:stretch>
        </p:blipFill>
        <p:spPr>
          <a:xfrm>
            <a:off x="9025226" y="2143569"/>
            <a:ext cx="134549" cy="195707"/>
          </a:xfrm>
          <a:prstGeom prst="rect">
            <a:avLst/>
          </a:prstGeom>
        </p:spPr>
      </p:pic>
      <p:sp>
        <p:nvSpPr>
          <p:cNvPr id="60" name="TextBox 59"/>
          <p:cNvSpPr txBox="1"/>
          <p:nvPr/>
        </p:nvSpPr>
        <p:spPr>
          <a:xfrm>
            <a:off x="9200335" y="215379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1" name="Picture 60" descr="lock.png"/>
          <p:cNvPicPr>
            <a:picLocks noChangeAspect="1"/>
          </p:cNvPicPr>
          <p:nvPr/>
        </p:nvPicPr>
        <p:blipFill>
          <a:blip r:embed="rId5"/>
          <a:stretch>
            <a:fillRect/>
          </a:stretch>
        </p:blipFill>
        <p:spPr>
          <a:xfrm>
            <a:off x="10595478" y="2143569"/>
            <a:ext cx="134549" cy="195707"/>
          </a:xfrm>
          <a:prstGeom prst="rect">
            <a:avLst/>
          </a:prstGeom>
        </p:spPr>
      </p:pic>
      <p:sp>
        <p:nvSpPr>
          <p:cNvPr id="62" name="TextBox 61"/>
          <p:cNvSpPr txBox="1"/>
          <p:nvPr/>
        </p:nvSpPr>
        <p:spPr>
          <a:xfrm>
            <a:off x="10770588"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3" name="TextBox 62"/>
          <p:cNvSpPr txBox="1"/>
          <p:nvPr/>
        </p:nvSpPr>
        <p:spPr>
          <a:xfrm>
            <a:off x="7239000" y="2329053"/>
            <a:ext cx="2083531" cy="194310"/>
          </a:xfrm>
          <a:prstGeom prst="rect">
            <a:avLst/>
          </a:prstGeom>
          <a:noFill/>
        </p:spPr>
        <p:txBody>
          <a:bodyPr wrap="none" lIns="0" rIns="0" tIns="0" bIns="0">
            <a:spAutoFit/>
          </a:bodyPr>
          <a:lstStyle/>
          <a:p>
            <a:r>
              <a:rPr sz="1150" b="0">
                <a:solidFill>
                  <a:srgbClr val="2E2E2E"/>
                </a:solidFill>
                <a:latin typeface="Calibri"/>
              </a:rPr>
              <a:t>North America is expected to lose</a:t>
            </a:r>
          </a:p>
        </p:txBody>
      </p:sp>
      <p:pic>
        <p:nvPicPr>
          <p:cNvPr id="64" name="Picture 63" descr="lock.png"/>
          <p:cNvPicPr>
            <a:picLocks noChangeAspect="1"/>
          </p:cNvPicPr>
          <p:nvPr/>
        </p:nvPicPr>
        <p:blipFill>
          <a:blip r:embed="rId5"/>
          <a:stretch>
            <a:fillRect/>
          </a:stretch>
        </p:blipFill>
        <p:spPr>
          <a:xfrm>
            <a:off x="9271685" y="2318829"/>
            <a:ext cx="134549" cy="195707"/>
          </a:xfrm>
          <a:prstGeom prst="rect">
            <a:avLst/>
          </a:prstGeom>
        </p:spPr>
      </p:pic>
      <p:sp>
        <p:nvSpPr>
          <p:cNvPr id="65" name="TextBox 64"/>
          <p:cNvSpPr txBox="1"/>
          <p:nvPr/>
        </p:nvSpPr>
        <p:spPr>
          <a:xfrm>
            <a:off x="9446794" y="2329053"/>
            <a:ext cx="1926356" cy="194310"/>
          </a:xfrm>
          <a:prstGeom prst="rect">
            <a:avLst/>
          </a:prstGeom>
          <a:noFill/>
        </p:spPr>
        <p:txBody>
          <a:bodyPr wrap="none" lIns="0" rIns="0" tIns="0" bIns="0">
            <a:spAutoFit/>
          </a:bodyPr>
          <a:lstStyle/>
          <a:p>
            <a:r>
              <a:rPr sz="1150" b="0">
                <a:solidFill>
                  <a:srgbClr val="2E2E2E"/>
                </a:solidFill>
                <a:latin typeface="Calibri"/>
              </a:rPr>
              <a:t>BPS over the forecast period to</a:t>
            </a:r>
          </a:p>
        </p:txBody>
      </p:sp>
      <p:sp>
        <p:nvSpPr>
          <p:cNvPr id="66" name="TextBox 65"/>
          <p:cNvSpPr txBox="1"/>
          <p:nvPr/>
        </p:nvSpPr>
        <p:spPr>
          <a:xfrm>
            <a:off x="7239000" y="2504313"/>
            <a:ext cx="755104" cy="194310"/>
          </a:xfrm>
          <a:prstGeom prst="rect">
            <a:avLst/>
          </a:prstGeom>
          <a:noFill/>
        </p:spPr>
        <p:txBody>
          <a:bodyPr wrap="none" lIns="0" rIns="0" tIns="0" bIns="0">
            <a:spAutoFit/>
          </a:bodyPr>
          <a:lstStyle/>
          <a:p>
            <a:r>
              <a:rPr sz="1150" b="0">
                <a:solidFill>
                  <a:srgbClr val="2E2E2E"/>
                </a:solidFill>
                <a:latin typeface="Calibri"/>
              </a:rPr>
              <a:t>account for</a:t>
            </a:r>
          </a:p>
        </p:txBody>
      </p:sp>
      <p:pic>
        <p:nvPicPr>
          <p:cNvPr id="67" name="Picture 66" descr="lock.png"/>
          <p:cNvPicPr>
            <a:picLocks noChangeAspect="1"/>
          </p:cNvPicPr>
          <p:nvPr/>
        </p:nvPicPr>
        <p:blipFill>
          <a:blip r:embed="rId5"/>
          <a:stretch>
            <a:fillRect/>
          </a:stretch>
        </p:blipFill>
        <p:spPr>
          <a:xfrm>
            <a:off x="7943258" y="2494089"/>
            <a:ext cx="134549" cy="195707"/>
          </a:xfrm>
          <a:prstGeom prst="rect">
            <a:avLst/>
          </a:prstGeom>
        </p:spPr>
      </p:pic>
      <p:sp>
        <p:nvSpPr>
          <p:cNvPr id="68" name="TextBox 67"/>
          <p:cNvSpPr txBox="1"/>
          <p:nvPr/>
        </p:nvSpPr>
        <p:spPr>
          <a:xfrm>
            <a:off x="8118367"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9" name="TextBox 68"/>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70" name="Picture 69" descr="lock.png"/>
          <p:cNvPicPr>
            <a:picLocks noChangeAspect="1"/>
          </p:cNvPicPr>
          <p:nvPr/>
        </p:nvPicPr>
        <p:blipFill>
          <a:blip r:embed="rId5"/>
          <a:stretch>
            <a:fillRect/>
          </a:stretch>
        </p:blipFill>
        <p:spPr>
          <a:xfrm>
            <a:off x="1984327" y="6077648"/>
            <a:ext cx="233998" cy="340360"/>
          </a:xfrm>
          <a:prstGeom prst="rect">
            <a:avLst/>
          </a:prstGeom>
        </p:spPr>
      </p:pic>
      <p:sp>
        <p:nvSpPr>
          <p:cNvPr id="71" name="TextBox 70"/>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72" name="Picture 71" descr="lock.png"/>
          <p:cNvPicPr>
            <a:picLocks noChangeAspect="1"/>
          </p:cNvPicPr>
          <p:nvPr/>
        </p:nvPicPr>
        <p:blipFill>
          <a:blip r:embed="rId5"/>
          <a:stretch>
            <a:fillRect/>
          </a:stretch>
        </p:blipFill>
        <p:spPr>
          <a:xfrm>
            <a:off x="6018165" y="6077648"/>
            <a:ext cx="233998" cy="340360"/>
          </a:xfrm>
          <a:prstGeom prst="rect">
            <a:avLst/>
          </a:prstGeom>
        </p:spPr>
      </p:pic>
      <p:sp>
        <p:nvSpPr>
          <p:cNvPr id="73" name="lockshield_12"/>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region in 2026 and 2036, highlighting share gains and losses in basis points</a:t>
            </a:r>
          </a:p>
        </p:txBody>
      </p:sp>
      <p:sp>
        <p:nvSpPr>
          <p:cNvPr id="10" name="Rounded Rectangle 9"/>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Region, 2026 &amp; 2036</a:t>
            </a:r>
          </a:p>
        </p:txBody>
      </p:sp>
      <p:graphicFrame>
        <p:nvGraphicFramePr>
          <p:cNvPr id="12" name="Chart 11"/>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3" name="TextBox 12"/>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4" name="FMI Lock Anchor"/>
          <p:cNvSpPr txBox="1"/>
          <p:nvPr/>
        </p:nvSpPr>
        <p:spPr>
          <a:xfrm>
            <a:off x="2489835" y="3352800"/>
            <a:ext cx="38100" cy="38100"/>
          </a:xfrm>
          <a:prstGeom prst="rect">
            <a:avLst/>
          </a:prstGeom>
          <a:noFill/>
        </p:spPr>
        <p:txBody>
          <a:bodyPr wrap="none">
            <a:spAutoFit/>
          </a:bodyPr>
          <a:lstStyle/>
          <a:p/>
        </p:txBody>
      </p:sp>
      <p:sp>
        <p:nvSpPr>
          <p:cNvPr id="15" name="FMI Legend Chip"/>
          <p:cNvSpPr/>
          <p:nvPr/>
        </p:nvSpPr>
        <p:spPr>
          <a:xfrm>
            <a:off x="4551045" y="158930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4712970" y="158454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4855845" y="1508347"/>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Middle East &amp; Africa</a:t>
            </a:r>
          </a:p>
        </p:txBody>
      </p:sp>
      <p:sp>
        <p:nvSpPr>
          <p:cNvPr id="18" name="BPS Value 1"/>
          <p:cNvSpPr txBox="1"/>
          <p:nvPr/>
        </p:nvSpPr>
        <p:spPr>
          <a:xfrm>
            <a:off x="6305550" y="157025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551045" y="1874293"/>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4712970" y="186953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4855845" y="179333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Latin America</a:t>
            </a:r>
          </a:p>
        </p:txBody>
      </p:sp>
      <p:sp>
        <p:nvSpPr>
          <p:cNvPr id="22" name="BPS Value 2"/>
          <p:cNvSpPr txBox="1"/>
          <p:nvPr/>
        </p:nvSpPr>
        <p:spPr>
          <a:xfrm>
            <a:off x="6305550" y="185524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551045" y="226593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4712970" y="226117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4855845" y="218497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East Asia</a:t>
            </a:r>
          </a:p>
        </p:txBody>
      </p:sp>
      <p:sp>
        <p:nvSpPr>
          <p:cNvPr id="26" name="BPS Value 3"/>
          <p:cNvSpPr txBox="1"/>
          <p:nvPr/>
        </p:nvSpPr>
        <p:spPr>
          <a:xfrm>
            <a:off x="6305550" y="224688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551045" y="273894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a:off x="4712970" y="273418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4855845" y="2657982"/>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South Asia &amp; Pacific</a:t>
            </a:r>
          </a:p>
        </p:txBody>
      </p:sp>
      <p:sp>
        <p:nvSpPr>
          <p:cNvPr id="30" name="BPS Value 4"/>
          <p:cNvSpPr txBox="1"/>
          <p:nvPr/>
        </p:nvSpPr>
        <p:spPr>
          <a:xfrm>
            <a:off x="6305550" y="271989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1" name="FMI Legend Chip"/>
          <p:cNvSpPr/>
          <p:nvPr/>
        </p:nvSpPr>
        <p:spPr>
          <a:xfrm>
            <a:off x="4551045" y="350051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a:off x="4712970" y="349575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4855845" y="341955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Europe</a:t>
            </a:r>
          </a:p>
        </p:txBody>
      </p:sp>
      <p:sp>
        <p:nvSpPr>
          <p:cNvPr id="34" name="BPS Value 5"/>
          <p:cNvSpPr txBox="1"/>
          <p:nvPr/>
        </p:nvSpPr>
        <p:spPr>
          <a:xfrm>
            <a:off x="6305550" y="348146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5" name="FMI Legend Chip"/>
          <p:cNvSpPr/>
          <p:nvPr/>
        </p:nvSpPr>
        <p:spPr>
          <a:xfrm>
            <a:off x="4551045" y="45760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rot="10800000">
            <a:off x="4712970" y="45713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4855845" y="449512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North America</a:t>
            </a:r>
          </a:p>
        </p:txBody>
      </p:sp>
      <p:sp>
        <p:nvSpPr>
          <p:cNvPr id="38" name="BPS Value 6"/>
          <p:cNvSpPr txBox="1"/>
          <p:nvPr/>
        </p:nvSpPr>
        <p:spPr>
          <a:xfrm>
            <a:off x="6305550" y="45570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9" name="Rounded Rectangle 38"/>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41" name="Rectangle 40"/>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3" name="Rounded Rectangle 42"/>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3,374</a:t>
            </a:r>
          </a:p>
        </p:txBody>
      </p:sp>
      <p:sp>
        <p:nvSpPr>
          <p:cNvPr id="44" name="Rounded Rectangle 43"/>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6,718</a:t>
            </a:r>
          </a:p>
        </p:txBody>
      </p:sp>
      <p:sp>
        <p:nvSpPr>
          <p:cNvPr id="45" name="Rounded Rectangle 44"/>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7.1%</a:t>
            </a:r>
          </a:p>
        </p:txBody>
      </p:sp>
      <p:sp>
        <p:nvSpPr>
          <p:cNvPr id="46" name="TextBox 4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7" name="Picture 46" descr="lock.png"/>
          <p:cNvPicPr>
            <a:picLocks noChangeAspect="1"/>
          </p:cNvPicPr>
          <p:nvPr/>
        </p:nvPicPr>
        <p:blipFill>
          <a:blip r:embed="rId5"/>
          <a:stretch>
            <a:fillRect/>
          </a:stretch>
        </p:blipFill>
        <p:spPr>
          <a:xfrm>
            <a:off x="2333863" y="3121818"/>
            <a:ext cx="343793" cy="500062"/>
          </a:xfrm>
          <a:prstGeom prst="rect">
            <a:avLst/>
          </a:prstGeom>
        </p:spPr>
      </p:pic>
      <p:sp>
        <p:nvSpPr>
          <p:cNvPr id="48" name="TextBox 47"/>
          <p:cNvSpPr txBox="1"/>
          <p:nvPr/>
        </p:nvSpPr>
        <p:spPr>
          <a:xfrm>
            <a:off x="7239000" y="1400175"/>
            <a:ext cx="3262486" cy="194310"/>
          </a:xfrm>
          <a:prstGeom prst="rect">
            <a:avLst/>
          </a:prstGeom>
          <a:noFill/>
        </p:spPr>
        <p:txBody>
          <a:bodyPr wrap="none" lIns="0" rIns="0" tIns="0" bIns="0">
            <a:spAutoFit/>
          </a:bodyPr>
          <a:lstStyle/>
          <a:p>
            <a:r>
              <a:rPr sz="1150" b="0">
                <a:solidFill>
                  <a:srgbClr val="2E2E2E"/>
                </a:solidFill>
                <a:latin typeface="Calibri"/>
              </a:rPr>
              <a:t>North America matcha market is projected to register</a:t>
            </a:r>
          </a:p>
        </p:txBody>
      </p:sp>
      <p:pic>
        <p:nvPicPr>
          <p:cNvPr id="49" name="Picture 48" descr="lock.png"/>
          <p:cNvPicPr>
            <a:picLocks noChangeAspect="1"/>
          </p:cNvPicPr>
          <p:nvPr/>
        </p:nvPicPr>
        <p:blipFill>
          <a:blip r:embed="rId5"/>
          <a:stretch>
            <a:fillRect/>
          </a:stretch>
        </p:blipFill>
        <p:spPr>
          <a:xfrm>
            <a:off x="10450640" y="1389951"/>
            <a:ext cx="134549" cy="195707"/>
          </a:xfrm>
          <a:prstGeom prst="rect">
            <a:avLst/>
          </a:prstGeom>
        </p:spPr>
      </p:pic>
      <p:sp>
        <p:nvSpPr>
          <p:cNvPr id="50" name="TextBox 49"/>
          <p:cNvSpPr txBox="1"/>
          <p:nvPr/>
        </p:nvSpPr>
        <p:spPr>
          <a:xfrm>
            <a:off x="10625749" y="1400175"/>
            <a:ext cx="1222350" cy="194310"/>
          </a:xfrm>
          <a:prstGeom prst="rect">
            <a:avLst/>
          </a:prstGeom>
          <a:noFill/>
        </p:spPr>
        <p:txBody>
          <a:bodyPr wrap="none" lIns="0" rIns="0" tIns="0" bIns="0">
            <a:spAutoFit/>
          </a:bodyPr>
          <a:lstStyle/>
          <a:p>
            <a:r>
              <a:rPr sz="1150" b="0">
                <a:solidFill>
                  <a:srgbClr val="2E2E2E"/>
                </a:solidFill>
                <a:latin typeface="Calibri"/>
              </a:rPr>
              <a:t>X higher value than</a:t>
            </a:r>
          </a:p>
        </p:txBody>
      </p:sp>
      <p:sp>
        <p:nvSpPr>
          <p:cNvPr id="51" name="TextBox 50"/>
          <p:cNvSpPr txBox="1"/>
          <p:nvPr/>
        </p:nvSpPr>
        <p:spPr>
          <a:xfrm>
            <a:off x="7239000" y="1575435"/>
            <a:ext cx="4637980" cy="194310"/>
          </a:xfrm>
          <a:prstGeom prst="rect">
            <a:avLst/>
          </a:prstGeom>
          <a:noFill/>
        </p:spPr>
        <p:txBody>
          <a:bodyPr wrap="none" lIns="0" rIns="0" tIns="0" bIns="0">
            <a:spAutoFit/>
          </a:bodyPr>
          <a:lstStyle/>
          <a:p>
            <a:r>
              <a:rPr sz="1150" b="0">
                <a:solidFill>
                  <a:srgbClr val="2E2E2E"/>
                </a:solidFill>
                <a:latin typeface="Calibri"/>
              </a:rPr>
              <a:t>Europe in 2036. Among matcha by region, South Asia &amp; Pacific is expected to</a:t>
            </a:r>
          </a:p>
        </p:txBody>
      </p:sp>
      <p:sp>
        <p:nvSpPr>
          <p:cNvPr id="52" name="TextBox 51"/>
          <p:cNvSpPr txBox="1"/>
          <p:nvPr/>
        </p:nvSpPr>
        <p:spPr>
          <a:xfrm>
            <a:off x="7239000" y="175069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53" name="Picture 52" descr="lock.png"/>
          <p:cNvPicPr>
            <a:picLocks noChangeAspect="1"/>
          </p:cNvPicPr>
          <p:nvPr/>
        </p:nvPicPr>
        <p:blipFill>
          <a:blip r:embed="rId5"/>
          <a:stretch>
            <a:fillRect/>
          </a:stretch>
        </p:blipFill>
        <p:spPr>
          <a:xfrm>
            <a:off x="8935924" y="1740471"/>
            <a:ext cx="134549" cy="195707"/>
          </a:xfrm>
          <a:prstGeom prst="rect">
            <a:avLst/>
          </a:prstGeom>
        </p:spPr>
      </p:pic>
      <p:sp>
        <p:nvSpPr>
          <p:cNvPr id="54" name="TextBox 53"/>
          <p:cNvSpPr txBox="1"/>
          <p:nvPr/>
        </p:nvSpPr>
        <p:spPr>
          <a:xfrm>
            <a:off x="9111033"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55" name="TextBox 54"/>
          <p:cNvSpPr txBox="1"/>
          <p:nvPr/>
        </p:nvSpPr>
        <p:spPr>
          <a:xfrm>
            <a:off x="7239000" y="1978533"/>
            <a:ext cx="4648200"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a:t>
            </a:r>
          </a:p>
        </p:txBody>
      </p:sp>
      <p:sp>
        <p:nvSpPr>
          <p:cNvPr id="56" name="TextBox 55"/>
          <p:cNvSpPr txBox="1"/>
          <p:nvPr/>
        </p:nvSpPr>
        <p:spPr>
          <a:xfrm>
            <a:off x="7239000" y="215379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57" name="Picture 56" descr="lock.png"/>
          <p:cNvPicPr>
            <a:picLocks noChangeAspect="1"/>
          </p:cNvPicPr>
          <p:nvPr/>
        </p:nvPicPr>
        <p:blipFill>
          <a:blip r:embed="rId5"/>
          <a:stretch>
            <a:fillRect/>
          </a:stretch>
        </p:blipFill>
        <p:spPr>
          <a:xfrm>
            <a:off x="8106708" y="2143569"/>
            <a:ext cx="134549" cy="195707"/>
          </a:xfrm>
          <a:prstGeom prst="rect">
            <a:avLst/>
          </a:prstGeom>
        </p:spPr>
      </p:pic>
      <p:sp>
        <p:nvSpPr>
          <p:cNvPr id="58" name="TextBox 57"/>
          <p:cNvSpPr txBox="1"/>
          <p:nvPr/>
        </p:nvSpPr>
        <p:spPr>
          <a:xfrm>
            <a:off x="8281817" y="215379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9" name="Picture 58" descr="lock.png"/>
          <p:cNvPicPr>
            <a:picLocks noChangeAspect="1"/>
          </p:cNvPicPr>
          <p:nvPr/>
        </p:nvPicPr>
        <p:blipFill>
          <a:blip r:embed="rId5"/>
          <a:stretch>
            <a:fillRect/>
          </a:stretch>
        </p:blipFill>
        <p:spPr>
          <a:xfrm>
            <a:off x="9676961" y="2143569"/>
            <a:ext cx="134549" cy="195707"/>
          </a:xfrm>
          <a:prstGeom prst="rect">
            <a:avLst/>
          </a:prstGeom>
        </p:spPr>
      </p:pic>
      <p:sp>
        <p:nvSpPr>
          <p:cNvPr id="60" name="TextBox 59"/>
          <p:cNvSpPr txBox="1"/>
          <p:nvPr/>
        </p:nvSpPr>
        <p:spPr>
          <a:xfrm>
            <a:off x="9852070"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lockshield_12"/>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Share Analysis, By Region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region, 2021–2036, highlighting the geographies gaining and ceding ground</a:t>
            </a:r>
          </a:p>
        </p:txBody>
      </p:sp>
      <p:sp>
        <p:nvSpPr>
          <p:cNvPr id="10" name="Rounded Rectangle 9"/>
          <p:cNvSpPr/>
          <p:nvPr/>
        </p:nvSpPr>
        <p:spPr>
          <a:xfrm>
            <a:off x="142875" y="981075"/>
            <a:ext cx="11906250" cy="2628900"/>
          </a:xfrm>
          <a:prstGeom prst="roundRect">
            <a:avLst>
              <a:gd name="adj" fmla="val 289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(MT)</a:t>
            </a:r>
          </a:p>
        </p:txBody>
      </p:sp>
      <p:graphicFrame>
        <p:nvGraphicFramePr>
          <p:cNvPr id="12" name="Table 11"/>
          <p:cNvGraphicFramePr>
            <a:graphicFrameLocks noGrp="1"/>
          </p:cNvGraphicFramePr>
          <p:nvPr/>
        </p:nvGraphicFramePr>
        <p:xfrm>
          <a:off x="152400" y="1238250"/>
          <a:ext cx="11887860" cy="2162172"/>
        </p:xfrm>
        <a:graphic>
          <a:graphicData uri="http://schemas.openxmlformats.org/drawingml/2006/table">
            <a:tbl>
              <a:tblPr>
                <a:tableStyleId>{5C22544A-7EE6-4342-B048-85BDC9FD1C3A}</a:tableStyleId>
              </a:tblPr>
              <a:tblGrid>
                <a:gridCol w="1348921"/>
                <a:gridCol w="582199"/>
                <a:gridCol w="582199"/>
                <a:gridCol w="582199"/>
                <a:gridCol w="582199"/>
                <a:gridCol w="582199"/>
                <a:gridCol w="582199"/>
                <a:gridCol w="582199"/>
                <a:gridCol w="582199"/>
                <a:gridCol w="582199"/>
                <a:gridCol w="692409"/>
                <a:gridCol w="692409"/>
                <a:gridCol w="692409"/>
                <a:gridCol w="692409"/>
                <a:gridCol w="692409"/>
                <a:gridCol w="692409"/>
                <a:gridCol w="692409"/>
                <a:gridCol w="452285"/>
              </a:tblGrid>
              <a:tr h="438912">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24618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80">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8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80">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80">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80">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8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099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743325"/>
            <a:ext cx="11906250" cy="2886075"/>
          </a:xfrm>
          <a:prstGeom prst="roundRect">
            <a:avLst>
              <a:gd name="adj" fmla="val 2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8290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Volume Share Read-out, By Region</a:t>
            </a:r>
          </a:p>
        </p:txBody>
      </p:sp>
      <p:sp>
        <p:nvSpPr>
          <p:cNvPr id="16" name="Rectangle 15"/>
          <p:cNvSpPr/>
          <p:nvPr/>
        </p:nvSpPr>
        <p:spPr>
          <a:xfrm>
            <a:off x="276225" y="40671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152900"/>
            <a:ext cx="11639550" cy="2400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76076" y="2272092"/>
            <a:ext cx="366712" cy="533399"/>
          </a:xfrm>
          <a:prstGeom prst="rect">
            <a:avLst/>
          </a:prstGeom>
        </p:spPr>
      </p:pic>
      <p:sp>
        <p:nvSpPr>
          <p:cNvPr id="20" name="TextBox 19"/>
          <p:cNvSpPr txBox="1"/>
          <p:nvPr/>
        </p:nvSpPr>
        <p:spPr>
          <a:xfrm>
            <a:off x="276225" y="4162425"/>
            <a:ext cx="3562287" cy="194310"/>
          </a:xfrm>
          <a:prstGeom prst="rect">
            <a:avLst/>
          </a:prstGeom>
          <a:noFill/>
        </p:spPr>
        <p:txBody>
          <a:bodyPr wrap="none" lIns="0" rIns="0" tIns="0" bIns="0">
            <a:spAutoFit/>
          </a:bodyPr>
          <a:lstStyle/>
          <a:p>
            <a:r>
              <a:rPr sz="1150" b="0">
                <a:solidFill>
                  <a:srgbClr val="2E2E2E"/>
                </a:solidFill>
                <a:latin typeface="Calibri"/>
              </a:rPr>
              <a:t>South Asia &amp; Pacific matcha market is projected to register</a:t>
            </a:r>
          </a:p>
        </p:txBody>
      </p:sp>
      <p:pic>
        <p:nvPicPr>
          <p:cNvPr id="21" name="Picture 20" descr="lock.png"/>
          <p:cNvPicPr>
            <a:picLocks noChangeAspect="1"/>
          </p:cNvPicPr>
          <p:nvPr/>
        </p:nvPicPr>
        <p:blipFill>
          <a:blip r:embed="rId4"/>
          <a:stretch>
            <a:fillRect/>
          </a:stretch>
        </p:blipFill>
        <p:spPr>
          <a:xfrm>
            <a:off x="3787666" y="4152201"/>
            <a:ext cx="134549" cy="195707"/>
          </a:xfrm>
          <a:prstGeom prst="rect">
            <a:avLst/>
          </a:prstGeom>
        </p:spPr>
      </p:pic>
      <p:sp>
        <p:nvSpPr>
          <p:cNvPr id="22" name="TextBox 21"/>
          <p:cNvSpPr txBox="1"/>
          <p:nvPr/>
        </p:nvSpPr>
        <p:spPr>
          <a:xfrm>
            <a:off x="3962776" y="4162425"/>
            <a:ext cx="7645679" cy="194310"/>
          </a:xfrm>
          <a:prstGeom prst="rect">
            <a:avLst/>
          </a:prstGeom>
          <a:noFill/>
        </p:spPr>
        <p:txBody>
          <a:bodyPr wrap="none" lIns="0" rIns="0" tIns="0" bIns="0">
            <a:spAutoFit/>
          </a:bodyPr>
          <a:lstStyle/>
          <a:p>
            <a:r>
              <a:rPr sz="1150" b="0">
                <a:solidFill>
                  <a:srgbClr val="2E2E2E"/>
                </a:solidFill>
                <a:latin typeface="Calibri"/>
              </a:rPr>
              <a:t>X higher volume than Europe in 2036. Among matcha by region, South Asia &amp; Pacific is expected to witness the highest CAGR of</a:t>
            </a:r>
          </a:p>
        </p:txBody>
      </p:sp>
      <p:pic>
        <p:nvPicPr>
          <p:cNvPr id="23" name="Picture 22" descr="lock.png"/>
          <p:cNvPicPr>
            <a:picLocks noChangeAspect="1"/>
          </p:cNvPicPr>
          <p:nvPr/>
        </p:nvPicPr>
        <p:blipFill>
          <a:blip r:embed="rId4"/>
          <a:stretch>
            <a:fillRect/>
          </a:stretch>
        </p:blipFill>
        <p:spPr>
          <a:xfrm>
            <a:off x="262145" y="4327461"/>
            <a:ext cx="134549" cy="195707"/>
          </a:xfrm>
          <a:prstGeom prst="rect">
            <a:avLst/>
          </a:prstGeom>
        </p:spPr>
      </p:pic>
      <p:sp>
        <p:nvSpPr>
          <p:cNvPr id="24" name="TextBox 23"/>
          <p:cNvSpPr txBox="1"/>
          <p:nvPr/>
        </p:nvSpPr>
        <p:spPr>
          <a:xfrm>
            <a:off x="437254" y="433768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5" name="TextBox 24"/>
          <p:cNvSpPr txBox="1"/>
          <p:nvPr/>
        </p:nvSpPr>
        <p:spPr>
          <a:xfrm>
            <a:off x="276225" y="4565522"/>
            <a:ext cx="6046564" cy="194310"/>
          </a:xfrm>
          <a:prstGeom prst="rect">
            <a:avLst/>
          </a:prstGeom>
          <a:noFill/>
        </p:spPr>
        <p:txBody>
          <a:bodyPr wrap="none" lIns="0" rIns="0" tIns="0" bIns="0">
            <a:spAutoFit/>
          </a:bodyPr>
          <a:lstStyle/>
          <a:p>
            <a:r>
              <a:rPr sz="1150" b="0">
                <a:solidFill>
                  <a:srgbClr val="2E2E2E"/>
                </a:solidFill>
                <a:latin typeface="Calibri"/>
              </a:rPr>
              <a:t>In terms of volume share by region, South Asia &amp; Pacific is expected to dominate the market, gaining</a:t>
            </a:r>
          </a:p>
        </p:txBody>
      </p:sp>
      <p:pic>
        <p:nvPicPr>
          <p:cNvPr id="26" name="Picture 25" descr="lock.png"/>
          <p:cNvPicPr>
            <a:picLocks noChangeAspect="1"/>
          </p:cNvPicPr>
          <p:nvPr/>
        </p:nvPicPr>
        <p:blipFill>
          <a:blip r:embed="rId4"/>
          <a:stretch>
            <a:fillRect/>
          </a:stretch>
        </p:blipFill>
        <p:spPr>
          <a:xfrm>
            <a:off x="6271943" y="4555299"/>
            <a:ext cx="134549" cy="195707"/>
          </a:xfrm>
          <a:prstGeom prst="rect">
            <a:avLst/>
          </a:prstGeom>
        </p:spPr>
      </p:pic>
      <p:sp>
        <p:nvSpPr>
          <p:cNvPr id="27" name="TextBox 26"/>
          <p:cNvSpPr txBox="1"/>
          <p:nvPr/>
        </p:nvSpPr>
        <p:spPr>
          <a:xfrm>
            <a:off x="6447052" y="45655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8" name="Picture 27" descr="lock.png"/>
          <p:cNvPicPr>
            <a:picLocks noChangeAspect="1"/>
          </p:cNvPicPr>
          <p:nvPr/>
        </p:nvPicPr>
        <p:blipFill>
          <a:blip r:embed="rId4"/>
          <a:stretch>
            <a:fillRect/>
          </a:stretch>
        </p:blipFill>
        <p:spPr>
          <a:xfrm>
            <a:off x="7842195" y="4555299"/>
            <a:ext cx="134549" cy="195707"/>
          </a:xfrm>
          <a:prstGeom prst="rect">
            <a:avLst/>
          </a:prstGeom>
        </p:spPr>
      </p:pic>
      <p:sp>
        <p:nvSpPr>
          <p:cNvPr id="29" name="TextBox 28"/>
          <p:cNvSpPr txBox="1"/>
          <p:nvPr/>
        </p:nvSpPr>
        <p:spPr>
          <a:xfrm>
            <a:off x="8017304" y="4565522"/>
            <a:ext cx="2986645" cy="194310"/>
          </a:xfrm>
          <a:prstGeom prst="rect">
            <a:avLst/>
          </a:prstGeom>
          <a:noFill/>
        </p:spPr>
        <p:txBody>
          <a:bodyPr wrap="none" lIns="0" rIns="0" tIns="0" bIns="0">
            <a:spAutoFit/>
          </a:bodyPr>
          <a:lstStyle/>
          <a:p>
            <a:r>
              <a:rPr sz="1150" b="0">
                <a:solidFill>
                  <a:srgbClr val="2E2E2E"/>
                </a:solidFill>
                <a:latin typeface="Calibri"/>
              </a:rPr>
              <a:t>share by 2036. North America is expected to lose</a:t>
            </a:r>
          </a:p>
        </p:txBody>
      </p:sp>
      <p:pic>
        <p:nvPicPr>
          <p:cNvPr id="30" name="Picture 29" descr="lock.png"/>
          <p:cNvPicPr>
            <a:picLocks noChangeAspect="1"/>
          </p:cNvPicPr>
          <p:nvPr/>
        </p:nvPicPr>
        <p:blipFill>
          <a:blip r:embed="rId4"/>
          <a:stretch>
            <a:fillRect/>
          </a:stretch>
        </p:blipFill>
        <p:spPr>
          <a:xfrm>
            <a:off x="10953104" y="4555299"/>
            <a:ext cx="134549" cy="195707"/>
          </a:xfrm>
          <a:prstGeom prst="rect">
            <a:avLst/>
          </a:prstGeom>
        </p:spPr>
      </p:pic>
      <p:sp>
        <p:nvSpPr>
          <p:cNvPr id="31" name="TextBox 30"/>
          <p:cNvSpPr txBox="1"/>
          <p:nvPr/>
        </p:nvSpPr>
        <p:spPr>
          <a:xfrm>
            <a:off x="11128213" y="4565522"/>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2" name="TextBox 31"/>
          <p:cNvSpPr txBox="1"/>
          <p:nvPr/>
        </p:nvSpPr>
        <p:spPr>
          <a:xfrm>
            <a:off x="276225" y="4740782"/>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33" name="Picture 32" descr="lock.png"/>
          <p:cNvPicPr>
            <a:picLocks noChangeAspect="1"/>
          </p:cNvPicPr>
          <p:nvPr/>
        </p:nvPicPr>
        <p:blipFill>
          <a:blip r:embed="rId4"/>
          <a:stretch>
            <a:fillRect/>
          </a:stretch>
        </p:blipFill>
        <p:spPr>
          <a:xfrm>
            <a:off x="2608427" y="4730559"/>
            <a:ext cx="134549" cy="195707"/>
          </a:xfrm>
          <a:prstGeom prst="rect">
            <a:avLst/>
          </a:prstGeom>
        </p:spPr>
      </p:pic>
      <p:sp>
        <p:nvSpPr>
          <p:cNvPr id="34" name="TextBox 33"/>
          <p:cNvSpPr txBox="1"/>
          <p:nvPr/>
        </p:nvSpPr>
        <p:spPr>
          <a:xfrm>
            <a:off x="2783536" y="47407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Share Analysis, By Region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region, 2021–2036, highlighting the geographies gaining and ceding ground</a:t>
            </a:r>
          </a:p>
        </p:txBody>
      </p:sp>
      <p:sp>
        <p:nvSpPr>
          <p:cNvPr id="10" name="Rounded Rectangle 9"/>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Size, By Region (US$ Mn)</a:t>
            </a:r>
          </a:p>
        </p:txBody>
      </p:sp>
      <p:graphicFrame>
        <p:nvGraphicFramePr>
          <p:cNvPr id="12" name="Table 11"/>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1475375"/>
                <a:gridCol w="612460"/>
                <a:gridCol w="612460"/>
                <a:gridCol w="612460"/>
                <a:gridCol w="612460"/>
                <a:gridCol w="612460"/>
                <a:gridCol w="612460"/>
                <a:gridCol w="612460"/>
                <a:gridCol w="612460"/>
                <a:gridCol w="612460"/>
                <a:gridCol w="612460"/>
                <a:gridCol w="612460"/>
                <a:gridCol w="612460"/>
                <a:gridCol w="612460"/>
                <a:gridCol w="612460"/>
                <a:gridCol w="612460"/>
                <a:gridCol w="612460"/>
                <a:gridCol w="61246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Share Read-out, By Region</a:t>
            </a:r>
          </a:p>
        </p:txBody>
      </p:sp>
      <p:sp>
        <p:nvSpPr>
          <p:cNvPr id="16" name="Rectangle 15"/>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646995" y="2080450"/>
            <a:ext cx="366712" cy="533400"/>
          </a:xfrm>
          <a:prstGeom prst="rect">
            <a:avLst/>
          </a:prstGeom>
        </p:spPr>
      </p:pic>
      <p:sp>
        <p:nvSpPr>
          <p:cNvPr id="20" name="TextBox 19"/>
          <p:cNvSpPr txBox="1"/>
          <p:nvPr/>
        </p:nvSpPr>
        <p:spPr>
          <a:xfrm>
            <a:off x="276225" y="3971925"/>
            <a:ext cx="3262486" cy="194310"/>
          </a:xfrm>
          <a:prstGeom prst="rect">
            <a:avLst/>
          </a:prstGeom>
          <a:noFill/>
        </p:spPr>
        <p:txBody>
          <a:bodyPr wrap="none" lIns="0" rIns="0" tIns="0" bIns="0">
            <a:spAutoFit/>
          </a:bodyPr>
          <a:lstStyle/>
          <a:p>
            <a:r>
              <a:rPr sz="1150" b="0">
                <a:solidFill>
                  <a:srgbClr val="2E2E2E"/>
                </a:solidFill>
                <a:latin typeface="Calibri"/>
              </a:rPr>
              <a:t>North America matcha market is projected to register</a:t>
            </a:r>
          </a:p>
        </p:txBody>
      </p:sp>
      <p:pic>
        <p:nvPicPr>
          <p:cNvPr id="21" name="Picture 20" descr="lock.png"/>
          <p:cNvPicPr>
            <a:picLocks noChangeAspect="1"/>
          </p:cNvPicPr>
          <p:nvPr/>
        </p:nvPicPr>
        <p:blipFill>
          <a:blip r:embed="rId4"/>
          <a:stretch>
            <a:fillRect/>
          </a:stretch>
        </p:blipFill>
        <p:spPr>
          <a:xfrm>
            <a:off x="3487865" y="3961701"/>
            <a:ext cx="134549" cy="195707"/>
          </a:xfrm>
          <a:prstGeom prst="rect">
            <a:avLst/>
          </a:prstGeom>
        </p:spPr>
      </p:pic>
      <p:sp>
        <p:nvSpPr>
          <p:cNvPr id="22" name="TextBox 21"/>
          <p:cNvSpPr txBox="1"/>
          <p:nvPr/>
        </p:nvSpPr>
        <p:spPr>
          <a:xfrm>
            <a:off x="3662974" y="3971925"/>
            <a:ext cx="7521879" cy="194310"/>
          </a:xfrm>
          <a:prstGeom prst="rect">
            <a:avLst/>
          </a:prstGeom>
          <a:noFill/>
        </p:spPr>
        <p:txBody>
          <a:bodyPr wrap="none" lIns="0" rIns="0" tIns="0" bIns="0">
            <a:spAutoFit/>
          </a:bodyPr>
          <a:lstStyle/>
          <a:p>
            <a:r>
              <a:rPr sz="1150" b="0">
                <a:solidFill>
                  <a:srgbClr val="2E2E2E"/>
                </a:solidFill>
                <a:latin typeface="Calibri"/>
              </a:rPr>
              <a:t>X higher value than Europe in 2036. Among matcha by region, South Asia &amp; Pacific is expected to witness the highest CAGR of</a:t>
            </a:r>
          </a:p>
        </p:txBody>
      </p:sp>
      <p:pic>
        <p:nvPicPr>
          <p:cNvPr id="23" name="Picture 22" descr="lock.png"/>
          <p:cNvPicPr>
            <a:picLocks noChangeAspect="1"/>
          </p:cNvPicPr>
          <p:nvPr/>
        </p:nvPicPr>
        <p:blipFill>
          <a:blip r:embed="rId4"/>
          <a:stretch>
            <a:fillRect/>
          </a:stretch>
        </p:blipFill>
        <p:spPr>
          <a:xfrm>
            <a:off x="11134007" y="3961701"/>
            <a:ext cx="134549" cy="195707"/>
          </a:xfrm>
          <a:prstGeom prst="rect">
            <a:avLst/>
          </a:prstGeom>
        </p:spPr>
      </p:pic>
      <p:sp>
        <p:nvSpPr>
          <p:cNvPr id="24" name="TextBox 23"/>
          <p:cNvSpPr txBox="1"/>
          <p:nvPr/>
        </p:nvSpPr>
        <p:spPr>
          <a:xfrm>
            <a:off x="11309117" y="397192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25" name="TextBox 24"/>
          <p:cNvSpPr txBox="1"/>
          <p:nvPr/>
        </p:nvSpPr>
        <p:spPr>
          <a:xfrm>
            <a:off x="276225" y="414718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26" name="TextBox 25"/>
          <p:cNvSpPr txBox="1"/>
          <p:nvPr/>
        </p:nvSpPr>
        <p:spPr>
          <a:xfrm>
            <a:off x="276225" y="4375022"/>
            <a:ext cx="5541664" cy="194310"/>
          </a:xfrm>
          <a:prstGeom prst="rect">
            <a:avLst/>
          </a:prstGeom>
          <a:noFill/>
        </p:spPr>
        <p:txBody>
          <a:bodyPr wrap="none" lIns="0" rIns="0" tIns="0" bIns="0">
            <a:spAutoFit/>
          </a:bodyPr>
          <a:lstStyle/>
          <a:p>
            <a:r>
              <a:rPr sz="1150" b="0">
                <a:solidFill>
                  <a:srgbClr val="2E2E2E"/>
                </a:solidFill>
                <a:latin typeface="Calibri"/>
              </a:rPr>
              <a:t>In terms of value share by region, North America is expected to dominate the market, losing</a:t>
            </a:r>
          </a:p>
        </p:txBody>
      </p:sp>
      <p:pic>
        <p:nvPicPr>
          <p:cNvPr id="27" name="Picture 26" descr="lock.png"/>
          <p:cNvPicPr>
            <a:picLocks noChangeAspect="1"/>
          </p:cNvPicPr>
          <p:nvPr/>
        </p:nvPicPr>
        <p:blipFill>
          <a:blip r:embed="rId4"/>
          <a:stretch>
            <a:fillRect/>
          </a:stretch>
        </p:blipFill>
        <p:spPr>
          <a:xfrm>
            <a:off x="5767043" y="4364799"/>
            <a:ext cx="134549" cy="195707"/>
          </a:xfrm>
          <a:prstGeom prst="rect">
            <a:avLst/>
          </a:prstGeom>
        </p:spPr>
      </p:pic>
      <p:sp>
        <p:nvSpPr>
          <p:cNvPr id="28" name="TextBox 27"/>
          <p:cNvSpPr txBox="1"/>
          <p:nvPr/>
        </p:nvSpPr>
        <p:spPr>
          <a:xfrm>
            <a:off x="5942153"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7337296" y="4364799"/>
            <a:ext cx="134549" cy="195707"/>
          </a:xfrm>
          <a:prstGeom prst="rect">
            <a:avLst/>
          </a:prstGeom>
        </p:spPr>
      </p:pic>
      <p:sp>
        <p:nvSpPr>
          <p:cNvPr id="30" name="TextBox 29"/>
          <p:cNvSpPr txBox="1"/>
          <p:nvPr/>
        </p:nvSpPr>
        <p:spPr>
          <a:xfrm>
            <a:off x="7512405" y="437502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Trends,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regional volume and value shares shift over 2021–2036, highlighting who gains ground</a:t>
            </a:r>
          </a:p>
        </p:txBody>
      </p:sp>
      <p:sp>
        <p:nvSpPr>
          <p:cNvPr id="10" name="Rounded Rectangle 9"/>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Volume By Region (MT)</a:t>
            </a:r>
          </a:p>
        </p:txBody>
      </p:sp>
      <p:graphicFrame>
        <p:nvGraphicFramePr>
          <p:cNvPr id="12" name="Chart 11"/>
          <p:cNvGraphicFramePr>
            <a:graphicFrameLocks noGrp="1"/>
          </p:cNvGraphicFramePr>
          <p:nvPr/>
        </p:nvGraphicFramePr>
        <p:xfrm>
          <a:off x="238125" y="1266825"/>
          <a:ext cx="9448800"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9763125" y="1304925"/>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MI Dense Legend"/>
          <p:cNvSpPr txBox="1"/>
          <p:nvPr/>
        </p:nvSpPr>
        <p:spPr>
          <a:xfrm>
            <a:off x="9839325" y="1362075"/>
            <a:ext cx="2057400" cy="171450"/>
          </a:xfrm>
          <a:prstGeom prst="rect">
            <a:avLst/>
          </a:prstGeom>
          <a:noFill/>
        </p:spPr>
        <p:txBody>
          <a:bodyPr wrap="none">
            <a:spAutoFit/>
          </a:bodyPr>
          <a:lstStyle/>
          <a:p>
            <a:pPr/>
            <a:r>
              <a:rPr sz="850" b="1">
                <a:solidFill>
                  <a:srgbClr val="6C7A89"/>
                </a:solidFill>
                <a:latin typeface="Calibri"/>
              </a:rPr>
              <a:t/>
            </a:r>
          </a:p>
        </p:txBody>
      </p:sp>
      <p:sp>
        <p:nvSpPr>
          <p:cNvPr id="15" name="FMI Dense Legend"/>
          <p:cNvSpPr txBox="1"/>
          <p:nvPr/>
        </p:nvSpPr>
        <p:spPr>
          <a:xfrm>
            <a:off x="9839325" y="1533525"/>
            <a:ext cx="2057400" cy="2047875"/>
          </a:xfrm>
          <a:prstGeom prst="rect">
            <a:avLst/>
          </a:prstGeom>
          <a:noFill/>
        </p:spPr>
        <p:txBody>
          <a:bodyPr wrap="square">
            <a:spAutoFit/>
          </a:bodyPr>
          <a:lstStyle/>
          <a:p>
            <a:pPr>
              <a:spcBef>
                <a:spcPts val="500"/>
              </a:spcBef>
            </a:pPr>
            <a:r>
              <a:rPr sz="900">
                <a:solidFill>
                  <a:srgbClr val="008189"/>
                </a:solidFill>
                <a:latin typeface="Calibri"/>
              </a:rPr>
              <a:t>■  </a:t>
            </a:r>
            <a:r>
              <a:rPr sz="750">
                <a:solidFill>
                  <a:srgbClr val="2E2E2E"/>
                </a:solidFill>
                <a:latin typeface="Calibri"/>
              </a:rPr>
              <a:t>   South Asia &amp; Pacific</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40315E"/>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16" name="Rounded Rectangle 15"/>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Region (US$ Mn)</a:t>
            </a:r>
          </a:p>
        </p:txBody>
      </p:sp>
      <p:graphicFrame>
        <p:nvGraphicFramePr>
          <p:cNvPr id="18" name="Chart 17"/>
          <p:cNvGraphicFramePr>
            <a:graphicFrameLocks noGrp="1"/>
          </p:cNvGraphicFramePr>
          <p:nvPr/>
        </p:nvGraphicFramePr>
        <p:xfrm>
          <a:off x="238125" y="4152900"/>
          <a:ext cx="9448800" cy="2409825"/>
        </p:xfrm>
        <a:graphic>
          <a:graphicData uri="http://schemas.openxmlformats.org/drawingml/2006/chart">
            <c:chart xmlns:c="http://schemas.openxmlformats.org/drawingml/2006/chart" r:id="rId4"/>
          </a:graphicData>
        </a:graphic>
      </p:graphicFrame>
      <p:sp>
        <p:nvSpPr>
          <p:cNvPr id="19" name="Rounded Rectangle 18"/>
          <p:cNvSpPr/>
          <p:nvPr/>
        </p:nvSpPr>
        <p:spPr>
          <a:xfrm>
            <a:off x="9763125" y="4191000"/>
            <a:ext cx="2190750" cy="2333625"/>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MI Dense Legend"/>
          <p:cNvSpPr txBox="1"/>
          <p:nvPr/>
        </p:nvSpPr>
        <p:spPr>
          <a:xfrm>
            <a:off x="9839325" y="4248150"/>
            <a:ext cx="2057400" cy="171450"/>
          </a:xfrm>
          <a:prstGeom prst="rect">
            <a:avLst/>
          </a:prstGeom>
          <a:noFill/>
        </p:spPr>
        <p:txBody>
          <a:bodyPr wrap="none">
            <a:spAutoFit/>
          </a:bodyPr>
          <a:lstStyle/>
          <a:p>
            <a:pPr/>
            <a:r>
              <a:rPr sz="850" b="1">
                <a:solidFill>
                  <a:srgbClr val="6C7A89"/>
                </a:solidFill>
                <a:latin typeface="Calibri"/>
              </a:rPr>
              <a:t/>
            </a:r>
          </a:p>
        </p:txBody>
      </p:sp>
      <p:sp>
        <p:nvSpPr>
          <p:cNvPr id="21" name="FMI Dense Legend"/>
          <p:cNvSpPr txBox="1"/>
          <p:nvPr/>
        </p:nvSpPr>
        <p:spPr>
          <a:xfrm>
            <a:off x="9839325" y="4419600"/>
            <a:ext cx="2057400" cy="2047875"/>
          </a:xfrm>
          <a:prstGeom prst="rect">
            <a:avLst/>
          </a:prstGeom>
          <a:noFill/>
        </p:spPr>
        <p:txBody>
          <a:bodyPr wrap="square">
            <a:spAutoFit/>
          </a:bodyPr>
          <a:lstStyle/>
          <a:p>
            <a:pPr>
              <a:spcBef>
                <a:spcPts val="500"/>
              </a:spcBef>
            </a:pPr>
            <a:r>
              <a:rPr sz="900">
                <a:solidFill>
                  <a:srgbClr val="3D85C6"/>
                </a:solidFill>
                <a:latin typeface="Calibri"/>
              </a:rPr>
              <a:t>■  </a:t>
            </a:r>
            <a:r>
              <a:rPr sz="750">
                <a:solidFill>
                  <a:srgbClr val="2E2E2E"/>
                </a:solidFill>
                <a:latin typeface="Calibri"/>
              </a:rPr>
              <a:t>   North America</a:t>
            </a:r>
          </a:p>
          <a:p>
            <a:pPr>
              <a:spcBef>
                <a:spcPts val="500"/>
              </a:spcBef>
            </a:pPr>
            <a:r>
              <a:rPr sz="900">
                <a:solidFill>
                  <a:srgbClr val="9E7E0A"/>
                </a:solidFill>
                <a:latin typeface="Calibri"/>
              </a:rPr>
              <a:t>■  </a:t>
            </a:r>
            <a:r>
              <a:rPr sz="750">
                <a:solidFill>
                  <a:srgbClr val="2E2E2E"/>
                </a:solidFill>
                <a:latin typeface="Calibri"/>
              </a:rPr>
              <a:t>   Europe</a:t>
            </a:r>
          </a:p>
          <a:p>
            <a:pPr>
              <a:spcBef>
                <a:spcPts val="500"/>
              </a:spcBef>
            </a:pPr>
            <a:r>
              <a:rPr sz="900">
                <a:solidFill>
                  <a:srgbClr val="40315E"/>
                </a:solidFill>
                <a:latin typeface="Calibri"/>
              </a:rPr>
              <a:t>■  </a:t>
            </a:r>
            <a:r>
              <a:rPr sz="750">
                <a:solidFill>
                  <a:srgbClr val="2E2E2E"/>
                </a:solidFill>
                <a:latin typeface="Calibri"/>
              </a:rPr>
              <a:t>   South Asia &amp; Pacific</a:t>
            </a:r>
          </a:p>
          <a:p>
            <a:pPr>
              <a:spcBef>
                <a:spcPts val="500"/>
              </a:spcBef>
            </a:pPr>
            <a:r>
              <a:rPr sz="900">
                <a:solidFill>
                  <a:srgbClr val="008189"/>
                </a:solidFill>
                <a:latin typeface="Calibri"/>
              </a:rPr>
              <a:t>■  </a:t>
            </a:r>
            <a:r>
              <a:rPr sz="750">
                <a:solidFill>
                  <a:srgbClr val="2E2E2E"/>
                </a:solidFill>
                <a:latin typeface="Calibri"/>
              </a:rPr>
              <a:t>   East Asia</a:t>
            </a:r>
          </a:p>
          <a:p>
            <a:pPr>
              <a:spcBef>
                <a:spcPts val="500"/>
              </a:spcBef>
            </a:pPr>
            <a:r>
              <a:rPr sz="900">
                <a:solidFill>
                  <a:srgbClr val="A35313"/>
                </a:solidFill>
                <a:latin typeface="Calibri"/>
              </a:rPr>
              <a:t>■  </a:t>
            </a:r>
            <a:r>
              <a:rPr sz="750">
                <a:solidFill>
                  <a:srgbClr val="2E2E2E"/>
                </a:solidFill>
                <a:latin typeface="Calibri"/>
              </a:rPr>
              <a:t>   Latin America</a:t>
            </a:r>
          </a:p>
          <a:p>
            <a:pPr>
              <a:spcBef>
                <a:spcPts val="500"/>
              </a:spcBef>
            </a:pPr>
            <a:r>
              <a:rPr sz="900">
                <a:solidFill>
                  <a:srgbClr val="808080"/>
                </a:solidFill>
                <a:latin typeface="Calibri"/>
              </a:rPr>
              <a:t>■  </a:t>
            </a:r>
            <a:r>
              <a:rPr sz="750">
                <a:solidFill>
                  <a:srgbClr val="2E2E2E"/>
                </a:solidFill>
                <a:latin typeface="Calibri"/>
              </a:rPr>
              <a:t>   Middle East &amp; Africa</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3" name="TextBox 22"/>
          <p:cNvSpPr txBox="1"/>
          <p:nvPr/>
        </p:nvSpPr>
        <p:spPr>
          <a:xfrm>
            <a:off x="9930765" y="1407795"/>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4" name="TextBox 23"/>
          <p:cNvSpPr txBox="1"/>
          <p:nvPr/>
        </p:nvSpPr>
        <p:spPr>
          <a:xfrm>
            <a:off x="9930765" y="4293870"/>
            <a:ext cx="452511" cy="112318"/>
          </a:xfrm>
          <a:prstGeom prst="rect">
            <a:avLst/>
          </a:prstGeom>
          <a:noFill/>
        </p:spPr>
        <p:txBody>
          <a:bodyPr wrap="none" lIns="0" rIns="0" tIns="0" bIns="0">
            <a:spAutoFit/>
          </a:bodyPr>
          <a:lstStyle/>
          <a:p>
            <a:r>
              <a:rPr sz="611" b="1">
                <a:solidFill>
                  <a:srgbClr val="6C7A89"/>
                </a:solidFill>
                <a:latin typeface="Calibri"/>
              </a:rPr>
              <a:t>By segment</a:t>
            </a:r>
          </a:p>
        </p:txBody>
      </p:sp>
      <p:sp>
        <p:nvSpPr>
          <p:cNvPr id="25" name="lockshield_12"/>
          <p:cNvSpPr/>
          <p:nvPr/>
        </p:nvSpPr>
        <p:spPr>
          <a:xfrm>
            <a:off x="238125" y="1266825"/>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lockshield_18"/>
          <p:cNvSpPr/>
          <p:nvPr/>
        </p:nvSpPr>
        <p:spPr>
          <a:xfrm>
            <a:off x="238125" y="4152900"/>
            <a:ext cx="944880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Top 10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global market in 2036, highlighting the leading countries within each region by value</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by country  ·  2036 (US$ Mn)  ·  tile size = market value</a:t>
            </a:r>
          </a:p>
        </p:txBody>
      </p:sp>
      <p:sp>
        <p:nvSpPr>
          <p:cNvPr id="12" name="Rectangle 11"/>
          <p:cNvSpPr/>
          <p:nvPr/>
        </p:nvSpPr>
        <p:spPr>
          <a:xfrm>
            <a:off x="238125" y="1266825"/>
            <a:ext cx="3210971"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3" name="Rectangle 12"/>
          <p:cNvSpPr/>
          <p:nvPr/>
        </p:nvSpPr>
        <p:spPr>
          <a:xfrm>
            <a:off x="3449096" y="1266825"/>
            <a:ext cx="3403312" cy="2887120"/>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Germany</a:t>
            </a:r>
          </a:p>
          <a:p>
            <a:pPr algn="ctr"/>
            <a:r>
              <a:rPr sz="1100" b="0">
                <a:solidFill>
                  <a:srgbClr val="FFFFFF"/>
                </a:solidFill>
                <a:latin typeface="Calibri"/>
              </a:rPr>
              <a:t> </a:t>
            </a:r>
          </a:p>
        </p:txBody>
      </p:sp>
      <p:sp>
        <p:nvSpPr>
          <p:cNvPr id="14" name="Rectangle 13"/>
          <p:cNvSpPr/>
          <p:nvPr/>
        </p:nvSpPr>
        <p:spPr>
          <a:xfrm>
            <a:off x="3449096" y="4153945"/>
            <a:ext cx="3403312" cy="2418305"/>
          </a:xfrm>
          <a:prstGeom prst="rect">
            <a:avLst/>
          </a:prstGeom>
          <a:solidFill>
            <a:srgbClr val="0081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5" name="Rectangle 14"/>
          <p:cNvSpPr/>
          <p:nvPr/>
        </p:nvSpPr>
        <p:spPr>
          <a:xfrm>
            <a:off x="6852408" y="1266825"/>
            <a:ext cx="2895418" cy="2186056"/>
          </a:xfrm>
          <a:prstGeom prst="rect">
            <a:avLst/>
          </a:prstGeom>
          <a:solidFill>
            <a:srgbClr val="40315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China</a:t>
            </a:r>
          </a:p>
          <a:p>
            <a:pPr algn="ctr"/>
            <a:r>
              <a:rPr sz="1100" b="0">
                <a:solidFill>
                  <a:srgbClr val="FFFFFF"/>
                </a:solidFill>
                <a:latin typeface="Calibri"/>
              </a:rPr>
              <a:t> </a:t>
            </a:r>
          </a:p>
        </p:txBody>
      </p:sp>
      <p:sp>
        <p:nvSpPr>
          <p:cNvPr id="16" name="Rectangle 15"/>
          <p:cNvSpPr/>
          <p:nvPr/>
        </p:nvSpPr>
        <p:spPr>
          <a:xfrm>
            <a:off x="9747826" y="1266825"/>
            <a:ext cx="2206049" cy="2186056"/>
          </a:xfrm>
          <a:prstGeom prst="rect">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India</a:t>
            </a:r>
          </a:p>
          <a:p>
            <a:pPr algn="ctr"/>
            <a:r>
              <a:rPr sz="1100" b="0">
                <a:solidFill>
                  <a:srgbClr val="FFFFFF"/>
                </a:solidFill>
                <a:latin typeface="Calibri"/>
              </a:rPr>
              <a:t> </a:t>
            </a:r>
          </a:p>
        </p:txBody>
      </p:sp>
      <p:sp>
        <p:nvSpPr>
          <p:cNvPr id="17" name="Rectangle 16"/>
          <p:cNvSpPr/>
          <p:nvPr/>
        </p:nvSpPr>
        <p:spPr>
          <a:xfrm>
            <a:off x="6852408" y="3452881"/>
            <a:ext cx="2561699" cy="1778164"/>
          </a:xfrm>
          <a:prstGeom prst="rect">
            <a:avLst/>
          </a:prstGeom>
          <a:solidFill>
            <a:srgbClr val="80808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Brazil</a:t>
            </a:r>
          </a:p>
          <a:p>
            <a:pPr algn="ctr"/>
            <a:r>
              <a:rPr sz="1100" b="0">
                <a:solidFill>
                  <a:srgbClr val="FFFFFF"/>
                </a:solidFill>
                <a:latin typeface="Calibri"/>
              </a:rPr>
              <a:t> </a:t>
            </a:r>
          </a:p>
        </p:txBody>
      </p:sp>
      <p:sp>
        <p:nvSpPr>
          <p:cNvPr id="18" name="Rectangle 17"/>
          <p:cNvSpPr/>
          <p:nvPr/>
        </p:nvSpPr>
        <p:spPr>
          <a:xfrm>
            <a:off x="6852408" y="5231044"/>
            <a:ext cx="2561699" cy="1341206"/>
          </a:xfrm>
          <a:prstGeom prst="rect">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U.K.</a:t>
            </a:r>
          </a:p>
          <a:p>
            <a:pPr algn="ctr"/>
            <a:r>
              <a:rPr sz="1100" b="0">
                <a:solidFill>
                  <a:srgbClr val="FFFFFF"/>
                </a:solidFill>
                <a:latin typeface="Calibri"/>
              </a:rPr>
              <a:t> </a:t>
            </a:r>
          </a:p>
        </p:txBody>
      </p:sp>
      <p:sp>
        <p:nvSpPr>
          <p:cNvPr id="19" name="Rectangle 18"/>
          <p:cNvSpPr/>
          <p:nvPr/>
        </p:nvSpPr>
        <p:spPr>
          <a:xfrm>
            <a:off x="9414107" y="3452881"/>
            <a:ext cx="1281042" cy="2124663"/>
          </a:xfrm>
          <a:prstGeom prst="rect">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Japan</a:t>
            </a:r>
          </a:p>
          <a:p>
            <a:pPr algn="ctr"/>
            <a:r>
              <a:rPr sz="1100" b="0">
                <a:solidFill>
                  <a:srgbClr val="FFFFFF"/>
                </a:solidFill>
                <a:latin typeface="Calibri"/>
              </a:rPr>
              <a:t> </a:t>
            </a:r>
          </a:p>
        </p:txBody>
      </p:sp>
      <p:sp>
        <p:nvSpPr>
          <p:cNvPr id="20" name="Rectangle 19"/>
          <p:cNvSpPr/>
          <p:nvPr/>
        </p:nvSpPr>
        <p:spPr>
          <a:xfrm>
            <a:off x="10695150" y="3452881"/>
            <a:ext cx="1258725" cy="2124663"/>
          </a:xfrm>
          <a:prstGeom prst="rect">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France</a:t>
            </a:r>
          </a:p>
          <a:p>
            <a:pPr algn="ctr"/>
            <a:r>
              <a:rPr sz="1100" b="0">
                <a:solidFill>
                  <a:srgbClr val="FFFFFF"/>
                </a:solidFill>
                <a:latin typeface="Calibri"/>
              </a:rPr>
              <a:t> </a:t>
            </a:r>
          </a:p>
        </p:txBody>
      </p:sp>
      <p:sp>
        <p:nvSpPr>
          <p:cNvPr id="21" name="Rectangle 20"/>
          <p:cNvSpPr/>
          <p:nvPr/>
        </p:nvSpPr>
        <p:spPr>
          <a:xfrm>
            <a:off x="9414107" y="5577544"/>
            <a:ext cx="2539768" cy="994706"/>
          </a:xfrm>
          <a:prstGeom prst="rect">
            <a:avLst/>
          </a:prstGeom>
          <a:solidFill>
            <a:srgbClr val="6C7A89"/>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UAE</a:t>
            </a:r>
          </a:p>
          <a:p>
            <a:pPr algn="ctr"/>
            <a:r>
              <a:rPr sz="1100" b="0">
                <a:solidFill>
                  <a:srgbClr val="FFFFFF"/>
                </a:solidFill>
                <a:latin typeface="Calibri"/>
              </a:rPr>
              <a:t> </a:t>
            </a:r>
          </a:p>
        </p:txBody>
      </p:sp>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4"/>
          <a:stretch>
            <a:fillRect/>
          </a:stretch>
        </p:blipFill>
        <p:spPr>
          <a:xfrm>
            <a:off x="1689172" y="3919537"/>
            <a:ext cx="308877" cy="449275"/>
          </a:xfrm>
          <a:prstGeom prst="rect">
            <a:avLst/>
          </a:prstGeom>
        </p:spPr>
      </p:pic>
      <p:pic>
        <p:nvPicPr>
          <p:cNvPr id="24" name="Picture 23" descr="lock.png"/>
          <p:cNvPicPr>
            <a:picLocks noChangeAspect="1"/>
          </p:cNvPicPr>
          <p:nvPr/>
        </p:nvPicPr>
        <p:blipFill>
          <a:blip r:embed="rId4"/>
          <a:stretch>
            <a:fillRect/>
          </a:stretch>
        </p:blipFill>
        <p:spPr>
          <a:xfrm>
            <a:off x="4996313" y="2710385"/>
            <a:ext cx="308877" cy="449275"/>
          </a:xfrm>
          <a:prstGeom prst="rect">
            <a:avLst/>
          </a:prstGeom>
        </p:spPr>
      </p:pic>
      <p:pic>
        <p:nvPicPr>
          <p:cNvPr id="25" name="Picture 24" descr="lock.png"/>
          <p:cNvPicPr>
            <a:picLocks noChangeAspect="1"/>
          </p:cNvPicPr>
          <p:nvPr/>
        </p:nvPicPr>
        <p:blipFill>
          <a:blip r:embed="rId4"/>
          <a:stretch>
            <a:fillRect/>
          </a:stretch>
        </p:blipFill>
        <p:spPr>
          <a:xfrm>
            <a:off x="4996313" y="5363097"/>
            <a:ext cx="308877" cy="449275"/>
          </a:xfrm>
          <a:prstGeom prst="rect">
            <a:avLst/>
          </a:prstGeom>
        </p:spPr>
      </p:pic>
      <p:pic>
        <p:nvPicPr>
          <p:cNvPr id="26" name="Picture 25" descr="lock.png"/>
          <p:cNvPicPr>
            <a:picLocks noChangeAspect="1"/>
          </p:cNvPicPr>
          <p:nvPr/>
        </p:nvPicPr>
        <p:blipFill>
          <a:blip r:embed="rId4"/>
          <a:stretch>
            <a:fillRect/>
          </a:stretch>
        </p:blipFill>
        <p:spPr>
          <a:xfrm>
            <a:off x="8145678" y="2359853"/>
            <a:ext cx="308877" cy="449275"/>
          </a:xfrm>
          <a:prstGeom prst="rect">
            <a:avLst/>
          </a:prstGeom>
        </p:spPr>
      </p:pic>
      <p:pic>
        <p:nvPicPr>
          <p:cNvPr id="27" name="Picture 26" descr="lock.png"/>
          <p:cNvPicPr>
            <a:picLocks noChangeAspect="1"/>
          </p:cNvPicPr>
          <p:nvPr/>
        </p:nvPicPr>
        <p:blipFill>
          <a:blip r:embed="rId4"/>
          <a:stretch>
            <a:fillRect/>
          </a:stretch>
        </p:blipFill>
        <p:spPr>
          <a:xfrm>
            <a:off x="10696412" y="2359853"/>
            <a:ext cx="308877" cy="449275"/>
          </a:xfrm>
          <a:prstGeom prst="rect">
            <a:avLst/>
          </a:prstGeom>
        </p:spPr>
      </p:pic>
      <p:pic>
        <p:nvPicPr>
          <p:cNvPr id="28" name="Picture 27" descr="lock.png"/>
          <p:cNvPicPr>
            <a:picLocks noChangeAspect="1"/>
          </p:cNvPicPr>
          <p:nvPr/>
        </p:nvPicPr>
        <p:blipFill>
          <a:blip r:embed="rId4"/>
          <a:stretch>
            <a:fillRect/>
          </a:stretch>
        </p:blipFill>
        <p:spPr>
          <a:xfrm>
            <a:off x="7978819" y="4341963"/>
            <a:ext cx="308877" cy="449275"/>
          </a:xfrm>
          <a:prstGeom prst="rect">
            <a:avLst/>
          </a:prstGeom>
        </p:spPr>
      </p:pic>
      <p:pic>
        <p:nvPicPr>
          <p:cNvPr id="29" name="Picture 28" descr="lock.png"/>
          <p:cNvPicPr>
            <a:picLocks noChangeAspect="1"/>
          </p:cNvPicPr>
          <p:nvPr/>
        </p:nvPicPr>
        <p:blipFill>
          <a:blip r:embed="rId4"/>
          <a:stretch>
            <a:fillRect/>
          </a:stretch>
        </p:blipFill>
        <p:spPr>
          <a:xfrm>
            <a:off x="7978819" y="5901647"/>
            <a:ext cx="308877" cy="449275"/>
          </a:xfrm>
          <a:prstGeom prst="rect">
            <a:avLst/>
          </a:prstGeom>
        </p:spPr>
      </p:pic>
      <p:pic>
        <p:nvPicPr>
          <p:cNvPr id="30" name="Picture 29" descr="lock.png"/>
          <p:cNvPicPr>
            <a:picLocks noChangeAspect="1"/>
          </p:cNvPicPr>
          <p:nvPr/>
        </p:nvPicPr>
        <p:blipFill>
          <a:blip r:embed="rId4"/>
          <a:stretch>
            <a:fillRect/>
          </a:stretch>
        </p:blipFill>
        <p:spPr>
          <a:xfrm>
            <a:off x="9900189" y="4515212"/>
            <a:ext cx="308877" cy="449275"/>
          </a:xfrm>
          <a:prstGeom prst="rect">
            <a:avLst/>
          </a:prstGeom>
        </p:spPr>
      </p:pic>
      <p:pic>
        <p:nvPicPr>
          <p:cNvPr id="31" name="Picture 30" descr="lock.png"/>
          <p:cNvPicPr>
            <a:picLocks noChangeAspect="1"/>
          </p:cNvPicPr>
          <p:nvPr/>
        </p:nvPicPr>
        <p:blipFill>
          <a:blip r:embed="rId4"/>
          <a:stretch>
            <a:fillRect/>
          </a:stretch>
        </p:blipFill>
        <p:spPr>
          <a:xfrm>
            <a:off x="11170074" y="4515212"/>
            <a:ext cx="308877" cy="449275"/>
          </a:xfrm>
          <a:prstGeom prst="rect">
            <a:avLst/>
          </a:prstGeom>
        </p:spPr>
      </p:pic>
      <p:pic>
        <p:nvPicPr>
          <p:cNvPr id="32" name="Picture 31" descr="lock.png"/>
          <p:cNvPicPr>
            <a:picLocks noChangeAspect="1"/>
          </p:cNvPicPr>
          <p:nvPr/>
        </p:nvPicPr>
        <p:blipFill>
          <a:blip r:embed="rId4"/>
          <a:stretch>
            <a:fillRect/>
          </a:stretch>
        </p:blipFill>
        <p:spPr>
          <a:xfrm>
            <a:off x="10529552" y="6074897"/>
            <a:ext cx="308877" cy="449275"/>
          </a:xfrm>
          <a:prstGeom prst="rect">
            <a:avLst/>
          </a:prstGeom>
        </p:spPr>
      </p:pic>
    </p:spTree>
  </p:cSld>
  <p:clrMapOvr>
    <a:masterClrMapping/>
  </p:clrMapOvr>
</p:sld>
</file>

<file path=ppt/slides/slide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76847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111375"/>
            <a:ext cx="8572500" cy="514350"/>
          </a:xfrm>
          <a:prstGeom prst="rect">
            <a:avLst/>
          </a:prstGeom>
          <a:noFill/>
        </p:spPr>
        <p:txBody>
          <a:bodyPr wrap="square" lIns="0" rIns="0" tIns="0">
            <a:spAutoFit/>
          </a:bodyPr>
          <a:lstStyle/>
          <a:p>
            <a:r>
              <a:rPr sz="3000" b="1">
                <a:solidFill>
                  <a:srgbClr val="0B3C8C"/>
                </a:solidFill>
                <a:latin typeface="Calibri"/>
              </a:rPr>
              <a:t>Global Market Analysis By Segments</a:t>
            </a:r>
          </a:p>
        </p:txBody>
      </p:sp>
      <p:sp>
        <p:nvSpPr>
          <p:cNvPr id="11" name="TextBox 10"/>
          <p:cNvSpPr txBox="1"/>
          <p:nvPr/>
        </p:nvSpPr>
        <p:spPr>
          <a:xfrm>
            <a:off x="914400" y="2797175"/>
            <a:ext cx="84582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Nature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Form</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Grade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Nature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Nature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Nature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Nature,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Nature segment categorizes the market by nature.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Organic</a:t>
            </a:r>
          </a:p>
        </p:txBody>
      </p:sp>
      <p:sp>
        <p:nvSpPr>
          <p:cNvPr id="22" name="Rectangle 21"/>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a:t>
            </a:r>
          </a:p>
        </p:txBody>
      </p:sp>
      <p:sp>
        <p:nvSpPr>
          <p:cNvPr id="29" name="Rectangle 28"/>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5" name="Rectangle 3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37" name="Rounded Rectangle 3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39" name="Rectangle 3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1" name="Rounded Rectangle 4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3" name="Rectangle 4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Nature split shows how demand is distributed across nature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5" name="Rectangle 4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7" name="TextBox 4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2_276_605E5C.png"/>
          <p:cNvPicPr>
            <a:picLocks noChangeAspect="1"/>
          </p:cNvPicPr>
          <p:nvPr/>
        </p:nvPicPr>
        <p:blipFill>
          <a:blip r:embed="rId4"/>
          <a:stretch>
            <a:fillRect/>
          </a:stretch>
        </p:blipFill>
        <p:spPr>
          <a:xfrm>
            <a:off x="3740773" y="2286582"/>
            <a:ext cx="1195728" cy="361950"/>
          </a:xfrm>
          <a:prstGeom prst="rect">
            <a:avLst/>
          </a:prstGeom>
        </p:spPr>
      </p:pic>
      <p:pic>
        <p:nvPicPr>
          <p:cNvPr id="50" name="Picture 49" descr="4_420_605E5C.png"/>
          <p:cNvPicPr>
            <a:picLocks noChangeAspect="1"/>
          </p:cNvPicPr>
          <p:nvPr/>
        </p:nvPicPr>
        <p:blipFill>
          <a:blip r:embed="rId5"/>
          <a:stretch>
            <a:fillRect/>
          </a:stretch>
        </p:blipFill>
        <p:spPr>
          <a:xfrm>
            <a:off x="3740773" y="2779432"/>
            <a:ext cx="1195728" cy="361950"/>
          </a:xfrm>
          <a:prstGeom prst="rect">
            <a:avLst/>
          </a:prstGeom>
        </p:spPr>
      </p:pic>
      <p:pic>
        <p:nvPicPr>
          <p:cNvPr id="51" name="Picture 50" descr="6_9__605E5C.png"/>
          <p:cNvPicPr>
            <a:picLocks noChangeAspect="1"/>
          </p:cNvPicPr>
          <p:nvPr/>
        </p:nvPicPr>
        <p:blipFill>
          <a:blip r:embed="rId6"/>
          <a:stretch>
            <a:fillRect/>
          </a:stretch>
        </p:blipFill>
        <p:spPr>
          <a:xfrm>
            <a:off x="3847419" y="3272281"/>
            <a:ext cx="982436" cy="361950"/>
          </a:xfrm>
          <a:prstGeom prst="rect">
            <a:avLst/>
          </a:prstGeom>
        </p:spPr>
      </p:pic>
      <p:pic>
        <p:nvPicPr>
          <p:cNvPr id="52" name="Picture 51" descr="1_098_605E5C.png"/>
          <p:cNvPicPr>
            <a:picLocks noChangeAspect="1"/>
          </p:cNvPicPr>
          <p:nvPr/>
        </p:nvPicPr>
        <p:blipFill>
          <a:blip r:embed="rId7"/>
          <a:stretch>
            <a:fillRect/>
          </a:stretch>
        </p:blipFill>
        <p:spPr>
          <a:xfrm>
            <a:off x="8798548" y="2286582"/>
            <a:ext cx="1195728" cy="361950"/>
          </a:xfrm>
          <a:prstGeom prst="rect">
            <a:avLst/>
          </a:prstGeom>
        </p:spPr>
      </p:pic>
      <p:pic>
        <p:nvPicPr>
          <p:cNvPr id="53" name="Picture 52" descr="2_297_605E5C.png"/>
          <p:cNvPicPr>
            <a:picLocks noChangeAspect="1"/>
          </p:cNvPicPr>
          <p:nvPr/>
        </p:nvPicPr>
        <p:blipFill>
          <a:blip r:embed="rId8"/>
          <a:stretch>
            <a:fillRect/>
          </a:stretch>
        </p:blipFill>
        <p:spPr>
          <a:xfrm>
            <a:off x="8798548" y="2779432"/>
            <a:ext cx="1195728" cy="361950"/>
          </a:xfrm>
          <a:prstGeom prst="rect">
            <a:avLst/>
          </a:prstGeom>
        </p:spPr>
      </p:pic>
      <p:pic>
        <p:nvPicPr>
          <p:cNvPr id="54" name="Picture 53" descr="7_7__605E5C.png"/>
          <p:cNvPicPr>
            <a:picLocks noChangeAspect="1"/>
          </p:cNvPicPr>
          <p:nvPr/>
        </p:nvPicPr>
        <p:blipFill>
          <a:blip r:embed="rId9"/>
          <a:stretch>
            <a:fillRect/>
          </a:stretch>
        </p:blipFill>
        <p:spPr>
          <a:xfrm>
            <a:off x="8905194" y="3272281"/>
            <a:ext cx="982436" cy="361950"/>
          </a:xfrm>
          <a:prstGeom prst="rect">
            <a:avLst/>
          </a:prstGeom>
        </p:spPr>
      </p:pic>
      <p:pic>
        <p:nvPicPr>
          <p:cNvPr id="55" name="Picture 54" descr="lock.png"/>
          <p:cNvPicPr>
            <a:picLocks noChangeAspect="1"/>
          </p:cNvPicPr>
          <p:nvPr/>
        </p:nvPicPr>
        <p:blipFill>
          <a:blip r:embed="rId10"/>
          <a:stretch>
            <a:fillRect/>
          </a:stretch>
        </p:blipFill>
        <p:spPr>
          <a:xfrm>
            <a:off x="4230493" y="2805915"/>
            <a:ext cx="212425" cy="308982"/>
          </a:xfrm>
          <a:prstGeom prst="rect">
            <a:avLst/>
          </a:prstGeom>
        </p:spPr>
      </p:pic>
      <p:pic>
        <p:nvPicPr>
          <p:cNvPr id="56" name="Picture 55" descr="lock.png"/>
          <p:cNvPicPr>
            <a:picLocks noChangeAspect="1"/>
          </p:cNvPicPr>
          <p:nvPr/>
        </p:nvPicPr>
        <p:blipFill>
          <a:blip r:embed="rId10"/>
          <a:stretch>
            <a:fillRect/>
          </a:stretch>
        </p:blipFill>
        <p:spPr>
          <a:xfrm>
            <a:off x="9288268" y="2805915"/>
            <a:ext cx="212425" cy="308982"/>
          </a:xfrm>
          <a:prstGeom prst="rect">
            <a:avLst/>
          </a:prstGeom>
        </p:spPr>
      </p:pic>
      <p:sp>
        <p:nvSpPr>
          <p:cNvPr id="57" name="TextBox 56"/>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Among matcha by nature, conventional segment is</a:t>
            </a:r>
          </a:p>
        </p:txBody>
      </p:sp>
      <p:sp>
        <p:nvSpPr>
          <p:cNvPr id="58" name="TextBox 57"/>
          <p:cNvSpPr txBox="1"/>
          <p:nvPr/>
        </p:nvSpPr>
        <p:spPr>
          <a:xfrm>
            <a:off x="485775" y="439707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59" name="Picture 58" descr="lock.png"/>
          <p:cNvPicPr>
            <a:picLocks noChangeAspect="1"/>
          </p:cNvPicPr>
          <p:nvPr/>
        </p:nvPicPr>
        <p:blipFill>
          <a:blip r:embed="rId10"/>
          <a:stretch>
            <a:fillRect/>
          </a:stretch>
        </p:blipFill>
        <p:spPr>
          <a:xfrm>
            <a:off x="2815059" y="4387298"/>
            <a:ext cx="128699" cy="187198"/>
          </a:xfrm>
          <a:prstGeom prst="rect">
            <a:avLst/>
          </a:prstGeom>
        </p:spPr>
      </p:pic>
      <p:sp>
        <p:nvSpPr>
          <p:cNvPr id="60" name="TextBox 59"/>
          <p:cNvSpPr txBox="1"/>
          <p:nvPr/>
        </p:nvSpPr>
        <p:spPr>
          <a:xfrm>
            <a:off x="2982555" y="439707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1" name="TextBox 60"/>
          <p:cNvSpPr txBox="1"/>
          <p:nvPr/>
        </p:nvSpPr>
        <p:spPr>
          <a:xfrm>
            <a:off x="485775" y="456471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2" name="TextBox 61"/>
          <p:cNvSpPr txBox="1"/>
          <p:nvPr/>
        </p:nvSpPr>
        <p:spPr>
          <a:xfrm>
            <a:off x="485775" y="4732357"/>
            <a:ext cx="2510854" cy="186689"/>
          </a:xfrm>
          <a:prstGeom prst="rect">
            <a:avLst/>
          </a:prstGeom>
          <a:noFill/>
        </p:spPr>
        <p:txBody>
          <a:bodyPr wrap="none" lIns="0" rIns="0" tIns="0" bIns="0">
            <a:spAutoFit/>
          </a:bodyPr>
          <a:lstStyle/>
          <a:p>
            <a:r>
              <a:rPr sz="1100" b="0">
                <a:solidFill>
                  <a:srgbClr val="2E2E2E"/>
                </a:solidFill>
                <a:latin typeface="Calibri"/>
              </a:rPr>
              <a:t>nature, the organic segment is expected to</a:t>
            </a:r>
          </a:p>
        </p:txBody>
      </p:sp>
      <p:sp>
        <p:nvSpPr>
          <p:cNvPr id="63" name="TextBox 62"/>
          <p:cNvSpPr txBox="1"/>
          <p:nvPr/>
        </p:nvSpPr>
        <p:spPr>
          <a:xfrm>
            <a:off x="485775" y="4899997"/>
            <a:ext cx="1682750" cy="186689"/>
          </a:xfrm>
          <a:prstGeom prst="rect">
            <a:avLst/>
          </a:prstGeom>
          <a:noFill/>
        </p:spPr>
        <p:txBody>
          <a:bodyPr wrap="none" lIns="0" rIns="0" tIns="0" bIns="0">
            <a:spAutoFit/>
          </a:bodyPr>
          <a:lstStyle/>
          <a:p>
            <a:r>
              <a:rPr sz="1100" b="0">
                <a:solidFill>
                  <a:srgbClr val="2E2E2E"/>
                </a:solidFill>
                <a:latin typeface="Calibri"/>
              </a:rPr>
              <a:t>dominate the market, losing</a:t>
            </a:r>
          </a:p>
        </p:txBody>
      </p:sp>
      <p:pic>
        <p:nvPicPr>
          <p:cNvPr id="64" name="Picture 63" descr="lock.png"/>
          <p:cNvPicPr>
            <a:picLocks noChangeAspect="1"/>
          </p:cNvPicPr>
          <p:nvPr/>
        </p:nvPicPr>
        <p:blipFill>
          <a:blip r:embed="rId10"/>
          <a:stretch>
            <a:fillRect/>
          </a:stretch>
        </p:blipFill>
        <p:spPr>
          <a:xfrm>
            <a:off x="2116576" y="4890217"/>
            <a:ext cx="128699" cy="187198"/>
          </a:xfrm>
          <a:prstGeom prst="rect">
            <a:avLst/>
          </a:prstGeom>
        </p:spPr>
      </p:pic>
      <p:sp>
        <p:nvSpPr>
          <p:cNvPr id="65" name="TextBox 64"/>
          <p:cNvSpPr txBox="1"/>
          <p:nvPr/>
        </p:nvSpPr>
        <p:spPr>
          <a:xfrm>
            <a:off x="2284072" y="489999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66" name="TextBox 65"/>
          <p:cNvSpPr txBox="1"/>
          <p:nvPr/>
        </p:nvSpPr>
        <p:spPr>
          <a:xfrm>
            <a:off x="485775" y="506763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67" name="Picture 66" descr="lock.png"/>
          <p:cNvPicPr>
            <a:picLocks noChangeAspect="1"/>
          </p:cNvPicPr>
          <p:nvPr/>
        </p:nvPicPr>
        <p:blipFill>
          <a:blip r:embed="rId10"/>
          <a:stretch>
            <a:fillRect/>
          </a:stretch>
        </p:blipFill>
        <p:spPr>
          <a:xfrm>
            <a:off x="1330764" y="5057858"/>
            <a:ext cx="128699" cy="187198"/>
          </a:xfrm>
          <a:prstGeom prst="rect">
            <a:avLst/>
          </a:prstGeom>
        </p:spPr>
      </p:pic>
      <p:sp>
        <p:nvSpPr>
          <p:cNvPr id="68" name="TextBox 67"/>
          <p:cNvSpPr txBox="1"/>
          <p:nvPr/>
        </p:nvSpPr>
        <p:spPr>
          <a:xfrm>
            <a:off x="1498259"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69" name="TextBox 68"/>
          <p:cNvSpPr txBox="1"/>
          <p:nvPr/>
        </p:nvSpPr>
        <p:spPr>
          <a:xfrm>
            <a:off x="485775" y="5285569"/>
            <a:ext cx="2356420" cy="186689"/>
          </a:xfrm>
          <a:prstGeom prst="rect">
            <a:avLst/>
          </a:prstGeom>
          <a:noFill/>
        </p:spPr>
        <p:txBody>
          <a:bodyPr wrap="none" lIns="0" rIns="0" tIns="0" bIns="0">
            <a:spAutoFit/>
          </a:bodyPr>
          <a:lstStyle/>
          <a:p>
            <a:r>
              <a:rPr sz="1100" b="0">
                <a:solidFill>
                  <a:srgbClr val="2E2E2E"/>
                </a:solidFill>
                <a:latin typeface="Calibri"/>
              </a:rPr>
              <a:t>Organic segment is projected to register</a:t>
            </a:r>
          </a:p>
        </p:txBody>
      </p:sp>
      <p:pic>
        <p:nvPicPr>
          <p:cNvPr id="70" name="Picture 69" descr="lock.png"/>
          <p:cNvPicPr>
            <a:picLocks noChangeAspect="1"/>
          </p:cNvPicPr>
          <p:nvPr/>
        </p:nvPicPr>
        <p:blipFill>
          <a:blip r:embed="rId10"/>
          <a:stretch>
            <a:fillRect/>
          </a:stretch>
        </p:blipFill>
        <p:spPr>
          <a:xfrm>
            <a:off x="2790247" y="5275790"/>
            <a:ext cx="128699" cy="187198"/>
          </a:xfrm>
          <a:prstGeom prst="rect">
            <a:avLst/>
          </a:prstGeom>
        </p:spPr>
      </p:pic>
      <p:sp>
        <p:nvSpPr>
          <p:cNvPr id="71" name="TextBox 70"/>
          <p:cNvSpPr txBox="1"/>
          <p:nvPr/>
        </p:nvSpPr>
        <p:spPr>
          <a:xfrm>
            <a:off x="2957742"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72" name="TextBox 71"/>
          <p:cNvSpPr txBox="1"/>
          <p:nvPr/>
        </p:nvSpPr>
        <p:spPr>
          <a:xfrm>
            <a:off x="485775" y="5453209"/>
            <a:ext cx="2848371" cy="186689"/>
          </a:xfrm>
          <a:prstGeom prst="rect">
            <a:avLst/>
          </a:prstGeom>
          <a:noFill/>
        </p:spPr>
        <p:txBody>
          <a:bodyPr wrap="none" lIns="0" rIns="0" tIns="0" bIns="0">
            <a:spAutoFit/>
          </a:bodyPr>
          <a:lstStyle/>
          <a:p>
            <a:r>
              <a:rPr sz="1100" b="0">
                <a:solidFill>
                  <a:srgbClr val="2E2E2E"/>
                </a:solidFill>
                <a:latin typeface="Calibri"/>
              </a:rPr>
              <a:t>higher value than conventional segment in 2036.</a:t>
            </a:r>
          </a:p>
        </p:txBody>
      </p:sp>
      <p:sp>
        <p:nvSpPr>
          <p:cNvPr id="73" name="TextBox 72"/>
          <p:cNvSpPr txBox="1"/>
          <p:nvPr/>
        </p:nvSpPr>
        <p:spPr>
          <a:xfrm>
            <a:off x="3838575" y="4229437"/>
            <a:ext cx="668287" cy="186689"/>
          </a:xfrm>
          <a:prstGeom prst="rect">
            <a:avLst/>
          </a:prstGeom>
          <a:noFill/>
        </p:spPr>
        <p:txBody>
          <a:bodyPr wrap="none" lIns="0" rIns="0" tIns="0" bIns="0">
            <a:spAutoFit/>
          </a:bodyPr>
          <a:lstStyle/>
          <a:p>
            <a:r>
              <a:rPr sz="1100" b="0">
                <a:solidFill>
                  <a:srgbClr val="2E2E2E"/>
                </a:solidFill>
                <a:latin typeface="Calibri"/>
              </a:rPr>
              <a:t>● Organic:</a:t>
            </a:r>
          </a:p>
        </p:txBody>
      </p:sp>
      <p:pic>
        <p:nvPicPr>
          <p:cNvPr id="74" name="Picture 73" descr="lock.png"/>
          <p:cNvPicPr>
            <a:picLocks noChangeAspect="1"/>
          </p:cNvPicPr>
          <p:nvPr/>
        </p:nvPicPr>
        <p:blipFill>
          <a:blip r:embed="rId10"/>
          <a:stretch>
            <a:fillRect/>
          </a:stretch>
        </p:blipFill>
        <p:spPr>
          <a:xfrm>
            <a:off x="4454914" y="4219658"/>
            <a:ext cx="128699" cy="187198"/>
          </a:xfrm>
          <a:prstGeom prst="rect">
            <a:avLst/>
          </a:prstGeom>
        </p:spPr>
      </p:pic>
      <p:sp>
        <p:nvSpPr>
          <p:cNvPr id="75" name="TextBox 74"/>
          <p:cNvSpPr txBox="1"/>
          <p:nvPr/>
        </p:nvSpPr>
        <p:spPr>
          <a:xfrm>
            <a:off x="462241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481860" y="4219658"/>
            <a:ext cx="128699" cy="187198"/>
          </a:xfrm>
          <a:prstGeom prst="rect">
            <a:avLst/>
          </a:prstGeom>
        </p:spPr>
      </p:pic>
      <p:sp>
        <p:nvSpPr>
          <p:cNvPr id="77" name="TextBox 76"/>
          <p:cNvSpPr txBox="1"/>
          <p:nvPr/>
        </p:nvSpPr>
        <p:spPr>
          <a:xfrm>
            <a:off x="5649356"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982340" cy="186689"/>
          </a:xfrm>
          <a:prstGeom prst="rect">
            <a:avLst/>
          </a:prstGeom>
          <a:noFill/>
        </p:spPr>
        <p:txBody>
          <a:bodyPr wrap="none" lIns="0" rIns="0" tIns="0" bIns="0">
            <a:spAutoFit/>
          </a:bodyPr>
          <a:lstStyle/>
          <a:p>
            <a:r>
              <a:rPr sz="1100" b="0">
                <a:solidFill>
                  <a:srgbClr val="2E2E2E"/>
                </a:solidFill>
                <a:latin typeface="Calibri"/>
              </a:rPr>
              <a:t>● Conventional:</a:t>
            </a:r>
          </a:p>
        </p:txBody>
      </p:sp>
      <p:pic>
        <p:nvPicPr>
          <p:cNvPr id="79" name="Picture 78" descr="lock.png"/>
          <p:cNvPicPr>
            <a:picLocks noChangeAspect="1"/>
          </p:cNvPicPr>
          <p:nvPr/>
        </p:nvPicPr>
        <p:blipFill>
          <a:blip r:embed="rId10"/>
          <a:stretch>
            <a:fillRect/>
          </a:stretch>
        </p:blipFill>
        <p:spPr>
          <a:xfrm>
            <a:off x="4768966" y="4437590"/>
            <a:ext cx="128699" cy="187198"/>
          </a:xfrm>
          <a:prstGeom prst="rect">
            <a:avLst/>
          </a:prstGeom>
        </p:spPr>
      </p:pic>
      <p:sp>
        <p:nvSpPr>
          <p:cNvPr id="80" name="TextBox 79"/>
          <p:cNvSpPr txBox="1"/>
          <p:nvPr/>
        </p:nvSpPr>
        <p:spPr>
          <a:xfrm>
            <a:off x="493646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795912" y="4437590"/>
            <a:ext cx="128699" cy="187198"/>
          </a:xfrm>
          <a:prstGeom prst="rect">
            <a:avLst/>
          </a:prstGeom>
        </p:spPr>
      </p:pic>
      <p:sp>
        <p:nvSpPr>
          <p:cNvPr id="82" name="TextBox 81"/>
          <p:cNvSpPr txBox="1"/>
          <p:nvPr/>
        </p:nvSpPr>
        <p:spPr>
          <a:xfrm>
            <a:off x="5963408"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Nature segment is projected to grow at a CAGR</a:t>
            </a:r>
          </a:p>
        </p:txBody>
      </p:sp>
      <p:sp>
        <p:nvSpPr>
          <p:cNvPr id="84" name="TextBox 83"/>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85" name="Picture 84" descr="lock.png"/>
          <p:cNvPicPr>
            <a:picLocks noChangeAspect="1"/>
          </p:cNvPicPr>
          <p:nvPr/>
        </p:nvPicPr>
        <p:blipFill>
          <a:blip r:embed="rId10"/>
          <a:stretch>
            <a:fillRect/>
          </a:stretch>
        </p:blipFill>
        <p:spPr>
          <a:xfrm>
            <a:off x="8674884" y="6007677"/>
            <a:ext cx="134549" cy="195707"/>
          </a:xfrm>
          <a:prstGeom prst="rect">
            <a:avLst/>
          </a:prstGeom>
        </p:spPr>
      </p:pic>
      <p:sp>
        <p:nvSpPr>
          <p:cNvPr id="86" name="TextBox 85"/>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Nature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Nature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Nature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Nature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861685"/>
            <a:ext cx="11496675" cy="186689"/>
          </a:xfrm>
          <a:prstGeom prst="rect">
            <a:avLst/>
          </a:prstGeom>
          <a:noFill/>
        </p:spPr>
        <p:txBody>
          <a:bodyPr wrap="none" lIns="0" rIns="0" tIns="0" bIns="0">
            <a:spAutoFit/>
          </a:bodyPr>
          <a:lstStyle/>
          <a:p>
            <a:r>
              <a:rPr sz="1100" b="0">
                <a:solidFill>
                  <a:srgbClr val="2E2E2E"/>
                </a:solidFill>
                <a:latin typeface="Calibri"/>
              </a:rPr>
              <a:t>Organic followed by conventional are expected to be the two most attractive nature segments in the global matcha market in terms of value over the forecast period. Organic and conventional exhibit a</a:t>
            </a:r>
          </a:p>
        </p:txBody>
      </p:sp>
      <p:sp>
        <p:nvSpPr>
          <p:cNvPr id="20" name="TextBox 19"/>
          <p:cNvSpPr txBox="1"/>
          <p:nvPr/>
        </p:nvSpPr>
        <p:spPr>
          <a:xfrm>
            <a:off x="257175" y="6029325"/>
            <a:ext cx="884096" cy="186689"/>
          </a:xfrm>
          <a:prstGeom prst="rect">
            <a:avLst/>
          </a:prstGeom>
          <a:noFill/>
        </p:spPr>
        <p:txBody>
          <a:bodyPr wrap="none" lIns="0" rIns="0" tIns="0" bIns="0">
            <a:spAutoFit/>
          </a:bodyPr>
          <a:lstStyle/>
          <a:p>
            <a:r>
              <a:rPr sz="1100" b="0">
                <a:solidFill>
                  <a:srgbClr val="2E2E2E"/>
                </a:solidFill>
                <a:latin typeface="Calibri"/>
              </a:rPr>
              <a:t>CAGR index of</a:t>
            </a:r>
          </a:p>
        </p:txBody>
      </p:sp>
      <p:pic>
        <p:nvPicPr>
          <p:cNvPr id="21" name="Picture 20" descr="lock.png"/>
          <p:cNvPicPr>
            <a:picLocks noChangeAspect="1"/>
          </p:cNvPicPr>
          <p:nvPr/>
        </p:nvPicPr>
        <p:blipFill>
          <a:blip r:embed="rId6"/>
          <a:stretch>
            <a:fillRect/>
          </a:stretch>
        </p:blipFill>
        <p:spPr>
          <a:xfrm>
            <a:off x="1089323" y="6019545"/>
            <a:ext cx="128699" cy="187198"/>
          </a:xfrm>
          <a:prstGeom prst="rect">
            <a:avLst/>
          </a:prstGeom>
        </p:spPr>
      </p:pic>
      <p:sp>
        <p:nvSpPr>
          <p:cNvPr id="22" name="TextBox 21"/>
          <p:cNvSpPr txBox="1"/>
          <p:nvPr/>
        </p:nvSpPr>
        <p:spPr>
          <a:xfrm>
            <a:off x="1256818" y="602932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1494713" y="6019545"/>
            <a:ext cx="128699" cy="187198"/>
          </a:xfrm>
          <a:prstGeom prst="rect">
            <a:avLst/>
          </a:prstGeom>
        </p:spPr>
      </p:pic>
      <p:sp>
        <p:nvSpPr>
          <p:cNvPr id="24" name="TextBox 23"/>
          <p:cNvSpPr txBox="1"/>
          <p:nvPr/>
        </p:nvSpPr>
        <p:spPr>
          <a:xfrm>
            <a:off x="1662209" y="602932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3271182" y="6019545"/>
            <a:ext cx="128699" cy="187198"/>
          </a:xfrm>
          <a:prstGeom prst="rect">
            <a:avLst/>
          </a:prstGeom>
        </p:spPr>
      </p:pic>
      <p:sp>
        <p:nvSpPr>
          <p:cNvPr id="26" name="TextBox 25"/>
          <p:cNvSpPr txBox="1"/>
          <p:nvPr/>
        </p:nvSpPr>
        <p:spPr>
          <a:xfrm>
            <a:off x="3438678" y="602932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3676572" y="6019545"/>
            <a:ext cx="128699" cy="187198"/>
          </a:xfrm>
          <a:prstGeom prst="rect">
            <a:avLst/>
          </a:prstGeom>
        </p:spPr>
      </p:pic>
      <p:sp>
        <p:nvSpPr>
          <p:cNvPr id="28" name="TextBox 27"/>
          <p:cNvSpPr txBox="1"/>
          <p:nvPr/>
        </p:nvSpPr>
        <p:spPr>
          <a:xfrm>
            <a:off x="3844068" y="602932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6398472" y="6019545"/>
            <a:ext cx="128699" cy="187198"/>
          </a:xfrm>
          <a:prstGeom prst="rect">
            <a:avLst/>
          </a:prstGeom>
        </p:spPr>
      </p:pic>
      <p:sp>
        <p:nvSpPr>
          <p:cNvPr id="30" name="TextBox 29"/>
          <p:cNvSpPr txBox="1"/>
          <p:nvPr/>
        </p:nvSpPr>
        <p:spPr>
          <a:xfrm>
            <a:off x="6565968" y="6029325"/>
            <a:ext cx="4443717"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 segment average.</a:t>
            </a:r>
          </a:p>
        </p:txBody>
      </p:sp>
      <p:sp>
        <p:nvSpPr>
          <p:cNvPr id="31"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Nature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Nature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Organic</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Conventional</a:t>
            </a:r>
          </a:p>
        </p:txBody>
      </p:sp>
      <p:graphicFrame>
        <p:nvGraphicFramePr>
          <p:cNvPr id="15" name="Chart 14"/>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6"/>
          <a:stretch>
            <a:fillRect/>
          </a:stretch>
        </p:blipFill>
        <p:spPr>
          <a:xfrm>
            <a:off x="3024059" y="3583939"/>
            <a:ext cx="402511" cy="585471"/>
          </a:xfrm>
          <a:prstGeom prst="rect">
            <a:avLst/>
          </a:prstGeom>
        </p:spPr>
      </p:pic>
      <p:pic>
        <p:nvPicPr>
          <p:cNvPr id="18" name="Picture 17" descr="lock.png"/>
          <p:cNvPicPr>
            <a:picLocks noChangeAspect="1"/>
          </p:cNvPicPr>
          <p:nvPr/>
        </p:nvPicPr>
        <p:blipFill>
          <a:blip r:embed="rId6"/>
          <a:stretch>
            <a:fillRect/>
          </a:stretch>
        </p:blipFill>
        <p:spPr>
          <a:xfrm>
            <a:off x="9053384" y="3583939"/>
            <a:ext cx="402511" cy="585471"/>
          </a:xfrm>
          <a:prstGeom prst="rect">
            <a:avLst/>
          </a:prstGeom>
        </p:spPr>
      </p:pic>
      <p:sp>
        <p:nvSpPr>
          <p:cNvPr id="19" name="lockshield_12"/>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lockshield_15"/>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Nature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Nature, 2021–2036, highlighting the sub-segments driving growth</a:t>
            </a:r>
          </a:p>
        </p:txBody>
      </p:sp>
      <p:sp>
        <p:nvSpPr>
          <p:cNvPr id="10" name="Rounded Rectangle 9"/>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Nature (US$ Mn)</a:t>
            </a:r>
          </a:p>
        </p:txBody>
      </p:sp>
      <p:graphicFrame>
        <p:nvGraphicFramePr>
          <p:cNvPr id="12" name="Table 11"/>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1042173"/>
                <a:gridCol w="637943"/>
                <a:gridCol w="637943"/>
                <a:gridCol w="637943"/>
                <a:gridCol w="637943"/>
                <a:gridCol w="637943"/>
                <a:gridCol w="637943"/>
                <a:gridCol w="637943"/>
                <a:gridCol w="637943"/>
                <a:gridCol w="637943"/>
                <a:gridCol w="637943"/>
                <a:gridCol w="637943"/>
                <a:gridCol w="637943"/>
                <a:gridCol w="637943"/>
                <a:gridCol w="637943"/>
                <a:gridCol w="637943"/>
                <a:gridCol w="637943"/>
                <a:gridCol w="637943"/>
              </a:tblGrid>
              <a:tr h="246126">
                <a:tc>
                  <a:txBody>
                    <a:bodyPr wrap="none"/>
                    <a:lstStyle/>
                    <a:p>
                      <a:pPr algn="l"/>
                      <a:r>
                        <a:rPr sz="1100" b="1">
                          <a:solidFill>
                            <a:srgbClr val="0B2E4A"/>
                          </a:solidFill>
                          <a:latin typeface="Calibri"/>
                        </a:rPr>
                        <a:t>Nature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Nature</a:t>
            </a:r>
          </a:p>
        </p:txBody>
      </p:sp>
      <p:sp>
        <p:nvSpPr>
          <p:cNvPr id="16" name="Rectangle 15"/>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430398" y="1589913"/>
            <a:ext cx="366712" cy="533400"/>
          </a:xfrm>
          <a:prstGeom prst="rect">
            <a:avLst/>
          </a:prstGeom>
        </p:spPr>
      </p:pic>
      <p:sp>
        <p:nvSpPr>
          <p:cNvPr id="20" name="TextBox 19"/>
          <p:cNvSpPr txBox="1"/>
          <p:nvPr/>
        </p:nvSpPr>
        <p:spPr>
          <a:xfrm>
            <a:off x="276225" y="2990850"/>
            <a:ext cx="2460066" cy="194310"/>
          </a:xfrm>
          <a:prstGeom prst="rect">
            <a:avLst/>
          </a:prstGeom>
          <a:noFill/>
        </p:spPr>
        <p:txBody>
          <a:bodyPr wrap="none" lIns="0" rIns="0" tIns="0" bIns="0">
            <a:spAutoFit/>
          </a:bodyPr>
          <a:lstStyle/>
          <a:p>
            <a:r>
              <a:rPr sz="1150" b="0">
                <a:solidFill>
                  <a:srgbClr val="2E2E2E"/>
                </a:solidFill>
                <a:latin typeface="Calibri"/>
              </a:rPr>
              <a:t>Organic segment is projected to register</a:t>
            </a:r>
          </a:p>
        </p:txBody>
      </p:sp>
      <p:pic>
        <p:nvPicPr>
          <p:cNvPr id="21" name="Picture 20" descr="lock.png"/>
          <p:cNvPicPr>
            <a:picLocks noChangeAspect="1"/>
          </p:cNvPicPr>
          <p:nvPr/>
        </p:nvPicPr>
        <p:blipFill>
          <a:blip r:embed="rId4"/>
          <a:stretch>
            <a:fillRect/>
          </a:stretch>
        </p:blipFill>
        <p:spPr>
          <a:xfrm>
            <a:off x="2685445" y="2980626"/>
            <a:ext cx="134549" cy="195707"/>
          </a:xfrm>
          <a:prstGeom prst="rect">
            <a:avLst/>
          </a:prstGeom>
        </p:spPr>
      </p:pic>
      <p:sp>
        <p:nvSpPr>
          <p:cNvPr id="22" name="TextBox 21"/>
          <p:cNvSpPr txBox="1"/>
          <p:nvPr/>
        </p:nvSpPr>
        <p:spPr>
          <a:xfrm>
            <a:off x="2860555" y="2990850"/>
            <a:ext cx="8576748" cy="194310"/>
          </a:xfrm>
          <a:prstGeom prst="rect">
            <a:avLst/>
          </a:prstGeom>
          <a:noFill/>
        </p:spPr>
        <p:txBody>
          <a:bodyPr wrap="none" lIns="0" rIns="0" tIns="0" bIns="0">
            <a:spAutoFit/>
          </a:bodyPr>
          <a:lstStyle/>
          <a:p>
            <a:r>
              <a:rPr sz="1150" b="0">
                <a:solidFill>
                  <a:srgbClr val="2E2E2E"/>
                </a:solidFill>
                <a:latin typeface="Calibri"/>
              </a:rPr>
              <a:t>X higher value than conventional segment in 2036. Among matcha by nature, conventional segment is expected to witness the highest CAGR of</a:t>
            </a:r>
          </a:p>
        </p:txBody>
      </p:sp>
      <p:pic>
        <p:nvPicPr>
          <p:cNvPr id="23" name="Picture 22" descr="lock.png"/>
          <p:cNvPicPr>
            <a:picLocks noChangeAspect="1"/>
          </p:cNvPicPr>
          <p:nvPr/>
        </p:nvPicPr>
        <p:blipFill>
          <a:blip r:embed="rId4"/>
          <a:stretch>
            <a:fillRect/>
          </a:stretch>
        </p:blipFill>
        <p:spPr>
          <a:xfrm>
            <a:off x="11386457" y="2980626"/>
            <a:ext cx="134549" cy="195707"/>
          </a:xfrm>
          <a:prstGeom prst="rect">
            <a:avLst/>
          </a:prstGeom>
        </p:spPr>
      </p:pic>
      <p:sp>
        <p:nvSpPr>
          <p:cNvPr id="24" name="TextBox 23"/>
          <p:cNvSpPr txBox="1"/>
          <p:nvPr/>
        </p:nvSpPr>
        <p:spPr>
          <a:xfrm>
            <a:off x="27622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5" name="TextBox 24"/>
          <p:cNvSpPr txBox="1"/>
          <p:nvPr/>
        </p:nvSpPr>
        <p:spPr>
          <a:xfrm>
            <a:off x="276225" y="3393947"/>
            <a:ext cx="5903652" cy="194310"/>
          </a:xfrm>
          <a:prstGeom prst="rect">
            <a:avLst/>
          </a:prstGeom>
          <a:noFill/>
        </p:spPr>
        <p:txBody>
          <a:bodyPr wrap="none" lIns="0" rIns="0" tIns="0" bIns="0">
            <a:spAutoFit/>
          </a:bodyPr>
          <a:lstStyle/>
          <a:p>
            <a:r>
              <a:rPr sz="1150" b="0">
                <a:solidFill>
                  <a:srgbClr val="2E2E2E"/>
                </a:solidFill>
                <a:latin typeface="Calibri"/>
              </a:rPr>
              <a:t>In terms of value share by nature, the organic segment is expected to dominate the market, losing</a:t>
            </a:r>
          </a:p>
        </p:txBody>
      </p:sp>
      <p:pic>
        <p:nvPicPr>
          <p:cNvPr id="26" name="Picture 25" descr="lock.png"/>
          <p:cNvPicPr>
            <a:picLocks noChangeAspect="1"/>
          </p:cNvPicPr>
          <p:nvPr/>
        </p:nvPicPr>
        <p:blipFill>
          <a:blip r:embed="rId4"/>
          <a:stretch>
            <a:fillRect/>
          </a:stretch>
        </p:blipFill>
        <p:spPr>
          <a:xfrm>
            <a:off x="6129030" y="3383724"/>
            <a:ext cx="134549" cy="195707"/>
          </a:xfrm>
          <a:prstGeom prst="rect">
            <a:avLst/>
          </a:prstGeom>
        </p:spPr>
      </p:pic>
      <p:sp>
        <p:nvSpPr>
          <p:cNvPr id="27" name="TextBox 26"/>
          <p:cNvSpPr txBox="1"/>
          <p:nvPr/>
        </p:nvSpPr>
        <p:spPr>
          <a:xfrm>
            <a:off x="6304140"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8" name="Picture 27" descr="lock.png"/>
          <p:cNvPicPr>
            <a:picLocks noChangeAspect="1"/>
          </p:cNvPicPr>
          <p:nvPr/>
        </p:nvPicPr>
        <p:blipFill>
          <a:blip r:embed="rId4"/>
          <a:stretch>
            <a:fillRect/>
          </a:stretch>
        </p:blipFill>
        <p:spPr>
          <a:xfrm>
            <a:off x="7699283" y="3383724"/>
            <a:ext cx="134549" cy="195707"/>
          </a:xfrm>
          <a:prstGeom prst="rect">
            <a:avLst/>
          </a:prstGeom>
        </p:spPr>
      </p:pic>
      <p:sp>
        <p:nvSpPr>
          <p:cNvPr id="29" name="TextBox 28"/>
          <p:cNvSpPr txBox="1"/>
          <p:nvPr/>
        </p:nvSpPr>
        <p:spPr>
          <a:xfrm>
            <a:off x="7874392"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Nature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Nature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Nature ·  2021 / 2026 / 2036 (US$ Mn)  ·  right axis = BPS share shift</a:t>
            </a:r>
          </a:p>
        </p:txBody>
      </p:sp>
      <p:graphicFrame>
        <p:nvGraphicFramePr>
          <p:cNvPr id="12" name="Chart 11"/>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3932301"/>
            <a:ext cx="38100" cy="38100"/>
          </a:xfrm>
          <a:prstGeom prst="rect">
            <a:avLst/>
          </a:prstGeom>
          <a:noFill/>
        </p:spPr>
        <p:txBody>
          <a:bodyPr wrap="none">
            <a:spAutoFit/>
          </a:bodyPr>
          <a:lstStyle/>
          <a:p/>
        </p:txBody>
      </p:sp>
      <p:sp>
        <p:nvSpPr>
          <p:cNvPr id="15" name="FMI Legend Chip"/>
          <p:cNvSpPr/>
          <p:nvPr/>
        </p:nvSpPr>
        <p:spPr>
          <a:xfrm>
            <a:off x="4928997" y="231655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5090922" y="231179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22355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a:t>
            </a:r>
          </a:p>
        </p:txBody>
      </p:sp>
      <p:sp>
        <p:nvSpPr>
          <p:cNvPr id="18" name="BPS Value 1"/>
          <p:cNvSpPr txBox="1"/>
          <p:nvPr/>
        </p:nvSpPr>
        <p:spPr>
          <a:xfrm>
            <a:off x="6896100" y="229750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928997" y="4685045"/>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468028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460408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Organic</a:t>
            </a:r>
          </a:p>
        </p:txBody>
      </p:sp>
      <p:sp>
        <p:nvSpPr>
          <p:cNvPr id="22" name="BPS Value 2"/>
          <p:cNvSpPr txBox="1"/>
          <p:nvPr/>
        </p:nvSpPr>
        <p:spPr>
          <a:xfrm>
            <a:off x="6896100" y="466599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Rounded Rectangle 22"/>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Nature</a:t>
            </a:r>
          </a:p>
        </p:txBody>
      </p:sp>
      <p:sp>
        <p:nvSpPr>
          <p:cNvPr id="25" name="Rectangle 24"/>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5"/>
          <a:stretch>
            <a:fillRect/>
          </a:stretch>
        </p:blipFill>
        <p:spPr>
          <a:xfrm>
            <a:off x="2557843" y="3751325"/>
            <a:ext cx="275034" cy="400050"/>
          </a:xfrm>
          <a:prstGeom prst="rect">
            <a:avLst/>
          </a:prstGeom>
        </p:spPr>
      </p:pic>
      <p:sp>
        <p:nvSpPr>
          <p:cNvPr id="29" name="TextBox 28"/>
          <p:cNvSpPr txBox="1"/>
          <p:nvPr/>
        </p:nvSpPr>
        <p:spPr>
          <a:xfrm>
            <a:off x="7829550" y="1400175"/>
            <a:ext cx="3831852" cy="194310"/>
          </a:xfrm>
          <a:prstGeom prst="rect">
            <a:avLst/>
          </a:prstGeom>
          <a:noFill/>
        </p:spPr>
        <p:txBody>
          <a:bodyPr wrap="none" lIns="0" rIns="0" tIns="0" bIns="0">
            <a:spAutoFit/>
          </a:bodyPr>
          <a:lstStyle/>
          <a:p>
            <a:r>
              <a:rPr sz="1150" b="0">
                <a:solidFill>
                  <a:srgbClr val="2E2E2E"/>
                </a:solidFill>
                <a:latin typeface="Calibri"/>
              </a:rPr>
              <a:t>Among matcha by nature, conventional segment is expected to</a:t>
            </a:r>
          </a:p>
        </p:txBody>
      </p:sp>
      <p:sp>
        <p:nvSpPr>
          <p:cNvPr id="30" name="TextBox 29"/>
          <p:cNvSpPr txBox="1"/>
          <p:nvPr/>
        </p:nvSpPr>
        <p:spPr>
          <a:xfrm>
            <a:off x="7829550" y="157543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31" name="Picture 30" descr="lock.png"/>
          <p:cNvPicPr>
            <a:picLocks noChangeAspect="1"/>
          </p:cNvPicPr>
          <p:nvPr/>
        </p:nvPicPr>
        <p:blipFill>
          <a:blip r:embed="rId5"/>
          <a:stretch>
            <a:fillRect/>
          </a:stretch>
        </p:blipFill>
        <p:spPr>
          <a:xfrm>
            <a:off x="9526474" y="1565211"/>
            <a:ext cx="134549" cy="195707"/>
          </a:xfrm>
          <a:prstGeom prst="rect">
            <a:avLst/>
          </a:prstGeom>
        </p:spPr>
      </p:pic>
      <p:sp>
        <p:nvSpPr>
          <p:cNvPr id="32" name="TextBox 31"/>
          <p:cNvSpPr txBox="1"/>
          <p:nvPr/>
        </p:nvSpPr>
        <p:spPr>
          <a:xfrm>
            <a:off x="9701583" y="15754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3" name="TextBox 32"/>
          <p:cNvSpPr txBox="1"/>
          <p:nvPr/>
        </p:nvSpPr>
        <p:spPr>
          <a:xfrm>
            <a:off x="7829550" y="1803273"/>
            <a:ext cx="4031815" cy="194310"/>
          </a:xfrm>
          <a:prstGeom prst="rect">
            <a:avLst/>
          </a:prstGeom>
          <a:noFill/>
        </p:spPr>
        <p:txBody>
          <a:bodyPr wrap="none" lIns="0" rIns="0" tIns="0" bIns="0">
            <a:spAutoFit/>
          </a:bodyPr>
          <a:lstStyle/>
          <a:p>
            <a:r>
              <a:rPr sz="1150" b="0">
                <a:solidFill>
                  <a:srgbClr val="2E2E2E"/>
                </a:solidFill>
                <a:latin typeface="Calibri"/>
              </a:rPr>
              <a:t>In terms of value share by nature, the organic segment is expected</a:t>
            </a:r>
          </a:p>
        </p:txBody>
      </p:sp>
      <p:sp>
        <p:nvSpPr>
          <p:cNvPr id="34" name="TextBox 33"/>
          <p:cNvSpPr txBox="1"/>
          <p:nvPr/>
        </p:nvSpPr>
        <p:spPr>
          <a:xfrm>
            <a:off x="7829550" y="1978533"/>
            <a:ext cx="1914946" cy="194310"/>
          </a:xfrm>
          <a:prstGeom prst="rect">
            <a:avLst/>
          </a:prstGeom>
          <a:noFill/>
        </p:spPr>
        <p:txBody>
          <a:bodyPr wrap="none" lIns="0" rIns="0" tIns="0" bIns="0">
            <a:spAutoFit/>
          </a:bodyPr>
          <a:lstStyle/>
          <a:p>
            <a:r>
              <a:rPr sz="1150" b="0">
                <a:solidFill>
                  <a:srgbClr val="2E2E2E"/>
                </a:solidFill>
                <a:latin typeface="Calibri"/>
              </a:rPr>
              <a:t>to dominate the market, losing</a:t>
            </a:r>
          </a:p>
        </p:txBody>
      </p:sp>
      <p:pic>
        <p:nvPicPr>
          <p:cNvPr id="35" name="Picture 34" descr="lock.png"/>
          <p:cNvPicPr>
            <a:picLocks noChangeAspect="1"/>
          </p:cNvPicPr>
          <p:nvPr/>
        </p:nvPicPr>
        <p:blipFill>
          <a:blip r:embed="rId5"/>
          <a:stretch>
            <a:fillRect/>
          </a:stretch>
        </p:blipFill>
        <p:spPr>
          <a:xfrm>
            <a:off x="9693650" y="1968309"/>
            <a:ext cx="134549" cy="195707"/>
          </a:xfrm>
          <a:prstGeom prst="rect">
            <a:avLst/>
          </a:prstGeom>
        </p:spPr>
      </p:pic>
      <p:sp>
        <p:nvSpPr>
          <p:cNvPr id="36" name="TextBox 35"/>
          <p:cNvSpPr txBox="1"/>
          <p:nvPr/>
        </p:nvSpPr>
        <p:spPr>
          <a:xfrm>
            <a:off x="9868759" y="197853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7" name="Picture 36" descr="lock.png"/>
          <p:cNvPicPr>
            <a:picLocks noChangeAspect="1"/>
          </p:cNvPicPr>
          <p:nvPr/>
        </p:nvPicPr>
        <p:blipFill>
          <a:blip r:embed="rId5"/>
          <a:stretch>
            <a:fillRect/>
          </a:stretch>
        </p:blipFill>
        <p:spPr>
          <a:xfrm>
            <a:off x="11263903" y="1968309"/>
            <a:ext cx="134549" cy="195707"/>
          </a:xfrm>
          <a:prstGeom prst="rect">
            <a:avLst/>
          </a:prstGeom>
        </p:spPr>
      </p:pic>
      <p:sp>
        <p:nvSpPr>
          <p:cNvPr id="38" name="TextBox 37"/>
          <p:cNvSpPr txBox="1"/>
          <p:nvPr/>
        </p:nvSpPr>
        <p:spPr>
          <a:xfrm>
            <a:off x="7829550"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39" name="lockshield_12"/>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Tea</a:t>
            </a:r>
          </a:p>
        </p:txBody>
      </p:sp>
      <p:sp>
        <p:nvSpPr>
          <p:cNvPr id="22" name="Rectangle 21"/>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a:t>
            </a:r>
          </a:p>
        </p:txBody>
      </p:sp>
      <p:sp>
        <p:nvSpPr>
          <p:cNvPr id="29" name="Rectangle 28"/>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5" name="Rectangle 3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37" name="Rounded Rectangle 3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39" name="Rectangle 3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1" name="Rounded Rectangle 4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3" name="Rectangle 4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5" name="Rectangle 4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7" name="TextBox 4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3_056_605E5C.png"/>
          <p:cNvPicPr>
            <a:picLocks noChangeAspect="1"/>
          </p:cNvPicPr>
          <p:nvPr/>
        </p:nvPicPr>
        <p:blipFill>
          <a:blip r:embed="rId4"/>
          <a:stretch>
            <a:fillRect/>
          </a:stretch>
        </p:blipFill>
        <p:spPr>
          <a:xfrm>
            <a:off x="3740773" y="2286582"/>
            <a:ext cx="1195728" cy="361950"/>
          </a:xfrm>
          <a:prstGeom prst="rect">
            <a:avLst/>
          </a:prstGeom>
        </p:spPr>
      </p:pic>
      <p:pic>
        <p:nvPicPr>
          <p:cNvPr id="50" name="Picture 49" descr="6_033_605E5C.png"/>
          <p:cNvPicPr>
            <a:picLocks noChangeAspect="1"/>
          </p:cNvPicPr>
          <p:nvPr/>
        </p:nvPicPr>
        <p:blipFill>
          <a:blip r:embed="rId5"/>
          <a:stretch>
            <a:fillRect/>
          </a:stretch>
        </p:blipFill>
        <p:spPr>
          <a:xfrm>
            <a:off x="3740773" y="2779432"/>
            <a:ext cx="1195728" cy="361950"/>
          </a:xfrm>
          <a:prstGeom prst="rect">
            <a:avLst/>
          </a:prstGeom>
        </p:spPr>
      </p:pic>
      <p:pic>
        <p:nvPicPr>
          <p:cNvPr id="51" name="Picture 50" descr="7_0__605E5C.png"/>
          <p:cNvPicPr>
            <a:picLocks noChangeAspect="1"/>
          </p:cNvPicPr>
          <p:nvPr/>
        </p:nvPicPr>
        <p:blipFill>
          <a:blip r:embed="rId6"/>
          <a:stretch>
            <a:fillRect/>
          </a:stretch>
        </p:blipFill>
        <p:spPr>
          <a:xfrm>
            <a:off x="3847419" y="3272281"/>
            <a:ext cx="982436" cy="361950"/>
          </a:xfrm>
          <a:prstGeom prst="rect">
            <a:avLst/>
          </a:prstGeom>
        </p:spPr>
      </p:pic>
      <p:pic>
        <p:nvPicPr>
          <p:cNvPr id="52" name="Picture 51" descr="317_5_605E5C.png"/>
          <p:cNvPicPr>
            <a:picLocks noChangeAspect="1"/>
          </p:cNvPicPr>
          <p:nvPr/>
        </p:nvPicPr>
        <p:blipFill>
          <a:blip r:embed="rId7"/>
          <a:stretch>
            <a:fillRect/>
          </a:stretch>
        </p:blipFill>
        <p:spPr>
          <a:xfrm>
            <a:off x="8798548" y="2286582"/>
            <a:ext cx="1195728" cy="361950"/>
          </a:xfrm>
          <a:prstGeom prst="rect">
            <a:avLst/>
          </a:prstGeom>
        </p:spPr>
      </p:pic>
      <p:pic>
        <p:nvPicPr>
          <p:cNvPr id="53" name="Picture 52" descr="684_7_605E5C.png"/>
          <p:cNvPicPr>
            <a:picLocks noChangeAspect="1"/>
          </p:cNvPicPr>
          <p:nvPr/>
        </p:nvPicPr>
        <p:blipFill>
          <a:blip r:embed="rId8"/>
          <a:stretch>
            <a:fillRect/>
          </a:stretch>
        </p:blipFill>
        <p:spPr>
          <a:xfrm>
            <a:off x="8798548" y="2779432"/>
            <a:ext cx="1195728" cy="361950"/>
          </a:xfrm>
          <a:prstGeom prst="rect">
            <a:avLst/>
          </a:prstGeom>
        </p:spPr>
      </p:pic>
      <p:pic>
        <p:nvPicPr>
          <p:cNvPr id="54" name="Picture 53" descr="8_0__605E5C.png"/>
          <p:cNvPicPr>
            <a:picLocks noChangeAspect="1"/>
          </p:cNvPicPr>
          <p:nvPr/>
        </p:nvPicPr>
        <p:blipFill>
          <a:blip r:embed="rId9"/>
          <a:stretch>
            <a:fillRect/>
          </a:stretch>
        </p:blipFill>
        <p:spPr>
          <a:xfrm>
            <a:off x="8905194" y="3272281"/>
            <a:ext cx="982436" cy="361950"/>
          </a:xfrm>
          <a:prstGeom prst="rect">
            <a:avLst/>
          </a:prstGeom>
        </p:spPr>
      </p:pic>
      <p:pic>
        <p:nvPicPr>
          <p:cNvPr id="55" name="Picture 54" descr="lock.png"/>
          <p:cNvPicPr>
            <a:picLocks noChangeAspect="1"/>
          </p:cNvPicPr>
          <p:nvPr/>
        </p:nvPicPr>
        <p:blipFill>
          <a:blip r:embed="rId10"/>
          <a:stretch>
            <a:fillRect/>
          </a:stretch>
        </p:blipFill>
        <p:spPr>
          <a:xfrm>
            <a:off x="4230493" y="2805915"/>
            <a:ext cx="212425" cy="308982"/>
          </a:xfrm>
          <a:prstGeom prst="rect">
            <a:avLst/>
          </a:prstGeom>
        </p:spPr>
      </p:pic>
      <p:pic>
        <p:nvPicPr>
          <p:cNvPr id="56" name="Picture 55" descr="lock.png"/>
          <p:cNvPicPr>
            <a:picLocks noChangeAspect="1"/>
          </p:cNvPicPr>
          <p:nvPr/>
        </p:nvPicPr>
        <p:blipFill>
          <a:blip r:embed="rId10"/>
          <a:stretch>
            <a:fillRect/>
          </a:stretch>
        </p:blipFill>
        <p:spPr>
          <a:xfrm>
            <a:off x="9288268" y="2805915"/>
            <a:ext cx="212425" cy="308982"/>
          </a:xfrm>
          <a:prstGeom prst="rect">
            <a:avLst/>
          </a:prstGeom>
        </p:spPr>
      </p:pic>
      <p:sp>
        <p:nvSpPr>
          <p:cNvPr id="57" name="TextBox 56"/>
          <p:cNvSpPr txBox="1"/>
          <p:nvPr/>
        </p:nvSpPr>
        <p:spPr>
          <a:xfrm>
            <a:off x="485775" y="4229437"/>
            <a:ext cx="2833365" cy="186689"/>
          </a:xfrm>
          <a:prstGeom prst="rect">
            <a:avLst/>
          </a:prstGeom>
          <a:noFill/>
        </p:spPr>
        <p:txBody>
          <a:bodyPr wrap="none" lIns="0" rIns="0" tIns="0" bIns="0">
            <a:spAutoFit/>
          </a:bodyPr>
          <a:lstStyle/>
          <a:p>
            <a:r>
              <a:rPr sz="1100" b="0">
                <a:solidFill>
                  <a:srgbClr val="2E2E2E"/>
                </a:solidFill>
                <a:latin typeface="Calibri"/>
              </a:rPr>
              <a:t>Among matcha by product type, matcha powder</a:t>
            </a:r>
          </a:p>
        </p:txBody>
      </p:sp>
      <p:sp>
        <p:nvSpPr>
          <p:cNvPr id="58" name="TextBox 57"/>
          <p:cNvSpPr txBox="1"/>
          <p:nvPr/>
        </p:nvSpPr>
        <p:spPr>
          <a:xfrm>
            <a:off x="485775" y="439707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59" name="TextBox 58"/>
          <p:cNvSpPr txBox="1"/>
          <p:nvPr/>
        </p:nvSpPr>
        <p:spPr>
          <a:xfrm>
            <a:off x="485775" y="456471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60" name="Picture 59" descr="lock.png"/>
          <p:cNvPicPr>
            <a:picLocks noChangeAspect="1"/>
          </p:cNvPicPr>
          <p:nvPr/>
        </p:nvPicPr>
        <p:blipFill>
          <a:blip r:embed="rId10"/>
          <a:stretch>
            <a:fillRect/>
          </a:stretch>
        </p:blipFill>
        <p:spPr>
          <a:xfrm>
            <a:off x="626261" y="4554938"/>
            <a:ext cx="128699" cy="187198"/>
          </a:xfrm>
          <a:prstGeom prst="rect">
            <a:avLst/>
          </a:prstGeom>
        </p:spPr>
      </p:pic>
      <p:sp>
        <p:nvSpPr>
          <p:cNvPr id="61" name="TextBox 60"/>
          <p:cNvSpPr txBox="1"/>
          <p:nvPr/>
        </p:nvSpPr>
        <p:spPr>
          <a:xfrm>
            <a:off x="793757" y="456471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62" name="TextBox 61"/>
          <p:cNvSpPr txBox="1"/>
          <p:nvPr/>
        </p:nvSpPr>
        <p:spPr>
          <a:xfrm>
            <a:off x="485775" y="4732357"/>
            <a:ext cx="2892573" cy="186689"/>
          </a:xfrm>
          <a:prstGeom prst="rect">
            <a:avLst/>
          </a:prstGeom>
          <a:noFill/>
        </p:spPr>
        <p:txBody>
          <a:bodyPr wrap="none" lIns="0" rIns="0" tIns="0" bIns="0">
            <a:spAutoFit/>
          </a:bodyPr>
          <a:lstStyle/>
          <a:p>
            <a:r>
              <a:rPr sz="1100" b="0">
                <a:solidFill>
                  <a:srgbClr val="2E2E2E"/>
                </a:solidFill>
                <a:latin typeface="Calibri"/>
              </a:rPr>
              <a:t>share by product type, the matcha tea segment is</a:t>
            </a:r>
          </a:p>
        </p:txBody>
      </p:sp>
      <p:sp>
        <p:nvSpPr>
          <p:cNvPr id="63" name="TextBox 62"/>
          <p:cNvSpPr txBox="1"/>
          <p:nvPr/>
        </p:nvSpPr>
        <p:spPr>
          <a:xfrm>
            <a:off x="485775" y="489999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4" name="Picture 63" descr="lock.png"/>
          <p:cNvPicPr>
            <a:picLocks noChangeAspect="1"/>
          </p:cNvPicPr>
          <p:nvPr/>
        </p:nvPicPr>
        <p:blipFill>
          <a:blip r:embed="rId10"/>
          <a:stretch>
            <a:fillRect/>
          </a:stretch>
        </p:blipFill>
        <p:spPr>
          <a:xfrm>
            <a:off x="2822716" y="4890217"/>
            <a:ext cx="128699" cy="187198"/>
          </a:xfrm>
          <a:prstGeom prst="rect">
            <a:avLst/>
          </a:prstGeom>
        </p:spPr>
      </p:pic>
      <p:sp>
        <p:nvSpPr>
          <p:cNvPr id="65" name="TextBox 64"/>
          <p:cNvSpPr txBox="1"/>
          <p:nvPr/>
        </p:nvSpPr>
        <p:spPr>
          <a:xfrm>
            <a:off x="2990212" y="489999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6" name="TextBox 65"/>
          <p:cNvSpPr txBox="1"/>
          <p:nvPr/>
        </p:nvSpPr>
        <p:spPr>
          <a:xfrm>
            <a:off x="485775" y="506763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7" name="Picture 66" descr="lock.png"/>
          <p:cNvPicPr>
            <a:picLocks noChangeAspect="1"/>
          </p:cNvPicPr>
          <p:nvPr/>
        </p:nvPicPr>
        <p:blipFill>
          <a:blip r:embed="rId10"/>
          <a:stretch>
            <a:fillRect/>
          </a:stretch>
        </p:blipFill>
        <p:spPr>
          <a:xfrm>
            <a:off x="1576057" y="5057858"/>
            <a:ext cx="128699" cy="187198"/>
          </a:xfrm>
          <a:prstGeom prst="rect">
            <a:avLst/>
          </a:prstGeom>
        </p:spPr>
      </p:pic>
      <p:sp>
        <p:nvSpPr>
          <p:cNvPr id="68" name="TextBox 67"/>
          <p:cNvSpPr txBox="1"/>
          <p:nvPr/>
        </p:nvSpPr>
        <p:spPr>
          <a:xfrm>
            <a:off x="174355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69" name="TextBox 68"/>
          <p:cNvSpPr txBox="1"/>
          <p:nvPr/>
        </p:nvSpPr>
        <p:spPr>
          <a:xfrm>
            <a:off x="485775" y="5285569"/>
            <a:ext cx="2565424" cy="186689"/>
          </a:xfrm>
          <a:prstGeom prst="rect">
            <a:avLst/>
          </a:prstGeom>
          <a:noFill/>
        </p:spPr>
        <p:txBody>
          <a:bodyPr wrap="none" lIns="0" rIns="0" tIns="0" bIns="0">
            <a:spAutoFit/>
          </a:bodyPr>
          <a:lstStyle/>
          <a:p>
            <a:r>
              <a:rPr sz="1100" b="0">
                <a:solidFill>
                  <a:srgbClr val="2E2E2E"/>
                </a:solidFill>
                <a:latin typeface="Calibri"/>
              </a:rPr>
              <a:t>Matcha tea segment is projected to register</a:t>
            </a:r>
          </a:p>
        </p:txBody>
      </p:sp>
      <p:pic>
        <p:nvPicPr>
          <p:cNvPr id="70" name="Picture 69" descr="lock.png"/>
          <p:cNvPicPr>
            <a:picLocks noChangeAspect="1"/>
          </p:cNvPicPr>
          <p:nvPr/>
        </p:nvPicPr>
        <p:blipFill>
          <a:blip r:embed="rId10"/>
          <a:stretch>
            <a:fillRect/>
          </a:stretch>
        </p:blipFill>
        <p:spPr>
          <a:xfrm>
            <a:off x="2999251" y="5275790"/>
            <a:ext cx="128699" cy="187198"/>
          </a:xfrm>
          <a:prstGeom prst="rect">
            <a:avLst/>
          </a:prstGeom>
        </p:spPr>
      </p:pic>
      <p:sp>
        <p:nvSpPr>
          <p:cNvPr id="71" name="TextBox 70"/>
          <p:cNvSpPr txBox="1"/>
          <p:nvPr/>
        </p:nvSpPr>
        <p:spPr>
          <a:xfrm>
            <a:off x="3166747"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72" name="TextBox 71"/>
          <p:cNvSpPr txBox="1"/>
          <p:nvPr/>
        </p:nvSpPr>
        <p:spPr>
          <a:xfrm>
            <a:off x="485775" y="5453209"/>
            <a:ext cx="2655465" cy="186689"/>
          </a:xfrm>
          <a:prstGeom prst="rect">
            <a:avLst/>
          </a:prstGeom>
          <a:noFill/>
        </p:spPr>
        <p:txBody>
          <a:bodyPr wrap="none" lIns="0" rIns="0" tIns="0" bIns="0">
            <a:spAutoFit/>
          </a:bodyPr>
          <a:lstStyle/>
          <a:p>
            <a:r>
              <a:rPr sz="1100" b="0">
                <a:solidFill>
                  <a:srgbClr val="2E2E2E"/>
                </a:solidFill>
                <a:latin typeface="Calibri"/>
              </a:rPr>
              <a:t>higher value than matcha powder segment in</a:t>
            </a:r>
          </a:p>
        </p:txBody>
      </p:sp>
      <p:sp>
        <p:nvSpPr>
          <p:cNvPr id="73" name="TextBox 72"/>
          <p:cNvSpPr txBox="1"/>
          <p:nvPr/>
        </p:nvSpPr>
        <p:spPr>
          <a:xfrm>
            <a:off x="485775" y="562084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4" name="TextBox 73"/>
          <p:cNvSpPr txBox="1"/>
          <p:nvPr/>
        </p:nvSpPr>
        <p:spPr>
          <a:xfrm>
            <a:off x="3838575" y="4229437"/>
            <a:ext cx="898574" cy="186689"/>
          </a:xfrm>
          <a:prstGeom prst="rect">
            <a:avLst/>
          </a:prstGeom>
          <a:noFill/>
        </p:spPr>
        <p:txBody>
          <a:bodyPr wrap="none" lIns="0" rIns="0" tIns="0" bIns="0">
            <a:spAutoFit/>
          </a:bodyPr>
          <a:lstStyle/>
          <a:p>
            <a:r>
              <a:rPr sz="1100" b="0">
                <a:solidFill>
                  <a:srgbClr val="2E2E2E"/>
                </a:solidFill>
                <a:latin typeface="Calibri"/>
              </a:rPr>
              <a:t>● Matcha Tea:</a:t>
            </a:r>
          </a:p>
        </p:txBody>
      </p:sp>
      <p:pic>
        <p:nvPicPr>
          <p:cNvPr id="75" name="Picture 74" descr="lock.png"/>
          <p:cNvPicPr>
            <a:picLocks noChangeAspect="1"/>
          </p:cNvPicPr>
          <p:nvPr/>
        </p:nvPicPr>
        <p:blipFill>
          <a:blip r:embed="rId10"/>
          <a:stretch>
            <a:fillRect/>
          </a:stretch>
        </p:blipFill>
        <p:spPr>
          <a:xfrm>
            <a:off x="4685201" y="4219658"/>
            <a:ext cx="128699" cy="187198"/>
          </a:xfrm>
          <a:prstGeom prst="rect">
            <a:avLst/>
          </a:prstGeom>
        </p:spPr>
      </p:pic>
      <p:sp>
        <p:nvSpPr>
          <p:cNvPr id="76" name="TextBox 75"/>
          <p:cNvSpPr txBox="1"/>
          <p:nvPr/>
        </p:nvSpPr>
        <p:spPr>
          <a:xfrm>
            <a:off x="485269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5712147" y="4219658"/>
            <a:ext cx="128699" cy="187198"/>
          </a:xfrm>
          <a:prstGeom prst="rect">
            <a:avLst/>
          </a:prstGeom>
        </p:spPr>
      </p:pic>
      <p:sp>
        <p:nvSpPr>
          <p:cNvPr id="78" name="TextBox 77"/>
          <p:cNvSpPr txBox="1"/>
          <p:nvPr/>
        </p:nvSpPr>
        <p:spPr>
          <a:xfrm>
            <a:off x="5879643"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9" name="TextBox 78"/>
          <p:cNvSpPr txBox="1"/>
          <p:nvPr/>
        </p:nvSpPr>
        <p:spPr>
          <a:xfrm>
            <a:off x="3838575" y="4447369"/>
            <a:ext cx="1131589" cy="186689"/>
          </a:xfrm>
          <a:prstGeom prst="rect">
            <a:avLst/>
          </a:prstGeom>
          <a:noFill/>
        </p:spPr>
        <p:txBody>
          <a:bodyPr wrap="none" lIns="0" rIns="0" tIns="0" bIns="0">
            <a:spAutoFit/>
          </a:bodyPr>
          <a:lstStyle/>
          <a:p>
            <a:r>
              <a:rPr sz="1100" b="0">
                <a:solidFill>
                  <a:srgbClr val="2E2E2E"/>
                </a:solidFill>
                <a:latin typeface="Calibri"/>
              </a:rPr>
              <a:t>● Matcha Powder:</a:t>
            </a:r>
          </a:p>
        </p:txBody>
      </p:sp>
      <p:pic>
        <p:nvPicPr>
          <p:cNvPr id="80" name="Picture 79" descr="lock.png"/>
          <p:cNvPicPr>
            <a:picLocks noChangeAspect="1"/>
          </p:cNvPicPr>
          <p:nvPr/>
        </p:nvPicPr>
        <p:blipFill>
          <a:blip r:embed="rId10"/>
          <a:stretch>
            <a:fillRect/>
          </a:stretch>
        </p:blipFill>
        <p:spPr>
          <a:xfrm>
            <a:off x="4918216" y="4437590"/>
            <a:ext cx="128699" cy="187198"/>
          </a:xfrm>
          <a:prstGeom prst="rect">
            <a:avLst/>
          </a:prstGeom>
        </p:spPr>
      </p:pic>
      <p:sp>
        <p:nvSpPr>
          <p:cNvPr id="81" name="TextBox 80"/>
          <p:cNvSpPr txBox="1"/>
          <p:nvPr/>
        </p:nvSpPr>
        <p:spPr>
          <a:xfrm>
            <a:off x="508571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0"/>
          <a:stretch>
            <a:fillRect/>
          </a:stretch>
        </p:blipFill>
        <p:spPr>
          <a:xfrm>
            <a:off x="5945162" y="4437590"/>
            <a:ext cx="128699" cy="187198"/>
          </a:xfrm>
          <a:prstGeom prst="rect">
            <a:avLst/>
          </a:prstGeom>
        </p:spPr>
      </p:pic>
      <p:sp>
        <p:nvSpPr>
          <p:cNvPr id="83" name="TextBox 82"/>
          <p:cNvSpPr txBox="1"/>
          <p:nvPr/>
        </p:nvSpPr>
        <p:spPr>
          <a:xfrm>
            <a:off x="6112658"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4" name="TextBox 83"/>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85" name="TextBox 84"/>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6" name="Picture 85" descr="lock.png"/>
          <p:cNvPicPr>
            <a:picLocks noChangeAspect="1"/>
          </p:cNvPicPr>
          <p:nvPr/>
        </p:nvPicPr>
        <p:blipFill>
          <a:blip r:embed="rId10"/>
          <a:stretch>
            <a:fillRect/>
          </a:stretch>
        </p:blipFill>
        <p:spPr>
          <a:xfrm>
            <a:off x="9048826" y="6007677"/>
            <a:ext cx="134549" cy="195707"/>
          </a:xfrm>
          <a:prstGeom prst="rect">
            <a:avLst/>
          </a:prstGeom>
        </p:spPr>
      </p:pic>
      <p:sp>
        <p:nvSpPr>
          <p:cNvPr id="87" name="TextBox 86"/>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5" name="Chart 14"/>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595992" cy="186689"/>
          </a:xfrm>
          <a:prstGeom prst="rect">
            <a:avLst/>
          </a:prstGeom>
          <a:noFill/>
        </p:spPr>
        <p:txBody>
          <a:bodyPr wrap="none" lIns="0" rIns="0" tIns="0" bIns="0">
            <a:spAutoFit/>
          </a:bodyPr>
          <a:lstStyle/>
          <a:p>
            <a:r>
              <a:rPr sz="1100" b="0">
                <a:solidFill>
                  <a:srgbClr val="2E2E2E"/>
                </a:solidFill>
                <a:latin typeface="Calibri"/>
              </a:rPr>
              <a:t>Matcha tea followed by matcha powder are expected to be the two most attractive product type segments in the global matcha market in terms of value over the forecast period. Matcha tea and matcha</a:t>
            </a:r>
          </a:p>
        </p:txBody>
      </p:sp>
      <p:sp>
        <p:nvSpPr>
          <p:cNvPr id="20" name="TextBox 19"/>
          <p:cNvSpPr txBox="1"/>
          <p:nvPr/>
        </p:nvSpPr>
        <p:spPr>
          <a:xfrm>
            <a:off x="257175" y="5945505"/>
            <a:ext cx="1872910" cy="186689"/>
          </a:xfrm>
          <a:prstGeom prst="rect">
            <a:avLst/>
          </a:prstGeom>
          <a:noFill/>
        </p:spPr>
        <p:txBody>
          <a:bodyPr wrap="none" lIns="0" rIns="0" tIns="0" bIns="0">
            <a:spAutoFit/>
          </a:bodyPr>
          <a:lstStyle/>
          <a:p>
            <a:r>
              <a:rPr sz="1100" b="0">
                <a:solidFill>
                  <a:srgbClr val="2E2E2E"/>
                </a:solidFill>
                <a:latin typeface="Calibri"/>
              </a:rPr>
              <a:t>powder exhibit a CAGR index of</a:t>
            </a:r>
          </a:p>
        </p:txBody>
      </p:sp>
      <p:pic>
        <p:nvPicPr>
          <p:cNvPr id="21" name="Picture 20" descr="lock.png"/>
          <p:cNvPicPr>
            <a:picLocks noChangeAspect="1"/>
          </p:cNvPicPr>
          <p:nvPr/>
        </p:nvPicPr>
        <p:blipFill>
          <a:blip r:embed="rId6"/>
          <a:stretch>
            <a:fillRect/>
          </a:stretch>
        </p:blipFill>
        <p:spPr>
          <a:xfrm>
            <a:off x="2078137" y="5935726"/>
            <a:ext cx="128699" cy="187198"/>
          </a:xfrm>
          <a:prstGeom prst="rect">
            <a:avLst/>
          </a:prstGeom>
        </p:spPr>
      </p:pic>
      <p:sp>
        <p:nvSpPr>
          <p:cNvPr id="22" name="TextBox 21"/>
          <p:cNvSpPr txBox="1"/>
          <p:nvPr/>
        </p:nvSpPr>
        <p:spPr>
          <a:xfrm>
            <a:off x="2245632"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2483527" y="5935726"/>
            <a:ext cx="128699" cy="187198"/>
          </a:xfrm>
          <a:prstGeom prst="rect">
            <a:avLst/>
          </a:prstGeom>
        </p:spPr>
      </p:pic>
      <p:sp>
        <p:nvSpPr>
          <p:cNvPr id="24" name="TextBox 23"/>
          <p:cNvSpPr txBox="1"/>
          <p:nvPr/>
        </p:nvSpPr>
        <p:spPr>
          <a:xfrm>
            <a:off x="2651023"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4259996" y="5935726"/>
            <a:ext cx="128699" cy="187198"/>
          </a:xfrm>
          <a:prstGeom prst="rect">
            <a:avLst/>
          </a:prstGeom>
        </p:spPr>
      </p:pic>
      <p:sp>
        <p:nvSpPr>
          <p:cNvPr id="26" name="TextBox 25"/>
          <p:cNvSpPr txBox="1"/>
          <p:nvPr/>
        </p:nvSpPr>
        <p:spPr>
          <a:xfrm>
            <a:off x="4427492"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4665386" y="5935726"/>
            <a:ext cx="128699" cy="187198"/>
          </a:xfrm>
          <a:prstGeom prst="rect">
            <a:avLst/>
          </a:prstGeom>
        </p:spPr>
      </p:pic>
      <p:sp>
        <p:nvSpPr>
          <p:cNvPr id="28" name="TextBox 27"/>
          <p:cNvSpPr txBox="1"/>
          <p:nvPr/>
        </p:nvSpPr>
        <p:spPr>
          <a:xfrm>
            <a:off x="4832882"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7387286" y="5935726"/>
            <a:ext cx="128699" cy="187198"/>
          </a:xfrm>
          <a:prstGeom prst="rect">
            <a:avLst/>
          </a:prstGeom>
        </p:spPr>
      </p:pic>
      <p:sp>
        <p:nvSpPr>
          <p:cNvPr id="30" name="TextBox 29"/>
          <p:cNvSpPr txBox="1"/>
          <p:nvPr/>
        </p:nvSpPr>
        <p:spPr>
          <a:xfrm>
            <a:off x="7554782" y="5945505"/>
            <a:ext cx="3926391"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 segment</a:t>
            </a:r>
          </a:p>
        </p:txBody>
      </p:sp>
      <p:sp>
        <p:nvSpPr>
          <p:cNvPr id="31" name="TextBox 30"/>
          <p:cNvSpPr txBox="1"/>
          <p:nvPr/>
        </p:nvSpPr>
        <p:spPr>
          <a:xfrm>
            <a:off x="257175" y="611314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Matcha Powder</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Matcha Tea</a:t>
            </a:r>
          </a:p>
        </p:txBody>
      </p:sp>
      <p:graphicFrame>
        <p:nvGraphicFramePr>
          <p:cNvPr id="15" name="Chart 14"/>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6"/>
          <a:stretch>
            <a:fillRect/>
          </a:stretch>
        </p:blipFill>
        <p:spPr>
          <a:xfrm>
            <a:off x="3024059" y="3583939"/>
            <a:ext cx="402511" cy="585471"/>
          </a:xfrm>
          <a:prstGeom prst="rect">
            <a:avLst/>
          </a:prstGeom>
        </p:spPr>
      </p:pic>
      <p:pic>
        <p:nvPicPr>
          <p:cNvPr id="18" name="Picture 17" descr="lock.png"/>
          <p:cNvPicPr>
            <a:picLocks noChangeAspect="1"/>
          </p:cNvPicPr>
          <p:nvPr/>
        </p:nvPicPr>
        <p:blipFill>
          <a:blip r:embed="rId6"/>
          <a:stretch>
            <a:fillRect/>
          </a:stretch>
        </p:blipFill>
        <p:spPr>
          <a:xfrm>
            <a:off x="9053384" y="3583939"/>
            <a:ext cx="402511" cy="585471"/>
          </a:xfrm>
          <a:prstGeom prst="rect">
            <a:avLst/>
          </a:prstGeom>
        </p:spPr>
      </p:pic>
      <p:sp>
        <p:nvSpPr>
          <p:cNvPr id="19" name="lockshield_12"/>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lockshield_15"/>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Product Type (US$ Mn)</a:t>
            </a:r>
          </a:p>
        </p:txBody>
      </p:sp>
      <p:graphicFrame>
        <p:nvGraphicFramePr>
          <p:cNvPr id="12" name="Table 11"/>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1766511"/>
                <a:gridCol w="595335"/>
                <a:gridCol w="595335"/>
                <a:gridCol w="595335"/>
                <a:gridCol w="595335"/>
                <a:gridCol w="595335"/>
                <a:gridCol w="595335"/>
                <a:gridCol w="595335"/>
                <a:gridCol w="595335"/>
                <a:gridCol w="595335"/>
                <a:gridCol w="595335"/>
                <a:gridCol w="595335"/>
                <a:gridCol w="595335"/>
                <a:gridCol w="595335"/>
                <a:gridCol w="595335"/>
                <a:gridCol w="595335"/>
                <a:gridCol w="595335"/>
                <a:gridCol w="59533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Caffeine Added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Decaffeinated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High Caffeine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Naturally Caffeinated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Naturally Decaffeinated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Product Type</a:t>
            </a:r>
          </a:p>
        </p:txBody>
      </p:sp>
      <p:sp>
        <p:nvSpPr>
          <p:cNvPr id="16" name="Rectangle 15"/>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792568" y="2204276"/>
            <a:ext cx="366712" cy="533400"/>
          </a:xfrm>
          <a:prstGeom prst="rect">
            <a:avLst/>
          </a:prstGeom>
        </p:spPr>
      </p:pic>
      <p:sp>
        <p:nvSpPr>
          <p:cNvPr id="20" name="TextBox 19"/>
          <p:cNvSpPr txBox="1"/>
          <p:nvPr/>
        </p:nvSpPr>
        <p:spPr>
          <a:xfrm>
            <a:off x="276225" y="4219575"/>
            <a:ext cx="2678571" cy="194310"/>
          </a:xfrm>
          <a:prstGeom prst="rect">
            <a:avLst/>
          </a:prstGeom>
          <a:noFill/>
        </p:spPr>
        <p:txBody>
          <a:bodyPr wrap="none" lIns="0" rIns="0" tIns="0" bIns="0">
            <a:spAutoFit/>
          </a:bodyPr>
          <a:lstStyle/>
          <a:p>
            <a:r>
              <a:rPr sz="1150" b="0">
                <a:solidFill>
                  <a:srgbClr val="2E2E2E"/>
                </a:solidFill>
                <a:latin typeface="Calibri"/>
              </a:rPr>
              <a:t>Matcha tea segment is projected to register</a:t>
            </a:r>
          </a:p>
        </p:txBody>
      </p:sp>
      <p:pic>
        <p:nvPicPr>
          <p:cNvPr id="21" name="Picture 20" descr="lock.png"/>
          <p:cNvPicPr>
            <a:picLocks noChangeAspect="1"/>
          </p:cNvPicPr>
          <p:nvPr/>
        </p:nvPicPr>
        <p:blipFill>
          <a:blip r:embed="rId4"/>
          <a:stretch>
            <a:fillRect/>
          </a:stretch>
        </p:blipFill>
        <p:spPr>
          <a:xfrm>
            <a:off x="2903950" y="4209351"/>
            <a:ext cx="134549" cy="195707"/>
          </a:xfrm>
          <a:prstGeom prst="rect">
            <a:avLst/>
          </a:prstGeom>
        </p:spPr>
      </p:pic>
      <p:sp>
        <p:nvSpPr>
          <p:cNvPr id="22" name="TextBox 21"/>
          <p:cNvSpPr txBox="1"/>
          <p:nvPr/>
        </p:nvSpPr>
        <p:spPr>
          <a:xfrm>
            <a:off x="3079059" y="4219575"/>
            <a:ext cx="8755905" cy="194310"/>
          </a:xfrm>
          <a:prstGeom prst="rect">
            <a:avLst/>
          </a:prstGeom>
          <a:noFill/>
        </p:spPr>
        <p:txBody>
          <a:bodyPr wrap="none" lIns="0" rIns="0" tIns="0" bIns="0">
            <a:spAutoFit/>
          </a:bodyPr>
          <a:lstStyle/>
          <a:p>
            <a:r>
              <a:rPr sz="1150" b="0">
                <a:solidFill>
                  <a:srgbClr val="2E2E2E"/>
                </a:solidFill>
                <a:latin typeface="Calibri"/>
              </a:rPr>
              <a:t>X higher value than matcha powder segment in 2036. Among matcha by product type, matcha powder segment is expected to witness the highest</a:t>
            </a:r>
          </a:p>
        </p:txBody>
      </p:sp>
      <p:sp>
        <p:nvSpPr>
          <p:cNvPr id="23" name="TextBox 22"/>
          <p:cNvSpPr txBox="1"/>
          <p:nvPr/>
        </p:nvSpPr>
        <p:spPr>
          <a:xfrm>
            <a:off x="276225" y="439483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24" name="Picture 23" descr="lock.png"/>
          <p:cNvPicPr>
            <a:picLocks noChangeAspect="1"/>
          </p:cNvPicPr>
          <p:nvPr/>
        </p:nvPicPr>
        <p:blipFill>
          <a:blip r:embed="rId4"/>
          <a:stretch>
            <a:fillRect/>
          </a:stretch>
        </p:blipFill>
        <p:spPr>
          <a:xfrm>
            <a:off x="789915" y="4384611"/>
            <a:ext cx="134549" cy="195707"/>
          </a:xfrm>
          <a:prstGeom prst="rect">
            <a:avLst/>
          </a:prstGeom>
        </p:spPr>
      </p:pic>
      <p:sp>
        <p:nvSpPr>
          <p:cNvPr id="25" name="TextBox 24"/>
          <p:cNvSpPr txBox="1"/>
          <p:nvPr/>
        </p:nvSpPr>
        <p:spPr>
          <a:xfrm>
            <a:off x="965025"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622672"/>
            <a:ext cx="6504396"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matcha tea segment is expected to dominate the market, losing</a:t>
            </a:r>
          </a:p>
        </p:txBody>
      </p:sp>
      <p:pic>
        <p:nvPicPr>
          <p:cNvPr id="27" name="Picture 26" descr="lock.png"/>
          <p:cNvPicPr>
            <a:picLocks noChangeAspect="1"/>
          </p:cNvPicPr>
          <p:nvPr/>
        </p:nvPicPr>
        <p:blipFill>
          <a:blip r:embed="rId4"/>
          <a:stretch>
            <a:fillRect/>
          </a:stretch>
        </p:blipFill>
        <p:spPr>
          <a:xfrm>
            <a:off x="6729775" y="4612449"/>
            <a:ext cx="134549" cy="195707"/>
          </a:xfrm>
          <a:prstGeom prst="rect">
            <a:avLst/>
          </a:prstGeom>
        </p:spPr>
      </p:pic>
      <p:sp>
        <p:nvSpPr>
          <p:cNvPr id="28" name="TextBox 27"/>
          <p:cNvSpPr txBox="1"/>
          <p:nvPr/>
        </p:nvSpPr>
        <p:spPr>
          <a:xfrm>
            <a:off x="6904884"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300028" y="4612449"/>
            <a:ext cx="134549" cy="195707"/>
          </a:xfrm>
          <a:prstGeom prst="rect">
            <a:avLst/>
          </a:prstGeom>
        </p:spPr>
      </p:pic>
      <p:sp>
        <p:nvSpPr>
          <p:cNvPr id="30" name="TextBox 29"/>
          <p:cNvSpPr txBox="1"/>
          <p:nvPr/>
        </p:nvSpPr>
        <p:spPr>
          <a:xfrm>
            <a:off x="8475137" y="46226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Product Type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90428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5090922" y="18995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8233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a:t>
            </a:r>
          </a:p>
        </p:txBody>
      </p:sp>
      <p:sp>
        <p:nvSpPr>
          <p:cNvPr id="18" name="BPS Value 1"/>
          <p:cNvSpPr txBox="1"/>
          <p:nvPr/>
        </p:nvSpPr>
        <p:spPr>
          <a:xfrm>
            <a:off x="6896100" y="188523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928997" y="419047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418570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41095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Tea</a:t>
            </a:r>
          </a:p>
        </p:txBody>
      </p:sp>
      <p:sp>
        <p:nvSpPr>
          <p:cNvPr id="22" name="BPS Value 2"/>
          <p:cNvSpPr txBox="1"/>
          <p:nvPr/>
        </p:nvSpPr>
        <p:spPr>
          <a:xfrm>
            <a:off x="6896100" y="417142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Rounded Rectangle 22"/>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Product Type</a:t>
            </a:r>
          </a:p>
        </p:txBody>
      </p:sp>
      <p:sp>
        <p:nvSpPr>
          <p:cNvPr id="25" name="Rectangle 24"/>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5"/>
          <a:stretch>
            <a:fillRect/>
          </a:stretch>
        </p:blipFill>
        <p:spPr>
          <a:xfrm>
            <a:off x="2557843" y="3833622"/>
            <a:ext cx="275034" cy="400050"/>
          </a:xfrm>
          <a:prstGeom prst="rect">
            <a:avLst/>
          </a:prstGeom>
        </p:spPr>
      </p:pic>
      <p:sp>
        <p:nvSpPr>
          <p:cNvPr id="29" name="TextBox 28"/>
          <p:cNvSpPr txBox="1"/>
          <p:nvPr/>
        </p:nvSpPr>
        <p:spPr>
          <a:xfrm>
            <a:off x="7829550" y="1400175"/>
            <a:ext cx="3629322" cy="194310"/>
          </a:xfrm>
          <a:prstGeom prst="rect">
            <a:avLst/>
          </a:prstGeom>
          <a:noFill/>
        </p:spPr>
        <p:txBody>
          <a:bodyPr wrap="none" lIns="0" rIns="0" tIns="0" bIns="0">
            <a:spAutoFit/>
          </a:bodyPr>
          <a:lstStyle/>
          <a:p>
            <a:r>
              <a:rPr sz="1150" b="0">
                <a:solidFill>
                  <a:srgbClr val="2E2E2E"/>
                </a:solidFill>
                <a:latin typeface="Calibri"/>
              </a:rPr>
              <a:t>Among matcha by product type, matcha powder segment is</a:t>
            </a:r>
          </a:p>
        </p:txBody>
      </p:sp>
      <p:sp>
        <p:nvSpPr>
          <p:cNvPr id="30" name="TextBox 29"/>
          <p:cNvSpPr txBox="1"/>
          <p:nvPr/>
        </p:nvSpPr>
        <p:spPr>
          <a:xfrm>
            <a:off x="7829550" y="157543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31" name="Picture 30" descr="lock.png"/>
          <p:cNvPicPr>
            <a:picLocks noChangeAspect="1"/>
          </p:cNvPicPr>
          <p:nvPr/>
        </p:nvPicPr>
        <p:blipFill>
          <a:blip r:embed="rId5"/>
          <a:stretch>
            <a:fillRect/>
          </a:stretch>
        </p:blipFill>
        <p:spPr>
          <a:xfrm>
            <a:off x="10264711" y="1565211"/>
            <a:ext cx="134549" cy="195707"/>
          </a:xfrm>
          <a:prstGeom prst="rect">
            <a:avLst/>
          </a:prstGeom>
        </p:spPr>
      </p:pic>
      <p:sp>
        <p:nvSpPr>
          <p:cNvPr id="32" name="TextBox 31"/>
          <p:cNvSpPr txBox="1"/>
          <p:nvPr/>
        </p:nvSpPr>
        <p:spPr>
          <a:xfrm>
            <a:off x="104398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33" name="TextBox 32"/>
          <p:cNvSpPr txBox="1"/>
          <p:nvPr/>
        </p:nvSpPr>
        <p:spPr>
          <a:xfrm>
            <a:off x="7829550" y="1750695"/>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34" name="TextBox 33"/>
          <p:cNvSpPr txBox="1"/>
          <p:nvPr/>
        </p:nvSpPr>
        <p:spPr>
          <a:xfrm>
            <a:off x="7829550" y="1978533"/>
            <a:ext cx="4053495"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matcha tea segment is</a:t>
            </a:r>
          </a:p>
        </p:txBody>
      </p:sp>
      <p:sp>
        <p:nvSpPr>
          <p:cNvPr id="35" name="TextBox 34"/>
          <p:cNvSpPr txBox="1"/>
          <p:nvPr/>
        </p:nvSpPr>
        <p:spPr>
          <a:xfrm>
            <a:off x="7829550" y="2153793"/>
            <a:ext cx="2494012" cy="194310"/>
          </a:xfrm>
          <a:prstGeom prst="rect">
            <a:avLst/>
          </a:prstGeom>
          <a:noFill/>
        </p:spPr>
        <p:txBody>
          <a:bodyPr wrap="none" lIns="0" rIns="0" tIns="0" bIns="0">
            <a:spAutoFit/>
          </a:bodyPr>
          <a:lstStyle/>
          <a:p>
            <a:r>
              <a:rPr sz="1150" b="0">
                <a:solidFill>
                  <a:srgbClr val="2E2E2E"/>
                </a:solidFill>
                <a:latin typeface="Calibri"/>
              </a:rPr>
              <a:t>expected to dominate the market, losing</a:t>
            </a:r>
          </a:p>
        </p:txBody>
      </p:sp>
      <p:pic>
        <p:nvPicPr>
          <p:cNvPr id="36" name="Picture 35" descr="lock.png"/>
          <p:cNvPicPr>
            <a:picLocks noChangeAspect="1"/>
          </p:cNvPicPr>
          <p:nvPr/>
        </p:nvPicPr>
        <p:blipFill>
          <a:blip r:embed="rId5"/>
          <a:stretch>
            <a:fillRect/>
          </a:stretch>
        </p:blipFill>
        <p:spPr>
          <a:xfrm>
            <a:off x="10272716" y="2143569"/>
            <a:ext cx="134549" cy="195707"/>
          </a:xfrm>
          <a:prstGeom prst="rect">
            <a:avLst/>
          </a:prstGeom>
        </p:spPr>
      </p:pic>
      <p:sp>
        <p:nvSpPr>
          <p:cNvPr id="37" name="TextBox 36"/>
          <p:cNvSpPr txBox="1"/>
          <p:nvPr/>
        </p:nvSpPr>
        <p:spPr>
          <a:xfrm>
            <a:off x="10447825" y="2153793"/>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38" name="TextBox 37"/>
          <p:cNvSpPr txBox="1"/>
          <p:nvPr/>
        </p:nvSpPr>
        <p:spPr>
          <a:xfrm>
            <a:off x="7829550" y="2329053"/>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39" name="Picture 38" descr="lock.png"/>
          <p:cNvPicPr>
            <a:picLocks noChangeAspect="1"/>
          </p:cNvPicPr>
          <p:nvPr/>
        </p:nvPicPr>
        <p:blipFill>
          <a:blip r:embed="rId5"/>
          <a:stretch>
            <a:fillRect/>
          </a:stretch>
        </p:blipFill>
        <p:spPr>
          <a:xfrm>
            <a:off x="8027482" y="2318829"/>
            <a:ext cx="134549" cy="195707"/>
          </a:xfrm>
          <a:prstGeom prst="rect">
            <a:avLst/>
          </a:prstGeom>
        </p:spPr>
      </p:pic>
      <p:sp>
        <p:nvSpPr>
          <p:cNvPr id="40" name="TextBox 39"/>
          <p:cNvSpPr txBox="1"/>
          <p:nvPr/>
        </p:nvSpPr>
        <p:spPr>
          <a:xfrm>
            <a:off x="8202591"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Form</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Form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Form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Form,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Form segment categorizes the market by form.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Liquid</a:t>
            </a:r>
          </a:p>
        </p:txBody>
      </p:sp>
      <p:sp>
        <p:nvSpPr>
          <p:cNvPr id="22" name="Rectangle 21"/>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Blended</a:t>
            </a:r>
          </a:p>
        </p:txBody>
      </p:sp>
      <p:sp>
        <p:nvSpPr>
          <p:cNvPr id="29" name="Rectangle 28"/>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Ground</a:t>
            </a:r>
          </a:p>
        </p:txBody>
      </p:sp>
      <p:sp>
        <p:nvSpPr>
          <p:cNvPr id="36" name="Rectangle 35"/>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Whole</a:t>
            </a:r>
          </a:p>
        </p:txBody>
      </p:sp>
      <p:sp>
        <p:nvSpPr>
          <p:cNvPr id="43" name="Rectangle 42"/>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a:t>
            </a:r>
          </a:p>
        </p:txBody>
      </p:sp>
      <p:sp>
        <p:nvSpPr>
          <p:cNvPr id="50" name="Rectangle 49"/>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Granules</a:t>
            </a:r>
          </a:p>
        </p:txBody>
      </p:sp>
      <p:sp>
        <p:nvSpPr>
          <p:cNvPr id="57" name="Rectangle 56"/>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3" name="Rectangle 6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65" name="Rounded Rectangle 6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7" name="Rectangle 6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69" name="Rounded Rectangle 6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1" name="Rectangle 7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Form split shows how demand is distributed across form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3" name="Rectangle 7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5" name="TextBox 7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6" name="TextBox 7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7" name="Picture 76" descr="1_067_605E5C.png"/>
          <p:cNvPicPr>
            <a:picLocks noChangeAspect="1"/>
          </p:cNvPicPr>
          <p:nvPr/>
        </p:nvPicPr>
        <p:blipFill>
          <a:blip r:embed="rId4"/>
          <a:stretch>
            <a:fillRect/>
          </a:stretch>
        </p:blipFill>
        <p:spPr>
          <a:xfrm>
            <a:off x="2054848" y="2286582"/>
            <a:ext cx="1195728" cy="361950"/>
          </a:xfrm>
          <a:prstGeom prst="rect">
            <a:avLst/>
          </a:prstGeom>
        </p:spPr>
      </p:pic>
      <p:pic>
        <p:nvPicPr>
          <p:cNvPr id="78" name="Picture 77" descr="2_659_605E5C.png"/>
          <p:cNvPicPr>
            <a:picLocks noChangeAspect="1"/>
          </p:cNvPicPr>
          <p:nvPr/>
        </p:nvPicPr>
        <p:blipFill>
          <a:blip r:embed="rId5"/>
          <a:stretch>
            <a:fillRect/>
          </a:stretch>
        </p:blipFill>
        <p:spPr>
          <a:xfrm>
            <a:off x="2054848" y="2779432"/>
            <a:ext cx="1195728" cy="361950"/>
          </a:xfrm>
          <a:prstGeom prst="rect">
            <a:avLst/>
          </a:prstGeom>
        </p:spPr>
      </p:pic>
      <p:pic>
        <p:nvPicPr>
          <p:cNvPr id="79" name="Picture 78" descr="9_6__605E5C.png"/>
          <p:cNvPicPr>
            <a:picLocks noChangeAspect="1"/>
          </p:cNvPicPr>
          <p:nvPr/>
        </p:nvPicPr>
        <p:blipFill>
          <a:blip r:embed="rId6"/>
          <a:stretch>
            <a:fillRect/>
          </a:stretch>
        </p:blipFill>
        <p:spPr>
          <a:xfrm>
            <a:off x="2161494" y="3272281"/>
            <a:ext cx="982436" cy="361950"/>
          </a:xfrm>
          <a:prstGeom prst="rect">
            <a:avLst/>
          </a:prstGeom>
        </p:spPr>
      </p:pic>
      <p:pic>
        <p:nvPicPr>
          <p:cNvPr id="80" name="Picture 79" descr="868_1_605E5C.png"/>
          <p:cNvPicPr>
            <a:picLocks noChangeAspect="1"/>
          </p:cNvPicPr>
          <p:nvPr/>
        </p:nvPicPr>
        <p:blipFill>
          <a:blip r:embed="rId7"/>
          <a:stretch>
            <a:fillRect/>
          </a:stretch>
        </p:blipFill>
        <p:spPr>
          <a:xfrm>
            <a:off x="3740773" y="2286582"/>
            <a:ext cx="1195728" cy="361950"/>
          </a:xfrm>
          <a:prstGeom prst="rect">
            <a:avLst/>
          </a:prstGeom>
        </p:spPr>
      </p:pic>
      <p:pic>
        <p:nvPicPr>
          <p:cNvPr id="81" name="Picture 80" descr="1_425_605E5C.png"/>
          <p:cNvPicPr>
            <a:picLocks noChangeAspect="1"/>
          </p:cNvPicPr>
          <p:nvPr/>
        </p:nvPicPr>
        <p:blipFill>
          <a:blip r:embed="rId8"/>
          <a:stretch>
            <a:fillRect/>
          </a:stretch>
        </p:blipFill>
        <p:spPr>
          <a:xfrm>
            <a:off x="3740773" y="2779432"/>
            <a:ext cx="1195728" cy="361950"/>
          </a:xfrm>
          <a:prstGeom prst="rect">
            <a:avLst/>
          </a:prstGeom>
        </p:spPr>
      </p:pic>
      <p:pic>
        <p:nvPicPr>
          <p:cNvPr id="82" name="Picture 81" descr="5_1__605E5C.png"/>
          <p:cNvPicPr>
            <a:picLocks noChangeAspect="1"/>
          </p:cNvPicPr>
          <p:nvPr/>
        </p:nvPicPr>
        <p:blipFill>
          <a:blip r:embed="rId9"/>
          <a:stretch>
            <a:fillRect/>
          </a:stretch>
        </p:blipFill>
        <p:spPr>
          <a:xfrm>
            <a:off x="3847419" y="3272281"/>
            <a:ext cx="982436" cy="361950"/>
          </a:xfrm>
          <a:prstGeom prst="rect">
            <a:avLst/>
          </a:prstGeom>
        </p:spPr>
      </p:pic>
      <p:pic>
        <p:nvPicPr>
          <p:cNvPr id="83" name="Picture 82" descr="603_3_605E5C.png"/>
          <p:cNvPicPr>
            <a:picLocks noChangeAspect="1"/>
          </p:cNvPicPr>
          <p:nvPr/>
        </p:nvPicPr>
        <p:blipFill>
          <a:blip r:embed="rId10"/>
          <a:stretch>
            <a:fillRect/>
          </a:stretch>
        </p:blipFill>
        <p:spPr>
          <a:xfrm>
            <a:off x="5426698" y="2286582"/>
            <a:ext cx="1195728" cy="361950"/>
          </a:xfrm>
          <a:prstGeom prst="rect">
            <a:avLst/>
          </a:prstGeom>
        </p:spPr>
      </p:pic>
      <p:pic>
        <p:nvPicPr>
          <p:cNvPr id="84" name="Picture 83" descr="1_025_605E5C.png"/>
          <p:cNvPicPr>
            <a:picLocks noChangeAspect="1"/>
          </p:cNvPicPr>
          <p:nvPr/>
        </p:nvPicPr>
        <p:blipFill>
          <a:blip r:embed="rId11"/>
          <a:stretch>
            <a:fillRect/>
          </a:stretch>
        </p:blipFill>
        <p:spPr>
          <a:xfrm>
            <a:off x="5426698" y="2779432"/>
            <a:ext cx="1195728" cy="361950"/>
          </a:xfrm>
          <a:prstGeom prst="rect">
            <a:avLst/>
          </a:prstGeom>
        </p:spPr>
      </p:pic>
      <p:pic>
        <p:nvPicPr>
          <p:cNvPr id="85" name="Picture 84" descr="5_4__605E5C.png"/>
          <p:cNvPicPr>
            <a:picLocks noChangeAspect="1"/>
          </p:cNvPicPr>
          <p:nvPr/>
        </p:nvPicPr>
        <p:blipFill>
          <a:blip r:embed="rId12"/>
          <a:stretch>
            <a:fillRect/>
          </a:stretch>
        </p:blipFill>
        <p:spPr>
          <a:xfrm>
            <a:off x="5533344" y="3272281"/>
            <a:ext cx="982436" cy="361950"/>
          </a:xfrm>
          <a:prstGeom prst="rect">
            <a:avLst/>
          </a:prstGeom>
        </p:spPr>
      </p:pic>
      <p:pic>
        <p:nvPicPr>
          <p:cNvPr id="86" name="Picture 85" descr="506_4_605E5C.png"/>
          <p:cNvPicPr>
            <a:picLocks noChangeAspect="1"/>
          </p:cNvPicPr>
          <p:nvPr/>
        </p:nvPicPr>
        <p:blipFill>
          <a:blip r:embed="rId13"/>
          <a:stretch>
            <a:fillRect/>
          </a:stretch>
        </p:blipFill>
        <p:spPr>
          <a:xfrm>
            <a:off x="7112623" y="2286582"/>
            <a:ext cx="1195728" cy="361950"/>
          </a:xfrm>
          <a:prstGeom prst="rect">
            <a:avLst/>
          </a:prstGeom>
        </p:spPr>
      </p:pic>
      <p:pic>
        <p:nvPicPr>
          <p:cNvPr id="87" name="Picture 86" descr="916_1_605E5C.png"/>
          <p:cNvPicPr>
            <a:picLocks noChangeAspect="1"/>
          </p:cNvPicPr>
          <p:nvPr/>
        </p:nvPicPr>
        <p:blipFill>
          <a:blip r:embed="rId14"/>
          <a:stretch>
            <a:fillRect/>
          </a:stretch>
        </p:blipFill>
        <p:spPr>
          <a:xfrm>
            <a:off x="7112623" y="2779432"/>
            <a:ext cx="1195728" cy="361950"/>
          </a:xfrm>
          <a:prstGeom prst="rect">
            <a:avLst/>
          </a:prstGeom>
        </p:spPr>
      </p:pic>
      <p:pic>
        <p:nvPicPr>
          <p:cNvPr id="88" name="Picture 87" descr="6_1__605E5C.png"/>
          <p:cNvPicPr>
            <a:picLocks noChangeAspect="1"/>
          </p:cNvPicPr>
          <p:nvPr/>
        </p:nvPicPr>
        <p:blipFill>
          <a:blip r:embed="rId15"/>
          <a:stretch>
            <a:fillRect/>
          </a:stretch>
        </p:blipFill>
        <p:spPr>
          <a:xfrm>
            <a:off x="7219269" y="3272281"/>
            <a:ext cx="982436" cy="361950"/>
          </a:xfrm>
          <a:prstGeom prst="rect">
            <a:avLst/>
          </a:prstGeom>
        </p:spPr>
      </p:pic>
      <p:pic>
        <p:nvPicPr>
          <p:cNvPr id="89" name="Picture 88" descr="178_0_605E5C.png"/>
          <p:cNvPicPr>
            <a:picLocks noChangeAspect="1"/>
          </p:cNvPicPr>
          <p:nvPr/>
        </p:nvPicPr>
        <p:blipFill>
          <a:blip r:embed="rId16"/>
          <a:stretch>
            <a:fillRect/>
          </a:stretch>
        </p:blipFill>
        <p:spPr>
          <a:xfrm>
            <a:off x="8798548" y="2286582"/>
            <a:ext cx="1195728" cy="361950"/>
          </a:xfrm>
          <a:prstGeom prst="rect">
            <a:avLst/>
          </a:prstGeom>
        </p:spPr>
      </p:pic>
      <p:pic>
        <p:nvPicPr>
          <p:cNvPr id="90" name="Picture 89" descr="409_4_605E5C.png"/>
          <p:cNvPicPr>
            <a:picLocks noChangeAspect="1"/>
          </p:cNvPicPr>
          <p:nvPr/>
        </p:nvPicPr>
        <p:blipFill>
          <a:blip r:embed="rId17"/>
          <a:stretch>
            <a:fillRect/>
          </a:stretch>
        </p:blipFill>
        <p:spPr>
          <a:xfrm>
            <a:off x="8798548" y="2779432"/>
            <a:ext cx="1195728" cy="361950"/>
          </a:xfrm>
          <a:prstGeom prst="rect">
            <a:avLst/>
          </a:prstGeom>
        </p:spPr>
      </p:pic>
      <p:pic>
        <p:nvPicPr>
          <p:cNvPr id="91" name="Picture 90" descr="8_7__605E5C.png"/>
          <p:cNvPicPr>
            <a:picLocks noChangeAspect="1"/>
          </p:cNvPicPr>
          <p:nvPr/>
        </p:nvPicPr>
        <p:blipFill>
          <a:blip r:embed="rId18"/>
          <a:stretch>
            <a:fillRect/>
          </a:stretch>
        </p:blipFill>
        <p:spPr>
          <a:xfrm>
            <a:off x="8905194" y="3272281"/>
            <a:ext cx="982436" cy="361950"/>
          </a:xfrm>
          <a:prstGeom prst="rect">
            <a:avLst/>
          </a:prstGeom>
        </p:spPr>
      </p:pic>
      <p:pic>
        <p:nvPicPr>
          <p:cNvPr id="92" name="Picture 91" descr="150_4_605E5C.png"/>
          <p:cNvPicPr>
            <a:picLocks noChangeAspect="1"/>
          </p:cNvPicPr>
          <p:nvPr/>
        </p:nvPicPr>
        <p:blipFill>
          <a:blip r:embed="rId19"/>
          <a:stretch>
            <a:fillRect/>
          </a:stretch>
        </p:blipFill>
        <p:spPr>
          <a:xfrm>
            <a:off x="10484473" y="2286582"/>
            <a:ext cx="1195728" cy="361950"/>
          </a:xfrm>
          <a:prstGeom prst="rect">
            <a:avLst/>
          </a:prstGeom>
        </p:spPr>
      </p:pic>
      <p:pic>
        <p:nvPicPr>
          <p:cNvPr id="93" name="Picture 92" descr="283_6_605E5C.png"/>
          <p:cNvPicPr>
            <a:picLocks noChangeAspect="1"/>
          </p:cNvPicPr>
          <p:nvPr/>
        </p:nvPicPr>
        <p:blipFill>
          <a:blip r:embed="rId20"/>
          <a:stretch>
            <a:fillRect/>
          </a:stretch>
        </p:blipFill>
        <p:spPr>
          <a:xfrm>
            <a:off x="10484473" y="2779432"/>
            <a:ext cx="1195728" cy="361950"/>
          </a:xfrm>
          <a:prstGeom prst="rect">
            <a:avLst/>
          </a:prstGeom>
        </p:spPr>
      </p:pic>
      <p:pic>
        <p:nvPicPr>
          <p:cNvPr id="94" name="Picture 93" descr="6_5__605E5C.png"/>
          <p:cNvPicPr>
            <a:picLocks noChangeAspect="1"/>
          </p:cNvPicPr>
          <p:nvPr/>
        </p:nvPicPr>
        <p:blipFill>
          <a:blip r:embed="rId21"/>
          <a:stretch>
            <a:fillRect/>
          </a:stretch>
        </p:blipFill>
        <p:spPr>
          <a:xfrm>
            <a:off x="10591119" y="3272281"/>
            <a:ext cx="982436" cy="361950"/>
          </a:xfrm>
          <a:prstGeom prst="rect">
            <a:avLst/>
          </a:prstGeom>
        </p:spPr>
      </p:pic>
      <p:pic>
        <p:nvPicPr>
          <p:cNvPr id="95" name="Picture 94" descr="lock.png"/>
          <p:cNvPicPr>
            <a:picLocks noChangeAspect="1"/>
          </p:cNvPicPr>
          <p:nvPr/>
        </p:nvPicPr>
        <p:blipFill>
          <a:blip r:embed="rId22"/>
          <a:stretch>
            <a:fillRect/>
          </a:stretch>
        </p:blipFill>
        <p:spPr>
          <a:xfrm>
            <a:off x="2559367" y="2827057"/>
            <a:ext cx="183356" cy="266700"/>
          </a:xfrm>
          <a:prstGeom prst="rect">
            <a:avLst/>
          </a:prstGeom>
        </p:spPr>
      </p:pic>
      <p:pic>
        <p:nvPicPr>
          <p:cNvPr id="96" name="Picture 95" descr="lock.png"/>
          <p:cNvPicPr>
            <a:picLocks noChangeAspect="1"/>
          </p:cNvPicPr>
          <p:nvPr/>
        </p:nvPicPr>
        <p:blipFill>
          <a:blip r:embed="rId22"/>
          <a:stretch>
            <a:fillRect/>
          </a:stretch>
        </p:blipFill>
        <p:spPr>
          <a:xfrm>
            <a:off x="4245292"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5931217"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7617142"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9303067"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10988992" y="2827057"/>
            <a:ext cx="183356" cy="266700"/>
          </a:xfrm>
          <a:prstGeom prst="rect">
            <a:avLst/>
          </a:prstGeom>
        </p:spPr>
      </p:pic>
      <p:sp>
        <p:nvSpPr>
          <p:cNvPr id="101" name="TextBox 100"/>
          <p:cNvSpPr txBox="1"/>
          <p:nvPr/>
        </p:nvSpPr>
        <p:spPr>
          <a:xfrm>
            <a:off x="485775" y="4229437"/>
            <a:ext cx="2439367" cy="186689"/>
          </a:xfrm>
          <a:prstGeom prst="rect">
            <a:avLst/>
          </a:prstGeom>
          <a:noFill/>
        </p:spPr>
        <p:txBody>
          <a:bodyPr wrap="none" lIns="0" rIns="0" tIns="0" bIns="0">
            <a:spAutoFit/>
          </a:bodyPr>
          <a:lstStyle/>
          <a:p>
            <a:r>
              <a:rPr sz="1100" b="0">
                <a:solidFill>
                  <a:srgbClr val="2E2E2E"/>
                </a:solidFill>
                <a:latin typeface="Calibri"/>
              </a:rPr>
              <a:t>Among matcha by form, liquid segment is</a:t>
            </a:r>
          </a:p>
        </p:txBody>
      </p:sp>
      <p:sp>
        <p:nvSpPr>
          <p:cNvPr id="102" name="TextBox 101"/>
          <p:cNvSpPr txBox="1"/>
          <p:nvPr/>
        </p:nvSpPr>
        <p:spPr>
          <a:xfrm>
            <a:off x="485775" y="439707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03" name="Picture 102" descr="lock.png"/>
          <p:cNvPicPr>
            <a:picLocks noChangeAspect="1"/>
          </p:cNvPicPr>
          <p:nvPr/>
        </p:nvPicPr>
        <p:blipFill>
          <a:blip r:embed="rId22"/>
          <a:stretch>
            <a:fillRect/>
          </a:stretch>
        </p:blipFill>
        <p:spPr>
          <a:xfrm>
            <a:off x="2815059" y="4387298"/>
            <a:ext cx="128699" cy="187198"/>
          </a:xfrm>
          <a:prstGeom prst="rect">
            <a:avLst/>
          </a:prstGeom>
        </p:spPr>
      </p:pic>
      <p:sp>
        <p:nvSpPr>
          <p:cNvPr id="104" name="TextBox 103"/>
          <p:cNvSpPr txBox="1"/>
          <p:nvPr/>
        </p:nvSpPr>
        <p:spPr>
          <a:xfrm>
            <a:off x="2982555" y="439707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05" name="TextBox 104"/>
          <p:cNvSpPr txBox="1"/>
          <p:nvPr/>
        </p:nvSpPr>
        <p:spPr>
          <a:xfrm>
            <a:off x="485775" y="456471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106" name="TextBox 105"/>
          <p:cNvSpPr txBox="1"/>
          <p:nvPr/>
        </p:nvSpPr>
        <p:spPr>
          <a:xfrm>
            <a:off x="485775" y="4732357"/>
            <a:ext cx="2884661" cy="186689"/>
          </a:xfrm>
          <a:prstGeom prst="rect">
            <a:avLst/>
          </a:prstGeom>
          <a:noFill/>
        </p:spPr>
        <p:txBody>
          <a:bodyPr wrap="none" lIns="0" rIns="0" tIns="0" bIns="0">
            <a:spAutoFit/>
          </a:bodyPr>
          <a:lstStyle/>
          <a:p>
            <a:r>
              <a:rPr sz="1100" b="0">
                <a:solidFill>
                  <a:srgbClr val="2E2E2E"/>
                </a:solidFill>
                <a:latin typeface="Calibri"/>
              </a:rPr>
              <a:t>form, the liquid segment is expected to dominate</a:t>
            </a:r>
          </a:p>
        </p:txBody>
      </p:sp>
      <p:sp>
        <p:nvSpPr>
          <p:cNvPr id="107" name="TextBox 106"/>
          <p:cNvSpPr txBox="1"/>
          <p:nvPr/>
        </p:nvSpPr>
        <p:spPr>
          <a:xfrm>
            <a:off x="485775" y="4899997"/>
            <a:ext cx="1181248" cy="186689"/>
          </a:xfrm>
          <a:prstGeom prst="rect">
            <a:avLst/>
          </a:prstGeom>
          <a:noFill/>
        </p:spPr>
        <p:txBody>
          <a:bodyPr wrap="none" lIns="0" rIns="0" tIns="0" bIns="0">
            <a:spAutoFit/>
          </a:bodyPr>
          <a:lstStyle/>
          <a:p>
            <a:r>
              <a:rPr sz="1100" b="0">
                <a:solidFill>
                  <a:srgbClr val="2E2E2E"/>
                </a:solidFill>
                <a:latin typeface="Calibri"/>
              </a:rPr>
              <a:t>the market, gaining</a:t>
            </a:r>
          </a:p>
        </p:txBody>
      </p:sp>
      <p:pic>
        <p:nvPicPr>
          <p:cNvPr id="108" name="Picture 107" descr="lock.png"/>
          <p:cNvPicPr>
            <a:picLocks noChangeAspect="1"/>
          </p:cNvPicPr>
          <p:nvPr/>
        </p:nvPicPr>
        <p:blipFill>
          <a:blip r:embed="rId22"/>
          <a:stretch>
            <a:fillRect/>
          </a:stretch>
        </p:blipFill>
        <p:spPr>
          <a:xfrm>
            <a:off x="1615075" y="4890217"/>
            <a:ext cx="128699" cy="187198"/>
          </a:xfrm>
          <a:prstGeom prst="rect">
            <a:avLst/>
          </a:prstGeom>
        </p:spPr>
      </p:pic>
      <p:sp>
        <p:nvSpPr>
          <p:cNvPr id="109" name="TextBox 108"/>
          <p:cNvSpPr txBox="1"/>
          <p:nvPr/>
        </p:nvSpPr>
        <p:spPr>
          <a:xfrm>
            <a:off x="1782571" y="489999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10" name="Picture 109" descr="lock.png"/>
          <p:cNvPicPr>
            <a:picLocks noChangeAspect="1"/>
          </p:cNvPicPr>
          <p:nvPr/>
        </p:nvPicPr>
        <p:blipFill>
          <a:blip r:embed="rId22"/>
          <a:stretch>
            <a:fillRect/>
          </a:stretch>
        </p:blipFill>
        <p:spPr>
          <a:xfrm>
            <a:off x="472307" y="5057858"/>
            <a:ext cx="128699" cy="187198"/>
          </a:xfrm>
          <a:prstGeom prst="rect">
            <a:avLst/>
          </a:prstGeom>
        </p:spPr>
      </p:pic>
      <p:sp>
        <p:nvSpPr>
          <p:cNvPr id="111" name="TextBox 110"/>
          <p:cNvSpPr txBox="1"/>
          <p:nvPr/>
        </p:nvSpPr>
        <p:spPr>
          <a:xfrm>
            <a:off x="63980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12" name="TextBox 111"/>
          <p:cNvSpPr txBox="1"/>
          <p:nvPr/>
        </p:nvSpPr>
        <p:spPr>
          <a:xfrm>
            <a:off x="485775" y="5285569"/>
            <a:ext cx="2260922" cy="186689"/>
          </a:xfrm>
          <a:prstGeom prst="rect">
            <a:avLst/>
          </a:prstGeom>
          <a:noFill/>
        </p:spPr>
        <p:txBody>
          <a:bodyPr wrap="none" lIns="0" rIns="0" tIns="0" bIns="0">
            <a:spAutoFit/>
          </a:bodyPr>
          <a:lstStyle/>
          <a:p>
            <a:r>
              <a:rPr sz="1100" b="0">
                <a:solidFill>
                  <a:srgbClr val="2E2E2E"/>
                </a:solidFill>
                <a:latin typeface="Calibri"/>
              </a:rPr>
              <a:t>Liquid segment is projected to register</a:t>
            </a:r>
          </a:p>
        </p:txBody>
      </p:sp>
      <p:pic>
        <p:nvPicPr>
          <p:cNvPr id="113" name="Picture 112" descr="lock.png"/>
          <p:cNvPicPr>
            <a:picLocks noChangeAspect="1"/>
          </p:cNvPicPr>
          <p:nvPr/>
        </p:nvPicPr>
        <p:blipFill>
          <a:blip r:embed="rId22"/>
          <a:stretch>
            <a:fillRect/>
          </a:stretch>
        </p:blipFill>
        <p:spPr>
          <a:xfrm>
            <a:off x="2694749" y="5275790"/>
            <a:ext cx="128699" cy="187198"/>
          </a:xfrm>
          <a:prstGeom prst="rect">
            <a:avLst/>
          </a:prstGeom>
        </p:spPr>
      </p:pic>
      <p:sp>
        <p:nvSpPr>
          <p:cNvPr id="114" name="TextBox 113"/>
          <p:cNvSpPr txBox="1"/>
          <p:nvPr/>
        </p:nvSpPr>
        <p:spPr>
          <a:xfrm>
            <a:off x="2862244"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15" name="TextBox 114"/>
          <p:cNvSpPr txBox="1"/>
          <p:nvPr/>
        </p:nvSpPr>
        <p:spPr>
          <a:xfrm>
            <a:off x="485775" y="5453209"/>
            <a:ext cx="2575793" cy="186689"/>
          </a:xfrm>
          <a:prstGeom prst="rect">
            <a:avLst/>
          </a:prstGeom>
          <a:noFill/>
        </p:spPr>
        <p:txBody>
          <a:bodyPr wrap="none" lIns="0" rIns="0" tIns="0" bIns="0">
            <a:spAutoFit/>
          </a:bodyPr>
          <a:lstStyle/>
          <a:p>
            <a:r>
              <a:rPr sz="1100" b="0">
                <a:solidFill>
                  <a:srgbClr val="2E2E2E"/>
                </a:solidFill>
                <a:latin typeface="Calibri"/>
              </a:rPr>
              <a:t>higher value than blended segment in 2036.</a:t>
            </a:r>
          </a:p>
        </p:txBody>
      </p:sp>
      <p:sp>
        <p:nvSpPr>
          <p:cNvPr id="116" name="TextBox 115"/>
          <p:cNvSpPr txBox="1"/>
          <p:nvPr/>
        </p:nvSpPr>
        <p:spPr>
          <a:xfrm>
            <a:off x="3838575" y="4229437"/>
            <a:ext cx="572789" cy="186689"/>
          </a:xfrm>
          <a:prstGeom prst="rect">
            <a:avLst/>
          </a:prstGeom>
          <a:noFill/>
        </p:spPr>
        <p:txBody>
          <a:bodyPr wrap="none" lIns="0" rIns="0" tIns="0" bIns="0">
            <a:spAutoFit/>
          </a:bodyPr>
          <a:lstStyle/>
          <a:p>
            <a:r>
              <a:rPr sz="1100" b="0">
                <a:solidFill>
                  <a:srgbClr val="2E2E2E"/>
                </a:solidFill>
                <a:latin typeface="Calibri"/>
              </a:rPr>
              <a:t>● Liquid:</a:t>
            </a:r>
          </a:p>
        </p:txBody>
      </p:sp>
      <p:pic>
        <p:nvPicPr>
          <p:cNvPr id="117" name="Picture 116" descr="lock.png"/>
          <p:cNvPicPr>
            <a:picLocks noChangeAspect="1"/>
          </p:cNvPicPr>
          <p:nvPr/>
        </p:nvPicPr>
        <p:blipFill>
          <a:blip r:embed="rId22"/>
          <a:stretch>
            <a:fillRect/>
          </a:stretch>
        </p:blipFill>
        <p:spPr>
          <a:xfrm>
            <a:off x="4359416" y="4219658"/>
            <a:ext cx="128699" cy="187198"/>
          </a:xfrm>
          <a:prstGeom prst="rect">
            <a:avLst/>
          </a:prstGeom>
        </p:spPr>
      </p:pic>
      <p:sp>
        <p:nvSpPr>
          <p:cNvPr id="118" name="TextBox 117"/>
          <p:cNvSpPr txBox="1"/>
          <p:nvPr/>
        </p:nvSpPr>
        <p:spPr>
          <a:xfrm>
            <a:off x="4526912"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9" name="Picture 118" descr="lock.png"/>
          <p:cNvPicPr>
            <a:picLocks noChangeAspect="1"/>
          </p:cNvPicPr>
          <p:nvPr/>
        </p:nvPicPr>
        <p:blipFill>
          <a:blip r:embed="rId22"/>
          <a:stretch>
            <a:fillRect/>
          </a:stretch>
        </p:blipFill>
        <p:spPr>
          <a:xfrm>
            <a:off x="5386362" y="4219658"/>
            <a:ext cx="128699" cy="187198"/>
          </a:xfrm>
          <a:prstGeom prst="rect">
            <a:avLst/>
          </a:prstGeom>
        </p:spPr>
      </p:pic>
      <p:sp>
        <p:nvSpPr>
          <p:cNvPr id="120" name="TextBox 119"/>
          <p:cNvSpPr txBox="1"/>
          <p:nvPr/>
        </p:nvSpPr>
        <p:spPr>
          <a:xfrm>
            <a:off x="5553858"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21" name="TextBox 120"/>
          <p:cNvSpPr txBox="1"/>
          <p:nvPr/>
        </p:nvSpPr>
        <p:spPr>
          <a:xfrm>
            <a:off x="3838575" y="4447369"/>
            <a:ext cx="697210" cy="186689"/>
          </a:xfrm>
          <a:prstGeom prst="rect">
            <a:avLst/>
          </a:prstGeom>
          <a:noFill/>
        </p:spPr>
        <p:txBody>
          <a:bodyPr wrap="none" lIns="0" rIns="0" tIns="0" bIns="0">
            <a:spAutoFit/>
          </a:bodyPr>
          <a:lstStyle/>
          <a:p>
            <a:r>
              <a:rPr sz="1100" b="0">
                <a:solidFill>
                  <a:srgbClr val="2E2E2E"/>
                </a:solidFill>
                <a:latin typeface="Calibri"/>
              </a:rPr>
              <a:t>● Blended:</a:t>
            </a:r>
          </a:p>
        </p:txBody>
      </p:sp>
      <p:pic>
        <p:nvPicPr>
          <p:cNvPr id="122" name="Picture 121" descr="lock.png"/>
          <p:cNvPicPr>
            <a:picLocks noChangeAspect="1"/>
          </p:cNvPicPr>
          <p:nvPr/>
        </p:nvPicPr>
        <p:blipFill>
          <a:blip r:embed="rId22"/>
          <a:stretch>
            <a:fillRect/>
          </a:stretch>
        </p:blipFill>
        <p:spPr>
          <a:xfrm>
            <a:off x="4483836" y="4437590"/>
            <a:ext cx="128699" cy="187198"/>
          </a:xfrm>
          <a:prstGeom prst="rect">
            <a:avLst/>
          </a:prstGeom>
        </p:spPr>
      </p:pic>
      <p:sp>
        <p:nvSpPr>
          <p:cNvPr id="123" name="TextBox 122"/>
          <p:cNvSpPr txBox="1"/>
          <p:nvPr/>
        </p:nvSpPr>
        <p:spPr>
          <a:xfrm>
            <a:off x="465133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4" name="Picture 123" descr="lock.png"/>
          <p:cNvPicPr>
            <a:picLocks noChangeAspect="1"/>
          </p:cNvPicPr>
          <p:nvPr/>
        </p:nvPicPr>
        <p:blipFill>
          <a:blip r:embed="rId22"/>
          <a:stretch>
            <a:fillRect/>
          </a:stretch>
        </p:blipFill>
        <p:spPr>
          <a:xfrm>
            <a:off x="5510782" y="4437590"/>
            <a:ext cx="128699" cy="187198"/>
          </a:xfrm>
          <a:prstGeom prst="rect">
            <a:avLst/>
          </a:prstGeom>
        </p:spPr>
      </p:pic>
      <p:sp>
        <p:nvSpPr>
          <p:cNvPr id="125" name="TextBox 124"/>
          <p:cNvSpPr txBox="1"/>
          <p:nvPr/>
        </p:nvSpPr>
        <p:spPr>
          <a:xfrm>
            <a:off x="5678278"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6" name="TextBox 125"/>
          <p:cNvSpPr txBox="1"/>
          <p:nvPr/>
        </p:nvSpPr>
        <p:spPr>
          <a:xfrm>
            <a:off x="3838575" y="4665301"/>
            <a:ext cx="660375" cy="186689"/>
          </a:xfrm>
          <a:prstGeom prst="rect">
            <a:avLst/>
          </a:prstGeom>
          <a:noFill/>
        </p:spPr>
        <p:txBody>
          <a:bodyPr wrap="none" lIns="0" rIns="0" tIns="0" bIns="0">
            <a:spAutoFit/>
          </a:bodyPr>
          <a:lstStyle/>
          <a:p>
            <a:r>
              <a:rPr sz="1100" b="0">
                <a:solidFill>
                  <a:srgbClr val="2E2E2E"/>
                </a:solidFill>
                <a:latin typeface="Calibri"/>
              </a:rPr>
              <a:t>● Ground:</a:t>
            </a:r>
          </a:p>
        </p:txBody>
      </p:sp>
      <p:pic>
        <p:nvPicPr>
          <p:cNvPr id="127" name="Picture 126" descr="lock.png"/>
          <p:cNvPicPr>
            <a:picLocks noChangeAspect="1"/>
          </p:cNvPicPr>
          <p:nvPr/>
        </p:nvPicPr>
        <p:blipFill>
          <a:blip r:embed="rId22"/>
          <a:stretch>
            <a:fillRect/>
          </a:stretch>
        </p:blipFill>
        <p:spPr>
          <a:xfrm>
            <a:off x="4447001" y="4655522"/>
            <a:ext cx="128699" cy="187198"/>
          </a:xfrm>
          <a:prstGeom prst="rect">
            <a:avLst/>
          </a:prstGeom>
        </p:spPr>
      </p:pic>
      <p:sp>
        <p:nvSpPr>
          <p:cNvPr id="128" name="TextBox 127"/>
          <p:cNvSpPr txBox="1"/>
          <p:nvPr/>
        </p:nvSpPr>
        <p:spPr>
          <a:xfrm>
            <a:off x="4614497"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9" name="Picture 128" descr="lock.png"/>
          <p:cNvPicPr>
            <a:picLocks noChangeAspect="1"/>
          </p:cNvPicPr>
          <p:nvPr/>
        </p:nvPicPr>
        <p:blipFill>
          <a:blip r:embed="rId22"/>
          <a:stretch>
            <a:fillRect/>
          </a:stretch>
        </p:blipFill>
        <p:spPr>
          <a:xfrm>
            <a:off x="5473947" y="4655522"/>
            <a:ext cx="128699" cy="187198"/>
          </a:xfrm>
          <a:prstGeom prst="rect">
            <a:avLst/>
          </a:prstGeom>
        </p:spPr>
      </p:pic>
      <p:sp>
        <p:nvSpPr>
          <p:cNvPr id="130" name="TextBox 129"/>
          <p:cNvSpPr txBox="1"/>
          <p:nvPr/>
        </p:nvSpPr>
        <p:spPr>
          <a:xfrm>
            <a:off x="5641443"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1" name="TextBox 130"/>
          <p:cNvSpPr txBox="1"/>
          <p:nvPr/>
        </p:nvSpPr>
        <p:spPr>
          <a:xfrm>
            <a:off x="3838575" y="4883233"/>
            <a:ext cx="602803" cy="186689"/>
          </a:xfrm>
          <a:prstGeom prst="rect">
            <a:avLst/>
          </a:prstGeom>
          <a:noFill/>
        </p:spPr>
        <p:txBody>
          <a:bodyPr wrap="none" lIns="0" rIns="0" tIns="0" bIns="0">
            <a:spAutoFit/>
          </a:bodyPr>
          <a:lstStyle/>
          <a:p>
            <a:r>
              <a:rPr sz="1100" b="0">
                <a:solidFill>
                  <a:srgbClr val="2E2E2E"/>
                </a:solidFill>
                <a:latin typeface="Calibri"/>
              </a:rPr>
              <a:t>● Whole:</a:t>
            </a:r>
          </a:p>
        </p:txBody>
      </p:sp>
      <p:pic>
        <p:nvPicPr>
          <p:cNvPr id="132" name="Picture 131" descr="lock.png"/>
          <p:cNvPicPr>
            <a:picLocks noChangeAspect="1"/>
          </p:cNvPicPr>
          <p:nvPr/>
        </p:nvPicPr>
        <p:blipFill>
          <a:blip r:embed="rId22"/>
          <a:stretch>
            <a:fillRect/>
          </a:stretch>
        </p:blipFill>
        <p:spPr>
          <a:xfrm>
            <a:off x="4389430" y="4873454"/>
            <a:ext cx="128699" cy="187198"/>
          </a:xfrm>
          <a:prstGeom prst="rect">
            <a:avLst/>
          </a:prstGeom>
        </p:spPr>
      </p:pic>
      <p:sp>
        <p:nvSpPr>
          <p:cNvPr id="133" name="TextBox 132"/>
          <p:cNvSpPr txBox="1"/>
          <p:nvPr/>
        </p:nvSpPr>
        <p:spPr>
          <a:xfrm>
            <a:off x="4556925"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4" name="Picture 133" descr="lock.png"/>
          <p:cNvPicPr>
            <a:picLocks noChangeAspect="1"/>
          </p:cNvPicPr>
          <p:nvPr/>
        </p:nvPicPr>
        <p:blipFill>
          <a:blip r:embed="rId22"/>
          <a:stretch>
            <a:fillRect/>
          </a:stretch>
        </p:blipFill>
        <p:spPr>
          <a:xfrm>
            <a:off x="5416376" y="4873454"/>
            <a:ext cx="128699" cy="187198"/>
          </a:xfrm>
          <a:prstGeom prst="rect">
            <a:avLst/>
          </a:prstGeom>
        </p:spPr>
      </p:pic>
      <p:sp>
        <p:nvSpPr>
          <p:cNvPr id="135" name="TextBox 134"/>
          <p:cNvSpPr txBox="1"/>
          <p:nvPr/>
        </p:nvSpPr>
        <p:spPr>
          <a:xfrm>
            <a:off x="5583871"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6" name="TextBox 135"/>
          <p:cNvSpPr txBox="1"/>
          <p:nvPr/>
        </p:nvSpPr>
        <p:spPr>
          <a:xfrm>
            <a:off x="3838575" y="5101165"/>
            <a:ext cx="667196" cy="186689"/>
          </a:xfrm>
          <a:prstGeom prst="rect">
            <a:avLst/>
          </a:prstGeom>
          <a:noFill/>
        </p:spPr>
        <p:txBody>
          <a:bodyPr wrap="none" lIns="0" rIns="0" tIns="0" bIns="0">
            <a:spAutoFit/>
          </a:bodyPr>
          <a:lstStyle/>
          <a:p>
            <a:r>
              <a:rPr sz="1100" b="0">
                <a:solidFill>
                  <a:srgbClr val="2E2E2E"/>
                </a:solidFill>
                <a:latin typeface="Calibri"/>
              </a:rPr>
              <a:t>● Powder:</a:t>
            </a:r>
          </a:p>
        </p:txBody>
      </p:sp>
      <p:pic>
        <p:nvPicPr>
          <p:cNvPr id="137" name="Picture 136" descr="lock.png"/>
          <p:cNvPicPr>
            <a:picLocks noChangeAspect="1"/>
          </p:cNvPicPr>
          <p:nvPr/>
        </p:nvPicPr>
        <p:blipFill>
          <a:blip r:embed="rId22"/>
          <a:stretch>
            <a:fillRect/>
          </a:stretch>
        </p:blipFill>
        <p:spPr>
          <a:xfrm>
            <a:off x="4453823" y="5091385"/>
            <a:ext cx="128699" cy="187198"/>
          </a:xfrm>
          <a:prstGeom prst="rect">
            <a:avLst/>
          </a:prstGeom>
        </p:spPr>
      </p:pic>
      <p:sp>
        <p:nvSpPr>
          <p:cNvPr id="138" name="TextBox 137"/>
          <p:cNvSpPr txBox="1"/>
          <p:nvPr/>
        </p:nvSpPr>
        <p:spPr>
          <a:xfrm>
            <a:off x="4621318"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9" name="Picture 138" descr="lock.png"/>
          <p:cNvPicPr>
            <a:picLocks noChangeAspect="1"/>
          </p:cNvPicPr>
          <p:nvPr/>
        </p:nvPicPr>
        <p:blipFill>
          <a:blip r:embed="rId22"/>
          <a:stretch>
            <a:fillRect/>
          </a:stretch>
        </p:blipFill>
        <p:spPr>
          <a:xfrm>
            <a:off x="5480769" y="5091385"/>
            <a:ext cx="128699" cy="187198"/>
          </a:xfrm>
          <a:prstGeom prst="rect">
            <a:avLst/>
          </a:prstGeom>
        </p:spPr>
      </p:pic>
      <p:sp>
        <p:nvSpPr>
          <p:cNvPr id="140" name="TextBox 139"/>
          <p:cNvSpPr txBox="1"/>
          <p:nvPr/>
        </p:nvSpPr>
        <p:spPr>
          <a:xfrm>
            <a:off x="5648264" y="5101165"/>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1" name="TextBox 140"/>
          <p:cNvSpPr txBox="1"/>
          <p:nvPr/>
        </p:nvSpPr>
        <p:spPr>
          <a:xfrm>
            <a:off x="3838575" y="5319097"/>
            <a:ext cx="736500" cy="186689"/>
          </a:xfrm>
          <a:prstGeom prst="rect">
            <a:avLst/>
          </a:prstGeom>
          <a:noFill/>
        </p:spPr>
        <p:txBody>
          <a:bodyPr wrap="none" lIns="0" rIns="0" tIns="0" bIns="0">
            <a:spAutoFit/>
          </a:bodyPr>
          <a:lstStyle/>
          <a:p>
            <a:r>
              <a:rPr sz="1100" b="0">
                <a:solidFill>
                  <a:srgbClr val="2E2E2E"/>
                </a:solidFill>
                <a:latin typeface="Calibri"/>
              </a:rPr>
              <a:t>● Granules:</a:t>
            </a:r>
          </a:p>
        </p:txBody>
      </p:sp>
      <p:pic>
        <p:nvPicPr>
          <p:cNvPr id="142" name="Picture 141" descr="lock.png"/>
          <p:cNvPicPr>
            <a:picLocks noChangeAspect="1"/>
          </p:cNvPicPr>
          <p:nvPr/>
        </p:nvPicPr>
        <p:blipFill>
          <a:blip r:embed="rId22"/>
          <a:stretch>
            <a:fillRect/>
          </a:stretch>
        </p:blipFill>
        <p:spPr>
          <a:xfrm>
            <a:off x="4523127" y="5309317"/>
            <a:ext cx="128699" cy="187198"/>
          </a:xfrm>
          <a:prstGeom prst="rect">
            <a:avLst/>
          </a:prstGeom>
        </p:spPr>
      </p:pic>
      <p:sp>
        <p:nvSpPr>
          <p:cNvPr id="143" name="TextBox 142"/>
          <p:cNvSpPr txBox="1"/>
          <p:nvPr/>
        </p:nvSpPr>
        <p:spPr>
          <a:xfrm>
            <a:off x="4690623"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4" name="Picture 143" descr="lock.png"/>
          <p:cNvPicPr>
            <a:picLocks noChangeAspect="1"/>
          </p:cNvPicPr>
          <p:nvPr/>
        </p:nvPicPr>
        <p:blipFill>
          <a:blip r:embed="rId22"/>
          <a:stretch>
            <a:fillRect/>
          </a:stretch>
        </p:blipFill>
        <p:spPr>
          <a:xfrm>
            <a:off x="5550073" y="5309317"/>
            <a:ext cx="128699" cy="187198"/>
          </a:xfrm>
          <a:prstGeom prst="rect">
            <a:avLst/>
          </a:prstGeom>
        </p:spPr>
      </p:pic>
      <p:sp>
        <p:nvSpPr>
          <p:cNvPr id="145" name="TextBox 144"/>
          <p:cNvSpPr txBox="1"/>
          <p:nvPr/>
        </p:nvSpPr>
        <p:spPr>
          <a:xfrm>
            <a:off x="5717569" y="531909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6" name="TextBox 145"/>
          <p:cNvSpPr txBox="1"/>
          <p:nvPr/>
        </p:nvSpPr>
        <p:spPr>
          <a:xfrm>
            <a:off x="8524875" y="5842641"/>
            <a:ext cx="3089283" cy="194310"/>
          </a:xfrm>
          <a:prstGeom prst="rect">
            <a:avLst/>
          </a:prstGeom>
          <a:noFill/>
        </p:spPr>
        <p:txBody>
          <a:bodyPr wrap="none" lIns="0" rIns="0" tIns="0" bIns="0">
            <a:spAutoFit/>
          </a:bodyPr>
          <a:lstStyle/>
          <a:p>
            <a:r>
              <a:rPr sz="1150" b="1">
                <a:solidFill>
                  <a:srgbClr val="0B2E4A"/>
                </a:solidFill>
                <a:latin typeface="Calibri"/>
              </a:rPr>
              <a:t>The Form segment is projected to grow at a CAGR</a:t>
            </a:r>
          </a:p>
        </p:txBody>
      </p:sp>
      <p:sp>
        <p:nvSpPr>
          <p:cNvPr id="147" name="TextBox 146"/>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148" name="Picture 147" descr="lock.png"/>
          <p:cNvPicPr>
            <a:picLocks noChangeAspect="1"/>
          </p:cNvPicPr>
          <p:nvPr/>
        </p:nvPicPr>
        <p:blipFill>
          <a:blip r:embed="rId22"/>
          <a:stretch>
            <a:fillRect/>
          </a:stretch>
        </p:blipFill>
        <p:spPr>
          <a:xfrm>
            <a:off x="8674884" y="6007677"/>
            <a:ext cx="134549" cy="195707"/>
          </a:xfrm>
          <a:prstGeom prst="rect">
            <a:avLst/>
          </a:prstGeom>
        </p:spPr>
      </p:pic>
      <p:sp>
        <p:nvSpPr>
          <p:cNvPr id="149" name="TextBox 148"/>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Form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Form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Form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Form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497749" cy="186689"/>
          </a:xfrm>
          <a:prstGeom prst="rect">
            <a:avLst/>
          </a:prstGeom>
          <a:noFill/>
        </p:spPr>
        <p:txBody>
          <a:bodyPr wrap="none" lIns="0" rIns="0" tIns="0" bIns="0">
            <a:spAutoFit/>
          </a:bodyPr>
          <a:lstStyle/>
          <a:p>
            <a:r>
              <a:rPr sz="1100" b="0">
                <a:solidFill>
                  <a:srgbClr val="2E2E2E"/>
                </a:solidFill>
                <a:latin typeface="Calibri"/>
              </a:rPr>
              <a:t>Liquid followed by blended are expected to be the two most attractive form segments in the global matcha market in terms of value over the forecast period. Liquid and blended exhibit a CAGR index of</a:t>
            </a:r>
          </a:p>
        </p:txBody>
      </p:sp>
      <p:pic>
        <p:nvPicPr>
          <p:cNvPr id="20" name="Picture 19" descr="lock.png"/>
          <p:cNvPicPr>
            <a:picLocks noChangeAspect="1"/>
          </p:cNvPicPr>
          <p:nvPr/>
        </p:nvPicPr>
        <p:blipFill>
          <a:blip r:embed="rId6"/>
          <a:stretch>
            <a:fillRect/>
          </a:stretch>
        </p:blipFill>
        <p:spPr>
          <a:xfrm>
            <a:off x="243707" y="5935726"/>
            <a:ext cx="128699" cy="187198"/>
          </a:xfrm>
          <a:prstGeom prst="rect">
            <a:avLst/>
          </a:prstGeom>
        </p:spPr>
      </p:pic>
      <p:sp>
        <p:nvSpPr>
          <p:cNvPr id="21" name="TextBox 20"/>
          <p:cNvSpPr txBox="1"/>
          <p:nvPr/>
        </p:nvSpPr>
        <p:spPr>
          <a:xfrm>
            <a:off x="411203"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2" name="Picture 21" descr="lock.png"/>
          <p:cNvPicPr>
            <a:picLocks noChangeAspect="1"/>
          </p:cNvPicPr>
          <p:nvPr/>
        </p:nvPicPr>
        <p:blipFill>
          <a:blip r:embed="rId6"/>
          <a:stretch>
            <a:fillRect/>
          </a:stretch>
        </p:blipFill>
        <p:spPr>
          <a:xfrm>
            <a:off x="649097" y="5935726"/>
            <a:ext cx="128699" cy="187198"/>
          </a:xfrm>
          <a:prstGeom prst="rect">
            <a:avLst/>
          </a:prstGeom>
        </p:spPr>
      </p:pic>
      <p:sp>
        <p:nvSpPr>
          <p:cNvPr id="23" name="TextBox 22"/>
          <p:cNvSpPr txBox="1"/>
          <p:nvPr/>
        </p:nvSpPr>
        <p:spPr>
          <a:xfrm>
            <a:off x="816593"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2425567" y="5935726"/>
            <a:ext cx="128699" cy="187198"/>
          </a:xfrm>
          <a:prstGeom prst="rect">
            <a:avLst/>
          </a:prstGeom>
        </p:spPr>
      </p:pic>
      <p:sp>
        <p:nvSpPr>
          <p:cNvPr id="25" name="TextBox 24"/>
          <p:cNvSpPr txBox="1"/>
          <p:nvPr/>
        </p:nvSpPr>
        <p:spPr>
          <a:xfrm>
            <a:off x="2593062"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6" name="Picture 25" descr="lock.png"/>
          <p:cNvPicPr>
            <a:picLocks noChangeAspect="1"/>
          </p:cNvPicPr>
          <p:nvPr/>
        </p:nvPicPr>
        <p:blipFill>
          <a:blip r:embed="rId6"/>
          <a:stretch>
            <a:fillRect/>
          </a:stretch>
        </p:blipFill>
        <p:spPr>
          <a:xfrm>
            <a:off x="2830957" y="5935726"/>
            <a:ext cx="128699" cy="187198"/>
          </a:xfrm>
          <a:prstGeom prst="rect">
            <a:avLst/>
          </a:prstGeom>
        </p:spPr>
      </p:pic>
      <p:sp>
        <p:nvSpPr>
          <p:cNvPr id="27" name="TextBox 26"/>
          <p:cNvSpPr txBox="1"/>
          <p:nvPr/>
        </p:nvSpPr>
        <p:spPr>
          <a:xfrm>
            <a:off x="2998453"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8" name="Picture 27" descr="lock.png"/>
          <p:cNvPicPr>
            <a:picLocks noChangeAspect="1"/>
          </p:cNvPicPr>
          <p:nvPr/>
        </p:nvPicPr>
        <p:blipFill>
          <a:blip r:embed="rId6"/>
          <a:stretch>
            <a:fillRect/>
          </a:stretch>
        </p:blipFill>
        <p:spPr>
          <a:xfrm>
            <a:off x="5552857" y="5935726"/>
            <a:ext cx="128699" cy="187198"/>
          </a:xfrm>
          <a:prstGeom prst="rect">
            <a:avLst/>
          </a:prstGeom>
        </p:spPr>
      </p:pic>
      <p:sp>
        <p:nvSpPr>
          <p:cNvPr id="29" name="TextBox 28"/>
          <p:cNvSpPr txBox="1"/>
          <p:nvPr/>
        </p:nvSpPr>
        <p:spPr>
          <a:xfrm>
            <a:off x="5720353" y="5945505"/>
            <a:ext cx="5557787" cy="186689"/>
          </a:xfrm>
          <a:prstGeom prst="rect">
            <a:avLst/>
          </a:prstGeom>
          <a:noFill/>
        </p:spPr>
        <p:txBody>
          <a:bodyPr wrap="none" lIns="0" rIns="0" tIns="0" bIns="0">
            <a:spAutoFit/>
          </a:bodyPr>
          <a:lstStyle/>
          <a:p>
            <a:r>
              <a:rPr sz="1100" b="0">
                <a:solidFill>
                  <a:srgbClr val="2E2E2E"/>
                </a:solidFill>
                <a:latin typeface="Calibri"/>
              </a:rPr>
              <a:t>. The granules segment is expected to be less attractive as compared to other segments over the</a:t>
            </a:r>
          </a:p>
        </p:txBody>
      </p:sp>
      <p:sp>
        <p:nvSpPr>
          <p:cNvPr id="30" name="TextBox 29"/>
          <p:cNvSpPr txBox="1"/>
          <p:nvPr/>
        </p:nvSpPr>
        <p:spPr>
          <a:xfrm>
            <a:off x="257175" y="6113145"/>
            <a:ext cx="8415873" cy="186689"/>
          </a:xfrm>
          <a:prstGeom prst="rect">
            <a:avLst/>
          </a:prstGeom>
          <a:noFill/>
        </p:spPr>
        <p:txBody>
          <a:bodyPr wrap="none" lIns="0" rIns="0" tIns="0" bIns="0">
            <a:spAutoFit/>
          </a:bodyPr>
          <a:lstStyle/>
          <a:p>
            <a:r>
              <a:rPr sz="1100" b="0">
                <a:solidFill>
                  <a:srgbClr val="2E2E2E"/>
                </a:solidFill>
                <a:latin typeface="Calibri"/>
              </a:rPr>
              <a:t>forecast period, owing to its lower CAGR and incremental opportunity. Bubbles right of the CAGR-Index line grow faster than the segment average.</a:t>
            </a:r>
          </a:p>
        </p:txBody>
      </p:sp>
      <p:sp>
        <p:nvSpPr>
          <p:cNvPr id="31"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Form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Form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Powder</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Liquid</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Granules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Blended</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Form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Form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Ground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Whole</a:t>
            </a:r>
          </a:p>
        </p:txBody>
      </p:sp>
      <p:graphicFrame>
        <p:nvGraphicFramePr>
          <p:cNvPr id="15" name="Chart 14"/>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Form</a:t>
            </a:r>
          </a:p>
        </p:txBody>
      </p:sp>
      <p:sp>
        <p:nvSpPr>
          <p:cNvPr id="18" name="Rectangle 17"/>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094826" y="2237234"/>
            <a:ext cx="263506" cy="383281"/>
          </a:xfrm>
          <a:prstGeom prst="rect">
            <a:avLst/>
          </a:prstGeom>
        </p:spPr>
      </p:pic>
      <p:pic>
        <p:nvPicPr>
          <p:cNvPr id="22" name="Picture 21" descr="lock.png"/>
          <p:cNvPicPr>
            <a:picLocks noChangeAspect="1"/>
          </p:cNvPicPr>
          <p:nvPr/>
        </p:nvPicPr>
        <p:blipFill>
          <a:blip r:embed="rId6"/>
          <a:stretch>
            <a:fillRect/>
          </a:stretch>
        </p:blipFill>
        <p:spPr>
          <a:xfrm>
            <a:off x="3094826" y="5123309"/>
            <a:ext cx="263506" cy="383281"/>
          </a:xfrm>
          <a:prstGeom prst="rect">
            <a:avLst/>
          </a:prstGeom>
        </p:spPr>
      </p:pic>
      <p:sp>
        <p:nvSpPr>
          <p:cNvPr id="23" name="TextBox 22"/>
          <p:cNvSpPr txBox="1"/>
          <p:nvPr/>
        </p:nvSpPr>
        <p:spPr>
          <a:xfrm>
            <a:off x="6305550" y="1400175"/>
            <a:ext cx="3832401" cy="194310"/>
          </a:xfrm>
          <a:prstGeom prst="rect">
            <a:avLst/>
          </a:prstGeom>
          <a:noFill/>
        </p:spPr>
        <p:txBody>
          <a:bodyPr wrap="none" lIns="0" rIns="0" tIns="0" bIns="0">
            <a:spAutoFit/>
          </a:bodyPr>
          <a:lstStyle/>
          <a:p>
            <a:r>
              <a:rPr sz="1150" b="0">
                <a:solidFill>
                  <a:srgbClr val="2E2E2E"/>
                </a:solidFill>
                <a:latin typeface="Calibri"/>
              </a:rPr>
              <a:t>By 2036, liquid segment is anticipated to witness an increase of</a:t>
            </a:r>
          </a:p>
        </p:txBody>
      </p:sp>
      <p:pic>
        <p:nvPicPr>
          <p:cNvPr id="24" name="Picture 23" descr="lock.png"/>
          <p:cNvPicPr>
            <a:picLocks noChangeAspect="1"/>
          </p:cNvPicPr>
          <p:nvPr/>
        </p:nvPicPr>
        <p:blipFill>
          <a:blip r:embed="rId6"/>
          <a:stretch>
            <a:fillRect/>
          </a:stretch>
        </p:blipFill>
        <p:spPr>
          <a:xfrm>
            <a:off x="10087105" y="1389951"/>
            <a:ext cx="134549" cy="195707"/>
          </a:xfrm>
          <a:prstGeom prst="rect">
            <a:avLst/>
          </a:prstGeom>
        </p:spPr>
      </p:pic>
      <p:sp>
        <p:nvSpPr>
          <p:cNvPr id="25" name="TextBox 24"/>
          <p:cNvSpPr txBox="1"/>
          <p:nvPr/>
        </p:nvSpPr>
        <p:spPr>
          <a:xfrm>
            <a:off x="10262214" y="1400175"/>
            <a:ext cx="1341871" cy="194310"/>
          </a:xfrm>
          <a:prstGeom prst="rect">
            <a:avLst/>
          </a:prstGeom>
          <a:noFill/>
        </p:spPr>
        <p:txBody>
          <a:bodyPr wrap="none" lIns="0" rIns="0" tIns="0" bIns="0">
            <a:spAutoFit/>
          </a:bodyPr>
          <a:lstStyle/>
          <a:p>
            <a:r>
              <a:rPr sz="1150" b="0">
                <a:solidFill>
                  <a:srgbClr val="2E2E2E"/>
                </a:solidFill>
                <a:latin typeface="Calibri"/>
              </a:rPr>
              <a:t>X in terms of value as</a:t>
            </a:r>
          </a:p>
        </p:txBody>
      </p:sp>
      <p:sp>
        <p:nvSpPr>
          <p:cNvPr id="26" name="TextBox 25"/>
          <p:cNvSpPr txBox="1"/>
          <p:nvPr/>
        </p:nvSpPr>
        <p:spPr>
          <a:xfrm>
            <a:off x="6305550" y="1575435"/>
            <a:ext cx="5467498" cy="194310"/>
          </a:xfrm>
          <a:prstGeom prst="rect">
            <a:avLst/>
          </a:prstGeom>
          <a:noFill/>
        </p:spPr>
        <p:txBody>
          <a:bodyPr wrap="none" lIns="0" rIns="0" tIns="0" bIns="0">
            <a:spAutoFit/>
          </a:bodyPr>
          <a:lstStyle/>
          <a:p>
            <a:r>
              <a:rPr sz="1150" b="0">
                <a:solidFill>
                  <a:srgbClr val="2E2E2E"/>
                </a:solidFill>
                <a:latin typeface="Calibri"/>
              </a:rPr>
              <a:t>compared to 2026. The liquid segment is expected to create an incremental opportunity of</a:t>
            </a:r>
          </a:p>
        </p:txBody>
      </p:sp>
      <p:sp>
        <p:nvSpPr>
          <p:cNvPr id="27" name="TextBox 26"/>
          <p:cNvSpPr txBox="1"/>
          <p:nvPr/>
        </p:nvSpPr>
        <p:spPr>
          <a:xfrm>
            <a:off x="6305550" y="1750695"/>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28" name="Picture 27" descr="lock.png"/>
          <p:cNvPicPr>
            <a:picLocks noChangeAspect="1"/>
          </p:cNvPicPr>
          <p:nvPr/>
        </p:nvPicPr>
        <p:blipFill>
          <a:blip r:embed="rId6"/>
          <a:stretch>
            <a:fillRect/>
          </a:stretch>
        </p:blipFill>
        <p:spPr>
          <a:xfrm>
            <a:off x="6565953" y="1740471"/>
            <a:ext cx="134549" cy="195707"/>
          </a:xfrm>
          <a:prstGeom prst="rect">
            <a:avLst/>
          </a:prstGeom>
        </p:spPr>
      </p:pic>
      <p:sp>
        <p:nvSpPr>
          <p:cNvPr id="29" name="TextBox 28"/>
          <p:cNvSpPr txBox="1"/>
          <p:nvPr/>
        </p:nvSpPr>
        <p:spPr>
          <a:xfrm>
            <a:off x="6741062" y="1750695"/>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30" name="TextBox 29"/>
          <p:cNvSpPr txBox="1"/>
          <p:nvPr/>
        </p:nvSpPr>
        <p:spPr>
          <a:xfrm>
            <a:off x="6305550" y="1978533"/>
            <a:ext cx="4728976" cy="194310"/>
          </a:xfrm>
          <a:prstGeom prst="rect">
            <a:avLst/>
          </a:prstGeom>
          <a:noFill/>
        </p:spPr>
        <p:txBody>
          <a:bodyPr wrap="none" lIns="0" rIns="0" tIns="0" bIns="0">
            <a:spAutoFit/>
          </a:bodyPr>
          <a:lstStyle/>
          <a:p>
            <a:r>
              <a:rPr sz="1150" b="0">
                <a:solidFill>
                  <a:srgbClr val="2E2E2E"/>
                </a:solidFill>
                <a:latin typeface="Calibri"/>
              </a:rPr>
              <a:t>The blended segment is expected to create an incremental opportunity of US$</a:t>
            </a:r>
          </a:p>
        </p:txBody>
      </p:sp>
      <p:pic>
        <p:nvPicPr>
          <p:cNvPr id="31" name="Picture 30" descr="lock.png"/>
          <p:cNvPicPr>
            <a:picLocks noChangeAspect="1"/>
          </p:cNvPicPr>
          <p:nvPr/>
        </p:nvPicPr>
        <p:blipFill>
          <a:blip r:embed="rId6"/>
          <a:stretch>
            <a:fillRect/>
          </a:stretch>
        </p:blipFill>
        <p:spPr>
          <a:xfrm>
            <a:off x="10983680" y="1968309"/>
            <a:ext cx="134549" cy="195707"/>
          </a:xfrm>
          <a:prstGeom prst="rect">
            <a:avLst/>
          </a:prstGeom>
        </p:spPr>
      </p:pic>
      <p:sp>
        <p:nvSpPr>
          <p:cNvPr id="32" name="TextBox 31"/>
          <p:cNvSpPr txBox="1"/>
          <p:nvPr/>
        </p:nvSpPr>
        <p:spPr>
          <a:xfrm>
            <a:off x="11158789" y="1978533"/>
            <a:ext cx="715168" cy="194310"/>
          </a:xfrm>
          <a:prstGeom prst="rect">
            <a:avLst/>
          </a:prstGeom>
          <a:noFill/>
        </p:spPr>
        <p:txBody>
          <a:bodyPr wrap="none" lIns="0" rIns="0" tIns="0" bIns="0">
            <a:spAutoFit/>
          </a:bodyPr>
          <a:lstStyle/>
          <a:p>
            <a:r>
              <a:rPr sz="1150" b="0">
                <a:solidFill>
                  <a:srgbClr val="2E2E2E"/>
                </a:solidFill>
                <a:latin typeface="Calibri"/>
              </a:rPr>
              <a:t>Mn for the</a:t>
            </a:r>
          </a:p>
        </p:txBody>
      </p:sp>
      <p:sp>
        <p:nvSpPr>
          <p:cNvPr id="33" name="TextBox 32"/>
          <p:cNvSpPr txBox="1"/>
          <p:nvPr/>
        </p:nvSpPr>
        <p:spPr>
          <a:xfrm>
            <a:off x="6305550" y="2153793"/>
            <a:ext cx="5307186" cy="194310"/>
          </a:xfrm>
          <a:prstGeom prst="rect">
            <a:avLst/>
          </a:prstGeom>
          <a:noFill/>
        </p:spPr>
        <p:txBody>
          <a:bodyPr wrap="none" lIns="0" rIns="0" tIns="0" bIns="0">
            <a:spAutoFit/>
          </a:bodyPr>
          <a:lstStyle/>
          <a:p>
            <a:r>
              <a:rPr sz="1150" b="0">
                <a:solidFill>
                  <a:srgbClr val="2E2E2E"/>
                </a:solidFill>
                <a:latin typeface="Calibri"/>
              </a:rPr>
              <a:t>overall matcha market from 2026 to 2036. The ground segment is expected to create an</a:t>
            </a:r>
          </a:p>
        </p:txBody>
      </p:sp>
      <p:sp>
        <p:nvSpPr>
          <p:cNvPr id="34" name="TextBox 33"/>
          <p:cNvSpPr txBox="1"/>
          <p:nvPr/>
        </p:nvSpPr>
        <p:spPr>
          <a:xfrm>
            <a:off x="6305550" y="2329053"/>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35" name="Picture 34" descr="lock.png"/>
          <p:cNvPicPr>
            <a:picLocks noChangeAspect="1"/>
          </p:cNvPicPr>
          <p:nvPr/>
        </p:nvPicPr>
        <p:blipFill>
          <a:blip r:embed="rId6"/>
          <a:stretch>
            <a:fillRect/>
          </a:stretch>
        </p:blipFill>
        <p:spPr>
          <a:xfrm>
            <a:off x="8211582" y="2318829"/>
            <a:ext cx="134549" cy="195707"/>
          </a:xfrm>
          <a:prstGeom prst="rect">
            <a:avLst/>
          </a:prstGeom>
        </p:spPr>
      </p:pic>
      <p:sp>
        <p:nvSpPr>
          <p:cNvPr id="36" name="TextBox 35"/>
          <p:cNvSpPr txBox="1"/>
          <p:nvPr/>
        </p:nvSpPr>
        <p:spPr>
          <a:xfrm>
            <a:off x="8386692" y="2329053"/>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3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lockshield_15"/>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Form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Form, 2021–2036, highlighting the sub-segments driving growth</a:t>
            </a:r>
          </a:p>
        </p:txBody>
      </p:sp>
      <p:sp>
        <p:nvSpPr>
          <p:cNvPr id="10" name="Rounded Rectangle 9"/>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Form (US$ Mn)</a:t>
            </a:r>
          </a:p>
        </p:txBody>
      </p:sp>
      <p:graphicFrame>
        <p:nvGraphicFramePr>
          <p:cNvPr id="12" name="Table 11"/>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761766"/>
                <a:gridCol w="654437"/>
                <a:gridCol w="654437"/>
                <a:gridCol w="654437"/>
                <a:gridCol w="654437"/>
                <a:gridCol w="654437"/>
                <a:gridCol w="654437"/>
                <a:gridCol w="654437"/>
                <a:gridCol w="654437"/>
                <a:gridCol w="654437"/>
                <a:gridCol w="654437"/>
                <a:gridCol w="654437"/>
                <a:gridCol w="654437"/>
                <a:gridCol w="654437"/>
                <a:gridCol w="654437"/>
                <a:gridCol w="654437"/>
                <a:gridCol w="654437"/>
                <a:gridCol w="654437"/>
              </a:tblGrid>
              <a:tr h="246126">
                <a:tc>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Form</a:t>
            </a:r>
          </a:p>
        </p:txBody>
      </p:sp>
      <p:sp>
        <p:nvSpPr>
          <p:cNvPr id="16" name="Rectangle 15"/>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290190" y="2080450"/>
            <a:ext cx="366712" cy="533399"/>
          </a:xfrm>
          <a:prstGeom prst="rect">
            <a:avLst/>
          </a:prstGeom>
        </p:spPr>
      </p:pic>
      <p:sp>
        <p:nvSpPr>
          <p:cNvPr id="20" name="TextBox 19"/>
          <p:cNvSpPr txBox="1"/>
          <p:nvPr/>
        </p:nvSpPr>
        <p:spPr>
          <a:xfrm>
            <a:off x="276225" y="3971925"/>
            <a:ext cx="2360228" cy="194310"/>
          </a:xfrm>
          <a:prstGeom prst="rect">
            <a:avLst/>
          </a:prstGeom>
          <a:noFill/>
        </p:spPr>
        <p:txBody>
          <a:bodyPr wrap="none" lIns="0" rIns="0" tIns="0" bIns="0">
            <a:spAutoFit/>
          </a:bodyPr>
          <a:lstStyle/>
          <a:p>
            <a:r>
              <a:rPr sz="1150" b="0">
                <a:solidFill>
                  <a:srgbClr val="2E2E2E"/>
                </a:solidFill>
                <a:latin typeface="Calibri"/>
              </a:rPr>
              <a:t>Liquid segment is projected to register</a:t>
            </a:r>
          </a:p>
        </p:txBody>
      </p:sp>
      <p:pic>
        <p:nvPicPr>
          <p:cNvPr id="21" name="Picture 20" descr="lock.png"/>
          <p:cNvPicPr>
            <a:picLocks noChangeAspect="1"/>
          </p:cNvPicPr>
          <p:nvPr/>
        </p:nvPicPr>
        <p:blipFill>
          <a:blip r:embed="rId4"/>
          <a:stretch>
            <a:fillRect/>
          </a:stretch>
        </p:blipFill>
        <p:spPr>
          <a:xfrm>
            <a:off x="2585606" y="3961701"/>
            <a:ext cx="134549" cy="195707"/>
          </a:xfrm>
          <a:prstGeom prst="rect">
            <a:avLst/>
          </a:prstGeom>
        </p:spPr>
      </p:pic>
      <p:sp>
        <p:nvSpPr>
          <p:cNvPr id="22" name="TextBox 21"/>
          <p:cNvSpPr txBox="1"/>
          <p:nvPr/>
        </p:nvSpPr>
        <p:spPr>
          <a:xfrm>
            <a:off x="2760716" y="3971925"/>
            <a:ext cx="7744948" cy="194310"/>
          </a:xfrm>
          <a:prstGeom prst="rect">
            <a:avLst/>
          </a:prstGeom>
          <a:noFill/>
        </p:spPr>
        <p:txBody>
          <a:bodyPr wrap="none" lIns="0" rIns="0" tIns="0" bIns="0">
            <a:spAutoFit/>
          </a:bodyPr>
          <a:lstStyle/>
          <a:p>
            <a:r>
              <a:rPr sz="1150" b="0">
                <a:solidFill>
                  <a:srgbClr val="2E2E2E"/>
                </a:solidFill>
                <a:latin typeface="Calibri"/>
              </a:rPr>
              <a:t>X higher value than blended segment in 2036. Among matcha by form, liquid segment is expected to witness the highest CAGR of</a:t>
            </a:r>
          </a:p>
        </p:txBody>
      </p:sp>
      <p:pic>
        <p:nvPicPr>
          <p:cNvPr id="23" name="Picture 22" descr="lock.png"/>
          <p:cNvPicPr>
            <a:picLocks noChangeAspect="1"/>
          </p:cNvPicPr>
          <p:nvPr/>
        </p:nvPicPr>
        <p:blipFill>
          <a:blip r:embed="rId4"/>
          <a:stretch>
            <a:fillRect/>
          </a:stretch>
        </p:blipFill>
        <p:spPr>
          <a:xfrm>
            <a:off x="10454818" y="3961701"/>
            <a:ext cx="134549" cy="195707"/>
          </a:xfrm>
          <a:prstGeom prst="rect">
            <a:avLst/>
          </a:prstGeom>
        </p:spPr>
      </p:pic>
      <p:sp>
        <p:nvSpPr>
          <p:cNvPr id="24" name="TextBox 23"/>
          <p:cNvSpPr txBox="1"/>
          <p:nvPr/>
        </p:nvSpPr>
        <p:spPr>
          <a:xfrm>
            <a:off x="10629927" y="397192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25" name="TextBox 24"/>
          <p:cNvSpPr txBox="1"/>
          <p:nvPr/>
        </p:nvSpPr>
        <p:spPr>
          <a:xfrm>
            <a:off x="276225" y="4147185"/>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26" name="TextBox 25"/>
          <p:cNvSpPr txBox="1"/>
          <p:nvPr/>
        </p:nvSpPr>
        <p:spPr>
          <a:xfrm>
            <a:off x="276225" y="4375022"/>
            <a:ext cx="5770153" cy="194310"/>
          </a:xfrm>
          <a:prstGeom prst="rect">
            <a:avLst/>
          </a:prstGeom>
          <a:noFill/>
        </p:spPr>
        <p:txBody>
          <a:bodyPr wrap="none" lIns="0" rIns="0" tIns="0" bIns="0">
            <a:spAutoFit/>
          </a:bodyPr>
          <a:lstStyle/>
          <a:p>
            <a:r>
              <a:rPr sz="1150" b="0">
                <a:solidFill>
                  <a:srgbClr val="2E2E2E"/>
                </a:solidFill>
                <a:latin typeface="Calibri"/>
              </a:rPr>
              <a:t>In terms of value share by form, the liquid segment is expected to dominate the market, gaining</a:t>
            </a:r>
          </a:p>
        </p:txBody>
      </p:sp>
      <p:pic>
        <p:nvPicPr>
          <p:cNvPr id="27" name="Picture 26" descr="lock.png"/>
          <p:cNvPicPr>
            <a:picLocks noChangeAspect="1"/>
          </p:cNvPicPr>
          <p:nvPr/>
        </p:nvPicPr>
        <p:blipFill>
          <a:blip r:embed="rId4"/>
          <a:stretch>
            <a:fillRect/>
          </a:stretch>
        </p:blipFill>
        <p:spPr>
          <a:xfrm>
            <a:off x="5995532" y="4364799"/>
            <a:ext cx="134549" cy="195707"/>
          </a:xfrm>
          <a:prstGeom prst="rect">
            <a:avLst/>
          </a:prstGeom>
        </p:spPr>
      </p:pic>
      <p:sp>
        <p:nvSpPr>
          <p:cNvPr id="28" name="TextBox 27"/>
          <p:cNvSpPr txBox="1"/>
          <p:nvPr/>
        </p:nvSpPr>
        <p:spPr>
          <a:xfrm>
            <a:off x="6170641"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7565784" y="4364799"/>
            <a:ext cx="134549" cy="195707"/>
          </a:xfrm>
          <a:prstGeom prst="rect">
            <a:avLst/>
          </a:prstGeom>
        </p:spPr>
      </p:pic>
      <p:sp>
        <p:nvSpPr>
          <p:cNvPr id="30" name="TextBox 29"/>
          <p:cNvSpPr txBox="1"/>
          <p:nvPr/>
        </p:nvSpPr>
        <p:spPr>
          <a:xfrm>
            <a:off x="7740893" y="4375022"/>
            <a:ext cx="3401690" cy="194310"/>
          </a:xfrm>
          <a:prstGeom prst="rect">
            <a:avLst/>
          </a:prstGeom>
          <a:noFill/>
        </p:spPr>
        <p:txBody>
          <a:bodyPr wrap="none" lIns="0" rIns="0" tIns="0" bIns="0">
            <a:spAutoFit/>
          </a:bodyPr>
          <a:lstStyle/>
          <a:p>
            <a:r>
              <a:rPr sz="1150" b="0">
                <a:solidFill>
                  <a:srgbClr val="2E2E2E"/>
                </a:solidFill>
                <a:latin typeface="Calibri"/>
              </a:rPr>
              <a:t>share by 2036. The blended segment is expected to lose</a:t>
            </a:r>
          </a:p>
        </p:txBody>
      </p:sp>
      <p:pic>
        <p:nvPicPr>
          <p:cNvPr id="31" name="Picture 30" descr="lock.png"/>
          <p:cNvPicPr>
            <a:picLocks noChangeAspect="1"/>
          </p:cNvPicPr>
          <p:nvPr/>
        </p:nvPicPr>
        <p:blipFill>
          <a:blip r:embed="rId4"/>
          <a:stretch>
            <a:fillRect/>
          </a:stretch>
        </p:blipFill>
        <p:spPr>
          <a:xfrm>
            <a:off x="11091737" y="4364799"/>
            <a:ext cx="134549" cy="195707"/>
          </a:xfrm>
          <a:prstGeom prst="rect">
            <a:avLst/>
          </a:prstGeom>
        </p:spPr>
      </p:pic>
      <p:sp>
        <p:nvSpPr>
          <p:cNvPr id="32" name="TextBox 31"/>
          <p:cNvSpPr txBox="1"/>
          <p:nvPr/>
        </p:nvSpPr>
        <p:spPr>
          <a:xfrm>
            <a:off x="11266847" y="4375022"/>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3" name="TextBox 32"/>
          <p:cNvSpPr txBox="1"/>
          <p:nvPr/>
        </p:nvSpPr>
        <p:spPr>
          <a:xfrm>
            <a:off x="276225" y="4550282"/>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34" name="Picture 33" descr="lock.png"/>
          <p:cNvPicPr>
            <a:picLocks noChangeAspect="1"/>
          </p:cNvPicPr>
          <p:nvPr/>
        </p:nvPicPr>
        <p:blipFill>
          <a:blip r:embed="rId4"/>
          <a:stretch>
            <a:fillRect/>
          </a:stretch>
        </p:blipFill>
        <p:spPr>
          <a:xfrm>
            <a:off x="2608427" y="4540059"/>
            <a:ext cx="134549" cy="195707"/>
          </a:xfrm>
          <a:prstGeom prst="rect">
            <a:avLst/>
          </a:prstGeom>
        </p:spPr>
      </p:pic>
      <p:sp>
        <p:nvSpPr>
          <p:cNvPr id="35" name="TextBox 34"/>
          <p:cNvSpPr txBox="1"/>
          <p:nvPr/>
        </p:nvSpPr>
        <p:spPr>
          <a:xfrm>
            <a:off x="2783536" y="45502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Form</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Form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Form ·  2021 / 2026 / 2036 (US$ Mn)  ·  right axis = BPS share shift</a:t>
            </a:r>
          </a:p>
        </p:txBody>
      </p:sp>
      <p:graphicFrame>
        <p:nvGraphicFramePr>
          <p:cNvPr id="12" name="Chart 11"/>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3932301"/>
            <a:ext cx="38100" cy="38100"/>
          </a:xfrm>
          <a:prstGeom prst="rect">
            <a:avLst/>
          </a:prstGeom>
          <a:noFill/>
        </p:spPr>
        <p:txBody>
          <a:bodyPr wrap="none">
            <a:spAutoFit/>
          </a:bodyPr>
          <a:lstStyle/>
          <a:p/>
        </p:txBody>
      </p:sp>
      <p:sp>
        <p:nvSpPr>
          <p:cNvPr id="15" name="FMI Legend Chip"/>
          <p:cNvSpPr/>
          <p:nvPr/>
        </p:nvSpPr>
        <p:spPr>
          <a:xfrm>
            <a:off x="4928997" y="160667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60190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52570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Granules</a:t>
            </a:r>
          </a:p>
        </p:txBody>
      </p:sp>
      <p:sp>
        <p:nvSpPr>
          <p:cNvPr id="18" name="BPS Value 1"/>
          <p:cNvSpPr txBox="1"/>
          <p:nvPr/>
        </p:nvSpPr>
        <p:spPr>
          <a:xfrm>
            <a:off x="6896100" y="158762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185103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18462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17700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a:t>
            </a:r>
          </a:p>
        </p:txBody>
      </p:sp>
      <p:sp>
        <p:nvSpPr>
          <p:cNvPr id="22" name="BPS Value 2"/>
          <p:cNvSpPr txBox="1"/>
          <p:nvPr/>
        </p:nvSpPr>
        <p:spPr>
          <a:xfrm>
            <a:off x="6896100" y="183198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231840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5090922" y="231364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23744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Whole</a:t>
            </a:r>
          </a:p>
        </p:txBody>
      </p:sp>
      <p:sp>
        <p:nvSpPr>
          <p:cNvPr id="26" name="BPS Value 3"/>
          <p:cNvSpPr txBox="1"/>
          <p:nvPr/>
        </p:nvSpPr>
        <p:spPr>
          <a:xfrm>
            <a:off x="6896100" y="229935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928997" y="3002675"/>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rot="10800000">
            <a:off x="5090922" y="299791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292171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Ground</a:t>
            </a:r>
          </a:p>
        </p:txBody>
      </p:sp>
      <p:sp>
        <p:nvSpPr>
          <p:cNvPr id="30" name="BPS Value 4"/>
          <p:cNvSpPr txBox="1"/>
          <p:nvPr/>
        </p:nvSpPr>
        <p:spPr>
          <a:xfrm>
            <a:off x="6896100" y="298362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1" name="FMI Legend Chip"/>
          <p:cNvSpPr/>
          <p:nvPr/>
        </p:nvSpPr>
        <p:spPr>
          <a:xfrm>
            <a:off x="4928997" y="3866293"/>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5090922" y="38615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37853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Blended</a:t>
            </a:r>
          </a:p>
        </p:txBody>
      </p:sp>
      <p:sp>
        <p:nvSpPr>
          <p:cNvPr id="34" name="BPS Value 5"/>
          <p:cNvSpPr txBox="1"/>
          <p:nvPr/>
        </p:nvSpPr>
        <p:spPr>
          <a:xfrm>
            <a:off x="6896100" y="38472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FMI Legend Chip"/>
          <p:cNvSpPr/>
          <p:nvPr/>
        </p:nvSpPr>
        <p:spPr>
          <a:xfrm>
            <a:off x="4928997" y="530614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a:off x="5090922" y="530138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52251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Liquid</a:t>
            </a:r>
          </a:p>
        </p:txBody>
      </p:sp>
      <p:sp>
        <p:nvSpPr>
          <p:cNvPr id="38" name="BPS Value 6"/>
          <p:cNvSpPr txBox="1"/>
          <p:nvPr/>
        </p:nvSpPr>
        <p:spPr>
          <a:xfrm>
            <a:off x="6896100" y="528709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9" name="Rounded Rectangle 38"/>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Form</a:t>
            </a:r>
          </a:p>
        </p:txBody>
      </p:sp>
      <p:sp>
        <p:nvSpPr>
          <p:cNvPr id="41" name="Rectangle 40"/>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3" name="TextBox 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4" name="Picture 43" descr="lock.png"/>
          <p:cNvPicPr>
            <a:picLocks noChangeAspect="1"/>
          </p:cNvPicPr>
          <p:nvPr/>
        </p:nvPicPr>
        <p:blipFill>
          <a:blip r:embed="rId5"/>
          <a:stretch>
            <a:fillRect/>
          </a:stretch>
        </p:blipFill>
        <p:spPr>
          <a:xfrm>
            <a:off x="2557843" y="3751325"/>
            <a:ext cx="275034" cy="400050"/>
          </a:xfrm>
          <a:prstGeom prst="rect">
            <a:avLst/>
          </a:prstGeom>
        </p:spPr>
      </p:pic>
      <p:sp>
        <p:nvSpPr>
          <p:cNvPr id="45" name="TextBox 44"/>
          <p:cNvSpPr txBox="1"/>
          <p:nvPr/>
        </p:nvSpPr>
        <p:spPr>
          <a:xfrm>
            <a:off x="7829550" y="1400175"/>
            <a:ext cx="4000437" cy="194310"/>
          </a:xfrm>
          <a:prstGeom prst="rect">
            <a:avLst/>
          </a:prstGeom>
          <a:noFill/>
        </p:spPr>
        <p:txBody>
          <a:bodyPr wrap="none" lIns="0" rIns="0" tIns="0" bIns="0">
            <a:spAutoFit/>
          </a:bodyPr>
          <a:lstStyle/>
          <a:p>
            <a:r>
              <a:rPr sz="1150" b="0">
                <a:solidFill>
                  <a:srgbClr val="2E2E2E"/>
                </a:solidFill>
                <a:latin typeface="Calibri"/>
              </a:rPr>
              <a:t>Among matcha by form, liquid segment is expected to witness the</a:t>
            </a:r>
          </a:p>
        </p:txBody>
      </p:sp>
      <p:sp>
        <p:nvSpPr>
          <p:cNvPr id="46" name="TextBox 45"/>
          <p:cNvSpPr txBox="1"/>
          <p:nvPr/>
        </p:nvSpPr>
        <p:spPr>
          <a:xfrm>
            <a:off x="7829550" y="157543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7" name="Picture 46" descr="lock.png"/>
          <p:cNvPicPr>
            <a:picLocks noChangeAspect="1"/>
          </p:cNvPicPr>
          <p:nvPr/>
        </p:nvPicPr>
        <p:blipFill>
          <a:blip r:embed="rId5"/>
          <a:stretch>
            <a:fillRect/>
          </a:stretch>
        </p:blipFill>
        <p:spPr>
          <a:xfrm>
            <a:off x="8811057" y="1565211"/>
            <a:ext cx="134549" cy="195707"/>
          </a:xfrm>
          <a:prstGeom prst="rect">
            <a:avLst/>
          </a:prstGeom>
        </p:spPr>
      </p:pic>
      <p:sp>
        <p:nvSpPr>
          <p:cNvPr id="48" name="TextBox 47"/>
          <p:cNvSpPr txBox="1"/>
          <p:nvPr/>
        </p:nvSpPr>
        <p:spPr>
          <a:xfrm>
            <a:off x="8986166" y="157543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9" name="TextBox 48"/>
          <p:cNvSpPr txBox="1"/>
          <p:nvPr/>
        </p:nvSpPr>
        <p:spPr>
          <a:xfrm>
            <a:off x="7829550" y="1750695"/>
            <a:ext cx="3780507" cy="194310"/>
          </a:xfrm>
          <a:prstGeom prst="rect">
            <a:avLst/>
          </a:prstGeom>
          <a:noFill/>
        </p:spPr>
        <p:txBody>
          <a:bodyPr wrap="none" lIns="0" rIns="0" tIns="0" bIns="0">
            <a:spAutoFit/>
          </a:bodyPr>
          <a:lstStyle/>
          <a:p>
            <a:r>
              <a:rPr sz="1150" b="0">
                <a:solidFill>
                  <a:srgbClr val="2E2E2E"/>
                </a:solidFill>
                <a:latin typeface="Calibri"/>
              </a:rPr>
              <a:t>share by form, the liquid segment is expected to dominate the</a:t>
            </a:r>
          </a:p>
        </p:txBody>
      </p:sp>
      <p:sp>
        <p:nvSpPr>
          <p:cNvPr id="50" name="TextBox 49"/>
          <p:cNvSpPr txBox="1"/>
          <p:nvPr/>
        </p:nvSpPr>
        <p:spPr>
          <a:xfrm>
            <a:off x="7829550" y="192595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51" name="Picture 50" descr="lock.png"/>
          <p:cNvPicPr>
            <a:picLocks noChangeAspect="1"/>
          </p:cNvPicPr>
          <p:nvPr/>
        </p:nvPicPr>
        <p:blipFill>
          <a:blip r:embed="rId5"/>
          <a:stretch>
            <a:fillRect/>
          </a:stretch>
        </p:blipFill>
        <p:spPr>
          <a:xfrm>
            <a:off x="8778556" y="1915731"/>
            <a:ext cx="134549" cy="195707"/>
          </a:xfrm>
          <a:prstGeom prst="rect">
            <a:avLst/>
          </a:prstGeom>
        </p:spPr>
      </p:pic>
      <p:sp>
        <p:nvSpPr>
          <p:cNvPr id="52" name="TextBox 51"/>
          <p:cNvSpPr txBox="1"/>
          <p:nvPr/>
        </p:nvSpPr>
        <p:spPr>
          <a:xfrm>
            <a:off x="8953665" y="192595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3" name="Picture 52" descr="lock.png"/>
          <p:cNvPicPr>
            <a:picLocks noChangeAspect="1"/>
          </p:cNvPicPr>
          <p:nvPr/>
        </p:nvPicPr>
        <p:blipFill>
          <a:blip r:embed="rId5"/>
          <a:stretch>
            <a:fillRect/>
          </a:stretch>
        </p:blipFill>
        <p:spPr>
          <a:xfrm>
            <a:off x="10348808" y="1915731"/>
            <a:ext cx="134549" cy="195707"/>
          </a:xfrm>
          <a:prstGeom prst="rect">
            <a:avLst/>
          </a:prstGeom>
        </p:spPr>
      </p:pic>
      <p:sp>
        <p:nvSpPr>
          <p:cNvPr id="54" name="TextBox 53"/>
          <p:cNvSpPr txBox="1"/>
          <p:nvPr/>
        </p:nvSpPr>
        <p:spPr>
          <a:xfrm>
            <a:off x="10523917" y="192595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TextBox 54"/>
          <p:cNvSpPr txBox="1"/>
          <p:nvPr/>
        </p:nvSpPr>
        <p:spPr>
          <a:xfrm>
            <a:off x="7829550" y="2153793"/>
            <a:ext cx="2498576" cy="194310"/>
          </a:xfrm>
          <a:prstGeom prst="rect">
            <a:avLst/>
          </a:prstGeom>
          <a:noFill/>
        </p:spPr>
        <p:txBody>
          <a:bodyPr wrap="none" lIns="0" rIns="0" tIns="0" bIns="0">
            <a:spAutoFit/>
          </a:bodyPr>
          <a:lstStyle/>
          <a:p>
            <a:r>
              <a:rPr sz="1150" b="0">
                <a:solidFill>
                  <a:srgbClr val="2E2E2E"/>
                </a:solidFill>
                <a:latin typeface="Calibri"/>
              </a:rPr>
              <a:t>The blended segment is expected to lose</a:t>
            </a:r>
          </a:p>
        </p:txBody>
      </p:sp>
      <p:pic>
        <p:nvPicPr>
          <p:cNvPr id="56" name="Picture 55" descr="lock.png"/>
          <p:cNvPicPr>
            <a:picLocks noChangeAspect="1"/>
          </p:cNvPicPr>
          <p:nvPr/>
        </p:nvPicPr>
        <p:blipFill>
          <a:blip r:embed="rId5"/>
          <a:stretch>
            <a:fillRect/>
          </a:stretch>
        </p:blipFill>
        <p:spPr>
          <a:xfrm>
            <a:off x="10277280" y="2143569"/>
            <a:ext cx="134549" cy="195707"/>
          </a:xfrm>
          <a:prstGeom prst="rect">
            <a:avLst/>
          </a:prstGeom>
        </p:spPr>
      </p:pic>
      <p:sp>
        <p:nvSpPr>
          <p:cNvPr id="57" name="TextBox 56"/>
          <p:cNvSpPr txBox="1"/>
          <p:nvPr/>
        </p:nvSpPr>
        <p:spPr>
          <a:xfrm>
            <a:off x="10452389" y="215379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58" name="TextBox 57"/>
          <p:cNvSpPr txBox="1"/>
          <p:nvPr/>
        </p:nvSpPr>
        <p:spPr>
          <a:xfrm>
            <a:off x="7829550" y="232905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59" name="Picture 58" descr="lock.png"/>
          <p:cNvPicPr>
            <a:picLocks noChangeAspect="1"/>
          </p:cNvPicPr>
          <p:nvPr/>
        </p:nvPicPr>
        <p:blipFill>
          <a:blip r:embed="rId5"/>
          <a:stretch>
            <a:fillRect/>
          </a:stretch>
        </p:blipFill>
        <p:spPr>
          <a:xfrm>
            <a:off x="9114014" y="2318829"/>
            <a:ext cx="134549" cy="195707"/>
          </a:xfrm>
          <a:prstGeom prst="rect">
            <a:avLst/>
          </a:prstGeom>
        </p:spPr>
      </p:pic>
      <p:sp>
        <p:nvSpPr>
          <p:cNvPr id="60" name="TextBox 59"/>
          <p:cNvSpPr txBox="1"/>
          <p:nvPr/>
        </p:nvSpPr>
        <p:spPr>
          <a:xfrm>
            <a:off x="9289123"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lockshield_12"/>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Flavour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Flavour,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Flavour segment categorizes the market by flavour.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150144"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150144"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Vanilla</a:t>
            </a:r>
          </a:p>
        </p:txBody>
      </p:sp>
      <p:sp>
        <p:nvSpPr>
          <p:cNvPr id="22" name="Rectangle 21"/>
          <p:cNvSpPr/>
          <p:nvPr/>
        </p:nvSpPr>
        <p:spPr>
          <a:xfrm>
            <a:off x="1866900"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280047"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131344" y="1773916"/>
            <a:ext cx="1150144"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131344" y="1992961"/>
            <a:ext cx="1150144"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169444"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Orange</a:t>
            </a:r>
          </a:p>
        </p:txBody>
      </p:sp>
      <p:sp>
        <p:nvSpPr>
          <p:cNvPr id="29" name="Rectangle 28"/>
          <p:cNvSpPr/>
          <p:nvPr/>
        </p:nvSpPr>
        <p:spPr>
          <a:xfrm>
            <a:off x="3131344"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131344"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131344"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3544491"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4395788" y="1773916"/>
            <a:ext cx="1150144"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4395788" y="1992961"/>
            <a:ext cx="1150144"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433888"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Lemon</a:t>
            </a:r>
          </a:p>
        </p:txBody>
      </p:sp>
      <p:sp>
        <p:nvSpPr>
          <p:cNvPr id="36" name="Rectangle 35"/>
          <p:cNvSpPr/>
          <p:nvPr/>
        </p:nvSpPr>
        <p:spPr>
          <a:xfrm>
            <a:off x="4395788"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4395788"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4395788"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480893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5660231" y="1773916"/>
            <a:ext cx="1150144"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5660231" y="1992961"/>
            <a:ext cx="1150144"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698331"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Unflavoured</a:t>
            </a:r>
          </a:p>
        </p:txBody>
      </p:sp>
      <p:sp>
        <p:nvSpPr>
          <p:cNvPr id="43" name="Rectangle 42"/>
          <p:cNvSpPr/>
          <p:nvPr/>
        </p:nvSpPr>
        <p:spPr>
          <a:xfrm>
            <a:off x="5660231"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5660231"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5660231"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6073378"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6924675" y="1773916"/>
            <a:ext cx="1150144"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6924675" y="1992961"/>
            <a:ext cx="1150144"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6962775"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Pumpkin Spice</a:t>
            </a:r>
          </a:p>
        </p:txBody>
      </p:sp>
      <p:sp>
        <p:nvSpPr>
          <p:cNvPr id="50" name="Rectangle 49"/>
          <p:cNvSpPr/>
          <p:nvPr/>
        </p:nvSpPr>
        <p:spPr>
          <a:xfrm>
            <a:off x="6924675"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6924675"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6924675"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7337822"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8189119" y="1773916"/>
            <a:ext cx="1150144"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189119" y="1992961"/>
            <a:ext cx="1150144"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227219"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Mocha</a:t>
            </a:r>
          </a:p>
        </p:txBody>
      </p:sp>
      <p:sp>
        <p:nvSpPr>
          <p:cNvPr id="57" name="Rectangle 56"/>
          <p:cNvSpPr/>
          <p:nvPr/>
        </p:nvSpPr>
        <p:spPr>
          <a:xfrm>
            <a:off x="8189119"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8189119"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8189119"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860226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9453562" y="1773916"/>
            <a:ext cx="1150144"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9453562" y="1992961"/>
            <a:ext cx="1150144"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491662"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Flavours</a:t>
            </a:r>
          </a:p>
        </p:txBody>
      </p:sp>
      <p:sp>
        <p:nvSpPr>
          <p:cNvPr id="64" name="Rectangle 63"/>
          <p:cNvSpPr/>
          <p:nvPr/>
        </p:nvSpPr>
        <p:spPr>
          <a:xfrm>
            <a:off x="9453562"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5" name="Rectangle 64"/>
          <p:cNvSpPr/>
          <p:nvPr/>
        </p:nvSpPr>
        <p:spPr>
          <a:xfrm>
            <a:off x="9453562"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6" name="Rectangle 65"/>
          <p:cNvSpPr/>
          <p:nvPr/>
        </p:nvSpPr>
        <p:spPr>
          <a:xfrm>
            <a:off x="9453562"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7" name="Oval 66"/>
          <p:cNvSpPr/>
          <p:nvPr/>
        </p:nvSpPr>
        <p:spPr>
          <a:xfrm>
            <a:off x="9866709"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8" name="Rounded Rectangle 67"/>
          <p:cNvSpPr/>
          <p:nvPr/>
        </p:nvSpPr>
        <p:spPr>
          <a:xfrm>
            <a:off x="10718006" y="1773916"/>
            <a:ext cx="1150144"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0718006" y="1992961"/>
            <a:ext cx="1150144"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0756106"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Cinnamon</a:t>
            </a:r>
          </a:p>
        </p:txBody>
      </p:sp>
      <p:sp>
        <p:nvSpPr>
          <p:cNvPr id="71" name="Rectangle 70"/>
          <p:cNvSpPr/>
          <p:nvPr/>
        </p:nvSpPr>
        <p:spPr>
          <a:xfrm>
            <a:off x="10718006"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72" name="Rectangle 71"/>
          <p:cNvSpPr/>
          <p:nvPr/>
        </p:nvSpPr>
        <p:spPr>
          <a:xfrm>
            <a:off x="10718006"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73" name="Rectangle 72"/>
          <p:cNvSpPr/>
          <p:nvPr/>
        </p:nvSpPr>
        <p:spPr>
          <a:xfrm>
            <a:off x="10718006"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74" name="Oval 73"/>
          <p:cNvSpPr/>
          <p:nvPr/>
        </p:nvSpPr>
        <p:spPr>
          <a:xfrm>
            <a:off x="11131153"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5" name="Rounded Rectangle 7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7" name="Rectangle 7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79" name="Rounded Rectangle 7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81" name="Rectangle 8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p:txBody>
      </p:sp>
      <p:sp>
        <p:nvSpPr>
          <p:cNvPr id="83" name="Rounded Rectangle 8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85" name="Rectangle 8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Flavour split shows how demand is distributed across flavour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7" name="Rectangle 8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89" name="TextBox 8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90" name="TextBox 8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1" name="Picture 90" descr="645_9_605E5C.png"/>
          <p:cNvPicPr>
            <a:picLocks noChangeAspect="1"/>
          </p:cNvPicPr>
          <p:nvPr/>
        </p:nvPicPr>
        <p:blipFill>
          <a:blip r:embed="rId4"/>
          <a:stretch>
            <a:fillRect/>
          </a:stretch>
        </p:blipFill>
        <p:spPr>
          <a:xfrm>
            <a:off x="1844108" y="2286582"/>
            <a:ext cx="1195728" cy="361950"/>
          </a:xfrm>
          <a:prstGeom prst="rect">
            <a:avLst/>
          </a:prstGeom>
        </p:spPr>
      </p:pic>
      <p:pic>
        <p:nvPicPr>
          <p:cNvPr id="92" name="Picture 91" descr="1_138_605E5C.png"/>
          <p:cNvPicPr>
            <a:picLocks noChangeAspect="1"/>
          </p:cNvPicPr>
          <p:nvPr/>
        </p:nvPicPr>
        <p:blipFill>
          <a:blip r:embed="rId5"/>
          <a:stretch>
            <a:fillRect/>
          </a:stretch>
        </p:blipFill>
        <p:spPr>
          <a:xfrm>
            <a:off x="1844108" y="2779432"/>
            <a:ext cx="1195728" cy="361950"/>
          </a:xfrm>
          <a:prstGeom prst="rect">
            <a:avLst/>
          </a:prstGeom>
        </p:spPr>
      </p:pic>
      <p:pic>
        <p:nvPicPr>
          <p:cNvPr id="93" name="Picture 92" descr="5_8__605E5C.png"/>
          <p:cNvPicPr>
            <a:picLocks noChangeAspect="1"/>
          </p:cNvPicPr>
          <p:nvPr/>
        </p:nvPicPr>
        <p:blipFill>
          <a:blip r:embed="rId6"/>
          <a:stretch>
            <a:fillRect/>
          </a:stretch>
        </p:blipFill>
        <p:spPr>
          <a:xfrm>
            <a:off x="1950754" y="3272281"/>
            <a:ext cx="982436" cy="361950"/>
          </a:xfrm>
          <a:prstGeom prst="rect">
            <a:avLst/>
          </a:prstGeom>
        </p:spPr>
      </p:pic>
      <p:pic>
        <p:nvPicPr>
          <p:cNvPr id="94" name="Picture 93" descr="547_0_605E5C.png"/>
          <p:cNvPicPr>
            <a:picLocks noChangeAspect="1"/>
          </p:cNvPicPr>
          <p:nvPr/>
        </p:nvPicPr>
        <p:blipFill>
          <a:blip r:embed="rId7"/>
          <a:stretch>
            <a:fillRect/>
          </a:stretch>
        </p:blipFill>
        <p:spPr>
          <a:xfrm>
            <a:off x="3108552" y="2286582"/>
            <a:ext cx="1195728" cy="361950"/>
          </a:xfrm>
          <a:prstGeom prst="rect">
            <a:avLst/>
          </a:prstGeom>
        </p:spPr>
      </p:pic>
      <p:pic>
        <p:nvPicPr>
          <p:cNvPr id="95" name="Picture 94" descr="1_153_605E5C.png"/>
          <p:cNvPicPr>
            <a:picLocks noChangeAspect="1"/>
          </p:cNvPicPr>
          <p:nvPr/>
        </p:nvPicPr>
        <p:blipFill>
          <a:blip r:embed="rId8"/>
          <a:stretch>
            <a:fillRect/>
          </a:stretch>
        </p:blipFill>
        <p:spPr>
          <a:xfrm>
            <a:off x="3108552" y="2779432"/>
            <a:ext cx="1195728" cy="361950"/>
          </a:xfrm>
          <a:prstGeom prst="rect">
            <a:avLst/>
          </a:prstGeom>
        </p:spPr>
      </p:pic>
      <p:pic>
        <p:nvPicPr>
          <p:cNvPr id="96" name="Picture 95" descr="7_7__605E5C.png"/>
          <p:cNvPicPr>
            <a:picLocks noChangeAspect="1"/>
          </p:cNvPicPr>
          <p:nvPr/>
        </p:nvPicPr>
        <p:blipFill>
          <a:blip r:embed="rId9"/>
          <a:stretch>
            <a:fillRect/>
          </a:stretch>
        </p:blipFill>
        <p:spPr>
          <a:xfrm>
            <a:off x="3215198" y="3272281"/>
            <a:ext cx="982436" cy="361950"/>
          </a:xfrm>
          <a:prstGeom prst="rect">
            <a:avLst/>
          </a:prstGeom>
        </p:spPr>
      </p:pic>
      <p:pic>
        <p:nvPicPr>
          <p:cNvPr id="97" name="Picture 96" descr="525_3_605E5C.png"/>
          <p:cNvPicPr>
            <a:picLocks noChangeAspect="1"/>
          </p:cNvPicPr>
          <p:nvPr/>
        </p:nvPicPr>
        <p:blipFill>
          <a:blip r:embed="rId10"/>
          <a:stretch>
            <a:fillRect/>
          </a:stretch>
        </p:blipFill>
        <p:spPr>
          <a:xfrm>
            <a:off x="4372996" y="2286582"/>
            <a:ext cx="1195728" cy="361950"/>
          </a:xfrm>
          <a:prstGeom prst="rect">
            <a:avLst/>
          </a:prstGeom>
        </p:spPr>
      </p:pic>
      <p:pic>
        <p:nvPicPr>
          <p:cNvPr id="98" name="Picture 97" descr="853_2_605E5C.png"/>
          <p:cNvPicPr>
            <a:picLocks noChangeAspect="1"/>
          </p:cNvPicPr>
          <p:nvPr/>
        </p:nvPicPr>
        <p:blipFill>
          <a:blip r:embed="rId11"/>
          <a:stretch>
            <a:fillRect/>
          </a:stretch>
        </p:blipFill>
        <p:spPr>
          <a:xfrm>
            <a:off x="4372996" y="2779432"/>
            <a:ext cx="1195728" cy="361950"/>
          </a:xfrm>
          <a:prstGeom prst="rect">
            <a:avLst/>
          </a:prstGeom>
        </p:spPr>
      </p:pic>
      <p:pic>
        <p:nvPicPr>
          <p:cNvPr id="99" name="Picture 98" descr="5_0__605E5C.png"/>
          <p:cNvPicPr>
            <a:picLocks noChangeAspect="1"/>
          </p:cNvPicPr>
          <p:nvPr/>
        </p:nvPicPr>
        <p:blipFill>
          <a:blip r:embed="rId12"/>
          <a:stretch>
            <a:fillRect/>
          </a:stretch>
        </p:blipFill>
        <p:spPr>
          <a:xfrm>
            <a:off x="4479642" y="3272281"/>
            <a:ext cx="982436" cy="361950"/>
          </a:xfrm>
          <a:prstGeom prst="rect">
            <a:avLst/>
          </a:prstGeom>
        </p:spPr>
      </p:pic>
      <p:pic>
        <p:nvPicPr>
          <p:cNvPr id="100" name="Picture 99" descr="495_3_605E5C.png"/>
          <p:cNvPicPr>
            <a:picLocks noChangeAspect="1"/>
          </p:cNvPicPr>
          <p:nvPr/>
        </p:nvPicPr>
        <p:blipFill>
          <a:blip r:embed="rId13"/>
          <a:stretch>
            <a:fillRect/>
          </a:stretch>
        </p:blipFill>
        <p:spPr>
          <a:xfrm>
            <a:off x="5637439" y="2286582"/>
            <a:ext cx="1195728" cy="361950"/>
          </a:xfrm>
          <a:prstGeom prst="rect">
            <a:avLst/>
          </a:prstGeom>
        </p:spPr>
      </p:pic>
      <p:pic>
        <p:nvPicPr>
          <p:cNvPr id="101" name="Picture 100" descr="1_020_605E5C.png"/>
          <p:cNvPicPr>
            <a:picLocks noChangeAspect="1"/>
          </p:cNvPicPr>
          <p:nvPr/>
        </p:nvPicPr>
        <p:blipFill>
          <a:blip r:embed="rId14"/>
          <a:stretch>
            <a:fillRect/>
          </a:stretch>
        </p:blipFill>
        <p:spPr>
          <a:xfrm>
            <a:off x="5637439" y="2779432"/>
            <a:ext cx="1195728" cy="361950"/>
          </a:xfrm>
          <a:prstGeom prst="rect">
            <a:avLst/>
          </a:prstGeom>
        </p:spPr>
      </p:pic>
      <p:pic>
        <p:nvPicPr>
          <p:cNvPr id="102" name="Picture 101" descr="7_5__605E5C.png"/>
          <p:cNvPicPr>
            <a:picLocks noChangeAspect="1"/>
          </p:cNvPicPr>
          <p:nvPr/>
        </p:nvPicPr>
        <p:blipFill>
          <a:blip r:embed="rId15"/>
          <a:stretch>
            <a:fillRect/>
          </a:stretch>
        </p:blipFill>
        <p:spPr>
          <a:xfrm>
            <a:off x="5744085" y="3272281"/>
            <a:ext cx="982436" cy="361950"/>
          </a:xfrm>
          <a:prstGeom prst="rect">
            <a:avLst/>
          </a:prstGeom>
        </p:spPr>
      </p:pic>
      <p:pic>
        <p:nvPicPr>
          <p:cNvPr id="103" name="Picture 102" descr="433_5_605E5C.png"/>
          <p:cNvPicPr>
            <a:picLocks noChangeAspect="1"/>
          </p:cNvPicPr>
          <p:nvPr/>
        </p:nvPicPr>
        <p:blipFill>
          <a:blip r:embed="rId16"/>
          <a:stretch>
            <a:fillRect/>
          </a:stretch>
        </p:blipFill>
        <p:spPr>
          <a:xfrm>
            <a:off x="6901883" y="2286582"/>
            <a:ext cx="1195728" cy="361950"/>
          </a:xfrm>
          <a:prstGeom prst="rect">
            <a:avLst/>
          </a:prstGeom>
        </p:spPr>
      </p:pic>
      <p:pic>
        <p:nvPicPr>
          <p:cNvPr id="104" name="Picture 103" descr="1_016_605E5C.png"/>
          <p:cNvPicPr>
            <a:picLocks noChangeAspect="1"/>
          </p:cNvPicPr>
          <p:nvPr/>
        </p:nvPicPr>
        <p:blipFill>
          <a:blip r:embed="rId17"/>
          <a:stretch>
            <a:fillRect/>
          </a:stretch>
        </p:blipFill>
        <p:spPr>
          <a:xfrm>
            <a:off x="6901883" y="2779432"/>
            <a:ext cx="1195728" cy="361950"/>
          </a:xfrm>
          <a:prstGeom prst="rect">
            <a:avLst/>
          </a:prstGeom>
        </p:spPr>
      </p:pic>
      <p:pic>
        <p:nvPicPr>
          <p:cNvPr id="105" name="Picture 104" descr="8_9__605E5C.png"/>
          <p:cNvPicPr>
            <a:picLocks noChangeAspect="1"/>
          </p:cNvPicPr>
          <p:nvPr/>
        </p:nvPicPr>
        <p:blipFill>
          <a:blip r:embed="rId18"/>
          <a:stretch>
            <a:fillRect/>
          </a:stretch>
        </p:blipFill>
        <p:spPr>
          <a:xfrm>
            <a:off x="7008529" y="3272281"/>
            <a:ext cx="982436" cy="361950"/>
          </a:xfrm>
          <a:prstGeom prst="rect">
            <a:avLst/>
          </a:prstGeom>
        </p:spPr>
      </p:pic>
      <p:pic>
        <p:nvPicPr>
          <p:cNvPr id="106" name="Picture 105" descr="378_9_605E5C.png"/>
          <p:cNvPicPr>
            <a:picLocks noChangeAspect="1"/>
          </p:cNvPicPr>
          <p:nvPr/>
        </p:nvPicPr>
        <p:blipFill>
          <a:blip r:embed="rId19"/>
          <a:stretch>
            <a:fillRect/>
          </a:stretch>
        </p:blipFill>
        <p:spPr>
          <a:xfrm>
            <a:off x="8166327" y="2286582"/>
            <a:ext cx="1195728" cy="361950"/>
          </a:xfrm>
          <a:prstGeom prst="rect">
            <a:avLst/>
          </a:prstGeom>
        </p:spPr>
      </p:pic>
      <p:pic>
        <p:nvPicPr>
          <p:cNvPr id="107" name="Picture 106" descr="854_2_605E5C.png"/>
          <p:cNvPicPr>
            <a:picLocks noChangeAspect="1"/>
          </p:cNvPicPr>
          <p:nvPr/>
        </p:nvPicPr>
        <p:blipFill>
          <a:blip r:embed="rId20"/>
          <a:stretch>
            <a:fillRect/>
          </a:stretch>
        </p:blipFill>
        <p:spPr>
          <a:xfrm>
            <a:off x="8166327" y="2779432"/>
            <a:ext cx="1195728" cy="361950"/>
          </a:xfrm>
          <a:prstGeom prst="rect">
            <a:avLst/>
          </a:prstGeom>
        </p:spPr>
      </p:pic>
      <p:pic>
        <p:nvPicPr>
          <p:cNvPr id="108" name="Picture 107" descr="8_5__605E5C.png"/>
          <p:cNvPicPr>
            <a:picLocks noChangeAspect="1"/>
          </p:cNvPicPr>
          <p:nvPr/>
        </p:nvPicPr>
        <p:blipFill>
          <a:blip r:embed="rId21"/>
          <a:stretch>
            <a:fillRect/>
          </a:stretch>
        </p:blipFill>
        <p:spPr>
          <a:xfrm>
            <a:off x="8272973" y="3272281"/>
            <a:ext cx="982436" cy="361950"/>
          </a:xfrm>
          <a:prstGeom prst="rect">
            <a:avLst/>
          </a:prstGeom>
        </p:spPr>
      </p:pic>
      <p:pic>
        <p:nvPicPr>
          <p:cNvPr id="109" name="Picture 108" descr="179_9_605E5C.png"/>
          <p:cNvPicPr>
            <a:picLocks noChangeAspect="1"/>
          </p:cNvPicPr>
          <p:nvPr/>
        </p:nvPicPr>
        <p:blipFill>
          <a:blip r:embed="rId22"/>
          <a:stretch>
            <a:fillRect/>
          </a:stretch>
        </p:blipFill>
        <p:spPr>
          <a:xfrm>
            <a:off x="9430770" y="2286582"/>
            <a:ext cx="1195728" cy="361950"/>
          </a:xfrm>
          <a:prstGeom prst="rect">
            <a:avLst/>
          </a:prstGeom>
        </p:spPr>
      </p:pic>
      <p:pic>
        <p:nvPicPr>
          <p:cNvPr id="110" name="Picture 109" descr="297_3_605E5C.png"/>
          <p:cNvPicPr>
            <a:picLocks noChangeAspect="1"/>
          </p:cNvPicPr>
          <p:nvPr/>
        </p:nvPicPr>
        <p:blipFill>
          <a:blip r:embed="rId23"/>
          <a:stretch>
            <a:fillRect/>
          </a:stretch>
        </p:blipFill>
        <p:spPr>
          <a:xfrm>
            <a:off x="9430770" y="2779432"/>
            <a:ext cx="1195728" cy="361950"/>
          </a:xfrm>
          <a:prstGeom prst="rect">
            <a:avLst/>
          </a:prstGeom>
        </p:spPr>
      </p:pic>
      <p:pic>
        <p:nvPicPr>
          <p:cNvPr id="111" name="Picture 110" descr="5_2__605E5C.png"/>
          <p:cNvPicPr>
            <a:picLocks noChangeAspect="1"/>
          </p:cNvPicPr>
          <p:nvPr/>
        </p:nvPicPr>
        <p:blipFill>
          <a:blip r:embed="rId24"/>
          <a:stretch>
            <a:fillRect/>
          </a:stretch>
        </p:blipFill>
        <p:spPr>
          <a:xfrm>
            <a:off x="9537416" y="3272281"/>
            <a:ext cx="982436" cy="361950"/>
          </a:xfrm>
          <a:prstGeom prst="rect">
            <a:avLst/>
          </a:prstGeom>
        </p:spPr>
      </p:pic>
      <p:pic>
        <p:nvPicPr>
          <p:cNvPr id="112" name="Picture 111" descr="167_7_605E5C.png"/>
          <p:cNvPicPr>
            <a:picLocks noChangeAspect="1"/>
          </p:cNvPicPr>
          <p:nvPr/>
        </p:nvPicPr>
        <p:blipFill>
          <a:blip r:embed="rId25"/>
          <a:stretch>
            <a:fillRect/>
          </a:stretch>
        </p:blipFill>
        <p:spPr>
          <a:xfrm>
            <a:off x="10695214" y="2286582"/>
            <a:ext cx="1195728" cy="361950"/>
          </a:xfrm>
          <a:prstGeom prst="rect">
            <a:avLst/>
          </a:prstGeom>
        </p:spPr>
      </p:pic>
      <p:pic>
        <p:nvPicPr>
          <p:cNvPr id="113" name="Picture 112" descr="385_3_605E5C.png"/>
          <p:cNvPicPr>
            <a:picLocks noChangeAspect="1"/>
          </p:cNvPicPr>
          <p:nvPr/>
        </p:nvPicPr>
        <p:blipFill>
          <a:blip r:embed="rId26"/>
          <a:stretch>
            <a:fillRect/>
          </a:stretch>
        </p:blipFill>
        <p:spPr>
          <a:xfrm>
            <a:off x="10695214" y="2779432"/>
            <a:ext cx="1195728" cy="361950"/>
          </a:xfrm>
          <a:prstGeom prst="rect">
            <a:avLst/>
          </a:prstGeom>
        </p:spPr>
      </p:pic>
      <p:pic>
        <p:nvPicPr>
          <p:cNvPr id="114" name="Picture 113" descr="8_7__605E5C.png"/>
          <p:cNvPicPr>
            <a:picLocks noChangeAspect="1"/>
          </p:cNvPicPr>
          <p:nvPr/>
        </p:nvPicPr>
        <p:blipFill>
          <a:blip r:embed="rId27"/>
          <a:stretch>
            <a:fillRect/>
          </a:stretch>
        </p:blipFill>
        <p:spPr>
          <a:xfrm>
            <a:off x="10801860" y="3272281"/>
            <a:ext cx="982436" cy="361950"/>
          </a:xfrm>
          <a:prstGeom prst="rect">
            <a:avLst/>
          </a:prstGeom>
        </p:spPr>
      </p:pic>
      <p:pic>
        <p:nvPicPr>
          <p:cNvPr id="115" name="Picture 114" descr="lock.png"/>
          <p:cNvPicPr>
            <a:picLocks noChangeAspect="1"/>
          </p:cNvPicPr>
          <p:nvPr/>
        </p:nvPicPr>
        <p:blipFill>
          <a:blip r:embed="rId28"/>
          <a:stretch>
            <a:fillRect/>
          </a:stretch>
        </p:blipFill>
        <p:spPr>
          <a:xfrm>
            <a:off x="2348626" y="2827057"/>
            <a:ext cx="183356" cy="266700"/>
          </a:xfrm>
          <a:prstGeom prst="rect">
            <a:avLst/>
          </a:prstGeom>
        </p:spPr>
      </p:pic>
      <p:pic>
        <p:nvPicPr>
          <p:cNvPr id="116" name="Picture 115" descr="lock.png"/>
          <p:cNvPicPr>
            <a:picLocks noChangeAspect="1"/>
          </p:cNvPicPr>
          <p:nvPr/>
        </p:nvPicPr>
        <p:blipFill>
          <a:blip r:embed="rId28"/>
          <a:stretch>
            <a:fillRect/>
          </a:stretch>
        </p:blipFill>
        <p:spPr>
          <a:xfrm>
            <a:off x="3613071" y="2827057"/>
            <a:ext cx="183356" cy="266700"/>
          </a:xfrm>
          <a:prstGeom prst="rect">
            <a:avLst/>
          </a:prstGeom>
        </p:spPr>
      </p:pic>
      <p:pic>
        <p:nvPicPr>
          <p:cNvPr id="117" name="Picture 116" descr="lock.png"/>
          <p:cNvPicPr>
            <a:picLocks noChangeAspect="1"/>
          </p:cNvPicPr>
          <p:nvPr/>
        </p:nvPicPr>
        <p:blipFill>
          <a:blip r:embed="rId28"/>
          <a:stretch>
            <a:fillRect/>
          </a:stretch>
        </p:blipFill>
        <p:spPr>
          <a:xfrm>
            <a:off x="4877515" y="2827057"/>
            <a:ext cx="183356" cy="266700"/>
          </a:xfrm>
          <a:prstGeom prst="rect">
            <a:avLst/>
          </a:prstGeom>
        </p:spPr>
      </p:pic>
      <p:pic>
        <p:nvPicPr>
          <p:cNvPr id="118" name="Picture 117" descr="lock.png"/>
          <p:cNvPicPr>
            <a:picLocks noChangeAspect="1"/>
          </p:cNvPicPr>
          <p:nvPr/>
        </p:nvPicPr>
        <p:blipFill>
          <a:blip r:embed="rId28"/>
          <a:stretch>
            <a:fillRect/>
          </a:stretch>
        </p:blipFill>
        <p:spPr>
          <a:xfrm>
            <a:off x="6141958" y="2827057"/>
            <a:ext cx="183356" cy="266700"/>
          </a:xfrm>
          <a:prstGeom prst="rect">
            <a:avLst/>
          </a:prstGeom>
        </p:spPr>
      </p:pic>
      <p:pic>
        <p:nvPicPr>
          <p:cNvPr id="119" name="Picture 118" descr="lock.png"/>
          <p:cNvPicPr>
            <a:picLocks noChangeAspect="1"/>
          </p:cNvPicPr>
          <p:nvPr/>
        </p:nvPicPr>
        <p:blipFill>
          <a:blip r:embed="rId28"/>
          <a:stretch>
            <a:fillRect/>
          </a:stretch>
        </p:blipFill>
        <p:spPr>
          <a:xfrm>
            <a:off x="7406402" y="2827057"/>
            <a:ext cx="183356" cy="266700"/>
          </a:xfrm>
          <a:prstGeom prst="rect">
            <a:avLst/>
          </a:prstGeom>
        </p:spPr>
      </p:pic>
      <p:pic>
        <p:nvPicPr>
          <p:cNvPr id="120" name="Picture 119" descr="lock.png"/>
          <p:cNvPicPr>
            <a:picLocks noChangeAspect="1"/>
          </p:cNvPicPr>
          <p:nvPr/>
        </p:nvPicPr>
        <p:blipFill>
          <a:blip r:embed="rId28"/>
          <a:stretch>
            <a:fillRect/>
          </a:stretch>
        </p:blipFill>
        <p:spPr>
          <a:xfrm>
            <a:off x="8670846" y="2827057"/>
            <a:ext cx="183356" cy="266700"/>
          </a:xfrm>
          <a:prstGeom prst="rect">
            <a:avLst/>
          </a:prstGeom>
        </p:spPr>
      </p:pic>
      <p:pic>
        <p:nvPicPr>
          <p:cNvPr id="121" name="Picture 120" descr="lock.png"/>
          <p:cNvPicPr>
            <a:picLocks noChangeAspect="1"/>
          </p:cNvPicPr>
          <p:nvPr/>
        </p:nvPicPr>
        <p:blipFill>
          <a:blip r:embed="rId28"/>
          <a:stretch>
            <a:fillRect/>
          </a:stretch>
        </p:blipFill>
        <p:spPr>
          <a:xfrm>
            <a:off x="9935289" y="2827057"/>
            <a:ext cx="183356" cy="266700"/>
          </a:xfrm>
          <a:prstGeom prst="rect">
            <a:avLst/>
          </a:prstGeom>
        </p:spPr>
      </p:pic>
      <p:pic>
        <p:nvPicPr>
          <p:cNvPr id="122" name="Picture 121" descr="lock.png"/>
          <p:cNvPicPr>
            <a:picLocks noChangeAspect="1"/>
          </p:cNvPicPr>
          <p:nvPr/>
        </p:nvPicPr>
        <p:blipFill>
          <a:blip r:embed="rId28"/>
          <a:stretch>
            <a:fillRect/>
          </a:stretch>
        </p:blipFill>
        <p:spPr>
          <a:xfrm>
            <a:off x="11199733" y="2827057"/>
            <a:ext cx="183356" cy="266700"/>
          </a:xfrm>
          <a:prstGeom prst="rect">
            <a:avLst/>
          </a:prstGeom>
        </p:spPr>
      </p:pic>
      <p:sp>
        <p:nvSpPr>
          <p:cNvPr id="123" name="TextBox 122"/>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Among matcha by flavour, pumpkin spice segment</a:t>
            </a:r>
          </a:p>
        </p:txBody>
      </p:sp>
      <p:sp>
        <p:nvSpPr>
          <p:cNvPr id="124" name="TextBox 123"/>
          <p:cNvSpPr txBox="1"/>
          <p:nvPr/>
        </p:nvSpPr>
        <p:spPr>
          <a:xfrm>
            <a:off x="485775" y="4397077"/>
            <a:ext cx="2499650" cy="186689"/>
          </a:xfrm>
          <a:prstGeom prst="rect">
            <a:avLst/>
          </a:prstGeom>
          <a:noFill/>
        </p:spPr>
        <p:txBody>
          <a:bodyPr wrap="none" lIns="0" rIns="0" tIns="0" bIns="0">
            <a:spAutoFit/>
          </a:bodyPr>
          <a:lstStyle/>
          <a:p>
            <a:r>
              <a:rPr sz="1100" b="0">
                <a:solidFill>
                  <a:srgbClr val="2E2E2E"/>
                </a:solidFill>
                <a:latin typeface="Calibri"/>
              </a:rPr>
              <a:t>is expected to witness the highest CAGR of</a:t>
            </a:r>
          </a:p>
        </p:txBody>
      </p:sp>
      <p:pic>
        <p:nvPicPr>
          <p:cNvPr id="125" name="Picture 124" descr="lock.png"/>
          <p:cNvPicPr>
            <a:picLocks noChangeAspect="1"/>
          </p:cNvPicPr>
          <p:nvPr/>
        </p:nvPicPr>
        <p:blipFill>
          <a:blip r:embed="rId28"/>
          <a:stretch>
            <a:fillRect/>
          </a:stretch>
        </p:blipFill>
        <p:spPr>
          <a:xfrm>
            <a:off x="2933477" y="4387298"/>
            <a:ext cx="128699" cy="187198"/>
          </a:xfrm>
          <a:prstGeom prst="rect">
            <a:avLst/>
          </a:prstGeom>
        </p:spPr>
      </p:pic>
      <p:sp>
        <p:nvSpPr>
          <p:cNvPr id="126" name="TextBox 125"/>
          <p:cNvSpPr txBox="1"/>
          <p:nvPr/>
        </p:nvSpPr>
        <p:spPr>
          <a:xfrm>
            <a:off x="485775" y="4564717"/>
            <a:ext cx="2914650" cy="186689"/>
          </a:xfrm>
          <a:prstGeom prst="rect">
            <a:avLst/>
          </a:prstGeom>
          <a:noFill/>
        </p:spPr>
        <p:txBody>
          <a:bodyPr wrap="none" lIns="0" rIns="0" tIns="0" bIns="0">
            <a:spAutoFit/>
          </a:bodyPr>
          <a:lstStyle/>
          <a:p>
            <a:r>
              <a:rPr sz="1100" b="0">
                <a:solidFill>
                  <a:srgbClr val="2E2E2E"/>
                </a:solidFill>
                <a:latin typeface="Calibri"/>
              </a:rPr>
              <a:t>over the forecast period. In terms of value share by</a:t>
            </a:r>
          </a:p>
        </p:txBody>
      </p:sp>
      <p:sp>
        <p:nvSpPr>
          <p:cNvPr id="127" name="TextBox 126"/>
          <p:cNvSpPr txBox="1"/>
          <p:nvPr/>
        </p:nvSpPr>
        <p:spPr>
          <a:xfrm>
            <a:off x="485775" y="4732357"/>
            <a:ext cx="2510581" cy="186689"/>
          </a:xfrm>
          <a:prstGeom prst="rect">
            <a:avLst/>
          </a:prstGeom>
          <a:noFill/>
        </p:spPr>
        <p:txBody>
          <a:bodyPr wrap="none" lIns="0" rIns="0" tIns="0" bIns="0">
            <a:spAutoFit/>
          </a:bodyPr>
          <a:lstStyle/>
          <a:p>
            <a:r>
              <a:rPr sz="1100" b="0">
                <a:solidFill>
                  <a:srgbClr val="2E2E2E"/>
                </a:solidFill>
                <a:latin typeface="Calibri"/>
              </a:rPr>
              <a:t>flavour, the orange segment is expected to</a:t>
            </a:r>
          </a:p>
        </p:txBody>
      </p:sp>
      <p:sp>
        <p:nvSpPr>
          <p:cNvPr id="128" name="TextBox 127"/>
          <p:cNvSpPr txBox="1"/>
          <p:nvPr/>
        </p:nvSpPr>
        <p:spPr>
          <a:xfrm>
            <a:off x="485775" y="4899997"/>
            <a:ext cx="1760512" cy="186689"/>
          </a:xfrm>
          <a:prstGeom prst="rect">
            <a:avLst/>
          </a:prstGeom>
          <a:noFill/>
        </p:spPr>
        <p:txBody>
          <a:bodyPr wrap="none" lIns="0" rIns="0" tIns="0" bIns="0">
            <a:spAutoFit/>
          </a:bodyPr>
          <a:lstStyle/>
          <a:p>
            <a:r>
              <a:rPr sz="1100" b="0">
                <a:solidFill>
                  <a:srgbClr val="2E2E2E"/>
                </a:solidFill>
                <a:latin typeface="Calibri"/>
              </a:rPr>
              <a:t>dominate the market, gaining</a:t>
            </a:r>
          </a:p>
        </p:txBody>
      </p:sp>
      <p:pic>
        <p:nvPicPr>
          <p:cNvPr id="129" name="Picture 128" descr="lock.png"/>
          <p:cNvPicPr>
            <a:picLocks noChangeAspect="1"/>
          </p:cNvPicPr>
          <p:nvPr/>
        </p:nvPicPr>
        <p:blipFill>
          <a:blip r:embed="rId28"/>
          <a:stretch>
            <a:fillRect/>
          </a:stretch>
        </p:blipFill>
        <p:spPr>
          <a:xfrm>
            <a:off x="2194339" y="4890217"/>
            <a:ext cx="128699" cy="187198"/>
          </a:xfrm>
          <a:prstGeom prst="rect">
            <a:avLst/>
          </a:prstGeom>
        </p:spPr>
      </p:pic>
      <p:sp>
        <p:nvSpPr>
          <p:cNvPr id="130" name="TextBox 129"/>
          <p:cNvSpPr txBox="1"/>
          <p:nvPr/>
        </p:nvSpPr>
        <p:spPr>
          <a:xfrm>
            <a:off x="2361835" y="489999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131" name="TextBox 130"/>
          <p:cNvSpPr txBox="1"/>
          <p:nvPr/>
        </p:nvSpPr>
        <p:spPr>
          <a:xfrm>
            <a:off x="485775" y="506763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132" name="Picture 131" descr="lock.png"/>
          <p:cNvPicPr>
            <a:picLocks noChangeAspect="1"/>
          </p:cNvPicPr>
          <p:nvPr/>
        </p:nvPicPr>
        <p:blipFill>
          <a:blip r:embed="rId28"/>
          <a:stretch>
            <a:fillRect/>
          </a:stretch>
        </p:blipFill>
        <p:spPr>
          <a:xfrm>
            <a:off x="1330764" y="5057858"/>
            <a:ext cx="128699" cy="187198"/>
          </a:xfrm>
          <a:prstGeom prst="rect">
            <a:avLst/>
          </a:prstGeom>
        </p:spPr>
      </p:pic>
      <p:sp>
        <p:nvSpPr>
          <p:cNvPr id="133" name="TextBox 132"/>
          <p:cNvSpPr txBox="1"/>
          <p:nvPr/>
        </p:nvSpPr>
        <p:spPr>
          <a:xfrm>
            <a:off x="1498259"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34" name="TextBox 133"/>
          <p:cNvSpPr txBox="1"/>
          <p:nvPr/>
        </p:nvSpPr>
        <p:spPr>
          <a:xfrm>
            <a:off x="485775" y="5285569"/>
            <a:ext cx="2334592" cy="186689"/>
          </a:xfrm>
          <a:prstGeom prst="rect">
            <a:avLst/>
          </a:prstGeom>
          <a:noFill/>
        </p:spPr>
        <p:txBody>
          <a:bodyPr wrap="none" lIns="0" rIns="0" tIns="0" bIns="0">
            <a:spAutoFit/>
          </a:bodyPr>
          <a:lstStyle/>
          <a:p>
            <a:r>
              <a:rPr sz="1100" b="0">
                <a:solidFill>
                  <a:srgbClr val="2E2E2E"/>
                </a:solidFill>
                <a:latin typeface="Calibri"/>
              </a:rPr>
              <a:t>Orange segment is projected to register</a:t>
            </a:r>
          </a:p>
        </p:txBody>
      </p:sp>
      <p:pic>
        <p:nvPicPr>
          <p:cNvPr id="135" name="Picture 134" descr="lock.png"/>
          <p:cNvPicPr>
            <a:picLocks noChangeAspect="1"/>
          </p:cNvPicPr>
          <p:nvPr/>
        </p:nvPicPr>
        <p:blipFill>
          <a:blip r:embed="rId28"/>
          <a:stretch>
            <a:fillRect/>
          </a:stretch>
        </p:blipFill>
        <p:spPr>
          <a:xfrm>
            <a:off x="2768418" y="5275790"/>
            <a:ext cx="128699" cy="187198"/>
          </a:xfrm>
          <a:prstGeom prst="rect">
            <a:avLst/>
          </a:prstGeom>
        </p:spPr>
      </p:pic>
      <p:sp>
        <p:nvSpPr>
          <p:cNvPr id="136" name="TextBox 135"/>
          <p:cNvSpPr txBox="1"/>
          <p:nvPr/>
        </p:nvSpPr>
        <p:spPr>
          <a:xfrm>
            <a:off x="2935914"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37" name="TextBox 136"/>
          <p:cNvSpPr txBox="1"/>
          <p:nvPr/>
        </p:nvSpPr>
        <p:spPr>
          <a:xfrm>
            <a:off x="485775" y="5453209"/>
            <a:ext cx="2477566" cy="186689"/>
          </a:xfrm>
          <a:prstGeom prst="rect">
            <a:avLst/>
          </a:prstGeom>
          <a:noFill/>
        </p:spPr>
        <p:txBody>
          <a:bodyPr wrap="none" lIns="0" rIns="0" tIns="0" bIns="0">
            <a:spAutoFit/>
          </a:bodyPr>
          <a:lstStyle/>
          <a:p>
            <a:r>
              <a:rPr sz="1100" b="0">
                <a:solidFill>
                  <a:srgbClr val="2E2E2E"/>
                </a:solidFill>
                <a:latin typeface="Calibri"/>
              </a:rPr>
              <a:t>higher value than vanilla segment in 2036.</a:t>
            </a:r>
          </a:p>
        </p:txBody>
      </p:sp>
      <p:sp>
        <p:nvSpPr>
          <p:cNvPr id="138" name="TextBox 137"/>
          <p:cNvSpPr txBox="1"/>
          <p:nvPr/>
        </p:nvSpPr>
        <p:spPr>
          <a:xfrm>
            <a:off x="3838575" y="4229437"/>
            <a:ext cx="612626" cy="186689"/>
          </a:xfrm>
          <a:prstGeom prst="rect">
            <a:avLst/>
          </a:prstGeom>
          <a:noFill/>
        </p:spPr>
        <p:txBody>
          <a:bodyPr wrap="none" lIns="0" rIns="0" tIns="0" bIns="0">
            <a:spAutoFit/>
          </a:bodyPr>
          <a:lstStyle/>
          <a:p>
            <a:r>
              <a:rPr sz="1100" b="0">
                <a:solidFill>
                  <a:srgbClr val="2E2E2E"/>
                </a:solidFill>
                <a:latin typeface="Calibri"/>
              </a:rPr>
              <a:t>● Vanilla:</a:t>
            </a:r>
          </a:p>
        </p:txBody>
      </p:sp>
      <p:pic>
        <p:nvPicPr>
          <p:cNvPr id="139" name="Picture 138" descr="lock.png"/>
          <p:cNvPicPr>
            <a:picLocks noChangeAspect="1"/>
          </p:cNvPicPr>
          <p:nvPr/>
        </p:nvPicPr>
        <p:blipFill>
          <a:blip r:embed="rId28"/>
          <a:stretch>
            <a:fillRect/>
          </a:stretch>
        </p:blipFill>
        <p:spPr>
          <a:xfrm>
            <a:off x="4399252" y="4219658"/>
            <a:ext cx="128699" cy="187198"/>
          </a:xfrm>
          <a:prstGeom prst="rect">
            <a:avLst/>
          </a:prstGeom>
        </p:spPr>
      </p:pic>
      <p:sp>
        <p:nvSpPr>
          <p:cNvPr id="140" name="TextBox 139"/>
          <p:cNvSpPr txBox="1"/>
          <p:nvPr/>
        </p:nvSpPr>
        <p:spPr>
          <a:xfrm>
            <a:off x="45667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1" name="Picture 140" descr="lock.png"/>
          <p:cNvPicPr>
            <a:picLocks noChangeAspect="1"/>
          </p:cNvPicPr>
          <p:nvPr/>
        </p:nvPicPr>
        <p:blipFill>
          <a:blip r:embed="rId28"/>
          <a:stretch>
            <a:fillRect/>
          </a:stretch>
        </p:blipFill>
        <p:spPr>
          <a:xfrm>
            <a:off x="5426198" y="4219658"/>
            <a:ext cx="128699" cy="187198"/>
          </a:xfrm>
          <a:prstGeom prst="rect">
            <a:avLst/>
          </a:prstGeom>
        </p:spPr>
      </p:pic>
      <p:sp>
        <p:nvSpPr>
          <p:cNvPr id="142" name="TextBox 141"/>
          <p:cNvSpPr txBox="1"/>
          <p:nvPr/>
        </p:nvSpPr>
        <p:spPr>
          <a:xfrm>
            <a:off x="5593694"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43" name="TextBox 142"/>
          <p:cNvSpPr txBox="1"/>
          <p:nvPr/>
        </p:nvSpPr>
        <p:spPr>
          <a:xfrm>
            <a:off x="3838575" y="4447369"/>
            <a:ext cx="646459" cy="186689"/>
          </a:xfrm>
          <a:prstGeom prst="rect">
            <a:avLst/>
          </a:prstGeom>
          <a:noFill/>
        </p:spPr>
        <p:txBody>
          <a:bodyPr wrap="none" lIns="0" rIns="0" tIns="0" bIns="0">
            <a:spAutoFit/>
          </a:bodyPr>
          <a:lstStyle/>
          <a:p>
            <a:r>
              <a:rPr sz="1100" b="0">
                <a:solidFill>
                  <a:srgbClr val="2E2E2E"/>
                </a:solidFill>
                <a:latin typeface="Calibri"/>
              </a:rPr>
              <a:t>● Orange:</a:t>
            </a:r>
          </a:p>
        </p:txBody>
      </p:sp>
      <p:pic>
        <p:nvPicPr>
          <p:cNvPr id="144" name="Picture 143" descr="lock.png"/>
          <p:cNvPicPr>
            <a:picLocks noChangeAspect="1"/>
          </p:cNvPicPr>
          <p:nvPr/>
        </p:nvPicPr>
        <p:blipFill>
          <a:blip r:embed="rId28"/>
          <a:stretch>
            <a:fillRect/>
          </a:stretch>
        </p:blipFill>
        <p:spPr>
          <a:xfrm>
            <a:off x="4433086" y="4437590"/>
            <a:ext cx="128699" cy="187198"/>
          </a:xfrm>
          <a:prstGeom prst="rect">
            <a:avLst/>
          </a:prstGeom>
        </p:spPr>
      </p:pic>
      <p:sp>
        <p:nvSpPr>
          <p:cNvPr id="145" name="TextBox 144"/>
          <p:cNvSpPr txBox="1"/>
          <p:nvPr/>
        </p:nvSpPr>
        <p:spPr>
          <a:xfrm>
            <a:off x="460058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6" name="Picture 145" descr="lock.png"/>
          <p:cNvPicPr>
            <a:picLocks noChangeAspect="1"/>
          </p:cNvPicPr>
          <p:nvPr/>
        </p:nvPicPr>
        <p:blipFill>
          <a:blip r:embed="rId28"/>
          <a:stretch>
            <a:fillRect/>
          </a:stretch>
        </p:blipFill>
        <p:spPr>
          <a:xfrm>
            <a:off x="5460032" y="4437590"/>
            <a:ext cx="128699" cy="187198"/>
          </a:xfrm>
          <a:prstGeom prst="rect">
            <a:avLst/>
          </a:prstGeom>
        </p:spPr>
      </p:pic>
      <p:sp>
        <p:nvSpPr>
          <p:cNvPr id="147" name="TextBox 146"/>
          <p:cNvSpPr txBox="1"/>
          <p:nvPr/>
        </p:nvSpPr>
        <p:spPr>
          <a:xfrm>
            <a:off x="5627528"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8" name="TextBox 147"/>
          <p:cNvSpPr txBox="1"/>
          <p:nvPr/>
        </p:nvSpPr>
        <p:spPr>
          <a:xfrm>
            <a:off x="3838575" y="4665301"/>
            <a:ext cx="616446" cy="186689"/>
          </a:xfrm>
          <a:prstGeom prst="rect">
            <a:avLst/>
          </a:prstGeom>
          <a:noFill/>
        </p:spPr>
        <p:txBody>
          <a:bodyPr wrap="none" lIns="0" rIns="0" tIns="0" bIns="0">
            <a:spAutoFit/>
          </a:bodyPr>
          <a:lstStyle/>
          <a:p>
            <a:r>
              <a:rPr sz="1100" b="0">
                <a:solidFill>
                  <a:srgbClr val="2E2E2E"/>
                </a:solidFill>
                <a:latin typeface="Calibri"/>
              </a:rPr>
              <a:t>● Lemon:</a:t>
            </a:r>
          </a:p>
        </p:txBody>
      </p:sp>
      <p:pic>
        <p:nvPicPr>
          <p:cNvPr id="149" name="Picture 148" descr="lock.png"/>
          <p:cNvPicPr>
            <a:picLocks noChangeAspect="1"/>
          </p:cNvPicPr>
          <p:nvPr/>
        </p:nvPicPr>
        <p:blipFill>
          <a:blip r:embed="rId28"/>
          <a:stretch>
            <a:fillRect/>
          </a:stretch>
        </p:blipFill>
        <p:spPr>
          <a:xfrm>
            <a:off x="4403072" y="4655522"/>
            <a:ext cx="128699" cy="187198"/>
          </a:xfrm>
          <a:prstGeom prst="rect">
            <a:avLst/>
          </a:prstGeom>
        </p:spPr>
      </p:pic>
      <p:sp>
        <p:nvSpPr>
          <p:cNvPr id="150" name="TextBox 149"/>
          <p:cNvSpPr txBox="1"/>
          <p:nvPr/>
        </p:nvSpPr>
        <p:spPr>
          <a:xfrm>
            <a:off x="457056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51" name="Picture 150" descr="lock.png"/>
          <p:cNvPicPr>
            <a:picLocks noChangeAspect="1"/>
          </p:cNvPicPr>
          <p:nvPr/>
        </p:nvPicPr>
        <p:blipFill>
          <a:blip r:embed="rId28"/>
          <a:stretch>
            <a:fillRect/>
          </a:stretch>
        </p:blipFill>
        <p:spPr>
          <a:xfrm>
            <a:off x="5430018" y="4655522"/>
            <a:ext cx="128699" cy="187198"/>
          </a:xfrm>
          <a:prstGeom prst="rect">
            <a:avLst/>
          </a:prstGeom>
        </p:spPr>
      </p:pic>
      <p:sp>
        <p:nvSpPr>
          <p:cNvPr id="152" name="TextBox 151"/>
          <p:cNvSpPr txBox="1"/>
          <p:nvPr/>
        </p:nvSpPr>
        <p:spPr>
          <a:xfrm>
            <a:off x="5597514"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53" name="TextBox 152"/>
          <p:cNvSpPr txBox="1"/>
          <p:nvPr/>
        </p:nvSpPr>
        <p:spPr>
          <a:xfrm>
            <a:off x="3838575" y="4883233"/>
            <a:ext cx="936228" cy="186689"/>
          </a:xfrm>
          <a:prstGeom prst="rect">
            <a:avLst/>
          </a:prstGeom>
          <a:noFill/>
        </p:spPr>
        <p:txBody>
          <a:bodyPr wrap="none" lIns="0" rIns="0" tIns="0" bIns="0">
            <a:spAutoFit/>
          </a:bodyPr>
          <a:lstStyle/>
          <a:p>
            <a:r>
              <a:rPr sz="1100" b="0">
                <a:solidFill>
                  <a:srgbClr val="2E2E2E"/>
                </a:solidFill>
                <a:latin typeface="Calibri"/>
              </a:rPr>
              <a:t>● Unflavoured:</a:t>
            </a:r>
          </a:p>
        </p:txBody>
      </p:sp>
      <p:pic>
        <p:nvPicPr>
          <p:cNvPr id="154" name="Picture 153" descr="lock.png"/>
          <p:cNvPicPr>
            <a:picLocks noChangeAspect="1"/>
          </p:cNvPicPr>
          <p:nvPr/>
        </p:nvPicPr>
        <p:blipFill>
          <a:blip r:embed="rId28"/>
          <a:stretch>
            <a:fillRect/>
          </a:stretch>
        </p:blipFill>
        <p:spPr>
          <a:xfrm>
            <a:off x="4722854" y="4873454"/>
            <a:ext cx="128699" cy="187198"/>
          </a:xfrm>
          <a:prstGeom prst="rect">
            <a:avLst/>
          </a:prstGeom>
        </p:spPr>
      </p:pic>
      <p:sp>
        <p:nvSpPr>
          <p:cNvPr id="155" name="TextBox 154"/>
          <p:cNvSpPr txBox="1"/>
          <p:nvPr/>
        </p:nvSpPr>
        <p:spPr>
          <a:xfrm>
            <a:off x="4890350"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56" name="Picture 155" descr="lock.png"/>
          <p:cNvPicPr>
            <a:picLocks noChangeAspect="1"/>
          </p:cNvPicPr>
          <p:nvPr/>
        </p:nvPicPr>
        <p:blipFill>
          <a:blip r:embed="rId28"/>
          <a:stretch>
            <a:fillRect/>
          </a:stretch>
        </p:blipFill>
        <p:spPr>
          <a:xfrm>
            <a:off x="5749800" y="4873454"/>
            <a:ext cx="128699" cy="187198"/>
          </a:xfrm>
          <a:prstGeom prst="rect">
            <a:avLst/>
          </a:prstGeom>
        </p:spPr>
      </p:pic>
      <p:sp>
        <p:nvSpPr>
          <p:cNvPr id="157" name="TextBox 156"/>
          <p:cNvSpPr txBox="1"/>
          <p:nvPr/>
        </p:nvSpPr>
        <p:spPr>
          <a:xfrm>
            <a:off x="5917296"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58" name="TextBox 157"/>
          <p:cNvSpPr txBox="1"/>
          <p:nvPr/>
        </p:nvSpPr>
        <p:spPr>
          <a:xfrm>
            <a:off x="3838575" y="5101165"/>
            <a:ext cx="1059557" cy="186689"/>
          </a:xfrm>
          <a:prstGeom prst="rect">
            <a:avLst/>
          </a:prstGeom>
          <a:noFill/>
        </p:spPr>
        <p:txBody>
          <a:bodyPr wrap="none" lIns="0" rIns="0" tIns="0" bIns="0">
            <a:spAutoFit/>
          </a:bodyPr>
          <a:lstStyle/>
          <a:p>
            <a:r>
              <a:rPr sz="1100" b="0">
                <a:solidFill>
                  <a:srgbClr val="2E2E2E"/>
                </a:solidFill>
                <a:latin typeface="Calibri"/>
              </a:rPr>
              <a:t>● Pumpkin Spice:</a:t>
            </a:r>
          </a:p>
        </p:txBody>
      </p:sp>
      <p:pic>
        <p:nvPicPr>
          <p:cNvPr id="159" name="Picture 158" descr="lock.png"/>
          <p:cNvPicPr>
            <a:picLocks noChangeAspect="1"/>
          </p:cNvPicPr>
          <p:nvPr/>
        </p:nvPicPr>
        <p:blipFill>
          <a:blip r:embed="rId28"/>
          <a:stretch>
            <a:fillRect/>
          </a:stretch>
        </p:blipFill>
        <p:spPr>
          <a:xfrm>
            <a:off x="4846183" y="5091385"/>
            <a:ext cx="128699" cy="187198"/>
          </a:xfrm>
          <a:prstGeom prst="rect">
            <a:avLst/>
          </a:prstGeom>
        </p:spPr>
      </p:pic>
      <p:sp>
        <p:nvSpPr>
          <p:cNvPr id="160" name="TextBox 159"/>
          <p:cNvSpPr txBox="1"/>
          <p:nvPr/>
        </p:nvSpPr>
        <p:spPr>
          <a:xfrm>
            <a:off x="5013679"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61" name="Picture 160" descr="lock.png"/>
          <p:cNvPicPr>
            <a:picLocks noChangeAspect="1"/>
          </p:cNvPicPr>
          <p:nvPr/>
        </p:nvPicPr>
        <p:blipFill>
          <a:blip r:embed="rId28"/>
          <a:stretch>
            <a:fillRect/>
          </a:stretch>
        </p:blipFill>
        <p:spPr>
          <a:xfrm>
            <a:off x="5873129" y="5091385"/>
            <a:ext cx="128699" cy="187198"/>
          </a:xfrm>
          <a:prstGeom prst="rect">
            <a:avLst/>
          </a:prstGeom>
        </p:spPr>
      </p:pic>
      <p:sp>
        <p:nvSpPr>
          <p:cNvPr id="162" name="TextBox 161"/>
          <p:cNvSpPr txBox="1"/>
          <p:nvPr/>
        </p:nvSpPr>
        <p:spPr>
          <a:xfrm>
            <a:off x="6040625" y="5101165"/>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63" name="TextBox 162"/>
          <p:cNvSpPr txBox="1"/>
          <p:nvPr/>
        </p:nvSpPr>
        <p:spPr>
          <a:xfrm>
            <a:off x="3838575" y="5319097"/>
            <a:ext cx="622175" cy="186689"/>
          </a:xfrm>
          <a:prstGeom prst="rect">
            <a:avLst/>
          </a:prstGeom>
          <a:noFill/>
        </p:spPr>
        <p:txBody>
          <a:bodyPr wrap="none" lIns="0" rIns="0" tIns="0" bIns="0">
            <a:spAutoFit/>
          </a:bodyPr>
          <a:lstStyle/>
          <a:p>
            <a:r>
              <a:rPr sz="1100" b="0">
                <a:solidFill>
                  <a:srgbClr val="2E2E2E"/>
                </a:solidFill>
                <a:latin typeface="Calibri"/>
              </a:rPr>
              <a:t>● Mocha:</a:t>
            </a:r>
          </a:p>
        </p:txBody>
      </p:sp>
      <p:pic>
        <p:nvPicPr>
          <p:cNvPr id="164" name="Picture 163" descr="lock.png"/>
          <p:cNvPicPr>
            <a:picLocks noChangeAspect="1"/>
          </p:cNvPicPr>
          <p:nvPr/>
        </p:nvPicPr>
        <p:blipFill>
          <a:blip r:embed="rId28"/>
          <a:stretch>
            <a:fillRect/>
          </a:stretch>
        </p:blipFill>
        <p:spPr>
          <a:xfrm>
            <a:off x="4408802" y="5309317"/>
            <a:ext cx="128699" cy="187198"/>
          </a:xfrm>
          <a:prstGeom prst="rect">
            <a:avLst/>
          </a:prstGeom>
        </p:spPr>
      </p:pic>
      <p:sp>
        <p:nvSpPr>
          <p:cNvPr id="165" name="TextBox 164"/>
          <p:cNvSpPr txBox="1"/>
          <p:nvPr/>
        </p:nvSpPr>
        <p:spPr>
          <a:xfrm>
            <a:off x="4576298"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66" name="Picture 165" descr="lock.png"/>
          <p:cNvPicPr>
            <a:picLocks noChangeAspect="1"/>
          </p:cNvPicPr>
          <p:nvPr/>
        </p:nvPicPr>
        <p:blipFill>
          <a:blip r:embed="rId28"/>
          <a:stretch>
            <a:fillRect/>
          </a:stretch>
        </p:blipFill>
        <p:spPr>
          <a:xfrm>
            <a:off x="5435748" y="5309317"/>
            <a:ext cx="128699" cy="187198"/>
          </a:xfrm>
          <a:prstGeom prst="rect">
            <a:avLst/>
          </a:prstGeom>
        </p:spPr>
      </p:pic>
      <p:sp>
        <p:nvSpPr>
          <p:cNvPr id="167" name="TextBox 166"/>
          <p:cNvSpPr txBox="1"/>
          <p:nvPr/>
        </p:nvSpPr>
        <p:spPr>
          <a:xfrm>
            <a:off x="5603244" y="531909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68" name="TextBox 167"/>
          <p:cNvSpPr txBox="1"/>
          <p:nvPr/>
        </p:nvSpPr>
        <p:spPr>
          <a:xfrm>
            <a:off x="3838575" y="5537029"/>
            <a:ext cx="1069106" cy="186689"/>
          </a:xfrm>
          <a:prstGeom prst="rect">
            <a:avLst/>
          </a:prstGeom>
          <a:noFill/>
        </p:spPr>
        <p:txBody>
          <a:bodyPr wrap="none" lIns="0" rIns="0" tIns="0" bIns="0">
            <a:spAutoFit/>
          </a:bodyPr>
          <a:lstStyle/>
          <a:p>
            <a:r>
              <a:rPr sz="1100" b="0">
                <a:solidFill>
                  <a:srgbClr val="2E2E2E"/>
                </a:solidFill>
                <a:latin typeface="Calibri"/>
              </a:rPr>
              <a:t>● Other Flavours:</a:t>
            </a:r>
          </a:p>
        </p:txBody>
      </p:sp>
      <p:pic>
        <p:nvPicPr>
          <p:cNvPr id="169" name="Picture 168" descr="lock.png"/>
          <p:cNvPicPr>
            <a:picLocks noChangeAspect="1"/>
          </p:cNvPicPr>
          <p:nvPr/>
        </p:nvPicPr>
        <p:blipFill>
          <a:blip r:embed="rId28"/>
          <a:stretch>
            <a:fillRect/>
          </a:stretch>
        </p:blipFill>
        <p:spPr>
          <a:xfrm>
            <a:off x="4855733" y="5527249"/>
            <a:ext cx="128699" cy="187198"/>
          </a:xfrm>
          <a:prstGeom prst="rect">
            <a:avLst/>
          </a:prstGeom>
        </p:spPr>
      </p:pic>
      <p:sp>
        <p:nvSpPr>
          <p:cNvPr id="170" name="TextBox 169"/>
          <p:cNvSpPr txBox="1"/>
          <p:nvPr/>
        </p:nvSpPr>
        <p:spPr>
          <a:xfrm>
            <a:off x="5023229" y="553702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71" name="Picture 170" descr="lock.png"/>
          <p:cNvPicPr>
            <a:picLocks noChangeAspect="1"/>
          </p:cNvPicPr>
          <p:nvPr/>
        </p:nvPicPr>
        <p:blipFill>
          <a:blip r:embed="rId28"/>
          <a:stretch>
            <a:fillRect/>
          </a:stretch>
        </p:blipFill>
        <p:spPr>
          <a:xfrm>
            <a:off x="5882679" y="5527249"/>
            <a:ext cx="128699" cy="187198"/>
          </a:xfrm>
          <a:prstGeom prst="rect">
            <a:avLst/>
          </a:prstGeom>
        </p:spPr>
      </p:pic>
      <p:sp>
        <p:nvSpPr>
          <p:cNvPr id="172" name="TextBox 171"/>
          <p:cNvSpPr txBox="1"/>
          <p:nvPr/>
        </p:nvSpPr>
        <p:spPr>
          <a:xfrm>
            <a:off x="6050175" y="553702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73" name="TextBox 172"/>
          <p:cNvSpPr txBox="1"/>
          <p:nvPr/>
        </p:nvSpPr>
        <p:spPr>
          <a:xfrm>
            <a:off x="3838575" y="5754961"/>
            <a:ext cx="808533" cy="186689"/>
          </a:xfrm>
          <a:prstGeom prst="rect">
            <a:avLst/>
          </a:prstGeom>
          <a:noFill/>
        </p:spPr>
        <p:txBody>
          <a:bodyPr wrap="none" lIns="0" rIns="0" tIns="0" bIns="0">
            <a:spAutoFit/>
          </a:bodyPr>
          <a:lstStyle/>
          <a:p>
            <a:r>
              <a:rPr sz="1100" b="0">
                <a:solidFill>
                  <a:srgbClr val="2E2E2E"/>
                </a:solidFill>
                <a:latin typeface="Calibri"/>
              </a:rPr>
              <a:t>● Cinnamon:</a:t>
            </a:r>
          </a:p>
        </p:txBody>
      </p:sp>
      <p:pic>
        <p:nvPicPr>
          <p:cNvPr id="174" name="Picture 173" descr="lock.png"/>
          <p:cNvPicPr>
            <a:picLocks noChangeAspect="1"/>
          </p:cNvPicPr>
          <p:nvPr/>
        </p:nvPicPr>
        <p:blipFill>
          <a:blip r:embed="rId28"/>
          <a:stretch>
            <a:fillRect/>
          </a:stretch>
        </p:blipFill>
        <p:spPr>
          <a:xfrm>
            <a:off x="4595160" y="5745181"/>
            <a:ext cx="128699" cy="187198"/>
          </a:xfrm>
          <a:prstGeom prst="rect">
            <a:avLst/>
          </a:prstGeom>
        </p:spPr>
      </p:pic>
      <p:sp>
        <p:nvSpPr>
          <p:cNvPr id="175" name="TextBox 174"/>
          <p:cNvSpPr txBox="1"/>
          <p:nvPr/>
        </p:nvSpPr>
        <p:spPr>
          <a:xfrm>
            <a:off x="4762656" y="575496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76" name="Picture 175" descr="lock.png"/>
          <p:cNvPicPr>
            <a:picLocks noChangeAspect="1"/>
          </p:cNvPicPr>
          <p:nvPr/>
        </p:nvPicPr>
        <p:blipFill>
          <a:blip r:embed="rId28"/>
          <a:stretch>
            <a:fillRect/>
          </a:stretch>
        </p:blipFill>
        <p:spPr>
          <a:xfrm>
            <a:off x="5622106" y="5745181"/>
            <a:ext cx="128699" cy="187198"/>
          </a:xfrm>
          <a:prstGeom prst="rect">
            <a:avLst/>
          </a:prstGeom>
        </p:spPr>
      </p:pic>
      <p:sp>
        <p:nvSpPr>
          <p:cNvPr id="177" name="TextBox 176"/>
          <p:cNvSpPr txBox="1"/>
          <p:nvPr/>
        </p:nvSpPr>
        <p:spPr>
          <a:xfrm>
            <a:off x="5789602" y="575496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78" name="TextBox 177"/>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Flavour segment is projected to grow at a CAGR</a:t>
            </a:r>
          </a:p>
        </p:txBody>
      </p:sp>
      <p:sp>
        <p:nvSpPr>
          <p:cNvPr id="179" name="TextBox 178"/>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180" name="Picture 179" descr="lock.png"/>
          <p:cNvPicPr>
            <a:picLocks noChangeAspect="1"/>
          </p:cNvPicPr>
          <p:nvPr/>
        </p:nvPicPr>
        <p:blipFill>
          <a:blip r:embed="rId28"/>
          <a:stretch>
            <a:fillRect/>
          </a:stretch>
        </p:blipFill>
        <p:spPr>
          <a:xfrm>
            <a:off x="8674884" y="6007677"/>
            <a:ext cx="134549" cy="195707"/>
          </a:xfrm>
          <a:prstGeom prst="rect">
            <a:avLst/>
          </a:prstGeom>
        </p:spPr>
      </p:pic>
      <p:sp>
        <p:nvSpPr>
          <p:cNvPr id="181" name="TextBox 180"/>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Flavour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Flavour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Flavour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572510" cy="186689"/>
          </a:xfrm>
          <a:prstGeom prst="rect">
            <a:avLst/>
          </a:prstGeom>
          <a:noFill/>
        </p:spPr>
        <p:txBody>
          <a:bodyPr wrap="none" lIns="0" rIns="0" tIns="0" bIns="0">
            <a:spAutoFit/>
          </a:bodyPr>
          <a:lstStyle/>
          <a:p>
            <a:r>
              <a:rPr sz="1100" b="0">
                <a:solidFill>
                  <a:srgbClr val="2E2E2E"/>
                </a:solidFill>
                <a:latin typeface="Calibri"/>
              </a:rPr>
              <a:t>Orange followed by vanilla are expected to be the two most attractive flavour segments in the global matcha market in terms of value over the forecast period. Orange and vanilla exhibit a CAGR index of</a:t>
            </a:r>
          </a:p>
        </p:txBody>
      </p:sp>
      <p:pic>
        <p:nvPicPr>
          <p:cNvPr id="20" name="Picture 19" descr="lock.png"/>
          <p:cNvPicPr>
            <a:picLocks noChangeAspect="1"/>
          </p:cNvPicPr>
          <p:nvPr/>
        </p:nvPicPr>
        <p:blipFill>
          <a:blip r:embed="rId6"/>
          <a:stretch>
            <a:fillRect/>
          </a:stretch>
        </p:blipFill>
        <p:spPr>
          <a:xfrm>
            <a:off x="243707" y="5935726"/>
            <a:ext cx="128699" cy="187198"/>
          </a:xfrm>
          <a:prstGeom prst="rect">
            <a:avLst/>
          </a:prstGeom>
        </p:spPr>
      </p:pic>
      <p:sp>
        <p:nvSpPr>
          <p:cNvPr id="21" name="TextBox 20"/>
          <p:cNvSpPr txBox="1"/>
          <p:nvPr/>
        </p:nvSpPr>
        <p:spPr>
          <a:xfrm>
            <a:off x="411203"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2" name="Picture 21" descr="lock.png"/>
          <p:cNvPicPr>
            <a:picLocks noChangeAspect="1"/>
          </p:cNvPicPr>
          <p:nvPr/>
        </p:nvPicPr>
        <p:blipFill>
          <a:blip r:embed="rId6"/>
          <a:stretch>
            <a:fillRect/>
          </a:stretch>
        </p:blipFill>
        <p:spPr>
          <a:xfrm>
            <a:off x="649097" y="5935726"/>
            <a:ext cx="128699" cy="187198"/>
          </a:xfrm>
          <a:prstGeom prst="rect">
            <a:avLst/>
          </a:prstGeom>
        </p:spPr>
      </p:pic>
      <p:sp>
        <p:nvSpPr>
          <p:cNvPr id="23" name="TextBox 22"/>
          <p:cNvSpPr txBox="1"/>
          <p:nvPr/>
        </p:nvSpPr>
        <p:spPr>
          <a:xfrm>
            <a:off x="816593"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4" name="Picture 23" descr="lock.png"/>
          <p:cNvPicPr>
            <a:picLocks noChangeAspect="1"/>
          </p:cNvPicPr>
          <p:nvPr/>
        </p:nvPicPr>
        <p:blipFill>
          <a:blip r:embed="rId6"/>
          <a:stretch>
            <a:fillRect/>
          </a:stretch>
        </p:blipFill>
        <p:spPr>
          <a:xfrm>
            <a:off x="2425567" y="5935726"/>
            <a:ext cx="128699" cy="187198"/>
          </a:xfrm>
          <a:prstGeom prst="rect">
            <a:avLst/>
          </a:prstGeom>
        </p:spPr>
      </p:pic>
      <p:sp>
        <p:nvSpPr>
          <p:cNvPr id="25" name="TextBox 24"/>
          <p:cNvSpPr txBox="1"/>
          <p:nvPr/>
        </p:nvSpPr>
        <p:spPr>
          <a:xfrm>
            <a:off x="2593062"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6" name="Picture 25" descr="lock.png"/>
          <p:cNvPicPr>
            <a:picLocks noChangeAspect="1"/>
          </p:cNvPicPr>
          <p:nvPr/>
        </p:nvPicPr>
        <p:blipFill>
          <a:blip r:embed="rId6"/>
          <a:stretch>
            <a:fillRect/>
          </a:stretch>
        </p:blipFill>
        <p:spPr>
          <a:xfrm>
            <a:off x="2830957" y="5935726"/>
            <a:ext cx="128699" cy="187198"/>
          </a:xfrm>
          <a:prstGeom prst="rect">
            <a:avLst/>
          </a:prstGeom>
        </p:spPr>
      </p:pic>
      <p:sp>
        <p:nvSpPr>
          <p:cNvPr id="27" name="TextBox 26"/>
          <p:cNvSpPr txBox="1"/>
          <p:nvPr/>
        </p:nvSpPr>
        <p:spPr>
          <a:xfrm>
            <a:off x="2998453"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8" name="Picture 27" descr="lock.png"/>
          <p:cNvPicPr>
            <a:picLocks noChangeAspect="1"/>
          </p:cNvPicPr>
          <p:nvPr/>
        </p:nvPicPr>
        <p:blipFill>
          <a:blip r:embed="rId6"/>
          <a:stretch>
            <a:fillRect/>
          </a:stretch>
        </p:blipFill>
        <p:spPr>
          <a:xfrm>
            <a:off x="5552857" y="5935726"/>
            <a:ext cx="128699" cy="187198"/>
          </a:xfrm>
          <a:prstGeom prst="rect">
            <a:avLst/>
          </a:prstGeom>
        </p:spPr>
      </p:pic>
      <p:sp>
        <p:nvSpPr>
          <p:cNvPr id="29" name="TextBox 28"/>
          <p:cNvSpPr txBox="1"/>
          <p:nvPr/>
        </p:nvSpPr>
        <p:spPr>
          <a:xfrm>
            <a:off x="5720353" y="5945505"/>
            <a:ext cx="5650830" cy="186689"/>
          </a:xfrm>
          <a:prstGeom prst="rect">
            <a:avLst/>
          </a:prstGeom>
          <a:noFill/>
        </p:spPr>
        <p:txBody>
          <a:bodyPr wrap="none" lIns="0" rIns="0" tIns="0" bIns="0">
            <a:spAutoFit/>
          </a:bodyPr>
          <a:lstStyle/>
          <a:p>
            <a:r>
              <a:rPr sz="1100" b="0">
                <a:solidFill>
                  <a:srgbClr val="2E2E2E"/>
                </a:solidFill>
                <a:latin typeface="Calibri"/>
              </a:rPr>
              <a:t>. The other flavours segment is expected to be less attractive as compared to other segments over</a:t>
            </a:r>
          </a:p>
        </p:txBody>
      </p:sp>
      <p:sp>
        <p:nvSpPr>
          <p:cNvPr id="30" name="TextBox 29"/>
          <p:cNvSpPr txBox="1"/>
          <p:nvPr/>
        </p:nvSpPr>
        <p:spPr>
          <a:xfrm>
            <a:off x="257175" y="6113145"/>
            <a:ext cx="8637429" cy="186689"/>
          </a:xfrm>
          <a:prstGeom prst="rect">
            <a:avLst/>
          </a:prstGeom>
          <a:noFill/>
        </p:spPr>
        <p:txBody>
          <a:bodyPr wrap="none" lIns="0" rIns="0" tIns="0" bIns="0">
            <a:spAutoFit/>
          </a:bodyPr>
          <a:lstStyle/>
          <a:p>
            <a:r>
              <a:rPr sz="1100" b="0">
                <a:solidFill>
                  <a:srgbClr val="2E2E2E"/>
                </a:solidFill>
                <a:latin typeface="Calibri"/>
              </a:rPr>
              <a:t>the forecast period, owing to its lower CAGR and incremental opportunity. Bubbles right of the CAGR-Index line grow faster than the segment average.</a:t>
            </a:r>
          </a:p>
        </p:txBody>
      </p:sp>
      <p:sp>
        <p:nvSpPr>
          <p:cNvPr id="31"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Flavour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Unflavoured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Vanilla</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Lemon</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Orange</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Flavour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Mocha</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Cinnamon</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Pumpkin Spice</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Flavours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Flavour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Flavour, 2021–2036, highlighting the sub-segments driving growth</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Flavour (US$ Mn)</a:t>
            </a:r>
          </a:p>
        </p:txBody>
      </p:sp>
      <p:graphicFrame>
        <p:nvGraphicFramePr>
          <p:cNvPr id="12" name="Table 11"/>
          <p:cNvGraphicFramePr>
            <a:graphicFrameLocks noGrp="1"/>
          </p:cNvGraphicFramePr>
          <p:nvPr/>
        </p:nvGraphicFramePr>
        <p:xfrm>
          <a:off x="152400" y="1238250"/>
          <a:ext cx="11887194" cy="2466975"/>
        </p:xfrm>
        <a:graphic>
          <a:graphicData uri="http://schemas.openxmlformats.org/drawingml/2006/table">
            <a:tbl>
              <a:tblPr>
                <a:tableStyleId>{5C22544A-7EE6-4342-B048-85BDC9FD1C3A}</a:tableStyleId>
              </a:tblPr>
              <a:tblGrid>
                <a:gridCol w="1136751"/>
                <a:gridCol w="632379"/>
                <a:gridCol w="632379"/>
                <a:gridCol w="632379"/>
                <a:gridCol w="632379"/>
                <a:gridCol w="632379"/>
                <a:gridCol w="632379"/>
                <a:gridCol w="632379"/>
                <a:gridCol w="632379"/>
                <a:gridCol w="632379"/>
                <a:gridCol w="632379"/>
                <a:gridCol w="632379"/>
                <a:gridCol w="632379"/>
                <a:gridCol w="632379"/>
                <a:gridCol w="632379"/>
                <a:gridCol w="632379"/>
                <a:gridCol w="632379"/>
                <a:gridCol w="632379"/>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Unflavoured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Vanilla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Lemon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Mocha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Cinnamon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Pumpkin Spice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Other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Flavour</a:t>
            </a:r>
          </a:p>
        </p:txBody>
      </p:sp>
      <p:sp>
        <p:nvSpPr>
          <p:cNvPr id="16" name="Rectangle 15"/>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477682" y="2328100"/>
            <a:ext cx="366712" cy="533400"/>
          </a:xfrm>
          <a:prstGeom prst="rect">
            <a:avLst/>
          </a:prstGeom>
        </p:spPr>
      </p:pic>
      <p:sp>
        <p:nvSpPr>
          <p:cNvPr id="20" name="TextBox 19"/>
          <p:cNvSpPr txBox="1"/>
          <p:nvPr/>
        </p:nvSpPr>
        <p:spPr>
          <a:xfrm>
            <a:off x="276225" y="4467225"/>
            <a:ext cx="2437246" cy="194310"/>
          </a:xfrm>
          <a:prstGeom prst="rect">
            <a:avLst/>
          </a:prstGeom>
          <a:noFill/>
        </p:spPr>
        <p:txBody>
          <a:bodyPr wrap="none" lIns="0" rIns="0" tIns="0" bIns="0">
            <a:spAutoFit/>
          </a:bodyPr>
          <a:lstStyle/>
          <a:p>
            <a:r>
              <a:rPr sz="1150" b="0">
                <a:solidFill>
                  <a:srgbClr val="2E2E2E"/>
                </a:solidFill>
                <a:latin typeface="Calibri"/>
              </a:rPr>
              <a:t>Orange segment is projected to register</a:t>
            </a:r>
          </a:p>
        </p:txBody>
      </p:sp>
      <p:pic>
        <p:nvPicPr>
          <p:cNvPr id="21" name="Picture 20" descr="lock.png"/>
          <p:cNvPicPr>
            <a:picLocks noChangeAspect="1"/>
          </p:cNvPicPr>
          <p:nvPr/>
        </p:nvPicPr>
        <p:blipFill>
          <a:blip r:embed="rId4"/>
          <a:stretch>
            <a:fillRect/>
          </a:stretch>
        </p:blipFill>
        <p:spPr>
          <a:xfrm>
            <a:off x="2662625" y="4457001"/>
            <a:ext cx="134549" cy="195707"/>
          </a:xfrm>
          <a:prstGeom prst="rect">
            <a:avLst/>
          </a:prstGeom>
        </p:spPr>
      </p:pic>
      <p:sp>
        <p:nvSpPr>
          <p:cNvPr id="22" name="TextBox 21"/>
          <p:cNvSpPr txBox="1"/>
          <p:nvPr/>
        </p:nvSpPr>
        <p:spPr>
          <a:xfrm>
            <a:off x="2837734" y="4467225"/>
            <a:ext cx="8299481" cy="194310"/>
          </a:xfrm>
          <a:prstGeom prst="rect">
            <a:avLst/>
          </a:prstGeom>
          <a:noFill/>
        </p:spPr>
        <p:txBody>
          <a:bodyPr wrap="none" lIns="0" rIns="0" tIns="0" bIns="0">
            <a:spAutoFit/>
          </a:bodyPr>
          <a:lstStyle/>
          <a:p>
            <a:r>
              <a:rPr sz="1150" b="0">
                <a:solidFill>
                  <a:srgbClr val="2E2E2E"/>
                </a:solidFill>
                <a:latin typeface="Calibri"/>
              </a:rPr>
              <a:t>X higher value than vanilla segment in 2036. Among matcha by flavour, pumpkin spice segment is expected to witness the highest CAGR of</a:t>
            </a:r>
          </a:p>
        </p:txBody>
      </p:sp>
      <p:pic>
        <p:nvPicPr>
          <p:cNvPr id="23" name="Picture 22" descr="lock.png"/>
          <p:cNvPicPr>
            <a:picLocks noChangeAspect="1"/>
          </p:cNvPicPr>
          <p:nvPr/>
        </p:nvPicPr>
        <p:blipFill>
          <a:blip r:embed="rId4"/>
          <a:stretch>
            <a:fillRect/>
          </a:stretch>
        </p:blipFill>
        <p:spPr>
          <a:xfrm>
            <a:off x="11086370" y="4457001"/>
            <a:ext cx="134549" cy="195707"/>
          </a:xfrm>
          <a:prstGeom prst="rect">
            <a:avLst/>
          </a:prstGeom>
        </p:spPr>
      </p:pic>
      <p:sp>
        <p:nvSpPr>
          <p:cNvPr id="24" name="TextBox 23"/>
          <p:cNvSpPr txBox="1"/>
          <p:nvPr/>
        </p:nvSpPr>
        <p:spPr>
          <a:xfrm>
            <a:off x="11261479" y="446722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25" name="TextBox 24"/>
          <p:cNvSpPr txBox="1"/>
          <p:nvPr/>
        </p:nvSpPr>
        <p:spPr>
          <a:xfrm>
            <a:off x="276225" y="464248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26" name="TextBox 25"/>
          <p:cNvSpPr txBox="1"/>
          <p:nvPr/>
        </p:nvSpPr>
        <p:spPr>
          <a:xfrm>
            <a:off x="276225" y="4870322"/>
            <a:ext cx="5984664" cy="194310"/>
          </a:xfrm>
          <a:prstGeom prst="rect">
            <a:avLst/>
          </a:prstGeom>
          <a:noFill/>
        </p:spPr>
        <p:txBody>
          <a:bodyPr wrap="none" lIns="0" rIns="0" tIns="0" bIns="0">
            <a:spAutoFit/>
          </a:bodyPr>
          <a:lstStyle/>
          <a:p>
            <a:r>
              <a:rPr sz="1150" b="0">
                <a:solidFill>
                  <a:srgbClr val="2E2E2E"/>
                </a:solidFill>
                <a:latin typeface="Calibri"/>
              </a:rPr>
              <a:t>In terms of value share by flavour, the orange segment is expected to dominate the market, gaining</a:t>
            </a:r>
          </a:p>
        </p:txBody>
      </p:sp>
      <p:pic>
        <p:nvPicPr>
          <p:cNvPr id="27" name="Picture 26" descr="lock.png"/>
          <p:cNvPicPr>
            <a:picLocks noChangeAspect="1"/>
          </p:cNvPicPr>
          <p:nvPr/>
        </p:nvPicPr>
        <p:blipFill>
          <a:blip r:embed="rId4"/>
          <a:stretch>
            <a:fillRect/>
          </a:stretch>
        </p:blipFill>
        <p:spPr>
          <a:xfrm>
            <a:off x="6210043" y="4860099"/>
            <a:ext cx="134549" cy="195707"/>
          </a:xfrm>
          <a:prstGeom prst="rect">
            <a:avLst/>
          </a:prstGeom>
        </p:spPr>
      </p:pic>
      <p:sp>
        <p:nvSpPr>
          <p:cNvPr id="28" name="TextBox 27"/>
          <p:cNvSpPr txBox="1"/>
          <p:nvPr/>
        </p:nvSpPr>
        <p:spPr>
          <a:xfrm>
            <a:off x="6385152"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7780295" y="4860099"/>
            <a:ext cx="134549" cy="195707"/>
          </a:xfrm>
          <a:prstGeom prst="rect">
            <a:avLst/>
          </a:prstGeom>
        </p:spPr>
      </p:pic>
      <p:sp>
        <p:nvSpPr>
          <p:cNvPr id="30" name="TextBox 29"/>
          <p:cNvSpPr txBox="1"/>
          <p:nvPr/>
        </p:nvSpPr>
        <p:spPr>
          <a:xfrm>
            <a:off x="7955404" y="4870322"/>
            <a:ext cx="3292437" cy="194310"/>
          </a:xfrm>
          <a:prstGeom prst="rect">
            <a:avLst/>
          </a:prstGeom>
          <a:noFill/>
        </p:spPr>
        <p:txBody>
          <a:bodyPr wrap="none" lIns="0" rIns="0" tIns="0" bIns="0">
            <a:spAutoFit/>
          </a:bodyPr>
          <a:lstStyle/>
          <a:p>
            <a:r>
              <a:rPr sz="1150" b="0">
                <a:solidFill>
                  <a:srgbClr val="2E2E2E"/>
                </a:solidFill>
                <a:latin typeface="Calibri"/>
              </a:rPr>
              <a:t>share by 2036. The lemon segment is expected to lose</a:t>
            </a:r>
          </a:p>
        </p:txBody>
      </p:sp>
      <p:pic>
        <p:nvPicPr>
          <p:cNvPr id="31" name="Picture 30" descr="lock.png"/>
          <p:cNvPicPr>
            <a:picLocks noChangeAspect="1"/>
          </p:cNvPicPr>
          <p:nvPr/>
        </p:nvPicPr>
        <p:blipFill>
          <a:blip r:embed="rId4"/>
          <a:stretch>
            <a:fillRect/>
          </a:stretch>
        </p:blipFill>
        <p:spPr>
          <a:xfrm>
            <a:off x="11196996" y="4860099"/>
            <a:ext cx="134549" cy="195707"/>
          </a:xfrm>
          <a:prstGeom prst="rect">
            <a:avLst/>
          </a:prstGeom>
        </p:spPr>
      </p:pic>
      <p:sp>
        <p:nvSpPr>
          <p:cNvPr id="32" name="TextBox 31"/>
          <p:cNvSpPr txBox="1"/>
          <p:nvPr/>
        </p:nvSpPr>
        <p:spPr>
          <a:xfrm>
            <a:off x="276225" y="504558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3" name="Picture 32" descr="lock.png"/>
          <p:cNvPicPr>
            <a:picLocks noChangeAspect="1"/>
          </p:cNvPicPr>
          <p:nvPr/>
        </p:nvPicPr>
        <p:blipFill>
          <a:blip r:embed="rId4"/>
          <a:stretch>
            <a:fillRect/>
          </a:stretch>
        </p:blipFill>
        <p:spPr>
          <a:xfrm>
            <a:off x="2863729" y="5035359"/>
            <a:ext cx="134549" cy="195707"/>
          </a:xfrm>
          <a:prstGeom prst="rect">
            <a:avLst/>
          </a:prstGeom>
        </p:spPr>
      </p:pic>
      <p:sp>
        <p:nvSpPr>
          <p:cNvPr id="34" name="TextBox 33"/>
          <p:cNvSpPr txBox="1"/>
          <p:nvPr/>
        </p:nvSpPr>
        <p:spPr>
          <a:xfrm>
            <a:off x="3038838" y="50455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Flavour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Flavour ·  2021 / 2026 / 2036 (US$ Mn)  ·  right axis = BPS share shift</a:t>
            </a:r>
          </a:p>
        </p:txBody>
      </p:sp>
      <p:graphicFrame>
        <p:nvGraphicFramePr>
          <p:cNvPr id="12" name="Chart 11"/>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3932301"/>
            <a:ext cx="38100" cy="38100"/>
          </a:xfrm>
          <a:prstGeom prst="rect">
            <a:avLst/>
          </a:prstGeom>
          <a:noFill/>
        </p:spPr>
        <p:txBody>
          <a:bodyPr wrap="none">
            <a:spAutoFit/>
          </a:bodyPr>
          <a:lstStyle/>
          <a:p/>
        </p:txBody>
      </p:sp>
      <p:sp>
        <p:nvSpPr>
          <p:cNvPr id="15" name="FMI Legend Chip"/>
          <p:cNvSpPr/>
          <p:nvPr/>
        </p:nvSpPr>
        <p:spPr>
          <a:xfrm>
            <a:off x="4928997" y="1611497"/>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60673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5305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Flavours</a:t>
            </a:r>
          </a:p>
        </p:txBody>
      </p:sp>
      <p:sp>
        <p:nvSpPr>
          <p:cNvPr id="18" name="BPS Value 1"/>
          <p:cNvSpPr txBox="1"/>
          <p:nvPr/>
        </p:nvSpPr>
        <p:spPr>
          <a:xfrm>
            <a:off x="6896100" y="159244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1852187"/>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184742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17712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Cinnamon</a:t>
            </a:r>
          </a:p>
        </p:txBody>
      </p:sp>
      <p:sp>
        <p:nvSpPr>
          <p:cNvPr id="22" name="BPS Value 2"/>
          <p:cNvSpPr txBox="1"/>
          <p:nvPr/>
        </p:nvSpPr>
        <p:spPr>
          <a:xfrm>
            <a:off x="6896100" y="183313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2288868"/>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5090922" y="228410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2079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Lemon</a:t>
            </a:r>
          </a:p>
        </p:txBody>
      </p:sp>
      <p:sp>
        <p:nvSpPr>
          <p:cNvPr id="26" name="BPS Value 3"/>
          <p:cNvSpPr txBox="1"/>
          <p:nvPr/>
        </p:nvSpPr>
        <p:spPr>
          <a:xfrm>
            <a:off x="6896100" y="226981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928997" y="289086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a:off x="5090922" y="288610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280990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Mocha</a:t>
            </a:r>
          </a:p>
        </p:txBody>
      </p:sp>
      <p:sp>
        <p:nvSpPr>
          <p:cNvPr id="30" name="BPS Value 4"/>
          <p:cNvSpPr txBox="1"/>
          <p:nvPr/>
        </p:nvSpPr>
        <p:spPr>
          <a:xfrm>
            <a:off x="6896100" y="287181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1" name="FMI Legend Chip"/>
          <p:cNvSpPr/>
          <p:nvPr/>
        </p:nvSpPr>
        <p:spPr>
          <a:xfrm>
            <a:off x="4928997" y="3550193"/>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a:off x="5090922" y="354543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34692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Pumpkin Spice</a:t>
            </a:r>
          </a:p>
        </p:txBody>
      </p:sp>
      <p:sp>
        <p:nvSpPr>
          <p:cNvPr id="34" name="BPS Value 5"/>
          <p:cNvSpPr txBox="1"/>
          <p:nvPr/>
        </p:nvSpPr>
        <p:spPr>
          <a:xfrm>
            <a:off x="6896100" y="353114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5" name="FMI Legend Chip"/>
          <p:cNvSpPr/>
          <p:nvPr/>
        </p:nvSpPr>
        <p:spPr>
          <a:xfrm>
            <a:off x="4928997" y="4268104"/>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a:off x="5090922" y="426334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418714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Unflavoured</a:t>
            </a:r>
          </a:p>
        </p:txBody>
      </p:sp>
      <p:sp>
        <p:nvSpPr>
          <p:cNvPr id="38" name="BPS Value 6"/>
          <p:cNvSpPr txBox="1"/>
          <p:nvPr/>
        </p:nvSpPr>
        <p:spPr>
          <a:xfrm>
            <a:off x="6896100" y="424905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9" name="FMI Legend Chip"/>
          <p:cNvSpPr/>
          <p:nvPr/>
        </p:nvSpPr>
        <p:spPr>
          <a:xfrm>
            <a:off x="4928997" y="502910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Isosceles Triangle 39"/>
          <p:cNvSpPr/>
          <p:nvPr/>
        </p:nvSpPr>
        <p:spPr>
          <a:xfrm rot="10800000">
            <a:off x="5090922" y="502433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BPS Name 7"/>
          <p:cNvSpPr txBox="1"/>
          <p:nvPr/>
        </p:nvSpPr>
        <p:spPr>
          <a:xfrm>
            <a:off x="5233797" y="494813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Vanilla</a:t>
            </a:r>
          </a:p>
        </p:txBody>
      </p:sp>
      <p:sp>
        <p:nvSpPr>
          <p:cNvPr id="42" name="BPS Value 7"/>
          <p:cNvSpPr txBox="1"/>
          <p:nvPr/>
        </p:nvSpPr>
        <p:spPr>
          <a:xfrm>
            <a:off x="6896100" y="501005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3" name="FMI Legend Chip"/>
          <p:cNvSpPr/>
          <p:nvPr/>
        </p:nvSpPr>
        <p:spPr>
          <a:xfrm>
            <a:off x="4928997" y="583698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Isosceles Triangle 43"/>
          <p:cNvSpPr/>
          <p:nvPr/>
        </p:nvSpPr>
        <p:spPr>
          <a:xfrm>
            <a:off x="5090922" y="583222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BPS Name 8"/>
          <p:cNvSpPr txBox="1"/>
          <p:nvPr/>
        </p:nvSpPr>
        <p:spPr>
          <a:xfrm>
            <a:off x="5233797" y="575602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Orange</a:t>
            </a:r>
          </a:p>
        </p:txBody>
      </p:sp>
      <p:sp>
        <p:nvSpPr>
          <p:cNvPr id="46" name="BPS Value 8"/>
          <p:cNvSpPr txBox="1"/>
          <p:nvPr/>
        </p:nvSpPr>
        <p:spPr>
          <a:xfrm>
            <a:off x="6896100" y="581793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7" name="Rounded Rectangle 46"/>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Flavour</a:t>
            </a:r>
          </a:p>
        </p:txBody>
      </p:sp>
      <p:sp>
        <p:nvSpPr>
          <p:cNvPr id="49" name="Rectangle 48"/>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2" name="Picture 51" descr="lock.png"/>
          <p:cNvPicPr>
            <a:picLocks noChangeAspect="1"/>
          </p:cNvPicPr>
          <p:nvPr/>
        </p:nvPicPr>
        <p:blipFill>
          <a:blip r:embed="rId5"/>
          <a:stretch>
            <a:fillRect/>
          </a:stretch>
        </p:blipFill>
        <p:spPr>
          <a:xfrm>
            <a:off x="2557843" y="3751325"/>
            <a:ext cx="275034" cy="400050"/>
          </a:xfrm>
          <a:prstGeom prst="rect">
            <a:avLst/>
          </a:prstGeom>
        </p:spPr>
      </p:pic>
      <p:sp>
        <p:nvSpPr>
          <p:cNvPr id="53" name="TextBox 52"/>
          <p:cNvSpPr txBox="1"/>
          <p:nvPr/>
        </p:nvSpPr>
        <p:spPr>
          <a:xfrm>
            <a:off x="7829550" y="1400175"/>
            <a:ext cx="3942246" cy="194310"/>
          </a:xfrm>
          <a:prstGeom prst="rect">
            <a:avLst/>
          </a:prstGeom>
          <a:noFill/>
        </p:spPr>
        <p:txBody>
          <a:bodyPr wrap="none" lIns="0" rIns="0" tIns="0" bIns="0">
            <a:spAutoFit/>
          </a:bodyPr>
          <a:lstStyle/>
          <a:p>
            <a:r>
              <a:rPr sz="1150" b="0">
                <a:solidFill>
                  <a:srgbClr val="2E2E2E"/>
                </a:solidFill>
                <a:latin typeface="Calibri"/>
              </a:rPr>
              <a:t>Among matcha by flavour, pumpkin spice segment is expected to</a:t>
            </a:r>
          </a:p>
        </p:txBody>
      </p:sp>
      <p:sp>
        <p:nvSpPr>
          <p:cNvPr id="54" name="TextBox 53"/>
          <p:cNvSpPr txBox="1"/>
          <p:nvPr/>
        </p:nvSpPr>
        <p:spPr>
          <a:xfrm>
            <a:off x="7829550" y="157543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55" name="Picture 54" descr="lock.png"/>
          <p:cNvPicPr>
            <a:picLocks noChangeAspect="1"/>
          </p:cNvPicPr>
          <p:nvPr/>
        </p:nvPicPr>
        <p:blipFill>
          <a:blip r:embed="rId5"/>
          <a:stretch>
            <a:fillRect/>
          </a:stretch>
        </p:blipFill>
        <p:spPr>
          <a:xfrm>
            <a:off x="9526474" y="1565211"/>
            <a:ext cx="134549" cy="195707"/>
          </a:xfrm>
          <a:prstGeom prst="rect">
            <a:avLst/>
          </a:prstGeom>
        </p:spPr>
      </p:pic>
      <p:sp>
        <p:nvSpPr>
          <p:cNvPr id="56" name="TextBox 55"/>
          <p:cNvSpPr txBox="1"/>
          <p:nvPr/>
        </p:nvSpPr>
        <p:spPr>
          <a:xfrm>
            <a:off x="9701583" y="1575435"/>
            <a:ext cx="2074974" cy="194310"/>
          </a:xfrm>
          <a:prstGeom prst="rect">
            <a:avLst/>
          </a:prstGeom>
          <a:noFill/>
        </p:spPr>
        <p:txBody>
          <a:bodyPr wrap="none" lIns="0" rIns="0" tIns="0" bIns="0">
            <a:spAutoFit/>
          </a:bodyPr>
          <a:lstStyle/>
          <a:p>
            <a:r>
              <a:rPr sz="1150" b="0">
                <a:solidFill>
                  <a:srgbClr val="2E2E2E"/>
                </a:solidFill>
                <a:latin typeface="Calibri"/>
              </a:rPr>
              <a:t>over the forecast period. In terms</a:t>
            </a:r>
          </a:p>
        </p:txBody>
      </p:sp>
      <p:sp>
        <p:nvSpPr>
          <p:cNvPr id="57" name="TextBox 56"/>
          <p:cNvSpPr txBox="1"/>
          <p:nvPr/>
        </p:nvSpPr>
        <p:spPr>
          <a:xfrm>
            <a:off x="7829550" y="1750695"/>
            <a:ext cx="3664408" cy="194310"/>
          </a:xfrm>
          <a:prstGeom prst="rect">
            <a:avLst/>
          </a:prstGeom>
          <a:noFill/>
        </p:spPr>
        <p:txBody>
          <a:bodyPr wrap="none" lIns="0" rIns="0" tIns="0" bIns="0">
            <a:spAutoFit/>
          </a:bodyPr>
          <a:lstStyle/>
          <a:p>
            <a:r>
              <a:rPr sz="1150" b="0">
                <a:solidFill>
                  <a:srgbClr val="2E2E2E"/>
                </a:solidFill>
                <a:latin typeface="Calibri"/>
              </a:rPr>
              <a:t>of value share by flavour, the orange segment is expected to</a:t>
            </a:r>
          </a:p>
        </p:txBody>
      </p:sp>
      <p:sp>
        <p:nvSpPr>
          <p:cNvPr id="58" name="TextBox 57"/>
          <p:cNvSpPr txBox="1"/>
          <p:nvPr/>
        </p:nvSpPr>
        <p:spPr>
          <a:xfrm>
            <a:off x="7829550" y="1925955"/>
            <a:ext cx="1837072" cy="194310"/>
          </a:xfrm>
          <a:prstGeom prst="rect">
            <a:avLst/>
          </a:prstGeom>
          <a:noFill/>
        </p:spPr>
        <p:txBody>
          <a:bodyPr wrap="none" lIns="0" rIns="0" tIns="0" bIns="0">
            <a:spAutoFit/>
          </a:bodyPr>
          <a:lstStyle/>
          <a:p>
            <a:r>
              <a:rPr sz="1150" b="0">
                <a:solidFill>
                  <a:srgbClr val="2E2E2E"/>
                </a:solidFill>
                <a:latin typeface="Calibri"/>
              </a:rPr>
              <a:t>dominate the market, gaining</a:t>
            </a:r>
          </a:p>
        </p:txBody>
      </p:sp>
      <p:pic>
        <p:nvPicPr>
          <p:cNvPr id="59" name="Picture 58" descr="lock.png"/>
          <p:cNvPicPr>
            <a:picLocks noChangeAspect="1"/>
          </p:cNvPicPr>
          <p:nvPr/>
        </p:nvPicPr>
        <p:blipFill>
          <a:blip r:embed="rId5"/>
          <a:stretch>
            <a:fillRect/>
          </a:stretch>
        </p:blipFill>
        <p:spPr>
          <a:xfrm>
            <a:off x="9615776" y="1915731"/>
            <a:ext cx="134549" cy="195707"/>
          </a:xfrm>
          <a:prstGeom prst="rect">
            <a:avLst/>
          </a:prstGeom>
        </p:spPr>
      </p:pic>
      <p:sp>
        <p:nvSpPr>
          <p:cNvPr id="60" name="TextBox 59"/>
          <p:cNvSpPr txBox="1"/>
          <p:nvPr/>
        </p:nvSpPr>
        <p:spPr>
          <a:xfrm>
            <a:off x="9790885" y="192595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1" name="Picture 60" descr="lock.png"/>
          <p:cNvPicPr>
            <a:picLocks noChangeAspect="1"/>
          </p:cNvPicPr>
          <p:nvPr/>
        </p:nvPicPr>
        <p:blipFill>
          <a:blip r:embed="rId5"/>
          <a:stretch>
            <a:fillRect/>
          </a:stretch>
        </p:blipFill>
        <p:spPr>
          <a:xfrm>
            <a:off x="11186028" y="1915731"/>
            <a:ext cx="134549" cy="195707"/>
          </a:xfrm>
          <a:prstGeom prst="rect">
            <a:avLst/>
          </a:prstGeom>
        </p:spPr>
      </p:pic>
      <p:sp>
        <p:nvSpPr>
          <p:cNvPr id="62" name="TextBox 61"/>
          <p:cNvSpPr txBox="1"/>
          <p:nvPr/>
        </p:nvSpPr>
        <p:spPr>
          <a:xfrm>
            <a:off x="7829550"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3" name="TextBox 62"/>
          <p:cNvSpPr txBox="1"/>
          <p:nvPr/>
        </p:nvSpPr>
        <p:spPr>
          <a:xfrm>
            <a:off x="7829550" y="2329053"/>
            <a:ext cx="2389323" cy="194310"/>
          </a:xfrm>
          <a:prstGeom prst="rect">
            <a:avLst/>
          </a:prstGeom>
          <a:noFill/>
        </p:spPr>
        <p:txBody>
          <a:bodyPr wrap="none" lIns="0" rIns="0" tIns="0" bIns="0">
            <a:spAutoFit/>
          </a:bodyPr>
          <a:lstStyle/>
          <a:p>
            <a:r>
              <a:rPr sz="1150" b="0">
                <a:solidFill>
                  <a:srgbClr val="2E2E2E"/>
                </a:solidFill>
                <a:latin typeface="Calibri"/>
              </a:rPr>
              <a:t>The lemon segment is expected to lose</a:t>
            </a:r>
          </a:p>
        </p:txBody>
      </p:sp>
      <p:pic>
        <p:nvPicPr>
          <p:cNvPr id="64" name="Picture 63" descr="lock.png"/>
          <p:cNvPicPr>
            <a:picLocks noChangeAspect="1"/>
          </p:cNvPicPr>
          <p:nvPr/>
        </p:nvPicPr>
        <p:blipFill>
          <a:blip r:embed="rId5"/>
          <a:stretch>
            <a:fillRect/>
          </a:stretch>
        </p:blipFill>
        <p:spPr>
          <a:xfrm>
            <a:off x="10168027" y="2318829"/>
            <a:ext cx="134549" cy="195707"/>
          </a:xfrm>
          <a:prstGeom prst="rect">
            <a:avLst/>
          </a:prstGeom>
        </p:spPr>
      </p:pic>
      <p:sp>
        <p:nvSpPr>
          <p:cNvPr id="65" name="TextBox 64"/>
          <p:cNvSpPr txBox="1"/>
          <p:nvPr/>
        </p:nvSpPr>
        <p:spPr>
          <a:xfrm>
            <a:off x="10343137"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66" name="TextBox 65"/>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67" name="Picture 66" descr="lock.png"/>
          <p:cNvPicPr>
            <a:picLocks noChangeAspect="1"/>
          </p:cNvPicPr>
          <p:nvPr/>
        </p:nvPicPr>
        <p:blipFill>
          <a:blip r:embed="rId5"/>
          <a:stretch>
            <a:fillRect/>
          </a:stretch>
        </p:blipFill>
        <p:spPr>
          <a:xfrm>
            <a:off x="9114014" y="2494089"/>
            <a:ext cx="134549" cy="195707"/>
          </a:xfrm>
          <a:prstGeom prst="rect">
            <a:avLst/>
          </a:prstGeom>
        </p:spPr>
      </p:pic>
      <p:sp>
        <p:nvSpPr>
          <p:cNvPr id="68" name="TextBox 67"/>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9" name="lockshield_12"/>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7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Packaging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Type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9 sub-segments of Packaging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Type segment categorizes the market by packaging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Pouches</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Cups</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Industrial Packaging</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Bottles</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and Stick Packs</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6" name="Rectangle 5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58" name="Rounded Rectangle 5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0" name="Rectangle 5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p:txBody>
      </p:sp>
      <p:sp>
        <p:nvSpPr>
          <p:cNvPr id="62" name="Rounded Rectangle 6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4" name="Rectangle 6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Packaging Type split shows how demand is distributed across packaging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6" name="Rectangle 6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8" name="TextBox 6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9" name="TextBox 6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0" name="Picture 69" descr="624_5_605E5C.png"/>
          <p:cNvPicPr>
            <a:picLocks noChangeAspect="1"/>
          </p:cNvPicPr>
          <p:nvPr/>
        </p:nvPicPr>
        <p:blipFill>
          <a:blip r:embed="rId4"/>
          <a:stretch>
            <a:fillRect/>
          </a:stretch>
        </p:blipFill>
        <p:spPr>
          <a:xfrm>
            <a:off x="2223441" y="2286582"/>
            <a:ext cx="1195728" cy="361950"/>
          </a:xfrm>
          <a:prstGeom prst="rect">
            <a:avLst/>
          </a:prstGeom>
        </p:spPr>
      </p:pic>
      <p:pic>
        <p:nvPicPr>
          <p:cNvPr id="71" name="Picture 70" descr="1_223_605E5C.png"/>
          <p:cNvPicPr>
            <a:picLocks noChangeAspect="1"/>
          </p:cNvPicPr>
          <p:nvPr/>
        </p:nvPicPr>
        <p:blipFill>
          <a:blip r:embed="rId5"/>
          <a:stretch>
            <a:fillRect/>
          </a:stretch>
        </p:blipFill>
        <p:spPr>
          <a:xfrm>
            <a:off x="2223441" y="2779432"/>
            <a:ext cx="1195728" cy="361950"/>
          </a:xfrm>
          <a:prstGeom prst="rect">
            <a:avLst/>
          </a:prstGeom>
        </p:spPr>
      </p:pic>
      <p:pic>
        <p:nvPicPr>
          <p:cNvPr id="72" name="Picture 71" descr="6_9__605E5C.png"/>
          <p:cNvPicPr>
            <a:picLocks noChangeAspect="1"/>
          </p:cNvPicPr>
          <p:nvPr/>
        </p:nvPicPr>
        <p:blipFill>
          <a:blip r:embed="rId6"/>
          <a:stretch>
            <a:fillRect/>
          </a:stretch>
        </p:blipFill>
        <p:spPr>
          <a:xfrm>
            <a:off x="2330087" y="3272281"/>
            <a:ext cx="982436" cy="361950"/>
          </a:xfrm>
          <a:prstGeom prst="rect">
            <a:avLst/>
          </a:prstGeom>
        </p:spPr>
      </p:pic>
      <p:pic>
        <p:nvPicPr>
          <p:cNvPr id="73" name="Picture 72" descr="534_2_605E5C.png"/>
          <p:cNvPicPr>
            <a:picLocks noChangeAspect="1"/>
          </p:cNvPicPr>
          <p:nvPr/>
        </p:nvPicPr>
        <p:blipFill>
          <a:blip r:embed="rId7"/>
          <a:stretch>
            <a:fillRect/>
          </a:stretch>
        </p:blipFill>
        <p:spPr>
          <a:xfrm>
            <a:off x="4246551" y="2286582"/>
            <a:ext cx="1195728" cy="361950"/>
          </a:xfrm>
          <a:prstGeom prst="rect">
            <a:avLst/>
          </a:prstGeom>
        </p:spPr>
      </p:pic>
      <p:pic>
        <p:nvPicPr>
          <p:cNvPr id="74" name="Picture 73" descr="1_078_605E5C.png"/>
          <p:cNvPicPr>
            <a:picLocks noChangeAspect="1"/>
          </p:cNvPicPr>
          <p:nvPr/>
        </p:nvPicPr>
        <p:blipFill>
          <a:blip r:embed="rId8"/>
          <a:stretch>
            <a:fillRect/>
          </a:stretch>
        </p:blipFill>
        <p:spPr>
          <a:xfrm>
            <a:off x="4246551" y="2779432"/>
            <a:ext cx="1195728" cy="361950"/>
          </a:xfrm>
          <a:prstGeom prst="rect">
            <a:avLst/>
          </a:prstGeom>
        </p:spPr>
      </p:pic>
      <p:pic>
        <p:nvPicPr>
          <p:cNvPr id="75" name="Picture 74" descr="7_3__605E5C.png"/>
          <p:cNvPicPr>
            <a:picLocks noChangeAspect="1"/>
          </p:cNvPicPr>
          <p:nvPr/>
        </p:nvPicPr>
        <p:blipFill>
          <a:blip r:embed="rId9"/>
          <a:stretch>
            <a:fillRect/>
          </a:stretch>
        </p:blipFill>
        <p:spPr>
          <a:xfrm>
            <a:off x="4353197" y="3272281"/>
            <a:ext cx="982436" cy="361950"/>
          </a:xfrm>
          <a:prstGeom prst="rect">
            <a:avLst/>
          </a:prstGeom>
        </p:spPr>
      </p:pic>
      <p:pic>
        <p:nvPicPr>
          <p:cNvPr id="76" name="Picture 75" descr="526_5_605E5C.png"/>
          <p:cNvPicPr>
            <a:picLocks noChangeAspect="1"/>
          </p:cNvPicPr>
          <p:nvPr/>
        </p:nvPicPr>
        <p:blipFill>
          <a:blip r:embed="rId10"/>
          <a:stretch>
            <a:fillRect/>
          </a:stretch>
        </p:blipFill>
        <p:spPr>
          <a:xfrm>
            <a:off x="6269661" y="2286582"/>
            <a:ext cx="1195728" cy="361950"/>
          </a:xfrm>
          <a:prstGeom prst="rect">
            <a:avLst/>
          </a:prstGeom>
        </p:spPr>
      </p:pic>
      <p:pic>
        <p:nvPicPr>
          <p:cNvPr id="77" name="Picture 76" descr="1_179_605E5C.png"/>
          <p:cNvPicPr>
            <a:picLocks noChangeAspect="1"/>
          </p:cNvPicPr>
          <p:nvPr/>
        </p:nvPicPr>
        <p:blipFill>
          <a:blip r:embed="rId11"/>
          <a:stretch>
            <a:fillRect/>
          </a:stretch>
        </p:blipFill>
        <p:spPr>
          <a:xfrm>
            <a:off x="6269661" y="2779432"/>
            <a:ext cx="1195728" cy="361950"/>
          </a:xfrm>
          <a:prstGeom prst="rect">
            <a:avLst/>
          </a:prstGeom>
        </p:spPr>
      </p:pic>
      <p:pic>
        <p:nvPicPr>
          <p:cNvPr id="78" name="Picture 77" descr="8_4__605E5C.png"/>
          <p:cNvPicPr>
            <a:picLocks noChangeAspect="1"/>
          </p:cNvPicPr>
          <p:nvPr/>
        </p:nvPicPr>
        <p:blipFill>
          <a:blip r:embed="rId12"/>
          <a:stretch>
            <a:fillRect/>
          </a:stretch>
        </p:blipFill>
        <p:spPr>
          <a:xfrm>
            <a:off x="6376307" y="3272281"/>
            <a:ext cx="982436" cy="361950"/>
          </a:xfrm>
          <a:prstGeom prst="rect">
            <a:avLst/>
          </a:prstGeom>
        </p:spPr>
      </p:pic>
      <p:pic>
        <p:nvPicPr>
          <p:cNvPr id="79" name="Picture 78" descr="464_0_605E5C.png"/>
          <p:cNvPicPr>
            <a:picLocks noChangeAspect="1"/>
          </p:cNvPicPr>
          <p:nvPr/>
        </p:nvPicPr>
        <p:blipFill>
          <a:blip r:embed="rId13"/>
          <a:stretch>
            <a:fillRect/>
          </a:stretch>
        </p:blipFill>
        <p:spPr>
          <a:xfrm>
            <a:off x="8292771" y="2286582"/>
            <a:ext cx="1195728" cy="361950"/>
          </a:xfrm>
          <a:prstGeom prst="rect">
            <a:avLst/>
          </a:prstGeom>
        </p:spPr>
      </p:pic>
      <p:pic>
        <p:nvPicPr>
          <p:cNvPr id="80" name="Picture 79" descr="888_2_605E5C.png"/>
          <p:cNvPicPr>
            <a:picLocks noChangeAspect="1"/>
          </p:cNvPicPr>
          <p:nvPr/>
        </p:nvPicPr>
        <p:blipFill>
          <a:blip r:embed="rId14"/>
          <a:stretch>
            <a:fillRect/>
          </a:stretch>
        </p:blipFill>
        <p:spPr>
          <a:xfrm>
            <a:off x="8292771" y="2779432"/>
            <a:ext cx="1195728" cy="361950"/>
          </a:xfrm>
          <a:prstGeom prst="rect">
            <a:avLst/>
          </a:prstGeom>
        </p:spPr>
      </p:pic>
      <p:pic>
        <p:nvPicPr>
          <p:cNvPr id="81" name="Picture 80" descr="6_7__605E5C.png"/>
          <p:cNvPicPr>
            <a:picLocks noChangeAspect="1"/>
          </p:cNvPicPr>
          <p:nvPr/>
        </p:nvPicPr>
        <p:blipFill>
          <a:blip r:embed="rId15"/>
          <a:stretch>
            <a:fillRect/>
          </a:stretch>
        </p:blipFill>
        <p:spPr>
          <a:xfrm>
            <a:off x="8399417" y="3272281"/>
            <a:ext cx="982436" cy="361950"/>
          </a:xfrm>
          <a:prstGeom prst="rect">
            <a:avLst/>
          </a:prstGeom>
        </p:spPr>
      </p:pic>
      <p:pic>
        <p:nvPicPr>
          <p:cNvPr id="82" name="Picture 81" descr="369_9_605E5C.png"/>
          <p:cNvPicPr>
            <a:picLocks noChangeAspect="1"/>
          </p:cNvPicPr>
          <p:nvPr/>
        </p:nvPicPr>
        <p:blipFill>
          <a:blip r:embed="rId16"/>
          <a:stretch>
            <a:fillRect/>
          </a:stretch>
        </p:blipFill>
        <p:spPr>
          <a:xfrm>
            <a:off x="10315881" y="2286582"/>
            <a:ext cx="1195728" cy="361950"/>
          </a:xfrm>
          <a:prstGeom prst="rect">
            <a:avLst/>
          </a:prstGeom>
        </p:spPr>
      </p:pic>
      <p:pic>
        <p:nvPicPr>
          <p:cNvPr id="83" name="Picture 82" descr="846_3_605E5C.png"/>
          <p:cNvPicPr>
            <a:picLocks noChangeAspect="1"/>
          </p:cNvPicPr>
          <p:nvPr/>
        </p:nvPicPr>
        <p:blipFill>
          <a:blip r:embed="rId17"/>
          <a:stretch>
            <a:fillRect/>
          </a:stretch>
        </p:blipFill>
        <p:spPr>
          <a:xfrm>
            <a:off x="10315881" y="2779432"/>
            <a:ext cx="1195728" cy="361950"/>
          </a:xfrm>
          <a:prstGeom prst="rect">
            <a:avLst/>
          </a:prstGeom>
        </p:spPr>
      </p:pic>
      <p:pic>
        <p:nvPicPr>
          <p:cNvPr id="84" name="Picture 83" descr="8_6__605E5C.png"/>
          <p:cNvPicPr>
            <a:picLocks noChangeAspect="1"/>
          </p:cNvPicPr>
          <p:nvPr/>
        </p:nvPicPr>
        <p:blipFill>
          <a:blip r:embed="rId18"/>
          <a:stretch>
            <a:fillRect/>
          </a:stretch>
        </p:blipFill>
        <p:spPr>
          <a:xfrm>
            <a:off x="10422527" y="3272281"/>
            <a:ext cx="982436" cy="361950"/>
          </a:xfrm>
          <a:prstGeom prst="rect">
            <a:avLst/>
          </a:prstGeom>
        </p:spPr>
      </p:pic>
      <p:pic>
        <p:nvPicPr>
          <p:cNvPr id="85" name="Picture 84" descr="lock.png"/>
          <p:cNvPicPr>
            <a:picLocks noChangeAspect="1"/>
          </p:cNvPicPr>
          <p:nvPr/>
        </p:nvPicPr>
        <p:blipFill>
          <a:blip r:embed="rId19"/>
          <a:stretch>
            <a:fillRect/>
          </a:stretch>
        </p:blipFill>
        <p:spPr>
          <a:xfrm>
            <a:off x="2727960" y="2827057"/>
            <a:ext cx="183356" cy="266700"/>
          </a:xfrm>
          <a:prstGeom prst="rect">
            <a:avLst/>
          </a:prstGeom>
        </p:spPr>
      </p:pic>
      <p:pic>
        <p:nvPicPr>
          <p:cNvPr id="86" name="Picture 85" descr="lock.png"/>
          <p:cNvPicPr>
            <a:picLocks noChangeAspect="1"/>
          </p:cNvPicPr>
          <p:nvPr/>
        </p:nvPicPr>
        <p:blipFill>
          <a:blip r:embed="rId19"/>
          <a:stretch>
            <a:fillRect/>
          </a:stretch>
        </p:blipFill>
        <p:spPr>
          <a:xfrm>
            <a:off x="4751070" y="2827057"/>
            <a:ext cx="183356" cy="266700"/>
          </a:xfrm>
          <a:prstGeom prst="rect">
            <a:avLst/>
          </a:prstGeom>
        </p:spPr>
      </p:pic>
      <p:pic>
        <p:nvPicPr>
          <p:cNvPr id="87" name="Picture 86" descr="lock.png"/>
          <p:cNvPicPr>
            <a:picLocks noChangeAspect="1"/>
          </p:cNvPicPr>
          <p:nvPr/>
        </p:nvPicPr>
        <p:blipFill>
          <a:blip r:embed="rId19"/>
          <a:stretch>
            <a:fillRect/>
          </a:stretch>
        </p:blipFill>
        <p:spPr>
          <a:xfrm>
            <a:off x="6774180" y="2827057"/>
            <a:ext cx="183356" cy="266700"/>
          </a:xfrm>
          <a:prstGeom prst="rect">
            <a:avLst/>
          </a:prstGeom>
        </p:spPr>
      </p:pic>
      <p:pic>
        <p:nvPicPr>
          <p:cNvPr id="88" name="Picture 87" descr="lock.png"/>
          <p:cNvPicPr>
            <a:picLocks noChangeAspect="1"/>
          </p:cNvPicPr>
          <p:nvPr/>
        </p:nvPicPr>
        <p:blipFill>
          <a:blip r:embed="rId19"/>
          <a:stretch>
            <a:fillRect/>
          </a:stretch>
        </p:blipFill>
        <p:spPr>
          <a:xfrm>
            <a:off x="8797290" y="2827057"/>
            <a:ext cx="183356" cy="266700"/>
          </a:xfrm>
          <a:prstGeom prst="rect">
            <a:avLst/>
          </a:prstGeom>
        </p:spPr>
      </p:pic>
      <p:pic>
        <p:nvPicPr>
          <p:cNvPr id="89" name="Picture 88" descr="lock.png"/>
          <p:cNvPicPr>
            <a:picLocks noChangeAspect="1"/>
          </p:cNvPicPr>
          <p:nvPr/>
        </p:nvPicPr>
        <p:blipFill>
          <a:blip r:embed="rId19"/>
          <a:stretch>
            <a:fillRect/>
          </a:stretch>
        </p:blipFill>
        <p:spPr>
          <a:xfrm>
            <a:off x="10820400" y="2827057"/>
            <a:ext cx="183356" cy="266700"/>
          </a:xfrm>
          <a:prstGeom prst="rect">
            <a:avLst/>
          </a:prstGeom>
        </p:spPr>
      </p:pic>
      <p:sp>
        <p:nvSpPr>
          <p:cNvPr id="90" name="TextBox 89"/>
          <p:cNvSpPr txBox="1"/>
          <p:nvPr/>
        </p:nvSpPr>
        <p:spPr>
          <a:xfrm>
            <a:off x="485775" y="4229437"/>
            <a:ext cx="2726680" cy="186689"/>
          </a:xfrm>
          <a:prstGeom prst="rect">
            <a:avLst/>
          </a:prstGeom>
          <a:noFill/>
        </p:spPr>
        <p:txBody>
          <a:bodyPr wrap="none" lIns="0" rIns="0" tIns="0" bIns="0">
            <a:spAutoFit/>
          </a:bodyPr>
          <a:lstStyle/>
          <a:p>
            <a:r>
              <a:rPr sz="1100" b="0">
                <a:solidFill>
                  <a:srgbClr val="2E2E2E"/>
                </a:solidFill>
                <a:latin typeface="Calibri"/>
              </a:rPr>
              <a:t>Among matcha by packaging type, sachets and</a:t>
            </a:r>
          </a:p>
        </p:txBody>
      </p:sp>
      <p:sp>
        <p:nvSpPr>
          <p:cNvPr id="91" name="TextBox 90"/>
          <p:cNvSpPr txBox="1"/>
          <p:nvPr/>
        </p:nvSpPr>
        <p:spPr>
          <a:xfrm>
            <a:off x="485775" y="4397077"/>
            <a:ext cx="2713856" cy="186689"/>
          </a:xfrm>
          <a:prstGeom prst="rect">
            <a:avLst/>
          </a:prstGeom>
          <a:noFill/>
        </p:spPr>
        <p:txBody>
          <a:bodyPr wrap="none" lIns="0" rIns="0" tIns="0" bIns="0">
            <a:spAutoFit/>
          </a:bodyPr>
          <a:lstStyle/>
          <a:p>
            <a:r>
              <a:rPr sz="1100" b="0">
                <a:solidFill>
                  <a:srgbClr val="2E2E2E"/>
                </a:solidFill>
                <a:latin typeface="Calibri"/>
              </a:rPr>
              <a:t>stick packs segment is expected to witness the</a:t>
            </a:r>
          </a:p>
        </p:txBody>
      </p:sp>
      <p:sp>
        <p:nvSpPr>
          <p:cNvPr id="92" name="TextBox 91"/>
          <p:cNvSpPr txBox="1"/>
          <p:nvPr/>
        </p:nvSpPr>
        <p:spPr>
          <a:xfrm>
            <a:off x="485775" y="4564717"/>
            <a:ext cx="990781" cy="186689"/>
          </a:xfrm>
          <a:prstGeom prst="rect">
            <a:avLst/>
          </a:prstGeom>
          <a:noFill/>
        </p:spPr>
        <p:txBody>
          <a:bodyPr wrap="none" lIns="0" rIns="0" tIns="0" bIns="0">
            <a:spAutoFit/>
          </a:bodyPr>
          <a:lstStyle/>
          <a:p>
            <a:r>
              <a:rPr sz="1100" b="0">
                <a:solidFill>
                  <a:srgbClr val="2E2E2E"/>
                </a:solidFill>
                <a:latin typeface="Calibri"/>
              </a:rPr>
              <a:t>highest CAGR of</a:t>
            </a:r>
          </a:p>
        </p:txBody>
      </p:sp>
      <p:pic>
        <p:nvPicPr>
          <p:cNvPr id="93" name="Picture 92" descr="lock.png"/>
          <p:cNvPicPr>
            <a:picLocks noChangeAspect="1"/>
          </p:cNvPicPr>
          <p:nvPr/>
        </p:nvPicPr>
        <p:blipFill>
          <a:blip r:embed="rId19"/>
          <a:stretch>
            <a:fillRect/>
          </a:stretch>
        </p:blipFill>
        <p:spPr>
          <a:xfrm>
            <a:off x="1424607" y="4554938"/>
            <a:ext cx="128699" cy="187198"/>
          </a:xfrm>
          <a:prstGeom prst="rect">
            <a:avLst/>
          </a:prstGeom>
        </p:spPr>
      </p:pic>
      <p:sp>
        <p:nvSpPr>
          <p:cNvPr id="94" name="TextBox 93"/>
          <p:cNvSpPr txBox="1"/>
          <p:nvPr/>
        </p:nvSpPr>
        <p:spPr>
          <a:xfrm>
            <a:off x="1592103" y="4564717"/>
            <a:ext cx="1624905" cy="186689"/>
          </a:xfrm>
          <a:prstGeom prst="rect">
            <a:avLst/>
          </a:prstGeom>
          <a:noFill/>
        </p:spPr>
        <p:txBody>
          <a:bodyPr wrap="none" lIns="0" rIns="0" tIns="0" bIns="0">
            <a:spAutoFit/>
          </a:bodyPr>
          <a:lstStyle/>
          <a:p>
            <a:r>
              <a:rPr sz="1100" b="0">
                <a:solidFill>
                  <a:srgbClr val="2E2E2E"/>
                </a:solidFill>
                <a:latin typeface="Calibri"/>
              </a:rPr>
              <a:t>over the forecast period. In</a:t>
            </a:r>
          </a:p>
        </p:txBody>
      </p:sp>
      <p:sp>
        <p:nvSpPr>
          <p:cNvPr id="95" name="TextBox 94"/>
          <p:cNvSpPr txBox="1"/>
          <p:nvPr/>
        </p:nvSpPr>
        <p:spPr>
          <a:xfrm>
            <a:off x="485775" y="4732357"/>
            <a:ext cx="2545506" cy="186689"/>
          </a:xfrm>
          <a:prstGeom prst="rect">
            <a:avLst/>
          </a:prstGeom>
          <a:noFill/>
        </p:spPr>
        <p:txBody>
          <a:bodyPr wrap="none" lIns="0" rIns="0" tIns="0" bIns="0">
            <a:spAutoFit/>
          </a:bodyPr>
          <a:lstStyle/>
          <a:p>
            <a:r>
              <a:rPr sz="1100" b="0">
                <a:solidFill>
                  <a:srgbClr val="2E2E2E"/>
                </a:solidFill>
                <a:latin typeface="Calibri"/>
              </a:rPr>
              <a:t>terms of value share by packaging type, the</a:t>
            </a:r>
          </a:p>
        </p:txBody>
      </p:sp>
      <p:sp>
        <p:nvSpPr>
          <p:cNvPr id="96" name="TextBox 95"/>
          <p:cNvSpPr txBox="1"/>
          <p:nvPr/>
        </p:nvSpPr>
        <p:spPr>
          <a:xfrm>
            <a:off x="485775" y="4899997"/>
            <a:ext cx="2701850" cy="186689"/>
          </a:xfrm>
          <a:prstGeom prst="rect">
            <a:avLst/>
          </a:prstGeom>
          <a:noFill/>
        </p:spPr>
        <p:txBody>
          <a:bodyPr wrap="none" lIns="0" rIns="0" tIns="0" bIns="0">
            <a:spAutoFit/>
          </a:bodyPr>
          <a:lstStyle/>
          <a:p>
            <a:r>
              <a:rPr sz="1100" b="0">
                <a:solidFill>
                  <a:srgbClr val="2E2E2E"/>
                </a:solidFill>
                <a:latin typeface="Calibri"/>
              </a:rPr>
              <a:t>pouches segment is expected to dominate the</a:t>
            </a:r>
          </a:p>
        </p:txBody>
      </p:sp>
      <p:sp>
        <p:nvSpPr>
          <p:cNvPr id="97" name="TextBox 96"/>
          <p:cNvSpPr txBox="1"/>
          <p:nvPr/>
        </p:nvSpPr>
        <p:spPr>
          <a:xfrm>
            <a:off x="485775" y="506763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98" name="Picture 97" descr="lock.png"/>
          <p:cNvPicPr>
            <a:picLocks noChangeAspect="1"/>
          </p:cNvPicPr>
          <p:nvPr/>
        </p:nvPicPr>
        <p:blipFill>
          <a:blip r:embed="rId19"/>
          <a:stretch>
            <a:fillRect/>
          </a:stretch>
        </p:blipFill>
        <p:spPr>
          <a:xfrm>
            <a:off x="1315757" y="5057858"/>
            <a:ext cx="128699" cy="187198"/>
          </a:xfrm>
          <a:prstGeom prst="rect">
            <a:avLst/>
          </a:prstGeom>
        </p:spPr>
      </p:pic>
      <p:sp>
        <p:nvSpPr>
          <p:cNvPr id="99" name="TextBox 98"/>
          <p:cNvSpPr txBox="1"/>
          <p:nvPr/>
        </p:nvSpPr>
        <p:spPr>
          <a:xfrm>
            <a:off x="1483253" y="506763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00" name="Picture 99" descr="lock.png"/>
          <p:cNvPicPr>
            <a:picLocks noChangeAspect="1"/>
          </p:cNvPicPr>
          <p:nvPr/>
        </p:nvPicPr>
        <p:blipFill>
          <a:blip r:embed="rId19"/>
          <a:stretch>
            <a:fillRect/>
          </a:stretch>
        </p:blipFill>
        <p:spPr>
          <a:xfrm>
            <a:off x="2817737" y="5057858"/>
            <a:ext cx="128699" cy="187198"/>
          </a:xfrm>
          <a:prstGeom prst="rect">
            <a:avLst/>
          </a:prstGeom>
        </p:spPr>
      </p:pic>
      <p:sp>
        <p:nvSpPr>
          <p:cNvPr id="101" name="TextBox 100"/>
          <p:cNvSpPr txBox="1"/>
          <p:nvPr/>
        </p:nvSpPr>
        <p:spPr>
          <a:xfrm>
            <a:off x="48577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02" name="TextBox 101"/>
          <p:cNvSpPr txBox="1"/>
          <p:nvPr/>
        </p:nvSpPr>
        <p:spPr>
          <a:xfrm>
            <a:off x="485775" y="5453209"/>
            <a:ext cx="2393801" cy="186689"/>
          </a:xfrm>
          <a:prstGeom prst="rect">
            <a:avLst/>
          </a:prstGeom>
          <a:noFill/>
        </p:spPr>
        <p:txBody>
          <a:bodyPr wrap="none" lIns="0" rIns="0" tIns="0" bIns="0">
            <a:spAutoFit/>
          </a:bodyPr>
          <a:lstStyle/>
          <a:p>
            <a:r>
              <a:rPr sz="1100" b="0">
                <a:solidFill>
                  <a:srgbClr val="2E2E2E"/>
                </a:solidFill>
                <a:latin typeface="Calibri"/>
              </a:rPr>
              <a:t>Pouches segment is projected to register</a:t>
            </a:r>
          </a:p>
        </p:txBody>
      </p:sp>
      <p:pic>
        <p:nvPicPr>
          <p:cNvPr id="103" name="Picture 102" descr="lock.png"/>
          <p:cNvPicPr>
            <a:picLocks noChangeAspect="1"/>
          </p:cNvPicPr>
          <p:nvPr/>
        </p:nvPicPr>
        <p:blipFill>
          <a:blip r:embed="rId19"/>
          <a:stretch>
            <a:fillRect/>
          </a:stretch>
        </p:blipFill>
        <p:spPr>
          <a:xfrm>
            <a:off x="2827627" y="5443430"/>
            <a:ext cx="128699" cy="187198"/>
          </a:xfrm>
          <a:prstGeom prst="rect">
            <a:avLst/>
          </a:prstGeom>
        </p:spPr>
      </p:pic>
      <p:sp>
        <p:nvSpPr>
          <p:cNvPr id="104" name="TextBox 103"/>
          <p:cNvSpPr txBox="1"/>
          <p:nvPr/>
        </p:nvSpPr>
        <p:spPr>
          <a:xfrm>
            <a:off x="2995123" y="545320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05" name="TextBox 104"/>
          <p:cNvSpPr txBox="1"/>
          <p:nvPr/>
        </p:nvSpPr>
        <p:spPr>
          <a:xfrm>
            <a:off x="485775" y="5620849"/>
            <a:ext cx="2506761" cy="186689"/>
          </a:xfrm>
          <a:prstGeom prst="rect">
            <a:avLst/>
          </a:prstGeom>
          <a:noFill/>
        </p:spPr>
        <p:txBody>
          <a:bodyPr wrap="none" lIns="0" rIns="0" tIns="0" bIns="0">
            <a:spAutoFit/>
          </a:bodyPr>
          <a:lstStyle/>
          <a:p>
            <a:r>
              <a:rPr sz="1100" b="0">
                <a:solidFill>
                  <a:srgbClr val="2E2E2E"/>
                </a:solidFill>
                <a:latin typeface="Calibri"/>
              </a:rPr>
              <a:t>higher value than bulk industrial packaging</a:t>
            </a:r>
          </a:p>
        </p:txBody>
      </p:sp>
      <p:sp>
        <p:nvSpPr>
          <p:cNvPr id="106" name="TextBox 105"/>
          <p:cNvSpPr txBox="1"/>
          <p:nvPr/>
        </p:nvSpPr>
        <p:spPr>
          <a:xfrm>
            <a:off x="485775" y="5788489"/>
            <a:ext cx="1055464" cy="186689"/>
          </a:xfrm>
          <a:prstGeom prst="rect">
            <a:avLst/>
          </a:prstGeom>
          <a:noFill/>
        </p:spPr>
        <p:txBody>
          <a:bodyPr wrap="none" lIns="0" rIns="0" tIns="0" bIns="0">
            <a:spAutoFit/>
          </a:bodyPr>
          <a:lstStyle/>
          <a:p>
            <a:r>
              <a:rPr sz="1100" b="0">
                <a:solidFill>
                  <a:srgbClr val="2E2E2E"/>
                </a:solidFill>
                <a:latin typeface="Calibri"/>
              </a:rPr>
              <a:t>segment in 2036.</a:t>
            </a:r>
          </a:p>
        </p:txBody>
      </p:sp>
      <p:sp>
        <p:nvSpPr>
          <p:cNvPr id="107" name="TextBox 106"/>
          <p:cNvSpPr txBox="1"/>
          <p:nvPr/>
        </p:nvSpPr>
        <p:spPr>
          <a:xfrm>
            <a:off x="3838575" y="4229437"/>
            <a:ext cx="705668" cy="186689"/>
          </a:xfrm>
          <a:prstGeom prst="rect">
            <a:avLst/>
          </a:prstGeom>
          <a:noFill/>
        </p:spPr>
        <p:txBody>
          <a:bodyPr wrap="none" lIns="0" rIns="0" tIns="0" bIns="0">
            <a:spAutoFit/>
          </a:bodyPr>
          <a:lstStyle/>
          <a:p>
            <a:r>
              <a:rPr sz="1100" b="0">
                <a:solidFill>
                  <a:srgbClr val="2E2E2E"/>
                </a:solidFill>
                <a:latin typeface="Calibri"/>
              </a:rPr>
              <a:t>● Pouches:</a:t>
            </a:r>
          </a:p>
        </p:txBody>
      </p:sp>
      <p:pic>
        <p:nvPicPr>
          <p:cNvPr id="108" name="Picture 107" descr="lock.png"/>
          <p:cNvPicPr>
            <a:picLocks noChangeAspect="1"/>
          </p:cNvPicPr>
          <p:nvPr/>
        </p:nvPicPr>
        <p:blipFill>
          <a:blip r:embed="rId19"/>
          <a:stretch>
            <a:fillRect/>
          </a:stretch>
        </p:blipFill>
        <p:spPr>
          <a:xfrm>
            <a:off x="4492295" y="4219658"/>
            <a:ext cx="128699" cy="187198"/>
          </a:xfrm>
          <a:prstGeom prst="rect">
            <a:avLst/>
          </a:prstGeom>
        </p:spPr>
      </p:pic>
      <p:sp>
        <p:nvSpPr>
          <p:cNvPr id="109" name="TextBox 108"/>
          <p:cNvSpPr txBox="1"/>
          <p:nvPr/>
        </p:nvSpPr>
        <p:spPr>
          <a:xfrm>
            <a:off x="465979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9"/>
          <a:stretch>
            <a:fillRect/>
          </a:stretch>
        </p:blipFill>
        <p:spPr>
          <a:xfrm>
            <a:off x="5519241" y="4219658"/>
            <a:ext cx="128699" cy="187198"/>
          </a:xfrm>
          <a:prstGeom prst="rect">
            <a:avLst/>
          </a:prstGeom>
        </p:spPr>
      </p:pic>
      <p:sp>
        <p:nvSpPr>
          <p:cNvPr id="111" name="TextBox 110"/>
          <p:cNvSpPr txBox="1"/>
          <p:nvPr/>
        </p:nvSpPr>
        <p:spPr>
          <a:xfrm>
            <a:off x="568673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12" name="TextBox 111"/>
          <p:cNvSpPr txBox="1"/>
          <p:nvPr/>
        </p:nvSpPr>
        <p:spPr>
          <a:xfrm>
            <a:off x="3838575" y="4447369"/>
            <a:ext cx="505395" cy="186689"/>
          </a:xfrm>
          <a:prstGeom prst="rect">
            <a:avLst/>
          </a:prstGeom>
          <a:noFill/>
        </p:spPr>
        <p:txBody>
          <a:bodyPr wrap="none" lIns="0" rIns="0" tIns="0" bIns="0">
            <a:spAutoFit/>
          </a:bodyPr>
          <a:lstStyle/>
          <a:p>
            <a:r>
              <a:rPr sz="1100" b="0">
                <a:solidFill>
                  <a:srgbClr val="2E2E2E"/>
                </a:solidFill>
                <a:latin typeface="Calibri"/>
              </a:rPr>
              <a:t>● Cups:</a:t>
            </a:r>
          </a:p>
        </p:txBody>
      </p:sp>
      <p:pic>
        <p:nvPicPr>
          <p:cNvPr id="113" name="Picture 112" descr="lock.png"/>
          <p:cNvPicPr>
            <a:picLocks noChangeAspect="1"/>
          </p:cNvPicPr>
          <p:nvPr/>
        </p:nvPicPr>
        <p:blipFill>
          <a:blip r:embed="rId19"/>
          <a:stretch>
            <a:fillRect/>
          </a:stretch>
        </p:blipFill>
        <p:spPr>
          <a:xfrm>
            <a:off x="4292022" y="4437590"/>
            <a:ext cx="128699" cy="187198"/>
          </a:xfrm>
          <a:prstGeom prst="rect">
            <a:avLst/>
          </a:prstGeom>
        </p:spPr>
      </p:pic>
      <p:sp>
        <p:nvSpPr>
          <p:cNvPr id="114" name="TextBox 113"/>
          <p:cNvSpPr txBox="1"/>
          <p:nvPr/>
        </p:nvSpPr>
        <p:spPr>
          <a:xfrm>
            <a:off x="4459517"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9"/>
          <a:stretch>
            <a:fillRect/>
          </a:stretch>
        </p:blipFill>
        <p:spPr>
          <a:xfrm>
            <a:off x="5318968" y="4437590"/>
            <a:ext cx="128699" cy="187198"/>
          </a:xfrm>
          <a:prstGeom prst="rect">
            <a:avLst/>
          </a:prstGeom>
        </p:spPr>
      </p:pic>
      <p:sp>
        <p:nvSpPr>
          <p:cNvPr id="116" name="TextBox 115"/>
          <p:cNvSpPr txBox="1"/>
          <p:nvPr/>
        </p:nvSpPr>
        <p:spPr>
          <a:xfrm>
            <a:off x="5486463"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7" name="TextBox 116"/>
          <p:cNvSpPr txBox="1"/>
          <p:nvPr/>
        </p:nvSpPr>
        <p:spPr>
          <a:xfrm>
            <a:off x="3838575" y="4665301"/>
            <a:ext cx="1641003" cy="186689"/>
          </a:xfrm>
          <a:prstGeom prst="rect">
            <a:avLst/>
          </a:prstGeom>
          <a:noFill/>
        </p:spPr>
        <p:txBody>
          <a:bodyPr wrap="none" lIns="0" rIns="0" tIns="0" bIns="0">
            <a:spAutoFit/>
          </a:bodyPr>
          <a:lstStyle/>
          <a:p>
            <a:r>
              <a:rPr sz="1100" b="0">
                <a:solidFill>
                  <a:srgbClr val="2E2E2E"/>
                </a:solidFill>
                <a:latin typeface="Calibri"/>
              </a:rPr>
              <a:t>● Bulk Industrial Packaging:</a:t>
            </a:r>
          </a:p>
        </p:txBody>
      </p:sp>
      <p:pic>
        <p:nvPicPr>
          <p:cNvPr id="118" name="Picture 117" descr="lock.png"/>
          <p:cNvPicPr>
            <a:picLocks noChangeAspect="1"/>
          </p:cNvPicPr>
          <p:nvPr/>
        </p:nvPicPr>
        <p:blipFill>
          <a:blip r:embed="rId19"/>
          <a:stretch>
            <a:fillRect/>
          </a:stretch>
        </p:blipFill>
        <p:spPr>
          <a:xfrm>
            <a:off x="5427630" y="4655522"/>
            <a:ext cx="128699" cy="187198"/>
          </a:xfrm>
          <a:prstGeom prst="rect">
            <a:avLst/>
          </a:prstGeom>
        </p:spPr>
      </p:pic>
      <p:sp>
        <p:nvSpPr>
          <p:cNvPr id="119" name="TextBox 118"/>
          <p:cNvSpPr txBox="1"/>
          <p:nvPr/>
        </p:nvSpPr>
        <p:spPr>
          <a:xfrm>
            <a:off x="5595126"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0" name="Picture 119" descr="lock.png"/>
          <p:cNvPicPr>
            <a:picLocks noChangeAspect="1"/>
          </p:cNvPicPr>
          <p:nvPr/>
        </p:nvPicPr>
        <p:blipFill>
          <a:blip r:embed="rId19"/>
          <a:stretch>
            <a:fillRect/>
          </a:stretch>
        </p:blipFill>
        <p:spPr>
          <a:xfrm>
            <a:off x="6454576" y="4655522"/>
            <a:ext cx="128699" cy="187198"/>
          </a:xfrm>
          <a:prstGeom prst="rect">
            <a:avLst/>
          </a:prstGeom>
        </p:spPr>
      </p:pic>
      <p:sp>
        <p:nvSpPr>
          <p:cNvPr id="121" name="TextBox 120"/>
          <p:cNvSpPr txBox="1"/>
          <p:nvPr/>
        </p:nvSpPr>
        <p:spPr>
          <a:xfrm>
            <a:off x="6622072" y="466530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22" name="TextBox 121"/>
          <p:cNvSpPr txBox="1"/>
          <p:nvPr/>
        </p:nvSpPr>
        <p:spPr>
          <a:xfrm>
            <a:off x="3838575" y="483294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23" name="TextBox 122"/>
          <p:cNvSpPr txBox="1"/>
          <p:nvPr/>
        </p:nvSpPr>
        <p:spPr>
          <a:xfrm>
            <a:off x="3838575" y="5050872"/>
            <a:ext cx="629542" cy="186689"/>
          </a:xfrm>
          <a:prstGeom prst="rect">
            <a:avLst/>
          </a:prstGeom>
          <a:noFill/>
        </p:spPr>
        <p:txBody>
          <a:bodyPr wrap="none" lIns="0" rIns="0" tIns="0" bIns="0">
            <a:spAutoFit/>
          </a:bodyPr>
          <a:lstStyle/>
          <a:p>
            <a:r>
              <a:rPr sz="1100" b="0">
                <a:solidFill>
                  <a:srgbClr val="2E2E2E"/>
                </a:solidFill>
                <a:latin typeface="Calibri"/>
              </a:rPr>
              <a:t>● Bottles:</a:t>
            </a:r>
          </a:p>
        </p:txBody>
      </p:sp>
      <p:pic>
        <p:nvPicPr>
          <p:cNvPr id="124" name="Picture 123" descr="lock.png"/>
          <p:cNvPicPr>
            <a:picLocks noChangeAspect="1"/>
          </p:cNvPicPr>
          <p:nvPr/>
        </p:nvPicPr>
        <p:blipFill>
          <a:blip r:embed="rId19"/>
          <a:stretch>
            <a:fillRect/>
          </a:stretch>
        </p:blipFill>
        <p:spPr>
          <a:xfrm>
            <a:off x="4416169" y="5041093"/>
            <a:ext cx="128699" cy="187198"/>
          </a:xfrm>
          <a:prstGeom prst="rect">
            <a:avLst/>
          </a:prstGeom>
        </p:spPr>
      </p:pic>
      <p:sp>
        <p:nvSpPr>
          <p:cNvPr id="125" name="TextBox 124"/>
          <p:cNvSpPr txBox="1"/>
          <p:nvPr/>
        </p:nvSpPr>
        <p:spPr>
          <a:xfrm>
            <a:off x="4583665"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6" name="Picture 125" descr="lock.png"/>
          <p:cNvPicPr>
            <a:picLocks noChangeAspect="1"/>
          </p:cNvPicPr>
          <p:nvPr/>
        </p:nvPicPr>
        <p:blipFill>
          <a:blip r:embed="rId19"/>
          <a:stretch>
            <a:fillRect/>
          </a:stretch>
        </p:blipFill>
        <p:spPr>
          <a:xfrm>
            <a:off x="5443115" y="5041093"/>
            <a:ext cx="128699" cy="187198"/>
          </a:xfrm>
          <a:prstGeom prst="rect">
            <a:avLst/>
          </a:prstGeom>
        </p:spPr>
      </p:pic>
      <p:sp>
        <p:nvSpPr>
          <p:cNvPr id="127" name="TextBox 126"/>
          <p:cNvSpPr txBox="1"/>
          <p:nvPr/>
        </p:nvSpPr>
        <p:spPr>
          <a:xfrm>
            <a:off x="5610611" y="5050872"/>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8" name="TextBox 127"/>
          <p:cNvSpPr txBox="1"/>
          <p:nvPr/>
        </p:nvSpPr>
        <p:spPr>
          <a:xfrm>
            <a:off x="3838575" y="5268804"/>
            <a:ext cx="1555328" cy="186689"/>
          </a:xfrm>
          <a:prstGeom prst="rect">
            <a:avLst/>
          </a:prstGeom>
          <a:noFill/>
        </p:spPr>
        <p:txBody>
          <a:bodyPr wrap="none" lIns="0" rIns="0" tIns="0" bIns="0">
            <a:spAutoFit/>
          </a:bodyPr>
          <a:lstStyle/>
          <a:p>
            <a:r>
              <a:rPr sz="1100" b="0">
                <a:solidFill>
                  <a:srgbClr val="2E2E2E"/>
                </a:solidFill>
                <a:latin typeface="Calibri"/>
              </a:rPr>
              <a:t>● Sachets and Stick Packs:</a:t>
            </a:r>
          </a:p>
        </p:txBody>
      </p:sp>
      <p:pic>
        <p:nvPicPr>
          <p:cNvPr id="129" name="Picture 128" descr="lock.png"/>
          <p:cNvPicPr>
            <a:picLocks noChangeAspect="1"/>
          </p:cNvPicPr>
          <p:nvPr/>
        </p:nvPicPr>
        <p:blipFill>
          <a:blip r:embed="rId19"/>
          <a:stretch>
            <a:fillRect/>
          </a:stretch>
        </p:blipFill>
        <p:spPr>
          <a:xfrm>
            <a:off x="5341954" y="5259025"/>
            <a:ext cx="128699" cy="187198"/>
          </a:xfrm>
          <a:prstGeom prst="rect">
            <a:avLst/>
          </a:prstGeom>
        </p:spPr>
      </p:pic>
      <p:sp>
        <p:nvSpPr>
          <p:cNvPr id="130" name="TextBox 129"/>
          <p:cNvSpPr txBox="1"/>
          <p:nvPr/>
        </p:nvSpPr>
        <p:spPr>
          <a:xfrm>
            <a:off x="5509450" y="5268804"/>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1" name="Picture 130" descr="lock.png"/>
          <p:cNvPicPr>
            <a:picLocks noChangeAspect="1"/>
          </p:cNvPicPr>
          <p:nvPr/>
        </p:nvPicPr>
        <p:blipFill>
          <a:blip r:embed="rId19"/>
          <a:stretch>
            <a:fillRect/>
          </a:stretch>
        </p:blipFill>
        <p:spPr>
          <a:xfrm>
            <a:off x="6368900" y="5259025"/>
            <a:ext cx="128699" cy="187198"/>
          </a:xfrm>
          <a:prstGeom prst="rect">
            <a:avLst/>
          </a:prstGeom>
        </p:spPr>
      </p:pic>
      <p:sp>
        <p:nvSpPr>
          <p:cNvPr id="132" name="TextBox 131"/>
          <p:cNvSpPr txBox="1"/>
          <p:nvPr/>
        </p:nvSpPr>
        <p:spPr>
          <a:xfrm>
            <a:off x="6536396" y="5268804"/>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3" name="TextBox 13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Packaging Type segment is projected to grow at</a:t>
            </a:r>
          </a:p>
        </p:txBody>
      </p:sp>
      <p:sp>
        <p:nvSpPr>
          <p:cNvPr id="134" name="TextBox 133"/>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35" name="Picture 134" descr="lock.png"/>
          <p:cNvPicPr>
            <a:picLocks noChangeAspect="1"/>
          </p:cNvPicPr>
          <p:nvPr/>
        </p:nvPicPr>
        <p:blipFill>
          <a:blip r:embed="rId19"/>
          <a:stretch>
            <a:fillRect/>
          </a:stretch>
        </p:blipFill>
        <p:spPr>
          <a:xfrm>
            <a:off x="9154084" y="6007677"/>
            <a:ext cx="134549" cy="195707"/>
          </a:xfrm>
          <a:prstGeom prst="rect">
            <a:avLst/>
          </a:prstGeom>
        </p:spPr>
      </p:pic>
      <p:sp>
        <p:nvSpPr>
          <p:cNvPr id="136" name="TextBox 135"/>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7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Type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9 sub-segments of Packaging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Type segment categorizes the market by packaging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Jars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25" name="Oval 24"/>
          <p:cNvSpPr/>
          <p:nvPr/>
        </p:nvSpPr>
        <p:spPr>
          <a:xfrm>
            <a:off x="2912269"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26" name="Rounded Rectangle 25"/>
          <p:cNvSpPr/>
          <p:nvPr/>
        </p:nvSpPr>
        <p:spPr>
          <a:xfrm>
            <a:off x="4395788"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Boxes and Cartons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2" name="Oval 31"/>
          <p:cNvSpPr/>
          <p:nvPr/>
        </p:nvSpPr>
        <p:spPr>
          <a:xfrm>
            <a:off x="544115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33" name="Rounded Rectangle 32"/>
          <p:cNvSpPr/>
          <p:nvPr/>
        </p:nvSpPr>
        <p:spPr>
          <a:xfrm>
            <a:off x="6924675"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Tins and Cans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39" name="Oval 38"/>
          <p:cNvSpPr/>
          <p:nvPr/>
        </p:nvSpPr>
        <p:spPr>
          <a:xfrm>
            <a:off x="797004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0" name="Rounded Rectangle 39"/>
          <p:cNvSpPr/>
          <p:nvPr/>
        </p:nvSpPr>
        <p:spPr>
          <a:xfrm>
            <a:off x="9453562"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Packaging Types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46" name="Oval 45"/>
          <p:cNvSpPr/>
          <p:nvPr/>
        </p:nvSpPr>
        <p:spPr>
          <a:xfrm>
            <a:off x="10498931"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326_2_605E5C.png"/>
          <p:cNvPicPr>
            <a:picLocks noChangeAspect="1"/>
          </p:cNvPicPr>
          <p:nvPr/>
        </p:nvPicPr>
        <p:blipFill>
          <a:blip r:embed="rId4"/>
          <a:stretch>
            <a:fillRect/>
          </a:stretch>
        </p:blipFill>
        <p:spPr>
          <a:xfrm>
            <a:off x="2476330" y="2286582"/>
            <a:ext cx="1195728" cy="361950"/>
          </a:xfrm>
          <a:prstGeom prst="rect">
            <a:avLst/>
          </a:prstGeom>
        </p:spPr>
      </p:pic>
      <p:pic>
        <p:nvPicPr>
          <p:cNvPr id="54" name="Picture 53" descr="561_5_605E5C.png"/>
          <p:cNvPicPr>
            <a:picLocks noChangeAspect="1"/>
          </p:cNvPicPr>
          <p:nvPr/>
        </p:nvPicPr>
        <p:blipFill>
          <a:blip r:embed="rId5"/>
          <a:stretch>
            <a:fillRect/>
          </a:stretch>
        </p:blipFill>
        <p:spPr>
          <a:xfrm>
            <a:off x="2476330" y="2779432"/>
            <a:ext cx="1195728" cy="361950"/>
          </a:xfrm>
          <a:prstGeom prst="rect">
            <a:avLst/>
          </a:prstGeom>
        </p:spPr>
      </p:pic>
      <p:pic>
        <p:nvPicPr>
          <p:cNvPr id="55" name="Picture 54" descr="5_6__605E5C.png"/>
          <p:cNvPicPr>
            <a:picLocks noChangeAspect="1"/>
          </p:cNvPicPr>
          <p:nvPr/>
        </p:nvPicPr>
        <p:blipFill>
          <a:blip r:embed="rId6"/>
          <a:stretch>
            <a:fillRect/>
          </a:stretch>
        </p:blipFill>
        <p:spPr>
          <a:xfrm>
            <a:off x="2582976" y="3272281"/>
            <a:ext cx="982436" cy="361950"/>
          </a:xfrm>
          <a:prstGeom prst="rect">
            <a:avLst/>
          </a:prstGeom>
        </p:spPr>
      </p:pic>
      <p:pic>
        <p:nvPicPr>
          <p:cNvPr id="56" name="Picture 55" descr="309_6_605E5C.png"/>
          <p:cNvPicPr>
            <a:picLocks noChangeAspect="1"/>
          </p:cNvPicPr>
          <p:nvPr/>
        </p:nvPicPr>
        <p:blipFill>
          <a:blip r:embed="rId7"/>
          <a:stretch>
            <a:fillRect/>
          </a:stretch>
        </p:blipFill>
        <p:spPr>
          <a:xfrm>
            <a:off x="5005218" y="2286582"/>
            <a:ext cx="1195728" cy="361950"/>
          </a:xfrm>
          <a:prstGeom prst="rect">
            <a:avLst/>
          </a:prstGeom>
        </p:spPr>
      </p:pic>
      <p:pic>
        <p:nvPicPr>
          <p:cNvPr id="57" name="Picture 56" descr="535_2_605E5C.png"/>
          <p:cNvPicPr>
            <a:picLocks noChangeAspect="1"/>
          </p:cNvPicPr>
          <p:nvPr/>
        </p:nvPicPr>
        <p:blipFill>
          <a:blip r:embed="rId8"/>
          <a:stretch>
            <a:fillRect/>
          </a:stretch>
        </p:blipFill>
        <p:spPr>
          <a:xfrm>
            <a:off x="5005218" y="2779432"/>
            <a:ext cx="1195728" cy="361950"/>
          </a:xfrm>
          <a:prstGeom prst="rect">
            <a:avLst/>
          </a:prstGeom>
        </p:spPr>
      </p:pic>
      <p:pic>
        <p:nvPicPr>
          <p:cNvPr id="58" name="Picture 57" descr="5_6__605E5C.png"/>
          <p:cNvPicPr>
            <a:picLocks noChangeAspect="1"/>
          </p:cNvPicPr>
          <p:nvPr/>
        </p:nvPicPr>
        <p:blipFill>
          <a:blip r:embed="rId6"/>
          <a:stretch>
            <a:fillRect/>
          </a:stretch>
        </p:blipFill>
        <p:spPr>
          <a:xfrm>
            <a:off x="5111864" y="3272281"/>
            <a:ext cx="982436" cy="361950"/>
          </a:xfrm>
          <a:prstGeom prst="rect">
            <a:avLst/>
          </a:prstGeom>
        </p:spPr>
      </p:pic>
      <p:pic>
        <p:nvPicPr>
          <p:cNvPr id="59" name="Picture 58" descr="129_1_605E5C.png"/>
          <p:cNvPicPr>
            <a:picLocks noChangeAspect="1"/>
          </p:cNvPicPr>
          <p:nvPr/>
        </p:nvPicPr>
        <p:blipFill>
          <a:blip r:embed="rId9"/>
          <a:stretch>
            <a:fillRect/>
          </a:stretch>
        </p:blipFill>
        <p:spPr>
          <a:xfrm>
            <a:off x="7534105" y="2286582"/>
            <a:ext cx="1195728" cy="361950"/>
          </a:xfrm>
          <a:prstGeom prst="rect">
            <a:avLst/>
          </a:prstGeom>
        </p:spPr>
      </p:pic>
      <p:pic>
        <p:nvPicPr>
          <p:cNvPr id="60" name="Picture 59" descr="201_0_605E5C.png"/>
          <p:cNvPicPr>
            <a:picLocks noChangeAspect="1"/>
          </p:cNvPicPr>
          <p:nvPr/>
        </p:nvPicPr>
        <p:blipFill>
          <a:blip r:embed="rId10"/>
          <a:stretch>
            <a:fillRect/>
          </a:stretch>
        </p:blipFill>
        <p:spPr>
          <a:xfrm>
            <a:off x="7534105" y="2779432"/>
            <a:ext cx="1195728" cy="361950"/>
          </a:xfrm>
          <a:prstGeom prst="rect">
            <a:avLst/>
          </a:prstGeom>
        </p:spPr>
      </p:pic>
      <p:pic>
        <p:nvPicPr>
          <p:cNvPr id="61" name="Picture 60" descr="4_5__605E5C.png"/>
          <p:cNvPicPr>
            <a:picLocks noChangeAspect="1"/>
          </p:cNvPicPr>
          <p:nvPr/>
        </p:nvPicPr>
        <p:blipFill>
          <a:blip r:embed="rId11"/>
          <a:stretch>
            <a:fillRect/>
          </a:stretch>
        </p:blipFill>
        <p:spPr>
          <a:xfrm>
            <a:off x="7640751" y="3272281"/>
            <a:ext cx="982436" cy="361950"/>
          </a:xfrm>
          <a:prstGeom prst="rect">
            <a:avLst/>
          </a:prstGeom>
        </p:spPr>
      </p:pic>
      <p:pic>
        <p:nvPicPr>
          <p:cNvPr id="62" name="Picture 61" descr="89_8_605E5C.png"/>
          <p:cNvPicPr>
            <a:picLocks noChangeAspect="1"/>
          </p:cNvPicPr>
          <p:nvPr/>
        </p:nvPicPr>
        <p:blipFill>
          <a:blip r:embed="rId12"/>
          <a:stretch>
            <a:fillRect/>
          </a:stretch>
        </p:blipFill>
        <p:spPr>
          <a:xfrm>
            <a:off x="10169638" y="2286582"/>
            <a:ext cx="982436" cy="361950"/>
          </a:xfrm>
          <a:prstGeom prst="rect">
            <a:avLst/>
          </a:prstGeom>
        </p:spPr>
      </p:pic>
      <p:pic>
        <p:nvPicPr>
          <p:cNvPr id="63" name="Picture 62" descr="205_4_605E5C.png"/>
          <p:cNvPicPr>
            <a:picLocks noChangeAspect="1"/>
          </p:cNvPicPr>
          <p:nvPr/>
        </p:nvPicPr>
        <p:blipFill>
          <a:blip r:embed="rId13"/>
          <a:stretch>
            <a:fillRect/>
          </a:stretch>
        </p:blipFill>
        <p:spPr>
          <a:xfrm>
            <a:off x="10062992" y="2779432"/>
            <a:ext cx="1195728" cy="361950"/>
          </a:xfrm>
          <a:prstGeom prst="rect">
            <a:avLst/>
          </a:prstGeom>
        </p:spPr>
      </p:pic>
      <p:pic>
        <p:nvPicPr>
          <p:cNvPr id="64" name="Picture 63" descr="8_6__605E5C.png"/>
          <p:cNvPicPr>
            <a:picLocks noChangeAspect="1"/>
          </p:cNvPicPr>
          <p:nvPr/>
        </p:nvPicPr>
        <p:blipFill>
          <a:blip r:embed="rId14"/>
          <a:stretch>
            <a:fillRect/>
          </a:stretch>
        </p:blipFill>
        <p:spPr>
          <a:xfrm>
            <a:off x="10169638" y="3272281"/>
            <a:ext cx="982436" cy="361950"/>
          </a:xfrm>
          <a:prstGeom prst="rect">
            <a:avLst/>
          </a:prstGeom>
        </p:spPr>
      </p:pic>
      <p:pic>
        <p:nvPicPr>
          <p:cNvPr id="65" name="Picture 64" descr="lock.png"/>
          <p:cNvPicPr>
            <a:picLocks noChangeAspect="1"/>
          </p:cNvPicPr>
          <p:nvPr/>
        </p:nvPicPr>
        <p:blipFill>
          <a:blip r:embed="rId15"/>
          <a:stretch>
            <a:fillRect/>
          </a:stretch>
        </p:blipFill>
        <p:spPr>
          <a:xfrm>
            <a:off x="2980848" y="2827057"/>
            <a:ext cx="183356" cy="266700"/>
          </a:xfrm>
          <a:prstGeom prst="rect">
            <a:avLst/>
          </a:prstGeom>
        </p:spPr>
      </p:pic>
      <p:pic>
        <p:nvPicPr>
          <p:cNvPr id="66" name="Picture 65" descr="lock.png"/>
          <p:cNvPicPr>
            <a:picLocks noChangeAspect="1"/>
          </p:cNvPicPr>
          <p:nvPr/>
        </p:nvPicPr>
        <p:blipFill>
          <a:blip r:embed="rId15"/>
          <a:stretch>
            <a:fillRect/>
          </a:stretch>
        </p:blipFill>
        <p:spPr>
          <a:xfrm>
            <a:off x="5509737" y="2827057"/>
            <a:ext cx="183356" cy="266700"/>
          </a:xfrm>
          <a:prstGeom prst="rect">
            <a:avLst/>
          </a:prstGeom>
        </p:spPr>
      </p:pic>
      <p:pic>
        <p:nvPicPr>
          <p:cNvPr id="67" name="Picture 66" descr="lock.png"/>
          <p:cNvPicPr>
            <a:picLocks noChangeAspect="1"/>
          </p:cNvPicPr>
          <p:nvPr/>
        </p:nvPicPr>
        <p:blipFill>
          <a:blip r:embed="rId15"/>
          <a:stretch>
            <a:fillRect/>
          </a:stretch>
        </p:blipFill>
        <p:spPr>
          <a:xfrm>
            <a:off x="8038624" y="2827057"/>
            <a:ext cx="183356" cy="266700"/>
          </a:xfrm>
          <a:prstGeom prst="rect">
            <a:avLst/>
          </a:prstGeom>
        </p:spPr>
      </p:pic>
      <p:pic>
        <p:nvPicPr>
          <p:cNvPr id="68" name="Picture 67" descr="lock.png"/>
          <p:cNvPicPr>
            <a:picLocks noChangeAspect="1"/>
          </p:cNvPicPr>
          <p:nvPr/>
        </p:nvPicPr>
        <p:blipFill>
          <a:blip r:embed="rId15"/>
          <a:stretch>
            <a:fillRect/>
          </a:stretch>
        </p:blipFill>
        <p:spPr>
          <a:xfrm>
            <a:off x="10567511" y="2827057"/>
            <a:ext cx="183356" cy="266700"/>
          </a:xfrm>
          <a:prstGeom prst="rect">
            <a:avLst/>
          </a:prstGeom>
        </p:spPr>
      </p:pic>
      <p:sp>
        <p:nvSpPr>
          <p:cNvPr id="69" name="TextBox 68"/>
          <p:cNvSpPr txBox="1"/>
          <p:nvPr/>
        </p:nvSpPr>
        <p:spPr>
          <a:xfrm>
            <a:off x="485775" y="4229437"/>
            <a:ext cx="444276" cy="186689"/>
          </a:xfrm>
          <a:prstGeom prst="rect">
            <a:avLst/>
          </a:prstGeom>
          <a:noFill/>
        </p:spPr>
        <p:txBody>
          <a:bodyPr wrap="none" lIns="0" rIns="0" tIns="0" bIns="0">
            <a:spAutoFit/>
          </a:bodyPr>
          <a:lstStyle/>
          <a:p>
            <a:r>
              <a:rPr sz="1100" b="0">
                <a:solidFill>
                  <a:srgbClr val="2E2E2E"/>
                </a:solidFill>
                <a:latin typeface="Calibri"/>
              </a:rPr>
              <a:t>● Jars:</a:t>
            </a:r>
          </a:p>
        </p:txBody>
      </p:sp>
      <p:pic>
        <p:nvPicPr>
          <p:cNvPr id="70" name="Picture 69" descr="lock.png"/>
          <p:cNvPicPr>
            <a:picLocks noChangeAspect="1"/>
          </p:cNvPicPr>
          <p:nvPr/>
        </p:nvPicPr>
        <p:blipFill>
          <a:blip r:embed="rId15"/>
          <a:stretch>
            <a:fillRect/>
          </a:stretch>
        </p:blipFill>
        <p:spPr>
          <a:xfrm>
            <a:off x="878103" y="4219658"/>
            <a:ext cx="128699" cy="187198"/>
          </a:xfrm>
          <a:prstGeom prst="rect">
            <a:avLst/>
          </a:prstGeom>
        </p:spPr>
      </p:pic>
      <p:sp>
        <p:nvSpPr>
          <p:cNvPr id="71" name="TextBox 70"/>
          <p:cNvSpPr txBox="1"/>
          <p:nvPr/>
        </p:nvSpPr>
        <p:spPr>
          <a:xfrm>
            <a:off x="10455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2" name="Picture 71" descr="lock.png"/>
          <p:cNvPicPr>
            <a:picLocks noChangeAspect="1"/>
          </p:cNvPicPr>
          <p:nvPr/>
        </p:nvPicPr>
        <p:blipFill>
          <a:blip r:embed="rId15"/>
          <a:stretch>
            <a:fillRect/>
          </a:stretch>
        </p:blipFill>
        <p:spPr>
          <a:xfrm>
            <a:off x="1905049" y="4219658"/>
            <a:ext cx="128699" cy="187198"/>
          </a:xfrm>
          <a:prstGeom prst="rect">
            <a:avLst/>
          </a:prstGeom>
        </p:spPr>
      </p:pic>
      <p:sp>
        <p:nvSpPr>
          <p:cNvPr id="73" name="TextBox 72"/>
          <p:cNvSpPr txBox="1"/>
          <p:nvPr/>
        </p:nvSpPr>
        <p:spPr>
          <a:xfrm>
            <a:off x="2072545"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4" name="TextBox 73"/>
          <p:cNvSpPr txBox="1"/>
          <p:nvPr/>
        </p:nvSpPr>
        <p:spPr>
          <a:xfrm>
            <a:off x="485775" y="4447369"/>
            <a:ext cx="1279748" cy="186689"/>
          </a:xfrm>
          <a:prstGeom prst="rect">
            <a:avLst/>
          </a:prstGeom>
          <a:noFill/>
        </p:spPr>
        <p:txBody>
          <a:bodyPr wrap="none" lIns="0" rIns="0" tIns="0" bIns="0">
            <a:spAutoFit/>
          </a:bodyPr>
          <a:lstStyle/>
          <a:p>
            <a:r>
              <a:rPr sz="1100" b="0">
                <a:solidFill>
                  <a:srgbClr val="2E2E2E"/>
                </a:solidFill>
                <a:latin typeface="Calibri"/>
              </a:rPr>
              <a:t>● Boxes and Cartons:</a:t>
            </a:r>
          </a:p>
        </p:txBody>
      </p:sp>
      <p:pic>
        <p:nvPicPr>
          <p:cNvPr id="75" name="Picture 74" descr="lock.png"/>
          <p:cNvPicPr>
            <a:picLocks noChangeAspect="1"/>
          </p:cNvPicPr>
          <p:nvPr/>
        </p:nvPicPr>
        <p:blipFill>
          <a:blip r:embed="rId15"/>
          <a:stretch>
            <a:fillRect/>
          </a:stretch>
        </p:blipFill>
        <p:spPr>
          <a:xfrm>
            <a:off x="1713574" y="4437590"/>
            <a:ext cx="128699" cy="187198"/>
          </a:xfrm>
          <a:prstGeom prst="rect">
            <a:avLst/>
          </a:prstGeom>
        </p:spPr>
      </p:pic>
      <p:sp>
        <p:nvSpPr>
          <p:cNvPr id="76" name="TextBox 75"/>
          <p:cNvSpPr txBox="1"/>
          <p:nvPr/>
        </p:nvSpPr>
        <p:spPr>
          <a:xfrm>
            <a:off x="188107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5"/>
          <a:stretch>
            <a:fillRect/>
          </a:stretch>
        </p:blipFill>
        <p:spPr>
          <a:xfrm>
            <a:off x="2740520" y="4437590"/>
            <a:ext cx="128699" cy="187198"/>
          </a:xfrm>
          <a:prstGeom prst="rect">
            <a:avLst/>
          </a:prstGeom>
        </p:spPr>
      </p:pic>
      <p:sp>
        <p:nvSpPr>
          <p:cNvPr id="78" name="TextBox 77"/>
          <p:cNvSpPr txBox="1"/>
          <p:nvPr/>
        </p:nvSpPr>
        <p:spPr>
          <a:xfrm>
            <a:off x="290801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9" name="TextBox 78"/>
          <p:cNvSpPr txBox="1"/>
          <p:nvPr/>
        </p:nvSpPr>
        <p:spPr>
          <a:xfrm>
            <a:off x="485775" y="4665301"/>
            <a:ext cx="1004168" cy="186689"/>
          </a:xfrm>
          <a:prstGeom prst="rect">
            <a:avLst/>
          </a:prstGeom>
          <a:noFill/>
        </p:spPr>
        <p:txBody>
          <a:bodyPr wrap="none" lIns="0" rIns="0" tIns="0" bIns="0">
            <a:spAutoFit/>
          </a:bodyPr>
          <a:lstStyle/>
          <a:p>
            <a:r>
              <a:rPr sz="1100" b="0">
                <a:solidFill>
                  <a:srgbClr val="2E2E2E"/>
                </a:solidFill>
                <a:latin typeface="Calibri"/>
              </a:rPr>
              <a:t>● Tins and Cans:</a:t>
            </a:r>
          </a:p>
        </p:txBody>
      </p:sp>
      <p:pic>
        <p:nvPicPr>
          <p:cNvPr id="80" name="Picture 79" descr="lock.png"/>
          <p:cNvPicPr>
            <a:picLocks noChangeAspect="1"/>
          </p:cNvPicPr>
          <p:nvPr/>
        </p:nvPicPr>
        <p:blipFill>
          <a:blip r:embed="rId15"/>
          <a:stretch>
            <a:fillRect/>
          </a:stretch>
        </p:blipFill>
        <p:spPr>
          <a:xfrm>
            <a:off x="1437994" y="4655522"/>
            <a:ext cx="128699" cy="187198"/>
          </a:xfrm>
          <a:prstGeom prst="rect">
            <a:avLst/>
          </a:prstGeom>
        </p:spPr>
      </p:pic>
      <p:sp>
        <p:nvSpPr>
          <p:cNvPr id="81" name="TextBox 80"/>
          <p:cNvSpPr txBox="1"/>
          <p:nvPr/>
        </p:nvSpPr>
        <p:spPr>
          <a:xfrm>
            <a:off x="1605490"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5"/>
          <a:stretch>
            <a:fillRect/>
          </a:stretch>
        </p:blipFill>
        <p:spPr>
          <a:xfrm>
            <a:off x="2464940" y="4655522"/>
            <a:ext cx="128699" cy="187198"/>
          </a:xfrm>
          <a:prstGeom prst="rect">
            <a:avLst/>
          </a:prstGeom>
        </p:spPr>
      </p:pic>
      <p:sp>
        <p:nvSpPr>
          <p:cNvPr id="83" name="TextBox 82"/>
          <p:cNvSpPr txBox="1"/>
          <p:nvPr/>
        </p:nvSpPr>
        <p:spPr>
          <a:xfrm>
            <a:off x="2632436"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4" name="TextBox 83"/>
          <p:cNvSpPr txBox="1"/>
          <p:nvPr/>
        </p:nvSpPr>
        <p:spPr>
          <a:xfrm>
            <a:off x="485775" y="4883233"/>
            <a:ext cx="1519039" cy="186689"/>
          </a:xfrm>
          <a:prstGeom prst="rect">
            <a:avLst/>
          </a:prstGeom>
          <a:noFill/>
        </p:spPr>
        <p:txBody>
          <a:bodyPr wrap="none" lIns="0" rIns="0" tIns="0" bIns="0">
            <a:spAutoFit/>
          </a:bodyPr>
          <a:lstStyle/>
          <a:p>
            <a:r>
              <a:rPr sz="1100" b="0">
                <a:solidFill>
                  <a:srgbClr val="2E2E2E"/>
                </a:solidFill>
                <a:latin typeface="Calibri"/>
              </a:rPr>
              <a:t>● Other Packaging Types:</a:t>
            </a:r>
          </a:p>
        </p:txBody>
      </p:sp>
      <p:pic>
        <p:nvPicPr>
          <p:cNvPr id="85" name="Picture 84" descr="lock.png"/>
          <p:cNvPicPr>
            <a:picLocks noChangeAspect="1"/>
          </p:cNvPicPr>
          <p:nvPr/>
        </p:nvPicPr>
        <p:blipFill>
          <a:blip r:embed="rId15"/>
          <a:stretch>
            <a:fillRect/>
          </a:stretch>
        </p:blipFill>
        <p:spPr>
          <a:xfrm>
            <a:off x="1952865" y="4873454"/>
            <a:ext cx="128699" cy="187198"/>
          </a:xfrm>
          <a:prstGeom prst="rect">
            <a:avLst/>
          </a:prstGeom>
        </p:spPr>
      </p:pic>
      <p:sp>
        <p:nvSpPr>
          <p:cNvPr id="86" name="TextBox 85"/>
          <p:cNvSpPr txBox="1"/>
          <p:nvPr/>
        </p:nvSpPr>
        <p:spPr>
          <a:xfrm>
            <a:off x="2120361"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5"/>
          <a:stretch>
            <a:fillRect/>
          </a:stretch>
        </p:blipFill>
        <p:spPr>
          <a:xfrm>
            <a:off x="2979811" y="4873454"/>
            <a:ext cx="128699" cy="187198"/>
          </a:xfrm>
          <a:prstGeom prst="rect">
            <a:avLst/>
          </a:prstGeom>
        </p:spPr>
      </p:pic>
      <p:sp>
        <p:nvSpPr>
          <p:cNvPr id="88" name="TextBox 87"/>
          <p:cNvSpPr txBox="1"/>
          <p:nvPr/>
        </p:nvSpPr>
        <p:spPr>
          <a:xfrm>
            <a:off x="3147307"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Packaging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Packaging Type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Type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Packaging Type · Bubble size represents 2036 value</a:t>
            </a:r>
          </a:p>
        </p:txBody>
      </p:sp>
      <p:graphicFrame>
        <p:nvGraphicFramePr>
          <p:cNvPr id="15" name="Chart 14"/>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677650" cy="186689"/>
          </a:xfrm>
          <a:prstGeom prst="rect">
            <a:avLst/>
          </a:prstGeom>
          <a:noFill/>
        </p:spPr>
        <p:txBody>
          <a:bodyPr wrap="none" lIns="0" rIns="0" tIns="0" bIns="0">
            <a:spAutoFit/>
          </a:bodyPr>
          <a:lstStyle/>
          <a:p>
            <a:r>
              <a:rPr sz="1100" b="0">
                <a:solidFill>
                  <a:srgbClr val="2E2E2E"/>
                </a:solidFill>
                <a:latin typeface="Calibri"/>
              </a:rPr>
              <a:t>Pouches followed by bulk industrial packaging are expected to be the two most attractive packaging type segments in the global matcha market in terms of value over the forecast period. Pouches and bulk</a:t>
            </a:r>
          </a:p>
        </p:txBody>
      </p:sp>
      <p:sp>
        <p:nvSpPr>
          <p:cNvPr id="20" name="TextBox 19"/>
          <p:cNvSpPr txBox="1"/>
          <p:nvPr/>
        </p:nvSpPr>
        <p:spPr>
          <a:xfrm>
            <a:off x="257175" y="5945505"/>
            <a:ext cx="2566772" cy="186689"/>
          </a:xfrm>
          <a:prstGeom prst="rect">
            <a:avLst/>
          </a:prstGeom>
          <a:noFill/>
        </p:spPr>
        <p:txBody>
          <a:bodyPr wrap="none" lIns="0" rIns="0" tIns="0" bIns="0">
            <a:spAutoFit/>
          </a:bodyPr>
          <a:lstStyle/>
          <a:p>
            <a:r>
              <a:rPr sz="1100" b="0">
                <a:solidFill>
                  <a:srgbClr val="2E2E2E"/>
                </a:solidFill>
                <a:latin typeface="Calibri"/>
              </a:rPr>
              <a:t>industrial packaging exhibit a CAGR index of</a:t>
            </a:r>
          </a:p>
        </p:txBody>
      </p:sp>
      <p:pic>
        <p:nvPicPr>
          <p:cNvPr id="21" name="Picture 20" descr="lock.png"/>
          <p:cNvPicPr>
            <a:picLocks noChangeAspect="1"/>
          </p:cNvPicPr>
          <p:nvPr/>
        </p:nvPicPr>
        <p:blipFill>
          <a:blip r:embed="rId6"/>
          <a:stretch>
            <a:fillRect/>
          </a:stretch>
        </p:blipFill>
        <p:spPr>
          <a:xfrm>
            <a:off x="2771998" y="5935726"/>
            <a:ext cx="128699" cy="187198"/>
          </a:xfrm>
          <a:prstGeom prst="rect">
            <a:avLst/>
          </a:prstGeom>
        </p:spPr>
      </p:pic>
      <p:sp>
        <p:nvSpPr>
          <p:cNvPr id="22" name="TextBox 21"/>
          <p:cNvSpPr txBox="1"/>
          <p:nvPr/>
        </p:nvSpPr>
        <p:spPr>
          <a:xfrm>
            <a:off x="2939494"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3177388" y="5935726"/>
            <a:ext cx="128699" cy="187198"/>
          </a:xfrm>
          <a:prstGeom prst="rect">
            <a:avLst/>
          </a:prstGeom>
        </p:spPr>
      </p:pic>
      <p:sp>
        <p:nvSpPr>
          <p:cNvPr id="24" name="TextBox 23"/>
          <p:cNvSpPr txBox="1"/>
          <p:nvPr/>
        </p:nvSpPr>
        <p:spPr>
          <a:xfrm>
            <a:off x="3344884"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4953858" y="5935726"/>
            <a:ext cx="128699" cy="187198"/>
          </a:xfrm>
          <a:prstGeom prst="rect">
            <a:avLst/>
          </a:prstGeom>
        </p:spPr>
      </p:pic>
      <p:sp>
        <p:nvSpPr>
          <p:cNvPr id="26" name="TextBox 25"/>
          <p:cNvSpPr txBox="1"/>
          <p:nvPr/>
        </p:nvSpPr>
        <p:spPr>
          <a:xfrm>
            <a:off x="5121353"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5359248" y="5935726"/>
            <a:ext cx="128699" cy="187198"/>
          </a:xfrm>
          <a:prstGeom prst="rect">
            <a:avLst/>
          </a:prstGeom>
        </p:spPr>
      </p:pic>
      <p:sp>
        <p:nvSpPr>
          <p:cNvPr id="28" name="TextBox 27"/>
          <p:cNvSpPr txBox="1"/>
          <p:nvPr/>
        </p:nvSpPr>
        <p:spPr>
          <a:xfrm>
            <a:off x="5526744"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8081148" y="5935726"/>
            <a:ext cx="128699" cy="187198"/>
          </a:xfrm>
          <a:prstGeom prst="rect">
            <a:avLst/>
          </a:prstGeom>
        </p:spPr>
      </p:pic>
      <p:sp>
        <p:nvSpPr>
          <p:cNvPr id="30" name="TextBox 29"/>
          <p:cNvSpPr txBox="1"/>
          <p:nvPr/>
        </p:nvSpPr>
        <p:spPr>
          <a:xfrm>
            <a:off x="8248644" y="5945505"/>
            <a:ext cx="2888753" cy="186689"/>
          </a:xfrm>
          <a:prstGeom prst="rect">
            <a:avLst/>
          </a:prstGeom>
          <a:noFill/>
        </p:spPr>
        <p:txBody>
          <a:bodyPr wrap="none" lIns="0" rIns="0" tIns="0" bIns="0">
            <a:spAutoFit/>
          </a:bodyPr>
          <a:lstStyle/>
          <a:p>
            <a:r>
              <a:rPr sz="1100" b="0">
                <a:solidFill>
                  <a:srgbClr val="2E2E2E"/>
                </a:solidFill>
                <a:latin typeface="Calibri"/>
              </a:rPr>
              <a:t>. The tins and cans segment is expected to be less</a:t>
            </a:r>
          </a:p>
        </p:txBody>
      </p:sp>
      <p:sp>
        <p:nvSpPr>
          <p:cNvPr id="31" name="TextBox 30"/>
          <p:cNvSpPr txBox="1"/>
          <p:nvPr/>
        </p:nvSpPr>
        <p:spPr>
          <a:xfrm>
            <a:off x="257175" y="6113145"/>
            <a:ext cx="11338386" cy="186689"/>
          </a:xfrm>
          <a:prstGeom prst="rect">
            <a:avLst/>
          </a:prstGeom>
          <a:noFill/>
        </p:spPr>
        <p:txBody>
          <a:bodyPr wrap="none" lIns="0" rIns="0" tIns="0" bIns="0">
            <a:spAutoFit/>
          </a:bodyPr>
          <a:lstStyle/>
          <a:p>
            <a:r>
              <a:rPr sz="1100" b="0">
                <a:solidFill>
                  <a:srgbClr val="2E2E2E"/>
                </a:solidFill>
                <a:latin typeface="Calibri"/>
              </a:rPr>
              <a:t>attractive as compared to other segments over the forecast period, owing to its lower CAGR and incremental opportunity. Bubbles right of the CAGR-Index line grow faster than the 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Packaging Type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Type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Pouches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Tins and Cans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Jars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Boxes and Cartons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Packaging Type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Type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Sachets and Stick Packs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Bottles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Cups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Bulk Industrial Packaging</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100230" y="2330679"/>
            <a:ext cx="252890" cy="367840"/>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Packaging Type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Type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Packaging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Packaging Type</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27556" y="3674659"/>
            <a:ext cx="395643" cy="575481"/>
          </a:xfrm>
          <a:prstGeom prst="rect">
            <a:avLst/>
          </a:prstGeom>
        </p:spPr>
      </p:pic>
      <p:sp>
        <p:nvSpPr>
          <p:cNvPr id="19" name="TextBox 18"/>
          <p:cNvSpPr txBox="1"/>
          <p:nvPr/>
        </p:nvSpPr>
        <p:spPr>
          <a:xfrm>
            <a:off x="6305550" y="1400175"/>
            <a:ext cx="4971990" cy="194310"/>
          </a:xfrm>
          <a:prstGeom prst="rect">
            <a:avLst/>
          </a:prstGeom>
          <a:noFill/>
        </p:spPr>
        <p:txBody>
          <a:bodyPr wrap="none" lIns="0" rIns="0" tIns="0" bIns="0">
            <a:spAutoFit/>
          </a:bodyPr>
          <a:lstStyle/>
          <a:p>
            <a:r>
              <a:rPr sz="1150" b="0">
                <a:solidFill>
                  <a:srgbClr val="2E2E2E"/>
                </a:solidFill>
                <a:latin typeface="Calibri"/>
              </a:rPr>
              <a:t>By 2036, bulk industrial packaging segment is anticipated to witness an increase of</a:t>
            </a:r>
          </a:p>
        </p:txBody>
      </p:sp>
      <p:pic>
        <p:nvPicPr>
          <p:cNvPr id="20" name="Picture 19" descr="lock.png"/>
          <p:cNvPicPr>
            <a:picLocks noChangeAspect="1"/>
          </p:cNvPicPr>
          <p:nvPr/>
        </p:nvPicPr>
        <p:blipFill>
          <a:blip r:embed="rId5"/>
          <a:stretch>
            <a:fillRect/>
          </a:stretch>
        </p:blipFill>
        <p:spPr>
          <a:xfrm>
            <a:off x="11226694" y="1389951"/>
            <a:ext cx="134549" cy="195707"/>
          </a:xfrm>
          <a:prstGeom prst="rect">
            <a:avLst/>
          </a:prstGeom>
        </p:spPr>
      </p:pic>
      <p:sp>
        <p:nvSpPr>
          <p:cNvPr id="21" name="TextBox 20"/>
          <p:cNvSpPr txBox="1"/>
          <p:nvPr/>
        </p:nvSpPr>
        <p:spPr>
          <a:xfrm>
            <a:off x="11401803" y="1400175"/>
            <a:ext cx="295560" cy="194310"/>
          </a:xfrm>
          <a:prstGeom prst="rect">
            <a:avLst/>
          </a:prstGeom>
          <a:noFill/>
        </p:spPr>
        <p:txBody>
          <a:bodyPr wrap="none" lIns="0" rIns="0" tIns="0" bIns="0">
            <a:spAutoFit/>
          </a:bodyPr>
          <a:lstStyle/>
          <a:p>
            <a:r>
              <a:rPr sz="1150" b="0">
                <a:solidFill>
                  <a:srgbClr val="2E2E2E"/>
                </a:solidFill>
                <a:latin typeface="Calibri"/>
              </a:rPr>
              <a:t>X in</a:t>
            </a:r>
          </a:p>
        </p:txBody>
      </p:sp>
      <p:sp>
        <p:nvSpPr>
          <p:cNvPr id="22" name="TextBox 21"/>
          <p:cNvSpPr txBox="1"/>
          <p:nvPr/>
        </p:nvSpPr>
        <p:spPr>
          <a:xfrm>
            <a:off x="6305550" y="1575435"/>
            <a:ext cx="5417579" cy="194310"/>
          </a:xfrm>
          <a:prstGeom prst="rect">
            <a:avLst/>
          </a:prstGeom>
          <a:noFill/>
        </p:spPr>
        <p:txBody>
          <a:bodyPr wrap="none" lIns="0" rIns="0" tIns="0" bIns="0">
            <a:spAutoFit/>
          </a:bodyPr>
          <a:lstStyle/>
          <a:p>
            <a:r>
              <a:rPr sz="1150" b="0">
                <a:solidFill>
                  <a:srgbClr val="2E2E2E"/>
                </a:solidFill>
                <a:latin typeface="Calibri"/>
              </a:rPr>
              <a:t>terms of value as compared to 2026. The bulk industrial packaging segment is expected to</a:t>
            </a:r>
          </a:p>
        </p:txBody>
      </p:sp>
      <p:sp>
        <p:nvSpPr>
          <p:cNvPr id="23" name="TextBox 22"/>
          <p:cNvSpPr txBox="1"/>
          <p:nvPr/>
        </p:nvSpPr>
        <p:spPr>
          <a:xfrm>
            <a:off x="6305550" y="1750695"/>
            <a:ext cx="2547069" cy="194310"/>
          </a:xfrm>
          <a:prstGeom prst="rect">
            <a:avLst/>
          </a:prstGeom>
          <a:noFill/>
        </p:spPr>
        <p:txBody>
          <a:bodyPr wrap="none" lIns="0" rIns="0" tIns="0" bIns="0">
            <a:spAutoFit/>
          </a:bodyPr>
          <a:lstStyle/>
          <a:p>
            <a:r>
              <a:rPr sz="1150" b="0">
                <a:solidFill>
                  <a:srgbClr val="2E2E2E"/>
                </a:solidFill>
                <a:latin typeface="Calibri"/>
              </a:rPr>
              <a:t>create an incremental opportunity of US$</a:t>
            </a:r>
          </a:p>
        </p:txBody>
      </p:sp>
      <p:pic>
        <p:nvPicPr>
          <p:cNvPr id="24" name="Picture 23" descr="lock.png"/>
          <p:cNvPicPr>
            <a:picLocks noChangeAspect="1"/>
          </p:cNvPicPr>
          <p:nvPr/>
        </p:nvPicPr>
        <p:blipFill>
          <a:blip r:embed="rId5"/>
          <a:stretch>
            <a:fillRect/>
          </a:stretch>
        </p:blipFill>
        <p:spPr>
          <a:xfrm>
            <a:off x="8801773" y="1740471"/>
            <a:ext cx="134549" cy="195707"/>
          </a:xfrm>
          <a:prstGeom prst="rect">
            <a:avLst/>
          </a:prstGeom>
        </p:spPr>
      </p:pic>
      <p:sp>
        <p:nvSpPr>
          <p:cNvPr id="25" name="TextBox 24"/>
          <p:cNvSpPr txBox="1"/>
          <p:nvPr/>
        </p:nvSpPr>
        <p:spPr>
          <a:xfrm>
            <a:off x="8976882" y="1750695"/>
            <a:ext cx="2899643"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a:t>
            </a:r>
          </a:p>
        </p:txBody>
      </p:sp>
      <p:sp>
        <p:nvSpPr>
          <p:cNvPr id="26" name="TextBox 25"/>
          <p:cNvSpPr txBox="1"/>
          <p:nvPr/>
        </p:nvSpPr>
        <p:spPr>
          <a:xfrm>
            <a:off x="6305550" y="1925955"/>
            <a:ext cx="409661" cy="194310"/>
          </a:xfrm>
          <a:prstGeom prst="rect">
            <a:avLst/>
          </a:prstGeom>
          <a:noFill/>
        </p:spPr>
        <p:txBody>
          <a:bodyPr wrap="none" lIns="0" rIns="0" tIns="0" bIns="0">
            <a:spAutoFit/>
          </a:bodyPr>
          <a:lstStyle/>
          <a:p>
            <a:r>
              <a:rPr sz="1150" b="0">
                <a:solidFill>
                  <a:srgbClr val="2E2E2E"/>
                </a:solidFill>
                <a:latin typeface="Calibri"/>
              </a:rPr>
              <a:t>2036.</a:t>
            </a:r>
          </a:p>
        </p:txBody>
      </p:sp>
      <p:sp>
        <p:nvSpPr>
          <p:cNvPr id="27" name="TextBox 26"/>
          <p:cNvSpPr txBox="1"/>
          <p:nvPr/>
        </p:nvSpPr>
        <p:spPr>
          <a:xfrm>
            <a:off x="6305550" y="2153793"/>
            <a:ext cx="4741812" cy="194310"/>
          </a:xfrm>
          <a:prstGeom prst="rect">
            <a:avLst/>
          </a:prstGeom>
          <a:noFill/>
        </p:spPr>
        <p:txBody>
          <a:bodyPr wrap="none" lIns="0" rIns="0" tIns="0" bIns="0">
            <a:spAutoFit/>
          </a:bodyPr>
          <a:lstStyle/>
          <a:p>
            <a:r>
              <a:rPr sz="1150" b="0">
                <a:solidFill>
                  <a:srgbClr val="2E2E2E"/>
                </a:solidFill>
                <a:latin typeface="Calibri"/>
              </a:rPr>
              <a:t>The pouches segment is expected to create an incremental opportunity of US$</a:t>
            </a:r>
          </a:p>
        </p:txBody>
      </p:sp>
      <p:pic>
        <p:nvPicPr>
          <p:cNvPr id="28" name="Picture 27" descr="lock.png"/>
          <p:cNvPicPr>
            <a:picLocks noChangeAspect="1"/>
          </p:cNvPicPr>
          <p:nvPr/>
        </p:nvPicPr>
        <p:blipFill>
          <a:blip r:embed="rId5"/>
          <a:stretch>
            <a:fillRect/>
          </a:stretch>
        </p:blipFill>
        <p:spPr>
          <a:xfrm>
            <a:off x="10996516" y="2143569"/>
            <a:ext cx="134549" cy="195707"/>
          </a:xfrm>
          <a:prstGeom prst="rect">
            <a:avLst/>
          </a:prstGeom>
        </p:spPr>
      </p:pic>
      <p:sp>
        <p:nvSpPr>
          <p:cNvPr id="29" name="TextBox 28"/>
          <p:cNvSpPr txBox="1"/>
          <p:nvPr/>
        </p:nvSpPr>
        <p:spPr>
          <a:xfrm>
            <a:off x="11171626" y="2153793"/>
            <a:ext cx="715168" cy="194310"/>
          </a:xfrm>
          <a:prstGeom prst="rect">
            <a:avLst/>
          </a:prstGeom>
          <a:noFill/>
        </p:spPr>
        <p:txBody>
          <a:bodyPr wrap="none" lIns="0" rIns="0" tIns="0" bIns="0">
            <a:spAutoFit/>
          </a:bodyPr>
          <a:lstStyle/>
          <a:p>
            <a:r>
              <a:rPr sz="1150" b="0">
                <a:solidFill>
                  <a:srgbClr val="2E2E2E"/>
                </a:solidFill>
                <a:latin typeface="Calibri"/>
              </a:rPr>
              <a:t>Mn for the</a:t>
            </a:r>
          </a:p>
        </p:txBody>
      </p:sp>
      <p:sp>
        <p:nvSpPr>
          <p:cNvPr id="30" name="TextBox 29"/>
          <p:cNvSpPr txBox="1"/>
          <p:nvPr/>
        </p:nvSpPr>
        <p:spPr>
          <a:xfrm>
            <a:off x="6305550" y="2329053"/>
            <a:ext cx="5152578" cy="194310"/>
          </a:xfrm>
          <a:prstGeom prst="rect">
            <a:avLst/>
          </a:prstGeom>
          <a:noFill/>
        </p:spPr>
        <p:txBody>
          <a:bodyPr wrap="none" lIns="0" rIns="0" tIns="0" bIns="0">
            <a:spAutoFit/>
          </a:bodyPr>
          <a:lstStyle/>
          <a:p>
            <a:r>
              <a:rPr sz="1150" b="0">
                <a:solidFill>
                  <a:srgbClr val="2E2E2E"/>
                </a:solidFill>
                <a:latin typeface="Calibri"/>
              </a:rPr>
              <a:t>overall matcha market from 2026 to 2036. The cups segment is expected to create an</a:t>
            </a:r>
          </a:p>
        </p:txBody>
      </p:sp>
      <p:sp>
        <p:nvSpPr>
          <p:cNvPr id="31" name="TextBox 30"/>
          <p:cNvSpPr txBox="1"/>
          <p:nvPr/>
        </p:nvSpPr>
        <p:spPr>
          <a:xfrm>
            <a:off x="6305550" y="2504313"/>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32" name="Picture 31" descr="lock.png"/>
          <p:cNvPicPr>
            <a:picLocks noChangeAspect="1"/>
          </p:cNvPicPr>
          <p:nvPr/>
        </p:nvPicPr>
        <p:blipFill>
          <a:blip r:embed="rId5"/>
          <a:stretch>
            <a:fillRect/>
          </a:stretch>
        </p:blipFill>
        <p:spPr>
          <a:xfrm>
            <a:off x="8211582" y="2494089"/>
            <a:ext cx="134549" cy="195707"/>
          </a:xfrm>
          <a:prstGeom prst="rect">
            <a:avLst/>
          </a:prstGeom>
        </p:spPr>
      </p:pic>
      <p:sp>
        <p:nvSpPr>
          <p:cNvPr id="33" name="TextBox 32"/>
          <p:cNvSpPr txBox="1"/>
          <p:nvPr/>
        </p:nvSpPr>
        <p:spPr>
          <a:xfrm>
            <a:off x="8386692" y="2504313"/>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34" name="lockshield_12"/>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Packaging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Packaging Type, 2021–2036, highlighting the sub-segments driving growth</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Packaging Type (US$ Mn)</a:t>
            </a:r>
          </a:p>
        </p:txBody>
      </p:sp>
      <p:graphicFrame>
        <p:nvGraphicFramePr>
          <p:cNvPr id="12" name="Table 11"/>
          <p:cNvGraphicFramePr>
            <a:graphicFrameLocks noGrp="1"/>
          </p:cNvGraphicFramePr>
          <p:nvPr/>
        </p:nvGraphicFramePr>
        <p:xfrm>
          <a:off x="152400" y="1238250"/>
          <a:ext cx="11887204" cy="2714626"/>
        </p:xfrm>
        <a:graphic>
          <a:graphicData uri="http://schemas.openxmlformats.org/drawingml/2006/table">
            <a:tbl>
              <a:tblPr>
                <a:tableStyleId>{5C22544A-7EE6-4342-B048-85BDC9FD1C3A}</a:tableStyleId>
              </a:tblPr>
              <a:tblGrid>
                <a:gridCol w="1730452"/>
                <a:gridCol w="597456"/>
                <a:gridCol w="597456"/>
                <a:gridCol w="597456"/>
                <a:gridCol w="597456"/>
                <a:gridCol w="597456"/>
                <a:gridCol w="597456"/>
                <a:gridCol w="597456"/>
                <a:gridCol w="597456"/>
                <a:gridCol w="597456"/>
                <a:gridCol w="597456"/>
                <a:gridCol w="597456"/>
                <a:gridCol w="597456"/>
                <a:gridCol w="597456"/>
                <a:gridCol w="597456"/>
                <a:gridCol w="597456"/>
                <a:gridCol w="597456"/>
                <a:gridCol w="597456"/>
              </a:tblGrid>
              <a:tr h="246126">
                <a:tc>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Packaging Type</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774537" y="2451926"/>
            <a:ext cx="366712" cy="533400"/>
          </a:xfrm>
          <a:prstGeom prst="rect">
            <a:avLst/>
          </a:prstGeom>
        </p:spPr>
      </p:pic>
      <p:sp>
        <p:nvSpPr>
          <p:cNvPr id="20" name="TextBox 19"/>
          <p:cNvSpPr txBox="1"/>
          <p:nvPr/>
        </p:nvSpPr>
        <p:spPr>
          <a:xfrm>
            <a:off x="276225" y="4714875"/>
            <a:ext cx="2499146" cy="194310"/>
          </a:xfrm>
          <a:prstGeom prst="rect">
            <a:avLst/>
          </a:prstGeom>
          <a:noFill/>
        </p:spPr>
        <p:txBody>
          <a:bodyPr wrap="none" lIns="0" rIns="0" tIns="0" bIns="0">
            <a:spAutoFit/>
          </a:bodyPr>
          <a:lstStyle/>
          <a:p>
            <a:r>
              <a:rPr sz="1150" b="0">
                <a:solidFill>
                  <a:srgbClr val="2E2E2E"/>
                </a:solidFill>
                <a:latin typeface="Calibri"/>
              </a:rPr>
              <a:t>Pouches segment is projected to register</a:t>
            </a:r>
          </a:p>
        </p:txBody>
      </p:sp>
      <p:pic>
        <p:nvPicPr>
          <p:cNvPr id="21" name="Picture 20" descr="lock.png"/>
          <p:cNvPicPr>
            <a:picLocks noChangeAspect="1"/>
          </p:cNvPicPr>
          <p:nvPr/>
        </p:nvPicPr>
        <p:blipFill>
          <a:blip r:embed="rId4"/>
          <a:stretch>
            <a:fillRect/>
          </a:stretch>
        </p:blipFill>
        <p:spPr>
          <a:xfrm>
            <a:off x="2724525" y="4704651"/>
            <a:ext cx="134549" cy="195707"/>
          </a:xfrm>
          <a:prstGeom prst="rect">
            <a:avLst/>
          </a:prstGeom>
        </p:spPr>
      </p:pic>
      <p:sp>
        <p:nvSpPr>
          <p:cNvPr id="22" name="TextBox 21"/>
          <p:cNvSpPr txBox="1"/>
          <p:nvPr/>
        </p:nvSpPr>
        <p:spPr>
          <a:xfrm>
            <a:off x="2899634" y="4714875"/>
            <a:ext cx="8662342" cy="194310"/>
          </a:xfrm>
          <a:prstGeom prst="rect">
            <a:avLst/>
          </a:prstGeom>
          <a:noFill/>
        </p:spPr>
        <p:txBody>
          <a:bodyPr wrap="none" lIns="0" rIns="0" tIns="0" bIns="0">
            <a:spAutoFit/>
          </a:bodyPr>
          <a:lstStyle/>
          <a:p>
            <a:r>
              <a:rPr sz="1150" b="0">
                <a:solidFill>
                  <a:srgbClr val="2E2E2E"/>
                </a:solidFill>
                <a:latin typeface="Calibri"/>
              </a:rPr>
              <a:t>X higher value than bulk industrial packaging segment in 2036. Among matcha by packaging type, sachets and stick packs segment is expected to</a:t>
            </a:r>
          </a:p>
        </p:txBody>
      </p:sp>
      <p:sp>
        <p:nvSpPr>
          <p:cNvPr id="23" name="TextBox 22"/>
          <p:cNvSpPr txBox="1"/>
          <p:nvPr/>
        </p:nvSpPr>
        <p:spPr>
          <a:xfrm>
            <a:off x="276225" y="489013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24" name="Picture 23" descr="lock.png"/>
          <p:cNvPicPr>
            <a:picLocks noChangeAspect="1"/>
          </p:cNvPicPr>
          <p:nvPr/>
        </p:nvPicPr>
        <p:blipFill>
          <a:blip r:embed="rId4"/>
          <a:stretch>
            <a:fillRect/>
          </a:stretch>
        </p:blipFill>
        <p:spPr>
          <a:xfrm>
            <a:off x="1973149" y="4879911"/>
            <a:ext cx="134549" cy="195707"/>
          </a:xfrm>
          <a:prstGeom prst="rect">
            <a:avLst/>
          </a:prstGeom>
        </p:spPr>
      </p:pic>
      <p:sp>
        <p:nvSpPr>
          <p:cNvPr id="25" name="TextBox 24"/>
          <p:cNvSpPr txBox="1"/>
          <p:nvPr/>
        </p:nvSpPr>
        <p:spPr>
          <a:xfrm>
            <a:off x="2148258" y="4890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117972"/>
            <a:ext cx="6457900" cy="194310"/>
          </a:xfrm>
          <a:prstGeom prst="rect">
            <a:avLst/>
          </a:prstGeom>
          <a:noFill/>
        </p:spPr>
        <p:txBody>
          <a:bodyPr wrap="none" lIns="0" rIns="0" tIns="0" bIns="0">
            <a:spAutoFit/>
          </a:bodyPr>
          <a:lstStyle/>
          <a:p>
            <a:r>
              <a:rPr sz="1150" b="0">
                <a:solidFill>
                  <a:srgbClr val="2E2E2E"/>
                </a:solidFill>
                <a:latin typeface="Calibri"/>
              </a:rPr>
              <a:t>In terms of value share by packaging type, the pouches segment is expected to dominate the market, losing</a:t>
            </a:r>
          </a:p>
        </p:txBody>
      </p:sp>
      <p:pic>
        <p:nvPicPr>
          <p:cNvPr id="27" name="Picture 26" descr="lock.png"/>
          <p:cNvPicPr>
            <a:picLocks noChangeAspect="1"/>
          </p:cNvPicPr>
          <p:nvPr/>
        </p:nvPicPr>
        <p:blipFill>
          <a:blip r:embed="rId4"/>
          <a:stretch>
            <a:fillRect/>
          </a:stretch>
        </p:blipFill>
        <p:spPr>
          <a:xfrm>
            <a:off x="6683279" y="5107749"/>
            <a:ext cx="134549" cy="195707"/>
          </a:xfrm>
          <a:prstGeom prst="rect">
            <a:avLst/>
          </a:prstGeom>
        </p:spPr>
      </p:pic>
      <p:sp>
        <p:nvSpPr>
          <p:cNvPr id="28" name="TextBox 27"/>
          <p:cNvSpPr txBox="1"/>
          <p:nvPr/>
        </p:nvSpPr>
        <p:spPr>
          <a:xfrm>
            <a:off x="6858388" y="5117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253531" y="5107749"/>
            <a:ext cx="134549" cy="195707"/>
          </a:xfrm>
          <a:prstGeom prst="rect">
            <a:avLst/>
          </a:prstGeom>
        </p:spPr>
      </p:pic>
      <p:sp>
        <p:nvSpPr>
          <p:cNvPr id="30" name="TextBox 29"/>
          <p:cNvSpPr txBox="1"/>
          <p:nvPr/>
        </p:nvSpPr>
        <p:spPr>
          <a:xfrm>
            <a:off x="8428641" y="5117972"/>
            <a:ext cx="3128702" cy="194310"/>
          </a:xfrm>
          <a:prstGeom prst="rect">
            <a:avLst/>
          </a:prstGeom>
          <a:noFill/>
        </p:spPr>
        <p:txBody>
          <a:bodyPr wrap="none" lIns="0" rIns="0" tIns="0" bIns="0">
            <a:spAutoFit/>
          </a:bodyPr>
          <a:lstStyle/>
          <a:p>
            <a:r>
              <a:rPr sz="1150" b="0">
                <a:solidFill>
                  <a:srgbClr val="2E2E2E"/>
                </a:solidFill>
                <a:latin typeface="Calibri"/>
              </a:rPr>
              <a:t>share by 2036. The jars segment is expected to lose</a:t>
            </a:r>
          </a:p>
        </p:txBody>
      </p:sp>
      <p:pic>
        <p:nvPicPr>
          <p:cNvPr id="31" name="Picture 30" descr="lock.png"/>
          <p:cNvPicPr>
            <a:picLocks noChangeAspect="1"/>
          </p:cNvPicPr>
          <p:nvPr/>
        </p:nvPicPr>
        <p:blipFill>
          <a:blip r:embed="rId4"/>
          <a:stretch>
            <a:fillRect/>
          </a:stretch>
        </p:blipFill>
        <p:spPr>
          <a:xfrm>
            <a:off x="262145" y="5283009"/>
            <a:ext cx="134549" cy="195707"/>
          </a:xfrm>
          <a:prstGeom prst="rect">
            <a:avLst/>
          </a:prstGeom>
        </p:spPr>
      </p:pic>
      <p:sp>
        <p:nvSpPr>
          <p:cNvPr id="32" name="TextBox 31"/>
          <p:cNvSpPr txBox="1"/>
          <p:nvPr/>
        </p:nvSpPr>
        <p:spPr>
          <a:xfrm>
            <a:off x="437254" y="52932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3" name="Picture 32" descr="lock.png"/>
          <p:cNvPicPr>
            <a:picLocks noChangeAspect="1"/>
          </p:cNvPicPr>
          <p:nvPr/>
        </p:nvPicPr>
        <p:blipFill>
          <a:blip r:embed="rId4"/>
          <a:stretch>
            <a:fillRect/>
          </a:stretch>
        </p:blipFill>
        <p:spPr>
          <a:xfrm>
            <a:off x="3024759" y="5283009"/>
            <a:ext cx="134549" cy="195707"/>
          </a:xfrm>
          <a:prstGeom prst="rect">
            <a:avLst/>
          </a:prstGeom>
        </p:spPr>
      </p:pic>
      <p:sp>
        <p:nvSpPr>
          <p:cNvPr id="34" name="TextBox 33"/>
          <p:cNvSpPr txBox="1"/>
          <p:nvPr/>
        </p:nvSpPr>
        <p:spPr>
          <a:xfrm>
            <a:off x="3199868" y="52932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Packaging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Packaging Type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Packaging Type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739657"/>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73489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6586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Tins and Cans</a:t>
            </a:r>
          </a:p>
        </p:txBody>
      </p:sp>
      <p:sp>
        <p:nvSpPr>
          <p:cNvPr id="18" name="BPS Value 1"/>
          <p:cNvSpPr txBox="1"/>
          <p:nvPr/>
        </p:nvSpPr>
        <p:spPr>
          <a:xfrm>
            <a:off x="6896100" y="172060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1877956"/>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187319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179699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Packaging Types</a:t>
            </a:r>
          </a:p>
        </p:txBody>
      </p:sp>
      <p:sp>
        <p:nvSpPr>
          <p:cNvPr id="22" name="BPS Value 2"/>
          <p:cNvSpPr txBox="1"/>
          <p:nvPr/>
        </p:nvSpPr>
        <p:spPr>
          <a:xfrm>
            <a:off x="6896100" y="185890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2129998"/>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5090922" y="212523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04903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Boxes and Cartons</a:t>
            </a:r>
          </a:p>
        </p:txBody>
      </p:sp>
      <p:sp>
        <p:nvSpPr>
          <p:cNvPr id="26" name="BPS Value 3"/>
          <p:cNvSpPr txBox="1"/>
          <p:nvPr/>
        </p:nvSpPr>
        <p:spPr>
          <a:xfrm>
            <a:off x="6896100" y="211094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928997" y="250322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rot="10800000">
            <a:off x="5090922" y="249846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24222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Jars</a:t>
            </a:r>
          </a:p>
        </p:txBody>
      </p:sp>
      <p:sp>
        <p:nvSpPr>
          <p:cNvPr id="30" name="BPS Value 4"/>
          <p:cNvSpPr txBox="1"/>
          <p:nvPr/>
        </p:nvSpPr>
        <p:spPr>
          <a:xfrm>
            <a:off x="6896100" y="248417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1" name="FMI Legend Chip"/>
          <p:cNvSpPr/>
          <p:nvPr/>
        </p:nvSpPr>
        <p:spPr>
          <a:xfrm>
            <a:off x="4928997" y="298234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a:off x="5090922" y="297758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290138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and Stick Packs</a:t>
            </a:r>
          </a:p>
        </p:txBody>
      </p:sp>
      <p:sp>
        <p:nvSpPr>
          <p:cNvPr id="34" name="BPS Value 5"/>
          <p:cNvSpPr txBox="1"/>
          <p:nvPr/>
        </p:nvSpPr>
        <p:spPr>
          <a:xfrm>
            <a:off x="6896100" y="296329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5" name="FMI Legend Chip"/>
          <p:cNvSpPr/>
          <p:nvPr/>
        </p:nvSpPr>
        <p:spPr>
          <a:xfrm>
            <a:off x="4928997" y="357265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rot="10800000">
            <a:off x="5090922" y="356789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349169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Bottles</a:t>
            </a:r>
          </a:p>
        </p:txBody>
      </p:sp>
      <p:sp>
        <p:nvSpPr>
          <p:cNvPr id="38" name="BPS Value 6"/>
          <p:cNvSpPr txBox="1"/>
          <p:nvPr/>
        </p:nvSpPr>
        <p:spPr>
          <a:xfrm>
            <a:off x="6896100" y="355360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9" name="FMI Legend Chip"/>
          <p:cNvSpPr/>
          <p:nvPr/>
        </p:nvSpPr>
        <p:spPr>
          <a:xfrm>
            <a:off x="4928997" y="424182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Isosceles Triangle 39"/>
          <p:cNvSpPr/>
          <p:nvPr/>
        </p:nvSpPr>
        <p:spPr>
          <a:xfrm>
            <a:off x="5090922" y="423706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BPS Name 7"/>
          <p:cNvSpPr txBox="1"/>
          <p:nvPr/>
        </p:nvSpPr>
        <p:spPr>
          <a:xfrm>
            <a:off x="5233797" y="416086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Cups</a:t>
            </a:r>
          </a:p>
        </p:txBody>
      </p:sp>
      <p:sp>
        <p:nvSpPr>
          <p:cNvPr id="42" name="BPS Value 7"/>
          <p:cNvSpPr txBox="1"/>
          <p:nvPr/>
        </p:nvSpPr>
        <p:spPr>
          <a:xfrm>
            <a:off x="6896100" y="422277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3" name="FMI Legend Chip"/>
          <p:cNvSpPr/>
          <p:nvPr/>
        </p:nvSpPr>
        <p:spPr>
          <a:xfrm>
            <a:off x="4928997" y="501010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Isosceles Triangle 43"/>
          <p:cNvSpPr/>
          <p:nvPr/>
        </p:nvSpPr>
        <p:spPr>
          <a:xfrm>
            <a:off x="5090922" y="500534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BPS Name 8"/>
          <p:cNvSpPr txBox="1"/>
          <p:nvPr/>
        </p:nvSpPr>
        <p:spPr>
          <a:xfrm>
            <a:off x="5233797" y="49291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Industrial Packaging</a:t>
            </a:r>
          </a:p>
        </p:txBody>
      </p:sp>
      <p:sp>
        <p:nvSpPr>
          <p:cNvPr id="46" name="BPS Value 8"/>
          <p:cNvSpPr txBox="1"/>
          <p:nvPr/>
        </p:nvSpPr>
        <p:spPr>
          <a:xfrm>
            <a:off x="6896100" y="499105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7" name="FMI Legend Chip"/>
          <p:cNvSpPr/>
          <p:nvPr/>
        </p:nvSpPr>
        <p:spPr>
          <a:xfrm>
            <a:off x="4928997" y="582756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Isosceles Triangle 47"/>
          <p:cNvSpPr/>
          <p:nvPr/>
        </p:nvSpPr>
        <p:spPr>
          <a:xfrm rot="10800000">
            <a:off x="5090922" y="58228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BPS Name 9"/>
          <p:cNvSpPr txBox="1"/>
          <p:nvPr/>
        </p:nvSpPr>
        <p:spPr>
          <a:xfrm>
            <a:off x="5233797" y="57466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Pouches</a:t>
            </a:r>
          </a:p>
        </p:txBody>
      </p:sp>
      <p:sp>
        <p:nvSpPr>
          <p:cNvPr id="50" name="BPS Value 9"/>
          <p:cNvSpPr txBox="1"/>
          <p:nvPr/>
        </p:nvSpPr>
        <p:spPr>
          <a:xfrm>
            <a:off x="6896100" y="580851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51" name="Rounded Rectangle 50"/>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Packaging Type</a:t>
            </a:r>
          </a:p>
        </p:txBody>
      </p:sp>
      <p:sp>
        <p:nvSpPr>
          <p:cNvPr id="53" name="Rectangle 52"/>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5" name="TextBox 5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6" name="Picture 55" descr="lock.png"/>
          <p:cNvPicPr>
            <a:picLocks noChangeAspect="1"/>
          </p:cNvPicPr>
          <p:nvPr/>
        </p:nvPicPr>
        <p:blipFill>
          <a:blip r:embed="rId5"/>
          <a:stretch>
            <a:fillRect/>
          </a:stretch>
        </p:blipFill>
        <p:spPr>
          <a:xfrm>
            <a:off x="2557843" y="3833622"/>
            <a:ext cx="275034" cy="400050"/>
          </a:xfrm>
          <a:prstGeom prst="rect">
            <a:avLst/>
          </a:prstGeom>
        </p:spPr>
      </p:pic>
      <p:sp>
        <p:nvSpPr>
          <p:cNvPr id="57" name="TextBox 56"/>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Among matcha by packaging type, sachets and stick packs segment</a:t>
            </a:r>
          </a:p>
        </p:txBody>
      </p:sp>
      <p:sp>
        <p:nvSpPr>
          <p:cNvPr id="58" name="TextBox 57"/>
          <p:cNvSpPr txBox="1"/>
          <p:nvPr/>
        </p:nvSpPr>
        <p:spPr>
          <a:xfrm>
            <a:off x="7829550" y="1575435"/>
            <a:ext cx="2609807" cy="194310"/>
          </a:xfrm>
          <a:prstGeom prst="rect">
            <a:avLst/>
          </a:prstGeom>
          <a:noFill/>
        </p:spPr>
        <p:txBody>
          <a:bodyPr wrap="none" lIns="0" rIns="0" tIns="0" bIns="0">
            <a:spAutoFit/>
          </a:bodyPr>
          <a:lstStyle/>
          <a:p>
            <a:r>
              <a:rPr sz="1150" b="0">
                <a:solidFill>
                  <a:srgbClr val="2E2E2E"/>
                </a:solidFill>
                <a:latin typeface="Calibri"/>
              </a:rPr>
              <a:t>is expected to witness the highest CAGR of</a:t>
            </a:r>
          </a:p>
        </p:txBody>
      </p:sp>
      <p:pic>
        <p:nvPicPr>
          <p:cNvPr id="59" name="Picture 58" descr="lock.png"/>
          <p:cNvPicPr>
            <a:picLocks noChangeAspect="1"/>
          </p:cNvPicPr>
          <p:nvPr/>
        </p:nvPicPr>
        <p:blipFill>
          <a:blip r:embed="rId5"/>
          <a:stretch>
            <a:fillRect/>
          </a:stretch>
        </p:blipFill>
        <p:spPr>
          <a:xfrm>
            <a:off x="10388511" y="1565211"/>
            <a:ext cx="134549" cy="195707"/>
          </a:xfrm>
          <a:prstGeom prst="rect">
            <a:avLst/>
          </a:prstGeom>
        </p:spPr>
      </p:pic>
      <p:sp>
        <p:nvSpPr>
          <p:cNvPr id="60" name="TextBox 59"/>
          <p:cNvSpPr txBox="1"/>
          <p:nvPr/>
        </p:nvSpPr>
        <p:spPr>
          <a:xfrm>
            <a:off x="105636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61" name="TextBox 60"/>
          <p:cNvSpPr txBox="1"/>
          <p:nvPr/>
        </p:nvSpPr>
        <p:spPr>
          <a:xfrm>
            <a:off x="7829550" y="1750695"/>
            <a:ext cx="3794199" cy="194310"/>
          </a:xfrm>
          <a:prstGeom prst="rect">
            <a:avLst/>
          </a:prstGeom>
          <a:noFill/>
        </p:spPr>
        <p:txBody>
          <a:bodyPr wrap="none" lIns="0" rIns="0" tIns="0" bIns="0">
            <a:spAutoFit/>
          </a:bodyPr>
          <a:lstStyle/>
          <a:p>
            <a:r>
              <a:rPr sz="1150" b="0">
                <a:solidFill>
                  <a:srgbClr val="2E2E2E"/>
                </a:solidFill>
                <a:latin typeface="Calibri"/>
              </a:rPr>
              <a:t>period. In terms of value share by packaging type, the pouches</a:t>
            </a:r>
          </a:p>
        </p:txBody>
      </p:sp>
      <p:sp>
        <p:nvSpPr>
          <p:cNvPr id="62" name="TextBox 61"/>
          <p:cNvSpPr txBox="1"/>
          <p:nvPr/>
        </p:nvSpPr>
        <p:spPr>
          <a:xfrm>
            <a:off x="7829550" y="1925955"/>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63" name="Picture 62" descr="lock.png"/>
          <p:cNvPicPr>
            <a:picLocks noChangeAspect="1"/>
          </p:cNvPicPr>
          <p:nvPr/>
        </p:nvPicPr>
        <p:blipFill>
          <a:blip r:embed="rId5"/>
          <a:stretch>
            <a:fillRect/>
          </a:stretch>
        </p:blipFill>
        <p:spPr>
          <a:xfrm>
            <a:off x="10943347" y="1915731"/>
            <a:ext cx="134549" cy="195707"/>
          </a:xfrm>
          <a:prstGeom prst="rect">
            <a:avLst/>
          </a:prstGeom>
        </p:spPr>
      </p:pic>
      <p:sp>
        <p:nvSpPr>
          <p:cNvPr id="64" name="TextBox 63"/>
          <p:cNvSpPr txBox="1"/>
          <p:nvPr/>
        </p:nvSpPr>
        <p:spPr>
          <a:xfrm>
            <a:off x="11118457" y="1925955"/>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65" name="TextBox 64"/>
          <p:cNvSpPr txBox="1"/>
          <p:nvPr/>
        </p:nvSpPr>
        <p:spPr>
          <a:xfrm>
            <a:off x="7829550" y="2101215"/>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66" name="Picture 65" descr="lock.png"/>
          <p:cNvPicPr>
            <a:picLocks noChangeAspect="1"/>
          </p:cNvPicPr>
          <p:nvPr/>
        </p:nvPicPr>
        <p:blipFill>
          <a:blip r:embed="rId5"/>
          <a:stretch>
            <a:fillRect/>
          </a:stretch>
        </p:blipFill>
        <p:spPr>
          <a:xfrm>
            <a:off x="8712947" y="2090991"/>
            <a:ext cx="134549" cy="195707"/>
          </a:xfrm>
          <a:prstGeom prst="rect">
            <a:avLst/>
          </a:prstGeom>
        </p:spPr>
      </p:pic>
      <p:sp>
        <p:nvSpPr>
          <p:cNvPr id="67" name="TextBox 66"/>
          <p:cNvSpPr txBox="1"/>
          <p:nvPr/>
        </p:nvSpPr>
        <p:spPr>
          <a:xfrm>
            <a:off x="8888056"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8" name="TextBox 67"/>
          <p:cNvSpPr txBox="1"/>
          <p:nvPr/>
        </p:nvSpPr>
        <p:spPr>
          <a:xfrm>
            <a:off x="7829550" y="2329053"/>
            <a:ext cx="2225588" cy="194310"/>
          </a:xfrm>
          <a:prstGeom prst="rect">
            <a:avLst/>
          </a:prstGeom>
          <a:noFill/>
        </p:spPr>
        <p:txBody>
          <a:bodyPr wrap="none" lIns="0" rIns="0" tIns="0" bIns="0">
            <a:spAutoFit/>
          </a:bodyPr>
          <a:lstStyle/>
          <a:p>
            <a:r>
              <a:rPr sz="1150" b="0">
                <a:solidFill>
                  <a:srgbClr val="2E2E2E"/>
                </a:solidFill>
                <a:latin typeface="Calibri"/>
              </a:rPr>
              <a:t>The jars segment is expected to lose</a:t>
            </a:r>
          </a:p>
        </p:txBody>
      </p:sp>
      <p:pic>
        <p:nvPicPr>
          <p:cNvPr id="69" name="Picture 68" descr="lock.png"/>
          <p:cNvPicPr>
            <a:picLocks noChangeAspect="1"/>
          </p:cNvPicPr>
          <p:nvPr/>
        </p:nvPicPr>
        <p:blipFill>
          <a:blip r:embed="rId5"/>
          <a:stretch>
            <a:fillRect/>
          </a:stretch>
        </p:blipFill>
        <p:spPr>
          <a:xfrm>
            <a:off x="10004292" y="2318829"/>
            <a:ext cx="134549" cy="195707"/>
          </a:xfrm>
          <a:prstGeom prst="rect">
            <a:avLst/>
          </a:prstGeom>
        </p:spPr>
      </p:pic>
      <p:sp>
        <p:nvSpPr>
          <p:cNvPr id="70" name="TextBox 69"/>
          <p:cNvSpPr txBox="1"/>
          <p:nvPr/>
        </p:nvSpPr>
        <p:spPr>
          <a:xfrm>
            <a:off x="10179401"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71" name="TextBox 70"/>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72" name="Picture 71" descr="lock.png"/>
          <p:cNvPicPr>
            <a:picLocks noChangeAspect="1"/>
          </p:cNvPicPr>
          <p:nvPr/>
        </p:nvPicPr>
        <p:blipFill>
          <a:blip r:embed="rId5"/>
          <a:stretch>
            <a:fillRect/>
          </a:stretch>
        </p:blipFill>
        <p:spPr>
          <a:xfrm>
            <a:off x="9114014" y="2494089"/>
            <a:ext cx="134549" cy="195707"/>
          </a:xfrm>
          <a:prstGeom prst="rect">
            <a:avLst/>
          </a:prstGeom>
        </p:spPr>
      </p:pic>
      <p:sp>
        <p:nvSpPr>
          <p:cNvPr id="73" name="TextBox 72"/>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74"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Grade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Grade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Grade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Grade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Grade Type segment categorizes the market by grade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Culinary Grade</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Ceremonial Grade</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Industrial Grade</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Drinking Grade</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Premium Grade</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6" name="Rectangle 5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58" name="Rounded Rectangle 5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0" name="Rectangle 5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p:txBody>
      </p:sp>
      <p:sp>
        <p:nvSpPr>
          <p:cNvPr id="62" name="Rounded Rectangle 6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4" name="Rectangle 6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Grade Type split shows how demand is distributed across grade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6" name="Rectangle 6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8" name="TextBox 6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9" name="TextBox 6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0" name="Picture 69" descr="1_699_605E5C.png"/>
          <p:cNvPicPr>
            <a:picLocks noChangeAspect="1"/>
          </p:cNvPicPr>
          <p:nvPr/>
        </p:nvPicPr>
        <p:blipFill>
          <a:blip r:embed="rId4"/>
          <a:stretch>
            <a:fillRect/>
          </a:stretch>
        </p:blipFill>
        <p:spPr>
          <a:xfrm>
            <a:off x="2223441" y="2286582"/>
            <a:ext cx="1195728" cy="361950"/>
          </a:xfrm>
          <a:prstGeom prst="rect">
            <a:avLst/>
          </a:prstGeom>
        </p:spPr>
      </p:pic>
      <p:pic>
        <p:nvPicPr>
          <p:cNvPr id="71" name="Picture 70" descr="3_301_605E5C.png"/>
          <p:cNvPicPr>
            <a:picLocks noChangeAspect="1"/>
          </p:cNvPicPr>
          <p:nvPr/>
        </p:nvPicPr>
        <p:blipFill>
          <a:blip r:embed="rId5"/>
          <a:stretch>
            <a:fillRect/>
          </a:stretch>
        </p:blipFill>
        <p:spPr>
          <a:xfrm>
            <a:off x="2223441" y="2779432"/>
            <a:ext cx="1195728" cy="361950"/>
          </a:xfrm>
          <a:prstGeom prst="rect">
            <a:avLst/>
          </a:prstGeom>
        </p:spPr>
      </p:pic>
      <p:pic>
        <p:nvPicPr>
          <p:cNvPr id="72" name="Picture 71" descr="6_9__605E5C.png"/>
          <p:cNvPicPr>
            <a:picLocks noChangeAspect="1"/>
          </p:cNvPicPr>
          <p:nvPr/>
        </p:nvPicPr>
        <p:blipFill>
          <a:blip r:embed="rId6"/>
          <a:stretch>
            <a:fillRect/>
          </a:stretch>
        </p:blipFill>
        <p:spPr>
          <a:xfrm>
            <a:off x="2330087" y="3272281"/>
            <a:ext cx="982436" cy="361950"/>
          </a:xfrm>
          <a:prstGeom prst="rect">
            <a:avLst/>
          </a:prstGeom>
        </p:spPr>
      </p:pic>
      <p:pic>
        <p:nvPicPr>
          <p:cNvPr id="73" name="Picture 72" descr="487_2_605E5C.png"/>
          <p:cNvPicPr>
            <a:picLocks noChangeAspect="1"/>
          </p:cNvPicPr>
          <p:nvPr/>
        </p:nvPicPr>
        <p:blipFill>
          <a:blip r:embed="rId7"/>
          <a:stretch>
            <a:fillRect/>
          </a:stretch>
        </p:blipFill>
        <p:spPr>
          <a:xfrm>
            <a:off x="4246551" y="2286582"/>
            <a:ext cx="1195728" cy="361950"/>
          </a:xfrm>
          <a:prstGeom prst="rect">
            <a:avLst/>
          </a:prstGeom>
        </p:spPr>
      </p:pic>
      <p:pic>
        <p:nvPicPr>
          <p:cNvPr id="74" name="Picture 73" descr="1_166_605E5C.png"/>
          <p:cNvPicPr>
            <a:picLocks noChangeAspect="1"/>
          </p:cNvPicPr>
          <p:nvPr/>
        </p:nvPicPr>
        <p:blipFill>
          <a:blip r:embed="rId8"/>
          <a:stretch>
            <a:fillRect/>
          </a:stretch>
        </p:blipFill>
        <p:spPr>
          <a:xfrm>
            <a:off x="4246551" y="2779432"/>
            <a:ext cx="1195728" cy="361950"/>
          </a:xfrm>
          <a:prstGeom prst="rect">
            <a:avLst/>
          </a:prstGeom>
        </p:spPr>
      </p:pic>
      <p:pic>
        <p:nvPicPr>
          <p:cNvPr id="75" name="Picture 74" descr="9_1__605E5C.png"/>
          <p:cNvPicPr>
            <a:picLocks noChangeAspect="1"/>
          </p:cNvPicPr>
          <p:nvPr/>
        </p:nvPicPr>
        <p:blipFill>
          <a:blip r:embed="rId9"/>
          <a:stretch>
            <a:fillRect/>
          </a:stretch>
        </p:blipFill>
        <p:spPr>
          <a:xfrm>
            <a:off x="4353197" y="3272281"/>
            <a:ext cx="982436" cy="361950"/>
          </a:xfrm>
          <a:prstGeom prst="rect">
            <a:avLst/>
          </a:prstGeom>
        </p:spPr>
      </p:pic>
      <p:pic>
        <p:nvPicPr>
          <p:cNvPr id="76" name="Picture 75" descr="472_2_605E5C.png"/>
          <p:cNvPicPr>
            <a:picLocks noChangeAspect="1"/>
          </p:cNvPicPr>
          <p:nvPr/>
        </p:nvPicPr>
        <p:blipFill>
          <a:blip r:embed="rId10"/>
          <a:stretch>
            <a:fillRect/>
          </a:stretch>
        </p:blipFill>
        <p:spPr>
          <a:xfrm>
            <a:off x="6269661" y="2286582"/>
            <a:ext cx="1195728" cy="361950"/>
          </a:xfrm>
          <a:prstGeom prst="rect">
            <a:avLst/>
          </a:prstGeom>
        </p:spPr>
      </p:pic>
      <p:pic>
        <p:nvPicPr>
          <p:cNvPr id="77" name="Picture 76" descr="882_0_605E5C.png"/>
          <p:cNvPicPr>
            <a:picLocks noChangeAspect="1"/>
          </p:cNvPicPr>
          <p:nvPr/>
        </p:nvPicPr>
        <p:blipFill>
          <a:blip r:embed="rId11"/>
          <a:stretch>
            <a:fillRect/>
          </a:stretch>
        </p:blipFill>
        <p:spPr>
          <a:xfrm>
            <a:off x="6269661" y="2779432"/>
            <a:ext cx="1195728" cy="361950"/>
          </a:xfrm>
          <a:prstGeom prst="rect">
            <a:avLst/>
          </a:prstGeom>
        </p:spPr>
      </p:pic>
      <p:pic>
        <p:nvPicPr>
          <p:cNvPr id="78" name="Picture 77" descr="6_4__605E5C.png"/>
          <p:cNvPicPr>
            <a:picLocks noChangeAspect="1"/>
          </p:cNvPicPr>
          <p:nvPr/>
        </p:nvPicPr>
        <p:blipFill>
          <a:blip r:embed="rId12"/>
          <a:stretch>
            <a:fillRect/>
          </a:stretch>
        </p:blipFill>
        <p:spPr>
          <a:xfrm>
            <a:off x="6376307" y="3272281"/>
            <a:ext cx="982436" cy="361950"/>
          </a:xfrm>
          <a:prstGeom prst="rect">
            <a:avLst/>
          </a:prstGeom>
        </p:spPr>
      </p:pic>
      <p:pic>
        <p:nvPicPr>
          <p:cNvPr id="79" name="Picture 78" descr="396_0_605E5C.png"/>
          <p:cNvPicPr>
            <a:picLocks noChangeAspect="1"/>
          </p:cNvPicPr>
          <p:nvPr/>
        </p:nvPicPr>
        <p:blipFill>
          <a:blip r:embed="rId13"/>
          <a:stretch>
            <a:fillRect/>
          </a:stretch>
        </p:blipFill>
        <p:spPr>
          <a:xfrm>
            <a:off x="8292771" y="2286582"/>
            <a:ext cx="1195728" cy="361950"/>
          </a:xfrm>
          <a:prstGeom prst="rect">
            <a:avLst/>
          </a:prstGeom>
        </p:spPr>
      </p:pic>
      <p:pic>
        <p:nvPicPr>
          <p:cNvPr id="80" name="Picture 79" descr="692_1_605E5C.png"/>
          <p:cNvPicPr>
            <a:picLocks noChangeAspect="1"/>
          </p:cNvPicPr>
          <p:nvPr/>
        </p:nvPicPr>
        <p:blipFill>
          <a:blip r:embed="rId14"/>
          <a:stretch>
            <a:fillRect/>
          </a:stretch>
        </p:blipFill>
        <p:spPr>
          <a:xfrm>
            <a:off x="8292771" y="2779432"/>
            <a:ext cx="1195728" cy="361950"/>
          </a:xfrm>
          <a:prstGeom prst="rect">
            <a:avLst/>
          </a:prstGeom>
        </p:spPr>
      </p:pic>
      <p:pic>
        <p:nvPicPr>
          <p:cNvPr id="81" name="Picture 80" descr="5_7__605E5C.png"/>
          <p:cNvPicPr>
            <a:picLocks noChangeAspect="1"/>
          </p:cNvPicPr>
          <p:nvPr/>
        </p:nvPicPr>
        <p:blipFill>
          <a:blip r:embed="rId15"/>
          <a:stretch>
            <a:fillRect/>
          </a:stretch>
        </p:blipFill>
        <p:spPr>
          <a:xfrm>
            <a:off x="8399417" y="3272281"/>
            <a:ext cx="982436" cy="361950"/>
          </a:xfrm>
          <a:prstGeom prst="rect">
            <a:avLst/>
          </a:prstGeom>
        </p:spPr>
      </p:pic>
      <p:pic>
        <p:nvPicPr>
          <p:cNvPr id="82" name="Picture 81" descr="318_9_605E5C.png"/>
          <p:cNvPicPr>
            <a:picLocks noChangeAspect="1"/>
          </p:cNvPicPr>
          <p:nvPr/>
        </p:nvPicPr>
        <p:blipFill>
          <a:blip r:embed="rId16"/>
          <a:stretch>
            <a:fillRect/>
          </a:stretch>
        </p:blipFill>
        <p:spPr>
          <a:xfrm>
            <a:off x="10315881" y="2286582"/>
            <a:ext cx="1195728" cy="361950"/>
          </a:xfrm>
          <a:prstGeom prst="rect">
            <a:avLst/>
          </a:prstGeom>
        </p:spPr>
      </p:pic>
      <p:pic>
        <p:nvPicPr>
          <p:cNvPr id="83" name="Picture 82" descr="677_0_605E5C.png"/>
          <p:cNvPicPr>
            <a:picLocks noChangeAspect="1"/>
          </p:cNvPicPr>
          <p:nvPr/>
        </p:nvPicPr>
        <p:blipFill>
          <a:blip r:embed="rId17"/>
          <a:stretch>
            <a:fillRect/>
          </a:stretch>
        </p:blipFill>
        <p:spPr>
          <a:xfrm>
            <a:off x="10315881" y="2779432"/>
            <a:ext cx="1195728" cy="361950"/>
          </a:xfrm>
          <a:prstGeom prst="rect">
            <a:avLst/>
          </a:prstGeom>
        </p:spPr>
      </p:pic>
      <p:pic>
        <p:nvPicPr>
          <p:cNvPr id="84" name="Picture 83" descr="7_8__605E5C.png"/>
          <p:cNvPicPr>
            <a:picLocks noChangeAspect="1"/>
          </p:cNvPicPr>
          <p:nvPr/>
        </p:nvPicPr>
        <p:blipFill>
          <a:blip r:embed="rId18"/>
          <a:stretch>
            <a:fillRect/>
          </a:stretch>
        </p:blipFill>
        <p:spPr>
          <a:xfrm>
            <a:off x="10422527" y="3272281"/>
            <a:ext cx="982436" cy="361950"/>
          </a:xfrm>
          <a:prstGeom prst="rect">
            <a:avLst/>
          </a:prstGeom>
        </p:spPr>
      </p:pic>
      <p:pic>
        <p:nvPicPr>
          <p:cNvPr id="85" name="Picture 84" descr="lock.png"/>
          <p:cNvPicPr>
            <a:picLocks noChangeAspect="1"/>
          </p:cNvPicPr>
          <p:nvPr/>
        </p:nvPicPr>
        <p:blipFill>
          <a:blip r:embed="rId19"/>
          <a:stretch>
            <a:fillRect/>
          </a:stretch>
        </p:blipFill>
        <p:spPr>
          <a:xfrm>
            <a:off x="2727960" y="2827057"/>
            <a:ext cx="183356" cy="266700"/>
          </a:xfrm>
          <a:prstGeom prst="rect">
            <a:avLst/>
          </a:prstGeom>
        </p:spPr>
      </p:pic>
      <p:pic>
        <p:nvPicPr>
          <p:cNvPr id="86" name="Picture 85" descr="lock.png"/>
          <p:cNvPicPr>
            <a:picLocks noChangeAspect="1"/>
          </p:cNvPicPr>
          <p:nvPr/>
        </p:nvPicPr>
        <p:blipFill>
          <a:blip r:embed="rId19"/>
          <a:stretch>
            <a:fillRect/>
          </a:stretch>
        </p:blipFill>
        <p:spPr>
          <a:xfrm>
            <a:off x="4751070" y="2827057"/>
            <a:ext cx="183356" cy="266700"/>
          </a:xfrm>
          <a:prstGeom prst="rect">
            <a:avLst/>
          </a:prstGeom>
        </p:spPr>
      </p:pic>
      <p:pic>
        <p:nvPicPr>
          <p:cNvPr id="87" name="Picture 86" descr="lock.png"/>
          <p:cNvPicPr>
            <a:picLocks noChangeAspect="1"/>
          </p:cNvPicPr>
          <p:nvPr/>
        </p:nvPicPr>
        <p:blipFill>
          <a:blip r:embed="rId19"/>
          <a:stretch>
            <a:fillRect/>
          </a:stretch>
        </p:blipFill>
        <p:spPr>
          <a:xfrm>
            <a:off x="6774180" y="2827057"/>
            <a:ext cx="183356" cy="266700"/>
          </a:xfrm>
          <a:prstGeom prst="rect">
            <a:avLst/>
          </a:prstGeom>
        </p:spPr>
      </p:pic>
      <p:pic>
        <p:nvPicPr>
          <p:cNvPr id="88" name="Picture 87" descr="lock.png"/>
          <p:cNvPicPr>
            <a:picLocks noChangeAspect="1"/>
          </p:cNvPicPr>
          <p:nvPr/>
        </p:nvPicPr>
        <p:blipFill>
          <a:blip r:embed="rId19"/>
          <a:stretch>
            <a:fillRect/>
          </a:stretch>
        </p:blipFill>
        <p:spPr>
          <a:xfrm>
            <a:off x="8797290" y="2827057"/>
            <a:ext cx="183356" cy="266700"/>
          </a:xfrm>
          <a:prstGeom prst="rect">
            <a:avLst/>
          </a:prstGeom>
        </p:spPr>
      </p:pic>
      <p:pic>
        <p:nvPicPr>
          <p:cNvPr id="89" name="Picture 88" descr="lock.png"/>
          <p:cNvPicPr>
            <a:picLocks noChangeAspect="1"/>
          </p:cNvPicPr>
          <p:nvPr/>
        </p:nvPicPr>
        <p:blipFill>
          <a:blip r:embed="rId19"/>
          <a:stretch>
            <a:fillRect/>
          </a:stretch>
        </p:blipFill>
        <p:spPr>
          <a:xfrm>
            <a:off x="10820400" y="2827057"/>
            <a:ext cx="183356" cy="266700"/>
          </a:xfrm>
          <a:prstGeom prst="rect">
            <a:avLst/>
          </a:prstGeom>
        </p:spPr>
      </p:pic>
      <p:sp>
        <p:nvSpPr>
          <p:cNvPr id="90" name="TextBox 89"/>
          <p:cNvSpPr txBox="1"/>
          <p:nvPr/>
        </p:nvSpPr>
        <p:spPr>
          <a:xfrm>
            <a:off x="485775" y="4229437"/>
            <a:ext cx="2806898" cy="186689"/>
          </a:xfrm>
          <a:prstGeom prst="rect">
            <a:avLst/>
          </a:prstGeom>
          <a:noFill/>
        </p:spPr>
        <p:txBody>
          <a:bodyPr wrap="none" lIns="0" rIns="0" tIns="0" bIns="0">
            <a:spAutoFit/>
          </a:bodyPr>
          <a:lstStyle/>
          <a:p>
            <a:r>
              <a:rPr sz="1100" b="0">
                <a:solidFill>
                  <a:srgbClr val="2E2E2E"/>
                </a:solidFill>
                <a:latin typeface="Calibri"/>
              </a:rPr>
              <a:t>Among matcha by grade type, ceremonial grade</a:t>
            </a:r>
          </a:p>
        </p:txBody>
      </p:sp>
      <p:sp>
        <p:nvSpPr>
          <p:cNvPr id="91" name="TextBox 90"/>
          <p:cNvSpPr txBox="1"/>
          <p:nvPr/>
        </p:nvSpPr>
        <p:spPr>
          <a:xfrm>
            <a:off x="485775" y="439707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92" name="TextBox 91"/>
          <p:cNvSpPr txBox="1"/>
          <p:nvPr/>
        </p:nvSpPr>
        <p:spPr>
          <a:xfrm>
            <a:off x="485775" y="456471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93" name="Picture 92" descr="lock.png"/>
          <p:cNvPicPr>
            <a:picLocks noChangeAspect="1"/>
          </p:cNvPicPr>
          <p:nvPr/>
        </p:nvPicPr>
        <p:blipFill>
          <a:blip r:embed="rId19"/>
          <a:stretch>
            <a:fillRect/>
          </a:stretch>
        </p:blipFill>
        <p:spPr>
          <a:xfrm>
            <a:off x="626261" y="4554938"/>
            <a:ext cx="128699" cy="187198"/>
          </a:xfrm>
          <a:prstGeom prst="rect">
            <a:avLst/>
          </a:prstGeom>
        </p:spPr>
      </p:pic>
      <p:sp>
        <p:nvSpPr>
          <p:cNvPr id="94" name="TextBox 93"/>
          <p:cNvSpPr txBox="1"/>
          <p:nvPr/>
        </p:nvSpPr>
        <p:spPr>
          <a:xfrm>
            <a:off x="793757" y="456471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95" name="TextBox 94"/>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share by grade type, the culinary grade segment is</a:t>
            </a:r>
          </a:p>
        </p:txBody>
      </p:sp>
      <p:sp>
        <p:nvSpPr>
          <p:cNvPr id="96" name="TextBox 95"/>
          <p:cNvSpPr txBox="1"/>
          <p:nvPr/>
        </p:nvSpPr>
        <p:spPr>
          <a:xfrm>
            <a:off x="485775" y="489999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97" name="Picture 96" descr="lock.png"/>
          <p:cNvPicPr>
            <a:picLocks noChangeAspect="1"/>
          </p:cNvPicPr>
          <p:nvPr/>
        </p:nvPicPr>
        <p:blipFill>
          <a:blip r:embed="rId19"/>
          <a:stretch>
            <a:fillRect/>
          </a:stretch>
        </p:blipFill>
        <p:spPr>
          <a:xfrm>
            <a:off x="2822716" y="4890217"/>
            <a:ext cx="128699" cy="187198"/>
          </a:xfrm>
          <a:prstGeom prst="rect">
            <a:avLst/>
          </a:prstGeom>
        </p:spPr>
      </p:pic>
      <p:sp>
        <p:nvSpPr>
          <p:cNvPr id="98" name="TextBox 97"/>
          <p:cNvSpPr txBox="1"/>
          <p:nvPr/>
        </p:nvSpPr>
        <p:spPr>
          <a:xfrm>
            <a:off x="2990212" y="489999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9" name="TextBox 98"/>
          <p:cNvSpPr txBox="1"/>
          <p:nvPr/>
        </p:nvSpPr>
        <p:spPr>
          <a:xfrm>
            <a:off x="485775" y="506763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100" name="Picture 99" descr="lock.png"/>
          <p:cNvPicPr>
            <a:picLocks noChangeAspect="1"/>
          </p:cNvPicPr>
          <p:nvPr/>
        </p:nvPicPr>
        <p:blipFill>
          <a:blip r:embed="rId19"/>
          <a:stretch>
            <a:fillRect/>
          </a:stretch>
        </p:blipFill>
        <p:spPr>
          <a:xfrm>
            <a:off x="1576057" y="5057858"/>
            <a:ext cx="128699" cy="187198"/>
          </a:xfrm>
          <a:prstGeom prst="rect">
            <a:avLst/>
          </a:prstGeom>
        </p:spPr>
      </p:pic>
      <p:sp>
        <p:nvSpPr>
          <p:cNvPr id="101" name="TextBox 100"/>
          <p:cNvSpPr txBox="1"/>
          <p:nvPr/>
        </p:nvSpPr>
        <p:spPr>
          <a:xfrm>
            <a:off x="174355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02" name="TextBox 101"/>
          <p:cNvSpPr txBox="1"/>
          <p:nvPr/>
        </p:nvSpPr>
        <p:spPr>
          <a:xfrm>
            <a:off x="485775" y="5285569"/>
            <a:ext cx="2738412" cy="186689"/>
          </a:xfrm>
          <a:prstGeom prst="rect">
            <a:avLst/>
          </a:prstGeom>
          <a:noFill/>
        </p:spPr>
        <p:txBody>
          <a:bodyPr wrap="none" lIns="0" rIns="0" tIns="0" bIns="0">
            <a:spAutoFit/>
          </a:bodyPr>
          <a:lstStyle/>
          <a:p>
            <a:r>
              <a:rPr sz="1100" b="0">
                <a:solidFill>
                  <a:srgbClr val="2E2E2E"/>
                </a:solidFill>
                <a:latin typeface="Calibri"/>
              </a:rPr>
              <a:t>Culinary grade segment is projected to register</a:t>
            </a:r>
          </a:p>
        </p:txBody>
      </p:sp>
      <p:pic>
        <p:nvPicPr>
          <p:cNvPr id="103" name="Picture 102" descr="lock.png"/>
          <p:cNvPicPr>
            <a:picLocks noChangeAspect="1"/>
          </p:cNvPicPr>
          <p:nvPr/>
        </p:nvPicPr>
        <p:blipFill>
          <a:blip r:embed="rId19"/>
          <a:stretch>
            <a:fillRect/>
          </a:stretch>
        </p:blipFill>
        <p:spPr>
          <a:xfrm>
            <a:off x="472307" y="5443430"/>
            <a:ext cx="128699" cy="187198"/>
          </a:xfrm>
          <a:prstGeom prst="rect">
            <a:avLst/>
          </a:prstGeom>
        </p:spPr>
      </p:pic>
      <p:sp>
        <p:nvSpPr>
          <p:cNvPr id="104" name="TextBox 103"/>
          <p:cNvSpPr txBox="1"/>
          <p:nvPr/>
        </p:nvSpPr>
        <p:spPr>
          <a:xfrm>
            <a:off x="639803" y="5453209"/>
            <a:ext cx="2720404" cy="186689"/>
          </a:xfrm>
          <a:prstGeom prst="rect">
            <a:avLst/>
          </a:prstGeom>
          <a:noFill/>
        </p:spPr>
        <p:txBody>
          <a:bodyPr wrap="none" lIns="0" rIns="0" tIns="0" bIns="0">
            <a:spAutoFit/>
          </a:bodyPr>
          <a:lstStyle/>
          <a:p>
            <a:r>
              <a:rPr sz="1100" b="0">
                <a:solidFill>
                  <a:srgbClr val="2E2E2E"/>
                </a:solidFill>
                <a:latin typeface="Calibri"/>
              </a:rPr>
              <a:t>X higher value than ceremonial grade segment</a:t>
            </a:r>
          </a:p>
        </p:txBody>
      </p:sp>
      <p:sp>
        <p:nvSpPr>
          <p:cNvPr id="105" name="TextBox 104"/>
          <p:cNvSpPr txBox="1"/>
          <p:nvPr/>
        </p:nvSpPr>
        <p:spPr>
          <a:xfrm>
            <a:off x="485775" y="5620849"/>
            <a:ext cx="532407" cy="186689"/>
          </a:xfrm>
          <a:prstGeom prst="rect">
            <a:avLst/>
          </a:prstGeom>
          <a:noFill/>
        </p:spPr>
        <p:txBody>
          <a:bodyPr wrap="none" lIns="0" rIns="0" tIns="0" bIns="0">
            <a:spAutoFit/>
          </a:bodyPr>
          <a:lstStyle/>
          <a:p>
            <a:r>
              <a:rPr sz="1100" b="0">
                <a:solidFill>
                  <a:srgbClr val="2E2E2E"/>
                </a:solidFill>
                <a:latin typeface="Calibri"/>
              </a:rPr>
              <a:t>in 2036.</a:t>
            </a:r>
          </a:p>
        </p:txBody>
      </p:sp>
      <p:sp>
        <p:nvSpPr>
          <p:cNvPr id="106" name="TextBox 105"/>
          <p:cNvSpPr txBox="1"/>
          <p:nvPr/>
        </p:nvSpPr>
        <p:spPr>
          <a:xfrm>
            <a:off x="3838575" y="4229437"/>
            <a:ext cx="1072653" cy="186689"/>
          </a:xfrm>
          <a:prstGeom prst="rect">
            <a:avLst/>
          </a:prstGeom>
          <a:noFill/>
        </p:spPr>
        <p:txBody>
          <a:bodyPr wrap="none" lIns="0" rIns="0" tIns="0" bIns="0">
            <a:spAutoFit/>
          </a:bodyPr>
          <a:lstStyle/>
          <a:p>
            <a:r>
              <a:rPr sz="1100" b="0">
                <a:solidFill>
                  <a:srgbClr val="2E2E2E"/>
                </a:solidFill>
                <a:latin typeface="Calibri"/>
              </a:rPr>
              <a:t>● Culinary Grade:</a:t>
            </a:r>
          </a:p>
        </p:txBody>
      </p:sp>
      <p:pic>
        <p:nvPicPr>
          <p:cNvPr id="107" name="Picture 106" descr="lock.png"/>
          <p:cNvPicPr>
            <a:picLocks noChangeAspect="1"/>
          </p:cNvPicPr>
          <p:nvPr/>
        </p:nvPicPr>
        <p:blipFill>
          <a:blip r:embed="rId19"/>
          <a:stretch>
            <a:fillRect/>
          </a:stretch>
        </p:blipFill>
        <p:spPr>
          <a:xfrm>
            <a:off x="4859280" y="4219658"/>
            <a:ext cx="128699" cy="187198"/>
          </a:xfrm>
          <a:prstGeom prst="rect">
            <a:avLst/>
          </a:prstGeom>
        </p:spPr>
      </p:pic>
      <p:sp>
        <p:nvSpPr>
          <p:cNvPr id="108" name="TextBox 107"/>
          <p:cNvSpPr txBox="1"/>
          <p:nvPr/>
        </p:nvSpPr>
        <p:spPr>
          <a:xfrm>
            <a:off x="502677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9" name="Picture 108" descr="lock.png"/>
          <p:cNvPicPr>
            <a:picLocks noChangeAspect="1"/>
          </p:cNvPicPr>
          <p:nvPr/>
        </p:nvPicPr>
        <p:blipFill>
          <a:blip r:embed="rId19"/>
          <a:stretch>
            <a:fillRect/>
          </a:stretch>
        </p:blipFill>
        <p:spPr>
          <a:xfrm>
            <a:off x="5886226" y="4219658"/>
            <a:ext cx="128699" cy="187198"/>
          </a:xfrm>
          <a:prstGeom prst="rect">
            <a:avLst/>
          </a:prstGeom>
        </p:spPr>
      </p:pic>
      <p:sp>
        <p:nvSpPr>
          <p:cNvPr id="110" name="TextBox 109"/>
          <p:cNvSpPr txBox="1"/>
          <p:nvPr/>
        </p:nvSpPr>
        <p:spPr>
          <a:xfrm>
            <a:off x="605372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11" name="TextBox 110"/>
          <p:cNvSpPr txBox="1"/>
          <p:nvPr/>
        </p:nvSpPr>
        <p:spPr>
          <a:xfrm>
            <a:off x="3838575" y="4447369"/>
            <a:ext cx="1260375" cy="186689"/>
          </a:xfrm>
          <a:prstGeom prst="rect">
            <a:avLst/>
          </a:prstGeom>
          <a:noFill/>
        </p:spPr>
        <p:txBody>
          <a:bodyPr wrap="none" lIns="0" rIns="0" tIns="0" bIns="0">
            <a:spAutoFit/>
          </a:bodyPr>
          <a:lstStyle/>
          <a:p>
            <a:r>
              <a:rPr sz="1100" b="0">
                <a:solidFill>
                  <a:srgbClr val="2E2E2E"/>
                </a:solidFill>
                <a:latin typeface="Calibri"/>
              </a:rPr>
              <a:t>● Ceremonial Grade:</a:t>
            </a:r>
          </a:p>
        </p:txBody>
      </p:sp>
      <p:pic>
        <p:nvPicPr>
          <p:cNvPr id="112" name="Picture 111" descr="lock.png"/>
          <p:cNvPicPr>
            <a:picLocks noChangeAspect="1"/>
          </p:cNvPicPr>
          <p:nvPr/>
        </p:nvPicPr>
        <p:blipFill>
          <a:blip r:embed="rId19"/>
          <a:stretch>
            <a:fillRect/>
          </a:stretch>
        </p:blipFill>
        <p:spPr>
          <a:xfrm>
            <a:off x="5047002" y="4437590"/>
            <a:ext cx="128699" cy="187198"/>
          </a:xfrm>
          <a:prstGeom prst="rect">
            <a:avLst/>
          </a:prstGeom>
        </p:spPr>
      </p:pic>
      <p:sp>
        <p:nvSpPr>
          <p:cNvPr id="113" name="TextBox 112"/>
          <p:cNvSpPr txBox="1"/>
          <p:nvPr/>
        </p:nvSpPr>
        <p:spPr>
          <a:xfrm>
            <a:off x="521449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4" name="Picture 113" descr="lock.png"/>
          <p:cNvPicPr>
            <a:picLocks noChangeAspect="1"/>
          </p:cNvPicPr>
          <p:nvPr/>
        </p:nvPicPr>
        <p:blipFill>
          <a:blip r:embed="rId19"/>
          <a:stretch>
            <a:fillRect/>
          </a:stretch>
        </p:blipFill>
        <p:spPr>
          <a:xfrm>
            <a:off x="6073948" y="4437590"/>
            <a:ext cx="128699" cy="187198"/>
          </a:xfrm>
          <a:prstGeom prst="rect">
            <a:avLst/>
          </a:prstGeom>
        </p:spPr>
      </p:pic>
      <p:sp>
        <p:nvSpPr>
          <p:cNvPr id="115" name="TextBox 114"/>
          <p:cNvSpPr txBox="1"/>
          <p:nvPr/>
        </p:nvSpPr>
        <p:spPr>
          <a:xfrm>
            <a:off x="6241444"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16" name="TextBox 115"/>
          <p:cNvSpPr txBox="1"/>
          <p:nvPr/>
        </p:nvSpPr>
        <p:spPr>
          <a:xfrm>
            <a:off x="3838575" y="4665301"/>
            <a:ext cx="1144959" cy="186689"/>
          </a:xfrm>
          <a:prstGeom prst="rect">
            <a:avLst/>
          </a:prstGeom>
          <a:noFill/>
        </p:spPr>
        <p:txBody>
          <a:bodyPr wrap="none" lIns="0" rIns="0" tIns="0" bIns="0">
            <a:spAutoFit/>
          </a:bodyPr>
          <a:lstStyle/>
          <a:p>
            <a:r>
              <a:rPr sz="1100" b="0">
                <a:solidFill>
                  <a:srgbClr val="2E2E2E"/>
                </a:solidFill>
                <a:latin typeface="Calibri"/>
              </a:rPr>
              <a:t>● Industrial Grade:</a:t>
            </a:r>
          </a:p>
        </p:txBody>
      </p:sp>
      <p:pic>
        <p:nvPicPr>
          <p:cNvPr id="117" name="Picture 116" descr="lock.png"/>
          <p:cNvPicPr>
            <a:picLocks noChangeAspect="1"/>
          </p:cNvPicPr>
          <p:nvPr/>
        </p:nvPicPr>
        <p:blipFill>
          <a:blip r:embed="rId19"/>
          <a:stretch>
            <a:fillRect/>
          </a:stretch>
        </p:blipFill>
        <p:spPr>
          <a:xfrm>
            <a:off x="4931586" y="4655522"/>
            <a:ext cx="128699" cy="187198"/>
          </a:xfrm>
          <a:prstGeom prst="rect">
            <a:avLst/>
          </a:prstGeom>
        </p:spPr>
      </p:pic>
      <p:sp>
        <p:nvSpPr>
          <p:cNvPr id="118" name="TextBox 117"/>
          <p:cNvSpPr txBox="1"/>
          <p:nvPr/>
        </p:nvSpPr>
        <p:spPr>
          <a:xfrm>
            <a:off x="5099081"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9" name="Picture 118" descr="lock.png"/>
          <p:cNvPicPr>
            <a:picLocks noChangeAspect="1"/>
          </p:cNvPicPr>
          <p:nvPr/>
        </p:nvPicPr>
        <p:blipFill>
          <a:blip r:embed="rId19"/>
          <a:stretch>
            <a:fillRect/>
          </a:stretch>
        </p:blipFill>
        <p:spPr>
          <a:xfrm>
            <a:off x="5958532" y="4655522"/>
            <a:ext cx="128699" cy="187198"/>
          </a:xfrm>
          <a:prstGeom prst="rect">
            <a:avLst/>
          </a:prstGeom>
        </p:spPr>
      </p:pic>
      <p:sp>
        <p:nvSpPr>
          <p:cNvPr id="120" name="TextBox 119"/>
          <p:cNvSpPr txBox="1"/>
          <p:nvPr/>
        </p:nvSpPr>
        <p:spPr>
          <a:xfrm>
            <a:off x="612602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1" name="TextBox 120"/>
          <p:cNvSpPr txBox="1"/>
          <p:nvPr/>
        </p:nvSpPr>
        <p:spPr>
          <a:xfrm>
            <a:off x="3838575" y="4883233"/>
            <a:ext cx="1628725" cy="186689"/>
          </a:xfrm>
          <a:prstGeom prst="rect">
            <a:avLst/>
          </a:prstGeom>
          <a:noFill/>
        </p:spPr>
        <p:txBody>
          <a:bodyPr wrap="none" lIns="0" rIns="0" tIns="0" bIns="0">
            <a:spAutoFit/>
          </a:bodyPr>
          <a:lstStyle/>
          <a:p>
            <a:r>
              <a:rPr sz="1100" b="0">
                <a:solidFill>
                  <a:srgbClr val="2E2E2E"/>
                </a:solidFill>
                <a:latin typeface="Calibri"/>
              </a:rPr>
              <a:t>● Standard Drinking Grade:</a:t>
            </a:r>
          </a:p>
        </p:txBody>
      </p:sp>
      <p:pic>
        <p:nvPicPr>
          <p:cNvPr id="122" name="Picture 121" descr="lock.png"/>
          <p:cNvPicPr>
            <a:picLocks noChangeAspect="1"/>
          </p:cNvPicPr>
          <p:nvPr/>
        </p:nvPicPr>
        <p:blipFill>
          <a:blip r:embed="rId19"/>
          <a:stretch>
            <a:fillRect/>
          </a:stretch>
        </p:blipFill>
        <p:spPr>
          <a:xfrm>
            <a:off x="5415351" y="4873454"/>
            <a:ext cx="128699" cy="187198"/>
          </a:xfrm>
          <a:prstGeom prst="rect">
            <a:avLst/>
          </a:prstGeom>
        </p:spPr>
      </p:pic>
      <p:sp>
        <p:nvSpPr>
          <p:cNvPr id="123" name="TextBox 122"/>
          <p:cNvSpPr txBox="1"/>
          <p:nvPr/>
        </p:nvSpPr>
        <p:spPr>
          <a:xfrm>
            <a:off x="5582847"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4" name="Picture 123" descr="lock.png"/>
          <p:cNvPicPr>
            <a:picLocks noChangeAspect="1"/>
          </p:cNvPicPr>
          <p:nvPr/>
        </p:nvPicPr>
        <p:blipFill>
          <a:blip r:embed="rId19"/>
          <a:stretch>
            <a:fillRect/>
          </a:stretch>
        </p:blipFill>
        <p:spPr>
          <a:xfrm>
            <a:off x="6442298" y="4873454"/>
            <a:ext cx="128699" cy="187198"/>
          </a:xfrm>
          <a:prstGeom prst="rect">
            <a:avLst/>
          </a:prstGeom>
        </p:spPr>
      </p:pic>
      <p:sp>
        <p:nvSpPr>
          <p:cNvPr id="125" name="TextBox 124"/>
          <p:cNvSpPr txBox="1"/>
          <p:nvPr/>
        </p:nvSpPr>
        <p:spPr>
          <a:xfrm>
            <a:off x="6609793" y="4883233"/>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26" name="TextBox 125"/>
          <p:cNvSpPr txBox="1"/>
          <p:nvPr/>
        </p:nvSpPr>
        <p:spPr>
          <a:xfrm>
            <a:off x="3838575" y="5050873"/>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27" name="TextBox 126"/>
          <p:cNvSpPr txBox="1"/>
          <p:nvPr/>
        </p:nvSpPr>
        <p:spPr>
          <a:xfrm>
            <a:off x="3838575" y="5268805"/>
            <a:ext cx="1127497" cy="186689"/>
          </a:xfrm>
          <a:prstGeom prst="rect">
            <a:avLst/>
          </a:prstGeom>
          <a:noFill/>
        </p:spPr>
        <p:txBody>
          <a:bodyPr wrap="none" lIns="0" rIns="0" tIns="0" bIns="0">
            <a:spAutoFit/>
          </a:bodyPr>
          <a:lstStyle/>
          <a:p>
            <a:r>
              <a:rPr sz="1100" b="0">
                <a:solidFill>
                  <a:srgbClr val="2E2E2E"/>
                </a:solidFill>
                <a:latin typeface="Calibri"/>
              </a:rPr>
              <a:t>● Premium Grade:</a:t>
            </a:r>
          </a:p>
        </p:txBody>
      </p:sp>
      <p:pic>
        <p:nvPicPr>
          <p:cNvPr id="128" name="Picture 127" descr="lock.png"/>
          <p:cNvPicPr>
            <a:picLocks noChangeAspect="1"/>
          </p:cNvPicPr>
          <p:nvPr/>
        </p:nvPicPr>
        <p:blipFill>
          <a:blip r:embed="rId19"/>
          <a:stretch>
            <a:fillRect/>
          </a:stretch>
        </p:blipFill>
        <p:spPr>
          <a:xfrm>
            <a:off x="4914123" y="5259026"/>
            <a:ext cx="128699" cy="187198"/>
          </a:xfrm>
          <a:prstGeom prst="rect">
            <a:avLst/>
          </a:prstGeom>
        </p:spPr>
      </p:pic>
      <p:sp>
        <p:nvSpPr>
          <p:cNvPr id="129" name="TextBox 128"/>
          <p:cNvSpPr txBox="1"/>
          <p:nvPr/>
        </p:nvSpPr>
        <p:spPr>
          <a:xfrm>
            <a:off x="5081619" y="526880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0" name="Picture 129" descr="lock.png"/>
          <p:cNvPicPr>
            <a:picLocks noChangeAspect="1"/>
          </p:cNvPicPr>
          <p:nvPr/>
        </p:nvPicPr>
        <p:blipFill>
          <a:blip r:embed="rId19"/>
          <a:stretch>
            <a:fillRect/>
          </a:stretch>
        </p:blipFill>
        <p:spPr>
          <a:xfrm>
            <a:off x="5941069" y="5259026"/>
            <a:ext cx="128699" cy="187198"/>
          </a:xfrm>
          <a:prstGeom prst="rect">
            <a:avLst/>
          </a:prstGeom>
        </p:spPr>
      </p:pic>
      <p:sp>
        <p:nvSpPr>
          <p:cNvPr id="131" name="TextBox 130"/>
          <p:cNvSpPr txBox="1"/>
          <p:nvPr/>
        </p:nvSpPr>
        <p:spPr>
          <a:xfrm>
            <a:off x="6108565" y="5268805"/>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2" name="TextBox 131"/>
          <p:cNvSpPr txBox="1"/>
          <p:nvPr/>
        </p:nvSpPr>
        <p:spPr>
          <a:xfrm>
            <a:off x="8524875" y="5842641"/>
            <a:ext cx="3095042" cy="194310"/>
          </a:xfrm>
          <a:prstGeom prst="rect">
            <a:avLst/>
          </a:prstGeom>
          <a:noFill/>
        </p:spPr>
        <p:txBody>
          <a:bodyPr wrap="none" lIns="0" rIns="0" tIns="0" bIns="0">
            <a:spAutoFit/>
          </a:bodyPr>
          <a:lstStyle/>
          <a:p>
            <a:r>
              <a:rPr sz="1150" b="1">
                <a:solidFill>
                  <a:srgbClr val="0B2E4A"/>
                </a:solidFill>
                <a:latin typeface="Calibri"/>
              </a:rPr>
              <a:t>The Grade Type segment is projected to grow at a</a:t>
            </a:r>
          </a:p>
        </p:txBody>
      </p:sp>
      <p:sp>
        <p:nvSpPr>
          <p:cNvPr id="133" name="TextBox 13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34" name="Picture 133" descr="lock.png"/>
          <p:cNvPicPr>
            <a:picLocks noChangeAspect="1"/>
          </p:cNvPicPr>
          <p:nvPr/>
        </p:nvPicPr>
        <p:blipFill>
          <a:blip r:embed="rId19"/>
          <a:stretch>
            <a:fillRect/>
          </a:stretch>
        </p:blipFill>
        <p:spPr>
          <a:xfrm>
            <a:off x="9048826" y="6007677"/>
            <a:ext cx="134549" cy="195707"/>
          </a:xfrm>
          <a:prstGeom prst="rect">
            <a:avLst/>
          </a:prstGeom>
        </p:spPr>
      </p:pic>
      <p:sp>
        <p:nvSpPr>
          <p:cNvPr id="135" name="TextBox 13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Grade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Grade Type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Grade Type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Grade Type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459021" cy="186689"/>
          </a:xfrm>
          <a:prstGeom prst="rect">
            <a:avLst/>
          </a:prstGeom>
          <a:noFill/>
        </p:spPr>
        <p:txBody>
          <a:bodyPr wrap="none" lIns="0" rIns="0" tIns="0" bIns="0">
            <a:spAutoFit/>
          </a:bodyPr>
          <a:lstStyle/>
          <a:p>
            <a:r>
              <a:rPr sz="1100" b="0">
                <a:solidFill>
                  <a:srgbClr val="2E2E2E"/>
                </a:solidFill>
                <a:latin typeface="Calibri"/>
              </a:rPr>
              <a:t>Culinary grade followed by ceremonial grade are expected to be the two most attractive grade type segments in the global matcha market in terms of value over the forecast period. Culinary grade and</a:t>
            </a:r>
          </a:p>
        </p:txBody>
      </p:sp>
      <p:sp>
        <p:nvSpPr>
          <p:cNvPr id="20" name="TextBox 19"/>
          <p:cNvSpPr txBox="1"/>
          <p:nvPr/>
        </p:nvSpPr>
        <p:spPr>
          <a:xfrm>
            <a:off x="257175" y="5945505"/>
            <a:ext cx="2427344" cy="186689"/>
          </a:xfrm>
          <a:prstGeom prst="rect">
            <a:avLst/>
          </a:prstGeom>
          <a:noFill/>
        </p:spPr>
        <p:txBody>
          <a:bodyPr wrap="none" lIns="0" rIns="0" tIns="0" bIns="0">
            <a:spAutoFit/>
          </a:bodyPr>
          <a:lstStyle/>
          <a:p>
            <a:r>
              <a:rPr sz="1100" b="0">
                <a:solidFill>
                  <a:srgbClr val="2E2E2E"/>
                </a:solidFill>
                <a:latin typeface="Calibri"/>
              </a:rPr>
              <a:t>ceremonial grade exhibit a CAGR index of</a:t>
            </a:r>
          </a:p>
        </p:txBody>
      </p:sp>
      <p:pic>
        <p:nvPicPr>
          <p:cNvPr id="21" name="Picture 20" descr="lock.png"/>
          <p:cNvPicPr>
            <a:picLocks noChangeAspect="1"/>
          </p:cNvPicPr>
          <p:nvPr/>
        </p:nvPicPr>
        <p:blipFill>
          <a:blip r:embed="rId6"/>
          <a:stretch>
            <a:fillRect/>
          </a:stretch>
        </p:blipFill>
        <p:spPr>
          <a:xfrm>
            <a:off x="2632571" y="5935726"/>
            <a:ext cx="128699" cy="187198"/>
          </a:xfrm>
          <a:prstGeom prst="rect">
            <a:avLst/>
          </a:prstGeom>
        </p:spPr>
      </p:pic>
      <p:sp>
        <p:nvSpPr>
          <p:cNvPr id="22" name="TextBox 21"/>
          <p:cNvSpPr txBox="1"/>
          <p:nvPr/>
        </p:nvSpPr>
        <p:spPr>
          <a:xfrm>
            <a:off x="2800067"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3037961" y="5935726"/>
            <a:ext cx="128699" cy="187198"/>
          </a:xfrm>
          <a:prstGeom prst="rect">
            <a:avLst/>
          </a:prstGeom>
        </p:spPr>
      </p:pic>
      <p:sp>
        <p:nvSpPr>
          <p:cNvPr id="24" name="TextBox 23"/>
          <p:cNvSpPr txBox="1"/>
          <p:nvPr/>
        </p:nvSpPr>
        <p:spPr>
          <a:xfrm>
            <a:off x="3205457"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4814430" y="5935726"/>
            <a:ext cx="128699" cy="187198"/>
          </a:xfrm>
          <a:prstGeom prst="rect">
            <a:avLst/>
          </a:prstGeom>
        </p:spPr>
      </p:pic>
      <p:sp>
        <p:nvSpPr>
          <p:cNvPr id="26" name="TextBox 25"/>
          <p:cNvSpPr txBox="1"/>
          <p:nvPr/>
        </p:nvSpPr>
        <p:spPr>
          <a:xfrm>
            <a:off x="4981926"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5219821" y="5935726"/>
            <a:ext cx="128699" cy="187198"/>
          </a:xfrm>
          <a:prstGeom prst="rect">
            <a:avLst/>
          </a:prstGeom>
        </p:spPr>
      </p:pic>
      <p:sp>
        <p:nvSpPr>
          <p:cNvPr id="28" name="TextBox 27"/>
          <p:cNvSpPr txBox="1"/>
          <p:nvPr/>
        </p:nvSpPr>
        <p:spPr>
          <a:xfrm>
            <a:off x="5387316"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7941721" y="5935726"/>
            <a:ext cx="128699" cy="187198"/>
          </a:xfrm>
          <a:prstGeom prst="rect">
            <a:avLst/>
          </a:prstGeom>
        </p:spPr>
      </p:pic>
      <p:sp>
        <p:nvSpPr>
          <p:cNvPr id="30" name="TextBox 29"/>
          <p:cNvSpPr txBox="1"/>
          <p:nvPr/>
        </p:nvSpPr>
        <p:spPr>
          <a:xfrm>
            <a:off x="8109216" y="5945505"/>
            <a:ext cx="3262833" cy="186689"/>
          </a:xfrm>
          <a:prstGeom prst="rect">
            <a:avLst/>
          </a:prstGeom>
          <a:noFill/>
        </p:spPr>
        <p:txBody>
          <a:bodyPr wrap="none" lIns="0" rIns="0" tIns="0" bIns="0">
            <a:spAutoFit/>
          </a:bodyPr>
          <a:lstStyle/>
          <a:p>
            <a:r>
              <a:rPr sz="1100" b="0">
                <a:solidFill>
                  <a:srgbClr val="2E2E2E"/>
                </a:solidFill>
                <a:latin typeface="Calibri"/>
              </a:rPr>
              <a:t>. The standard drinking grade segment is expected to be</a:t>
            </a:r>
          </a:p>
        </p:txBody>
      </p:sp>
      <p:sp>
        <p:nvSpPr>
          <p:cNvPr id="31" name="TextBox 30"/>
          <p:cNvSpPr txBox="1"/>
          <p:nvPr/>
        </p:nvSpPr>
        <p:spPr>
          <a:xfrm>
            <a:off x="257175" y="6113145"/>
            <a:ext cx="11580952" cy="186689"/>
          </a:xfrm>
          <a:prstGeom prst="rect">
            <a:avLst/>
          </a:prstGeom>
          <a:noFill/>
        </p:spPr>
        <p:txBody>
          <a:bodyPr wrap="none" lIns="0" rIns="0" tIns="0" bIns="0">
            <a:spAutoFit/>
          </a:bodyPr>
          <a:lstStyle/>
          <a:p>
            <a:r>
              <a:rPr sz="1100" b="0">
                <a:solidFill>
                  <a:srgbClr val="2E2E2E"/>
                </a:solidFill>
                <a:latin typeface="Calibri"/>
              </a:rPr>
              <a:t>less attractive as compared to other segments over the forecast period, owing to its lower CAGR and incremental opportunity. Bubbles right of the CAGR-Index line grow faster than the 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Grade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Grade Type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Ceremonial Grade</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Premium Grade</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Standard Drinking Grade</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Culinary Grade</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Grade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Grade Type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Industrial Grade</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Grade Type</a:t>
            </a:r>
          </a:p>
        </p:txBody>
      </p:sp>
      <p:sp>
        <p:nvSpPr>
          <p:cNvPr id="15" name="Rectangle 14"/>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24059" y="3583939"/>
            <a:ext cx="402511" cy="585471"/>
          </a:xfrm>
          <a:prstGeom prst="rect">
            <a:avLst/>
          </a:prstGeom>
        </p:spPr>
      </p:pic>
      <p:sp>
        <p:nvSpPr>
          <p:cNvPr id="19" name="TextBox 18"/>
          <p:cNvSpPr txBox="1"/>
          <p:nvPr/>
        </p:nvSpPr>
        <p:spPr>
          <a:xfrm>
            <a:off x="6305550" y="1400175"/>
            <a:ext cx="4343290" cy="194310"/>
          </a:xfrm>
          <a:prstGeom prst="rect">
            <a:avLst/>
          </a:prstGeom>
          <a:noFill/>
        </p:spPr>
        <p:txBody>
          <a:bodyPr wrap="none" lIns="0" rIns="0" tIns="0" bIns="0">
            <a:spAutoFit/>
          </a:bodyPr>
          <a:lstStyle/>
          <a:p>
            <a:r>
              <a:rPr sz="1150" b="0">
                <a:solidFill>
                  <a:srgbClr val="2E2E2E"/>
                </a:solidFill>
                <a:latin typeface="Calibri"/>
              </a:rPr>
              <a:t>By 2036, culinary grade segment is anticipated to witness an increase of</a:t>
            </a:r>
          </a:p>
        </p:txBody>
      </p:sp>
      <p:pic>
        <p:nvPicPr>
          <p:cNvPr id="20" name="Picture 19" descr="lock.png"/>
          <p:cNvPicPr>
            <a:picLocks noChangeAspect="1"/>
          </p:cNvPicPr>
          <p:nvPr/>
        </p:nvPicPr>
        <p:blipFill>
          <a:blip r:embed="rId5"/>
          <a:stretch>
            <a:fillRect/>
          </a:stretch>
        </p:blipFill>
        <p:spPr>
          <a:xfrm>
            <a:off x="10597994" y="1389951"/>
            <a:ext cx="134549" cy="195707"/>
          </a:xfrm>
          <a:prstGeom prst="rect">
            <a:avLst/>
          </a:prstGeom>
        </p:spPr>
      </p:pic>
      <p:sp>
        <p:nvSpPr>
          <p:cNvPr id="21" name="TextBox 20"/>
          <p:cNvSpPr txBox="1"/>
          <p:nvPr/>
        </p:nvSpPr>
        <p:spPr>
          <a:xfrm>
            <a:off x="10773104" y="1400175"/>
            <a:ext cx="829840" cy="194310"/>
          </a:xfrm>
          <a:prstGeom prst="rect">
            <a:avLst/>
          </a:prstGeom>
          <a:noFill/>
        </p:spPr>
        <p:txBody>
          <a:bodyPr wrap="none" lIns="0" rIns="0" tIns="0" bIns="0">
            <a:spAutoFit/>
          </a:bodyPr>
          <a:lstStyle/>
          <a:p>
            <a:r>
              <a:rPr sz="1150" b="0">
                <a:solidFill>
                  <a:srgbClr val="2E2E2E"/>
                </a:solidFill>
                <a:latin typeface="Calibri"/>
              </a:rPr>
              <a:t>X in terms of</a:t>
            </a:r>
          </a:p>
        </p:txBody>
      </p:sp>
      <p:sp>
        <p:nvSpPr>
          <p:cNvPr id="22" name="TextBox 21"/>
          <p:cNvSpPr txBox="1"/>
          <p:nvPr/>
        </p:nvSpPr>
        <p:spPr>
          <a:xfrm>
            <a:off x="6305550" y="1575435"/>
            <a:ext cx="5591175" cy="194310"/>
          </a:xfrm>
          <a:prstGeom prst="rect">
            <a:avLst/>
          </a:prstGeom>
          <a:noFill/>
        </p:spPr>
        <p:txBody>
          <a:bodyPr wrap="none" lIns="0" rIns="0" tIns="0" bIns="0">
            <a:spAutoFit/>
          </a:bodyPr>
          <a:lstStyle/>
          <a:p>
            <a:r>
              <a:rPr sz="1150" b="0">
                <a:solidFill>
                  <a:srgbClr val="2E2E2E"/>
                </a:solidFill>
                <a:latin typeface="Calibri"/>
              </a:rPr>
              <a:t>value as compared to 2026. The culinary grade segment is expected to create an incremental</a:t>
            </a:r>
          </a:p>
        </p:txBody>
      </p:sp>
      <p:sp>
        <p:nvSpPr>
          <p:cNvPr id="23" name="TextBox 22"/>
          <p:cNvSpPr txBox="1"/>
          <p:nvPr/>
        </p:nvSpPr>
        <p:spPr>
          <a:xfrm>
            <a:off x="6305550" y="1750695"/>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24" name="Picture 23" descr="lock.png"/>
          <p:cNvPicPr>
            <a:picLocks noChangeAspect="1"/>
          </p:cNvPicPr>
          <p:nvPr/>
        </p:nvPicPr>
        <p:blipFill>
          <a:blip r:embed="rId5"/>
          <a:stretch>
            <a:fillRect/>
          </a:stretch>
        </p:blipFill>
        <p:spPr>
          <a:xfrm>
            <a:off x="7463647" y="1740471"/>
            <a:ext cx="134549" cy="195707"/>
          </a:xfrm>
          <a:prstGeom prst="rect">
            <a:avLst/>
          </a:prstGeom>
        </p:spPr>
      </p:pic>
      <p:sp>
        <p:nvSpPr>
          <p:cNvPr id="25" name="TextBox 24"/>
          <p:cNvSpPr txBox="1"/>
          <p:nvPr/>
        </p:nvSpPr>
        <p:spPr>
          <a:xfrm>
            <a:off x="7638756" y="1750695"/>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26" name="TextBox 25"/>
          <p:cNvSpPr txBox="1"/>
          <p:nvPr/>
        </p:nvSpPr>
        <p:spPr>
          <a:xfrm>
            <a:off x="6305550" y="1978533"/>
            <a:ext cx="5281228" cy="194310"/>
          </a:xfrm>
          <a:prstGeom prst="rect">
            <a:avLst/>
          </a:prstGeom>
          <a:noFill/>
        </p:spPr>
        <p:txBody>
          <a:bodyPr wrap="none" lIns="0" rIns="0" tIns="0" bIns="0">
            <a:spAutoFit/>
          </a:bodyPr>
          <a:lstStyle/>
          <a:p>
            <a:r>
              <a:rPr sz="1150" b="0">
                <a:solidFill>
                  <a:srgbClr val="2E2E2E"/>
                </a:solidFill>
                <a:latin typeface="Calibri"/>
              </a:rPr>
              <a:t>The ceremonial grade segment is expected to create an incremental opportunity of US$</a:t>
            </a:r>
          </a:p>
        </p:txBody>
      </p:sp>
      <p:pic>
        <p:nvPicPr>
          <p:cNvPr id="27" name="Picture 26" descr="lock.png"/>
          <p:cNvPicPr>
            <a:picLocks noChangeAspect="1"/>
          </p:cNvPicPr>
          <p:nvPr/>
        </p:nvPicPr>
        <p:blipFill>
          <a:blip r:embed="rId5"/>
          <a:stretch>
            <a:fillRect/>
          </a:stretch>
        </p:blipFill>
        <p:spPr>
          <a:xfrm>
            <a:off x="6291470" y="2143569"/>
            <a:ext cx="134549" cy="195707"/>
          </a:xfrm>
          <a:prstGeom prst="rect">
            <a:avLst/>
          </a:prstGeom>
        </p:spPr>
      </p:pic>
      <p:sp>
        <p:nvSpPr>
          <p:cNvPr id="28" name="TextBox 27"/>
          <p:cNvSpPr txBox="1"/>
          <p:nvPr/>
        </p:nvSpPr>
        <p:spPr>
          <a:xfrm>
            <a:off x="6466579" y="2153793"/>
            <a:ext cx="5154290"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 The industrial grade segment is</a:t>
            </a:r>
          </a:p>
        </p:txBody>
      </p:sp>
      <p:sp>
        <p:nvSpPr>
          <p:cNvPr id="29" name="TextBox 28"/>
          <p:cNvSpPr txBox="1"/>
          <p:nvPr/>
        </p:nvSpPr>
        <p:spPr>
          <a:xfrm>
            <a:off x="6305550" y="2329053"/>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30" name="Picture 29" descr="lock.png"/>
          <p:cNvPicPr>
            <a:picLocks noChangeAspect="1"/>
          </p:cNvPicPr>
          <p:nvPr/>
        </p:nvPicPr>
        <p:blipFill>
          <a:blip r:embed="rId5"/>
          <a:stretch>
            <a:fillRect/>
          </a:stretch>
        </p:blipFill>
        <p:spPr>
          <a:xfrm>
            <a:off x="9540010" y="2318829"/>
            <a:ext cx="134549" cy="195707"/>
          </a:xfrm>
          <a:prstGeom prst="rect">
            <a:avLst/>
          </a:prstGeom>
        </p:spPr>
      </p:pic>
      <p:sp>
        <p:nvSpPr>
          <p:cNvPr id="31" name="TextBox 30"/>
          <p:cNvSpPr txBox="1"/>
          <p:nvPr/>
        </p:nvSpPr>
        <p:spPr>
          <a:xfrm>
            <a:off x="9715119" y="2329053"/>
            <a:ext cx="2088381" cy="194310"/>
          </a:xfrm>
          <a:prstGeom prst="rect">
            <a:avLst/>
          </a:prstGeom>
          <a:noFill/>
        </p:spPr>
        <p:txBody>
          <a:bodyPr wrap="none" lIns="0" rIns="0" tIns="0" bIns="0">
            <a:spAutoFit/>
          </a:bodyPr>
          <a:lstStyle/>
          <a:p>
            <a:r>
              <a:rPr sz="1150" b="0">
                <a:solidFill>
                  <a:srgbClr val="2E2E2E"/>
                </a:solidFill>
                <a:latin typeface="Calibri"/>
              </a:rPr>
              <a:t>Mn for the overall matcha market</a:t>
            </a:r>
          </a:p>
        </p:txBody>
      </p:sp>
      <p:sp>
        <p:nvSpPr>
          <p:cNvPr id="32" name="TextBox 31"/>
          <p:cNvSpPr txBox="1"/>
          <p:nvPr/>
        </p:nvSpPr>
        <p:spPr>
          <a:xfrm>
            <a:off x="6305550" y="2504313"/>
            <a:ext cx="1220923" cy="194310"/>
          </a:xfrm>
          <a:prstGeom prst="rect">
            <a:avLst/>
          </a:prstGeom>
          <a:noFill/>
        </p:spPr>
        <p:txBody>
          <a:bodyPr wrap="none" lIns="0" rIns="0" tIns="0" bIns="0">
            <a:spAutoFit/>
          </a:bodyPr>
          <a:lstStyle/>
          <a:p>
            <a:r>
              <a:rPr sz="1150" b="0">
                <a:solidFill>
                  <a:srgbClr val="2E2E2E"/>
                </a:solidFill>
                <a:latin typeface="Calibri"/>
              </a:rPr>
              <a:t>from 2026 to 2036.</a:t>
            </a:r>
          </a:p>
        </p:txBody>
      </p:sp>
      <p:sp>
        <p:nvSpPr>
          <p:cNvPr id="33" name="lockshield_12"/>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Grade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Grade Type, 2021–2036, highlighting the sub-segments driving growth</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Grade Type (US$ Mn)</a:t>
            </a:r>
          </a:p>
        </p:txBody>
      </p:sp>
      <p:graphicFrame>
        <p:nvGraphicFramePr>
          <p:cNvPr id="12" name="Table 11"/>
          <p:cNvGraphicFramePr>
            <a:graphicFrameLocks noGrp="1"/>
          </p:cNvGraphicFramePr>
          <p:nvPr/>
        </p:nvGraphicFramePr>
        <p:xfrm>
          <a:off x="152400" y="1238250"/>
          <a:ext cx="11887198" cy="1724022"/>
        </p:xfrm>
        <a:graphic>
          <a:graphicData uri="http://schemas.openxmlformats.org/drawingml/2006/table">
            <a:tbl>
              <a:tblPr>
                <a:tableStyleId>{5C22544A-7EE6-4342-B048-85BDC9FD1C3A}</a:tableStyleId>
              </a:tblPr>
              <a:tblGrid>
                <a:gridCol w="1716863"/>
                <a:gridCol w="598255"/>
                <a:gridCol w="598255"/>
                <a:gridCol w="598255"/>
                <a:gridCol w="598255"/>
                <a:gridCol w="598255"/>
                <a:gridCol w="598255"/>
                <a:gridCol w="598255"/>
                <a:gridCol w="598255"/>
                <a:gridCol w="598255"/>
                <a:gridCol w="598255"/>
                <a:gridCol w="598255"/>
                <a:gridCol w="598255"/>
                <a:gridCol w="598255"/>
                <a:gridCol w="598255"/>
                <a:gridCol w="598255"/>
                <a:gridCol w="598255"/>
                <a:gridCol w="598255"/>
              </a:tblGrid>
              <a:tr h="246126">
                <a:tc>
                  <a:txBody>
                    <a:bodyPr wrap="none"/>
                    <a:lstStyle/>
                    <a:p>
                      <a:pPr algn="l"/>
                      <a:r>
                        <a:rPr sz="1100" b="1">
                          <a:solidFill>
                            <a:srgbClr val="0B2E4A"/>
                          </a:solidFill>
                          <a:latin typeface="Calibri"/>
                        </a:rPr>
                        <a:t>Grade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6">
                <a:tc>
                  <a:txBody>
                    <a:bodyPr wrap="none"/>
                    <a:lstStyle/>
                    <a:p>
                      <a:pPr algn="l"/>
                      <a:r>
                        <a:rPr sz="1100" b="1">
                          <a:solidFill>
                            <a:srgbClr val="2E2E2E"/>
                          </a:solidFill>
                          <a:latin typeface="Calibri"/>
                        </a:rPr>
                        <a:t>Ceremonial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Premium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Standard Drinking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Culinary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Industrial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Grade Type</a:t>
            </a:r>
          </a:p>
        </p:txBody>
      </p:sp>
      <p:sp>
        <p:nvSpPr>
          <p:cNvPr id="16" name="Rectangle 15"/>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767740" y="1956623"/>
            <a:ext cx="366712" cy="533400"/>
          </a:xfrm>
          <a:prstGeom prst="rect">
            <a:avLst/>
          </a:prstGeom>
        </p:spPr>
      </p:pic>
      <p:sp>
        <p:nvSpPr>
          <p:cNvPr id="20" name="TextBox 19"/>
          <p:cNvSpPr txBox="1"/>
          <p:nvPr/>
        </p:nvSpPr>
        <p:spPr>
          <a:xfrm>
            <a:off x="276225" y="3724275"/>
            <a:ext cx="2859422" cy="194310"/>
          </a:xfrm>
          <a:prstGeom prst="rect">
            <a:avLst/>
          </a:prstGeom>
          <a:noFill/>
        </p:spPr>
        <p:txBody>
          <a:bodyPr wrap="none" lIns="0" rIns="0" tIns="0" bIns="0">
            <a:spAutoFit/>
          </a:bodyPr>
          <a:lstStyle/>
          <a:p>
            <a:r>
              <a:rPr sz="1150" b="0">
                <a:solidFill>
                  <a:srgbClr val="2E2E2E"/>
                </a:solidFill>
                <a:latin typeface="Calibri"/>
              </a:rPr>
              <a:t>Culinary grade segment is projected to register</a:t>
            </a:r>
          </a:p>
        </p:txBody>
      </p:sp>
      <p:pic>
        <p:nvPicPr>
          <p:cNvPr id="21" name="Picture 20" descr="lock.png"/>
          <p:cNvPicPr>
            <a:picLocks noChangeAspect="1"/>
          </p:cNvPicPr>
          <p:nvPr/>
        </p:nvPicPr>
        <p:blipFill>
          <a:blip r:embed="rId4"/>
          <a:stretch>
            <a:fillRect/>
          </a:stretch>
        </p:blipFill>
        <p:spPr>
          <a:xfrm>
            <a:off x="3084801" y="3714051"/>
            <a:ext cx="134549" cy="195707"/>
          </a:xfrm>
          <a:prstGeom prst="rect">
            <a:avLst/>
          </a:prstGeom>
        </p:spPr>
      </p:pic>
      <p:sp>
        <p:nvSpPr>
          <p:cNvPr id="22" name="TextBox 21"/>
          <p:cNvSpPr txBox="1"/>
          <p:nvPr/>
        </p:nvSpPr>
        <p:spPr>
          <a:xfrm>
            <a:off x="3259910" y="3724275"/>
            <a:ext cx="8362825" cy="194310"/>
          </a:xfrm>
          <a:prstGeom prst="rect">
            <a:avLst/>
          </a:prstGeom>
          <a:noFill/>
        </p:spPr>
        <p:txBody>
          <a:bodyPr wrap="none" lIns="0" rIns="0" tIns="0" bIns="0">
            <a:spAutoFit/>
          </a:bodyPr>
          <a:lstStyle/>
          <a:p>
            <a:r>
              <a:rPr sz="1150" b="0">
                <a:solidFill>
                  <a:srgbClr val="2E2E2E"/>
                </a:solidFill>
                <a:latin typeface="Calibri"/>
              </a:rPr>
              <a:t>X higher value than ceremonial grade segment in 2036. Among matcha by grade type, ceremonial grade segment is expected to witness the</a:t>
            </a:r>
          </a:p>
        </p:txBody>
      </p:sp>
      <p:sp>
        <p:nvSpPr>
          <p:cNvPr id="23" name="TextBox 22"/>
          <p:cNvSpPr txBox="1"/>
          <p:nvPr/>
        </p:nvSpPr>
        <p:spPr>
          <a:xfrm>
            <a:off x="276225" y="389953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4" name="Picture 23" descr="lock.png"/>
          <p:cNvPicPr>
            <a:picLocks noChangeAspect="1"/>
          </p:cNvPicPr>
          <p:nvPr/>
        </p:nvPicPr>
        <p:blipFill>
          <a:blip r:embed="rId4"/>
          <a:stretch>
            <a:fillRect/>
          </a:stretch>
        </p:blipFill>
        <p:spPr>
          <a:xfrm>
            <a:off x="1257732" y="3889311"/>
            <a:ext cx="134549" cy="195707"/>
          </a:xfrm>
          <a:prstGeom prst="rect">
            <a:avLst/>
          </a:prstGeom>
        </p:spPr>
      </p:pic>
      <p:sp>
        <p:nvSpPr>
          <p:cNvPr id="25" name="TextBox 24"/>
          <p:cNvSpPr txBox="1"/>
          <p:nvPr/>
        </p:nvSpPr>
        <p:spPr>
          <a:xfrm>
            <a:off x="1432841"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127372"/>
            <a:ext cx="6547470" cy="194310"/>
          </a:xfrm>
          <a:prstGeom prst="rect">
            <a:avLst/>
          </a:prstGeom>
          <a:noFill/>
        </p:spPr>
        <p:txBody>
          <a:bodyPr wrap="none" lIns="0" rIns="0" tIns="0" bIns="0">
            <a:spAutoFit/>
          </a:bodyPr>
          <a:lstStyle/>
          <a:p>
            <a:r>
              <a:rPr sz="1150" b="0">
                <a:solidFill>
                  <a:srgbClr val="2E2E2E"/>
                </a:solidFill>
                <a:latin typeface="Calibri"/>
              </a:rPr>
              <a:t>In terms of value share by grade type, the culinary grade segment is expected to dominate the market, losing</a:t>
            </a:r>
          </a:p>
        </p:txBody>
      </p:sp>
      <p:pic>
        <p:nvPicPr>
          <p:cNvPr id="27" name="Picture 26" descr="lock.png"/>
          <p:cNvPicPr>
            <a:picLocks noChangeAspect="1"/>
          </p:cNvPicPr>
          <p:nvPr/>
        </p:nvPicPr>
        <p:blipFill>
          <a:blip r:embed="rId4"/>
          <a:stretch>
            <a:fillRect/>
          </a:stretch>
        </p:blipFill>
        <p:spPr>
          <a:xfrm>
            <a:off x="6772849" y="4117149"/>
            <a:ext cx="134549" cy="195707"/>
          </a:xfrm>
          <a:prstGeom prst="rect">
            <a:avLst/>
          </a:prstGeom>
        </p:spPr>
      </p:pic>
      <p:sp>
        <p:nvSpPr>
          <p:cNvPr id="28" name="TextBox 27"/>
          <p:cNvSpPr txBox="1"/>
          <p:nvPr/>
        </p:nvSpPr>
        <p:spPr>
          <a:xfrm>
            <a:off x="6947958"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343101" y="4117149"/>
            <a:ext cx="134549" cy="195707"/>
          </a:xfrm>
          <a:prstGeom prst="rect">
            <a:avLst/>
          </a:prstGeom>
        </p:spPr>
      </p:pic>
      <p:sp>
        <p:nvSpPr>
          <p:cNvPr id="30" name="TextBox 29"/>
          <p:cNvSpPr txBox="1"/>
          <p:nvPr/>
        </p:nvSpPr>
        <p:spPr>
          <a:xfrm>
            <a:off x="8518210" y="4127372"/>
            <a:ext cx="3196307" cy="194310"/>
          </a:xfrm>
          <a:prstGeom prst="rect">
            <a:avLst/>
          </a:prstGeom>
          <a:noFill/>
        </p:spPr>
        <p:txBody>
          <a:bodyPr wrap="none" lIns="0" rIns="0" tIns="0" bIns="0">
            <a:spAutoFit/>
          </a:bodyPr>
          <a:lstStyle/>
          <a:p>
            <a:r>
              <a:rPr sz="1150" b="0">
                <a:solidFill>
                  <a:srgbClr val="2E2E2E"/>
                </a:solidFill>
                <a:latin typeface="Calibri"/>
              </a:rPr>
              <a:t>share by 2036. The standard drinking grade segment</a:t>
            </a:r>
          </a:p>
        </p:txBody>
      </p:sp>
      <p:sp>
        <p:nvSpPr>
          <p:cNvPr id="31" name="TextBox 30"/>
          <p:cNvSpPr txBox="1"/>
          <p:nvPr/>
        </p:nvSpPr>
        <p:spPr>
          <a:xfrm>
            <a:off x="276225" y="4302632"/>
            <a:ext cx="1178706" cy="194310"/>
          </a:xfrm>
          <a:prstGeom prst="rect">
            <a:avLst/>
          </a:prstGeom>
          <a:noFill/>
        </p:spPr>
        <p:txBody>
          <a:bodyPr wrap="none" lIns="0" rIns="0" tIns="0" bIns="0">
            <a:spAutoFit/>
          </a:bodyPr>
          <a:lstStyle/>
          <a:p>
            <a:r>
              <a:rPr sz="1150" b="0">
                <a:solidFill>
                  <a:srgbClr val="2E2E2E"/>
                </a:solidFill>
                <a:latin typeface="Calibri"/>
              </a:rPr>
              <a:t>is expected to lose</a:t>
            </a:r>
          </a:p>
        </p:txBody>
      </p:sp>
      <p:pic>
        <p:nvPicPr>
          <p:cNvPr id="32" name="Picture 31" descr="lock.png"/>
          <p:cNvPicPr>
            <a:picLocks noChangeAspect="1"/>
          </p:cNvPicPr>
          <p:nvPr/>
        </p:nvPicPr>
        <p:blipFill>
          <a:blip r:embed="rId4"/>
          <a:stretch>
            <a:fillRect/>
          </a:stretch>
        </p:blipFill>
        <p:spPr>
          <a:xfrm>
            <a:off x="1404085" y="4292409"/>
            <a:ext cx="134549" cy="195707"/>
          </a:xfrm>
          <a:prstGeom prst="rect">
            <a:avLst/>
          </a:prstGeom>
        </p:spPr>
      </p:pic>
      <p:sp>
        <p:nvSpPr>
          <p:cNvPr id="33" name="TextBox 32"/>
          <p:cNvSpPr txBox="1"/>
          <p:nvPr/>
        </p:nvSpPr>
        <p:spPr>
          <a:xfrm>
            <a:off x="1579194"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166699" y="4292409"/>
            <a:ext cx="134549" cy="195707"/>
          </a:xfrm>
          <a:prstGeom prst="rect">
            <a:avLst/>
          </a:prstGeom>
        </p:spPr>
      </p:pic>
      <p:sp>
        <p:nvSpPr>
          <p:cNvPr id="35" name="TextBox 34"/>
          <p:cNvSpPr txBox="1"/>
          <p:nvPr/>
        </p:nvSpPr>
        <p:spPr>
          <a:xfrm>
            <a:off x="4341808"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Grade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Grade Type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Grade Type ·  2021 / 2026 / 2036 (US$ Mn)  ·  right axis = BPS share shift</a:t>
            </a:r>
          </a:p>
        </p:txBody>
      </p:sp>
      <p:graphicFrame>
        <p:nvGraphicFramePr>
          <p:cNvPr id="12" name="Chart 11"/>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3932301"/>
            <a:ext cx="38100" cy="38100"/>
          </a:xfrm>
          <a:prstGeom prst="rect">
            <a:avLst/>
          </a:prstGeom>
          <a:noFill/>
        </p:spPr>
        <p:txBody>
          <a:bodyPr wrap="none">
            <a:spAutoFit/>
          </a:bodyPr>
          <a:lstStyle/>
          <a:p/>
        </p:txBody>
      </p:sp>
      <p:sp>
        <p:nvSpPr>
          <p:cNvPr id="15" name="FMI Legend Chip"/>
          <p:cNvSpPr/>
          <p:nvPr/>
        </p:nvSpPr>
        <p:spPr>
          <a:xfrm>
            <a:off x="4928997" y="174536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5090922" y="174060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6644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Premium Grade</a:t>
            </a:r>
          </a:p>
        </p:txBody>
      </p:sp>
      <p:sp>
        <p:nvSpPr>
          <p:cNvPr id="18" name="BPS Value 1"/>
          <p:cNvSpPr txBox="1"/>
          <p:nvPr/>
        </p:nvSpPr>
        <p:spPr>
          <a:xfrm>
            <a:off x="6896100" y="172631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928997" y="222810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222334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214714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Drinking Grade</a:t>
            </a:r>
          </a:p>
        </p:txBody>
      </p:sp>
      <p:sp>
        <p:nvSpPr>
          <p:cNvPr id="22" name="BPS Value 2"/>
          <p:cNvSpPr txBox="1"/>
          <p:nvPr/>
        </p:nvSpPr>
        <p:spPr>
          <a:xfrm>
            <a:off x="6896100" y="220905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FMI Legend Chip"/>
          <p:cNvSpPr/>
          <p:nvPr/>
        </p:nvSpPr>
        <p:spPr>
          <a:xfrm>
            <a:off x="4928997" y="278311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5090922" y="27783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7021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Industrial Grade</a:t>
            </a:r>
          </a:p>
        </p:txBody>
      </p:sp>
      <p:sp>
        <p:nvSpPr>
          <p:cNvPr id="26" name="BPS Value 3"/>
          <p:cNvSpPr txBox="1"/>
          <p:nvPr/>
        </p:nvSpPr>
        <p:spPr>
          <a:xfrm>
            <a:off x="6896100" y="276406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928997" y="350510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a:off x="5090922" y="35003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34241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Ceremonial Grade</a:t>
            </a:r>
          </a:p>
        </p:txBody>
      </p:sp>
      <p:sp>
        <p:nvSpPr>
          <p:cNvPr id="30" name="BPS Value 4"/>
          <p:cNvSpPr txBox="1"/>
          <p:nvPr/>
        </p:nvSpPr>
        <p:spPr>
          <a:xfrm>
            <a:off x="6896100" y="348605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1" name="FMI Legend Chip"/>
          <p:cNvSpPr/>
          <p:nvPr/>
        </p:nvSpPr>
        <p:spPr>
          <a:xfrm>
            <a:off x="4928997" y="5079887"/>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5090922" y="507512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499892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Culinary Grade</a:t>
            </a:r>
          </a:p>
        </p:txBody>
      </p:sp>
      <p:sp>
        <p:nvSpPr>
          <p:cNvPr id="34" name="BPS Value 5"/>
          <p:cNvSpPr txBox="1"/>
          <p:nvPr/>
        </p:nvSpPr>
        <p:spPr>
          <a:xfrm>
            <a:off x="6896100" y="50608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Rounded Rectangle 34"/>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Grade Type</a:t>
            </a:r>
          </a:p>
        </p:txBody>
      </p:sp>
      <p:sp>
        <p:nvSpPr>
          <p:cNvPr id="37" name="Rectangle 36"/>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0" name="Picture 39" descr="lock.png"/>
          <p:cNvPicPr>
            <a:picLocks noChangeAspect="1"/>
          </p:cNvPicPr>
          <p:nvPr/>
        </p:nvPicPr>
        <p:blipFill>
          <a:blip r:embed="rId5"/>
          <a:stretch>
            <a:fillRect/>
          </a:stretch>
        </p:blipFill>
        <p:spPr>
          <a:xfrm>
            <a:off x="2557843" y="3751325"/>
            <a:ext cx="275034" cy="400050"/>
          </a:xfrm>
          <a:prstGeom prst="rect">
            <a:avLst/>
          </a:prstGeom>
        </p:spPr>
      </p:pic>
      <p:sp>
        <p:nvSpPr>
          <p:cNvPr id="41" name="TextBox 40"/>
          <p:cNvSpPr txBox="1"/>
          <p:nvPr/>
        </p:nvSpPr>
        <p:spPr>
          <a:xfrm>
            <a:off x="7829550" y="1400175"/>
            <a:ext cx="3601653" cy="194310"/>
          </a:xfrm>
          <a:prstGeom prst="rect">
            <a:avLst/>
          </a:prstGeom>
          <a:noFill/>
        </p:spPr>
        <p:txBody>
          <a:bodyPr wrap="none" lIns="0" rIns="0" tIns="0" bIns="0">
            <a:spAutoFit/>
          </a:bodyPr>
          <a:lstStyle/>
          <a:p>
            <a:r>
              <a:rPr sz="1150" b="0">
                <a:solidFill>
                  <a:srgbClr val="2E2E2E"/>
                </a:solidFill>
                <a:latin typeface="Calibri"/>
              </a:rPr>
              <a:t>Among matcha by grade type, ceremonial grade segment is</a:t>
            </a:r>
          </a:p>
        </p:txBody>
      </p:sp>
      <p:sp>
        <p:nvSpPr>
          <p:cNvPr id="42" name="TextBox 41"/>
          <p:cNvSpPr txBox="1"/>
          <p:nvPr/>
        </p:nvSpPr>
        <p:spPr>
          <a:xfrm>
            <a:off x="7829550" y="157543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43" name="Picture 42" descr="lock.png"/>
          <p:cNvPicPr>
            <a:picLocks noChangeAspect="1"/>
          </p:cNvPicPr>
          <p:nvPr/>
        </p:nvPicPr>
        <p:blipFill>
          <a:blip r:embed="rId5"/>
          <a:stretch>
            <a:fillRect/>
          </a:stretch>
        </p:blipFill>
        <p:spPr>
          <a:xfrm>
            <a:off x="10264711" y="1565211"/>
            <a:ext cx="134549" cy="195707"/>
          </a:xfrm>
          <a:prstGeom prst="rect">
            <a:avLst/>
          </a:prstGeom>
        </p:spPr>
      </p:pic>
      <p:sp>
        <p:nvSpPr>
          <p:cNvPr id="44" name="TextBox 43"/>
          <p:cNvSpPr txBox="1"/>
          <p:nvPr/>
        </p:nvSpPr>
        <p:spPr>
          <a:xfrm>
            <a:off x="104398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45" name="TextBox 44"/>
          <p:cNvSpPr txBox="1"/>
          <p:nvPr/>
        </p:nvSpPr>
        <p:spPr>
          <a:xfrm>
            <a:off x="7829550" y="1750695"/>
            <a:ext cx="3883769" cy="194310"/>
          </a:xfrm>
          <a:prstGeom prst="rect">
            <a:avLst/>
          </a:prstGeom>
          <a:noFill/>
        </p:spPr>
        <p:txBody>
          <a:bodyPr wrap="none" lIns="0" rIns="0" tIns="0" bIns="0">
            <a:spAutoFit/>
          </a:bodyPr>
          <a:lstStyle/>
          <a:p>
            <a:r>
              <a:rPr sz="1150" b="0">
                <a:solidFill>
                  <a:srgbClr val="2E2E2E"/>
                </a:solidFill>
                <a:latin typeface="Calibri"/>
              </a:rPr>
              <a:t>period. In terms of value share by grade type, the culinary grade</a:t>
            </a:r>
          </a:p>
        </p:txBody>
      </p:sp>
      <p:sp>
        <p:nvSpPr>
          <p:cNvPr id="46" name="TextBox 45"/>
          <p:cNvSpPr txBox="1"/>
          <p:nvPr/>
        </p:nvSpPr>
        <p:spPr>
          <a:xfrm>
            <a:off x="7829550" y="1925955"/>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7" name="Picture 46" descr="lock.png"/>
          <p:cNvPicPr>
            <a:picLocks noChangeAspect="1"/>
          </p:cNvPicPr>
          <p:nvPr/>
        </p:nvPicPr>
        <p:blipFill>
          <a:blip r:embed="rId5"/>
          <a:stretch>
            <a:fillRect/>
          </a:stretch>
        </p:blipFill>
        <p:spPr>
          <a:xfrm>
            <a:off x="10943347" y="1915731"/>
            <a:ext cx="134549" cy="195707"/>
          </a:xfrm>
          <a:prstGeom prst="rect">
            <a:avLst/>
          </a:prstGeom>
        </p:spPr>
      </p:pic>
      <p:sp>
        <p:nvSpPr>
          <p:cNvPr id="48" name="TextBox 47"/>
          <p:cNvSpPr txBox="1"/>
          <p:nvPr/>
        </p:nvSpPr>
        <p:spPr>
          <a:xfrm>
            <a:off x="11118457" y="1925955"/>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9" name="TextBox 48"/>
          <p:cNvSpPr txBox="1"/>
          <p:nvPr/>
        </p:nvSpPr>
        <p:spPr>
          <a:xfrm>
            <a:off x="7829550" y="2101215"/>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50" name="Picture 49" descr="lock.png"/>
          <p:cNvPicPr>
            <a:picLocks noChangeAspect="1"/>
          </p:cNvPicPr>
          <p:nvPr/>
        </p:nvPicPr>
        <p:blipFill>
          <a:blip r:embed="rId5"/>
          <a:stretch>
            <a:fillRect/>
          </a:stretch>
        </p:blipFill>
        <p:spPr>
          <a:xfrm>
            <a:off x="8712947" y="2090991"/>
            <a:ext cx="134549" cy="195707"/>
          </a:xfrm>
          <a:prstGeom prst="rect">
            <a:avLst/>
          </a:prstGeom>
        </p:spPr>
      </p:pic>
      <p:sp>
        <p:nvSpPr>
          <p:cNvPr id="51" name="TextBox 50"/>
          <p:cNvSpPr txBox="1"/>
          <p:nvPr/>
        </p:nvSpPr>
        <p:spPr>
          <a:xfrm>
            <a:off x="8888056"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2" name="TextBox 51"/>
          <p:cNvSpPr txBox="1"/>
          <p:nvPr/>
        </p:nvSpPr>
        <p:spPr>
          <a:xfrm>
            <a:off x="7829550" y="2329053"/>
            <a:ext cx="3428789" cy="194310"/>
          </a:xfrm>
          <a:prstGeom prst="rect">
            <a:avLst/>
          </a:prstGeom>
          <a:noFill/>
        </p:spPr>
        <p:txBody>
          <a:bodyPr wrap="none" lIns="0" rIns="0" tIns="0" bIns="0">
            <a:spAutoFit/>
          </a:bodyPr>
          <a:lstStyle/>
          <a:p>
            <a:r>
              <a:rPr sz="1150" b="0">
                <a:solidFill>
                  <a:srgbClr val="2E2E2E"/>
                </a:solidFill>
                <a:latin typeface="Calibri"/>
              </a:rPr>
              <a:t>The standard drinking grade segment is expected to lose</a:t>
            </a:r>
          </a:p>
        </p:txBody>
      </p:sp>
      <p:pic>
        <p:nvPicPr>
          <p:cNvPr id="53" name="Picture 52" descr="lock.png"/>
          <p:cNvPicPr>
            <a:picLocks noChangeAspect="1"/>
          </p:cNvPicPr>
          <p:nvPr/>
        </p:nvPicPr>
        <p:blipFill>
          <a:blip r:embed="rId5"/>
          <a:stretch>
            <a:fillRect/>
          </a:stretch>
        </p:blipFill>
        <p:spPr>
          <a:xfrm>
            <a:off x="11207493" y="2318829"/>
            <a:ext cx="134549" cy="195707"/>
          </a:xfrm>
          <a:prstGeom prst="rect">
            <a:avLst/>
          </a:prstGeom>
        </p:spPr>
      </p:pic>
      <p:sp>
        <p:nvSpPr>
          <p:cNvPr id="54" name="TextBox 53"/>
          <p:cNvSpPr txBox="1"/>
          <p:nvPr/>
        </p:nvSpPr>
        <p:spPr>
          <a:xfrm>
            <a:off x="11382602" y="232905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5" name="TextBox 54"/>
          <p:cNvSpPr txBox="1"/>
          <p:nvPr/>
        </p:nvSpPr>
        <p:spPr>
          <a:xfrm>
            <a:off x="7829550" y="250431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6" name="Picture 55" descr="lock.png"/>
          <p:cNvPicPr>
            <a:picLocks noChangeAspect="1"/>
          </p:cNvPicPr>
          <p:nvPr/>
        </p:nvPicPr>
        <p:blipFill>
          <a:blip r:embed="rId5"/>
          <a:stretch>
            <a:fillRect/>
          </a:stretch>
        </p:blipFill>
        <p:spPr>
          <a:xfrm>
            <a:off x="10161752" y="2494089"/>
            <a:ext cx="134549" cy="195707"/>
          </a:xfrm>
          <a:prstGeom prst="rect">
            <a:avLst/>
          </a:prstGeom>
        </p:spPr>
      </p:pic>
      <p:sp>
        <p:nvSpPr>
          <p:cNvPr id="57" name="TextBox 56"/>
          <p:cNvSpPr txBox="1"/>
          <p:nvPr/>
        </p:nvSpPr>
        <p:spPr>
          <a:xfrm>
            <a:off x="10336861"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8" name="lockshield_12"/>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Application,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Beverages</a:t>
            </a:r>
          </a:p>
        </p:txBody>
      </p:sp>
      <p:sp>
        <p:nvSpPr>
          <p:cNvPr id="22" name="Rectangle 21"/>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Dairy and Frozen Desserts</a:t>
            </a:r>
          </a:p>
        </p:txBody>
      </p:sp>
      <p:sp>
        <p:nvSpPr>
          <p:cNvPr id="29" name="Rectangle 28"/>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Products</a:t>
            </a:r>
          </a:p>
        </p:txBody>
      </p:sp>
      <p:sp>
        <p:nvSpPr>
          <p:cNvPr id="36" name="Rectangle 35"/>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Dietary Supplements and Functiona…</a:t>
            </a:r>
          </a:p>
        </p:txBody>
      </p:sp>
      <p:sp>
        <p:nvSpPr>
          <p:cNvPr id="43" name="Rectangle 42"/>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Applications</a:t>
            </a:r>
          </a:p>
        </p:txBody>
      </p:sp>
      <p:sp>
        <p:nvSpPr>
          <p:cNvPr id="50" name="Rectangle 49"/>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Bakery and Confectionery</a:t>
            </a:r>
          </a:p>
        </p:txBody>
      </p:sp>
      <p:sp>
        <p:nvSpPr>
          <p:cNvPr id="57" name="Rectangle 56"/>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3" name="Rectangle 6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65" name="Rounded Rectangle 6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7" name="Rectangle 6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69" name="Rounded Rectangle 6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1" name="Rectangle 7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3" name="Rectangle 7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5" name="TextBox 7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6" name="TextBox 7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7" name="Picture 76" descr="809_3_605E5C.png"/>
          <p:cNvPicPr>
            <a:picLocks noChangeAspect="1"/>
          </p:cNvPicPr>
          <p:nvPr/>
        </p:nvPicPr>
        <p:blipFill>
          <a:blip r:embed="rId4"/>
          <a:stretch>
            <a:fillRect/>
          </a:stretch>
        </p:blipFill>
        <p:spPr>
          <a:xfrm>
            <a:off x="2054848" y="2286582"/>
            <a:ext cx="1195728" cy="361950"/>
          </a:xfrm>
          <a:prstGeom prst="rect">
            <a:avLst/>
          </a:prstGeom>
        </p:spPr>
      </p:pic>
      <p:pic>
        <p:nvPicPr>
          <p:cNvPr id="78" name="Picture 77" descr="1_486_605E5C.png"/>
          <p:cNvPicPr>
            <a:picLocks noChangeAspect="1"/>
          </p:cNvPicPr>
          <p:nvPr/>
        </p:nvPicPr>
        <p:blipFill>
          <a:blip r:embed="rId5"/>
          <a:stretch>
            <a:fillRect/>
          </a:stretch>
        </p:blipFill>
        <p:spPr>
          <a:xfrm>
            <a:off x="2054848" y="2779432"/>
            <a:ext cx="1195728" cy="361950"/>
          </a:xfrm>
          <a:prstGeom prst="rect">
            <a:avLst/>
          </a:prstGeom>
        </p:spPr>
      </p:pic>
      <p:pic>
        <p:nvPicPr>
          <p:cNvPr id="79" name="Picture 78" descr="6_3__605E5C.png"/>
          <p:cNvPicPr>
            <a:picLocks noChangeAspect="1"/>
          </p:cNvPicPr>
          <p:nvPr/>
        </p:nvPicPr>
        <p:blipFill>
          <a:blip r:embed="rId6"/>
          <a:stretch>
            <a:fillRect/>
          </a:stretch>
        </p:blipFill>
        <p:spPr>
          <a:xfrm>
            <a:off x="2161494" y="3272281"/>
            <a:ext cx="982436" cy="361950"/>
          </a:xfrm>
          <a:prstGeom prst="rect">
            <a:avLst/>
          </a:prstGeom>
        </p:spPr>
      </p:pic>
      <p:pic>
        <p:nvPicPr>
          <p:cNvPr id="80" name="Picture 79" descr="550_1_605E5C.png"/>
          <p:cNvPicPr>
            <a:picLocks noChangeAspect="1"/>
          </p:cNvPicPr>
          <p:nvPr/>
        </p:nvPicPr>
        <p:blipFill>
          <a:blip r:embed="rId7"/>
          <a:stretch>
            <a:fillRect/>
          </a:stretch>
        </p:blipFill>
        <p:spPr>
          <a:xfrm>
            <a:off x="3740773" y="2286582"/>
            <a:ext cx="1195728" cy="361950"/>
          </a:xfrm>
          <a:prstGeom prst="rect">
            <a:avLst/>
          </a:prstGeom>
        </p:spPr>
      </p:pic>
      <p:pic>
        <p:nvPicPr>
          <p:cNvPr id="81" name="Picture 80" descr="1_110_605E5C.png"/>
          <p:cNvPicPr>
            <a:picLocks noChangeAspect="1"/>
          </p:cNvPicPr>
          <p:nvPr/>
        </p:nvPicPr>
        <p:blipFill>
          <a:blip r:embed="rId8"/>
          <a:stretch>
            <a:fillRect/>
          </a:stretch>
        </p:blipFill>
        <p:spPr>
          <a:xfrm>
            <a:off x="3740773" y="2779432"/>
            <a:ext cx="1195728" cy="361950"/>
          </a:xfrm>
          <a:prstGeom prst="rect">
            <a:avLst/>
          </a:prstGeom>
        </p:spPr>
      </p:pic>
      <p:pic>
        <p:nvPicPr>
          <p:cNvPr id="82" name="Picture 81" descr="7_3__605E5C.png"/>
          <p:cNvPicPr>
            <a:picLocks noChangeAspect="1"/>
          </p:cNvPicPr>
          <p:nvPr/>
        </p:nvPicPr>
        <p:blipFill>
          <a:blip r:embed="rId9"/>
          <a:stretch>
            <a:fillRect/>
          </a:stretch>
        </p:blipFill>
        <p:spPr>
          <a:xfrm>
            <a:off x="3847419" y="3272281"/>
            <a:ext cx="982436" cy="361950"/>
          </a:xfrm>
          <a:prstGeom prst="rect">
            <a:avLst/>
          </a:prstGeom>
        </p:spPr>
      </p:pic>
      <p:pic>
        <p:nvPicPr>
          <p:cNvPr id="83" name="Picture 82" descr="539_6_605E5C.png"/>
          <p:cNvPicPr>
            <a:picLocks noChangeAspect="1"/>
          </p:cNvPicPr>
          <p:nvPr/>
        </p:nvPicPr>
        <p:blipFill>
          <a:blip r:embed="rId10"/>
          <a:stretch>
            <a:fillRect/>
          </a:stretch>
        </p:blipFill>
        <p:spPr>
          <a:xfrm>
            <a:off x="5426698" y="2286582"/>
            <a:ext cx="1195728" cy="361950"/>
          </a:xfrm>
          <a:prstGeom prst="rect">
            <a:avLst/>
          </a:prstGeom>
        </p:spPr>
      </p:pic>
      <p:pic>
        <p:nvPicPr>
          <p:cNvPr id="84" name="Picture 83" descr="907_2_605E5C.png"/>
          <p:cNvPicPr>
            <a:picLocks noChangeAspect="1"/>
          </p:cNvPicPr>
          <p:nvPr/>
        </p:nvPicPr>
        <p:blipFill>
          <a:blip r:embed="rId11"/>
          <a:stretch>
            <a:fillRect/>
          </a:stretch>
        </p:blipFill>
        <p:spPr>
          <a:xfrm>
            <a:off x="5426698" y="2779432"/>
            <a:ext cx="1195728" cy="361950"/>
          </a:xfrm>
          <a:prstGeom prst="rect">
            <a:avLst/>
          </a:prstGeom>
        </p:spPr>
      </p:pic>
      <p:pic>
        <p:nvPicPr>
          <p:cNvPr id="85" name="Picture 84" descr="5_3__605E5C.png"/>
          <p:cNvPicPr>
            <a:picLocks noChangeAspect="1"/>
          </p:cNvPicPr>
          <p:nvPr/>
        </p:nvPicPr>
        <p:blipFill>
          <a:blip r:embed="rId12"/>
          <a:stretch>
            <a:fillRect/>
          </a:stretch>
        </p:blipFill>
        <p:spPr>
          <a:xfrm>
            <a:off x="5533344" y="3272281"/>
            <a:ext cx="982436" cy="361950"/>
          </a:xfrm>
          <a:prstGeom prst="rect">
            <a:avLst/>
          </a:prstGeom>
        </p:spPr>
      </p:pic>
      <p:pic>
        <p:nvPicPr>
          <p:cNvPr id="86" name="Picture 85" descr="516_4_605E5C.png"/>
          <p:cNvPicPr>
            <a:picLocks noChangeAspect="1"/>
          </p:cNvPicPr>
          <p:nvPr/>
        </p:nvPicPr>
        <p:blipFill>
          <a:blip r:embed="rId13"/>
          <a:stretch>
            <a:fillRect/>
          </a:stretch>
        </p:blipFill>
        <p:spPr>
          <a:xfrm>
            <a:off x="7112623" y="2286582"/>
            <a:ext cx="1195728" cy="361950"/>
          </a:xfrm>
          <a:prstGeom prst="rect">
            <a:avLst/>
          </a:prstGeom>
        </p:spPr>
      </p:pic>
      <p:pic>
        <p:nvPicPr>
          <p:cNvPr id="87" name="Picture 86" descr="1_121_605E5C.png"/>
          <p:cNvPicPr>
            <a:picLocks noChangeAspect="1"/>
          </p:cNvPicPr>
          <p:nvPr/>
        </p:nvPicPr>
        <p:blipFill>
          <a:blip r:embed="rId14"/>
          <a:stretch>
            <a:fillRect/>
          </a:stretch>
        </p:blipFill>
        <p:spPr>
          <a:xfrm>
            <a:off x="7112623" y="2779432"/>
            <a:ext cx="1195728" cy="361950"/>
          </a:xfrm>
          <a:prstGeom prst="rect">
            <a:avLst/>
          </a:prstGeom>
        </p:spPr>
      </p:pic>
      <p:pic>
        <p:nvPicPr>
          <p:cNvPr id="88" name="Picture 87" descr="8_1__605E5C.png"/>
          <p:cNvPicPr>
            <a:picLocks noChangeAspect="1"/>
          </p:cNvPicPr>
          <p:nvPr/>
        </p:nvPicPr>
        <p:blipFill>
          <a:blip r:embed="rId15"/>
          <a:stretch>
            <a:fillRect/>
          </a:stretch>
        </p:blipFill>
        <p:spPr>
          <a:xfrm>
            <a:off x="7219269" y="3272281"/>
            <a:ext cx="982436" cy="361950"/>
          </a:xfrm>
          <a:prstGeom prst="rect">
            <a:avLst/>
          </a:prstGeom>
        </p:spPr>
      </p:pic>
      <p:pic>
        <p:nvPicPr>
          <p:cNvPr id="89" name="Picture 88" descr="511_2_605E5C.png"/>
          <p:cNvPicPr>
            <a:picLocks noChangeAspect="1"/>
          </p:cNvPicPr>
          <p:nvPr/>
        </p:nvPicPr>
        <p:blipFill>
          <a:blip r:embed="rId16"/>
          <a:stretch>
            <a:fillRect/>
          </a:stretch>
        </p:blipFill>
        <p:spPr>
          <a:xfrm>
            <a:off x="8798548" y="2286582"/>
            <a:ext cx="1195728" cy="361950"/>
          </a:xfrm>
          <a:prstGeom prst="rect">
            <a:avLst/>
          </a:prstGeom>
        </p:spPr>
      </p:pic>
      <p:pic>
        <p:nvPicPr>
          <p:cNvPr id="90" name="Picture 89" descr="1_168_605E5C.png"/>
          <p:cNvPicPr>
            <a:picLocks noChangeAspect="1"/>
          </p:cNvPicPr>
          <p:nvPr/>
        </p:nvPicPr>
        <p:blipFill>
          <a:blip r:embed="rId17"/>
          <a:stretch>
            <a:fillRect/>
          </a:stretch>
        </p:blipFill>
        <p:spPr>
          <a:xfrm>
            <a:off x="8798548" y="2779432"/>
            <a:ext cx="1195728" cy="361950"/>
          </a:xfrm>
          <a:prstGeom prst="rect">
            <a:avLst/>
          </a:prstGeom>
        </p:spPr>
      </p:pic>
      <p:pic>
        <p:nvPicPr>
          <p:cNvPr id="91" name="Picture 90" descr="8_6__605E5C.png"/>
          <p:cNvPicPr>
            <a:picLocks noChangeAspect="1"/>
          </p:cNvPicPr>
          <p:nvPr/>
        </p:nvPicPr>
        <p:blipFill>
          <a:blip r:embed="rId18"/>
          <a:stretch>
            <a:fillRect/>
          </a:stretch>
        </p:blipFill>
        <p:spPr>
          <a:xfrm>
            <a:off x="8905194" y="3272281"/>
            <a:ext cx="982436" cy="361950"/>
          </a:xfrm>
          <a:prstGeom prst="rect">
            <a:avLst/>
          </a:prstGeom>
        </p:spPr>
      </p:pic>
      <p:pic>
        <p:nvPicPr>
          <p:cNvPr id="92" name="Picture 91" descr="446_9_605E5C.png"/>
          <p:cNvPicPr>
            <a:picLocks noChangeAspect="1"/>
          </p:cNvPicPr>
          <p:nvPr/>
        </p:nvPicPr>
        <p:blipFill>
          <a:blip r:embed="rId19"/>
          <a:stretch>
            <a:fillRect/>
          </a:stretch>
        </p:blipFill>
        <p:spPr>
          <a:xfrm>
            <a:off x="10484473" y="2286582"/>
            <a:ext cx="1195728" cy="361950"/>
          </a:xfrm>
          <a:prstGeom prst="rect">
            <a:avLst/>
          </a:prstGeom>
        </p:spPr>
      </p:pic>
      <p:pic>
        <p:nvPicPr>
          <p:cNvPr id="93" name="Picture 92" descr="925_6_605E5C.png"/>
          <p:cNvPicPr>
            <a:picLocks noChangeAspect="1"/>
          </p:cNvPicPr>
          <p:nvPr/>
        </p:nvPicPr>
        <p:blipFill>
          <a:blip r:embed="rId20"/>
          <a:stretch>
            <a:fillRect/>
          </a:stretch>
        </p:blipFill>
        <p:spPr>
          <a:xfrm>
            <a:off x="10484473" y="2779432"/>
            <a:ext cx="1195728" cy="361950"/>
          </a:xfrm>
          <a:prstGeom prst="rect">
            <a:avLst/>
          </a:prstGeom>
        </p:spPr>
      </p:pic>
      <p:pic>
        <p:nvPicPr>
          <p:cNvPr id="94" name="Picture 93" descr="7_6__605E5C.png"/>
          <p:cNvPicPr>
            <a:picLocks noChangeAspect="1"/>
          </p:cNvPicPr>
          <p:nvPr/>
        </p:nvPicPr>
        <p:blipFill>
          <a:blip r:embed="rId21"/>
          <a:stretch>
            <a:fillRect/>
          </a:stretch>
        </p:blipFill>
        <p:spPr>
          <a:xfrm>
            <a:off x="10591119" y="3272281"/>
            <a:ext cx="982436" cy="361950"/>
          </a:xfrm>
          <a:prstGeom prst="rect">
            <a:avLst/>
          </a:prstGeom>
        </p:spPr>
      </p:pic>
      <p:pic>
        <p:nvPicPr>
          <p:cNvPr id="95" name="Picture 94" descr="lock.png"/>
          <p:cNvPicPr>
            <a:picLocks noChangeAspect="1"/>
          </p:cNvPicPr>
          <p:nvPr/>
        </p:nvPicPr>
        <p:blipFill>
          <a:blip r:embed="rId22"/>
          <a:stretch>
            <a:fillRect/>
          </a:stretch>
        </p:blipFill>
        <p:spPr>
          <a:xfrm>
            <a:off x="2559367" y="2827057"/>
            <a:ext cx="183356" cy="266700"/>
          </a:xfrm>
          <a:prstGeom prst="rect">
            <a:avLst/>
          </a:prstGeom>
        </p:spPr>
      </p:pic>
      <p:pic>
        <p:nvPicPr>
          <p:cNvPr id="96" name="Picture 95" descr="lock.png"/>
          <p:cNvPicPr>
            <a:picLocks noChangeAspect="1"/>
          </p:cNvPicPr>
          <p:nvPr/>
        </p:nvPicPr>
        <p:blipFill>
          <a:blip r:embed="rId22"/>
          <a:stretch>
            <a:fillRect/>
          </a:stretch>
        </p:blipFill>
        <p:spPr>
          <a:xfrm>
            <a:off x="4245292"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5931217"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7617142"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9303067"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10988992" y="2827057"/>
            <a:ext cx="183356" cy="266700"/>
          </a:xfrm>
          <a:prstGeom prst="rect">
            <a:avLst/>
          </a:prstGeom>
        </p:spPr>
      </p:pic>
      <p:sp>
        <p:nvSpPr>
          <p:cNvPr id="101" name="TextBox 100"/>
          <p:cNvSpPr txBox="1"/>
          <p:nvPr/>
        </p:nvSpPr>
        <p:spPr>
          <a:xfrm>
            <a:off x="485775" y="4229437"/>
            <a:ext cx="2863651" cy="186689"/>
          </a:xfrm>
          <a:prstGeom prst="rect">
            <a:avLst/>
          </a:prstGeom>
          <a:noFill/>
        </p:spPr>
        <p:txBody>
          <a:bodyPr wrap="none" lIns="0" rIns="0" tIns="0" bIns="0">
            <a:spAutoFit/>
          </a:bodyPr>
          <a:lstStyle/>
          <a:p>
            <a:r>
              <a:rPr sz="1100" b="0">
                <a:solidFill>
                  <a:srgbClr val="2E2E2E"/>
                </a:solidFill>
                <a:latin typeface="Calibri"/>
              </a:rPr>
              <a:t>Among matcha by application, other applications</a:t>
            </a:r>
          </a:p>
        </p:txBody>
      </p:sp>
      <p:sp>
        <p:nvSpPr>
          <p:cNvPr id="102" name="TextBox 101"/>
          <p:cNvSpPr txBox="1"/>
          <p:nvPr/>
        </p:nvSpPr>
        <p:spPr>
          <a:xfrm>
            <a:off x="485775" y="439707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103" name="TextBox 102"/>
          <p:cNvSpPr txBox="1"/>
          <p:nvPr/>
        </p:nvSpPr>
        <p:spPr>
          <a:xfrm>
            <a:off x="485775" y="456471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104" name="Picture 103" descr="lock.png"/>
          <p:cNvPicPr>
            <a:picLocks noChangeAspect="1"/>
          </p:cNvPicPr>
          <p:nvPr/>
        </p:nvPicPr>
        <p:blipFill>
          <a:blip r:embed="rId22"/>
          <a:stretch>
            <a:fillRect/>
          </a:stretch>
        </p:blipFill>
        <p:spPr>
          <a:xfrm>
            <a:off x="626261" y="4554938"/>
            <a:ext cx="128699" cy="187198"/>
          </a:xfrm>
          <a:prstGeom prst="rect">
            <a:avLst/>
          </a:prstGeom>
        </p:spPr>
      </p:pic>
      <p:sp>
        <p:nvSpPr>
          <p:cNvPr id="105" name="TextBox 104"/>
          <p:cNvSpPr txBox="1"/>
          <p:nvPr/>
        </p:nvSpPr>
        <p:spPr>
          <a:xfrm>
            <a:off x="793757" y="456471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106" name="TextBox 105"/>
          <p:cNvSpPr txBox="1"/>
          <p:nvPr/>
        </p:nvSpPr>
        <p:spPr>
          <a:xfrm>
            <a:off x="485775" y="4732357"/>
            <a:ext cx="2730499" cy="186689"/>
          </a:xfrm>
          <a:prstGeom prst="rect">
            <a:avLst/>
          </a:prstGeom>
          <a:noFill/>
        </p:spPr>
        <p:txBody>
          <a:bodyPr wrap="none" lIns="0" rIns="0" tIns="0" bIns="0">
            <a:spAutoFit/>
          </a:bodyPr>
          <a:lstStyle/>
          <a:p>
            <a:r>
              <a:rPr sz="1100" b="0">
                <a:solidFill>
                  <a:srgbClr val="2E2E2E"/>
                </a:solidFill>
                <a:latin typeface="Calibri"/>
              </a:rPr>
              <a:t>share by application, the beverages segment is</a:t>
            </a:r>
          </a:p>
        </p:txBody>
      </p:sp>
      <p:sp>
        <p:nvSpPr>
          <p:cNvPr id="107" name="TextBox 106"/>
          <p:cNvSpPr txBox="1"/>
          <p:nvPr/>
        </p:nvSpPr>
        <p:spPr>
          <a:xfrm>
            <a:off x="485775" y="489999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108" name="Picture 107" descr="lock.png"/>
          <p:cNvPicPr>
            <a:picLocks noChangeAspect="1"/>
          </p:cNvPicPr>
          <p:nvPr/>
        </p:nvPicPr>
        <p:blipFill>
          <a:blip r:embed="rId22"/>
          <a:stretch>
            <a:fillRect/>
          </a:stretch>
        </p:blipFill>
        <p:spPr>
          <a:xfrm>
            <a:off x="2822716" y="4890217"/>
            <a:ext cx="128699" cy="187198"/>
          </a:xfrm>
          <a:prstGeom prst="rect">
            <a:avLst/>
          </a:prstGeom>
        </p:spPr>
      </p:pic>
      <p:sp>
        <p:nvSpPr>
          <p:cNvPr id="109" name="TextBox 108"/>
          <p:cNvSpPr txBox="1"/>
          <p:nvPr/>
        </p:nvSpPr>
        <p:spPr>
          <a:xfrm>
            <a:off x="2990212" y="489999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110" name="TextBox 109"/>
          <p:cNvSpPr txBox="1"/>
          <p:nvPr/>
        </p:nvSpPr>
        <p:spPr>
          <a:xfrm>
            <a:off x="485775" y="506763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111" name="Picture 110" descr="lock.png"/>
          <p:cNvPicPr>
            <a:picLocks noChangeAspect="1"/>
          </p:cNvPicPr>
          <p:nvPr/>
        </p:nvPicPr>
        <p:blipFill>
          <a:blip r:embed="rId22"/>
          <a:stretch>
            <a:fillRect/>
          </a:stretch>
        </p:blipFill>
        <p:spPr>
          <a:xfrm>
            <a:off x="1576057" y="5057858"/>
            <a:ext cx="128699" cy="187198"/>
          </a:xfrm>
          <a:prstGeom prst="rect">
            <a:avLst/>
          </a:prstGeom>
        </p:spPr>
      </p:pic>
      <p:sp>
        <p:nvSpPr>
          <p:cNvPr id="112" name="TextBox 111"/>
          <p:cNvSpPr txBox="1"/>
          <p:nvPr/>
        </p:nvSpPr>
        <p:spPr>
          <a:xfrm>
            <a:off x="174355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13" name="TextBox 112"/>
          <p:cNvSpPr txBox="1"/>
          <p:nvPr/>
        </p:nvSpPr>
        <p:spPr>
          <a:xfrm>
            <a:off x="485775" y="5285569"/>
            <a:ext cx="2501577" cy="186689"/>
          </a:xfrm>
          <a:prstGeom prst="rect">
            <a:avLst/>
          </a:prstGeom>
          <a:noFill/>
        </p:spPr>
        <p:txBody>
          <a:bodyPr wrap="none" lIns="0" rIns="0" tIns="0" bIns="0">
            <a:spAutoFit/>
          </a:bodyPr>
          <a:lstStyle/>
          <a:p>
            <a:r>
              <a:rPr sz="1100" b="0">
                <a:solidFill>
                  <a:srgbClr val="2E2E2E"/>
                </a:solidFill>
                <a:latin typeface="Calibri"/>
              </a:rPr>
              <a:t>Beverages segment is projected to register</a:t>
            </a:r>
          </a:p>
        </p:txBody>
      </p:sp>
      <p:pic>
        <p:nvPicPr>
          <p:cNvPr id="114" name="Picture 113" descr="lock.png"/>
          <p:cNvPicPr>
            <a:picLocks noChangeAspect="1"/>
          </p:cNvPicPr>
          <p:nvPr/>
        </p:nvPicPr>
        <p:blipFill>
          <a:blip r:embed="rId22"/>
          <a:stretch>
            <a:fillRect/>
          </a:stretch>
        </p:blipFill>
        <p:spPr>
          <a:xfrm>
            <a:off x="2935404" y="5275790"/>
            <a:ext cx="128699" cy="187198"/>
          </a:xfrm>
          <a:prstGeom prst="rect">
            <a:avLst/>
          </a:prstGeom>
        </p:spPr>
      </p:pic>
      <p:sp>
        <p:nvSpPr>
          <p:cNvPr id="115" name="TextBox 114"/>
          <p:cNvSpPr txBox="1"/>
          <p:nvPr/>
        </p:nvSpPr>
        <p:spPr>
          <a:xfrm>
            <a:off x="3102899"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16" name="TextBox 115"/>
          <p:cNvSpPr txBox="1"/>
          <p:nvPr/>
        </p:nvSpPr>
        <p:spPr>
          <a:xfrm>
            <a:off x="485775" y="5453209"/>
            <a:ext cx="2789163" cy="186689"/>
          </a:xfrm>
          <a:prstGeom prst="rect">
            <a:avLst/>
          </a:prstGeom>
          <a:noFill/>
        </p:spPr>
        <p:txBody>
          <a:bodyPr wrap="none" lIns="0" rIns="0" tIns="0" bIns="0">
            <a:spAutoFit/>
          </a:bodyPr>
          <a:lstStyle/>
          <a:p>
            <a:r>
              <a:rPr sz="1100" b="0">
                <a:solidFill>
                  <a:srgbClr val="2E2E2E"/>
                </a:solidFill>
                <a:latin typeface="Calibri"/>
              </a:rPr>
              <a:t>higher value than other applications segment in</a:t>
            </a:r>
          </a:p>
        </p:txBody>
      </p:sp>
      <p:sp>
        <p:nvSpPr>
          <p:cNvPr id="117" name="TextBox 116"/>
          <p:cNvSpPr txBox="1"/>
          <p:nvPr/>
        </p:nvSpPr>
        <p:spPr>
          <a:xfrm>
            <a:off x="485775" y="562084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118" name="TextBox 117"/>
          <p:cNvSpPr txBox="1"/>
          <p:nvPr/>
        </p:nvSpPr>
        <p:spPr>
          <a:xfrm>
            <a:off x="3838575" y="4229437"/>
            <a:ext cx="813444" cy="186689"/>
          </a:xfrm>
          <a:prstGeom prst="rect">
            <a:avLst/>
          </a:prstGeom>
          <a:noFill/>
        </p:spPr>
        <p:txBody>
          <a:bodyPr wrap="none" lIns="0" rIns="0" tIns="0" bIns="0">
            <a:spAutoFit/>
          </a:bodyPr>
          <a:lstStyle/>
          <a:p>
            <a:r>
              <a:rPr sz="1100" b="0">
                <a:solidFill>
                  <a:srgbClr val="2E2E2E"/>
                </a:solidFill>
                <a:latin typeface="Calibri"/>
              </a:rPr>
              <a:t>● Beverages:</a:t>
            </a:r>
          </a:p>
        </p:txBody>
      </p:sp>
      <p:pic>
        <p:nvPicPr>
          <p:cNvPr id="119" name="Picture 118" descr="lock.png"/>
          <p:cNvPicPr>
            <a:picLocks noChangeAspect="1"/>
          </p:cNvPicPr>
          <p:nvPr/>
        </p:nvPicPr>
        <p:blipFill>
          <a:blip r:embed="rId22"/>
          <a:stretch>
            <a:fillRect/>
          </a:stretch>
        </p:blipFill>
        <p:spPr>
          <a:xfrm>
            <a:off x="4600071" y="4219658"/>
            <a:ext cx="128699" cy="187198"/>
          </a:xfrm>
          <a:prstGeom prst="rect">
            <a:avLst/>
          </a:prstGeom>
        </p:spPr>
      </p:pic>
      <p:sp>
        <p:nvSpPr>
          <p:cNvPr id="120" name="TextBox 119"/>
          <p:cNvSpPr txBox="1"/>
          <p:nvPr/>
        </p:nvSpPr>
        <p:spPr>
          <a:xfrm>
            <a:off x="476756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22"/>
          <a:stretch>
            <a:fillRect/>
          </a:stretch>
        </p:blipFill>
        <p:spPr>
          <a:xfrm>
            <a:off x="5627017" y="4219658"/>
            <a:ext cx="128699" cy="187198"/>
          </a:xfrm>
          <a:prstGeom prst="rect">
            <a:avLst/>
          </a:prstGeom>
        </p:spPr>
      </p:pic>
      <p:sp>
        <p:nvSpPr>
          <p:cNvPr id="122" name="TextBox 121"/>
          <p:cNvSpPr txBox="1"/>
          <p:nvPr/>
        </p:nvSpPr>
        <p:spPr>
          <a:xfrm>
            <a:off x="5794513"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23" name="TextBox 122"/>
          <p:cNvSpPr txBox="1"/>
          <p:nvPr/>
        </p:nvSpPr>
        <p:spPr>
          <a:xfrm>
            <a:off x="3838575" y="4447369"/>
            <a:ext cx="1704578" cy="186689"/>
          </a:xfrm>
          <a:prstGeom prst="rect">
            <a:avLst/>
          </a:prstGeom>
          <a:noFill/>
        </p:spPr>
        <p:txBody>
          <a:bodyPr wrap="none" lIns="0" rIns="0" tIns="0" bIns="0">
            <a:spAutoFit/>
          </a:bodyPr>
          <a:lstStyle/>
          <a:p>
            <a:r>
              <a:rPr sz="1100" b="0">
                <a:solidFill>
                  <a:srgbClr val="2E2E2E"/>
                </a:solidFill>
                <a:latin typeface="Calibri"/>
              </a:rPr>
              <a:t>● Dairy and Frozen Desserts:</a:t>
            </a:r>
          </a:p>
        </p:txBody>
      </p:sp>
      <p:pic>
        <p:nvPicPr>
          <p:cNvPr id="124" name="Picture 123" descr="lock.png"/>
          <p:cNvPicPr>
            <a:picLocks noChangeAspect="1"/>
          </p:cNvPicPr>
          <p:nvPr/>
        </p:nvPicPr>
        <p:blipFill>
          <a:blip r:embed="rId22"/>
          <a:stretch>
            <a:fillRect/>
          </a:stretch>
        </p:blipFill>
        <p:spPr>
          <a:xfrm>
            <a:off x="5491204" y="4437590"/>
            <a:ext cx="128699" cy="187198"/>
          </a:xfrm>
          <a:prstGeom prst="rect">
            <a:avLst/>
          </a:prstGeom>
        </p:spPr>
      </p:pic>
      <p:sp>
        <p:nvSpPr>
          <p:cNvPr id="125" name="TextBox 124"/>
          <p:cNvSpPr txBox="1"/>
          <p:nvPr/>
        </p:nvSpPr>
        <p:spPr>
          <a:xfrm>
            <a:off x="565870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6" name="Picture 125" descr="lock.png"/>
          <p:cNvPicPr>
            <a:picLocks noChangeAspect="1"/>
          </p:cNvPicPr>
          <p:nvPr/>
        </p:nvPicPr>
        <p:blipFill>
          <a:blip r:embed="rId22"/>
          <a:stretch>
            <a:fillRect/>
          </a:stretch>
        </p:blipFill>
        <p:spPr>
          <a:xfrm>
            <a:off x="6518150" y="4437590"/>
            <a:ext cx="128699" cy="187198"/>
          </a:xfrm>
          <a:prstGeom prst="rect">
            <a:avLst/>
          </a:prstGeom>
        </p:spPr>
      </p:pic>
      <p:sp>
        <p:nvSpPr>
          <p:cNvPr id="127" name="TextBox 126"/>
          <p:cNvSpPr txBox="1"/>
          <p:nvPr/>
        </p:nvSpPr>
        <p:spPr>
          <a:xfrm>
            <a:off x="6685646" y="4447369"/>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28" name="TextBox 127"/>
          <p:cNvSpPr txBox="1"/>
          <p:nvPr/>
        </p:nvSpPr>
        <p:spPr>
          <a:xfrm>
            <a:off x="3838575" y="4615009"/>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29" name="TextBox 128"/>
          <p:cNvSpPr txBox="1"/>
          <p:nvPr/>
        </p:nvSpPr>
        <p:spPr>
          <a:xfrm>
            <a:off x="3838575" y="4832941"/>
            <a:ext cx="1411232" cy="186689"/>
          </a:xfrm>
          <a:prstGeom prst="rect">
            <a:avLst/>
          </a:prstGeom>
          <a:noFill/>
        </p:spPr>
        <p:txBody>
          <a:bodyPr wrap="none" lIns="0" rIns="0" tIns="0" bIns="0">
            <a:spAutoFit/>
          </a:bodyPr>
          <a:lstStyle/>
          <a:p>
            <a:r>
              <a:rPr sz="1100" b="0">
                <a:solidFill>
                  <a:srgbClr val="2E2E2E"/>
                </a:solidFill>
                <a:latin typeface="Calibri"/>
              </a:rPr>
              <a:t>● Other Food Products:</a:t>
            </a:r>
          </a:p>
        </p:txBody>
      </p:sp>
      <p:pic>
        <p:nvPicPr>
          <p:cNvPr id="130" name="Picture 129" descr="lock.png"/>
          <p:cNvPicPr>
            <a:picLocks noChangeAspect="1"/>
          </p:cNvPicPr>
          <p:nvPr/>
        </p:nvPicPr>
        <p:blipFill>
          <a:blip r:embed="rId22"/>
          <a:stretch>
            <a:fillRect/>
          </a:stretch>
        </p:blipFill>
        <p:spPr>
          <a:xfrm>
            <a:off x="5197859" y="4823162"/>
            <a:ext cx="128699" cy="187198"/>
          </a:xfrm>
          <a:prstGeom prst="rect">
            <a:avLst/>
          </a:prstGeom>
        </p:spPr>
      </p:pic>
      <p:sp>
        <p:nvSpPr>
          <p:cNvPr id="131" name="TextBox 130"/>
          <p:cNvSpPr txBox="1"/>
          <p:nvPr/>
        </p:nvSpPr>
        <p:spPr>
          <a:xfrm>
            <a:off x="5365355"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2" name="Picture 131" descr="lock.png"/>
          <p:cNvPicPr>
            <a:picLocks noChangeAspect="1"/>
          </p:cNvPicPr>
          <p:nvPr/>
        </p:nvPicPr>
        <p:blipFill>
          <a:blip r:embed="rId22"/>
          <a:stretch>
            <a:fillRect/>
          </a:stretch>
        </p:blipFill>
        <p:spPr>
          <a:xfrm>
            <a:off x="6224805" y="4823162"/>
            <a:ext cx="128699" cy="187198"/>
          </a:xfrm>
          <a:prstGeom prst="rect">
            <a:avLst/>
          </a:prstGeom>
        </p:spPr>
      </p:pic>
      <p:sp>
        <p:nvSpPr>
          <p:cNvPr id="133" name="TextBox 132"/>
          <p:cNvSpPr txBox="1"/>
          <p:nvPr/>
        </p:nvSpPr>
        <p:spPr>
          <a:xfrm>
            <a:off x="6392301"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4" name="TextBox 133"/>
          <p:cNvSpPr txBox="1"/>
          <p:nvPr/>
        </p:nvSpPr>
        <p:spPr>
          <a:xfrm>
            <a:off x="3838575" y="5050872"/>
            <a:ext cx="2903760" cy="186689"/>
          </a:xfrm>
          <a:prstGeom prst="rect">
            <a:avLst/>
          </a:prstGeom>
          <a:noFill/>
        </p:spPr>
        <p:txBody>
          <a:bodyPr wrap="none" lIns="0" rIns="0" tIns="0" bIns="0">
            <a:spAutoFit/>
          </a:bodyPr>
          <a:lstStyle/>
          <a:p>
            <a:r>
              <a:rPr sz="1100" b="1">
                <a:solidFill>
                  <a:srgbClr val="6F3CC2"/>
                </a:solidFill>
                <a:latin typeface="Calibri"/>
              </a:rPr>
              <a:t>● Dietary Supplements and Functional Nutrition:</a:t>
            </a:r>
          </a:p>
        </p:txBody>
      </p:sp>
      <p:pic>
        <p:nvPicPr>
          <p:cNvPr id="135" name="Picture 134" descr="lock.png"/>
          <p:cNvPicPr>
            <a:picLocks noChangeAspect="1"/>
          </p:cNvPicPr>
          <p:nvPr/>
        </p:nvPicPr>
        <p:blipFill>
          <a:blip r:embed="rId22"/>
          <a:stretch>
            <a:fillRect/>
          </a:stretch>
        </p:blipFill>
        <p:spPr>
          <a:xfrm>
            <a:off x="6690387" y="5041093"/>
            <a:ext cx="128699" cy="187198"/>
          </a:xfrm>
          <a:prstGeom prst="rect">
            <a:avLst/>
          </a:prstGeom>
        </p:spPr>
      </p:pic>
      <p:sp>
        <p:nvSpPr>
          <p:cNvPr id="136" name="TextBox 135"/>
          <p:cNvSpPr txBox="1"/>
          <p:nvPr/>
        </p:nvSpPr>
        <p:spPr>
          <a:xfrm>
            <a:off x="6857883" y="5050872"/>
            <a:ext cx="926405" cy="186689"/>
          </a:xfrm>
          <a:prstGeom prst="rect">
            <a:avLst/>
          </a:prstGeom>
          <a:noFill/>
        </p:spPr>
        <p:txBody>
          <a:bodyPr wrap="none" lIns="0" rIns="0" tIns="0" bIns="0">
            <a:spAutoFit/>
          </a:bodyPr>
          <a:lstStyle/>
          <a:p>
            <a:r>
              <a:rPr sz="1100" b="1">
                <a:solidFill>
                  <a:srgbClr val="6F3CC2"/>
                </a:solidFill>
                <a:latin typeface="Calibri"/>
              </a:rPr>
              <a:t>of 2026 value ·</a:t>
            </a:r>
          </a:p>
        </p:txBody>
      </p:sp>
      <p:pic>
        <p:nvPicPr>
          <p:cNvPr id="137" name="Picture 136" descr="lock.png"/>
          <p:cNvPicPr>
            <a:picLocks noChangeAspect="1"/>
          </p:cNvPicPr>
          <p:nvPr/>
        </p:nvPicPr>
        <p:blipFill>
          <a:blip r:embed="rId22"/>
          <a:stretch>
            <a:fillRect/>
          </a:stretch>
        </p:blipFill>
        <p:spPr>
          <a:xfrm>
            <a:off x="3825107" y="5208733"/>
            <a:ext cx="128699" cy="187198"/>
          </a:xfrm>
          <a:prstGeom prst="rect">
            <a:avLst/>
          </a:prstGeom>
        </p:spPr>
      </p:pic>
      <p:sp>
        <p:nvSpPr>
          <p:cNvPr id="138" name="TextBox 137"/>
          <p:cNvSpPr txBox="1"/>
          <p:nvPr/>
        </p:nvSpPr>
        <p:spPr>
          <a:xfrm>
            <a:off x="3992603" y="5218513"/>
            <a:ext cx="1284633" cy="186689"/>
          </a:xfrm>
          <a:prstGeom prst="rect">
            <a:avLst/>
          </a:prstGeom>
          <a:noFill/>
        </p:spPr>
        <p:txBody>
          <a:bodyPr wrap="none" lIns="0" rIns="0" tIns="0" bIns="0">
            <a:spAutoFit/>
          </a:bodyPr>
          <a:lstStyle/>
          <a:p>
            <a:r>
              <a:rPr sz="1100" b="1">
                <a:solidFill>
                  <a:srgbClr val="6F3CC2"/>
                </a:solidFill>
                <a:latin typeface="Calibri"/>
              </a:rPr>
              <a:t>CAGR serves a niche.</a:t>
            </a:r>
          </a:p>
        </p:txBody>
      </p:sp>
      <p:sp>
        <p:nvSpPr>
          <p:cNvPr id="139" name="TextBox 138"/>
          <p:cNvSpPr txBox="1"/>
          <p:nvPr/>
        </p:nvSpPr>
        <p:spPr>
          <a:xfrm>
            <a:off x="3838575" y="5436445"/>
            <a:ext cx="1291208" cy="186689"/>
          </a:xfrm>
          <a:prstGeom prst="rect">
            <a:avLst/>
          </a:prstGeom>
          <a:noFill/>
        </p:spPr>
        <p:txBody>
          <a:bodyPr wrap="none" lIns="0" rIns="0" tIns="0" bIns="0">
            <a:spAutoFit/>
          </a:bodyPr>
          <a:lstStyle/>
          <a:p>
            <a:r>
              <a:rPr sz="1100" b="0">
                <a:solidFill>
                  <a:srgbClr val="2E2E2E"/>
                </a:solidFill>
                <a:latin typeface="Calibri"/>
              </a:rPr>
              <a:t>● Other Applications:</a:t>
            </a:r>
          </a:p>
        </p:txBody>
      </p:sp>
      <p:pic>
        <p:nvPicPr>
          <p:cNvPr id="140" name="Picture 139" descr="lock.png"/>
          <p:cNvPicPr>
            <a:picLocks noChangeAspect="1"/>
          </p:cNvPicPr>
          <p:nvPr/>
        </p:nvPicPr>
        <p:blipFill>
          <a:blip r:embed="rId22"/>
          <a:stretch>
            <a:fillRect/>
          </a:stretch>
        </p:blipFill>
        <p:spPr>
          <a:xfrm>
            <a:off x="5077834" y="5426665"/>
            <a:ext cx="128699" cy="187198"/>
          </a:xfrm>
          <a:prstGeom prst="rect">
            <a:avLst/>
          </a:prstGeom>
        </p:spPr>
      </p:pic>
      <p:sp>
        <p:nvSpPr>
          <p:cNvPr id="141" name="TextBox 140"/>
          <p:cNvSpPr txBox="1"/>
          <p:nvPr/>
        </p:nvSpPr>
        <p:spPr>
          <a:xfrm>
            <a:off x="5245330" y="543644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2" name="Picture 141" descr="lock.png"/>
          <p:cNvPicPr>
            <a:picLocks noChangeAspect="1"/>
          </p:cNvPicPr>
          <p:nvPr/>
        </p:nvPicPr>
        <p:blipFill>
          <a:blip r:embed="rId22"/>
          <a:stretch>
            <a:fillRect/>
          </a:stretch>
        </p:blipFill>
        <p:spPr>
          <a:xfrm>
            <a:off x="6104780" y="5426665"/>
            <a:ext cx="128699" cy="187198"/>
          </a:xfrm>
          <a:prstGeom prst="rect">
            <a:avLst/>
          </a:prstGeom>
        </p:spPr>
      </p:pic>
      <p:sp>
        <p:nvSpPr>
          <p:cNvPr id="143" name="TextBox 142"/>
          <p:cNvSpPr txBox="1"/>
          <p:nvPr/>
        </p:nvSpPr>
        <p:spPr>
          <a:xfrm>
            <a:off x="6272276" y="5436445"/>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44" name="TextBox 143"/>
          <p:cNvSpPr txBox="1"/>
          <p:nvPr/>
        </p:nvSpPr>
        <p:spPr>
          <a:xfrm>
            <a:off x="3838575" y="5654377"/>
            <a:ext cx="1695574" cy="186689"/>
          </a:xfrm>
          <a:prstGeom prst="rect">
            <a:avLst/>
          </a:prstGeom>
          <a:noFill/>
        </p:spPr>
        <p:txBody>
          <a:bodyPr wrap="none" lIns="0" rIns="0" tIns="0" bIns="0">
            <a:spAutoFit/>
          </a:bodyPr>
          <a:lstStyle/>
          <a:p>
            <a:r>
              <a:rPr sz="1100" b="0">
                <a:solidFill>
                  <a:srgbClr val="2E2E2E"/>
                </a:solidFill>
                <a:latin typeface="Calibri"/>
              </a:rPr>
              <a:t>● Bakery and Confectionery:</a:t>
            </a:r>
          </a:p>
        </p:txBody>
      </p:sp>
      <p:pic>
        <p:nvPicPr>
          <p:cNvPr id="145" name="Picture 144" descr="lock.png"/>
          <p:cNvPicPr>
            <a:picLocks noChangeAspect="1"/>
          </p:cNvPicPr>
          <p:nvPr/>
        </p:nvPicPr>
        <p:blipFill>
          <a:blip r:embed="rId22"/>
          <a:stretch>
            <a:fillRect/>
          </a:stretch>
        </p:blipFill>
        <p:spPr>
          <a:xfrm>
            <a:off x="5482200" y="5644597"/>
            <a:ext cx="128699" cy="187198"/>
          </a:xfrm>
          <a:prstGeom prst="rect">
            <a:avLst/>
          </a:prstGeom>
        </p:spPr>
      </p:pic>
      <p:sp>
        <p:nvSpPr>
          <p:cNvPr id="146" name="TextBox 145"/>
          <p:cNvSpPr txBox="1"/>
          <p:nvPr/>
        </p:nvSpPr>
        <p:spPr>
          <a:xfrm>
            <a:off x="5649696" y="565437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2"/>
          <a:stretch>
            <a:fillRect/>
          </a:stretch>
        </p:blipFill>
        <p:spPr>
          <a:xfrm>
            <a:off x="6509146" y="5644597"/>
            <a:ext cx="128699" cy="187198"/>
          </a:xfrm>
          <a:prstGeom prst="rect">
            <a:avLst/>
          </a:prstGeom>
        </p:spPr>
      </p:pic>
      <p:sp>
        <p:nvSpPr>
          <p:cNvPr id="148" name="TextBox 147"/>
          <p:cNvSpPr txBox="1"/>
          <p:nvPr/>
        </p:nvSpPr>
        <p:spPr>
          <a:xfrm>
            <a:off x="6676642" y="5654377"/>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49" name="TextBox 148"/>
          <p:cNvSpPr txBox="1"/>
          <p:nvPr/>
        </p:nvSpPr>
        <p:spPr>
          <a:xfrm>
            <a:off x="3838575" y="5822017"/>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50" name="TextBox 149"/>
          <p:cNvSpPr txBox="1"/>
          <p:nvPr/>
        </p:nvSpPr>
        <p:spPr>
          <a:xfrm>
            <a:off x="8524875" y="5842641"/>
            <a:ext cx="3093045" cy="194310"/>
          </a:xfrm>
          <a:prstGeom prst="rect">
            <a:avLst/>
          </a:prstGeom>
          <a:noFill/>
        </p:spPr>
        <p:txBody>
          <a:bodyPr wrap="none" lIns="0" rIns="0" tIns="0" bIns="0">
            <a:spAutoFit/>
          </a:bodyPr>
          <a:lstStyle/>
          <a:p>
            <a:r>
              <a:rPr sz="1150" b="1">
                <a:solidFill>
                  <a:srgbClr val="0B2E4A"/>
                </a:solidFill>
                <a:latin typeface="Calibri"/>
              </a:rPr>
              <a:t>The Application segment is projected to grow at a</a:t>
            </a:r>
          </a:p>
        </p:txBody>
      </p:sp>
      <p:sp>
        <p:nvSpPr>
          <p:cNvPr id="151" name="TextBox 150"/>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52" name="Picture 151" descr="lock.png"/>
          <p:cNvPicPr>
            <a:picLocks noChangeAspect="1"/>
          </p:cNvPicPr>
          <p:nvPr/>
        </p:nvPicPr>
        <p:blipFill>
          <a:blip r:embed="rId22"/>
          <a:stretch>
            <a:fillRect/>
          </a:stretch>
        </p:blipFill>
        <p:spPr>
          <a:xfrm>
            <a:off x="9048826" y="6007677"/>
            <a:ext cx="134549" cy="195707"/>
          </a:xfrm>
          <a:prstGeom prst="rect">
            <a:avLst/>
          </a:prstGeom>
        </p:spPr>
      </p:pic>
      <p:sp>
        <p:nvSpPr>
          <p:cNvPr id="153" name="TextBox 152"/>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386170" cy="186689"/>
          </a:xfrm>
          <a:prstGeom prst="rect">
            <a:avLst/>
          </a:prstGeom>
          <a:noFill/>
        </p:spPr>
        <p:txBody>
          <a:bodyPr wrap="none" lIns="0" rIns="0" tIns="0" bIns="0">
            <a:spAutoFit/>
          </a:bodyPr>
          <a:lstStyle/>
          <a:p>
            <a:r>
              <a:rPr sz="1100" b="0">
                <a:solidFill>
                  <a:srgbClr val="2E2E2E"/>
                </a:solidFill>
                <a:latin typeface="Calibri"/>
              </a:rPr>
              <a:t>Beverages followed by other applications are expected to be the two most attractive application segments in the global matcha market in terms of value over the forecast period. Beverages and other</a:t>
            </a:r>
          </a:p>
        </p:txBody>
      </p:sp>
      <p:sp>
        <p:nvSpPr>
          <p:cNvPr id="20" name="TextBox 19"/>
          <p:cNvSpPr txBox="1"/>
          <p:nvPr/>
        </p:nvSpPr>
        <p:spPr>
          <a:xfrm>
            <a:off x="257175" y="5945505"/>
            <a:ext cx="2119022" cy="186689"/>
          </a:xfrm>
          <a:prstGeom prst="rect">
            <a:avLst/>
          </a:prstGeom>
          <a:noFill/>
        </p:spPr>
        <p:txBody>
          <a:bodyPr wrap="none" lIns="0" rIns="0" tIns="0" bIns="0">
            <a:spAutoFit/>
          </a:bodyPr>
          <a:lstStyle/>
          <a:p>
            <a:r>
              <a:rPr sz="1100" b="0">
                <a:solidFill>
                  <a:srgbClr val="2E2E2E"/>
                </a:solidFill>
                <a:latin typeface="Calibri"/>
              </a:rPr>
              <a:t>applications exhibit a CAGR index of</a:t>
            </a:r>
          </a:p>
        </p:txBody>
      </p:sp>
      <p:pic>
        <p:nvPicPr>
          <p:cNvPr id="21" name="Picture 20" descr="lock.png"/>
          <p:cNvPicPr>
            <a:picLocks noChangeAspect="1"/>
          </p:cNvPicPr>
          <p:nvPr/>
        </p:nvPicPr>
        <p:blipFill>
          <a:blip r:embed="rId6"/>
          <a:stretch>
            <a:fillRect/>
          </a:stretch>
        </p:blipFill>
        <p:spPr>
          <a:xfrm>
            <a:off x="2324249" y="5935726"/>
            <a:ext cx="128699" cy="187198"/>
          </a:xfrm>
          <a:prstGeom prst="rect">
            <a:avLst/>
          </a:prstGeom>
        </p:spPr>
      </p:pic>
      <p:sp>
        <p:nvSpPr>
          <p:cNvPr id="22" name="TextBox 21"/>
          <p:cNvSpPr txBox="1"/>
          <p:nvPr/>
        </p:nvSpPr>
        <p:spPr>
          <a:xfrm>
            <a:off x="2491745"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2729639" y="5935726"/>
            <a:ext cx="128699" cy="187198"/>
          </a:xfrm>
          <a:prstGeom prst="rect">
            <a:avLst/>
          </a:prstGeom>
        </p:spPr>
      </p:pic>
      <p:sp>
        <p:nvSpPr>
          <p:cNvPr id="24" name="TextBox 23"/>
          <p:cNvSpPr txBox="1"/>
          <p:nvPr/>
        </p:nvSpPr>
        <p:spPr>
          <a:xfrm>
            <a:off x="2897135"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4506108" y="5935726"/>
            <a:ext cx="128699" cy="187198"/>
          </a:xfrm>
          <a:prstGeom prst="rect">
            <a:avLst/>
          </a:prstGeom>
        </p:spPr>
      </p:pic>
      <p:sp>
        <p:nvSpPr>
          <p:cNvPr id="26" name="TextBox 25"/>
          <p:cNvSpPr txBox="1"/>
          <p:nvPr/>
        </p:nvSpPr>
        <p:spPr>
          <a:xfrm>
            <a:off x="4673604"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4911498" y="5935726"/>
            <a:ext cx="128699" cy="187198"/>
          </a:xfrm>
          <a:prstGeom prst="rect">
            <a:avLst/>
          </a:prstGeom>
        </p:spPr>
      </p:pic>
      <p:sp>
        <p:nvSpPr>
          <p:cNvPr id="28" name="TextBox 27"/>
          <p:cNvSpPr txBox="1"/>
          <p:nvPr/>
        </p:nvSpPr>
        <p:spPr>
          <a:xfrm>
            <a:off x="5078994"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7633398" y="5935726"/>
            <a:ext cx="128699" cy="187198"/>
          </a:xfrm>
          <a:prstGeom prst="rect">
            <a:avLst/>
          </a:prstGeom>
        </p:spPr>
      </p:pic>
      <p:sp>
        <p:nvSpPr>
          <p:cNvPr id="30" name="TextBox 29"/>
          <p:cNvSpPr txBox="1"/>
          <p:nvPr/>
        </p:nvSpPr>
        <p:spPr>
          <a:xfrm>
            <a:off x="7800894" y="5945505"/>
            <a:ext cx="3293119" cy="186689"/>
          </a:xfrm>
          <a:prstGeom prst="rect">
            <a:avLst/>
          </a:prstGeom>
          <a:noFill/>
        </p:spPr>
        <p:txBody>
          <a:bodyPr wrap="none" lIns="0" rIns="0" tIns="0" bIns="0">
            <a:spAutoFit/>
          </a:bodyPr>
          <a:lstStyle/>
          <a:p>
            <a:r>
              <a:rPr sz="1100" b="0">
                <a:solidFill>
                  <a:srgbClr val="2E2E2E"/>
                </a:solidFill>
                <a:latin typeface="Calibri"/>
              </a:rPr>
              <a:t>. The other food products segment is expected to be less</a:t>
            </a:r>
          </a:p>
        </p:txBody>
      </p:sp>
      <p:sp>
        <p:nvSpPr>
          <p:cNvPr id="31" name="TextBox 30"/>
          <p:cNvSpPr txBox="1"/>
          <p:nvPr/>
        </p:nvSpPr>
        <p:spPr>
          <a:xfrm>
            <a:off x="257175" y="6113145"/>
            <a:ext cx="11338386" cy="186689"/>
          </a:xfrm>
          <a:prstGeom prst="rect">
            <a:avLst/>
          </a:prstGeom>
          <a:noFill/>
        </p:spPr>
        <p:txBody>
          <a:bodyPr wrap="none" lIns="0" rIns="0" tIns="0" bIns="0">
            <a:spAutoFit/>
          </a:bodyPr>
          <a:lstStyle/>
          <a:p>
            <a:r>
              <a:rPr sz="1100" b="0">
                <a:solidFill>
                  <a:srgbClr val="2E2E2E"/>
                </a:solidFill>
                <a:latin typeface="Calibri"/>
              </a:rPr>
              <a:t>attractive as compared to other segments over the forecast period, owing to its lower CAGR and incremental opportunity. Bubbles right of the CAGR-Index line grow faster than the 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Beverages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Bakery and Confectionery</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Dairy and Frozen Desserts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Food Products</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Dietary Supplements and Functional Nutrition</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Applications</a:t>
            </a:r>
          </a:p>
        </p:txBody>
      </p:sp>
      <p:graphicFrame>
        <p:nvGraphicFramePr>
          <p:cNvPr id="15" name="Chart 14"/>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Application</a:t>
            </a:r>
          </a:p>
        </p:txBody>
      </p:sp>
      <p:sp>
        <p:nvSpPr>
          <p:cNvPr id="18" name="Rectangle 17"/>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100230" y="2330679"/>
            <a:ext cx="252890" cy="367840"/>
          </a:xfrm>
          <a:prstGeom prst="rect">
            <a:avLst/>
          </a:prstGeom>
        </p:spPr>
      </p:pic>
      <p:pic>
        <p:nvPicPr>
          <p:cNvPr id="22" name="Picture 21" descr="lock.png"/>
          <p:cNvPicPr>
            <a:picLocks noChangeAspect="1"/>
          </p:cNvPicPr>
          <p:nvPr/>
        </p:nvPicPr>
        <p:blipFill>
          <a:blip r:embed="rId6"/>
          <a:stretch>
            <a:fillRect/>
          </a:stretch>
        </p:blipFill>
        <p:spPr>
          <a:xfrm>
            <a:off x="3094826" y="5123309"/>
            <a:ext cx="263506" cy="383281"/>
          </a:xfrm>
          <a:prstGeom prst="rect">
            <a:avLst/>
          </a:prstGeom>
        </p:spPr>
      </p:pic>
      <p:sp>
        <p:nvSpPr>
          <p:cNvPr id="23" name="TextBox 22"/>
          <p:cNvSpPr txBox="1"/>
          <p:nvPr/>
        </p:nvSpPr>
        <p:spPr>
          <a:xfrm>
            <a:off x="6305550" y="1400175"/>
            <a:ext cx="4108812" cy="194310"/>
          </a:xfrm>
          <a:prstGeom prst="rect">
            <a:avLst/>
          </a:prstGeom>
          <a:noFill/>
        </p:spPr>
        <p:txBody>
          <a:bodyPr wrap="none" lIns="0" rIns="0" tIns="0" bIns="0">
            <a:spAutoFit/>
          </a:bodyPr>
          <a:lstStyle/>
          <a:p>
            <a:r>
              <a:rPr sz="1150" b="0">
                <a:solidFill>
                  <a:srgbClr val="2E2E2E"/>
                </a:solidFill>
                <a:latin typeface="Calibri"/>
              </a:rPr>
              <a:t>By 2036, beverages segment is anticipated to witness an increase of</a:t>
            </a:r>
          </a:p>
        </p:txBody>
      </p:sp>
      <p:pic>
        <p:nvPicPr>
          <p:cNvPr id="24" name="Picture 23" descr="lock.png"/>
          <p:cNvPicPr>
            <a:picLocks noChangeAspect="1"/>
          </p:cNvPicPr>
          <p:nvPr/>
        </p:nvPicPr>
        <p:blipFill>
          <a:blip r:embed="rId6"/>
          <a:stretch>
            <a:fillRect/>
          </a:stretch>
        </p:blipFill>
        <p:spPr>
          <a:xfrm>
            <a:off x="10363516" y="1389951"/>
            <a:ext cx="134549" cy="195707"/>
          </a:xfrm>
          <a:prstGeom prst="rect">
            <a:avLst/>
          </a:prstGeom>
        </p:spPr>
      </p:pic>
      <p:sp>
        <p:nvSpPr>
          <p:cNvPr id="25" name="TextBox 24"/>
          <p:cNvSpPr txBox="1"/>
          <p:nvPr/>
        </p:nvSpPr>
        <p:spPr>
          <a:xfrm>
            <a:off x="10538625" y="1400175"/>
            <a:ext cx="1341871" cy="194310"/>
          </a:xfrm>
          <a:prstGeom prst="rect">
            <a:avLst/>
          </a:prstGeom>
          <a:noFill/>
        </p:spPr>
        <p:txBody>
          <a:bodyPr wrap="none" lIns="0" rIns="0" tIns="0" bIns="0">
            <a:spAutoFit/>
          </a:bodyPr>
          <a:lstStyle/>
          <a:p>
            <a:r>
              <a:rPr sz="1150" b="0">
                <a:solidFill>
                  <a:srgbClr val="2E2E2E"/>
                </a:solidFill>
                <a:latin typeface="Calibri"/>
              </a:rPr>
              <a:t>X in terms of value as</a:t>
            </a:r>
          </a:p>
        </p:txBody>
      </p:sp>
      <p:sp>
        <p:nvSpPr>
          <p:cNvPr id="26" name="TextBox 25"/>
          <p:cNvSpPr txBox="1"/>
          <p:nvPr/>
        </p:nvSpPr>
        <p:spPr>
          <a:xfrm>
            <a:off x="6305550" y="1575435"/>
            <a:ext cx="5589302" cy="194310"/>
          </a:xfrm>
          <a:prstGeom prst="rect">
            <a:avLst/>
          </a:prstGeom>
          <a:noFill/>
        </p:spPr>
        <p:txBody>
          <a:bodyPr wrap="none" lIns="0" rIns="0" tIns="0" bIns="0">
            <a:spAutoFit/>
          </a:bodyPr>
          <a:lstStyle/>
          <a:p>
            <a:r>
              <a:rPr sz="1150" b="0">
                <a:solidFill>
                  <a:srgbClr val="2E2E2E"/>
                </a:solidFill>
                <a:latin typeface="Calibri"/>
              </a:rPr>
              <a:t>compared to 2026. The beverages segment is expected to create an incremental opportunity</a:t>
            </a:r>
          </a:p>
        </p:txBody>
      </p:sp>
      <p:sp>
        <p:nvSpPr>
          <p:cNvPr id="27" name="TextBox 26"/>
          <p:cNvSpPr txBox="1"/>
          <p:nvPr/>
        </p:nvSpPr>
        <p:spPr>
          <a:xfrm>
            <a:off x="6305550" y="1750695"/>
            <a:ext cx="465856" cy="194310"/>
          </a:xfrm>
          <a:prstGeom prst="rect">
            <a:avLst/>
          </a:prstGeom>
          <a:noFill/>
        </p:spPr>
        <p:txBody>
          <a:bodyPr wrap="none" lIns="0" rIns="0" tIns="0" bIns="0">
            <a:spAutoFit/>
          </a:bodyPr>
          <a:lstStyle/>
          <a:p>
            <a:r>
              <a:rPr sz="1150" b="0">
                <a:solidFill>
                  <a:srgbClr val="2E2E2E"/>
                </a:solidFill>
                <a:latin typeface="Calibri"/>
              </a:rPr>
              <a:t>of US$</a:t>
            </a:r>
          </a:p>
        </p:txBody>
      </p:sp>
      <p:pic>
        <p:nvPicPr>
          <p:cNvPr id="28" name="Picture 27" descr="lock.png"/>
          <p:cNvPicPr>
            <a:picLocks noChangeAspect="1"/>
          </p:cNvPicPr>
          <p:nvPr/>
        </p:nvPicPr>
        <p:blipFill>
          <a:blip r:embed="rId6"/>
          <a:stretch>
            <a:fillRect/>
          </a:stretch>
        </p:blipFill>
        <p:spPr>
          <a:xfrm>
            <a:off x="6720560" y="1740471"/>
            <a:ext cx="134549" cy="195707"/>
          </a:xfrm>
          <a:prstGeom prst="rect">
            <a:avLst/>
          </a:prstGeom>
        </p:spPr>
      </p:pic>
      <p:sp>
        <p:nvSpPr>
          <p:cNvPr id="29" name="TextBox 28"/>
          <p:cNvSpPr txBox="1"/>
          <p:nvPr/>
        </p:nvSpPr>
        <p:spPr>
          <a:xfrm>
            <a:off x="6895670" y="1750695"/>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30" name="TextBox 29"/>
          <p:cNvSpPr txBox="1"/>
          <p:nvPr/>
        </p:nvSpPr>
        <p:spPr>
          <a:xfrm>
            <a:off x="6305550" y="1978533"/>
            <a:ext cx="5318596" cy="194310"/>
          </a:xfrm>
          <a:prstGeom prst="rect">
            <a:avLst/>
          </a:prstGeom>
          <a:noFill/>
        </p:spPr>
        <p:txBody>
          <a:bodyPr wrap="none" lIns="0" rIns="0" tIns="0" bIns="0">
            <a:spAutoFit/>
          </a:bodyPr>
          <a:lstStyle/>
          <a:p>
            <a:r>
              <a:rPr sz="1150" b="0">
                <a:solidFill>
                  <a:srgbClr val="2E2E2E"/>
                </a:solidFill>
                <a:latin typeface="Calibri"/>
              </a:rPr>
              <a:t>The other applications segment is expected to create an incremental opportunity of US$</a:t>
            </a:r>
          </a:p>
        </p:txBody>
      </p:sp>
      <p:pic>
        <p:nvPicPr>
          <p:cNvPr id="31" name="Picture 30" descr="lock.png"/>
          <p:cNvPicPr>
            <a:picLocks noChangeAspect="1"/>
          </p:cNvPicPr>
          <p:nvPr/>
        </p:nvPicPr>
        <p:blipFill>
          <a:blip r:embed="rId6"/>
          <a:stretch>
            <a:fillRect/>
          </a:stretch>
        </p:blipFill>
        <p:spPr>
          <a:xfrm>
            <a:off x="6291470" y="2143569"/>
            <a:ext cx="134549" cy="195707"/>
          </a:xfrm>
          <a:prstGeom prst="rect">
            <a:avLst/>
          </a:prstGeom>
        </p:spPr>
      </p:pic>
      <p:sp>
        <p:nvSpPr>
          <p:cNvPr id="32" name="TextBox 31"/>
          <p:cNvSpPr txBox="1"/>
          <p:nvPr/>
        </p:nvSpPr>
        <p:spPr>
          <a:xfrm>
            <a:off x="6466579" y="2153793"/>
            <a:ext cx="5027922"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 The dietary supplements and</a:t>
            </a:r>
          </a:p>
        </p:txBody>
      </p:sp>
      <p:sp>
        <p:nvSpPr>
          <p:cNvPr id="33" name="TextBox 32"/>
          <p:cNvSpPr txBox="1"/>
          <p:nvPr/>
        </p:nvSpPr>
        <p:spPr>
          <a:xfrm>
            <a:off x="6305550" y="2329053"/>
            <a:ext cx="5145732" cy="194310"/>
          </a:xfrm>
          <a:prstGeom prst="rect">
            <a:avLst/>
          </a:prstGeom>
          <a:noFill/>
        </p:spPr>
        <p:txBody>
          <a:bodyPr wrap="none" lIns="0" rIns="0" tIns="0" bIns="0">
            <a:spAutoFit/>
          </a:bodyPr>
          <a:lstStyle/>
          <a:p>
            <a:r>
              <a:rPr sz="1150" b="0">
                <a:solidFill>
                  <a:srgbClr val="2E2E2E"/>
                </a:solidFill>
                <a:latin typeface="Calibri"/>
              </a:rPr>
              <a:t>functional nutrition segment is expected to create an incremental opportunity of US$</a:t>
            </a:r>
          </a:p>
        </p:txBody>
      </p:sp>
      <p:pic>
        <p:nvPicPr>
          <p:cNvPr id="34" name="Picture 33" descr="lock.png"/>
          <p:cNvPicPr>
            <a:picLocks noChangeAspect="1"/>
          </p:cNvPicPr>
          <p:nvPr/>
        </p:nvPicPr>
        <p:blipFill>
          <a:blip r:embed="rId6"/>
          <a:stretch>
            <a:fillRect/>
          </a:stretch>
        </p:blipFill>
        <p:spPr>
          <a:xfrm>
            <a:off x="11400436" y="2318829"/>
            <a:ext cx="134549" cy="195707"/>
          </a:xfrm>
          <a:prstGeom prst="rect">
            <a:avLst/>
          </a:prstGeom>
        </p:spPr>
      </p:pic>
      <p:sp>
        <p:nvSpPr>
          <p:cNvPr id="35" name="TextBox 34"/>
          <p:cNvSpPr txBox="1"/>
          <p:nvPr/>
        </p:nvSpPr>
        <p:spPr>
          <a:xfrm>
            <a:off x="11575545" y="2329053"/>
            <a:ext cx="277874" cy="194310"/>
          </a:xfrm>
          <a:prstGeom prst="rect">
            <a:avLst/>
          </a:prstGeom>
          <a:noFill/>
        </p:spPr>
        <p:txBody>
          <a:bodyPr wrap="none" lIns="0" rIns="0" tIns="0" bIns="0">
            <a:spAutoFit/>
          </a:bodyPr>
          <a:lstStyle/>
          <a:p>
            <a:r>
              <a:rPr sz="1150" b="0">
                <a:solidFill>
                  <a:srgbClr val="2E2E2E"/>
                </a:solidFill>
                <a:latin typeface="Calibri"/>
              </a:rPr>
              <a:t>Mn</a:t>
            </a:r>
          </a:p>
        </p:txBody>
      </p:sp>
      <p:sp>
        <p:nvSpPr>
          <p:cNvPr id="36" name="TextBox 35"/>
          <p:cNvSpPr txBox="1"/>
          <p:nvPr/>
        </p:nvSpPr>
        <p:spPr>
          <a:xfrm>
            <a:off x="6305550" y="2504313"/>
            <a:ext cx="3031430" cy="194310"/>
          </a:xfrm>
          <a:prstGeom prst="rect">
            <a:avLst/>
          </a:prstGeom>
          <a:noFill/>
        </p:spPr>
        <p:txBody>
          <a:bodyPr wrap="none" lIns="0" rIns="0" tIns="0" bIns="0">
            <a:spAutoFit/>
          </a:bodyPr>
          <a:lstStyle/>
          <a:p>
            <a:r>
              <a:rPr sz="1150" b="0">
                <a:solidFill>
                  <a:srgbClr val="2E2E2E"/>
                </a:solidFill>
                <a:latin typeface="Calibri"/>
              </a:rPr>
              <a:t>for the overall matcha market from 2026 to 2036.</a:t>
            </a:r>
          </a:p>
        </p:txBody>
      </p:sp>
      <p:sp>
        <p:nvSpPr>
          <p:cNvPr id="3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lockshield_15"/>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5638800"/>
          </a:xfrm>
          <a:prstGeom prst="roundRect">
            <a:avLst>
              <a:gd name="adj" fmla="val 13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Application (US$ Mn)</a:t>
            </a:r>
          </a:p>
        </p:txBody>
      </p:sp>
      <p:graphicFrame>
        <p:nvGraphicFramePr>
          <p:cNvPr id="12" name="Table 11"/>
          <p:cNvGraphicFramePr>
            <a:graphicFrameLocks noGrp="1"/>
          </p:cNvGraphicFramePr>
          <p:nvPr/>
        </p:nvGraphicFramePr>
        <p:xfrm>
          <a:off x="152400" y="1238250"/>
          <a:ext cx="11887198" cy="5172066"/>
        </p:xfrm>
        <a:graphic>
          <a:graphicData uri="http://schemas.openxmlformats.org/drawingml/2006/table">
            <a:tbl>
              <a:tblPr>
                <a:tableStyleId>{5C22544A-7EE6-4342-B048-85BDC9FD1C3A}</a:tableStyleId>
              </a:tblPr>
              <a:tblGrid>
                <a:gridCol w="2945418"/>
                <a:gridCol w="537119"/>
                <a:gridCol w="537119"/>
                <a:gridCol w="537119"/>
                <a:gridCol w="537119"/>
                <a:gridCol w="537119"/>
                <a:gridCol w="518199"/>
                <a:gridCol w="512793"/>
                <a:gridCol w="512793"/>
                <a:gridCol w="512793"/>
                <a:gridCol w="512793"/>
                <a:gridCol w="512793"/>
                <a:gridCol w="512793"/>
                <a:gridCol w="512793"/>
                <a:gridCol w="512793"/>
                <a:gridCol w="512793"/>
                <a:gridCol w="512793"/>
                <a:gridCol w="610056"/>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297">
                <a:tc>
                  <a:txBody>
                    <a:bodyPr wrap="none"/>
                    <a:lstStyle/>
                    <a:p>
                      <a:pPr algn="l"/>
                      <a:r>
                        <a:rPr sz="1100" b="1">
                          <a:solidFill>
                            <a:srgbClr val="2E2E2E"/>
                          </a:solidFill>
                          <a:latin typeface="Calibri"/>
                        </a:rPr>
                        <a:t>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Traditional 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Matcha Lattes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Bubble Tea and Milk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Ready-to-Drink 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Smoothies and Functional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Bakery and Confectionery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Cakes and Pastries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Cookies and Biscuits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Bread and Bakery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Chocolate and Candies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Other Confectionery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Dairy and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Ice Cream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Yogurt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Milk-Based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Frozen Yogurt and Other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Other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Snacks and Nutrition Bars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Breakfast Cereals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64198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82018" y="3680645"/>
            <a:ext cx="366712" cy="533400"/>
          </a:xfrm>
          <a:prstGeom prst="rect">
            <a:avLst/>
          </a:prstGeom>
        </p:spPr>
      </p:pic>
    </p:spTree>
  </p:cSld>
  <p:clrMapOvr>
    <a:masterClrMapping/>
  </p:clrMapOvr>
</p:sld>
</file>

<file path=ppt/slides/slide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Application (US$ Mn)</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3105167"/>
                <a:gridCol w="527523"/>
                <a:gridCol w="527523"/>
                <a:gridCol w="527523"/>
                <a:gridCol w="527523"/>
                <a:gridCol w="527523"/>
                <a:gridCol w="508941"/>
                <a:gridCol w="503632"/>
                <a:gridCol w="503632"/>
                <a:gridCol w="503632"/>
                <a:gridCol w="503632"/>
                <a:gridCol w="503632"/>
                <a:gridCol w="503632"/>
                <a:gridCol w="503632"/>
                <a:gridCol w="503632"/>
                <a:gridCol w="503632"/>
                <a:gridCol w="503632"/>
                <a:gridCol w="599157"/>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 Packaged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Other Matcha-Containing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Dietary Supplements and Functional Nutrition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Matcha-Based Dietary Supplements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Functional Nutrition Powders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Other Matcha-Based Nutritional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Other Applications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Cosmetics and Personal 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Other Specialized Applications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Application</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461893" y="2451926"/>
            <a:ext cx="366712" cy="533400"/>
          </a:xfrm>
          <a:prstGeom prst="rect">
            <a:avLst/>
          </a:prstGeom>
        </p:spPr>
      </p:pic>
      <p:sp>
        <p:nvSpPr>
          <p:cNvPr id="20" name="TextBox 19"/>
          <p:cNvSpPr txBox="1"/>
          <p:nvPr/>
        </p:nvSpPr>
        <p:spPr>
          <a:xfrm>
            <a:off x="276225" y="4714875"/>
            <a:ext cx="2611821" cy="194310"/>
          </a:xfrm>
          <a:prstGeom prst="rect">
            <a:avLst/>
          </a:prstGeom>
          <a:noFill/>
        </p:spPr>
        <p:txBody>
          <a:bodyPr wrap="none" lIns="0" rIns="0" tIns="0" bIns="0">
            <a:spAutoFit/>
          </a:bodyPr>
          <a:lstStyle/>
          <a:p>
            <a:r>
              <a:rPr sz="1150" b="0">
                <a:solidFill>
                  <a:srgbClr val="2E2E2E"/>
                </a:solidFill>
                <a:latin typeface="Calibri"/>
              </a:rPr>
              <a:t>Beverages segment is projected to register</a:t>
            </a:r>
          </a:p>
        </p:txBody>
      </p:sp>
      <p:pic>
        <p:nvPicPr>
          <p:cNvPr id="21" name="Picture 20" descr="lock.png"/>
          <p:cNvPicPr>
            <a:picLocks noChangeAspect="1"/>
          </p:cNvPicPr>
          <p:nvPr/>
        </p:nvPicPr>
        <p:blipFill>
          <a:blip r:embed="rId4"/>
          <a:stretch>
            <a:fillRect/>
          </a:stretch>
        </p:blipFill>
        <p:spPr>
          <a:xfrm>
            <a:off x="2837200" y="4704651"/>
            <a:ext cx="134549" cy="195707"/>
          </a:xfrm>
          <a:prstGeom prst="rect">
            <a:avLst/>
          </a:prstGeom>
        </p:spPr>
      </p:pic>
      <p:sp>
        <p:nvSpPr>
          <p:cNvPr id="22" name="TextBox 21"/>
          <p:cNvSpPr txBox="1"/>
          <p:nvPr/>
        </p:nvSpPr>
        <p:spPr>
          <a:xfrm>
            <a:off x="3012310" y="4714875"/>
            <a:ext cx="8459527" cy="194310"/>
          </a:xfrm>
          <a:prstGeom prst="rect">
            <a:avLst/>
          </a:prstGeom>
          <a:noFill/>
        </p:spPr>
        <p:txBody>
          <a:bodyPr wrap="none" lIns="0" rIns="0" tIns="0" bIns="0">
            <a:spAutoFit/>
          </a:bodyPr>
          <a:lstStyle/>
          <a:p>
            <a:r>
              <a:rPr sz="1150" b="0">
                <a:solidFill>
                  <a:srgbClr val="2E2E2E"/>
                </a:solidFill>
                <a:latin typeface="Calibri"/>
              </a:rPr>
              <a:t>X higher value than other applications segment in 2036. Among matcha by application, other applications segment is expected to witness the</a:t>
            </a:r>
          </a:p>
        </p:txBody>
      </p:sp>
      <p:sp>
        <p:nvSpPr>
          <p:cNvPr id="23" name="TextBox 22"/>
          <p:cNvSpPr txBox="1"/>
          <p:nvPr/>
        </p:nvSpPr>
        <p:spPr>
          <a:xfrm>
            <a:off x="276225" y="489013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4" name="Picture 23" descr="lock.png"/>
          <p:cNvPicPr>
            <a:picLocks noChangeAspect="1"/>
          </p:cNvPicPr>
          <p:nvPr/>
        </p:nvPicPr>
        <p:blipFill>
          <a:blip r:embed="rId4"/>
          <a:stretch>
            <a:fillRect/>
          </a:stretch>
        </p:blipFill>
        <p:spPr>
          <a:xfrm>
            <a:off x="1257732" y="4879911"/>
            <a:ext cx="134549" cy="195707"/>
          </a:xfrm>
          <a:prstGeom prst="rect">
            <a:avLst/>
          </a:prstGeom>
        </p:spPr>
      </p:pic>
      <p:sp>
        <p:nvSpPr>
          <p:cNvPr id="25" name="TextBox 24"/>
          <p:cNvSpPr txBox="1"/>
          <p:nvPr/>
        </p:nvSpPr>
        <p:spPr>
          <a:xfrm>
            <a:off x="1432841" y="4890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117972"/>
            <a:ext cx="6334955" cy="194310"/>
          </a:xfrm>
          <a:prstGeom prst="rect">
            <a:avLst/>
          </a:prstGeom>
          <a:noFill/>
        </p:spPr>
        <p:txBody>
          <a:bodyPr wrap="none" lIns="0" rIns="0" tIns="0" bIns="0">
            <a:spAutoFit/>
          </a:bodyPr>
          <a:lstStyle/>
          <a:p>
            <a:r>
              <a:rPr sz="1150" b="0">
                <a:solidFill>
                  <a:srgbClr val="2E2E2E"/>
                </a:solidFill>
                <a:latin typeface="Calibri"/>
              </a:rPr>
              <a:t>In terms of value share by application, the beverages segment is expected to dominate the market, losing</a:t>
            </a:r>
          </a:p>
        </p:txBody>
      </p:sp>
      <p:pic>
        <p:nvPicPr>
          <p:cNvPr id="27" name="Picture 26" descr="lock.png"/>
          <p:cNvPicPr>
            <a:picLocks noChangeAspect="1"/>
          </p:cNvPicPr>
          <p:nvPr/>
        </p:nvPicPr>
        <p:blipFill>
          <a:blip r:embed="rId4"/>
          <a:stretch>
            <a:fillRect/>
          </a:stretch>
        </p:blipFill>
        <p:spPr>
          <a:xfrm>
            <a:off x="6560334" y="5107749"/>
            <a:ext cx="134549" cy="195707"/>
          </a:xfrm>
          <a:prstGeom prst="rect">
            <a:avLst/>
          </a:prstGeom>
        </p:spPr>
      </p:pic>
      <p:sp>
        <p:nvSpPr>
          <p:cNvPr id="28" name="TextBox 27"/>
          <p:cNvSpPr txBox="1"/>
          <p:nvPr/>
        </p:nvSpPr>
        <p:spPr>
          <a:xfrm>
            <a:off x="6735444" y="5117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130587" y="5107749"/>
            <a:ext cx="134549" cy="195707"/>
          </a:xfrm>
          <a:prstGeom prst="rect">
            <a:avLst/>
          </a:prstGeom>
        </p:spPr>
      </p:pic>
      <p:sp>
        <p:nvSpPr>
          <p:cNvPr id="30" name="TextBox 29"/>
          <p:cNvSpPr txBox="1"/>
          <p:nvPr/>
        </p:nvSpPr>
        <p:spPr>
          <a:xfrm>
            <a:off x="8305696" y="5117972"/>
            <a:ext cx="3098179" cy="194310"/>
          </a:xfrm>
          <a:prstGeom prst="rect">
            <a:avLst/>
          </a:prstGeom>
          <a:noFill/>
        </p:spPr>
        <p:txBody>
          <a:bodyPr wrap="none" lIns="0" rIns="0" tIns="0" bIns="0">
            <a:spAutoFit/>
          </a:bodyPr>
          <a:lstStyle/>
          <a:p>
            <a:r>
              <a:rPr sz="1150" b="0">
                <a:solidFill>
                  <a:srgbClr val="2E2E2E"/>
                </a:solidFill>
                <a:latin typeface="Calibri"/>
              </a:rPr>
              <a:t>share by 2036. The other food products segment is</a:t>
            </a:r>
          </a:p>
        </p:txBody>
      </p:sp>
      <p:sp>
        <p:nvSpPr>
          <p:cNvPr id="31" name="TextBox 30"/>
          <p:cNvSpPr txBox="1"/>
          <p:nvPr/>
        </p:nvSpPr>
        <p:spPr>
          <a:xfrm>
            <a:off x="276225" y="529323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5283009"/>
            <a:ext cx="134549" cy="195707"/>
          </a:xfrm>
          <a:prstGeom prst="rect">
            <a:avLst/>
          </a:prstGeom>
        </p:spPr>
      </p:pic>
      <p:sp>
        <p:nvSpPr>
          <p:cNvPr id="33" name="TextBox 32"/>
          <p:cNvSpPr txBox="1"/>
          <p:nvPr/>
        </p:nvSpPr>
        <p:spPr>
          <a:xfrm>
            <a:off x="1455394" y="52932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5283009"/>
            <a:ext cx="134549" cy="195707"/>
          </a:xfrm>
          <a:prstGeom prst="rect">
            <a:avLst/>
          </a:prstGeom>
        </p:spPr>
      </p:pic>
      <p:sp>
        <p:nvSpPr>
          <p:cNvPr id="35" name="TextBox 34"/>
          <p:cNvSpPr txBox="1"/>
          <p:nvPr/>
        </p:nvSpPr>
        <p:spPr>
          <a:xfrm>
            <a:off x="4218008" y="52932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Application ·  2021 / 2026 / 2036 (US$ Mn)  ·  right axis = BPS share shift</a:t>
            </a:r>
          </a:p>
        </p:txBody>
      </p:sp>
      <p:graphicFrame>
        <p:nvGraphicFramePr>
          <p:cNvPr id="12" name="Chart 11"/>
          <p:cNvGraphicFramePr>
            <a:graphicFrameLocks noGrp="1"/>
          </p:cNvGraphicFramePr>
          <p:nvPr/>
        </p:nvGraphicFramePr>
        <p:xfrm>
          <a:off x="238125" y="1409700"/>
          <a:ext cx="4614672" cy="516255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419225"/>
            <a:ext cx="2595753" cy="177927"/>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3932301"/>
            <a:ext cx="38100" cy="38100"/>
          </a:xfrm>
          <a:prstGeom prst="rect">
            <a:avLst/>
          </a:prstGeom>
          <a:noFill/>
        </p:spPr>
        <p:txBody>
          <a:bodyPr wrap="none">
            <a:spAutoFit/>
          </a:bodyPr>
          <a:lstStyle/>
          <a:p/>
        </p:txBody>
      </p:sp>
      <p:sp>
        <p:nvSpPr>
          <p:cNvPr id="15" name="FMI Legend Chip"/>
          <p:cNvSpPr/>
          <p:nvPr/>
        </p:nvSpPr>
        <p:spPr>
          <a:xfrm>
            <a:off x="4928997" y="182654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82177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74557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Products</a:t>
            </a:r>
          </a:p>
        </p:txBody>
      </p:sp>
      <p:sp>
        <p:nvSpPr>
          <p:cNvPr id="18" name="BPS Value 1"/>
          <p:cNvSpPr txBox="1"/>
          <p:nvPr/>
        </p:nvSpPr>
        <p:spPr>
          <a:xfrm>
            <a:off x="6896100" y="180749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2472758"/>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246799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239179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Bakery and Confectionery</a:t>
            </a:r>
          </a:p>
        </p:txBody>
      </p:sp>
      <p:sp>
        <p:nvSpPr>
          <p:cNvPr id="22" name="BPS Value 2"/>
          <p:cNvSpPr txBox="1"/>
          <p:nvPr/>
        </p:nvSpPr>
        <p:spPr>
          <a:xfrm>
            <a:off x="6896100" y="245370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319033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a:off x="5090922" y="31855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31093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Dairy and Frozen Desserts</a:t>
            </a:r>
          </a:p>
        </p:txBody>
      </p:sp>
      <p:sp>
        <p:nvSpPr>
          <p:cNvPr id="26" name="BPS Value 3"/>
          <p:cNvSpPr txBox="1"/>
          <p:nvPr/>
        </p:nvSpPr>
        <p:spPr>
          <a:xfrm>
            <a:off x="6896100" y="317128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7" name="FMI Legend Chip"/>
          <p:cNvSpPr/>
          <p:nvPr/>
        </p:nvSpPr>
        <p:spPr>
          <a:xfrm>
            <a:off x="4928997" y="3976716"/>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a:off x="5090922" y="397195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389575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Dietary Supplements and Functional Nutrition</a:t>
            </a:r>
          </a:p>
        </p:txBody>
      </p:sp>
      <p:sp>
        <p:nvSpPr>
          <p:cNvPr id="30" name="BPS Value 4"/>
          <p:cNvSpPr txBox="1"/>
          <p:nvPr/>
        </p:nvSpPr>
        <p:spPr>
          <a:xfrm>
            <a:off x="6896100" y="3957666"/>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1" name="FMI Legend Chip"/>
          <p:cNvSpPr/>
          <p:nvPr/>
        </p:nvSpPr>
        <p:spPr>
          <a:xfrm>
            <a:off x="4928997" y="478369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a:off x="5090922" y="4778936"/>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470273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Applications</a:t>
            </a:r>
          </a:p>
        </p:txBody>
      </p:sp>
      <p:sp>
        <p:nvSpPr>
          <p:cNvPr id="34" name="BPS Value 5"/>
          <p:cNvSpPr txBox="1"/>
          <p:nvPr/>
        </p:nvSpPr>
        <p:spPr>
          <a:xfrm>
            <a:off x="6896100" y="476464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5" name="FMI Legend Chip"/>
          <p:cNvSpPr/>
          <p:nvPr/>
        </p:nvSpPr>
        <p:spPr>
          <a:xfrm>
            <a:off x="4928997" y="571958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rot="10800000">
            <a:off x="5090922" y="571482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56386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Beverages</a:t>
            </a:r>
          </a:p>
        </p:txBody>
      </p:sp>
      <p:sp>
        <p:nvSpPr>
          <p:cNvPr id="38" name="BPS Value 6"/>
          <p:cNvSpPr txBox="1"/>
          <p:nvPr/>
        </p:nvSpPr>
        <p:spPr>
          <a:xfrm>
            <a:off x="6896100" y="570053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9" name="Rounded Rectangle 38"/>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Application</a:t>
            </a:r>
          </a:p>
        </p:txBody>
      </p:sp>
      <p:sp>
        <p:nvSpPr>
          <p:cNvPr id="41" name="Rectangle 40"/>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3" name="TextBox 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4" name="Picture 43" descr="lock.png"/>
          <p:cNvPicPr>
            <a:picLocks noChangeAspect="1"/>
          </p:cNvPicPr>
          <p:nvPr/>
        </p:nvPicPr>
        <p:blipFill>
          <a:blip r:embed="rId5"/>
          <a:stretch>
            <a:fillRect/>
          </a:stretch>
        </p:blipFill>
        <p:spPr>
          <a:xfrm>
            <a:off x="2557843" y="3751325"/>
            <a:ext cx="275034" cy="400050"/>
          </a:xfrm>
          <a:prstGeom prst="rect">
            <a:avLst/>
          </a:prstGeom>
        </p:spPr>
      </p:pic>
      <p:sp>
        <p:nvSpPr>
          <p:cNvPr id="45" name="TextBox 44"/>
          <p:cNvSpPr txBox="1"/>
          <p:nvPr/>
        </p:nvSpPr>
        <p:spPr>
          <a:xfrm>
            <a:off x="7829550" y="1400175"/>
            <a:ext cx="3660985" cy="194310"/>
          </a:xfrm>
          <a:prstGeom prst="rect">
            <a:avLst/>
          </a:prstGeom>
          <a:noFill/>
        </p:spPr>
        <p:txBody>
          <a:bodyPr wrap="none" lIns="0" rIns="0" tIns="0" bIns="0">
            <a:spAutoFit/>
          </a:bodyPr>
          <a:lstStyle/>
          <a:p>
            <a:r>
              <a:rPr sz="1150" b="0">
                <a:solidFill>
                  <a:srgbClr val="2E2E2E"/>
                </a:solidFill>
                <a:latin typeface="Calibri"/>
              </a:rPr>
              <a:t>Among matcha by application, other applications segment is</a:t>
            </a:r>
          </a:p>
        </p:txBody>
      </p:sp>
      <p:sp>
        <p:nvSpPr>
          <p:cNvPr id="46" name="TextBox 45"/>
          <p:cNvSpPr txBox="1"/>
          <p:nvPr/>
        </p:nvSpPr>
        <p:spPr>
          <a:xfrm>
            <a:off x="7829550" y="157543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47" name="Picture 46" descr="lock.png"/>
          <p:cNvPicPr>
            <a:picLocks noChangeAspect="1"/>
          </p:cNvPicPr>
          <p:nvPr/>
        </p:nvPicPr>
        <p:blipFill>
          <a:blip r:embed="rId5"/>
          <a:stretch>
            <a:fillRect/>
          </a:stretch>
        </p:blipFill>
        <p:spPr>
          <a:xfrm>
            <a:off x="10264711" y="1565211"/>
            <a:ext cx="134549" cy="195707"/>
          </a:xfrm>
          <a:prstGeom prst="rect">
            <a:avLst/>
          </a:prstGeom>
        </p:spPr>
      </p:pic>
      <p:sp>
        <p:nvSpPr>
          <p:cNvPr id="48" name="TextBox 47"/>
          <p:cNvSpPr txBox="1"/>
          <p:nvPr/>
        </p:nvSpPr>
        <p:spPr>
          <a:xfrm>
            <a:off x="104398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49" name="TextBox 48"/>
          <p:cNvSpPr txBox="1"/>
          <p:nvPr/>
        </p:nvSpPr>
        <p:spPr>
          <a:xfrm>
            <a:off x="7829550" y="1750695"/>
            <a:ext cx="3671254" cy="194310"/>
          </a:xfrm>
          <a:prstGeom prst="rect">
            <a:avLst/>
          </a:prstGeom>
          <a:noFill/>
        </p:spPr>
        <p:txBody>
          <a:bodyPr wrap="none" lIns="0" rIns="0" tIns="0" bIns="0">
            <a:spAutoFit/>
          </a:bodyPr>
          <a:lstStyle/>
          <a:p>
            <a:r>
              <a:rPr sz="1150" b="0">
                <a:solidFill>
                  <a:srgbClr val="2E2E2E"/>
                </a:solidFill>
                <a:latin typeface="Calibri"/>
              </a:rPr>
              <a:t>period. In terms of value share by application, the beverages</a:t>
            </a:r>
          </a:p>
        </p:txBody>
      </p:sp>
      <p:sp>
        <p:nvSpPr>
          <p:cNvPr id="50" name="TextBox 49"/>
          <p:cNvSpPr txBox="1"/>
          <p:nvPr/>
        </p:nvSpPr>
        <p:spPr>
          <a:xfrm>
            <a:off x="7829550" y="1925955"/>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51" name="Picture 50" descr="lock.png"/>
          <p:cNvPicPr>
            <a:picLocks noChangeAspect="1"/>
          </p:cNvPicPr>
          <p:nvPr/>
        </p:nvPicPr>
        <p:blipFill>
          <a:blip r:embed="rId5"/>
          <a:stretch>
            <a:fillRect/>
          </a:stretch>
        </p:blipFill>
        <p:spPr>
          <a:xfrm>
            <a:off x="10943347" y="1915731"/>
            <a:ext cx="134549" cy="195707"/>
          </a:xfrm>
          <a:prstGeom prst="rect">
            <a:avLst/>
          </a:prstGeom>
        </p:spPr>
      </p:pic>
      <p:sp>
        <p:nvSpPr>
          <p:cNvPr id="52" name="TextBox 51"/>
          <p:cNvSpPr txBox="1"/>
          <p:nvPr/>
        </p:nvSpPr>
        <p:spPr>
          <a:xfrm>
            <a:off x="11118457" y="1925955"/>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53" name="TextBox 52"/>
          <p:cNvSpPr txBox="1"/>
          <p:nvPr/>
        </p:nvSpPr>
        <p:spPr>
          <a:xfrm>
            <a:off x="7829550" y="2101215"/>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54" name="Picture 53" descr="lock.png"/>
          <p:cNvPicPr>
            <a:picLocks noChangeAspect="1"/>
          </p:cNvPicPr>
          <p:nvPr/>
        </p:nvPicPr>
        <p:blipFill>
          <a:blip r:embed="rId5"/>
          <a:stretch>
            <a:fillRect/>
          </a:stretch>
        </p:blipFill>
        <p:spPr>
          <a:xfrm>
            <a:off x="8712947" y="2090991"/>
            <a:ext cx="134549" cy="195707"/>
          </a:xfrm>
          <a:prstGeom prst="rect">
            <a:avLst/>
          </a:prstGeom>
        </p:spPr>
      </p:pic>
      <p:sp>
        <p:nvSpPr>
          <p:cNvPr id="55" name="TextBox 54"/>
          <p:cNvSpPr txBox="1"/>
          <p:nvPr/>
        </p:nvSpPr>
        <p:spPr>
          <a:xfrm>
            <a:off x="8888056"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6" name="TextBox 55"/>
          <p:cNvSpPr txBox="1"/>
          <p:nvPr/>
        </p:nvSpPr>
        <p:spPr>
          <a:xfrm>
            <a:off x="7829550" y="2329053"/>
            <a:ext cx="3206861" cy="194310"/>
          </a:xfrm>
          <a:prstGeom prst="rect">
            <a:avLst/>
          </a:prstGeom>
          <a:noFill/>
        </p:spPr>
        <p:txBody>
          <a:bodyPr wrap="none" lIns="0" rIns="0" tIns="0" bIns="0">
            <a:spAutoFit/>
          </a:bodyPr>
          <a:lstStyle/>
          <a:p>
            <a:r>
              <a:rPr sz="1150" b="0">
                <a:solidFill>
                  <a:srgbClr val="2E2E2E"/>
                </a:solidFill>
                <a:latin typeface="Calibri"/>
              </a:rPr>
              <a:t>The other food products segment is expected to lose</a:t>
            </a:r>
          </a:p>
        </p:txBody>
      </p:sp>
      <p:pic>
        <p:nvPicPr>
          <p:cNvPr id="57" name="Picture 56" descr="lock.png"/>
          <p:cNvPicPr>
            <a:picLocks noChangeAspect="1"/>
          </p:cNvPicPr>
          <p:nvPr/>
        </p:nvPicPr>
        <p:blipFill>
          <a:blip r:embed="rId5"/>
          <a:stretch>
            <a:fillRect/>
          </a:stretch>
        </p:blipFill>
        <p:spPr>
          <a:xfrm>
            <a:off x="10985565" y="2318829"/>
            <a:ext cx="134549" cy="195707"/>
          </a:xfrm>
          <a:prstGeom prst="rect">
            <a:avLst/>
          </a:prstGeom>
        </p:spPr>
      </p:pic>
      <p:sp>
        <p:nvSpPr>
          <p:cNvPr id="58" name="TextBox 57"/>
          <p:cNvSpPr txBox="1"/>
          <p:nvPr/>
        </p:nvSpPr>
        <p:spPr>
          <a:xfrm>
            <a:off x="11160674"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9" name="TextBox 58"/>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60" name="Picture 59" descr="lock.png"/>
          <p:cNvPicPr>
            <a:picLocks noChangeAspect="1"/>
          </p:cNvPicPr>
          <p:nvPr/>
        </p:nvPicPr>
        <p:blipFill>
          <a:blip r:embed="rId5"/>
          <a:stretch>
            <a:fillRect/>
          </a:stretch>
        </p:blipFill>
        <p:spPr>
          <a:xfrm>
            <a:off x="9861950" y="2494089"/>
            <a:ext cx="134549" cy="195707"/>
          </a:xfrm>
          <a:prstGeom prst="rect">
            <a:avLst/>
          </a:prstGeom>
        </p:spPr>
      </p:pic>
      <p:sp>
        <p:nvSpPr>
          <p:cNvPr id="61" name="TextBox 60"/>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2" name="lockshield_12"/>
          <p:cNvSpPr/>
          <p:nvPr/>
        </p:nvSpPr>
        <p:spPr>
          <a:xfrm>
            <a:off x="238125" y="1409700"/>
            <a:ext cx="4614672" cy="51625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7.8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Supermarkets and Hypermarkets</a:t>
            </a:r>
          </a:p>
        </p:txBody>
      </p:sp>
      <p:sp>
        <p:nvSpPr>
          <p:cNvPr id="22" name="Rectangle 21"/>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Convenience Stores</a:t>
            </a:r>
          </a:p>
        </p:txBody>
      </p:sp>
      <p:sp>
        <p:nvSpPr>
          <p:cNvPr id="29" name="Rectangle 28"/>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Specialty Tea and Health Food Sto…</a:t>
            </a:r>
          </a:p>
        </p:txBody>
      </p:sp>
      <p:sp>
        <p:nvSpPr>
          <p:cNvPr id="36" name="Rectangle 35"/>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Retail</a:t>
            </a:r>
          </a:p>
        </p:txBody>
      </p:sp>
      <p:sp>
        <p:nvSpPr>
          <p:cNvPr id="43" name="Rectangle 42"/>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B2B / Institutional and Ingredien…</a:t>
            </a:r>
          </a:p>
        </p:txBody>
      </p:sp>
      <p:sp>
        <p:nvSpPr>
          <p:cNvPr id="50" name="Rectangle 49"/>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and HoReCa</a:t>
            </a:r>
          </a:p>
        </p:txBody>
      </p:sp>
      <p:sp>
        <p:nvSpPr>
          <p:cNvPr id="57" name="Rectangle 56"/>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Retail Channels</a:t>
            </a:r>
          </a:p>
        </p:txBody>
      </p:sp>
      <p:sp>
        <p:nvSpPr>
          <p:cNvPr id="64" name="Rectangle 63"/>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5" name="Rectangle 64"/>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6" name="Rectangle 65"/>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7" name="Oval 66"/>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8" name="Rounded Rectangle 6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0" name="Rectangle 6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72" name="Rounded Rectangle 7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4" name="Rectangle 7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810000" y="4219912"/>
            <a:ext cx="421005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76" name="Rounded Rectangle 7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8" name="Rectangle 7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0" name="Rectangle 7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82" name="TextBox 8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3" name="TextBox 8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4" name="Picture 83" descr="849_9_605E5C.png"/>
          <p:cNvPicPr>
            <a:picLocks noChangeAspect="1"/>
          </p:cNvPicPr>
          <p:nvPr/>
        </p:nvPicPr>
        <p:blipFill>
          <a:blip r:embed="rId4"/>
          <a:stretch>
            <a:fillRect/>
          </a:stretch>
        </p:blipFill>
        <p:spPr>
          <a:xfrm>
            <a:off x="1934425" y="2286582"/>
            <a:ext cx="1195728" cy="361950"/>
          </a:xfrm>
          <a:prstGeom prst="rect">
            <a:avLst/>
          </a:prstGeom>
        </p:spPr>
      </p:pic>
      <p:pic>
        <p:nvPicPr>
          <p:cNvPr id="85" name="Picture 84" descr="1_755_605E5C.png"/>
          <p:cNvPicPr>
            <a:picLocks noChangeAspect="1"/>
          </p:cNvPicPr>
          <p:nvPr/>
        </p:nvPicPr>
        <p:blipFill>
          <a:blip r:embed="rId5"/>
          <a:stretch>
            <a:fillRect/>
          </a:stretch>
        </p:blipFill>
        <p:spPr>
          <a:xfrm>
            <a:off x="1934425" y="2779432"/>
            <a:ext cx="1195728" cy="361950"/>
          </a:xfrm>
          <a:prstGeom prst="rect">
            <a:avLst/>
          </a:prstGeom>
        </p:spPr>
      </p:pic>
      <p:pic>
        <p:nvPicPr>
          <p:cNvPr id="86" name="Picture 85" descr="7_5__605E5C.png"/>
          <p:cNvPicPr>
            <a:picLocks noChangeAspect="1"/>
          </p:cNvPicPr>
          <p:nvPr/>
        </p:nvPicPr>
        <p:blipFill>
          <a:blip r:embed="rId6"/>
          <a:stretch>
            <a:fillRect/>
          </a:stretch>
        </p:blipFill>
        <p:spPr>
          <a:xfrm>
            <a:off x="2041071" y="3272281"/>
            <a:ext cx="982436" cy="361950"/>
          </a:xfrm>
          <a:prstGeom prst="rect">
            <a:avLst/>
          </a:prstGeom>
        </p:spPr>
      </p:pic>
      <p:pic>
        <p:nvPicPr>
          <p:cNvPr id="87" name="Picture 86" descr="655_6_605E5C.png"/>
          <p:cNvPicPr>
            <a:picLocks noChangeAspect="1"/>
          </p:cNvPicPr>
          <p:nvPr/>
        </p:nvPicPr>
        <p:blipFill>
          <a:blip r:embed="rId7"/>
          <a:stretch>
            <a:fillRect/>
          </a:stretch>
        </p:blipFill>
        <p:spPr>
          <a:xfrm>
            <a:off x="3379504" y="2286582"/>
            <a:ext cx="1195728" cy="361950"/>
          </a:xfrm>
          <a:prstGeom prst="rect">
            <a:avLst/>
          </a:prstGeom>
        </p:spPr>
      </p:pic>
      <p:pic>
        <p:nvPicPr>
          <p:cNvPr id="88" name="Picture 87" descr="1_377_605E5C.png"/>
          <p:cNvPicPr>
            <a:picLocks noChangeAspect="1"/>
          </p:cNvPicPr>
          <p:nvPr/>
        </p:nvPicPr>
        <p:blipFill>
          <a:blip r:embed="rId8"/>
          <a:stretch>
            <a:fillRect/>
          </a:stretch>
        </p:blipFill>
        <p:spPr>
          <a:xfrm>
            <a:off x="3379504" y="2779432"/>
            <a:ext cx="1195728" cy="361950"/>
          </a:xfrm>
          <a:prstGeom prst="rect">
            <a:avLst/>
          </a:prstGeom>
        </p:spPr>
      </p:pic>
      <p:pic>
        <p:nvPicPr>
          <p:cNvPr id="89" name="Picture 88" descr="7_7__605E5C.png"/>
          <p:cNvPicPr>
            <a:picLocks noChangeAspect="1"/>
          </p:cNvPicPr>
          <p:nvPr/>
        </p:nvPicPr>
        <p:blipFill>
          <a:blip r:embed="rId9"/>
          <a:stretch>
            <a:fillRect/>
          </a:stretch>
        </p:blipFill>
        <p:spPr>
          <a:xfrm>
            <a:off x="3486150" y="3272281"/>
            <a:ext cx="982436" cy="361950"/>
          </a:xfrm>
          <a:prstGeom prst="rect">
            <a:avLst/>
          </a:prstGeom>
        </p:spPr>
      </p:pic>
      <p:pic>
        <p:nvPicPr>
          <p:cNvPr id="90" name="Picture 89" descr="647_6_605E5C.png"/>
          <p:cNvPicPr>
            <a:picLocks noChangeAspect="1"/>
          </p:cNvPicPr>
          <p:nvPr/>
        </p:nvPicPr>
        <p:blipFill>
          <a:blip r:embed="rId10"/>
          <a:stretch>
            <a:fillRect/>
          </a:stretch>
        </p:blipFill>
        <p:spPr>
          <a:xfrm>
            <a:off x="4824582" y="2286582"/>
            <a:ext cx="1195728" cy="361950"/>
          </a:xfrm>
          <a:prstGeom prst="rect">
            <a:avLst/>
          </a:prstGeom>
        </p:spPr>
      </p:pic>
      <p:pic>
        <p:nvPicPr>
          <p:cNvPr id="91" name="Picture 90" descr="1_182_605E5C.png"/>
          <p:cNvPicPr>
            <a:picLocks noChangeAspect="1"/>
          </p:cNvPicPr>
          <p:nvPr/>
        </p:nvPicPr>
        <p:blipFill>
          <a:blip r:embed="rId11"/>
          <a:stretch>
            <a:fillRect/>
          </a:stretch>
        </p:blipFill>
        <p:spPr>
          <a:xfrm>
            <a:off x="4824582" y="2779432"/>
            <a:ext cx="1195728" cy="361950"/>
          </a:xfrm>
          <a:prstGeom prst="rect">
            <a:avLst/>
          </a:prstGeom>
        </p:spPr>
      </p:pic>
      <p:pic>
        <p:nvPicPr>
          <p:cNvPr id="92" name="Picture 91" descr="6_2__605E5C.png"/>
          <p:cNvPicPr>
            <a:picLocks noChangeAspect="1"/>
          </p:cNvPicPr>
          <p:nvPr/>
        </p:nvPicPr>
        <p:blipFill>
          <a:blip r:embed="rId12"/>
          <a:stretch>
            <a:fillRect/>
          </a:stretch>
        </p:blipFill>
        <p:spPr>
          <a:xfrm>
            <a:off x="4931228" y="3272281"/>
            <a:ext cx="982436" cy="361950"/>
          </a:xfrm>
          <a:prstGeom prst="rect">
            <a:avLst/>
          </a:prstGeom>
        </p:spPr>
      </p:pic>
      <p:pic>
        <p:nvPicPr>
          <p:cNvPr id="93" name="Picture 92" descr="499_3_605E5C.png"/>
          <p:cNvPicPr>
            <a:picLocks noChangeAspect="1"/>
          </p:cNvPicPr>
          <p:nvPr/>
        </p:nvPicPr>
        <p:blipFill>
          <a:blip r:embed="rId13"/>
          <a:stretch>
            <a:fillRect/>
          </a:stretch>
        </p:blipFill>
        <p:spPr>
          <a:xfrm>
            <a:off x="6269661" y="2286582"/>
            <a:ext cx="1195728" cy="361950"/>
          </a:xfrm>
          <a:prstGeom prst="rect">
            <a:avLst/>
          </a:prstGeom>
        </p:spPr>
      </p:pic>
      <p:pic>
        <p:nvPicPr>
          <p:cNvPr id="94" name="Picture 93" descr="922_4_605E5C.png"/>
          <p:cNvPicPr>
            <a:picLocks noChangeAspect="1"/>
          </p:cNvPicPr>
          <p:nvPr/>
        </p:nvPicPr>
        <p:blipFill>
          <a:blip r:embed="rId14"/>
          <a:stretch>
            <a:fillRect/>
          </a:stretch>
        </p:blipFill>
        <p:spPr>
          <a:xfrm>
            <a:off x="6269661" y="2779432"/>
            <a:ext cx="1195728" cy="361950"/>
          </a:xfrm>
          <a:prstGeom prst="rect">
            <a:avLst/>
          </a:prstGeom>
        </p:spPr>
      </p:pic>
      <p:pic>
        <p:nvPicPr>
          <p:cNvPr id="95" name="Picture 94" descr="6_3__605E5C.png"/>
          <p:cNvPicPr>
            <a:picLocks noChangeAspect="1"/>
          </p:cNvPicPr>
          <p:nvPr/>
        </p:nvPicPr>
        <p:blipFill>
          <a:blip r:embed="rId15"/>
          <a:stretch>
            <a:fillRect/>
          </a:stretch>
        </p:blipFill>
        <p:spPr>
          <a:xfrm>
            <a:off x="6376307" y="3272281"/>
            <a:ext cx="982436" cy="361950"/>
          </a:xfrm>
          <a:prstGeom prst="rect">
            <a:avLst/>
          </a:prstGeom>
        </p:spPr>
      </p:pic>
      <p:pic>
        <p:nvPicPr>
          <p:cNvPr id="96" name="Picture 95" descr="275_8_605E5C.png"/>
          <p:cNvPicPr>
            <a:picLocks noChangeAspect="1"/>
          </p:cNvPicPr>
          <p:nvPr/>
        </p:nvPicPr>
        <p:blipFill>
          <a:blip r:embed="rId16"/>
          <a:stretch>
            <a:fillRect/>
          </a:stretch>
        </p:blipFill>
        <p:spPr>
          <a:xfrm>
            <a:off x="7714739" y="2286582"/>
            <a:ext cx="1195728" cy="361950"/>
          </a:xfrm>
          <a:prstGeom prst="rect">
            <a:avLst/>
          </a:prstGeom>
        </p:spPr>
      </p:pic>
      <p:pic>
        <p:nvPicPr>
          <p:cNvPr id="97" name="Picture 96" descr="616_9_605E5C.png"/>
          <p:cNvPicPr>
            <a:picLocks noChangeAspect="1"/>
          </p:cNvPicPr>
          <p:nvPr/>
        </p:nvPicPr>
        <p:blipFill>
          <a:blip r:embed="rId17"/>
          <a:stretch>
            <a:fillRect/>
          </a:stretch>
        </p:blipFill>
        <p:spPr>
          <a:xfrm>
            <a:off x="7714739" y="2779432"/>
            <a:ext cx="1195728" cy="361950"/>
          </a:xfrm>
          <a:prstGeom prst="rect">
            <a:avLst/>
          </a:prstGeom>
        </p:spPr>
      </p:pic>
      <p:pic>
        <p:nvPicPr>
          <p:cNvPr id="98" name="Picture 97" descr="8_4__605E5C.png"/>
          <p:cNvPicPr>
            <a:picLocks noChangeAspect="1"/>
          </p:cNvPicPr>
          <p:nvPr/>
        </p:nvPicPr>
        <p:blipFill>
          <a:blip r:embed="rId18"/>
          <a:stretch>
            <a:fillRect/>
          </a:stretch>
        </p:blipFill>
        <p:spPr>
          <a:xfrm>
            <a:off x="7821385" y="3272281"/>
            <a:ext cx="982436" cy="361950"/>
          </a:xfrm>
          <a:prstGeom prst="rect">
            <a:avLst/>
          </a:prstGeom>
        </p:spPr>
      </p:pic>
      <p:pic>
        <p:nvPicPr>
          <p:cNvPr id="99" name="Picture 98" descr="268_8_605E5C.png"/>
          <p:cNvPicPr>
            <a:picLocks noChangeAspect="1"/>
          </p:cNvPicPr>
          <p:nvPr/>
        </p:nvPicPr>
        <p:blipFill>
          <a:blip r:embed="rId19"/>
          <a:stretch>
            <a:fillRect/>
          </a:stretch>
        </p:blipFill>
        <p:spPr>
          <a:xfrm>
            <a:off x="9159818" y="2286582"/>
            <a:ext cx="1195728" cy="361950"/>
          </a:xfrm>
          <a:prstGeom prst="rect">
            <a:avLst/>
          </a:prstGeom>
        </p:spPr>
      </p:pic>
      <p:pic>
        <p:nvPicPr>
          <p:cNvPr id="100" name="Picture 99" descr="516_4_605E5C.png"/>
          <p:cNvPicPr>
            <a:picLocks noChangeAspect="1"/>
          </p:cNvPicPr>
          <p:nvPr/>
        </p:nvPicPr>
        <p:blipFill>
          <a:blip r:embed="rId20"/>
          <a:stretch>
            <a:fillRect/>
          </a:stretch>
        </p:blipFill>
        <p:spPr>
          <a:xfrm>
            <a:off x="9159818" y="2779432"/>
            <a:ext cx="1195728" cy="361950"/>
          </a:xfrm>
          <a:prstGeom prst="rect">
            <a:avLst/>
          </a:prstGeom>
        </p:spPr>
      </p:pic>
      <p:pic>
        <p:nvPicPr>
          <p:cNvPr id="101" name="Picture 100" descr="6_7__605E5C.png"/>
          <p:cNvPicPr>
            <a:picLocks noChangeAspect="1"/>
          </p:cNvPicPr>
          <p:nvPr/>
        </p:nvPicPr>
        <p:blipFill>
          <a:blip r:embed="rId21"/>
          <a:stretch>
            <a:fillRect/>
          </a:stretch>
        </p:blipFill>
        <p:spPr>
          <a:xfrm>
            <a:off x="9266464" y="3272281"/>
            <a:ext cx="982436" cy="361950"/>
          </a:xfrm>
          <a:prstGeom prst="rect">
            <a:avLst/>
          </a:prstGeom>
        </p:spPr>
      </p:pic>
      <p:pic>
        <p:nvPicPr>
          <p:cNvPr id="102" name="Picture 101" descr="176_6_605E5C.png"/>
          <p:cNvPicPr>
            <a:picLocks noChangeAspect="1"/>
          </p:cNvPicPr>
          <p:nvPr/>
        </p:nvPicPr>
        <p:blipFill>
          <a:blip r:embed="rId22"/>
          <a:stretch>
            <a:fillRect/>
          </a:stretch>
        </p:blipFill>
        <p:spPr>
          <a:xfrm>
            <a:off x="10604896" y="2286582"/>
            <a:ext cx="1195728" cy="361950"/>
          </a:xfrm>
          <a:prstGeom prst="rect">
            <a:avLst/>
          </a:prstGeom>
        </p:spPr>
      </p:pic>
      <p:pic>
        <p:nvPicPr>
          <p:cNvPr id="103" name="Picture 102" descr="347_5_605E5C.png"/>
          <p:cNvPicPr>
            <a:picLocks noChangeAspect="1"/>
          </p:cNvPicPr>
          <p:nvPr/>
        </p:nvPicPr>
        <p:blipFill>
          <a:blip r:embed="rId23"/>
          <a:stretch>
            <a:fillRect/>
          </a:stretch>
        </p:blipFill>
        <p:spPr>
          <a:xfrm>
            <a:off x="10604896" y="2779432"/>
            <a:ext cx="1195728" cy="361950"/>
          </a:xfrm>
          <a:prstGeom prst="rect">
            <a:avLst/>
          </a:prstGeom>
        </p:spPr>
      </p:pic>
      <p:pic>
        <p:nvPicPr>
          <p:cNvPr id="104" name="Picture 103" descr="7_0__605E5C.png"/>
          <p:cNvPicPr>
            <a:picLocks noChangeAspect="1"/>
          </p:cNvPicPr>
          <p:nvPr/>
        </p:nvPicPr>
        <p:blipFill>
          <a:blip r:embed="rId24"/>
          <a:stretch>
            <a:fillRect/>
          </a:stretch>
        </p:blipFill>
        <p:spPr>
          <a:xfrm>
            <a:off x="10711542" y="3272281"/>
            <a:ext cx="982436" cy="361950"/>
          </a:xfrm>
          <a:prstGeom prst="rect">
            <a:avLst/>
          </a:prstGeom>
        </p:spPr>
      </p:pic>
      <p:pic>
        <p:nvPicPr>
          <p:cNvPr id="105" name="Picture 104" descr="lock.png"/>
          <p:cNvPicPr>
            <a:picLocks noChangeAspect="1"/>
          </p:cNvPicPr>
          <p:nvPr/>
        </p:nvPicPr>
        <p:blipFill>
          <a:blip r:embed="rId25"/>
          <a:stretch>
            <a:fillRect/>
          </a:stretch>
        </p:blipFill>
        <p:spPr>
          <a:xfrm>
            <a:off x="2438944" y="2827057"/>
            <a:ext cx="183356" cy="266700"/>
          </a:xfrm>
          <a:prstGeom prst="rect">
            <a:avLst/>
          </a:prstGeom>
        </p:spPr>
      </p:pic>
      <p:pic>
        <p:nvPicPr>
          <p:cNvPr id="106" name="Picture 105" descr="lock.png"/>
          <p:cNvPicPr>
            <a:picLocks noChangeAspect="1"/>
          </p:cNvPicPr>
          <p:nvPr/>
        </p:nvPicPr>
        <p:blipFill>
          <a:blip r:embed="rId25"/>
          <a:stretch>
            <a:fillRect/>
          </a:stretch>
        </p:blipFill>
        <p:spPr>
          <a:xfrm>
            <a:off x="3884023" y="2827057"/>
            <a:ext cx="183356" cy="266700"/>
          </a:xfrm>
          <a:prstGeom prst="rect">
            <a:avLst/>
          </a:prstGeom>
        </p:spPr>
      </p:pic>
      <p:pic>
        <p:nvPicPr>
          <p:cNvPr id="107" name="Picture 106" descr="lock.png"/>
          <p:cNvPicPr>
            <a:picLocks noChangeAspect="1"/>
          </p:cNvPicPr>
          <p:nvPr/>
        </p:nvPicPr>
        <p:blipFill>
          <a:blip r:embed="rId25"/>
          <a:stretch>
            <a:fillRect/>
          </a:stretch>
        </p:blipFill>
        <p:spPr>
          <a:xfrm>
            <a:off x="5329101" y="2827057"/>
            <a:ext cx="183356" cy="266700"/>
          </a:xfrm>
          <a:prstGeom prst="rect">
            <a:avLst/>
          </a:prstGeom>
        </p:spPr>
      </p:pic>
      <p:pic>
        <p:nvPicPr>
          <p:cNvPr id="108" name="Picture 107" descr="lock.png"/>
          <p:cNvPicPr>
            <a:picLocks noChangeAspect="1"/>
          </p:cNvPicPr>
          <p:nvPr/>
        </p:nvPicPr>
        <p:blipFill>
          <a:blip r:embed="rId25"/>
          <a:stretch>
            <a:fillRect/>
          </a:stretch>
        </p:blipFill>
        <p:spPr>
          <a:xfrm>
            <a:off x="6774180" y="2827057"/>
            <a:ext cx="183356" cy="266700"/>
          </a:xfrm>
          <a:prstGeom prst="rect">
            <a:avLst/>
          </a:prstGeom>
        </p:spPr>
      </p:pic>
      <p:pic>
        <p:nvPicPr>
          <p:cNvPr id="109" name="Picture 108" descr="lock.png"/>
          <p:cNvPicPr>
            <a:picLocks noChangeAspect="1"/>
          </p:cNvPicPr>
          <p:nvPr/>
        </p:nvPicPr>
        <p:blipFill>
          <a:blip r:embed="rId25"/>
          <a:stretch>
            <a:fillRect/>
          </a:stretch>
        </p:blipFill>
        <p:spPr>
          <a:xfrm>
            <a:off x="8219258" y="2827057"/>
            <a:ext cx="183356" cy="266700"/>
          </a:xfrm>
          <a:prstGeom prst="rect">
            <a:avLst/>
          </a:prstGeom>
        </p:spPr>
      </p:pic>
      <p:pic>
        <p:nvPicPr>
          <p:cNvPr id="110" name="Picture 109" descr="lock.png"/>
          <p:cNvPicPr>
            <a:picLocks noChangeAspect="1"/>
          </p:cNvPicPr>
          <p:nvPr/>
        </p:nvPicPr>
        <p:blipFill>
          <a:blip r:embed="rId25"/>
          <a:stretch>
            <a:fillRect/>
          </a:stretch>
        </p:blipFill>
        <p:spPr>
          <a:xfrm>
            <a:off x="9664337" y="2827057"/>
            <a:ext cx="183356" cy="266700"/>
          </a:xfrm>
          <a:prstGeom prst="rect">
            <a:avLst/>
          </a:prstGeom>
        </p:spPr>
      </p:pic>
      <p:pic>
        <p:nvPicPr>
          <p:cNvPr id="111" name="Picture 110" descr="lock.png"/>
          <p:cNvPicPr>
            <a:picLocks noChangeAspect="1"/>
          </p:cNvPicPr>
          <p:nvPr/>
        </p:nvPicPr>
        <p:blipFill>
          <a:blip r:embed="rId25"/>
          <a:stretch>
            <a:fillRect/>
          </a:stretch>
        </p:blipFill>
        <p:spPr>
          <a:xfrm>
            <a:off x="11109415" y="2827057"/>
            <a:ext cx="183356" cy="266700"/>
          </a:xfrm>
          <a:prstGeom prst="rect">
            <a:avLst/>
          </a:prstGeom>
        </p:spPr>
      </p:pic>
      <p:sp>
        <p:nvSpPr>
          <p:cNvPr id="112" name="TextBox 111"/>
          <p:cNvSpPr txBox="1"/>
          <p:nvPr/>
        </p:nvSpPr>
        <p:spPr>
          <a:xfrm>
            <a:off x="485775" y="4229437"/>
            <a:ext cx="2654101" cy="186689"/>
          </a:xfrm>
          <a:prstGeom prst="rect">
            <a:avLst/>
          </a:prstGeom>
          <a:noFill/>
        </p:spPr>
        <p:txBody>
          <a:bodyPr wrap="none" lIns="0" rIns="0" tIns="0" bIns="0">
            <a:spAutoFit/>
          </a:bodyPr>
          <a:lstStyle/>
          <a:p>
            <a:r>
              <a:rPr sz="1100" b="0">
                <a:solidFill>
                  <a:srgbClr val="2E2E2E"/>
                </a:solidFill>
                <a:latin typeface="Calibri"/>
              </a:rPr>
              <a:t>Among matcha by distribution channel, B2B /</a:t>
            </a:r>
          </a:p>
        </p:txBody>
      </p:sp>
      <p:sp>
        <p:nvSpPr>
          <p:cNvPr id="113" name="TextBox 112"/>
          <p:cNvSpPr txBox="1"/>
          <p:nvPr/>
        </p:nvSpPr>
        <p:spPr>
          <a:xfrm>
            <a:off x="485775" y="4397077"/>
            <a:ext cx="2574156" cy="186689"/>
          </a:xfrm>
          <a:prstGeom prst="rect">
            <a:avLst/>
          </a:prstGeom>
          <a:noFill/>
        </p:spPr>
        <p:txBody>
          <a:bodyPr wrap="none" lIns="0" rIns="0" tIns="0" bIns="0">
            <a:spAutoFit/>
          </a:bodyPr>
          <a:lstStyle/>
          <a:p>
            <a:r>
              <a:rPr sz="1100" b="0">
                <a:solidFill>
                  <a:srgbClr val="2E2E2E"/>
                </a:solidFill>
                <a:latin typeface="Calibri"/>
              </a:rPr>
              <a:t>institutional and ingredient sales segment is</a:t>
            </a:r>
          </a:p>
        </p:txBody>
      </p:sp>
      <p:sp>
        <p:nvSpPr>
          <p:cNvPr id="114" name="TextBox 113"/>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15" name="Picture 114" descr="lock.png"/>
          <p:cNvPicPr>
            <a:picLocks noChangeAspect="1"/>
          </p:cNvPicPr>
          <p:nvPr/>
        </p:nvPicPr>
        <p:blipFill>
          <a:blip r:embed="rId25"/>
          <a:stretch>
            <a:fillRect/>
          </a:stretch>
        </p:blipFill>
        <p:spPr>
          <a:xfrm>
            <a:off x="2815059" y="4554938"/>
            <a:ext cx="128699" cy="187198"/>
          </a:xfrm>
          <a:prstGeom prst="rect">
            <a:avLst/>
          </a:prstGeom>
        </p:spPr>
      </p:pic>
      <p:sp>
        <p:nvSpPr>
          <p:cNvPr id="116" name="TextBox 115"/>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17" name="TextBox 116"/>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118" name="TextBox 117"/>
          <p:cNvSpPr txBox="1"/>
          <p:nvPr/>
        </p:nvSpPr>
        <p:spPr>
          <a:xfrm>
            <a:off x="485775" y="4899997"/>
            <a:ext cx="2532136" cy="186689"/>
          </a:xfrm>
          <a:prstGeom prst="rect">
            <a:avLst/>
          </a:prstGeom>
          <a:noFill/>
        </p:spPr>
        <p:txBody>
          <a:bodyPr wrap="none" lIns="0" rIns="0" tIns="0" bIns="0">
            <a:spAutoFit/>
          </a:bodyPr>
          <a:lstStyle/>
          <a:p>
            <a:r>
              <a:rPr sz="1100" b="0">
                <a:solidFill>
                  <a:srgbClr val="2E2E2E"/>
                </a:solidFill>
                <a:latin typeface="Calibri"/>
              </a:rPr>
              <a:t>distribution channel, the supermarkets and</a:t>
            </a:r>
          </a:p>
        </p:txBody>
      </p:sp>
      <p:sp>
        <p:nvSpPr>
          <p:cNvPr id="119" name="TextBox 118"/>
          <p:cNvSpPr txBox="1"/>
          <p:nvPr/>
        </p:nvSpPr>
        <p:spPr>
          <a:xfrm>
            <a:off x="485775" y="5067637"/>
            <a:ext cx="2793528" cy="186689"/>
          </a:xfrm>
          <a:prstGeom prst="rect">
            <a:avLst/>
          </a:prstGeom>
          <a:noFill/>
        </p:spPr>
        <p:txBody>
          <a:bodyPr wrap="none" lIns="0" rIns="0" tIns="0" bIns="0">
            <a:spAutoFit/>
          </a:bodyPr>
          <a:lstStyle/>
          <a:p>
            <a:r>
              <a:rPr sz="1100" b="0">
                <a:solidFill>
                  <a:srgbClr val="2E2E2E"/>
                </a:solidFill>
                <a:latin typeface="Calibri"/>
              </a:rPr>
              <a:t>hypermarkets segment is expected to dominate</a:t>
            </a:r>
          </a:p>
        </p:txBody>
      </p:sp>
      <p:sp>
        <p:nvSpPr>
          <p:cNvPr id="120" name="TextBox 119"/>
          <p:cNvSpPr txBox="1"/>
          <p:nvPr/>
        </p:nvSpPr>
        <p:spPr>
          <a:xfrm>
            <a:off x="485775" y="5235277"/>
            <a:ext cx="1181248" cy="186689"/>
          </a:xfrm>
          <a:prstGeom prst="rect">
            <a:avLst/>
          </a:prstGeom>
          <a:noFill/>
        </p:spPr>
        <p:txBody>
          <a:bodyPr wrap="none" lIns="0" rIns="0" tIns="0" bIns="0">
            <a:spAutoFit/>
          </a:bodyPr>
          <a:lstStyle/>
          <a:p>
            <a:r>
              <a:rPr sz="1100" b="0">
                <a:solidFill>
                  <a:srgbClr val="2E2E2E"/>
                </a:solidFill>
                <a:latin typeface="Calibri"/>
              </a:rPr>
              <a:t>the market, gaining</a:t>
            </a:r>
          </a:p>
        </p:txBody>
      </p:sp>
      <p:pic>
        <p:nvPicPr>
          <p:cNvPr id="121" name="Picture 120" descr="lock.png"/>
          <p:cNvPicPr>
            <a:picLocks noChangeAspect="1"/>
          </p:cNvPicPr>
          <p:nvPr/>
        </p:nvPicPr>
        <p:blipFill>
          <a:blip r:embed="rId25"/>
          <a:stretch>
            <a:fillRect/>
          </a:stretch>
        </p:blipFill>
        <p:spPr>
          <a:xfrm>
            <a:off x="1615075" y="5225498"/>
            <a:ext cx="128699" cy="187198"/>
          </a:xfrm>
          <a:prstGeom prst="rect">
            <a:avLst/>
          </a:prstGeom>
        </p:spPr>
      </p:pic>
      <p:sp>
        <p:nvSpPr>
          <p:cNvPr id="122" name="TextBox 121"/>
          <p:cNvSpPr txBox="1"/>
          <p:nvPr/>
        </p:nvSpPr>
        <p:spPr>
          <a:xfrm>
            <a:off x="1782571"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23" name="Picture 122" descr="lock.png"/>
          <p:cNvPicPr>
            <a:picLocks noChangeAspect="1"/>
          </p:cNvPicPr>
          <p:nvPr/>
        </p:nvPicPr>
        <p:blipFill>
          <a:blip r:embed="rId25"/>
          <a:stretch>
            <a:fillRect/>
          </a:stretch>
        </p:blipFill>
        <p:spPr>
          <a:xfrm>
            <a:off x="472307" y="5393138"/>
            <a:ext cx="128699" cy="187198"/>
          </a:xfrm>
          <a:prstGeom prst="rect">
            <a:avLst/>
          </a:prstGeom>
        </p:spPr>
      </p:pic>
      <p:sp>
        <p:nvSpPr>
          <p:cNvPr id="124" name="TextBox 123"/>
          <p:cNvSpPr txBox="1"/>
          <p:nvPr/>
        </p:nvSpPr>
        <p:spPr>
          <a:xfrm>
            <a:off x="639803"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25" name="TextBox 124"/>
          <p:cNvSpPr txBox="1"/>
          <p:nvPr/>
        </p:nvSpPr>
        <p:spPr>
          <a:xfrm>
            <a:off x="485775" y="5620849"/>
            <a:ext cx="2576338" cy="186689"/>
          </a:xfrm>
          <a:prstGeom prst="rect">
            <a:avLst/>
          </a:prstGeom>
          <a:noFill/>
        </p:spPr>
        <p:txBody>
          <a:bodyPr wrap="none" lIns="0" rIns="0" tIns="0" bIns="0">
            <a:spAutoFit/>
          </a:bodyPr>
          <a:lstStyle/>
          <a:p>
            <a:r>
              <a:rPr sz="1100" b="0">
                <a:solidFill>
                  <a:srgbClr val="2E2E2E"/>
                </a:solidFill>
                <a:latin typeface="Calibri"/>
              </a:rPr>
              <a:t>Supermarkets and hypermarkets segment is</a:t>
            </a:r>
          </a:p>
        </p:txBody>
      </p:sp>
      <p:sp>
        <p:nvSpPr>
          <p:cNvPr id="126" name="TextBox 125"/>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127" name="Picture 126" descr="lock.png"/>
          <p:cNvPicPr>
            <a:picLocks noChangeAspect="1"/>
          </p:cNvPicPr>
          <p:nvPr/>
        </p:nvPicPr>
        <p:blipFill>
          <a:blip r:embed="rId25"/>
          <a:stretch>
            <a:fillRect/>
          </a:stretch>
        </p:blipFill>
        <p:spPr>
          <a:xfrm>
            <a:off x="1678376" y="5778710"/>
            <a:ext cx="128699" cy="187198"/>
          </a:xfrm>
          <a:prstGeom prst="rect">
            <a:avLst/>
          </a:prstGeom>
        </p:spPr>
      </p:pic>
      <p:sp>
        <p:nvSpPr>
          <p:cNvPr id="128" name="TextBox 127"/>
          <p:cNvSpPr txBox="1"/>
          <p:nvPr/>
        </p:nvSpPr>
        <p:spPr>
          <a:xfrm>
            <a:off x="1845872" y="5788489"/>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129" name="TextBox 128"/>
          <p:cNvSpPr txBox="1"/>
          <p:nvPr/>
        </p:nvSpPr>
        <p:spPr>
          <a:xfrm>
            <a:off x="485775" y="5956129"/>
            <a:ext cx="2183159" cy="186689"/>
          </a:xfrm>
          <a:prstGeom prst="rect">
            <a:avLst/>
          </a:prstGeom>
          <a:noFill/>
        </p:spPr>
        <p:txBody>
          <a:bodyPr wrap="none" lIns="0" rIns="0" tIns="0" bIns="0">
            <a:spAutoFit/>
          </a:bodyPr>
          <a:lstStyle/>
          <a:p>
            <a:r>
              <a:rPr sz="1100" b="0">
                <a:solidFill>
                  <a:srgbClr val="2E2E2E"/>
                </a:solidFill>
                <a:latin typeface="Calibri"/>
              </a:rPr>
              <a:t>convenience stores segment in 2036.</a:t>
            </a:r>
          </a:p>
        </p:txBody>
      </p:sp>
      <p:sp>
        <p:nvSpPr>
          <p:cNvPr id="130" name="TextBox 129"/>
          <p:cNvSpPr txBox="1"/>
          <p:nvPr/>
        </p:nvSpPr>
        <p:spPr>
          <a:xfrm>
            <a:off x="3838575" y="4229437"/>
            <a:ext cx="2020823" cy="179984"/>
          </a:xfrm>
          <a:prstGeom prst="rect">
            <a:avLst/>
          </a:prstGeom>
          <a:noFill/>
        </p:spPr>
        <p:txBody>
          <a:bodyPr wrap="none" lIns="0" rIns="0" tIns="0" bIns="0">
            <a:spAutoFit/>
          </a:bodyPr>
          <a:lstStyle/>
          <a:p>
            <a:r>
              <a:rPr sz="1055" b="0">
                <a:solidFill>
                  <a:srgbClr val="2E2E2E"/>
                </a:solidFill>
                <a:latin typeface="Calibri"/>
              </a:rPr>
              <a:t>● Supermarkets and Hypermarkets:</a:t>
            </a:r>
          </a:p>
        </p:txBody>
      </p:sp>
      <p:pic>
        <p:nvPicPr>
          <p:cNvPr id="131" name="Picture 130" descr="lock.png"/>
          <p:cNvPicPr>
            <a:picLocks noChangeAspect="1"/>
          </p:cNvPicPr>
          <p:nvPr/>
        </p:nvPicPr>
        <p:blipFill>
          <a:blip r:embed="rId25"/>
          <a:stretch>
            <a:fillRect/>
          </a:stretch>
        </p:blipFill>
        <p:spPr>
          <a:xfrm>
            <a:off x="5806480" y="4220049"/>
            <a:ext cx="123551" cy="179710"/>
          </a:xfrm>
          <a:prstGeom prst="rect">
            <a:avLst/>
          </a:prstGeom>
        </p:spPr>
      </p:pic>
      <p:sp>
        <p:nvSpPr>
          <p:cNvPr id="132" name="TextBox 131"/>
          <p:cNvSpPr txBox="1"/>
          <p:nvPr/>
        </p:nvSpPr>
        <p:spPr>
          <a:xfrm>
            <a:off x="5967276" y="4229437"/>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33" name="Picture 132" descr="lock.png"/>
          <p:cNvPicPr>
            <a:picLocks noChangeAspect="1"/>
          </p:cNvPicPr>
          <p:nvPr/>
        </p:nvPicPr>
        <p:blipFill>
          <a:blip r:embed="rId25"/>
          <a:stretch>
            <a:fillRect/>
          </a:stretch>
        </p:blipFill>
        <p:spPr>
          <a:xfrm>
            <a:off x="6792348" y="4220049"/>
            <a:ext cx="123551" cy="179710"/>
          </a:xfrm>
          <a:prstGeom prst="rect">
            <a:avLst/>
          </a:prstGeom>
        </p:spPr>
      </p:pic>
      <p:sp>
        <p:nvSpPr>
          <p:cNvPr id="134" name="TextBox 133"/>
          <p:cNvSpPr txBox="1"/>
          <p:nvPr/>
        </p:nvSpPr>
        <p:spPr>
          <a:xfrm>
            <a:off x="6953144" y="4229437"/>
            <a:ext cx="697761" cy="179984"/>
          </a:xfrm>
          <a:prstGeom prst="rect">
            <a:avLst/>
          </a:prstGeom>
          <a:noFill/>
        </p:spPr>
        <p:txBody>
          <a:bodyPr wrap="none" lIns="0" rIns="0" tIns="0" bIns="0">
            <a:spAutoFit/>
          </a:bodyPr>
          <a:lstStyle/>
          <a:p>
            <a:r>
              <a:rPr sz="1055" b="0">
                <a:solidFill>
                  <a:srgbClr val="2E2E2E"/>
                </a:solidFill>
                <a:latin typeface="Calibri"/>
              </a:rPr>
              <a:t>CAGR leads</a:t>
            </a:r>
          </a:p>
        </p:txBody>
      </p:sp>
      <p:sp>
        <p:nvSpPr>
          <p:cNvPr id="135" name="TextBox 134"/>
          <p:cNvSpPr txBox="1"/>
          <p:nvPr/>
        </p:nvSpPr>
        <p:spPr>
          <a:xfrm>
            <a:off x="3838575" y="4390371"/>
            <a:ext cx="794432" cy="179984"/>
          </a:xfrm>
          <a:prstGeom prst="rect">
            <a:avLst/>
          </a:prstGeom>
          <a:noFill/>
        </p:spPr>
        <p:txBody>
          <a:bodyPr wrap="none" lIns="0" rIns="0" tIns="0" bIns="0">
            <a:spAutoFit/>
          </a:bodyPr>
          <a:lstStyle/>
          <a:p>
            <a:r>
              <a:rPr sz="1055" b="0">
                <a:solidFill>
                  <a:srgbClr val="2E2E2E"/>
                </a:solidFill>
                <a:latin typeface="Calibri"/>
              </a:rPr>
              <a:t>the segment.</a:t>
            </a:r>
          </a:p>
        </p:txBody>
      </p:sp>
      <p:sp>
        <p:nvSpPr>
          <p:cNvPr id="136" name="TextBox 135"/>
          <p:cNvSpPr txBox="1"/>
          <p:nvPr/>
        </p:nvSpPr>
        <p:spPr>
          <a:xfrm>
            <a:off x="3838575" y="4599586"/>
            <a:ext cx="1299448" cy="179984"/>
          </a:xfrm>
          <a:prstGeom prst="rect">
            <a:avLst/>
          </a:prstGeom>
          <a:noFill/>
        </p:spPr>
        <p:txBody>
          <a:bodyPr wrap="none" lIns="0" rIns="0" tIns="0" bIns="0">
            <a:spAutoFit/>
          </a:bodyPr>
          <a:lstStyle/>
          <a:p>
            <a:r>
              <a:rPr sz="1055" b="0">
                <a:solidFill>
                  <a:srgbClr val="2E2E2E"/>
                </a:solidFill>
                <a:latin typeface="Calibri"/>
              </a:rPr>
              <a:t>● Convenience Stores:</a:t>
            </a:r>
          </a:p>
        </p:txBody>
      </p:sp>
      <p:pic>
        <p:nvPicPr>
          <p:cNvPr id="137" name="Picture 136" descr="lock.png"/>
          <p:cNvPicPr>
            <a:picLocks noChangeAspect="1"/>
          </p:cNvPicPr>
          <p:nvPr/>
        </p:nvPicPr>
        <p:blipFill>
          <a:blip r:embed="rId25"/>
          <a:stretch>
            <a:fillRect/>
          </a:stretch>
        </p:blipFill>
        <p:spPr>
          <a:xfrm>
            <a:off x="5085104" y="4590198"/>
            <a:ext cx="123551" cy="179710"/>
          </a:xfrm>
          <a:prstGeom prst="rect">
            <a:avLst/>
          </a:prstGeom>
        </p:spPr>
      </p:pic>
      <p:sp>
        <p:nvSpPr>
          <p:cNvPr id="138" name="TextBox 137"/>
          <p:cNvSpPr txBox="1"/>
          <p:nvPr/>
        </p:nvSpPr>
        <p:spPr>
          <a:xfrm>
            <a:off x="5245900" y="4599586"/>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39" name="Picture 138" descr="lock.png"/>
          <p:cNvPicPr>
            <a:picLocks noChangeAspect="1"/>
          </p:cNvPicPr>
          <p:nvPr/>
        </p:nvPicPr>
        <p:blipFill>
          <a:blip r:embed="rId25"/>
          <a:stretch>
            <a:fillRect/>
          </a:stretch>
        </p:blipFill>
        <p:spPr>
          <a:xfrm>
            <a:off x="6070972" y="4590198"/>
            <a:ext cx="123551" cy="179710"/>
          </a:xfrm>
          <a:prstGeom prst="rect">
            <a:avLst/>
          </a:prstGeom>
        </p:spPr>
      </p:pic>
      <p:sp>
        <p:nvSpPr>
          <p:cNvPr id="140" name="TextBox 139"/>
          <p:cNvSpPr txBox="1"/>
          <p:nvPr/>
        </p:nvSpPr>
        <p:spPr>
          <a:xfrm>
            <a:off x="6231768" y="4599586"/>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41" name="TextBox 140"/>
          <p:cNvSpPr txBox="1"/>
          <p:nvPr/>
        </p:nvSpPr>
        <p:spPr>
          <a:xfrm>
            <a:off x="3838575" y="4808800"/>
            <a:ext cx="2242132" cy="179984"/>
          </a:xfrm>
          <a:prstGeom prst="rect">
            <a:avLst/>
          </a:prstGeom>
          <a:noFill/>
        </p:spPr>
        <p:txBody>
          <a:bodyPr wrap="none" lIns="0" rIns="0" tIns="0" bIns="0">
            <a:spAutoFit/>
          </a:bodyPr>
          <a:lstStyle/>
          <a:p>
            <a:r>
              <a:rPr sz="1055" b="0">
                <a:solidFill>
                  <a:srgbClr val="2E2E2E"/>
                </a:solidFill>
                <a:latin typeface="Calibri"/>
              </a:rPr>
              <a:t>● Specialty Tea and Health Food Stores:</a:t>
            </a:r>
          </a:p>
        </p:txBody>
      </p:sp>
      <p:pic>
        <p:nvPicPr>
          <p:cNvPr id="142" name="Picture 141" descr="lock.png"/>
          <p:cNvPicPr>
            <a:picLocks noChangeAspect="1"/>
          </p:cNvPicPr>
          <p:nvPr/>
        </p:nvPicPr>
        <p:blipFill>
          <a:blip r:embed="rId25"/>
          <a:stretch>
            <a:fillRect/>
          </a:stretch>
        </p:blipFill>
        <p:spPr>
          <a:xfrm>
            <a:off x="6027789" y="4799413"/>
            <a:ext cx="123551" cy="179710"/>
          </a:xfrm>
          <a:prstGeom prst="rect">
            <a:avLst/>
          </a:prstGeom>
        </p:spPr>
      </p:pic>
      <p:sp>
        <p:nvSpPr>
          <p:cNvPr id="143" name="TextBox 142"/>
          <p:cNvSpPr txBox="1"/>
          <p:nvPr/>
        </p:nvSpPr>
        <p:spPr>
          <a:xfrm>
            <a:off x="6188585" y="4808800"/>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44" name="Picture 143" descr="lock.png"/>
          <p:cNvPicPr>
            <a:picLocks noChangeAspect="1"/>
          </p:cNvPicPr>
          <p:nvPr/>
        </p:nvPicPr>
        <p:blipFill>
          <a:blip r:embed="rId25"/>
          <a:stretch>
            <a:fillRect/>
          </a:stretch>
        </p:blipFill>
        <p:spPr>
          <a:xfrm>
            <a:off x="7013657" y="4799413"/>
            <a:ext cx="123551" cy="179710"/>
          </a:xfrm>
          <a:prstGeom prst="rect">
            <a:avLst/>
          </a:prstGeom>
        </p:spPr>
      </p:pic>
      <p:sp>
        <p:nvSpPr>
          <p:cNvPr id="145" name="TextBox 144"/>
          <p:cNvSpPr txBox="1"/>
          <p:nvPr/>
        </p:nvSpPr>
        <p:spPr>
          <a:xfrm>
            <a:off x="7174453" y="4808800"/>
            <a:ext cx="382650" cy="179984"/>
          </a:xfrm>
          <a:prstGeom prst="rect">
            <a:avLst/>
          </a:prstGeom>
          <a:noFill/>
        </p:spPr>
        <p:txBody>
          <a:bodyPr wrap="none" lIns="0" rIns="0" tIns="0" bIns="0">
            <a:spAutoFit/>
          </a:bodyPr>
          <a:lstStyle/>
          <a:p>
            <a:r>
              <a:rPr sz="1055" b="0">
                <a:solidFill>
                  <a:srgbClr val="2E2E2E"/>
                </a:solidFill>
                <a:latin typeface="Calibri"/>
              </a:rPr>
              <a:t>CAGR</a:t>
            </a:r>
          </a:p>
        </p:txBody>
      </p:sp>
      <p:sp>
        <p:nvSpPr>
          <p:cNvPr id="146" name="TextBox 145"/>
          <p:cNvSpPr txBox="1"/>
          <p:nvPr/>
        </p:nvSpPr>
        <p:spPr>
          <a:xfrm>
            <a:off x="3838575" y="4969735"/>
            <a:ext cx="876157" cy="179984"/>
          </a:xfrm>
          <a:prstGeom prst="rect">
            <a:avLst/>
          </a:prstGeom>
          <a:noFill/>
        </p:spPr>
        <p:txBody>
          <a:bodyPr wrap="none" lIns="0" rIns="0" tIns="0" bIns="0">
            <a:spAutoFit/>
          </a:bodyPr>
          <a:lstStyle/>
          <a:p>
            <a:r>
              <a:rPr sz="1055" b="0">
                <a:solidFill>
                  <a:srgbClr val="2E2E2E"/>
                </a:solidFill>
                <a:latin typeface="Calibri"/>
              </a:rPr>
              <a:t>serves a niche.</a:t>
            </a:r>
          </a:p>
        </p:txBody>
      </p:sp>
      <p:sp>
        <p:nvSpPr>
          <p:cNvPr id="147" name="TextBox 146"/>
          <p:cNvSpPr txBox="1"/>
          <p:nvPr/>
        </p:nvSpPr>
        <p:spPr>
          <a:xfrm>
            <a:off x="3838575" y="5178949"/>
            <a:ext cx="922782" cy="179984"/>
          </a:xfrm>
          <a:prstGeom prst="rect">
            <a:avLst/>
          </a:prstGeom>
          <a:noFill/>
        </p:spPr>
        <p:txBody>
          <a:bodyPr wrap="none" lIns="0" rIns="0" tIns="0" bIns="0">
            <a:spAutoFit/>
          </a:bodyPr>
          <a:lstStyle/>
          <a:p>
            <a:r>
              <a:rPr sz="1055" b="0">
                <a:solidFill>
                  <a:srgbClr val="2E2E2E"/>
                </a:solidFill>
                <a:latin typeface="Calibri"/>
              </a:rPr>
              <a:t>● Online Retail:</a:t>
            </a:r>
          </a:p>
        </p:txBody>
      </p:sp>
      <p:pic>
        <p:nvPicPr>
          <p:cNvPr id="148" name="Picture 147" descr="lock.png"/>
          <p:cNvPicPr>
            <a:picLocks noChangeAspect="1"/>
          </p:cNvPicPr>
          <p:nvPr/>
        </p:nvPicPr>
        <p:blipFill>
          <a:blip r:embed="rId25"/>
          <a:stretch>
            <a:fillRect/>
          </a:stretch>
        </p:blipFill>
        <p:spPr>
          <a:xfrm>
            <a:off x="4708438" y="5169562"/>
            <a:ext cx="123551" cy="179710"/>
          </a:xfrm>
          <a:prstGeom prst="rect">
            <a:avLst/>
          </a:prstGeom>
        </p:spPr>
      </p:pic>
      <p:sp>
        <p:nvSpPr>
          <p:cNvPr id="149" name="TextBox 148"/>
          <p:cNvSpPr txBox="1"/>
          <p:nvPr/>
        </p:nvSpPr>
        <p:spPr>
          <a:xfrm>
            <a:off x="4869234" y="5178949"/>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50" name="Picture 149" descr="lock.png"/>
          <p:cNvPicPr>
            <a:picLocks noChangeAspect="1"/>
          </p:cNvPicPr>
          <p:nvPr/>
        </p:nvPicPr>
        <p:blipFill>
          <a:blip r:embed="rId25"/>
          <a:stretch>
            <a:fillRect/>
          </a:stretch>
        </p:blipFill>
        <p:spPr>
          <a:xfrm>
            <a:off x="5694306" y="5169562"/>
            <a:ext cx="123551" cy="179710"/>
          </a:xfrm>
          <a:prstGeom prst="rect">
            <a:avLst/>
          </a:prstGeom>
        </p:spPr>
      </p:pic>
      <p:sp>
        <p:nvSpPr>
          <p:cNvPr id="151" name="TextBox 150"/>
          <p:cNvSpPr txBox="1"/>
          <p:nvPr/>
        </p:nvSpPr>
        <p:spPr>
          <a:xfrm>
            <a:off x="5855102" y="5178949"/>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52" name="TextBox 151"/>
          <p:cNvSpPr txBox="1"/>
          <p:nvPr/>
        </p:nvSpPr>
        <p:spPr>
          <a:xfrm>
            <a:off x="3838575" y="5388164"/>
            <a:ext cx="2347460" cy="179984"/>
          </a:xfrm>
          <a:prstGeom prst="rect">
            <a:avLst/>
          </a:prstGeom>
          <a:noFill/>
        </p:spPr>
        <p:txBody>
          <a:bodyPr wrap="none" lIns="0" rIns="0" tIns="0" bIns="0">
            <a:spAutoFit/>
          </a:bodyPr>
          <a:lstStyle/>
          <a:p>
            <a:r>
              <a:rPr sz="1055" b="0">
                <a:solidFill>
                  <a:srgbClr val="2E2E2E"/>
                </a:solidFill>
                <a:latin typeface="Calibri"/>
              </a:rPr>
              <a:t>● B2B / Institutional and Ingredient Sales:</a:t>
            </a:r>
          </a:p>
        </p:txBody>
      </p:sp>
      <p:pic>
        <p:nvPicPr>
          <p:cNvPr id="153" name="Picture 152" descr="lock.png"/>
          <p:cNvPicPr>
            <a:picLocks noChangeAspect="1"/>
          </p:cNvPicPr>
          <p:nvPr/>
        </p:nvPicPr>
        <p:blipFill>
          <a:blip r:embed="rId25"/>
          <a:stretch>
            <a:fillRect/>
          </a:stretch>
        </p:blipFill>
        <p:spPr>
          <a:xfrm>
            <a:off x="6133116" y="5378776"/>
            <a:ext cx="123551" cy="179710"/>
          </a:xfrm>
          <a:prstGeom prst="rect">
            <a:avLst/>
          </a:prstGeom>
        </p:spPr>
      </p:pic>
      <p:sp>
        <p:nvSpPr>
          <p:cNvPr id="154" name="TextBox 153"/>
          <p:cNvSpPr txBox="1"/>
          <p:nvPr/>
        </p:nvSpPr>
        <p:spPr>
          <a:xfrm>
            <a:off x="6293912" y="5388164"/>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55" name="Picture 154" descr="lock.png"/>
          <p:cNvPicPr>
            <a:picLocks noChangeAspect="1"/>
          </p:cNvPicPr>
          <p:nvPr/>
        </p:nvPicPr>
        <p:blipFill>
          <a:blip r:embed="rId25"/>
          <a:stretch>
            <a:fillRect/>
          </a:stretch>
        </p:blipFill>
        <p:spPr>
          <a:xfrm>
            <a:off x="7118984" y="5378776"/>
            <a:ext cx="123551" cy="179710"/>
          </a:xfrm>
          <a:prstGeom prst="rect">
            <a:avLst/>
          </a:prstGeom>
        </p:spPr>
      </p:pic>
      <p:sp>
        <p:nvSpPr>
          <p:cNvPr id="156" name="TextBox 155"/>
          <p:cNvSpPr txBox="1"/>
          <p:nvPr/>
        </p:nvSpPr>
        <p:spPr>
          <a:xfrm>
            <a:off x="7279780" y="5388164"/>
            <a:ext cx="382650" cy="179984"/>
          </a:xfrm>
          <a:prstGeom prst="rect">
            <a:avLst/>
          </a:prstGeom>
          <a:noFill/>
        </p:spPr>
        <p:txBody>
          <a:bodyPr wrap="none" lIns="0" rIns="0" tIns="0" bIns="0">
            <a:spAutoFit/>
          </a:bodyPr>
          <a:lstStyle/>
          <a:p>
            <a:r>
              <a:rPr sz="1055" b="0">
                <a:solidFill>
                  <a:srgbClr val="2E2E2E"/>
                </a:solidFill>
                <a:latin typeface="Calibri"/>
              </a:rPr>
              <a:t>CAGR</a:t>
            </a:r>
          </a:p>
        </p:txBody>
      </p:sp>
      <p:sp>
        <p:nvSpPr>
          <p:cNvPr id="157" name="TextBox 156"/>
          <p:cNvSpPr txBox="1"/>
          <p:nvPr/>
        </p:nvSpPr>
        <p:spPr>
          <a:xfrm>
            <a:off x="3838575" y="5549099"/>
            <a:ext cx="836080" cy="179984"/>
          </a:xfrm>
          <a:prstGeom prst="rect">
            <a:avLst/>
          </a:prstGeom>
          <a:noFill/>
        </p:spPr>
        <p:txBody>
          <a:bodyPr wrap="none" lIns="0" rIns="0" tIns="0" bIns="0">
            <a:spAutoFit/>
          </a:bodyPr>
          <a:lstStyle/>
          <a:p>
            <a:r>
              <a:rPr sz="1055" b="0">
                <a:solidFill>
                  <a:srgbClr val="2E2E2E"/>
                </a:solidFill>
                <a:latin typeface="Calibri"/>
              </a:rPr>
              <a:t>grows fastest.</a:t>
            </a:r>
          </a:p>
        </p:txBody>
      </p:sp>
      <p:sp>
        <p:nvSpPr>
          <p:cNvPr id="158" name="TextBox 157"/>
          <p:cNvSpPr txBox="1"/>
          <p:nvPr/>
        </p:nvSpPr>
        <p:spPr>
          <a:xfrm>
            <a:off x="3838575" y="5758313"/>
            <a:ext cx="1573406" cy="179984"/>
          </a:xfrm>
          <a:prstGeom prst="rect">
            <a:avLst/>
          </a:prstGeom>
          <a:noFill/>
        </p:spPr>
        <p:txBody>
          <a:bodyPr wrap="none" lIns="0" rIns="0" tIns="0" bIns="0">
            <a:spAutoFit/>
          </a:bodyPr>
          <a:lstStyle/>
          <a:p>
            <a:r>
              <a:rPr sz="1055" b="0">
                <a:solidFill>
                  <a:srgbClr val="2E2E2E"/>
                </a:solidFill>
                <a:latin typeface="Calibri"/>
              </a:rPr>
              <a:t>● Foodservice and HoReCa:</a:t>
            </a:r>
          </a:p>
        </p:txBody>
      </p:sp>
      <p:pic>
        <p:nvPicPr>
          <p:cNvPr id="159" name="Picture 158" descr="lock.png"/>
          <p:cNvPicPr>
            <a:picLocks noChangeAspect="1"/>
          </p:cNvPicPr>
          <p:nvPr/>
        </p:nvPicPr>
        <p:blipFill>
          <a:blip r:embed="rId25"/>
          <a:stretch>
            <a:fillRect/>
          </a:stretch>
        </p:blipFill>
        <p:spPr>
          <a:xfrm>
            <a:off x="5359062" y="5748925"/>
            <a:ext cx="123551" cy="179710"/>
          </a:xfrm>
          <a:prstGeom prst="rect">
            <a:avLst/>
          </a:prstGeom>
        </p:spPr>
      </p:pic>
      <p:sp>
        <p:nvSpPr>
          <p:cNvPr id="160" name="TextBox 159"/>
          <p:cNvSpPr txBox="1"/>
          <p:nvPr/>
        </p:nvSpPr>
        <p:spPr>
          <a:xfrm>
            <a:off x="5519858" y="5758313"/>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61" name="Picture 160" descr="lock.png"/>
          <p:cNvPicPr>
            <a:picLocks noChangeAspect="1"/>
          </p:cNvPicPr>
          <p:nvPr/>
        </p:nvPicPr>
        <p:blipFill>
          <a:blip r:embed="rId25"/>
          <a:stretch>
            <a:fillRect/>
          </a:stretch>
        </p:blipFill>
        <p:spPr>
          <a:xfrm>
            <a:off x="6344930" y="5748925"/>
            <a:ext cx="123551" cy="179710"/>
          </a:xfrm>
          <a:prstGeom prst="rect">
            <a:avLst/>
          </a:prstGeom>
        </p:spPr>
      </p:pic>
      <p:sp>
        <p:nvSpPr>
          <p:cNvPr id="162" name="TextBox 161"/>
          <p:cNvSpPr txBox="1"/>
          <p:nvPr/>
        </p:nvSpPr>
        <p:spPr>
          <a:xfrm>
            <a:off x="6505726" y="5758313"/>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63" name="TextBox 162"/>
          <p:cNvSpPr txBox="1"/>
          <p:nvPr/>
        </p:nvSpPr>
        <p:spPr>
          <a:xfrm>
            <a:off x="3838575" y="5967528"/>
            <a:ext cx="1409985" cy="179984"/>
          </a:xfrm>
          <a:prstGeom prst="rect">
            <a:avLst/>
          </a:prstGeom>
          <a:noFill/>
        </p:spPr>
        <p:txBody>
          <a:bodyPr wrap="none" lIns="0" rIns="0" tIns="0" bIns="0">
            <a:spAutoFit/>
          </a:bodyPr>
          <a:lstStyle/>
          <a:p>
            <a:r>
              <a:rPr sz="1055" b="0">
                <a:solidFill>
                  <a:srgbClr val="2E2E2E"/>
                </a:solidFill>
                <a:latin typeface="Calibri"/>
              </a:rPr>
              <a:t>● Other Retail Channels:</a:t>
            </a:r>
          </a:p>
        </p:txBody>
      </p:sp>
      <p:pic>
        <p:nvPicPr>
          <p:cNvPr id="164" name="Picture 163" descr="lock.png"/>
          <p:cNvPicPr>
            <a:picLocks noChangeAspect="1"/>
          </p:cNvPicPr>
          <p:nvPr/>
        </p:nvPicPr>
        <p:blipFill>
          <a:blip r:embed="rId25"/>
          <a:stretch>
            <a:fillRect/>
          </a:stretch>
        </p:blipFill>
        <p:spPr>
          <a:xfrm>
            <a:off x="5195642" y="5958140"/>
            <a:ext cx="123551" cy="179710"/>
          </a:xfrm>
          <a:prstGeom prst="rect">
            <a:avLst/>
          </a:prstGeom>
        </p:spPr>
      </p:pic>
      <p:sp>
        <p:nvSpPr>
          <p:cNvPr id="165" name="TextBox 164"/>
          <p:cNvSpPr txBox="1"/>
          <p:nvPr/>
        </p:nvSpPr>
        <p:spPr>
          <a:xfrm>
            <a:off x="5356438" y="5967528"/>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66" name="Picture 165" descr="lock.png"/>
          <p:cNvPicPr>
            <a:picLocks noChangeAspect="1"/>
          </p:cNvPicPr>
          <p:nvPr/>
        </p:nvPicPr>
        <p:blipFill>
          <a:blip r:embed="rId25"/>
          <a:stretch>
            <a:fillRect/>
          </a:stretch>
        </p:blipFill>
        <p:spPr>
          <a:xfrm>
            <a:off x="6181510" y="5958140"/>
            <a:ext cx="123551" cy="179710"/>
          </a:xfrm>
          <a:prstGeom prst="rect">
            <a:avLst/>
          </a:prstGeom>
        </p:spPr>
      </p:pic>
      <p:sp>
        <p:nvSpPr>
          <p:cNvPr id="167" name="TextBox 166"/>
          <p:cNvSpPr txBox="1"/>
          <p:nvPr/>
        </p:nvSpPr>
        <p:spPr>
          <a:xfrm>
            <a:off x="6342306" y="5967528"/>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68" name="TextBox 167"/>
          <p:cNvSpPr txBox="1"/>
          <p:nvPr/>
        </p:nvSpPr>
        <p:spPr>
          <a:xfrm>
            <a:off x="8524875" y="5842641"/>
            <a:ext cx="3048830" cy="194310"/>
          </a:xfrm>
          <a:prstGeom prst="rect">
            <a:avLst/>
          </a:prstGeom>
          <a:noFill/>
        </p:spPr>
        <p:txBody>
          <a:bodyPr wrap="none" lIns="0" rIns="0" tIns="0" bIns="0">
            <a:spAutoFit/>
          </a:bodyPr>
          <a:lstStyle/>
          <a:p>
            <a:r>
              <a:rPr sz="1150" b="1">
                <a:solidFill>
                  <a:srgbClr val="0B2E4A"/>
                </a:solidFill>
                <a:latin typeface="Calibri"/>
              </a:rPr>
              <a:t>The Distribution Channel segment is projected to</a:t>
            </a:r>
          </a:p>
        </p:txBody>
      </p:sp>
      <p:sp>
        <p:nvSpPr>
          <p:cNvPr id="169" name="TextBox 168"/>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70" name="Picture 169" descr="lock.png"/>
          <p:cNvPicPr>
            <a:picLocks noChangeAspect="1"/>
          </p:cNvPicPr>
          <p:nvPr/>
        </p:nvPicPr>
        <p:blipFill>
          <a:blip r:embed="rId25"/>
          <a:stretch>
            <a:fillRect/>
          </a:stretch>
        </p:blipFill>
        <p:spPr>
          <a:xfrm>
            <a:off x="9651852" y="6007677"/>
            <a:ext cx="134549" cy="195707"/>
          </a:xfrm>
          <a:prstGeom prst="rect">
            <a:avLst/>
          </a:prstGeom>
        </p:spPr>
      </p:pic>
      <p:sp>
        <p:nvSpPr>
          <p:cNvPr id="171" name="TextBox 170"/>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region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region (share of 2036 value) · row label = region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5" name="Chart 14"/>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694045"/>
            <a:ext cx="11595720" cy="186689"/>
          </a:xfrm>
          <a:prstGeom prst="rect">
            <a:avLst/>
          </a:prstGeom>
          <a:noFill/>
        </p:spPr>
        <p:txBody>
          <a:bodyPr wrap="none" lIns="0" rIns="0" tIns="0" bIns="0">
            <a:spAutoFit/>
          </a:bodyPr>
          <a:lstStyle/>
          <a:p>
            <a:r>
              <a:rPr sz="1100" b="0">
                <a:solidFill>
                  <a:srgbClr val="2E2E2E"/>
                </a:solidFill>
                <a:latin typeface="Calibri"/>
              </a:rPr>
              <a:t>Supermarkets and hypermarkets followed by convenience stores are expected to be the two most attractive distribution channel segments in the global matcha market in terms of value over the forecast</a:t>
            </a:r>
          </a:p>
        </p:txBody>
      </p:sp>
      <p:sp>
        <p:nvSpPr>
          <p:cNvPr id="20" name="TextBox 19"/>
          <p:cNvSpPr txBox="1"/>
          <p:nvPr/>
        </p:nvSpPr>
        <p:spPr>
          <a:xfrm>
            <a:off x="257175" y="5861685"/>
            <a:ext cx="5103745" cy="186689"/>
          </a:xfrm>
          <a:prstGeom prst="rect">
            <a:avLst/>
          </a:prstGeom>
          <a:noFill/>
        </p:spPr>
        <p:txBody>
          <a:bodyPr wrap="none" lIns="0" rIns="0" tIns="0" bIns="0">
            <a:spAutoFit/>
          </a:bodyPr>
          <a:lstStyle/>
          <a:p>
            <a:r>
              <a:rPr sz="1100" b="0">
                <a:solidFill>
                  <a:srgbClr val="2E2E2E"/>
                </a:solidFill>
                <a:latin typeface="Calibri"/>
              </a:rPr>
              <a:t>period. Supermarkets and hypermarkets and convenience stores exhibit a CAGR index of</a:t>
            </a:r>
          </a:p>
        </p:txBody>
      </p:sp>
      <p:pic>
        <p:nvPicPr>
          <p:cNvPr id="21" name="Picture 20" descr="lock.png"/>
          <p:cNvPicPr>
            <a:picLocks noChangeAspect="1"/>
          </p:cNvPicPr>
          <p:nvPr/>
        </p:nvPicPr>
        <p:blipFill>
          <a:blip r:embed="rId6"/>
          <a:stretch>
            <a:fillRect/>
          </a:stretch>
        </p:blipFill>
        <p:spPr>
          <a:xfrm>
            <a:off x="5308972" y="5851905"/>
            <a:ext cx="128699" cy="187198"/>
          </a:xfrm>
          <a:prstGeom prst="rect">
            <a:avLst/>
          </a:prstGeom>
        </p:spPr>
      </p:pic>
      <p:sp>
        <p:nvSpPr>
          <p:cNvPr id="22" name="TextBox 21"/>
          <p:cNvSpPr txBox="1"/>
          <p:nvPr/>
        </p:nvSpPr>
        <p:spPr>
          <a:xfrm>
            <a:off x="5476468"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5714362" y="5851905"/>
            <a:ext cx="128699" cy="187198"/>
          </a:xfrm>
          <a:prstGeom prst="rect">
            <a:avLst/>
          </a:prstGeom>
        </p:spPr>
      </p:pic>
      <p:sp>
        <p:nvSpPr>
          <p:cNvPr id="24" name="TextBox 23"/>
          <p:cNvSpPr txBox="1"/>
          <p:nvPr/>
        </p:nvSpPr>
        <p:spPr>
          <a:xfrm>
            <a:off x="5881858"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7490831" y="5851905"/>
            <a:ext cx="128699" cy="187198"/>
          </a:xfrm>
          <a:prstGeom prst="rect">
            <a:avLst/>
          </a:prstGeom>
        </p:spPr>
      </p:pic>
      <p:sp>
        <p:nvSpPr>
          <p:cNvPr id="26" name="TextBox 25"/>
          <p:cNvSpPr txBox="1"/>
          <p:nvPr/>
        </p:nvSpPr>
        <p:spPr>
          <a:xfrm>
            <a:off x="7658327"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7896222" y="5851905"/>
            <a:ext cx="128699" cy="187198"/>
          </a:xfrm>
          <a:prstGeom prst="rect">
            <a:avLst/>
          </a:prstGeom>
        </p:spPr>
      </p:pic>
      <p:sp>
        <p:nvSpPr>
          <p:cNvPr id="28" name="TextBox 27"/>
          <p:cNvSpPr txBox="1"/>
          <p:nvPr/>
        </p:nvSpPr>
        <p:spPr>
          <a:xfrm>
            <a:off x="8063717"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10618122" y="5851905"/>
            <a:ext cx="128699" cy="187198"/>
          </a:xfrm>
          <a:prstGeom prst="rect">
            <a:avLst/>
          </a:prstGeom>
        </p:spPr>
      </p:pic>
      <p:sp>
        <p:nvSpPr>
          <p:cNvPr id="30" name="TextBox 29"/>
          <p:cNvSpPr txBox="1"/>
          <p:nvPr/>
        </p:nvSpPr>
        <p:spPr>
          <a:xfrm>
            <a:off x="10785617" y="5861685"/>
            <a:ext cx="698301" cy="186689"/>
          </a:xfrm>
          <a:prstGeom prst="rect">
            <a:avLst/>
          </a:prstGeom>
          <a:noFill/>
        </p:spPr>
        <p:txBody>
          <a:bodyPr wrap="none" lIns="0" rIns="0" tIns="0" bIns="0">
            <a:spAutoFit/>
          </a:bodyPr>
          <a:lstStyle/>
          <a:p>
            <a:r>
              <a:rPr sz="1100" b="0">
                <a:solidFill>
                  <a:srgbClr val="2E2E2E"/>
                </a:solidFill>
                <a:latin typeface="Calibri"/>
              </a:rPr>
              <a:t>. The other</a:t>
            </a:r>
          </a:p>
        </p:txBody>
      </p:sp>
      <p:sp>
        <p:nvSpPr>
          <p:cNvPr id="31" name="TextBox 30"/>
          <p:cNvSpPr txBox="1"/>
          <p:nvPr/>
        </p:nvSpPr>
        <p:spPr>
          <a:xfrm>
            <a:off x="257175" y="6029325"/>
            <a:ext cx="11677650" cy="186689"/>
          </a:xfrm>
          <a:prstGeom prst="rect">
            <a:avLst/>
          </a:prstGeom>
          <a:noFill/>
        </p:spPr>
        <p:txBody>
          <a:bodyPr wrap="none" lIns="0" rIns="0" tIns="0" bIns="0">
            <a:spAutoFit/>
          </a:bodyPr>
          <a:lstStyle/>
          <a:p>
            <a:r>
              <a:rPr sz="1100" b="0">
                <a:solidFill>
                  <a:srgbClr val="2E2E2E"/>
                </a:solidFill>
                <a:latin typeface="Calibri"/>
              </a:rPr>
              <a:t>retail channels segment is expected to be less attractive as compared to other segments over the forecast period, owing to its lower CAGR and incremental opportunity. Bubbles right of the CAGR-Index line</a:t>
            </a:r>
          </a:p>
        </p:txBody>
      </p:sp>
      <p:sp>
        <p:nvSpPr>
          <p:cNvPr id="32" name="TextBox 31"/>
          <p:cNvSpPr txBox="1"/>
          <p:nvPr/>
        </p:nvSpPr>
        <p:spPr>
          <a:xfrm>
            <a:off x="257175" y="6196965"/>
            <a:ext cx="2279476" cy="186689"/>
          </a:xfrm>
          <a:prstGeom prst="rect">
            <a:avLst/>
          </a:prstGeom>
          <a:noFill/>
        </p:spPr>
        <p:txBody>
          <a:bodyPr wrap="none" lIns="0" rIns="0" tIns="0" bIns="0">
            <a:spAutoFit/>
          </a:bodyPr>
          <a:lstStyle/>
          <a:p>
            <a:r>
              <a:rPr sz="1100" b="0">
                <a:solidFill>
                  <a:srgbClr val="2E2E2E"/>
                </a:solidFill>
                <a:latin typeface="Calibri"/>
              </a:rPr>
              <a:t>grow faster than the segment average.</a:t>
            </a:r>
          </a:p>
        </p:txBody>
      </p:sp>
      <p:sp>
        <p:nvSpPr>
          <p:cNvPr id="33"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5"/>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B2B / Institutional and Ingredient Sales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Supermarkets and Hypermarkets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Convenience Stores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Specialty Tea and Health Food Stores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100230" y="2330679"/>
            <a:ext cx="252890" cy="367840"/>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Online Retail</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Foodservice and HoReCa</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Incremental $ Opportunity (US$ Mn), 2026-2036, By Other Retail Channels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Global Absolute $ Opportunity Analysis, By Distribution Channel</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094826" y="2237234"/>
            <a:ext cx="263506" cy="383281"/>
          </a:xfrm>
          <a:prstGeom prst="rect">
            <a:avLst/>
          </a:prstGeom>
        </p:spPr>
      </p:pic>
      <p:pic>
        <p:nvPicPr>
          <p:cNvPr id="25" name="Picture 24" descr="lock.png"/>
          <p:cNvPicPr>
            <a:picLocks noChangeAspect="1"/>
          </p:cNvPicPr>
          <p:nvPr/>
        </p:nvPicPr>
        <p:blipFill>
          <a:blip r:embed="rId7"/>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3100230" y="5216754"/>
            <a:ext cx="252890" cy="367840"/>
          </a:xfrm>
          <a:prstGeom prst="rect">
            <a:avLst/>
          </a:prstGeom>
        </p:spPr>
      </p:pic>
      <p:sp>
        <p:nvSpPr>
          <p:cNvPr id="27" name="TextBox 26"/>
          <p:cNvSpPr txBox="1"/>
          <p:nvPr/>
        </p:nvSpPr>
        <p:spPr>
          <a:xfrm>
            <a:off x="6305550" y="4484320"/>
            <a:ext cx="5434387" cy="194310"/>
          </a:xfrm>
          <a:prstGeom prst="rect">
            <a:avLst/>
          </a:prstGeom>
          <a:noFill/>
        </p:spPr>
        <p:txBody>
          <a:bodyPr wrap="none" lIns="0" rIns="0" tIns="0" bIns="0">
            <a:spAutoFit/>
          </a:bodyPr>
          <a:lstStyle/>
          <a:p>
            <a:r>
              <a:rPr sz="1150" b="0">
                <a:solidFill>
                  <a:srgbClr val="2E2E2E"/>
                </a:solidFill>
                <a:latin typeface="Calibri"/>
              </a:rPr>
              <a:t>By 2036, supermarkets and hypermarkets segment is anticipated to witness an increase of</a:t>
            </a:r>
          </a:p>
        </p:txBody>
      </p:sp>
      <p:pic>
        <p:nvPicPr>
          <p:cNvPr id="28" name="Picture 27" descr="lock.png"/>
          <p:cNvPicPr>
            <a:picLocks noChangeAspect="1"/>
          </p:cNvPicPr>
          <p:nvPr/>
        </p:nvPicPr>
        <p:blipFill>
          <a:blip r:embed="rId7"/>
          <a:stretch>
            <a:fillRect/>
          </a:stretch>
        </p:blipFill>
        <p:spPr>
          <a:xfrm>
            <a:off x="6291470" y="4649356"/>
            <a:ext cx="134549" cy="195707"/>
          </a:xfrm>
          <a:prstGeom prst="rect">
            <a:avLst/>
          </a:prstGeom>
        </p:spPr>
      </p:pic>
      <p:sp>
        <p:nvSpPr>
          <p:cNvPr id="29" name="TextBox 28"/>
          <p:cNvSpPr txBox="1"/>
          <p:nvPr/>
        </p:nvSpPr>
        <p:spPr>
          <a:xfrm>
            <a:off x="6466579" y="4659580"/>
            <a:ext cx="5394188" cy="194310"/>
          </a:xfrm>
          <a:prstGeom prst="rect">
            <a:avLst/>
          </a:prstGeom>
          <a:noFill/>
        </p:spPr>
        <p:txBody>
          <a:bodyPr wrap="none" lIns="0" rIns="0" tIns="0" bIns="0">
            <a:spAutoFit/>
          </a:bodyPr>
          <a:lstStyle/>
          <a:p>
            <a:r>
              <a:rPr sz="1150" b="0">
                <a:solidFill>
                  <a:srgbClr val="2E2E2E"/>
                </a:solidFill>
                <a:latin typeface="Calibri"/>
              </a:rPr>
              <a:t>X in terms of value as compared to 2026. The supermarkets and hypermarkets segment is</a:t>
            </a:r>
          </a:p>
        </p:txBody>
      </p:sp>
      <p:sp>
        <p:nvSpPr>
          <p:cNvPr id="30" name="TextBox 29"/>
          <p:cNvSpPr txBox="1"/>
          <p:nvPr/>
        </p:nvSpPr>
        <p:spPr>
          <a:xfrm>
            <a:off x="6305550" y="4834840"/>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31" name="Picture 30" descr="lock.png"/>
          <p:cNvPicPr>
            <a:picLocks noChangeAspect="1"/>
          </p:cNvPicPr>
          <p:nvPr/>
        </p:nvPicPr>
        <p:blipFill>
          <a:blip r:embed="rId7"/>
          <a:stretch>
            <a:fillRect/>
          </a:stretch>
        </p:blipFill>
        <p:spPr>
          <a:xfrm>
            <a:off x="9540010" y="4824616"/>
            <a:ext cx="134549" cy="195707"/>
          </a:xfrm>
          <a:prstGeom prst="rect">
            <a:avLst/>
          </a:prstGeom>
        </p:spPr>
      </p:pic>
      <p:sp>
        <p:nvSpPr>
          <p:cNvPr id="32" name="TextBox 31"/>
          <p:cNvSpPr txBox="1"/>
          <p:nvPr/>
        </p:nvSpPr>
        <p:spPr>
          <a:xfrm>
            <a:off x="9715119" y="4834840"/>
            <a:ext cx="2088381" cy="194310"/>
          </a:xfrm>
          <a:prstGeom prst="rect">
            <a:avLst/>
          </a:prstGeom>
          <a:noFill/>
        </p:spPr>
        <p:txBody>
          <a:bodyPr wrap="none" lIns="0" rIns="0" tIns="0" bIns="0">
            <a:spAutoFit/>
          </a:bodyPr>
          <a:lstStyle/>
          <a:p>
            <a:r>
              <a:rPr sz="1150" b="0">
                <a:solidFill>
                  <a:srgbClr val="2E2E2E"/>
                </a:solidFill>
                <a:latin typeface="Calibri"/>
              </a:rPr>
              <a:t>Mn for the overall matcha market</a:t>
            </a:r>
          </a:p>
        </p:txBody>
      </p:sp>
      <p:sp>
        <p:nvSpPr>
          <p:cNvPr id="33" name="TextBox 32"/>
          <p:cNvSpPr txBox="1"/>
          <p:nvPr/>
        </p:nvSpPr>
        <p:spPr>
          <a:xfrm>
            <a:off x="6305550" y="5010100"/>
            <a:ext cx="1220923" cy="194310"/>
          </a:xfrm>
          <a:prstGeom prst="rect">
            <a:avLst/>
          </a:prstGeom>
          <a:noFill/>
        </p:spPr>
        <p:txBody>
          <a:bodyPr wrap="none" lIns="0" rIns="0" tIns="0" bIns="0">
            <a:spAutoFit/>
          </a:bodyPr>
          <a:lstStyle/>
          <a:p>
            <a:r>
              <a:rPr sz="1150" b="0">
                <a:solidFill>
                  <a:srgbClr val="2E2E2E"/>
                </a:solidFill>
                <a:latin typeface="Calibri"/>
              </a:rPr>
              <a:t>from 2026 to 2036.</a:t>
            </a:r>
          </a:p>
        </p:txBody>
      </p:sp>
      <p:sp>
        <p:nvSpPr>
          <p:cNvPr id="34" name="TextBox 33"/>
          <p:cNvSpPr txBox="1"/>
          <p:nvPr/>
        </p:nvSpPr>
        <p:spPr>
          <a:xfrm>
            <a:off x="6305550" y="5237938"/>
            <a:ext cx="5388768" cy="194310"/>
          </a:xfrm>
          <a:prstGeom prst="rect">
            <a:avLst/>
          </a:prstGeom>
          <a:noFill/>
        </p:spPr>
        <p:txBody>
          <a:bodyPr wrap="none" lIns="0" rIns="0" tIns="0" bIns="0">
            <a:spAutoFit/>
          </a:bodyPr>
          <a:lstStyle/>
          <a:p>
            <a:r>
              <a:rPr sz="1150" b="0">
                <a:solidFill>
                  <a:srgbClr val="2E2E2E"/>
                </a:solidFill>
                <a:latin typeface="Calibri"/>
              </a:rPr>
              <a:t>The convenience stores segment is expected to create an incremental opportunity of US$</a:t>
            </a:r>
          </a:p>
        </p:txBody>
      </p:sp>
      <p:pic>
        <p:nvPicPr>
          <p:cNvPr id="35" name="Picture 34" descr="lock.png"/>
          <p:cNvPicPr>
            <a:picLocks noChangeAspect="1"/>
          </p:cNvPicPr>
          <p:nvPr/>
        </p:nvPicPr>
        <p:blipFill>
          <a:blip r:embed="rId7"/>
          <a:stretch>
            <a:fillRect/>
          </a:stretch>
        </p:blipFill>
        <p:spPr>
          <a:xfrm>
            <a:off x="6291470" y="5402974"/>
            <a:ext cx="134549" cy="195707"/>
          </a:xfrm>
          <a:prstGeom prst="rect">
            <a:avLst/>
          </a:prstGeom>
        </p:spPr>
      </p:pic>
      <p:sp>
        <p:nvSpPr>
          <p:cNvPr id="36" name="TextBox 35"/>
          <p:cNvSpPr txBox="1"/>
          <p:nvPr/>
        </p:nvSpPr>
        <p:spPr>
          <a:xfrm>
            <a:off x="6466579" y="5413197"/>
            <a:ext cx="5275522"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 The specialty tea and health food</a:t>
            </a:r>
          </a:p>
        </p:txBody>
      </p:sp>
      <p:sp>
        <p:nvSpPr>
          <p:cNvPr id="37" name="TextBox 36"/>
          <p:cNvSpPr txBox="1"/>
          <p:nvPr/>
        </p:nvSpPr>
        <p:spPr>
          <a:xfrm>
            <a:off x="6305550" y="5588457"/>
            <a:ext cx="4353011" cy="194310"/>
          </a:xfrm>
          <a:prstGeom prst="rect">
            <a:avLst/>
          </a:prstGeom>
          <a:noFill/>
        </p:spPr>
        <p:txBody>
          <a:bodyPr wrap="none" lIns="0" rIns="0" tIns="0" bIns="0">
            <a:spAutoFit/>
          </a:bodyPr>
          <a:lstStyle/>
          <a:p>
            <a:r>
              <a:rPr sz="1150" b="0">
                <a:solidFill>
                  <a:srgbClr val="2E2E2E"/>
                </a:solidFill>
                <a:latin typeface="Calibri"/>
              </a:rPr>
              <a:t>stores segment is expected to create an incremental opportunity of US$</a:t>
            </a:r>
          </a:p>
        </p:txBody>
      </p:sp>
      <p:pic>
        <p:nvPicPr>
          <p:cNvPr id="38" name="Picture 37" descr="lock.png"/>
          <p:cNvPicPr>
            <a:picLocks noChangeAspect="1"/>
          </p:cNvPicPr>
          <p:nvPr/>
        </p:nvPicPr>
        <p:blipFill>
          <a:blip r:embed="rId7"/>
          <a:stretch>
            <a:fillRect/>
          </a:stretch>
        </p:blipFill>
        <p:spPr>
          <a:xfrm>
            <a:off x="10607715" y="5578234"/>
            <a:ext cx="134549" cy="195707"/>
          </a:xfrm>
          <a:prstGeom prst="rect">
            <a:avLst/>
          </a:prstGeom>
        </p:spPr>
      </p:pic>
      <p:sp>
        <p:nvSpPr>
          <p:cNvPr id="39" name="TextBox 38"/>
          <p:cNvSpPr txBox="1"/>
          <p:nvPr/>
        </p:nvSpPr>
        <p:spPr>
          <a:xfrm>
            <a:off x="10782825" y="5588457"/>
            <a:ext cx="715168" cy="194310"/>
          </a:xfrm>
          <a:prstGeom prst="rect">
            <a:avLst/>
          </a:prstGeom>
          <a:noFill/>
        </p:spPr>
        <p:txBody>
          <a:bodyPr wrap="none" lIns="0" rIns="0" tIns="0" bIns="0">
            <a:spAutoFit/>
          </a:bodyPr>
          <a:lstStyle/>
          <a:p>
            <a:r>
              <a:rPr sz="1150" b="0">
                <a:solidFill>
                  <a:srgbClr val="2E2E2E"/>
                </a:solidFill>
                <a:latin typeface="Calibri"/>
              </a:rPr>
              <a:t>Mn for the</a:t>
            </a:r>
          </a:p>
        </p:txBody>
      </p:sp>
      <p:sp>
        <p:nvSpPr>
          <p:cNvPr id="40" name="TextBox 39"/>
          <p:cNvSpPr txBox="1"/>
          <p:nvPr/>
        </p:nvSpPr>
        <p:spPr>
          <a:xfrm>
            <a:off x="6305550" y="5763717"/>
            <a:ext cx="2594136" cy="194310"/>
          </a:xfrm>
          <a:prstGeom prst="rect">
            <a:avLst/>
          </a:prstGeom>
          <a:noFill/>
        </p:spPr>
        <p:txBody>
          <a:bodyPr wrap="none" lIns="0" rIns="0" tIns="0" bIns="0">
            <a:spAutoFit/>
          </a:bodyPr>
          <a:lstStyle/>
          <a:p>
            <a:r>
              <a:rPr sz="1150" b="0">
                <a:solidFill>
                  <a:srgbClr val="2E2E2E"/>
                </a:solidFill>
                <a:latin typeface="Calibri"/>
              </a:rPr>
              <a:t>overall matcha market from 2026 to 2036.</a:t>
            </a:r>
          </a:p>
        </p:txBody>
      </p:sp>
      <p:sp>
        <p:nvSpPr>
          <p:cNvPr id="41"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By Distribution Channel (US$ Mn)</a:t>
            </a:r>
          </a:p>
        </p:txBody>
      </p:sp>
      <p:graphicFrame>
        <p:nvGraphicFramePr>
          <p:cNvPr id="12" name="Table 11"/>
          <p:cNvGraphicFramePr>
            <a:graphicFrameLocks noGrp="1"/>
          </p:cNvGraphicFramePr>
          <p:nvPr/>
        </p:nvGraphicFramePr>
        <p:xfrm>
          <a:off x="152400" y="1238250"/>
          <a:ext cx="11888824" cy="2219326"/>
        </p:xfrm>
        <a:graphic>
          <a:graphicData uri="http://schemas.openxmlformats.org/drawingml/2006/table">
            <a:tbl>
              <a:tblPr>
                <a:tableStyleId>{5C22544A-7EE6-4342-B048-85BDC9FD1C3A}</a:tableStyleId>
              </a:tblPr>
              <a:tblGrid>
                <a:gridCol w="2486479"/>
                <a:gridCol w="552984"/>
                <a:gridCol w="552984"/>
                <a:gridCol w="552984"/>
                <a:gridCol w="552984"/>
                <a:gridCol w="552984"/>
                <a:gridCol w="552984"/>
                <a:gridCol w="552984"/>
                <a:gridCol w="552984"/>
                <a:gridCol w="552984"/>
                <a:gridCol w="552984"/>
                <a:gridCol w="552984"/>
                <a:gridCol w="552984"/>
                <a:gridCol w="552984"/>
                <a:gridCol w="552984"/>
                <a:gridCol w="552984"/>
                <a:gridCol w="552984"/>
                <a:gridCol w="554601"/>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B2B / Institutional and Ingredient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Supermarkets and Hypermarkets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Convenience Stores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Specialty Tea and Health Food Stores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Online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Foodservice and HoReCa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Retail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Global Value Analysis, By Distribution Channel</a:t>
            </a:r>
          </a:p>
        </p:txBody>
      </p:sp>
      <p:sp>
        <p:nvSpPr>
          <p:cNvPr id="16" name="Rectangle 15"/>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138801" y="2204276"/>
            <a:ext cx="366712" cy="533400"/>
          </a:xfrm>
          <a:prstGeom prst="rect">
            <a:avLst/>
          </a:prstGeom>
        </p:spPr>
      </p:pic>
      <p:sp>
        <p:nvSpPr>
          <p:cNvPr id="20" name="TextBox 19"/>
          <p:cNvSpPr txBox="1"/>
          <p:nvPr/>
        </p:nvSpPr>
        <p:spPr>
          <a:xfrm>
            <a:off x="276225" y="4219575"/>
            <a:ext cx="3944528" cy="194310"/>
          </a:xfrm>
          <a:prstGeom prst="rect">
            <a:avLst/>
          </a:prstGeom>
          <a:noFill/>
        </p:spPr>
        <p:txBody>
          <a:bodyPr wrap="none" lIns="0" rIns="0" tIns="0" bIns="0">
            <a:spAutoFit/>
          </a:bodyPr>
          <a:lstStyle/>
          <a:p>
            <a:r>
              <a:rPr sz="1150" b="0">
                <a:solidFill>
                  <a:srgbClr val="2E2E2E"/>
                </a:solidFill>
                <a:latin typeface="Calibri"/>
              </a:rPr>
              <a:t>Supermarkets and hypermarkets segment is projected to register</a:t>
            </a:r>
          </a:p>
        </p:txBody>
      </p:sp>
      <p:pic>
        <p:nvPicPr>
          <p:cNvPr id="21" name="Picture 20" descr="lock.png"/>
          <p:cNvPicPr>
            <a:picLocks noChangeAspect="1"/>
          </p:cNvPicPr>
          <p:nvPr/>
        </p:nvPicPr>
        <p:blipFill>
          <a:blip r:embed="rId4"/>
          <a:stretch>
            <a:fillRect/>
          </a:stretch>
        </p:blipFill>
        <p:spPr>
          <a:xfrm>
            <a:off x="4169907" y="4209351"/>
            <a:ext cx="134549" cy="195707"/>
          </a:xfrm>
          <a:prstGeom prst="rect">
            <a:avLst/>
          </a:prstGeom>
        </p:spPr>
      </p:pic>
      <p:sp>
        <p:nvSpPr>
          <p:cNvPr id="22" name="TextBox 21"/>
          <p:cNvSpPr txBox="1"/>
          <p:nvPr/>
        </p:nvSpPr>
        <p:spPr>
          <a:xfrm>
            <a:off x="4345016" y="4219575"/>
            <a:ext cx="7191858" cy="194310"/>
          </a:xfrm>
          <a:prstGeom prst="rect">
            <a:avLst/>
          </a:prstGeom>
          <a:noFill/>
        </p:spPr>
        <p:txBody>
          <a:bodyPr wrap="none" lIns="0" rIns="0" tIns="0" bIns="0">
            <a:spAutoFit/>
          </a:bodyPr>
          <a:lstStyle/>
          <a:p>
            <a:r>
              <a:rPr sz="1150" b="0">
                <a:solidFill>
                  <a:srgbClr val="2E2E2E"/>
                </a:solidFill>
                <a:latin typeface="Calibri"/>
              </a:rPr>
              <a:t>X higher value than convenience stores segment in 2036. Among matcha by distribution channel, B2B / institutional and</a:t>
            </a:r>
          </a:p>
        </p:txBody>
      </p:sp>
      <p:sp>
        <p:nvSpPr>
          <p:cNvPr id="23" name="TextBox 22"/>
          <p:cNvSpPr txBox="1"/>
          <p:nvPr/>
        </p:nvSpPr>
        <p:spPr>
          <a:xfrm>
            <a:off x="276225" y="4394835"/>
            <a:ext cx="4125076" cy="194310"/>
          </a:xfrm>
          <a:prstGeom prst="rect">
            <a:avLst/>
          </a:prstGeom>
          <a:noFill/>
        </p:spPr>
        <p:txBody>
          <a:bodyPr wrap="none" lIns="0" rIns="0" tIns="0" bIns="0">
            <a:spAutoFit/>
          </a:bodyPr>
          <a:lstStyle/>
          <a:p>
            <a:r>
              <a:rPr sz="1150" b="0">
                <a:solidFill>
                  <a:srgbClr val="2E2E2E"/>
                </a:solidFill>
                <a:latin typeface="Calibri"/>
              </a:rPr>
              <a:t>ingredient sales segment is expected to witness the highest CAGR of</a:t>
            </a:r>
          </a:p>
        </p:txBody>
      </p:sp>
      <p:pic>
        <p:nvPicPr>
          <p:cNvPr id="24" name="Picture 23" descr="lock.png"/>
          <p:cNvPicPr>
            <a:picLocks noChangeAspect="1"/>
          </p:cNvPicPr>
          <p:nvPr/>
        </p:nvPicPr>
        <p:blipFill>
          <a:blip r:embed="rId4"/>
          <a:stretch>
            <a:fillRect/>
          </a:stretch>
        </p:blipFill>
        <p:spPr>
          <a:xfrm>
            <a:off x="4350455" y="4384611"/>
            <a:ext cx="134549" cy="195707"/>
          </a:xfrm>
          <a:prstGeom prst="rect">
            <a:avLst/>
          </a:prstGeom>
        </p:spPr>
      </p:pic>
      <p:sp>
        <p:nvSpPr>
          <p:cNvPr id="25" name="TextBox 24"/>
          <p:cNvSpPr txBox="1"/>
          <p:nvPr/>
        </p:nvSpPr>
        <p:spPr>
          <a:xfrm>
            <a:off x="4525564"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622672"/>
            <a:ext cx="8275538"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supermarkets and hypermarkets segment is expected to dominate the market, gaining</a:t>
            </a:r>
          </a:p>
        </p:txBody>
      </p:sp>
      <p:pic>
        <p:nvPicPr>
          <p:cNvPr id="27" name="Picture 26" descr="lock.png"/>
          <p:cNvPicPr>
            <a:picLocks noChangeAspect="1"/>
          </p:cNvPicPr>
          <p:nvPr/>
        </p:nvPicPr>
        <p:blipFill>
          <a:blip r:embed="rId4"/>
          <a:stretch>
            <a:fillRect/>
          </a:stretch>
        </p:blipFill>
        <p:spPr>
          <a:xfrm>
            <a:off x="8500917" y="4612449"/>
            <a:ext cx="134549" cy="195707"/>
          </a:xfrm>
          <a:prstGeom prst="rect">
            <a:avLst/>
          </a:prstGeom>
        </p:spPr>
      </p:pic>
      <p:sp>
        <p:nvSpPr>
          <p:cNvPr id="28" name="TextBox 27"/>
          <p:cNvSpPr txBox="1"/>
          <p:nvPr/>
        </p:nvSpPr>
        <p:spPr>
          <a:xfrm>
            <a:off x="8676026"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10071169" y="4612449"/>
            <a:ext cx="134549" cy="195707"/>
          </a:xfrm>
          <a:prstGeom prst="rect">
            <a:avLst/>
          </a:prstGeom>
        </p:spPr>
      </p:pic>
      <p:sp>
        <p:nvSpPr>
          <p:cNvPr id="30" name="TextBox 29"/>
          <p:cNvSpPr txBox="1"/>
          <p:nvPr/>
        </p:nvSpPr>
        <p:spPr>
          <a:xfrm>
            <a:off x="10246278" y="46226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1" name="TextBox 30"/>
          <p:cNvSpPr txBox="1"/>
          <p:nvPr/>
        </p:nvSpPr>
        <p:spPr>
          <a:xfrm>
            <a:off x="276225" y="4797932"/>
            <a:ext cx="3878064" cy="194310"/>
          </a:xfrm>
          <a:prstGeom prst="rect">
            <a:avLst/>
          </a:prstGeom>
          <a:noFill/>
        </p:spPr>
        <p:txBody>
          <a:bodyPr wrap="none" lIns="0" rIns="0" tIns="0" bIns="0">
            <a:spAutoFit/>
          </a:bodyPr>
          <a:lstStyle/>
          <a:p>
            <a:r>
              <a:rPr sz="1150" b="0">
                <a:solidFill>
                  <a:srgbClr val="2E2E2E"/>
                </a:solidFill>
                <a:latin typeface="Calibri"/>
              </a:rPr>
              <a:t>specialty tea and health food stores segment is expected to lose</a:t>
            </a:r>
          </a:p>
        </p:txBody>
      </p:sp>
      <p:pic>
        <p:nvPicPr>
          <p:cNvPr id="32" name="Picture 31" descr="lock.png"/>
          <p:cNvPicPr>
            <a:picLocks noChangeAspect="1"/>
          </p:cNvPicPr>
          <p:nvPr/>
        </p:nvPicPr>
        <p:blipFill>
          <a:blip r:embed="rId4"/>
          <a:stretch>
            <a:fillRect/>
          </a:stretch>
        </p:blipFill>
        <p:spPr>
          <a:xfrm>
            <a:off x="4103443" y="4787709"/>
            <a:ext cx="134549" cy="195707"/>
          </a:xfrm>
          <a:prstGeom prst="rect">
            <a:avLst/>
          </a:prstGeom>
        </p:spPr>
      </p:pic>
      <p:sp>
        <p:nvSpPr>
          <p:cNvPr id="33" name="TextBox 32"/>
          <p:cNvSpPr txBox="1"/>
          <p:nvPr/>
        </p:nvSpPr>
        <p:spPr>
          <a:xfrm>
            <a:off x="4278552" y="47979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6866056" y="4787709"/>
            <a:ext cx="134549" cy="195707"/>
          </a:xfrm>
          <a:prstGeom prst="rect">
            <a:avLst/>
          </a:prstGeom>
        </p:spPr>
      </p:pic>
      <p:sp>
        <p:nvSpPr>
          <p:cNvPr id="35" name="TextBox 34"/>
          <p:cNvSpPr txBox="1"/>
          <p:nvPr/>
        </p:nvSpPr>
        <p:spPr>
          <a:xfrm>
            <a:off x="7041166" y="47979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Composition, By Distribution Channel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789513"/>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78475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70855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Retail Channels</a:t>
            </a:r>
          </a:p>
        </p:txBody>
      </p:sp>
      <p:sp>
        <p:nvSpPr>
          <p:cNvPr id="18" name="BPS Value 1"/>
          <p:cNvSpPr txBox="1"/>
          <p:nvPr/>
        </p:nvSpPr>
        <p:spPr>
          <a:xfrm>
            <a:off x="6896100" y="177046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208351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207874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200254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and HoReCa</a:t>
            </a:r>
          </a:p>
        </p:txBody>
      </p:sp>
      <p:sp>
        <p:nvSpPr>
          <p:cNvPr id="22" name="BPS Value 2"/>
          <p:cNvSpPr txBox="1"/>
          <p:nvPr/>
        </p:nvSpPr>
        <p:spPr>
          <a:xfrm>
            <a:off x="6896100" y="206446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FMI Legend Chip"/>
          <p:cNvSpPr/>
          <p:nvPr/>
        </p:nvSpPr>
        <p:spPr>
          <a:xfrm>
            <a:off x="4928997" y="246921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a:off x="5090922" y="246445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38825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B2B / Institutional and Ingredient Sales</a:t>
            </a:r>
          </a:p>
        </p:txBody>
      </p:sp>
      <p:sp>
        <p:nvSpPr>
          <p:cNvPr id="26" name="BPS Value 3"/>
          <p:cNvSpPr txBox="1"/>
          <p:nvPr/>
        </p:nvSpPr>
        <p:spPr>
          <a:xfrm>
            <a:off x="6896100" y="245016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7" name="FMI Legend Chip"/>
          <p:cNvSpPr/>
          <p:nvPr/>
        </p:nvSpPr>
        <p:spPr>
          <a:xfrm>
            <a:off x="4928997" y="2993101"/>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rot="10800000">
            <a:off x="5090922" y="298833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291213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Retail</a:t>
            </a:r>
          </a:p>
        </p:txBody>
      </p:sp>
      <p:sp>
        <p:nvSpPr>
          <p:cNvPr id="30" name="BPS Value 4"/>
          <p:cNvSpPr txBox="1"/>
          <p:nvPr/>
        </p:nvSpPr>
        <p:spPr>
          <a:xfrm>
            <a:off x="6896100" y="297405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1" name="FMI Legend Chip"/>
          <p:cNvSpPr/>
          <p:nvPr/>
        </p:nvSpPr>
        <p:spPr>
          <a:xfrm>
            <a:off x="4928997" y="37091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5090922" y="370441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362821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Specialty Tea and Health Food Stores</a:t>
            </a:r>
          </a:p>
        </p:txBody>
      </p:sp>
      <p:sp>
        <p:nvSpPr>
          <p:cNvPr id="34" name="BPS Value 5"/>
          <p:cNvSpPr txBox="1"/>
          <p:nvPr/>
        </p:nvSpPr>
        <p:spPr>
          <a:xfrm>
            <a:off x="6896100" y="369012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FMI Legend Chip"/>
          <p:cNvSpPr/>
          <p:nvPr/>
        </p:nvSpPr>
        <p:spPr>
          <a:xfrm>
            <a:off x="4928997" y="4580089"/>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a:off x="5090922" y="457532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449912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Convenience Stores</a:t>
            </a:r>
          </a:p>
        </p:txBody>
      </p:sp>
      <p:sp>
        <p:nvSpPr>
          <p:cNvPr id="38" name="BPS Value 6"/>
          <p:cNvSpPr txBox="1"/>
          <p:nvPr/>
        </p:nvSpPr>
        <p:spPr>
          <a:xfrm>
            <a:off x="6896100" y="456103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9" name="FMI Legend Chip"/>
          <p:cNvSpPr/>
          <p:nvPr/>
        </p:nvSpPr>
        <p:spPr>
          <a:xfrm>
            <a:off x="4928997" y="5646242"/>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Isosceles Triangle 39"/>
          <p:cNvSpPr/>
          <p:nvPr/>
        </p:nvSpPr>
        <p:spPr>
          <a:xfrm>
            <a:off x="5090922" y="564148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BPS Name 7"/>
          <p:cNvSpPr txBox="1"/>
          <p:nvPr/>
        </p:nvSpPr>
        <p:spPr>
          <a:xfrm>
            <a:off x="5233797" y="556528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Supermarkets and Hypermarkets</a:t>
            </a:r>
          </a:p>
        </p:txBody>
      </p:sp>
      <p:sp>
        <p:nvSpPr>
          <p:cNvPr id="42" name="BPS Value 7"/>
          <p:cNvSpPr txBox="1"/>
          <p:nvPr/>
        </p:nvSpPr>
        <p:spPr>
          <a:xfrm>
            <a:off x="6896100" y="562719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3" name="Rounded Rectangle 42"/>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Global Read-out, By Distribution Channel</a:t>
            </a:r>
          </a:p>
        </p:txBody>
      </p:sp>
      <p:sp>
        <p:nvSpPr>
          <p:cNvPr id="45" name="Rectangle 44"/>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557843" y="3833622"/>
            <a:ext cx="275034" cy="400050"/>
          </a:xfrm>
          <a:prstGeom prst="rect">
            <a:avLst/>
          </a:prstGeom>
        </p:spPr>
      </p:pic>
      <p:sp>
        <p:nvSpPr>
          <p:cNvPr id="49" name="TextBox 48"/>
          <p:cNvSpPr txBox="1"/>
          <p:nvPr/>
        </p:nvSpPr>
        <p:spPr>
          <a:xfrm>
            <a:off x="7829550" y="1400175"/>
            <a:ext cx="3776798" cy="194310"/>
          </a:xfrm>
          <a:prstGeom prst="rect">
            <a:avLst/>
          </a:prstGeom>
          <a:noFill/>
        </p:spPr>
        <p:txBody>
          <a:bodyPr wrap="none" lIns="0" rIns="0" tIns="0" bIns="0">
            <a:spAutoFit/>
          </a:bodyPr>
          <a:lstStyle/>
          <a:p>
            <a:r>
              <a:rPr sz="1150" b="0">
                <a:solidFill>
                  <a:srgbClr val="2E2E2E"/>
                </a:solidFill>
                <a:latin typeface="Calibri"/>
              </a:rPr>
              <a:t>Among matcha by distribution channel, B2B / institutional and</a:t>
            </a:r>
          </a:p>
        </p:txBody>
      </p:sp>
      <p:sp>
        <p:nvSpPr>
          <p:cNvPr id="50" name="TextBox 49"/>
          <p:cNvSpPr txBox="1"/>
          <p:nvPr/>
        </p:nvSpPr>
        <p:spPr>
          <a:xfrm>
            <a:off x="7829550" y="1575435"/>
            <a:ext cx="4057650" cy="194310"/>
          </a:xfrm>
          <a:prstGeom prst="rect">
            <a:avLst/>
          </a:prstGeom>
          <a:noFill/>
        </p:spPr>
        <p:txBody>
          <a:bodyPr wrap="none" lIns="0" rIns="0" tIns="0" bIns="0">
            <a:spAutoFit/>
          </a:bodyPr>
          <a:lstStyle/>
          <a:p>
            <a:r>
              <a:rPr sz="1150" b="0">
                <a:solidFill>
                  <a:srgbClr val="2E2E2E"/>
                </a:solidFill>
                <a:latin typeface="Calibri"/>
              </a:rPr>
              <a:t>ingredient sales segment is expected to witness the highest CAGR of</a:t>
            </a:r>
          </a:p>
        </p:txBody>
      </p:sp>
      <p:pic>
        <p:nvPicPr>
          <p:cNvPr id="51" name="Picture 50" descr="lock.png"/>
          <p:cNvPicPr>
            <a:picLocks noChangeAspect="1"/>
          </p:cNvPicPr>
          <p:nvPr/>
        </p:nvPicPr>
        <p:blipFill>
          <a:blip r:embed="rId5"/>
          <a:stretch>
            <a:fillRect/>
          </a:stretch>
        </p:blipFill>
        <p:spPr>
          <a:xfrm>
            <a:off x="7815470" y="1740471"/>
            <a:ext cx="134549" cy="195707"/>
          </a:xfrm>
          <a:prstGeom prst="rect">
            <a:avLst/>
          </a:prstGeom>
        </p:spPr>
      </p:pic>
      <p:sp>
        <p:nvSpPr>
          <p:cNvPr id="52" name="TextBox 51"/>
          <p:cNvSpPr txBox="1"/>
          <p:nvPr/>
        </p:nvSpPr>
        <p:spPr>
          <a:xfrm>
            <a:off x="7990579" y="1750695"/>
            <a:ext cx="3842407"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distribution</a:t>
            </a:r>
          </a:p>
        </p:txBody>
      </p:sp>
      <p:sp>
        <p:nvSpPr>
          <p:cNvPr id="53" name="TextBox 52"/>
          <p:cNvSpPr txBox="1"/>
          <p:nvPr/>
        </p:nvSpPr>
        <p:spPr>
          <a:xfrm>
            <a:off x="7829550" y="1925955"/>
            <a:ext cx="4028678" cy="194310"/>
          </a:xfrm>
          <a:prstGeom prst="rect">
            <a:avLst/>
          </a:prstGeom>
          <a:noFill/>
        </p:spPr>
        <p:txBody>
          <a:bodyPr wrap="none" lIns="0" rIns="0" tIns="0" bIns="0">
            <a:spAutoFit/>
          </a:bodyPr>
          <a:lstStyle/>
          <a:p>
            <a:r>
              <a:rPr sz="1150" b="0">
                <a:solidFill>
                  <a:srgbClr val="2E2E2E"/>
                </a:solidFill>
                <a:latin typeface="Calibri"/>
              </a:rPr>
              <a:t>channel, the supermarkets and hypermarkets segment is expected</a:t>
            </a:r>
          </a:p>
        </p:txBody>
      </p:sp>
      <p:sp>
        <p:nvSpPr>
          <p:cNvPr id="54" name="TextBox 53"/>
          <p:cNvSpPr txBox="1"/>
          <p:nvPr/>
        </p:nvSpPr>
        <p:spPr>
          <a:xfrm>
            <a:off x="7829550" y="2101215"/>
            <a:ext cx="1996244" cy="194310"/>
          </a:xfrm>
          <a:prstGeom prst="rect">
            <a:avLst/>
          </a:prstGeom>
          <a:noFill/>
        </p:spPr>
        <p:txBody>
          <a:bodyPr wrap="none" lIns="0" rIns="0" tIns="0" bIns="0">
            <a:spAutoFit/>
          </a:bodyPr>
          <a:lstStyle/>
          <a:p>
            <a:r>
              <a:rPr sz="1150" b="0">
                <a:solidFill>
                  <a:srgbClr val="2E2E2E"/>
                </a:solidFill>
                <a:latin typeface="Calibri"/>
              </a:rPr>
              <a:t>to dominate the market, gaining</a:t>
            </a:r>
          </a:p>
        </p:txBody>
      </p:sp>
      <p:pic>
        <p:nvPicPr>
          <p:cNvPr id="55" name="Picture 54" descr="lock.png"/>
          <p:cNvPicPr>
            <a:picLocks noChangeAspect="1"/>
          </p:cNvPicPr>
          <p:nvPr/>
        </p:nvPicPr>
        <p:blipFill>
          <a:blip r:embed="rId5"/>
          <a:stretch>
            <a:fillRect/>
          </a:stretch>
        </p:blipFill>
        <p:spPr>
          <a:xfrm>
            <a:off x="9774947" y="2090991"/>
            <a:ext cx="134549" cy="195707"/>
          </a:xfrm>
          <a:prstGeom prst="rect">
            <a:avLst/>
          </a:prstGeom>
        </p:spPr>
      </p:pic>
      <p:sp>
        <p:nvSpPr>
          <p:cNvPr id="56" name="TextBox 55"/>
          <p:cNvSpPr txBox="1"/>
          <p:nvPr/>
        </p:nvSpPr>
        <p:spPr>
          <a:xfrm>
            <a:off x="9950057"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7" name="Picture 56" descr="lock.png"/>
          <p:cNvPicPr>
            <a:picLocks noChangeAspect="1"/>
          </p:cNvPicPr>
          <p:nvPr/>
        </p:nvPicPr>
        <p:blipFill>
          <a:blip r:embed="rId5"/>
          <a:stretch>
            <a:fillRect/>
          </a:stretch>
        </p:blipFill>
        <p:spPr>
          <a:xfrm>
            <a:off x="11345200" y="2090991"/>
            <a:ext cx="134549" cy="195707"/>
          </a:xfrm>
          <a:prstGeom prst="rect">
            <a:avLst/>
          </a:prstGeom>
        </p:spPr>
      </p:pic>
      <p:sp>
        <p:nvSpPr>
          <p:cNvPr id="58" name="TextBox 5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9" name="TextBox 58"/>
          <p:cNvSpPr txBox="1"/>
          <p:nvPr/>
        </p:nvSpPr>
        <p:spPr>
          <a:xfrm>
            <a:off x="7829550" y="2504313"/>
            <a:ext cx="4057650" cy="194310"/>
          </a:xfrm>
          <a:prstGeom prst="rect">
            <a:avLst/>
          </a:prstGeom>
          <a:noFill/>
        </p:spPr>
        <p:txBody>
          <a:bodyPr wrap="none" lIns="0" rIns="0" tIns="0" bIns="0">
            <a:spAutoFit/>
          </a:bodyPr>
          <a:lstStyle/>
          <a:p>
            <a:r>
              <a:rPr sz="1150" b="0">
                <a:solidFill>
                  <a:srgbClr val="2E2E2E"/>
                </a:solidFill>
                <a:latin typeface="Calibri"/>
              </a:rPr>
              <a:t>The specialty tea and health food stores segment is expected to lose</a:t>
            </a:r>
          </a:p>
        </p:txBody>
      </p:sp>
      <p:pic>
        <p:nvPicPr>
          <p:cNvPr id="60" name="Picture 59" descr="lock.png"/>
          <p:cNvPicPr>
            <a:picLocks noChangeAspect="1"/>
          </p:cNvPicPr>
          <p:nvPr/>
        </p:nvPicPr>
        <p:blipFill>
          <a:blip r:embed="rId5"/>
          <a:stretch>
            <a:fillRect/>
          </a:stretch>
        </p:blipFill>
        <p:spPr>
          <a:xfrm>
            <a:off x="7815470" y="2669349"/>
            <a:ext cx="134549" cy="195707"/>
          </a:xfrm>
          <a:prstGeom prst="rect">
            <a:avLst/>
          </a:prstGeom>
        </p:spPr>
      </p:pic>
      <p:sp>
        <p:nvSpPr>
          <p:cNvPr id="61" name="TextBox 60"/>
          <p:cNvSpPr txBox="1"/>
          <p:nvPr/>
        </p:nvSpPr>
        <p:spPr>
          <a:xfrm>
            <a:off x="7990579" y="2679573"/>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62" name="Picture 61" descr="lock.png"/>
          <p:cNvPicPr>
            <a:picLocks noChangeAspect="1"/>
          </p:cNvPicPr>
          <p:nvPr/>
        </p:nvPicPr>
        <p:blipFill>
          <a:blip r:embed="rId5"/>
          <a:stretch>
            <a:fillRect/>
          </a:stretch>
        </p:blipFill>
        <p:spPr>
          <a:xfrm>
            <a:off x="10578084" y="2669349"/>
            <a:ext cx="134549" cy="195707"/>
          </a:xfrm>
          <a:prstGeom prst="rect">
            <a:avLst/>
          </a:prstGeom>
        </p:spPr>
      </p:pic>
      <p:sp>
        <p:nvSpPr>
          <p:cNvPr id="63" name="TextBox 62"/>
          <p:cNvSpPr txBox="1"/>
          <p:nvPr/>
        </p:nvSpPr>
        <p:spPr>
          <a:xfrm>
            <a:off x="10753193"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4"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0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Nature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Form ×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Packaging Type × Distribution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Nature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0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Product Type × Nature,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product type sub-segment across nature sub-segments</a:t>
            </a:r>
          </a:p>
        </p:txBody>
      </p:sp>
      <p:sp>
        <p:nvSpPr>
          <p:cNvPr id="10" name="Rounded Rectangle 9"/>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Product Type × Nature, 2026E and 2036F (US$ Mn)</a:t>
            </a:r>
          </a:p>
        </p:txBody>
      </p:sp>
      <p:graphicFrame>
        <p:nvGraphicFramePr>
          <p:cNvPr id="12" name="Table 11"/>
          <p:cNvGraphicFramePr>
            <a:graphicFrameLocks noGrp="1"/>
          </p:cNvGraphicFramePr>
          <p:nvPr/>
        </p:nvGraphicFramePr>
        <p:xfrm>
          <a:off x="152400" y="1238250"/>
          <a:ext cx="11887199" cy="1238250"/>
        </p:xfrm>
        <a:graphic>
          <a:graphicData uri="http://schemas.openxmlformats.org/drawingml/2006/table">
            <a:tbl>
              <a:tblPr>
                <a:tableStyleId>{5C22544A-7EE6-4342-B048-85BDC9FD1C3A}</a:tableStyleId>
              </a:tblPr>
              <a:tblGrid>
                <a:gridCol w="3249347"/>
                <a:gridCol w="1439642"/>
                <a:gridCol w="1439642"/>
                <a:gridCol w="1439642"/>
                <a:gridCol w="1439642"/>
                <a:gridCol w="1439642"/>
                <a:gridCol w="1439642"/>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Organic</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819400"/>
            <a:ext cx="7286625"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28765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Flow, Product Type → Nature, 2036F (US$ Mn)</a:t>
            </a:r>
          </a:p>
        </p:txBody>
      </p:sp>
      <p:sp>
        <p:nvSpPr>
          <p:cNvPr id="16" name="Freeform 15"/>
          <p:cNvSpPr/>
          <p:nvPr/>
        </p:nvSpPr>
        <p:spPr>
          <a:xfrm>
            <a:off x="2057400" y="3143250"/>
            <a:ext cx="3743325" cy="1962150"/>
          </a:xfrm>
          <a:custGeom>
            <a:avLst/>
            <a:gdLst/>
            <a:ahLst/>
            <a:cxnLst/>
            <a:rect l="l" t="t" r="r" b="b"/>
            <a:pathLst>
              <a:path w="393" h="206">
                <a:moveTo>
                  <a:pt x="0" y="0"/>
                </a:moveTo>
                <a:lnTo>
                  <a:pt x="16" y="0"/>
                </a:lnTo>
                <a:lnTo>
                  <a:pt x="33" y="0"/>
                </a:lnTo>
                <a:lnTo>
                  <a:pt x="49" y="0"/>
                </a:lnTo>
                <a:lnTo>
                  <a:pt x="65" y="0"/>
                </a:lnTo>
                <a:lnTo>
                  <a:pt x="82" y="0"/>
                </a:lnTo>
                <a:lnTo>
                  <a:pt x="98" y="0"/>
                </a:lnTo>
                <a:lnTo>
                  <a:pt x="114" y="0"/>
                </a:lnTo>
                <a:lnTo>
                  <a:pt x="131" y="0"/>
                </a:lnTo>
                <a:lnTo>
                  <a:pt x="147" y="0"/>
                </a:lnTo>
                <a:lnTo>
                  <a:pt x="164" y="0"/>
                </a:lnTo>
                <a:lnTo>
                  <a:pt x="180" y="0"/>
                </a:lnTo>
                <a:lnTo>
                  <a:pt x="196" y="0"/>
                </a:lnTo>
                <a:lnTo>
                  <a:pt x="213" y="0"/>
                </a:lnTo>
                <a:lnTo>
                  <a:pt x="229" y="0"/>
                </a:lnTo>
                <a:lnTo>
                  <a:pt x="246" y="0"/>
                </a:lnTo>
                <a:lnTo>
                  <a:pt x="262" y="0"/>
                </a:lnTo>
                <a:lnTo>
                  <a:pt x="278" y="0"/>
                </a:lnTo>
                <a:lnTo>
                  <a:pt x="295" y="0"/>
                </a:lnTo>
                <a:lnTo>
                  <a:pt x="311" y="0"/>
                </a:lnTo>
                <a:lnTo>
                  <a:pt x="327" y="0"/>
                </a:lnTo>
                <a:lnTo>
                  <a:pt x="344" y="0"/>
                </a:lnTo>
                <a:lnTo>
                  <a:pt x="360" y="0"/>
                </a:lnTo>
                <a:lnTo>
                  <a:pt x="377" y="0"/>
                </a:lnTo>
                <a:lnTo>
                  <a:pt x="393" y="0"/>
                </a:lnTo>
                <a:lnTo>
                  <a:pt x="393" y="206"/>
                </a:lnTo>
                <a:lnTo>
                  <a:pt x="377" y="206"/>
                </a:lnTo>
                <a:lnTo>
                  <a:pt x="360" y="206"/>
                </a:lnTo>
                <a:lnTo>
                  <a:pt x="344" y="206"/>
                </a:lnTo>
                <a:lnTo>
                  <a:pt x="327" y="206"/>
                </a:lnTo>
                <a:lnTo>
                  <a:pt x="311" y="206"/>
                </a:lnTo>
                <a:lnTo>
                  <a:pt x="295" y="206"/>
                </a:lnTo>
                <a:lnTo>
                  <a:pt x="278" y="206"/>
                </a:lnTo>
                <a:lnTo>
                  <a:pt x="262" y="206"/>
                </a:lnTo>
                <a:lnTo>
                  <a:pt x="246" y="206"/>
                </a:lnTo>
                <a:lnTo>
                  <a:pt x="229" y="206"/>
                </a:lnTo>
                <a:lnTo>
                  <a:pt x="213" y="206"/>
                </a:lnTo>
                <a:lnTo>
                  <a:pt x="196" y="206"/>
                </a:lnTo>
                <a:lnTo>
                  <a:pt x="180" y="206"/>
                </a:lnTo>
                <a:lnTo>
                  <a:pt x="164" y="206"/>
                </a:lnTo>
                <a:lnTo>
                  <a:pt x="147" y="206"/>
                </a:lnTo>
                <a:lnTo>
                  <a:pt x="131" y="206"/>
                </a:lnTo>
                <a:lnTo>
                  <a:pt x="114" y="206"/>
                </a:lnTo>
                <a:lnTo>
                  <a:pt x="98" y="206"/>
                </a:lnTo>
                <a:lnTo>
                  <a:pt x="82" y="206"/>
                </a:lnTo>
                <a:lnTo>
                  <a:pt x="65" y="206"/>
                </a:lnTo>
                <a:lnTo>
                  <a:pt x="49" y="206"/>
                </a:lnTo>
                <a:lnTo>
                  <a:pt x="33" y="206"/>
                </a:lnTo>
                <a:lnTo>
                  <a:pt x="16" y="206"/>
                </a:lnTo>
                <a:lnTo>
                  <a:pt x="0" y="206"/>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5105400"/>
            <a:ext cx="3743325" cy="1314450"/>
          </a:xfrm>
          <a:custGeom>
            <a:avLst/>
            <a:gdLst/>
            <a:ahLst/>
            <a:cxnLst/>
            <a:rect l="l" t="t" r="r" b="b"/>
            <a:pathLst>
              <a:path w="393" h="138">
                <a:moveTo>
                  <a:pt x="0" y="0"/>
                </a:moveTo>
                <a:lnTo>
                  <a:pt x="16" y="1"/>
                </a:lnTo>
                <a:lnTo>
                  <a:pt x="33" y="1"/>
                </a:lnTo>
                <a:lnTo>
                  <a:pt x="49" y="2"/>
                </a:lnTo>
                <a:lnTo>
                  <a:pt x="65" y="3"/>
                </a:lnTo>
                <a:lnTo>
                  <a:pt x="82" y="4"/>
                </a:lnTo>
                <a:lnTo>
                  <a:pt x="98" y="5"/>
                </a:lnTo>
                <a:lnTo>
                  <a:pt x="114" y="7"/>
                </a:lnTo>
                <a:lnTo>
                  <a:pt x="131" y="8"/>
                </a:lnTo>
                <a:lnTo>
                  <a:pt x="147" y="10"/>
                </a:lnTo>
                <a:lnTo>
                  <a:pt x="164" y="12"/>
                </a:lnTo>
                <a:lnTo>
                  <a:pt x="180" y="14"/>
                </a:lnTo>
                <a:lnTo>
                  <a:pt x="196" y="15"/>
                </a:lnTo>
                <a:lnTo>
                  <a:pt x="213" y="17"/>
                </a:lnTo>
                <a:lnTo>
                  <a:pt x="229" y="19"/>
                </a:lnTo>
                <a:lnTo>
                  <a:pt x="246" y="21"/>
                </a:lnTo>
                <a:lnTo>
                  <a:pt x="262" y="23"/>
                </a:lnTo>
                <a:lnTo>
                  <a:pt x="278" y="24"/>
                </a:lnTo>
                <a:lnTo>
                  <a:pt x="295" y="26"/>
                </a:lnTo>
                <a:lnTo>
                  <a:pt x="311" y="27"/>
                </a:lnTo>
                <a:lnTo>
                  <a:pt x="327" y="28"/>
                </a:lnTo>
                <a:lnTo>
                  <a:pt x="344" y="29"/>
                </a:lnTo>
                <a:lnTo>
                  <a:pt x="360" y="30"/>
                </a:lnTo>
                <a:lnTo>
                  <a:pt x="377" y="30"/>
                </a:lnTo>
                <a:lnTo>
                  <a:pt x="393" y="30"/>
                </a:lnTo>
                <a:lnTo>
                  <a:pt x="393" y="138"/>
                </a:lnTo>
                <a:lnTo>
                  <a:pt x="377" y="138"/>
                </a:lnTo>
                <a:lnTo>
                  <a:pt x="360" y="138"/>
                </a:lnTo>
                <a:lnTo>
                  <a:pt x="344" y="137"/>
                </a:lnTo>
                <a:lnTo>
                  <a:pt x="327" y="136"/>
                </a:lnTo>
                <a:lnTo>
                  <a:pt x="311" y="135"/>
                </a:lnTo>
                <a:lnTo>
                  <a:pt x="295" y="134"/>
                </a:lnTo>
                <a:lnTo>
                  <a:pt x="278" y="132"/>
                </a:lnTo>
                <a:lnTo>
                  <a:pt x="262" y="130"/>
                </a:lnTo>
                <a:lnTo>
                  <a:pt x="246" y="129"/>
                </a:lnTo>
                <a:lnTo>
                  <a:pt x="229" y="127"/>
                </a:lnTo>
                <a:lnTo>
                  <a:pt x="213" y="125"/>
                </a:lnTo>
                <a:lnTo>
                  <a:pt x="196" y="123"/>
                </a:lnTo>
                <a:lnTo>
                  <a:pt x="180" y="121"/>
                </a:lnTo>
                <a:lnTo>
                  <a:pt x="164" y="120"/>
                </a:lnTo>
                <a:lnTo>
                  <a:pt x="147" y="118"/>
                </a:lnTo>
                <a:lnTo>
                  <a:pt x="131" y="116"/>
                </a:lnTo>
                <a:lnTo>
                  <a:pt x="114" y="114"/>
                </a:lnTo>
                <a:lnTo>
                  <a:pt x="98" y="113"/>
                </a:lnTo>
                <a:lnTo>
                  <a:pt x="82" y="112"/>
                </a:lnTo>
                <a:lnTo>
                  <a:pt x="65" y="111"/>
                </a:lnTo>
                <a:lnTo>
                  <a:pt x="49" y="110"/>
                </a:lnTo>
                <a:lnTo>
                  <a:pt x="33" y="109"/>
                </a:lnTo>
                <a:lnTo>
                  <a:pt x="16" y="108"/>
                </a:lnTo>
                <a:lnTo>
                  <a:pt x="0" y="108"/>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5105400"/>
            <a:ext cx="3743325" cy="1314450"/>
          </a:xfrm>
          <a:custGeom>
            <a:avLst/>
            <a:gdLst/>
            <a:ahLst/>
            <a:cxnLst/>
            <a:rect l="l" t="t" r="r" b="b"/>
            <a:pathLst>
              <a:path w="393" h="138">
                <a:moveTo>
                  <a:pt x="0" y="114"/>
                </a:moveTo>
                <a:lnTo>
                  <a:pt x="16" y="114"/>
                </a:lnTo>
                <a:lnTo>
                  <a:pt x="33" y="112"/>
                </a:lnTo>
                <a:lnTo>
                  <a:pt x="49" y="109"/>
                </a:lnTo>
                <a:lnTo>
                  <a:pt x="65" y="106"/>
                </a:lnTo>
                <a:lnTo>
                  <a:pt x="82" y="102"/>
                </a:lnTo>
                <a:lnTo>
                  <a:pt x="98" y="97"/>
                </a:lnTo>
                <a:lnTo>
                  <a:pt x="114" y="91"/>
                </a:lnTo>
                <a:lnTo>
                  <a:pt x="131" y="85"/>
                </a:lnTo>
                <a:lnTo>
                  <a:pt x="147" y="78"/>
                </a:lnTo>
                <a:lnTo>
                  <a:pt x="164" y="71"/>
                </a:lnTo>
                <a:lnTo>
                  <a:pt x="180" y="64"/>
                </a:lnTo>
                <a:lnTo>
                  <a:pt x="196" y="57"/>
                </a:lnTo>
                <a:lnTo>
                  <a:pt x="213" y="50"/>
                </a:lnTo>
                <a:lnTo>
                  <a:pt x="229" y="43"/>
                </a:lnTo>
                <a:lnTo>
                  <a:pt x="246" y="36"/>
                </a:lnTo>
                <a:lnTo>
                  <a:pt x="262" y="30"/>
                </a:lnTo>
                <a:lnTo>
                  <a:pt x="278" y="24"/>
                </a:lnTo>
                <a:lnTo>
                  <a:pt x="295" y="18"/>
                </a:lnTo>
                <a:lnTo>
                  <a:pt x="311" y="13"/>
                </a:lnTo>
                <a:lnTo>
                  <a:pt x="327" y="9"/>
                </a:lnTo>
                <a:lnTo>
                  <a:pt x="344" y="5"/>
                </a:lnTo>
                <a:lnTo>
                  <a:pt x="360" y="3"/>
                </a:lnTo>
                <a:lnTo>
                  <a:pt x="377" y="1"/>
                </a:lnTo>
                <a:lnTo>
                  <a:pt x="393" y="0"/>
                </a:lnTo>
                <a:lnTo>
                  <a:pt x="393" y="24"/>
                </a:lnTo>
                <a:lnTo>
                  <a:pt x="377" y="25"/>
                </a:lnTo>
                <a:lnTo>
                  <a:pt x="360" y="27"/>
                </a:lnTo>
                <a:lnTo>
                  <a:pt x="344" y="29"/>
                </a:lnTo>
                <a:lnTo>
                  <a:pt x="327" y="33"/>
                </a:lnTo>
                <a:lnTo>
                  <a:pt x="311" y="37"/>
                </a:lnTo>
                <a:lnTo>
                  <a:pt x="295" y="42"/>
                </a:lnTo>
                <a:lnTo>
                  <a:pt x="278" y="48"/>
                </a:lnTo>
                <a:lnTo>
                  <a:pt x="262" y="54"/>
                </a:lnTo>
                <a:lnTo>
                  <a:pt x="246" y="60"/>
                </a:lnTo>
                <a:lnTo>
                  <a:pt x="229" y="67"/>
                </a:lnTo>
                <a:lnTo>
                  <a:pt x="213" y="74"/>
                </a:lnTo>
                <a:lnTo>
                  <a:pt x="196" y="81"/>
                </a:lnTo>
                <a:lnTo>
                  <a:pt x="180" y="88"/>
                </a:lnTo>
                <a:lnTo>
                  <a:pt x="164" y="95"/>
                </a:lnTo>
                <a:lnTo>
                  <a:pt x="147" y="102"/>
                </a:lnTo>
                <a:lnTo>
                  <a:pt x="131" y="109"/>
                </a:lnTo>
                <a:lnTo>
                  <a:pt x="114" y="115"/>
                </a:lnTo>
                <a:lnTo>
                  <a:pt x="98" y="120"/>
                </a:lnTo>
                <a:lnTo>
                  <a:pt x="82" y="125"/>
                </a:lnTo>
                <a:lnTo>
                  <a:pt x="65" y="130"/>
                </a:lnTo>
                <a:lnTo>
                  <a:pt x="49" y="133"/>
                </a:lnTo>
                <a:lnTo>
                  <a:pt x="33" y="136"/>
                </a:lnTo>
                <a:lnTo>
                  <a:pt x="16" y="138"/>
                </a:lnTo>
                <a:lnTo>
                  <a:pt x="0" y="13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6419850"/>
            <a:ext cx="3743325" cy="114300"/>
          </a:xfrm>
          <a:custGeom>
            <a:avLst/>
            <a:gdLst/>
            <a:ahLst/>
            <a:cxnLst/>
            <a:rect l="l" t="t" r="r" b="b"/>
            <a:pathLst>
              <a:path w="393" h="12">
                <a:moveTo>
                  <a:pt x="0" y="0"/>
                </a:moveTo>
                <a:lnTo>
                  <a:pt x="16" y="0"/>
                </a:lnTo>
                <a:lnTo>
                  <a:pt x="33" y="0"/>
                </a:lnTo>
                <a:lnTo>
                  <a:pt x="49" y="0"/>
                </a:lnTo>
                <a:lnTo>
                  <a:pt x="65" y="0"/>
                </a:lnTo>
                <a:lnTo>
                  <a:pt x="82" y="0"/>
                </a:lnTo>
                <a:lnTo>
                  <a:pt x="98" y="0"/>
                </a:lnTo>
                <a:lnTo>
                  <a:pt x="114" y="0"/>
                </a:lnTo>
                <a:lnTo>
                  <a:pt x="131" y="0"/>
                </a:lnTo>
                <a:lnTo>
                  <a:pt x="147" y="0"/>
                </a:lnTo>
                <a:lnTo>
                  <a:pt x="164" y="0"/>
                </a:lnTo>
                <a:lnTo>
                  <a:pt x="180" y="0"/>
                </a:lnTo>
                <a:lnTo>
                  <a:pt x="196" y="0"/>
                </a:lnTo>
                <a:lnTo>
                  <a:pt x="213" y="0"/>
                </a:lnTo>
                <a:lnTo>
                  <a:pt x="229" y="0"/>
                </a:lnTo>
                <a:lnTo>
                  <a:pt x="246" y="0"/>
                </a:lnTo>
                <a:lnTo>
                  <a:pt x="262" y="0"/>
                </a:lnTo>
                <a:lnTo>
                  <a:pt x="278" y="0"/>
                </a:lnTo>
                <a:lnTo>
                  <a:pt x="295" y="0"/>
                </a:lnTo>
                <a:lnTo>
                  <a:pt x="311" y="0"/>
                </a:lnTo>
                <a:lnTo>
                  <a:pt x="327" y="0"/>
                </a:lnTo>
                <a:lnTo>
                  <a:pt x="344" y="0"/>
                </a:lnTo>
                <a:lnTo>
                  <a:pt x="360" y="0"/>
                </a:lnTo>
                <a:lnTo>
                  <a:pt x="377" y="0"/>
                </a:lnTo>
                <a:lnTo>
                  <a:pt x="393" y="0"/>
                </a:lnTo>
                <a:lnTo>
                  <a:pt x="393" y="12"/>
                </a:lnTo>
                <a:lnTo>
                  <a:pt x="377" y="12"/>
                </a:lnTo>
                <a:lnTo>
                  <a:pt x="360" y="12"/>
                </a:lnTo>
                <a:lnTo>
                  <a:pt x="344" y="12"/>
                </a:lnTo>
                <a:lnTo>
                  <a:pt x="327" y="12"/>
                </a:lnTo>
                <a:lnTo>
                  <a:pt x="311" y="12"/>
                </a:lnTo>
                <a:lnTo>
                  <a:pt x="295" y="12"/>
                </a:lnTo>
                <a:lnTo>
                  <a:pt x="278" y="12"/>
                </a:lnTo>
                <a:lnTo>
                  <a:pt x="262" y="12"/>
                </a:lnTo>
                <a:lnTo>
                  <a:pt x="246" y="12"/>
                </a:lnTo>
                <a:lnTo>
                  <a:pt x="229" y="12"/>
                </a:lnTo>
                <a:lnTo>
                  <a:pt x="213" y="12"/>
                </a:lnTo>
                <a:lnTo>
                  <a:pt x="196" y="12"/>
                </a:lnTo>
                <a:lnTo>
                  <a:pt x="180" y="12"/>
                </a:lnTo>
                <a:lnTo>
                  <a:pt x="164" y="12"/>
                </a:lnTo>
                <a:lnTo>
                  <a:pt x="147" y="12"/>
                </a:lnTo>
                <a:lnTo>
                  <a:pt x="131" y="12"/>
                </a:lnTo>
                <a:lnTo>
                  <a:pt x="114" y="12"/>
                </a:lnTo>
                <a:lnTo>
                  <a:pt x="98" y="12"/>
                </a:lnTo>
                <a:lnTo>
                  <a:pt x="82" y="12"/>
                </a:lnTo>
                <a:lnTo>
                  <a:pt x="65" y="12"/>
                </a:lnTo>
                <a:lnTo>
                  <a:pt x="49" y="12"/>
                </a:lnTo>
                <a:lnTo>
                  <a:pt x="33" y="12"/>
                </a:lnTo>
                <a:lnTo>
                  <a:pt x="16" y="12"/>
                </a:lnTo>
                <a:lnTo>
                  <a:pt x="0" y="1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941195" y="3143250"/>
            <a:ext cx="114300" cy="2993953"/>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941195" y="6194353"/>
            <a:ext cx="114300" cy="339797"/>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Rectangle 21"/>
          <p:cNvSpPr/>
          <p:nvPr/>
        </p:nvSpPr>
        <p:spPr>
          <a:xfrm>
            <a:off x="5800725" y="3143250"/>
            <a:ext cx="114300" cy="219378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5800725" y="5394189"/>
            <a:ext cx="114300" cy="113996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57175" y="4568789"/>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25" name="TextBox 24"/>
          <p:cNvSpPr txBox="1"/>
          <p:nvPr/>
        </p:nvSpPr>
        <p:spPr>
          <a:xfrm>
            <a:off x="257175" y="6292814"/>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26" name="TextBox 25"/>
          <p:cNvSpPr txBox="1"/>
          <p:nvPr/>
        </p:nvSpPr>
        <p:spPr>
          <a:xfrm>
            <a:off x="5972175" y="4168707"/>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27" name="TextBox 26"/>
          <p:cNvSpPr txBox="1"/>
          <p:nvPr/>
        </p:nvSpPr>
        <p:spPr>
          <a:xfrm>
            <a:off x="5972175" y="5892732"/>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28" name="Rounded Rectangle 27"/>
          <p:cNvSpPr/>
          <p:nvPr/>
        </p:nvSpPr>
        <p:spPr>
          <a:xfrm>
            <a:off x="7581900" y="2819400"/>
            <a:ext cx="4457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715250" y="2905125"/>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30" name="Rectangle 29"/>
          <p:cNvSpPr/>
          <p:nvPr/>
        </p:nvSpPr>
        <p:spPr>
          <a:xfrm>
            <a:off x="7715250" y="3143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715250" y="3228975"/>
            <a:ext cx="4191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4"/>
          <a:stretch>
            <a:fillRect/>
          </a:stretch>
        </p:blipFill>
        <p:spPr>
          <a:xfrm>
            <a:off x="7536995" y="1842057"/>
            <a:ext cx="360794" cy="524791"/>
          </a:xfrm>
          <a:prstGeom prst="rect">
            <a:avLst/>
          </a:prstGeom>
        </p:spPr>
      </p:pic>
      <p:sp>
        <p:nvSpPr>
          <p:cNvPr id="34" name="TextBox 33"/>
          <p:cNvSpPr txBox="1"/>
          <p:nvPr/>
        </p:nvSpPr>
        <p:spPr>
          <a:xfrm>
            <a:off x="1262568" y="4579876"/>
            <a:ext cx="567725" cy="139750"/>
          </a:xfrm>
          <a:prstGeom prst="rect">
            <a:avLst/>
          </a:prstGeom>
          <a:noFill/>
        </p:spPr>
        <p:txBody>
          <a:bodyPr wrap="none" lIns="0" rIns="0" tIns="0" bIns="0">
            <a:spAutoFit/>
          </a:bodyPr>
          <a:lstStyle/>
          <a:p>
            <a:r>
              <a:rPr sz="791" b="1">
                <a:solidFill>
                  <a:srgbClr val="2E2E2E"/>
                </a:solidFill>
                <a:latin typeface="Calibri"/>
              </a:rPr>
              <a:t>Matcha Tea</a:t>
            </a:r>
          </a:p>
        </p:txBody>
      </p:sp>
      <p:pic>
        <p:nvPicPr>
          <p:cNvPr id="35" name="Picture 34" descr="lock.png"/>
          <p:cNvPicPr>
            <a:picLocks noChangeAspect="1"/>
          </p:cNvPicPr>
          <p:nvPr/>
        </p:nvPicPr>
        <p:blipFill>
          <a:blip r:embed="rId4"/>
          <a:stretch>
            <a:fillRect/>
          </a:stretch>
        </p:blipFill>
        <p:spPr>
          <a:xfrm>
            <a:off x="1771555" y="4572835"/>
            <a:ext cx="92663" cy="134782"/>
          </a:xfrm>
          <a:prstGeom prst="rect">
            <a:avLst/>
          </a:prstGeom>
        </p:spPr>
      </p:pic>
      <p:sp>
        <p:nvSpPr>
          <p:cNvPr id="36" name="TextBox 35"/>
          <p:cNvSpPr txBox="1"/>
          <p:nvPr/>
        </p:nvSpPr>
        <p:spPr>
          <a:xfrm>
            <a:off x="1089690" y="6303901"/>
            <a:ext cx="740604" cy="139750"/>
          </a:xfrm>
          <a:prstGeom prst="rect">
            <a:avLst/>
          </a:prstGeom>
          <a:noFill/>
        </p:spPr>
        <p:txBody>
          <a:bodyPr wrap="none" lIns="0" rIns="0" tIns="0" bIns="0">
            <a:spAutoFit/>
          </a:bodyPr>
          <a:lstStyle/>
          <a:p>
            <a:r>
              <a:rPr sz="791" b="1">
                <a:solidFill>
                  <a:srgbClr val="2E2E2E"/>
                </a:solidFill>
                <a:latin typeface="Calibri"/>
              </a:rPr>
              <a:t>Matcha Powder</a:t>
            </a:r>
          </a:p>
        </p:txBody>
      </p:sp>
      <p:pic>
        <p:nvPicPr>
          <p:cNvPr id="37" name="Picture 36" descr="lock.png"/>
          <p:cNvPicPr>
            <a:picLocks noChangeAspect="1"/>
          </p:cNvPicPr>
          <p:nvPr/>
        </p:nvPicPr>
        <p:blipFill>
          <a:blip r:embed="rId4"/>
          <a:stretch>
            <a:fillRect/>
          </a:stretch>
        </p:blipFill>
        <p:spPr>
          <a:xfrm>
            <a:off x="1771555" y="6296860"/>
            <a:ext cx="92663" cy="134782"/>
          </a:xfrm>
          <a:prstGeom prst="rect">
            <a:avLst/>
          </a:prstGeom>
        </p:spPr>
      </p:pic>
      <p:sp>
        <p:nvSpPr>
          <p:cNvPr id="38" name="TextBox 37"/>
          <p:cNvSpPr txBox="1"/>
          <p:nvPr/>
        </p:nvSpPr>
        <p:spPr>
          <a:xfrm>
            <a:off x="5972175" y="4179794"/>
            <a:ext cx="398186" cy="139750"/>
          </a:xfrm>
          <a:prstGeom prst="rect">
            <a:avLst/>
          </a:prstGeom>
          <a:noFill/>
        </p:spPr>
        <p:txBody>
          <a:bodyPr wrap="none" lIns="0" rIns="0" tIns="0" bIns="0">
            <a:spAutoFit/>
          </a:bodyPr>
          <a:lstStyle/>
          <a:p>
            <a:r>
              <a:rPr sz="791" b="1">
                <a:solidFill>
                  <a:srgbClr val="2E2E2E"/>
                </a:solidFill>
                <a:latin typeface="Calibri"/>
              </a:rPr>
              <a:t>Organic</a:t>
            </a:r>
          </a:p>
        </p:txBody>
      </p:sp>
      <p:pic>
        <p:nvPicPr>
          <p:cNvPr id="39" name="Picture 38" descr="lock.png"/>
          <p:cNvPicPr>
            <a:picLocks noChangeAspect="1"/>
          </p:cNvPicPr>
          <p:nvPr/>
        </p:nvPicPr>
        <p:blipFill>
          <a:blip r:embed="rId4"/>
          <a:stretch>
            <a:fillRect/>
          </a:stretch>
        </p:blipFill>
        <p:spPr>
          <a:xfrm>
            <a:off x="6311622" y="4172753"/>
            <a:ext cx="92663" cy="134782"/>
          </a:xfrm>
          <a:prstGeom prst="rect">
            <a:avLst/>
          </a:prstGeom>
        </p:spPr>
      </p:pic>
      <p:sp>
        <p:nvSpPr>
          <p:cNvPr id="40" name="TextBox 39"/>
          <p:cNvSpPr txBox="1"/>
          <p:nvPr/>
        </p:nvSpPr>
        <p:spPr>
          <a:xfrm>
            <a:off x="5972175" y="5903819"/>
            <a:ext cx="631965" cy="139750"/>
          </a:xfrm>
          <a:prstGeom prst="rect">
            <a:avLst/>
          </a:prstGeom>
          <a:noFill/>
        </p:spPr>
        <p:txBody>
          <a:bodyPr wrap="none" lIns="0" rIns="0" tIns="0" bIns="0">
            <a:spAutoFit/>
          </a:bodyPr>
          <a:lstStyle/>
          <a:p>
            <a:r>
              <a:rPr sz="791" b="1">
                <a:solidFill>
                  <a:srgbClr val="2E2E2E"/>
                </a:solidFill>
                <a:latin typeface="Calibri"/>
              </a:rPr>
              <a:t>Conventional</a:t>
            </a:r>
          </a:p>
        </p:txBody>
      </p:sp>
      <p:pic>
        <p:nvPicPr>
          <p:cNvPr id="41" name="Picture 40" descr="lock.png"/>
          <p:cNvPicPr>
            <a:picLocks noChangeAspect="1"/>
          </p:cNvPicPr>
          <p:nvPr/>
        </p:nvPicPr>
        <p:blipFill>
          <a:blip r:embed="rId4"/>
          <a:stretch>
            <a:fillRect/>
          </a:stretch>
        </p:blipFill>
        <p:spPr>
          <a:xfrm>
            <a:off x="6545402" y="5896778"/>
            <a:ext cx="92663" cy="134782"/>
          </a:xfrm>
          <a:prstGeom prst="rect">
            <a:avLst/>
          </a:prstGeom>
        </p:spPr>
      </p:pic>
      <p:sp>
        <p:nvSpPr>
          <p:cNvPr id="42" name="TextBox 41"/>
          <p:cNvSpPr txBox="1"/>
          <p:nvPr/>
        </p:nvSpPr>
        <p:spPr>
          <a:xfrm>
            <a:off x="7715250" y="3238500"/>
            <a:ext cx="4083446" cy="194310"/>
          </a:xfrm>
          <a:prstGeom prst="rect">
            <a:avLst/>
          </a:prstGeom>
          <a:noFill/>
        </p:spPr>
        <p:txBody>
          <a:bodyPr wrap="none" lIns="0" rIns="0" tIns="0" bIns="0">
            <a:spAutoFit/>
          </a:bodyPr>
          <a:lstStyle/>
          <a:p>
            <a:r>
              <a:rPr sz="1150" b="0">
                <a:solidFill>
                  <a:srgbClr val="2E2E2E"/>
                </a:solidFill>
                <a:latin typeface="Calibri"/>
              </a:rPr>
              <a:t>Matcha tea segment is projected to account for the largest share of</a:t>
            </a:r>
          </a:p>
        </p:txBody>
      </p:sp>
      <p:sp>
        <p:nvSpPr>
          <p:cNvPr id="43" name="TextBox 42"/>
          <p:cNvSpPr txBox="1"/>
          <p:nvPr/>
        </p:nvSpPr>
        <p:spPr>
          <a:xfrm>
            <a:off x="7715250" y="3413760"/>
            <a:ext cx="2924745" cy="194310"/>
          </a:xfrm>
          <a:prstGeom prst="rect">
            <a:avLst/>
          </a:prstGeom>
          <a:noFill/>
        </p:spPr>
        <p:txBody>
          <a:bodyPr wrap="none" lIns="0" rIns="0" tIns="0" bIns="0">
            <a:spAutoFit/>
          </a:bodyPr>
          <a:lstStyle/>
          <a:p>
            <a:r>
              <a:rPr sz="1150" b="0">
                <a:solidFill>
                  <a:srgbClr val="2E2E2E"/>
                </a:solidFill>
                <a:latin typeface="Calibri"/>
              </a:rPr>
              <a:t>the global matcha market, led by organic at US$</a:t>
            </a:r>
          </a:p>
        </p:txBody>
      </p:sp>
      <p:pic>
        <p:nvPicPr>
          <p:cNvPr id="44" name="Picture 43" descr="lock.png"/>
          <p:cNvPicPr>
            <a:picLocks noChangeAspect="1"/>
          </p:cNvPicPr>
          <p:nvPr/>
        </p:nvPicPr>
        <p:blipFill>
          <a:blip r:embed="rId4"/>
          <a:stretch>
            <a:fillRect/>
          </a:stretch>
        </p:blipFill>
        <p:spPr>
          <a:xfrm>
            <a:off x="10589149" y="3403536"/>
            <a:ext cx="134549" cy="195707"/>
          </a:xfrm>
          <a:prstGeom prst="rect">
            <a:avLst/>
          </a:prstGeom>
        </p:spPr>
      </p:pic>
      <p:sp>
        <p:nvSpPr>
          <p:cNvPr id="45" name="TextBox 44"/>
          <p:cNvSpPr txBox="1"/>
          <p:nvPr/>
        </p:nvSpPr>
        <p:spPr>
          <a:xfrm>
            <a:off x="10764258" y="3413760"/>
            <a:ext cx="787908" cy="194310"/>
          </a:xfrm>
          <a:prstGeom prst="rect">
            <a:avLst/>
          </a:prstGeom>
          <a:noFill/>
        </p:spPr>
        <p:txBody>
          <a:bodyPr wrap="none" lIns="0" rIns="0" tIns="0" bIns="0">
            <a:spAutoFit/>
          </a:bodyPr>
          <a:lstStyle/>
          <a:p>
            <a:r>
              <a:rPr sz="1150" b="0">
                <a:solidFill>
                  <a:srgbClr val="2E2E2E"/>
                </a:solidFill>
                <a:latin typeface="Calibri"/>
              </a:rPr>
              <a:t>Mn in 2036.</a:t>
            </a:r>
          </a:p>
        </p:txBody>
      </p:sp>
      <p:sp>
        <p:nvSpPr>
          <p:cNvPr id="46" name="TextBox 45"/>
          <p:cNvSpPr txBox="1"/>
          <p:nvPr/>
        </p:nvSpPr>
        <p:spPr>
          <a:xfrm>
            <a:off x="7715250" y="3589019"/>
            <a:ext cx="3830141" cy="194310"/>
          </a:xfrm>
          <a:prstGeom prst="rect">
            <a:avLst/>
          </a:prstGeom>
          <a:noFill/>
        </p:spPr>
        <p:txBody>
          <a:bodyPr wrap="none" lIns="0" rIns="0" tIns="0" bIns="0">
            <a:spAutoFit/>
          </a:bodyPr>
          <a:lstStyle/>
          <a:p>
            <a:r>
              <a:rPr sz="1150" b="0">
                <a:solidFill>
                  <a:srgbClr val="2E2E2E"/>
                </a:solidFill>
                <a:latin typeface="Calibri"/>
              </a:rPr>
              <a:t>'Matcha Tea × Organic' is the single largest cross-sectional cell (</a:t>
            </a:r>
          </a:p>
        </p:txBody>
      </p:sp>
      <p:pic>
        <p:nvPicPr>
          <p:cNvPr id="47" name="Picture 46" descr="lock.png"/>
          <p:cNvPicPr>
            <a:picLocks noChangeAspect="1"/>
          </p:cNvPicPr>
          <p:nvPr/>
        </p:nvPicPr>
        <p:blipFill>
          <a:blip r:embed="rId4"/>
          <a:stretch>
            <a:fillRect/>
          </a:stretch>
        </p:blipFill>
        <p:spPr>
          <a:xfrm>
            <a:off x="11494545" y="3578796"/>
            <a:ext cx="134549" cy="195707"/>
          </a:xfrm>
          <a:prstGeom prst="rect">
            <a:avLst/>
          </a:prstGeom>
        </p:spPr>
      </p:pic>
      <p:sp>
        <p:nvSpPr>
          <p:cNvPr id="48" name="TextBox 47"/>
          <p:cNvSpPr txBox="1"/>
          <p:nvPr/>
        </p:nvSpPr>
        <p:spPr>
          <a:xfrm>
            <a:off x="7715250" y="3764279"/>
            <a:ext cx="4097424" cy="194310"/>
          </a:xfrm>
          <a:prstGeom prst="rect">
            <a:avLst/>
          </a:prstGeom>
          <a:noFill/>
        </p:spPr>
        <p:txBody>
          <a:bodyPr wrap="none" lIns="0" rIns="0" tIns="0" bIns="0">
            <a:spAutoFit/>
          </a:bodyPr>
          <a:lstStyle/>
          <a:p>
            <a:r>
              <a:rPr sz="1150" b="0">
                <a:solidFill>
                  <a:srgbClr val="2E2E2E"/>
                </a:solidFill>
                <a:latin typeface="Calibri"/>
              </a:rPr>
              <a:t>US$ Mn, 2026E), while 'Matcha Powder × Conventional' records the</a:t>
            </a:r>
          </a:p>
        </p:txBody>
      </p:sp>
      <p:sp>
        <p:nvSpPr>
          <p:cNvPr id="49" name="TextBox 48"/>
          <p:cNvSpPr txBox="1"/>
          <p:nvPr/>
        </p:nvSpPr>
        <p:spPr>
          <a:xfrm>
            <a:off x="7715250" y="3939539"/>
            <a:ext cx="1712113" cy="194310"/>
          </a:xfrm>
          <a:prstGeom prst="rect">
            <a:avLst/>
          </a:prstGeom>
          <a:noFill/>
        </p:spPr>
        <p:txBody>
          <a:bodyPr wrap="none" lIns="0" rIns="0" tIns="0" bIns="0">
            <a:spAutoFit/>
          </a:bodyPr>
          <a:lstStyle/>
          <a:p>
            <a:r>
              <a:rPr sz="1150" b="0">
                <a:solidFill>
                  <a:srgbClr val="2E2E2E"/>
                </a:solidFill>
                <a:latin typeface="Calibri"/>
              </a:rPr>
              <a:t>fastest growth at a CAGR of</a:t>
            </a:r>
          </a:p>
        </p:txBody>
      </p:sp>
      <p:pic>
        <p:nvPicPr>
          <p:cNvPr id="50" name="Picture 49" descr="lock.png"/>
          <p:cNvPicPr>
            <a:picLocks noChangeAspect="1"/>
          </p:cNvPicPr>
          <p:nvPr/>
        </p:nvPicPr>
        <p:blipFill>
          <a:blip r:embed="rId4"/>
          <a:stretch>
            <a:fillRect/>
          </a:stretch>
        </p:blipFill>
        <p:spPr>
          <a:xfrm>
            <a:off x="9376517" y="3929316"/>
            <a:ext cx="134549" cy="195707"/>
          </a:xfrm>
          <a:prstGeom prst="rect">
            <a:avLst/>
          </a:prstGeom>
        </p:spPr>
      </p:pic>
      <p:sp>
        <p:nvSpPr>
          <p:cNvPr id="51" name="TextBox 50"/>
          <p:cNvSpPr txBox="1"/>
          <p:nvPr/>
        </p:nvSpPr>
        <p:spPr>
          <a:xfrm>
            <a:off x="9551626" y="3939539"/>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52" name="TextBox 51"/>
          <p:cNvSpPr txBox="1"/>
          <p:nvPr/>
        </p:nvSpPr>
        <p:spPr>
          <a:xfrm>
            <a:off x="7715250" y="4167377"/>
            <a:ext cx="3917714" cy="194310"/>
          </a:xfrm>
          <a:prstGeom prst="rect">
            <a:avLst/>
          </a:prstGeom>
          <a:noFill/>
        </p:spPr>
        <p:txBody>
          <a:bodyPr wrap="none" lIns="0" rIns="0" tIns="0" bIns="0">
            <a:spAutoFit/>
          </a:bodyPr>
          <a:lstStyle/>
          <a:p>
            <a:r>
              <a:rPr sz="1150" b="0">
                <a:solidFill>
                  <a:srgbClr val="2E2E2E"/>
                </a:solidFill>
                <a:latin typeface="Calibri"/>
              </a:rPr>
              <a:t>Combined, the top three product type × nature cells generate an</a:t>
            </a:r>
          </a:p>
        </p:txBody>
      </p:sp>
      <p:sp>
        <p:nvSpPr>
          <p:cNvPr id="53" name="TextBox 52"/>
          <p:cNvSpPr txBox="1"/>
          <p:nvPr/>
        </p:nvSpPr>
        <p:spPr>
          <a:xfrm>
            <a:off x="7715250" y="4342637"/>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54" name="Picture 53" descr="lock.png"/>
          <p:cNvPicPr>
            <a:picLocks noChangeAspect="1"/>
          </p:cNvPicPr>
          <p:nvPr/>
        </p:nvPicPr>
        <p:blipFill>
          <a:blip r:embed="rId4"/>
          <a:stretch>
            <a:fillRect/>
          </a:stretch>
        </p:blipFill>
        <p:spPr>
          <a:xfrm>
            <a:off x="9258439" y="4332414"/>
            <a:ext cx="134549" cy="195707"/>
          </a:xfrm>
          <a:prstGeom prst="rect">
            <a:avLst/>
          </a:prstGeom>
        </p:spPr>
      </p:pic>
      <p:sp>
        <p:nvSpPr>
          <p:cNvPr id="55" name="TextBox 54"/>
          <p:cNvSpPr txBox="1"/>
          <p:nvPr/>
        </p:nvSpPr>
        <p:spPr>
          <a:xfrm>
            <a:off x="9433549" y="434263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Product Type × Nature,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nature sub-segments</a:t>
            </a:r>
          </a:p>
        </p:txBody>
      </p:sp>
      <p:sp>
        <p:nvSpPr>
          <p:cNvPr id="10" name="Rounded Rectangle 9"/>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Product Type × Nature, 2026E (% of each row)</a:t>
            </a:r>
          </a:p>
        </p:txBody>
      </p:sp>
      <p:graphicFrame>
        <p:nvGraphicFramePr>
          <p:cNvPr id="12" name="Table 11"/>
          <p:cNvGraphicFramePr>
            <a:graphicFrameLocks noGrp="1"/>
          </p:cNvGraphicFramePr>
          <p:nvPr/>
        </p:nvGraphicFramePr>
        <p:xfrm>
          <a:off x="152400" y="1238250"/>
          <a:ext cx="11887199" cy="990600"/>
        </p:xfrm>
        <a:graphic>
          <a:graphicData uri="http://schemas.openxmlformats.org/drawingml/2006/table">
            <a:tbl>
              <a:tblPr>
                <a:tableStyleId>{5C22544A-7EE6-4342-B048-85BDC9FD1C3A}</a:tableStyleId>
              </a:tblPr>
              <a:tblGrid>
                <a:gridCol w="3342581"/>
                <a:gridCol w="2848206"/>
                <a:gridCol w="2848206"/>
                <a:gridCol w="2848206"/>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Organic</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Conventional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571750"/>
            <a:ext cx="7286625"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26289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Nature Mix by Product Type, 2026E (% share)</a:t>
            </a:r>
          </a:p>
        </p:txBody>
      </p:sp>
      <p:graphicFrame>
        <p:nvGraphicFramePr>
          <p:cNvPr id="16" name="Chart 15"/>
          <p:cNvGraphicFramePr>
            <a:graphicFrameLocks noGrp="1"/>
          </p:cNvGraphicFramePr>
          <p:nvPr/>
        </p:nvGraphicFramePr>
        <p:xfrm>
          <a:off x="238125" y="2857500"/>
          <a:ext cx="7096125" cy="3714750"/>
        </p:xfrm>
        <a:graphic>
          <a:graphicData uri="http://schemas.openxmlformats.org/drawingml/2006/chart">
            <c:chart xmlns:c="http://schemas.openxmlformats.org/drawingml/2006/chart" r:id="rId3"/>
          </a:graphicData>
        </a:graphic>
      </p:graphicFrame>
      <p:sp>
        <p:nvSpPr>
          <p:cNvPr id="17" name="Rounded Rectangle 16"/>
          <p:cNvSpPr/>
          <p:nvPr/>
        </p:nvSpPr>
        <p:spPr>
          <a:xfrm>
            <a:off x="7581900" y="2571750"/>
            <a:ext cx="445770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7715250" y="26574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9" name="Rectangle 18"/>
          <p:cNvSpPr/>
          <p:nvPr/>
        </p:nvSpPr>
        <p:spPr>
          <a:xfrm>
            <a:off x="7715250" y="28956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7715250" y="2981325"/>
            <a:ext cx="419100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5"/>
          <a:stretch>
            <a:fillRect/>
          </a:stretch>
        </p:blipFill>
        <p:spPr>
          <a:xfrm>
            <a:off x="7584560" y="1595570"/>
            <a:ext cx="358933" cy="522085"/>
          </a:xfrm>
          <a:prstGeom prst="rect">
            <a:avLst/>
          </a:prstGeom>
        </p:spPr>
      </p:pic>
      <p:pic>
        <p:nvPicPr>
          <p:cNvPr id="23" name="Picture 22" descr="lock.png"/>
          <p:cNvPicPr>
            <a:picLocks noChangeAspect="1"/>
          </p:cNvPicPr>
          <p:nvPr/>
        </p:nvPicPr>
        <p:blipFill>
          <a:blip r:embed="rId5"/>
          <a:stretch>
            <a:fillRect/>
          </a:stretch>
        </p:blipFill>
        <p:spPr>
          <a:xfrm>
            <a:off x="3709408" y="3701240"/>
            <a:ext cx="440818" cy="641190"/>
          </a:xfrm>
          <a:prstGeom prst="rect">
            <a:avLst/>
          </a:prstGeom>
        </p:spPr>
      </p:pic>
      <p:sp>
        <p:nvSpPr>
          <p:cNvPr id="24" name="TextBox 23"/>
          <p:cNvSpPr txBox="1"/>
          <p:nvPr/>
        </p:nvSpPr>
        <p:spPr>
          <a:xfrm>
            <a:off x="7715250" y="2990850"/>
            <a:ext cx="3445619" cy="194310"/>
          </a:xfrm>
          <a:prstGeom prst="rect">
            <a:avLst/>
          </a:prstGeom>
          <a:noFill/>
        </p:spPr>
        <p:txBody>
          <a:bodyPr wrap="none" lIns="0" rIns="0" tIns="0" bIns="0">
            <a:spAutoFit/>
          </a:bodyPr>
          <a:lstStyle/>
          <a:p>
            <a:r>
              <a:rPr sz="1150" b="0">
                <a:solidFill>
                  <a:srgbClr val="2E2E2E"/>
                </a:solidFill>
                <a:latin typeface="Calibri"/>
              </a:rPr>
              <a:t>▪ 'Organic' holds the highest share of 'Matcha Powder' at</a:t>
            </a:r>
          </a:p>
        </p:txBody>
      </p:sp>
      <p:pic>
        <p:nvPicPr>
          <p:cNvPr id="25" name="Picture 24" descr="lock.png"/>
          <p:cNvPicPr>
            <a:picLocks noChangeAspect="1"/>
          </p:cNvPicPr>
          <p:nvPr/>
        </p:nvPicPr>
        <p:blipFill>
          <a:blip r:embed="rId5"/>
          <a:stretch>
            <a:fillRect/>
          </a:stretch>
        </p:blipFill>
        <p:spPr>
          <a:xfrm>
            <a:off x="11110023" y="2980626"/>
            <a:ext cx="134549" cy="195707"/>
          </a:xfrm>
          <a:prstGeom prst="rect">
            <a:avLst/>
          </a:prstGeom>
        </p:spPr>
      </p:pic>
      <p:sp>
        <p:nvSpPr>
          <p:cNvPr id="26" name="TextBox 25"/>
          <p:cNvSpPr txBox="1"/>
          <p:nvPr/>
        </p:nvSpPr>
        <p:spPr>
          <a:xfrm>
            <a:off x="7715250" y="316611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7" name="TextBox 26"/>
          <p:cNvSpPr txBox="1"/>
          <p:nvPr/>
        </p:nvSpPr>
        <p:spPr>
          <a:xfrm>
            <a:off x="7715250" y="3393947"/>
            <a:ext cx="3485554" cy="194310"/>
          </a:xfrm>
          <a:prstGeom prst="rect">
            <a:avLst/>
          </a:prstGeom>
          <a:noFill/>
        </p:spPr>
        <p:txBody>
          <a:bodyPr wrap="none" lIns="0" rIns="0" tIns="0" bIns="0">
            <a:spAutoFit/>
          </a:bodyPr>
          <a:lstStyle/>
          <a:p>
            <a:r>
              <a:rPr sz="1150" b="0">
                <a:solidFill>
                  <a:srgbClr val="2E2E2E"/>
                </a:solidFill>
                <a:latin typeface="Calibri"/>
              </a:rPr>
              <a:t>▪ 'Matcha Powder' is the most concentrated product type</a:t>
            </a:r>
          </a:p>
        </p:txBody>
      </p:sp>
      <p:sp>
        <p:nvSpPr>
          <p:cNvPr id="28" name="TextBox 27"/>
          <p:cNvSpPr txBox="1"/>
          <p:nvPr/>
        </p:nvSpPr>
        <p:spPr>
          <a:xfrm>
            <a:off x="7715250" y="356920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9" name="Picture 28" descr="lock.png"/>
          <p:cNvPicPr>
            <a:picLocks noChangeAspect="1"/>
          </p:cNvPicPr>
          <p:nvPr/>
        </p:nvPicPr>
        <p:blipFill>
          <a:blip r:embed="rId5"/>
          <a:stretch>
            <a:fillRect/>
          </a:stretch>
        </p:blipFill>
        <p:spPr>
          <a:xfrm>
            <a:off x="8843110" y="3558984"/>
            <a:ext cx="134549" cy="195707"/>
          </a:xfrm>
          <a:prstGeom prst="rect">
            <a:avLst/>
          </a:prstGeom>
        </p:spPr>
      </p:pic>
      <p:sp>
        <p:nvSpPr>
          <p:cNvPr id="30" name="TextBox 29"/>
          <p:cNvSpPr txBox="1"/>
          <p:nvPr/>
        </p:nvSpPr>
        <p:spPr>
          <a:xfrm>
            <a:off x="9018219" y="3569207"/>
            <a:ext cx="1518158" cy="194310"/>
          </a:xfrm>
          <a:prstGeom prst="rect">
            <a:avLst/>
          </a:prstGeom>
          <a:noFill/>
        </p:spPr>
        <p:txBody>
          <a:bodyPr wrap="none" lIns="0" rIns="0" tIns="0" bIns="0">
            <a:spAutoFit/>
          </a:bodyPr>
          <a:lstStyle/>
          <a:p>
            <a:r>
              <a:rPr sz="1150" b="0">
                <a:solidFill>
                  <a:srgbClr val="2E2E2E"/>
                </a:solidFill>
                <a:latin typeface="Calibri"/>
              </a:rPr>
              <a:t>of its value via 'Organic'.</a:t>
            </a:r>
          </a:p>
        </p:txBody>
      </p:sp>
      <p:sp>
        <p:nvSpPr>
          <p:cNvPr id="31" name="TextBox 30"/>
          <p:cNvSpPr txBox="1"/>
          <p:nvPr/>
        </p:nvSpPr>
        <p:spPr>
          <a:xfrm>
            <a:off x="7715250" y="3797045"/>
            <a:ext cx="1457399" cy="194310"/>
          </a:xfrm>
          <a:prstGeom prst="rect">
            <a:avLst/>
          </a:prstGeom>
          <a:noFill/>
        </p:spPr>
        <p:txBody>
          <a:bodyPr wrap="none" lIns="0" rIns="0" tIns="0" bIns="0">
            <a:spAutoFit/>
          </a:bodyPr>
          <a:lstStyle/>
          <a:p>
            <a:r>
              <a:rPr sz="1150" b="0">
                <a:solidFill>
                  <a:srgbClr val="2E2E2E"/>
                </a:solidFill>
                <a:latin typeface="Calibri"/>
              </a:rPr>
              <a:t>▪ 'Conventional' gains +</a:t>
            </a:r>
          </a:p>
        </p:txBody>
      </p:sp>
      <p:pic>
        <p:nvPicPr>
          <p:cNvPr id="32" name="Picture 31" descr="lock.png"/>
          <p:cNvPicPr>
            <a:picLocks noChangeAspect="1"/>
          </p:cNvPicPr>
          <p:nvPr/>
        </p:nvPicPr>
        <p:blipFill>
          <a:blip r:embed="rId5"/>
          <a:stretch>
            <a:fillRect/>
          </a:stretch>
        </p:blipFill>
        <p:spPr>
          <a:xfrm>
            <a:off x="9121803" y="3786822"/>
            <a:ext cx="134549" cy="195707"/>
          </a:xfrm>
          <a:prstGeom prst="rect">
            <a:avLst/>
          </a:prstGeom>
        </p:spPr>
      </p:pic>
      <p:sp>
        <p:nvSpPr>
          <p:cNvPr id="33" name="TextBox 32"/>
          <p:cNvSpPr txBox="1"/>
          <p:nvPr/>
        </p:nvSpPr>
        <p:spPr>
          <a:xfrm>
            <a:off x="9296912" y="3797045"/>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4" name="TextBox 33"/>
          <p:cNvSpPr txBox="1"/>
          <p:nvPr/>
        </p:nvSpPr>
        <p:spPr>
          <a:xfrm>
            <a:off x="7715250" y="3972305"/>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5" name="lockshield_16"/>
          <p:cNvSpPr/>
          <p:nvPr/>
        </p:nvSpPr>
        <p:spPr>
          <a:xfrm>
            <a:off x="238125" y="2857500"/>
            <a:ext cx="7096125" cy="37147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Product Type × Nature,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Nature, 2026E–2036F</a:t>
            </a:r>
          </a:p>
        </p:txBody>
      </p:sp>
      <p:graphicFrame>
        <p:nvGraphicFramePr>
          <p:cNvPr id="12" name="Table 11"/>
          <p:cNvGraphicFramePr>
            <a:graphicFrameLocks noGrp="1"/>
          </p:cNvGraphicFramePr>
          <p:nvPr/>
        </p:nvGraphicFramePr>
        <p:xfrm>
          <a:off x="152400" y="1238250"/>
          <a:ext cx="11887199" cy="1238250"/>
        </p:xfrm>
        <a:graphic>
          <a:graphicData uri="http://schemas.openxmlformats.org/drawingml/2006/table">
            <a:tbl>
              <a:tblPr>
                <a:tableStyleId>{5C22544A-7EE6-4342-B048-85BDC9FD1C3A}</a:tableStyleId>
              </a:tblPr>
              <a:tblGrid>
                <a:gridCol w="2775893"/>
                <a:gridCol w="1518551"/>
                <a:gridCol w="1518551"/>
                <a:gridCol w="1518551"/>
                <a:gridCol w="1518551"/>
                <a:gridCol w="1518551"/>
                <a:gridCol w="1518551"/>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Organic</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819400"/>
            <a:ext cx="5600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05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6" name="Rectangle 15"/>
          <p:cNvSpPr/>
          <p:nvPr/>
        </p:nvSpPr>
        <p:spPr>
          <a:xfrm>
            <a:off x="276225" y="3143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28975"/>
            <a:ext cx="5334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5895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029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0" name="Rectangle 19"/>
          <p:cNvSpPr/>
          <p:nvPr/>
        </p:nvSpPr>
        <p:spPr>
          <a:xfrm>
            <a:off x="6029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029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79914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1248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4" name="Rectangle 23"/>
          <p:cNvSpPr/>
          <p:nvPr/>
        </p:nvSpPr>
        <p:spPr>
          <a:xfrm>
            <a:off x="81248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248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0086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0220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8" name="Rectangle 27"/>
          <p:cNvSpPr/>
          <p:nvPr/>
        </p:nvSpPr>
        <p:spPr>
          <a:xfrm>
            <a:off x="10220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220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'Matcha Tea × Organic' ranks highest (5/5); 'Matcha Powder × Conventional' lowest (1/5), a deprioritised cell.</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4"/>
          <a:stretch>
            <a:fillRect/>
          </a:stretch>
        </p:blipFill>
        <p:spPr>
          <a:xfrm>
            <a:off x="7297256" y="1837753"/>
            <a:ext cx="366712" cy="533400"/>
          </a:xfrm>
          <a:prstGeom prst="rect">
            <a:avLst/>
          </a:prstGeom>
        </p:spPr>
      </p:pic>
      <p:sp>
        <p:nvSpPr>
          <p:cNvPr id="32" name="TextBox 31"/>
          <p:cNvSpPr txBox="1"/>
          <p:nvPr/>
        </p:nvSpPr>
        <p:spPr>
          <a:xfrm>
            <a:off x="276225" y="3238500"/>
            <a:ext cx="1707852" cy="194310"/>
          </a:xfrm>
          <a:prstGeom prst="rect">
            <a:avLst/>
          </a:prstGeom>
          <a:noFill/>
        </p:spPr>
        <p:txBody>
          <a:bodyPr wrap="none" lIns="0" rIns="0" tIns="0" bIns="0">
            <a:spAutoFit/>
          </a:bodyPr>
          <a:lstStyle/>
          <a:p>
            <a:r>
              <a:rPr sz="1150" b="0">
                <a:solidFill>
                  <a:srgbClr val="2E2E2E"/>
                </a:solidFill>
                <a:latin typeface="Calibri"/>
              </a:rPr>
              <a:t>▪ 1. Matcha Tea × Organic –</a:t>
            </a:r>
          </a:p>
        </p:txBody>
      </p:sp>
      <p:pic>
        <p:nvPicPr>
          <p:cNvPr id="33" name="Picture 32" descr="lock.png"/>
          <p:cNvPicPr>
            <a:picLocks noChangeAspect="1"/>
          </p:cNvPicPr>
          <p:nvPr/>
        </p:nvPicPr>
        <p:blipFill>
          <a:blip r:embed="rId4"/>
          <a:stretch>
            <a:fillRect/>
          </a:stretch>
        </p:blipFill>
        <p:spPr>
          <a:xfrm>
            <a:off x="1933231" y="3228276"/>
            <a:ext cx="134549" cy="195707"/>
          </a:xfrm>
          <a:prstGeom prst="rect">
            <a:avLst/>
          </a:prstGeom>
        </p:spPr>
      </p:pic>
      <p:sp>
        <p:nvSpPr>
          <p:cNvPr id="34" name="TextBox 33"/>
          <p:cNvSpPr txBox="1"/>
          <p:nvPr/>
        </p:nvSpPr>
        <p:spPr>
          <a:xfrm>
            <a:off x="2108340" y="3238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2170492" y="3228276"/>
            <a:ext cx="134549" cy="195707"/>
          </a:xfrm>
          <a:prstGeom prst="rect">
            <a:avLst/>
          </a:prstGeom>
        </p:spPr>
      </p:pic>
      <p:sp>
        <p:nvSpPr>
          <p:cNvPr id="36" name="TextBox 35"/>
          <p:cNvSpPr txBox="1"/>
          <p:nvPr/>
        </p:nvSpPr>
        <p:spPr>
          <a:xfrm>
            <a:off x="2345601" y="3238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3466337"/>
            <a:ext cx="2036179" cy="194310"/>
          </a:xfrm>
          <a:prstGeom prst="rect">
            <a:avLst/>
          </a:prstGeom>
          <a:noFill/>
        </p:spPr>
        <p:txBody>
          <a:bodyPr wrap="none" lIns="0" rIns="0" tIns="0" bIns="0">
            <a:spAutoFit/>
          </a:bodyPr>
          <a:lstStyle/>
          <a:p>
            <a:r>
              <a:rPr sz="1150" b="0">
                <a:solidFill>
                  <a:srgbClr val="2E2E2E"/>
                </a:solidFill>
                <a:latin typeface="Calibri"/>
              </a:rPr>
              <a:t>▪ 2. Matcha Tea × Conventional –</a:t>
            </a:r>
          </a:p>
        </p:txBody>
      </p:sp>
      <p:pic>
        <p:nvPicPr>
          <p:cNvPr id="38" name="Picture 37" descr="lock.png"/>
          <p:cNvPicPr>
            <a:picLocks noChangeAspect="1"/>
          </p:cNvPicPr>
          <p:nvPr/>
        </p:nvPicPr>
        <p:blipFill>
          <a:blip r:embed="rId4"/>
          <a:stretch>
            <a:fillRect/>
          </a:stretch>
        </p:blipFill>
        <p:spPr>
          <a:xfrm>
            <a:off x="2261558" y="3456114"/>
            <a:ext cx="134549" cy="195707"/>
          </a:xfrm>
          <a:prstGeom prst="rect">
            <a:avLst/>
          </a:prstGeom>
        </p:spPr>
      </p:pic>
      <p:sp>
        <p:nvSpPr>
          <p:cNvPr id="39" name="TextBox 38"/>
          <p:cNvSpPr txBox="1"/>
          <p:nvPr/>
        </p:nvSpPr>
        <p:spPr>
          <a:xfrm>
            <a:off x="2436667" y="3466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2498819" y="3456114"/>
            <a:ext cx="134549" cy="195707"/>
          </a:xfrm>
          <a:prstGeom prst="rect">
            <a:avLst/>
          </a:prstGeom>
        </p:spPr>
      </p:pic>
      <p:sp>
        <p:nvSpPr>
          <p:cNvPr id="41" name="TextBox 40"/>
          <p:cNvSpPr txBox="1"/>
          <p:nvPr/>
        </p:nvSpPr>
        <p:spPr>
          <a:xfrm>
            <a:off x="2673928" y="346633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2" name="TextBox 41"/>
          <p:cNvSpPr txBox="1"/>
          <p:nvPr/>
        </p:nvSpPr>
        <p:spPr>
          <a:xfrm>
            <a:off x="276225" y="3694175"/>
            <a:ext cx="1951459" cy="194310"/>
          </a:xfrm>
          <a:prstGeom prst="rect">
            <a:avLst/>
          </a:prstGeom>
          <a:noFill/>
        </p:spPr>
        <p:txBody>
          <a:bodyPr wrap="none" lIns="0" rIns="0" tIns="0" bIns="0">
            <a:spAutoFit/>
          </a:bodyPr>
          <a:lstStyle/>
          <a:p>
            <a:r>
              <a:rPr sz="1150" b="0">
                <a:solidFill>
                  <a:srgbClr val="2E2E2E"/>
                </a:solidFill>
                <a:latin typeface="Calibri"/>
              </a:rPr>
              <a:t>▪ 3. Matcha Powder × Organic –</a:t>
            </a:r>
          </a:p>
        </p:txBody>
      </p:sp>
      <p:pic>
        <p:nvPicPr>
          <p:cNvPr id="43" name="Picture 42" descr="lock.png"/>
          <p:cNvPicPr>
            <a:picLocks noChangeAspect="1"/>
          </p:cNvPicPr>
          <p:nvPr/>
        </p:nvPicPr>
        <p:blipFill>
          <a:blip r:embed="rId4"/>
          <a:stretch>
            <a:fillRect/>
          </a:stretch>
        </p:blipFill>
        <p:spPr>
          <a:xfrm>
            <a:off x="2176838" y="3683952"/>
            <a:ext cx="134549" cy="195707"/>
          </a:xfrm>
          <a:prstGeom prst="rect">
            <a:avLst/>
          </a:prstGeom>
        </p:spPr>
      </p:pic>
      <p:sp>
        <p:nvSpPr>
          <p:cNvPr id="44" name="TextBox 43"/>
          <p:cNvSpPr txBox="1"/>
          <p:nvPr/>
        </p:nvSpPr>
        <p:spPr>
          <a:xfrm>
            <a:off x="2351947" y="3694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2414099" y="3683952"/>
            <a:ext cx="134549" cy="195707"/>
          </a:xfrm>
          <a:prstGeom prst="rect">
            <a:avLst/>
          </a:prstGeom>
        </p:spPr>
      </p:pic>
      <p:sp>
        <p:nvSpPr>
          <p:cNvPr id="46" name="TextBox 45"/>
          <p:cNvSpPr txBox="1"/>
          <p:nvPr/>
        </p:nvSpPr>
        <p:spPr>
          <a:xfrm>
            <a:off x="2589208" y="3694175"/>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47" name="TextBox 46"/>
          <p:cNvSpPr txBox="1"/>
          <p:nvPr/>
        </p:nvSpPr>
        <p:spPr>
          <a:xfrm>
            <a:off x="276225" y="3922013"/>
            <a:ext cx="2279786" cy="194310"/>
          </a:xfrm>
          <a:prstGeom prst="rect">
            <a:avLst/>
          </a:prstGeom>
          <a:noFill/>
        </p:spPr>
        <p:txBody>
          <a:bodyPr wrap="none" lIns="0" rIns="0" tIns="0" bIns="0">
            <a:spAutoFit/>
          </a:bodyPr>
          <a:lstStyle/>
          <a:p>
            <a:r>
              <a:rPr sz="1150" b="0">
                <a:solidFill>
                  <a:srgbClr val="2E2E2E"/>
                </a:solidFill>
                <a:latin typeface="Calibri"/>
              </a:rPr>
              <a:t>▪ 4. Matcha Powder × Conventional –</a:t>
            </a:r>
          </a:p>
        </p:txBody>
      </p:sp>
      <p:pic>
        <p:nvPicPr>
          <p:cNvPr id="48" name="Picture 47" descr="lock.png"/>
          <p:cNvPicPr>
            <a:picLocks noChangeAspect="1"/>
          </p:cNvPicPr>
          <p:nvPr/>
        </p:nvPicPr>
        <p:blipFill>
          <a:blip r:embed="rId4"/>
          <a:stretch>
            <a:fillRect/>
          </a:stretch>
        </p:blipFill>
        <p:spPr>
          <a:xfrm>
            <a:off x="2505165" y="3911790"/>
            <a:ext cx="134549" cy="195707"/>
          </a:xfrm>
          <a:prstGeom prst="rect">
            <a:avLst/>
          </a:prstGeom>
        </p:spPr>
      </p:pic>
      <p:sp>
        <p:nvSpPr>
          <p:cNvPr id="49" name="TextBox 48"/>
          <p:cNvSpPr txBox="1"/>
          <p:nvPr/>
        </p:nvSpPr>
        <p:spPr>
          <a:xfrm>
            <a:off x="2680274" y="3922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2742426" y="3911790"/>
            <a:ext cx="134549" cy="195707"/>
          </a:xfrm>
          <a:prstGeom prst="rect">
            <a:avLst/>
          </a:prstGeom>
        </p:spPr>
      </p:pic>
      <p:sp>
        <p:nvSpPr>
          <p:cNvPr id="51" name="TextBox 50"/>
          <p:cNvSpPr txBox="1"/>
          <p:nvPr/>
        </p:nvSpPr>
        <p:spPr>
          <a:xfrm>
            <a:off x="2917535" y="3922013"/>
            <a:ext cx="350899" cy="194310"/>
          </a:xfrm>
          <a:prstGeom prst="rect">
            <a:avLst/>
          </a:prstGeom>
          <a:noFill/>
        </p:spPr>
        <p:txBody>
          <a:bodyPr wrap="none" lIns="0" rIns="0" tIns="0" bIns="0">
            <a:spAutoFit/>
          </a:bodyPr>
          <a:lstStyle/>
          <a:p>
            <a:r>
              <a:rPr sz="1150" b="0">
                <a:solidFill>
                  <a:srgbClr val="2E2E2E"/>
                </a:solidFill>
                <a:latin typeface="Calibri"/>
              </a:rPr>
              <a:t>· 1/5</a:t>
            </a:r>
          </a:p>
        </p:txBody>
      </p:sp>
      <p:sp>
        <p:nvSpPr>
          <p:cNvPr id="52" name="TextBox 51"/>
          <p:cNvSpPr txBox="1"/>
          <p:nvPr/>
        </p:nvSpPr>
        <p:spPr>
          <a:xfrm>
            <a:off x="6029325" y="3238500"/>
            <a:ext cx="1522437" cy="194310"/>
          </a:xfrm>
          <a:prstGeom prst="rect">
            <a:avLst/>
          </a:prstGeom>
          <a:noFill/>
        </p:spPr>
        <p:txBody>
          <a:bodyPr wrap="none" lIns="0" rIns="0" tIns="0" bIns="0">
            <a:spAutoFit/>
          </a:bodyPr>
          <a:lstStyle/>
          <a:p>
            <a:r>
              <a:rPr sz="1150" b="0">
                <a:solidFill>
                  <a:srgbClr val="2E2E2E"/>
                </a:solidFill>
                <a:latin typeface="Calibri"/>
              </a:rPr>
              <a:t>▪ 'Matcha Tea × Organic'</a:t>
            </a:r>
          </a:p>
        </p:txBody>
      </p:sp>
      <p:sp>
        <p:nvSpPr>
          <p:cNvPr id="53" name="TextBox 52"/>
          <p:cNvSpPr txBox="1"/>
          <p:nvPr/>
        </p:nvSpPr>
        <p:spPr>
          <a:xfrm>
            <a:off x="6029325" y="341376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54" name="Picture 53" descr="lock.png"/>
          <p:cNvPicPr>
            <a:picLocks noChangeAspect="1"/>
          </p:cNvPicPr>
          <p:nvPr/>
        </p:nvPicPr>
        <p:blipFill>
          <a:blip r:embed="rId4"/>
          <a:stretch>
            <a:fillRect/>
          </a:stretch>
        </p:blipFill>
        <p:spPr>
          <a:xfrm>
            <a:off x="6335083" y="3403536"/>
            <a:ext cx="134549" cy="195707"/>
          </a:xfrm>
          <a:prstGeom prst="rect">
            <a:avLst/>
          </a:prstGeom>
        </p:spPr>
      </p:pic>
      <p:sp>
        <p:nvSpPr>
          <p:cNvPr id="55" name="TextBox 54"/>
          <p:cNvSpPr txBox="1"/>
          <p:nvPr/>
        </p:nvSpPr>
        <p:spPr>
          <a:xfrm>
            <a:off x="6510192" y="341376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56" name="TextBox 55"/>
          <p:cNvSpPr txBox="1"/>
          <p:nvPr/>
        </p:nvSpPr>
        <p:spPr>
          <a:xfrm>
            <a:off x="6029325" y="358901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6127418" y="3578796"/>
            <a:ext cx="134549" cy="195707"/>
          </a:xfrm>
          <a:prstGeom prst="rect">
            <a:avLst/>
          </a:prstGeom>
        </p:spPr>
      </p:pic>
      <p:sp>
        <p:nvSpPr>
          <p:cNvPr id="58" name="TextBox 57"/>
          <p:cNvSpPr txBox="1"/>
          <p:nvPr/>
        </p:nvSpPr>
        <p:spPr>
          <a:xfrm>
            <a:off x="6302527" y="358901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59" name="TextBox 58"/>
          <p:cNvSpPr txBox="1"/>
          <p:nvPr/>
        </p:nvSpPr>
        <p:spPr>
          <a:xfrm>
            <a:off x="6029325" y="376427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0" name="TextBox 59"/>
          <p:cNvSpPr txBox="1"/>
          <p:nvPr/>
        </p:nvSpPr>
        <p:spPr>
          <a:xfrm>
            <a:off x="8124825" y="3238500"/>
            <a:ext cx="1242032" cy="194310"/>
          </a:xfrm>
          <a:prstGeom prst="rect">
            <a:avLst/>
          </a:prstGeom>
          <a:noFill/>
        </p:spPr>
        <p:txBody>
          <a:bodyPr wrap="none" lIns="0" rIns="0" tIns="0" bIns="0">
            <a:spAutoFit/>
          </a:bodyPr>
          <a:lstStyle/>
          <a:p>
            <a:r>
              <a:rPr sz="1150" b="0">
                <a:solidFill>
                  <a:srgbClr val="2E2E2E"/>
                </a:solidFill>
                <a:latin typeface="Calibri"/>
              </a:rPr>
              <a:t>▪ 'Matcha Powder ×</a:t>
            </a:r>
          </a:p>
        </p:txBody>
      </p:sp>
      <p:sp>
        <p:nvSpPr>
          <p:cNvPr id="61" name="TextBox 60"/>
          <p:cNvSpPr txBox="1"/>
          <p:nvPr/>
        </p:nvSpPr>
        <p:spPr>
          <a:xfrm>
            <a:off x="8124825" y="3413760"/>
            <a:ext cx="1541834" cy="194310"/>
          </a:xfrm>
          <a:prstGeom prst="rect">
            <a:avLst/>
          </a:prstGeom>
          <a:noFill/>
        </p:spPr>
        <p:txBody>
          <a:bodyPr wrap="none" lIns="0" rIns="0" tIns="0" bIns="0">
            <a:spAutoFit/>
          </a:bodyPr>
          <a:lstStyle/>
          <a:p>
            <a:r>
              <a:rPr sz="1150" b="0">
                <a:solidFill>
                  <a:srgbClr val="2E2E2E"/>
                </a:solidFill>
                <a:latin typeface="Calibri"/>
              </a:rPr>
              <a:t>Conventional' grows at a</a:t>
            </a:r>
          </a:p>
        </p:txBody>
      </p:sp>
      <p:pic>
        <p:nvPicPr>
          <p:cNvPr id="62" name="Picture 61" descr="lock.png"/>
          <p:cNvPicPr>
            <a:picLocks noChangeAspect="1"/>
          </p:cNvPicPr>
          <p:nvPr/>
        </p:nvPicPr>
        <p:blipFill>
          <a:blip r:embed="rId4"/>
          <a:stretch>
            <a:fillRect/>
          </a:stretch>
        </p:blipFill>
        <p:spPr>
          <a:xfrm>
            <a:off x="8110745" y="3578796"/>
            <a:ext cx="134549" cy="195707"/>
          </a:xfrm>
          <a:prstGeom prst="rect">
            <a:avLst/>
          </a:prstGeom>
        </p:spPr>
      </p:pic>
      <p:sp>
        <p:nvSpPr>
          <p:cNvPr id="63" name="TextBox 62"/>
          <p:cNvSpPr txBox="1"/>
          <p:nvPr/>
        </p:nvSpPr>
        <p:spPr>
          <a:xfrm>
            <a:off x="8285854" y="3589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4" name="Picture 63" descr="lock.png"/>
          <p:cNvPicPr>
            <a:picLocks noChangeAspect="1"/>
          </p:cNvPicPr>
          <p:nvPr/>
        </p:nvPicPr>
        <p:blipFill>
          <a:blip r:embed="rId4"/>
          <a:stretch>
            <a:fillRect/>
          </a:stretch>
        </p:blipFill>
        <p:spPr>
          <a:xfrm>
            <a:off x="8681450" y="3578796"/>
            <a:ext cx="134549" cy="195707"/>
          </a:xfrm>
          <a:prstGeom prst="rect">
            <a:avLst/>
          </a:prstGeom>
        </p:spPr>
      </p:pic>
      <p:sp>
        <p:nvSpPr>
          <p:cNvPr id="65" name="TextBox 64"/>
          <p:cNvSpPr txBox="1"/>
          <p:nvPr/>
        </p:nvSpPr>
        <p:spPr>
          <a:xfrm>
            <a:off x="8856559" y="3589019"/>
            <a:ext cx="693774" cy="194310"/>
          </a:xfrm>
          <a:prstGeom prst="rect">
            <a:avLst/>
          </a:prstGeom>
          <a:noFill/>
        </p:spPr>
        <p:txBody>
          <a:bodyPr wrap="none" lIns="0" rIns="0" tIns="0" bIns="0">
            <a:spAutoFit/>
          </a:bodyPr>
          <a:lstStyle/>
          <a:p>
            <a:r>
              <a:rPr sz="1150" b="0">
                <a:solidFill>
                  <a:srgbClr val="2E2E2E"/>
                </a:solidFill>
                <a:latin typeface="Calibri"/>
              </a:rPr>
              <a:t>BPS above</a:t>
            </a:r>
          </a:p>
        </p:txBody>
      </p:sp>
      <p:sp>
        <p:nvSpPr>
          <p:cNvPr id="66" name="TextBox 65"/>
          <p:cNvSpPr txBox="1"/>
          <p:nvPr/>
        </p:nvSpPr>
        <p:spPr>
          <a:xfrm>
            <a:off x="8124825" y="3764279"/>
            <a:ext cx="1121655" cy="194310"/>
          </a:xfrm>
          <a:prstGeom prst="rect">
            <a:avLst/>
          </a:prstGeom>
          <a:noFill/>
        </p:spPr>
        <p:txBody>
          <a:bodyPr wrap="none" lIns="0" rIns="0" tIns="0" bIns="0">
            <a:spAutoFit/>
          </a:bodyPr>
          <a:lstStyle/>
          <a:p>
            <a:r>
              <a:rPr sz="1150" b="0">
                <a:solidFill>
                  <a:srgbClr val="2E2E2E"/>
                </a:solidFill>
                <a:latin typeface="Calibri"/>
              </a:rPr>
              <a:t>the cross-section.</a:t>
            </a:r>
          </a:p>
        </p:txBody>
      </p:sp>
    </p:spTree>
  </p:cSld>
  <p:clrMapOvr>
    <a:masterClrMapping/>
  </p:clrMapOvr>
</p:sld>
</file>

<file path=ppt/slides/slide11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Form × Flavour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Form × Flavour,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form sub-segment across flavour sub-segments</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Form × Flavour, 2026E and 2036F (US$ Mn)</a:t>
            </a:r>
          </a:p>
        </p:txBody>
      </p:sp>
      <p:graphicFrame>
        <p:nvGraphicFramePr>
          <p:cNvPr id="12" name="Table 11"/>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840948"/>
                <a:gridCol w="613681"/>
                <a:gridCol w="613681"/>
                <a:gridCol w="613681"/>
                <a:gridCol w="613681"/>
                <a:gridCol w="613681"/>
                <a:gridCol w="613681"/>
                <a:gridCol w="613681"/>
                <a:gridCol w="613681"/>
                <a:gridCol w="613681"/>
                <a:gridCol w="613681"/>
                <a:gridCol w="613681"/>
                <a:gridCol w="613681"/>
                <a:gridCol w="613681"/>
                <a:gridCol w="613681"/>
                <a:gridCol w="613681"/>
                <a:gridCol w="613681"/>
                <a:gridCol w="613681"/>
                <a:gridCol w="613681"/>
              </a:tblGrid>
              <a:tr h="246126">
                <a:tc rowSpan="2">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Unflavoured</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Vanilla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Lemon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Orange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Mocha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Cinnamon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Pumpkin Spice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65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6,718</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7286625"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8576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Flow, Form → Flavour, 2036F (US$ Mn)</a:t>
            </a:r>
          </a:p>
        </p:txBody>
      </p:sp>
      <p:sp>
        <p:nvSpPr>
          <p:cNvPr id="16" name="Freeform 15"/>
          <p:cNvSpPr/>
          <p:nvPr/>
        </p:nvSpPr>
        <p:spPr>
          <a:xfrm>
            <a:off x="2057400" y="4124325"/>
            <a:ext cx="3743325" cy="200025"/>
          </a:xfrm>
          <a:custGeom>
            <a:avLst/>
            <a:gdLst/>
            <a:ahLst/>
            <a:cxnLst/>
            <a:rect l="l" t="t" r="r" b="b"/>
            <a:pathLst>
              <a:path w="393" h="21">
                <a:moveTo>
                  <a:pt x="0" y="6"/>
                </a:moveTo>
                <a:lnTo>
                  <a:pt x="16" y="6"/>
                </a:lnTo>
                <a:lnTo>
                  <a:pt x="33" y="6"/>
                </a:lnTo>
                <a:lnTo>
                  <a:pt x="49" y="6"/>
                </a:lnTo>
                <a:lnTo>
                  <a:pt x="65" y="6"/>
                </a:lnTo>
                <a:lnTo>
                  <a:pt x="82" y="5"/>
                </a:lnTo>
                <a:lnTo>
                  <a:pt x="98" y="5"/>
                </a:lnTo>
                <a:lnTo>
                  <a:pt x="114" y="5"/>
                </a:lnTo>
                <a:lnTo>
                  <a:pt x="131" y="4"/>
                </a:lnTo>
                <a:lnTo>
                  <a:pt x="147" y="4"/>
                </a:lnTo>
                <a:lnTo>
                  <a:pt x="164" y="4"/>
                </a:lnTo>
                <a:lnTo>
                  <a:pt x="180" y="3"/>
                </a:lnTo>
                <a:lnTo>
                  <a:pt x="196" y="3"/>
                </a:lnTo>
                <a:lnTo>
                  <a:pt x="213" y="3"/>
                </a:lnTo>
                <a:lnTo>
                  <a:pt x="229" y="2"/>
                </a:lnTo>
                <a:lnTo>
                  <a:pt x="246" y="2"/>
                </a:lnTo>
                <a:lnTo>
                  <a:pt x="262" y="2"/>
                </a:lnTo>
                <a:lnTo>
                  <a:pt x="278" y="1"/>
                </a:lnTo>
                <a:lnTo>
                  <a:pt x="295" y="1"/>
                </a:lnTo>
                <a:lnTo>
                  <a:pt x="311" y="1"/>
                </a:lnTo>
                <a:lnTo>
                  <a:pt x="327" y="0"/>
                </a:lnTo>
                <a:lnTo>
                  <a:pt x="344" y="0"/>
                </a:lnTo>
                <a:lnTo>
                  <a:pt x="360" y="0"/>
                </a:lnTo>
                <a:lnTo>
                  <a:pt x="377" y="0"/>
                </a:lnTo>
                <a:lnTo>
                  <a:pt x="393" y="0"/>
                </a:lnTo>
                <a:lnTo>
                  <a:pt x="393" y="15"/>
                </a:lnTo>
                <a:lnTo>
                  <a:pt x="377" y="15"/>
                </a:lnTo>
                <a:lnTo>
                  <a:pt x="360" y="15"/>
                </a:lnTo>
                <a:lnTo>
                  <a:pt x="344" y="15"/>
                </a:lnTo>
                <a:lnTo>
                  <a:pt x="327" y="15"/>
                </a:lnTo>
                <a:lnTo>
                  <a:pt x="311" y="16"/>
                </a:lnTo>
                <a:lnTo>
                  <a:pt x="295" y="16"/>
                </a:lnTo>
                <a:lnTo>
                  <a:pt x="278" y="16"/>
                </a:lnTo>
                <a:lnTo>
                  <a:pt x="262" y="16"/>
                </a:lnTo>
                <a:lnTo>
                  <a:pt x="246" y="17"/>
                </a:lnTo>
                <a:lnTo>
                  <a:pt x="229" y="17"/>
                </a:lnTo>
                <a:lnTo>
                  <a:pt x="213" y="18"/>
                </a:lnTo>
                <a:lnTo>
                  <a:pt x="196" y="18"/>
                </a:lnTo>
                <a:lnTo>
                  <a:pt x="180" y="18"/>
                </a:lnTo>
                <a:lnTo>
                  <a:pt x="164" y="19"/>
                </a:lnTo>
                <a:lnTo>
                  <a:pt x="147" y="19"/>
                </a:lnTo>
                <a:lnTo>
                  <a:pt x="131" y="19"/>
                </a:lnTo>
                <a:lnTo>
                  <a:pt x="114" y="20"/>
                </a:lnTo>
                <a:lnTo>
                  <a:pt x="98" y="20"/>
                </a:lnTo>
                <a:lnTo>
                  <a:pt x="82" y="20"/>
                </a:lnTo>
                <a:lnTo>
                  <a:pt x="65" y="20"/>
                </a:lnTo>
                <a:lnTo>
                  <a:pt x="49" y="21"/>
                </a:lnTo>
                <a:lnTo>
                  <a:pt x="33" y="21"/>
                </a:lnTo>
                <a:lnTo>
                  <a:pt x="16" y="21"/>
                </a:lnTo>
                <a:lnTo>
                  <a:pt x="0" y="2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4324350"/>
            <a:ext cx="3743325" cy="323850"/>
          </a:xfrm>
          <a:custGeom>
            <a:avLst/>
            <a:gdLst/>
            <a:ahLst/>
            <a:cxnLst/>
            <a:rect l="l" t="t" r="r" b="b"/>
            <a:pathLst>
              <a:path w="393" h="34">
                <a:moveTo>
                  <a:pt x="0" y="0"/>
                </a:moveTo>
                <a:lnTo>
                  <a:pt x="16" y="0"/>
                </a:lnTo>
                <a:lnTo>
                  <a:pt x="33" y="0"/>
                </a:lnTo>
                <a:lnTo>
                  <a:pt x="49" y="1"/>
                </a:lnTo>
                <a:lnTo>
                  <a:pt x="65" y="2"/>
                </a:lnTo>
                <a:lnTo>
                  <a:pt x="82" y="2"/>
                </a:lnTo>
                <a:lnTo>
                  <a:pt x="98" y="3"/>
                </a:lnTo>
                <a:lnTo>
                  <a:pt x="114" y="4"/>
                </a:lnTo>
                <a:lnTo>
                  <a:pt x="131" y="5"/>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20"/>
                </a:lnTo>
                <a:lnTo>
                  <a:pt x="344" y="20"/>
                </a:lnTo>
                <a:lnTo>
                  <a:pt x="360" y="21"/>
                </a:lnTo>
                <a:lnTo>
                  <a:pt x="377" y="21"/>
                </a:lnTo>
                <a:lnTo>
                  <a:pt x="393" y="21"/>
                </a:lnTo>
                <a:lnTo>
                  <a:pt x="393" y="34"/>
                </a:lnTo>
                <a:lnTo>
                  <a:pt x="377" y="34"/>
                </a:lnTo>
                <a:lnTo>
                  <a:pt x="360" y="34"/>
                </a:lnTo>
                <a:lnTo>
                  <a:pt x="344" y="34"/>
                </a:lnTo>
                <a:lnTo>
                  <a:pt x="327" y="33"/>
                </a:lnTo>
                <a:lnTo>
                  <a:pt x="311" y="32"/>
                </a:lnTo>
                <a:lnTo>
                  <a:pt x="295" y="31"/>
                </a:lnTo>
                <a:lnTo>
                  <a:pt x="278" y="30"/>
                </a:lnTo>
                <a:lnTo>
                  <a:pt x="262" y="29"/>
                </a:lnTo>
                <a:lnTo>
                  <a:pt x="246" y="28"/>
                </a:lnTo>
                <a:lnTo>
                  <a:pt x="229" y="26"/>
                </a:lnTo>
                <a:lnTo>
                  <a:pt x="213" y="25"/>
                </a:lnTo>
                <a:lnTo>
                  <a:pt x="196" y="24"/>
                </a:lnTo>
                <a:lnTo>
                  <a:pt x="180" y="22"/>
                </a:lnTo>
                <a:lnTo>
                  <a:pt x="164" y="21"/>
                </a:lnTo>
                <a:lnTo>
                  <a:pt x="147" y="20"/>
                </a:lnTo>
                <a:lnTo>
                  <a:pt x="131" y="19"/>
                </a:lnTo>
                <a:lnTo>
                  <a:pt x="114" y="18"/>
                </a:lnTo>
                <a:lnTo>
                  <a:pt x="98" y="16"/>
                </a:lnTo>
                <a:lnTo>
                  <a:pt x="82" y="16"/>
                </a:lnTo>
                <a:lnTo>
                  <a:pt x="65" y="15"/>
                </a:lnTo>
                <a:lnTo>
                  <a:pt x="49" y="14"/>
                </a:lnTo>
                <a:lnTo>
                  <a:pt x="33" y="14"/>
                </a:lnTo>
                <a:lnTo>
                  <a:pt x="16" y="13"/>
                </a:lnTo>
                <a:lnTo>
                  <a:pt x="0" y="1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4448175"/>
            <a:ext cx="3743325" cy="600075"/>
          </a:xfrm>
          <a:custGeom>
            <a:avLst/>
            <a:gdLst/>
            <a:ahLst/>
            <a:cxnLst/>
            <a:rect l="l" t="t" r="r" b="b"/>
            <a:pathLst>
              <a:path w="393" h="63">
                <a:moveTo>
                  <a:pt x="0" y="0"/>
                </a:moveTo>
                <a:lnTo>
                  <a:pt x="16" y="0"/>
                </a:lnTo>
                <a:lnTo>
                  <a:pt x="33" y="1"/>
                </a:lnTo>
                <a:lnTo>
                  <a:pt x="49" y="2"/>
                </a:lnTo>
                <a:lnTo>
                  <a:pt x="65" y="4"/>
                </a:lnTo>
                <a:lnTo>
                  <a:pt x="82" y="6"/>
                </a:lnTo>
                <a:lnTo>
                  <a:pt x="98" y="8"/>
                </a:lnTo>
                <a:lnTo>
                  <a:pt x="114" y="10"/>
                </a:lnTo>
                <a:lnTo>
                  <a:pt x="131" y="13"/>
                </a:lnTo>
                <a:lnTo>
                  <a:pt x="147" y="16"/>
                </a:lnTo>
                <a:lnTo>
                  <a:pt x="164" y="19"/>
                </a:lnTo>
                <a:lnTo>
                  <a:pt x="180" y="22"/>
                </a:lnTo>
                <a:lnTo>
                  <a:pt x="196" y="25"/>
                </a:lnTo>
                <a:lnTo>
                  <a:pt x="213" y="28"/>
                </a:lnTo>
                <a:lnTo>
                  <a:pt x="229" y="31"/>
                </a:lnTo>
                <a:lnTo>
                  <a:pt x="246" y="34"/>
                </a:lnTo>
                <a:lnTo>
                  <a:pt x="262" y="37"/>
                </a:lnTo>
                <a:lnTo>
                  <a:pt x="278" y="40"/>
                </a:lnTo>
                <a:lnTo>
                  <a:pt x="295" y="42"/>
                </a:lnTo>
                <a:lnTo>
                  <a:pt x="311" y="44"/>
                </a:lnTo>
                <a:lnTo>
                  <a:pt x="327" y="46"/>
                </a:lnTo>
                <a:lnTo>
                  <a:pt x="344" y="48"/>
                </a:lnTo>
                <a:lnTo>
                  <a:pt x="360" y="49"/>
                </a:lnTo>
                <a:lnTo>
                  <a:pt x="377" y="50"/>
                </a:lnTo>
                <a:lnTo>
                  <a:pt x="393" y="50"/>
                </a:lnTo>
                <a:lnTo>
                  <a:pt x="393" y="63"/>
                </a:lnTo>
                <a:lnTo>
                  <a:pt x="377" y="63"/>
                </a:lnTo>
                <a:lnTo>
                  <a:pt x="360" y="62"/>
                </a:lnTo>
                <a:lnTo>
                  <a:pt x="344" y="61"/>
                </a:lnTo>
                <a:lnTo>
                  <a:pt x="327" y="59"/>
                </a:lnTo>
                <a:lnTo>
                  <a:pt x="311" y="57"/>
                </a:lnTo>
                <a:lnTo>
                  <a:pt x="295" y="55"/>
                </a:lnTo>
                <a:lnTo>
                  <a:pt x="278" y="53"/>
                </a:lnTo>
                <a:lnTo>
                  <a:pt x="262" y="50"/>
                </a:lnTo>
                <a:lnTo>
                  <a:pt x="246" y="47"/>
                </a:lnTo>
                <a:lnTo>
                  <a:pt x="229" y="44"/>
                </a:lnTo>
                <a:lnTo>
                  <a:pt x="213" y="41"/>
                </a:lnTo>
                <a:lnTo>
                  <a:pt x="196" y="38"/>
                </a:lnTo>
                <a:lnTo>
                  <a:pt x="180" y="35"/>
                </a:lnTo>
                <a:lnTo>
                  <a:pt x="164" y="32"/>
                </a:lnTo>
                <a:lnTo>
                  <a:pt x="147" y="29"/>
                </a:lnTo>
                <a:lnTo>
                  <a:pt x="131" y="26"/>
                </a:lnTo>
                <a:lnTo>
                  <a:pt x="114" y="23"/>
                </a:lnTo>
                <a:lnTo>
                  <a:pt x="98" y="21"/>
                </a:lnTo>
                <a:lnTo>
                  <a:pt x="82" y="19"/>
                </a:lnTo>
                <a:lnTo>
                  <a:pt x="65" y="17"/>
                </a:lnTo>
                <a:lnTo>
                  <a:pt x="49" y="15"/>
                </a:lnTo>
                <a:lnTo>
                  <a:pt x="33" y="14"/>
                </a:lnTo>
                <a:lnTo>
                  <a:pt x="16" y="13"/>
                </a:lnTo>
                <a:lnTo>
                  <a:pt x="0" y="1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4572000"/>
            <a:ext cx="3743325" cy="828675"/>
          </a:xfrm>
          <a:custGeom>
            <a:avLst/>
            <a:gdLst/>
            <a:ahLst/>
            <a:cxnLst/>
            <a:rect l="l" t="t" r="r" b="b"/>
            <a:pathLst>
              <a:path w="393" h="87">
                <a:moveTo>
                  <a:pt x="0" y="0"/>
                </a:moveTo>
                <a:lnTo>
                  <a:pt x="16" y="0"/>
                </a:lnTo>
                <a:lnTo>
                  <a:pt x="33" y="1"/>
                </a:lnTo>
                <a:lnTo>
                  <a:pt x="49" y="3"/>
                </a:lnTo>
                <a:lnTo>
                  <a:pt x="65" y="6"/>
                </a:lnTo>
                <a:lnTo>
                  <a:pt x="82" y="8"/>
                </a:lnTo>
                <a:lnTo>
                  <a:pt x="98" y="12"/>
                </a:lnTo>
                <a:lnTo>
                  <a:pt x="114" y="15"/>
                </a:lnTo>
                <a:lnTo>
                  <a:pt x="131" y="19"/>
                </a:lnTo>
                <a:lnTo>
                  <a:pt x="147" y="24"/>
                </a:lnTo>
                <a:lnTo>
                  <a:pt x="164" y="28"/>
                </a:lnTo>
                <a:lnTo>
                  <a:pt x="180" y="33"/>
                </a:lnTo>
                <a:lnTo>
                  <a:pt x="196" y="38"/>
                </a:lnTo>
                <a:lnTo>
                  <a:pt x="213" y="42"/>
                </a:lnTo>
                <a:lnTo>
                  <a:pt x="229" y="47"/>
                </a:lnTo>
                <a:lnTo>
                  <a:pt x="246" y="51"/>
                </a:lnTo>
                <a:lnTo>
                  <a:pt x="262" y="56"/>
                </a:lnTo>
                <a:lnTo>
                  <a:pt x="278" y="60"/>
                </a:lnTo>
                <a:lnTo>
                  <a:pt x="295" y="63"/>
                </a:lnTo>
                <a:lnTo>
                  <a:pt x="311" y="67"/>
                </a:lnTo>
                <a:lnTo>
                  <a:pt x="327" y="69"/>
                </a:lnTo>
                <a:lnTo>
                  <a:pt x="344" y="72"/>
                </a:lnTo>
                <a:lnTo>
                  <a:pt x="360" y="74"/>
                </a:lnTo>
                <a:lnTo>
                  <a:pt x="377" y="75"/>
                </a:lnTo>
                <a:lnTo>
                  <a:pt x="393" y="75"/>
                </a:lnTo>
                <a:lnTo>
                  <a:pt x="393" y="87"/>
                </a:lnTo>
                <a:lnTo>
                  <a:pt x="377" y="87"/>
                </a:lnTo>
                <a:lnTo>
                  <a:pt x="360" y="86"/>
                </a:lnTo>
                <a:lnTo>
                  <a:pt x="344" y="84"/>
                </a:lnTo>
                <a:lnTo>
                  <a:pt x="327" y="82"/>
                </a:lnTo>
                <a:lnTo>
                  <a:pt x="311" y="79"/>
                </a:lnTo>
                <a:lnTo>
                  <a:pt x="295" y="76"/>
                </a:lnTo>
                <a:lnTo>
                  <a:pt x="278" y="72"/>
                </a:lnTo>
                <a:lnTo>
                  <a:pt x="262" y="68"/>
                </a:lnTo>
                <a:lnTo>
                  <a:pt x="246" y="64"/>
                </a:lnTo>
                <a:lnTo>
                  <a:pt x="229" y="59"/>
                </a:lnTo>
                <a:lnTo>
                  <a:pt x="213" y="55"/>
                </a:lnTo>
                <a:lnTo>
                  <a:pt x="196" y="50"/>
                </a:lnTo>
                <a:lnTo>
                  <a:pt x="180" y="45"/>
                </a:lnTo>
                <a:lnTo>
                  <a:pt x="164" y="41"/>
                </a:lnTo>
                <a:lnTo>
                  <a:pt x="147" y="36"/>
                </a:lnTo>
                <a:lnTo>
                  <a:pt x="131" y="32"/>
                </a:lnTo>
                <a:lnTo>
                  <a:pt x="114" y="28"/>
                </a:lnTo>
                <a:lnTo>
                  <a:pt x="98" y="24"/>
                </a:lnTo>
                <a:lnTo>
                  <a:pt x="82" y="21"/>
                </a:lnTo>
                <a:lnTo>
                  <a:pt x="65" y="18"/>
                </a:lnTo>
                <a:lnTo>
                  <a:pt x="49" y="16"/>
                </a:lnTo>
                <a:lnTo>
                  <a:pt x="33" y="14"/>
                </a:lnTo>
                <a:lnTo>
                  <a:pt x="16" y="13"/>
                </a:lnTo>
                <a:lnTo>
                  <a:pt x="0" y="1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4686300"/>
            <a:ext cx="3743325" cy="1066800"/>
          </a:xfrm>
          <a:custGeom>
            <a:avLst/>
            <a:gdLst/>
            <a:ahLst/>
            <a:cxnLst/>
            <a:rect l="l" t="t" r="r" b="b"/>
            <a:pathLst>
              <a:path w="393" h="112">
                <a:moveTo>
                  <a:pt x="0" y="0"/>
                </a:moveTo>
                <a:lnTo>
                  <a:pt x="16" y="1"/>
                </a:lnTo>
                <a:lnTo>
                  <a:pt x="33" y="2"/>
                </a:lnTo>
                <a:lnTo>
                  <a:pt x="49" y="5"/>
                </a:lnTo>
                <a:lnTo>
                  <a:pt x="65" y="8"/>
                </a:lnTo>
                <a:lnTo>
                  <a:pt x="82" y="12"/>
                </a:lnTo>
                <a:lnTo>
                  <a:pt x="98" y="16"/>
                </a:lnTo>
                <a:lnTo>
                  <a:pt x="114" y="21"/>
                </a:lnTo>
                <a:lnTo>
                  <a:pt x="131" y="26"/>
                </a:lnTo>
                <a:lnTo>
                  <a:pt x="147" y="32"/>
                </a:lnTo>
                <a:lnTo>
                  <a:pt x="164" y="38"/>
                </a:lnTo>
                <a:lnTo>
                  <a:pt x="180" y="44"/>
                </a:lnTo>
                <a:lnTo>
                  <a:pt x="196" y="51"/>
                </a:lnTo>
                <a:lnTo>
                  <a:pt x="213" y="57"/>
                </a:lnTo>
                <a:lnTo>
                  <a:pt x="229" y="63"/>
                </a:lnTo>
                <a:lnTo>
                  <a:pt x="246" y="69"/>
                </a:lnTo>
                <a:lnTo>
                  <a:pt x="262" y="75"/>
                </a:lnTo>
                <a:lnTo>
                  <a:pt x="278" y="80"/>
                </a:lnTo>
                <a:lnTo>
                  <a:pt x="295" y="85"/>
                </a:lnTo>
                <a:lnTo>
                  <a:pt x="311" y="90"/>
                </a:lnTo>
                <a:lnTo>
                  <a:pt x="327" y="93"/>
                </a:lnTo>
                <a:lnTo>
                  <a:pt x="344" y="97"/>
                </a:lnTo>
                <a:lnTo>
                  <a:pt x="360" y="99"/>
                </a:lnTo>
                <a:lnTo>
                  <a:pt x="377" y="100"/>
                </a:lnTo>
                <a:lnTo>
                  <a:pt x="393" y="101"/>
                </a:lnTo>
                <a:lnTo>
                  <a:pt x="393" y="112"/>
                </a:lnTo>
                <a:lnTo>
                  <a:pt x="377" y="111"/>
                </a:lnTo>
                <a:lnTo>
                  <a:pt x="360" y="110"/>
                </a:lnTo>
                <a:lnTo>
                  <a:pt x="344" y="107"/>
                </a:lnTo>
                <a:lnTo>
                  <a:pt x="327" y="104"/>
                </a:lnTo>
                <a:lnTo>
                  <a:pt x="311" y="100"/>
                </a:lnTo>
                <a:lnTo>
                  <a:pt x="295" y="96"/>
                </a:lnTo>
                <a:lnTo>
                  <a:pt x="278" y="91"/>
                </a:lnTo>
                <a:lnTo>
                  <a:pt x="262" y="86"/>
                </a:lnTo>
                <a:lnTo>
                  <a:pt x="246" y="80"/>
                </a:lnTo>
                <a:lnTo>
                  <a:pt x="229" y="74"/>
                </a:lnTo>
                <a:lnTo>
                  <a:pt x="213" y="68"/>
                </a:lnTo>
                <a:lnTo>
                  <a:pt x="196" y="61"/>
                </a:lnTo>
                <a:lnTo>
                  <a:pt x="180" y="55"/>
                </a:lnTo>
                <a:lnTo>
                  <a:pt x="164" y="49"/>
                </a:lnTo>
                <a:lnTo>
                  <a:pt x="147" y="43"/>
                </a:lnTo>
                <a:lnTo>
                  <a:pt x="131" y="37"/>
                </a:lnTo>
                <a:lnTo>
                  <a:pt x="114" y="32"/>
                </a:lnTo>
                <a:lnTo>
                  <a:pt x="98" y="27"/>
                </a:lnTo>
                <a:lnTo>
                  <a:pt x="82" y="22"/>
                </a:lnTo>
                <a:lnTo>
                  <a:pt x="65" y="19"/>
                </a:lnTo>
                <a:lnTo>
                  <a:pt x="49" y="15"/>
                </a:lnTo>
                <a:lnTo>
                  <a:pt x="33" y="13"/>
                </a:lnTo>
                <a:lnTo>
                  <a:pt x="16" y="12"/>
                </a:lnTo>
                <a:lnTo>
                  <a:pt x="0" y="1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4791075"/>
            <a:ext cx="3743325" cy="1266825"/>
          </a:xfrm>
          <a:custGeom>
            <a:avLst/>
            <a:gdLst/>
            <a:ahLst/>
            <a:cxnLst/>
            <a:rect l="l" t="t" r="r" b="b"/>
            <a:pathLst>
              <a:path w="393" h="133">
                <a:moveTo>
                  <a:pt x="0" y="0"/>
                </a:moveTo>
                <a:lnTo>
                  <a:pt x="16" y="1"/>
                </a:lnTo>
                <a:lnTo>
                  <a:pt x="33" y="2"/>
                </a:lnTo>
                <a:lnTo>
                  <a:pt x="49" y="5"/>
                </a:lnTo>
                <a:lnTo>
                  <a:pt x="65" y="9"/>
                </a:lnTo>
                <a:lnTo>
                  <a:pt x="82" y="14"/>
                </a:lnTo>
                <a:lnTo>
                  <a:pt x="98" y="19"/>
                </a:lnTo>
                <a:lnTo>
                  <a:pt x="114" y="25"/>
                </a:lnTo>
                <a:lnTo>
                  <a:pt x="131" y="32"/>
                </a:lnTo>
                <a:lnTo>
                  <a:pt x="147" y="39"/>
                </a:lnTo>
                <a:lnTo>
                  <a:pt x="164" y="46"/>
                </a:lnTo>
                <a:lnTo>
                  <a:pt x="180" y="54"/>
                </a:lnTo>
                <a:lnTo>
                  <a:pt x="196" y="61"/>
                </a:lnTo>
                <a:lnTo>
                  <a:pt x="213" y="69"/>
                </a:lnTo>
                <a:lnTo>
                  <a:pt x="229" y="77"/>
                </a:lnTo>
                <a:lnTo>
                  <a:pt x="246" y="84"/>
                </a:lnTo>
                <a:lnTo>
                  <a:pt x="262" y="91"/>
                </a:lnTo>
                <a:lnTo>
                  <a:pt x="278" y="98"/>
                </a:lnTo>
                <a:lnTo>
                  <a:pt x="295" y="104"/>
                </a:lnTo>
                <a:lnTo>
                  <a:pt x="311" y="109"/>
                </a:lnTo>
                <a:lnTo>
                  <a:pt x="327" y="114"/>
                </a:lnTo>
                <a:lnTo>
                  <a:pt x="344" y="117"/>
                </a:lnTo>
                <a:lnTo>
                  <a:pt x="360" y="120"/>
                </a:lnTo>
                <a:lnTo>
                  <a:pt x="377" y="122"/>
                </a:lnTo>
                <a:lnTo>
                  <a:pt x="393" y="123"/>
                </a:lnTo>
                <a:lnTo>
                  <a:pt x="393" y="133"/>
                </a:lnTo>
                <a:lnTo>
                  <a:pt x="377" y="133"/>
                </a:lnTo>
                <a:lnTo>
                  <a:pt x="360" y="131"/>
                </a:lnTo>
                <a:lnTo>
                  <a:pt x="344" y="128"/>
                </a:lnTo>
                <a:lnTo>
                  <a:pt x="327" y="124"/>
                </a:lnTo>
                <a:lnTo>
                  <a:pt x="311" y="120"/>
                </a:lnTo>
                <a:lnTo>
                  <a:pt x="295" y="114"/>
                </a:lnTo>
                <a:lnTo>
                  <a:pt x="278" y="108"/>
                </a:lnTo>
                <a:lnTo>
                  <a:pt x="262" y="102"/>
                </a:lnTo>
                <a:lnTo>
                  <a:pt x="246" y="95"/>
                </a:lnTo>
                <a:lnTo>
                  <a:pt x="229" y="87"/>
                </a:lnTo>
                <a:lnTo>
                  <a:pt x="213" y="80"/>
                </a:lnTo>
                <a:lnTo>
                  <a:pt x="196" y="72"/>
                </a:lnTo>
                <a:lnTo>
                  <a:pt x="180" y="64"/>
                </a:lnTo>
                <a:lnTo>
                  <a:pt x="164" y="57"/>
                </a:lnTo>
                <a:lnTo>
                  <a:pt x="147" y="50"/>
                </a:lnTo>
                <a:lnTo>
                  <a:pt x="131" y="43"/>
                </a:lnTo>
                <a:lnTo>
                  <a:pt x="114" y="36"/>
                </a:lnTo>
                <a:lnTo>
                  <a:pt x="98" y="30"/>
                </a:lnTo>
                <a:lnTo>
                  <a:pt x="82" y="25"/>
                </a:lnTo>
                <a:lnTo>
                  <a:pt x="65" y="20"/>
                </a:lnTo>
                <a:lnTo>
                  <a:pt x="49" y="16"/>
                </a:lnTo>
                <a:lnTo>
                  <a:pt x="33" y="13"/>
                </a:lnTo>
                <a:lnTo>
                  <a:pt x="16" y="11"/>
                </a:lnTo>
                <a:lnTo>
                  <a:pt x="0" y="1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4895850"/>
            <a:ext cx="3743325" cy="1428750"/>
          </a:xfrm>
          <a:custGeom>
            <a:avLst/>
            <a:gdLst/>
            <a:ahLst/>
            <a:cxnLst/>
            <a:rect l="l" t="t" r="r" b="b"/>
            <a:pathLst>
              <a:path w="393" h="150">
                <a:moveTo>
                  <a:pt x="0" y="0"/>
                </a:moveTo>
                <a:lnTo>
                  <a:pt x="16" y="1"/>
                </a:lnTo>
                <a:lnTo>
                  <a:pt x="33" y="3"/>
                </a:lnTo>
                <a:lnTo>
                  <a:pt x="49" y="6"/>
                </a:lnTo>
                <a:lnTo>
                  <a:pt x="65" y="11"/>
                </a:lnTo>
                <a:lnTo>
                  <a:pt x="82" y="16"/>
                </a:lnTo>
                <a:lnTo>
                  <a:pt x="98" y="22"/>
                </a:lnTo>
                <a:lnTo>
                  <a:pt x="114" y="30"/>
                </a:lnTo>
                <a:lnTo>
                  <a:pt x="131" y="37"/>
                </a:lnTo>
                <a:lnTo>
                  <a:pt x="147" y="46"/>
                </a:lnTo>
                <a:lnTo>
                  <a:pt x="164" y="54"/>
                </a:lnTo>
                <a:lnTo>
                  <a:pt x="180" y="63"/>
                </a:lnTo>
                <a:lnTo>
                  <a:pt x="196" y="72"/>
                </a:lnTo>
                <a:lnTo>
                  <a:pt x="213" y="81"/>
                </a:lnTo>
                <a:lnTo>
                  <a:pt x="229" y="90"/>
                </a:lnTo>
                <a:lnTo>
                  <a:pt x="246" y="99"/>
                </a:lnTo>
                <a:lnTo>
                  <a:pt x="262" y="107"/>
                </a:lnTo>
                <a:lnTo>
                  <a:pt x="278" y="115"/>
                </a:lnTo>
                <a:lnTo>
                  <a:pt x="295" y="122"/>
                </a:lnTo>
                <a:lnTo>
                  <a:pt x="311" y="128"/>
                </a:lnTo>
                <a:lnTo>
                  <a:pt x="327" y="134"/>
                </a:lnTo>
                <a:lnTo>
                  <a:pt x="344" y="138"/>
                </a:lnTo>
                <a:lnTo>
                  <a:pt x="360" y="142"/>
                </a:lnTo>
                <a:lnTo>
                  <a:pt x="377" y="144"/>
                </a:lnTo>
                <a:lnTo>
                  <a:pt x="393" y="145"/>
                </a:lnTo>
                <a:lnTo>
                  <a:pt x="393" y="150"/>
                </a:lnTo>
                <a:lnTo>
                  <a:pt x="377" y="149"/>
                </a:lnTo>
                <a:lnTo>
                  <a:pt x="360" y="147"/>
                </a:lnTo>
                <a:lnTo>
                  <a:pt x="344" y="143"/>
                </a:lnTo>
                <a:lnTo>
                  <a:pt x="327" y="139"/>
                </a:lnTo>
                <a:lnTo>
                  <a:pt x="311" y="133"/>
                </a:lnTo>
                <a:lnTo>
                  <a:pt x="295" y="127"/>
                </a:lnTo>
                <a:lnTo>
                  <a:pt x="278" y="120"/>
                </a:lnTo>
                <a:lnTo>
                  <a:pt x="262" y="112"/>
                </a:lnTo>
                <a:lnTo>
                  <a:pt x="246" y="104"/>
                </a:lnTo>
                <a:lnTo>
                  <a:pt x="229" y="95"/>
                </a:lnTo>
                <a:lnTo>
                  <a:pt x="213" y="86"/>
                </a:lnTo>
                <a:lnTo>
                  <a:pt x="196" y="77"/>
                </a:lnTo>
                <a:lnTo>
                  <a:pt x="180" y="68"/>
                </a:lnTo>
                <a:lnTo>
                  <a:pt x="164" y="59"/>
                </a:lnTo>
                <a:lnTo>
                  <a:pt x="147" y="51"/>
                </a:lnTo>
                <a:lnTo>
                  <a:pt x="131" y="42"/>
                </a:lnTo>
                <a:lnTo>
                  <a:pt x="114" y="35"/>
                </a:lnTo>
                <a:lnTo>
                  <a:pt x="98" y="27"/>
                </a:lnTo>
                <a:lnTo>
                  <a:pt x="82" y="21"/>
                </a:lnTo>
                <a:lnTo>
                  <a:pt x="65" y="15"/>
                </a:lnTo>
                <a:lnTo>
                  <a:pt x="49" y="11"/>
                </a:lnTo>
                <a:lnTo>
                  <a:pt x="33" y="8"/>
                </a:lnTo>
                <a:lnTo>
                  <a:pt x="16" y="5"/>
                </a:lnTo>
                <a:lnTo>
                  <a:pt x="0" y="5"/>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4943475"/>
            <a:ext cx="3743325" cy="1533525"/>
          </a:xfrm>
          <a:custGeom>
            <a:avLst/>
            <a:gdLst/>
            <a:ahLst/>
            <a:cxnLst/>
            <a:rect l="l" t="t" r="r" b="b"/>
            <a:pathLst>
              <a:path w="393" h="161">
                <a:moveTo>
                  <a:pt x="0" y="0"/>
                </a:moveTo>
                <a:lnTo>
                  <a:pt x="16" y="1"/>
                </a:lnTo>
                <a:lnTo>
                  <a:pt x="33" y="3"/>
                </a:lnTo>
                <a:lnTo>
                  <a:pt x="49" y="7"/>
                </a:lnTo>
                <a:lnTo>
                  <a:pt x="65" y="11"/>
                </a:lnTo>
                <a:lnTo>
                  <a:pt x="82" y="17"/>
                </a:lnTo>
                <a:lnTo>
                  <a:pt x="98" y="24"/>
                </a:lnTo>
                <a:lnTo>
                  <a:pt x="114" y="32"/>
                </a:lnTo>
                <a:lnTo>
                  <a:pt x="131" y="41"/>
                </a:lnTo>
                <a:lnTo>
                  <a:pt x="147" y="50"/>
                </a:lnTo>
                <a:lnTo>
                  <a:pt x="164" y="59"/>
                </a:lnTo>
                <a:lnTo>
                  <a:pt x="180" y="69"/>
                </a:lnTo>
                <a:lnTo>
                  <a:pt x="196" y="79"/>
                </a:lnTo>
                <a:lnTo>
                  <a:pt x="213" y="89"/>
                </a:lnTo>
                <a:lnTo>
                  <a:pt x="229" y="98"/>
                </a:lnTo>
                <a:lnTo>
                  <a:pt x="246" y="108"/>
                </a:lnTo>
                <a:lnTo>
                  <a:pt x="262" y="117"/>
                </a:lnTo>
                <a:lnTo>
                  <a:pt x="278" y="125"/>
                </a:lnTo>
                <a:lnTo>
                  <a:pt x="295" y="133"/>
                </a:lnTo>
                <a:lnTo>
                  <a:pt x="311" y="140"/>
                </a:lnTo>
                <a:lnTo>
                  <a:pt x="327" y="146"/>
                </a:lnTo>
                <a:lnTo>
                  <a:pt x="344" y="151"/>
                </a:lnTo>
                <a:lnTo>
                  <a:pt x="360" y="155"/>
                </a:lnTo>
                <a:lnTo>
                  <a:pt x="377" y="157"/>
                </a:lnTo>
                <a:lnTo>
                  <a:pt x="393" y="158"/>
                </a:lnTo>
                <a:lnTo>
                  <a:pt x="393" y="161"/>
                </a:lnTo>
                <a:lnTo>
                  <a:pt x="377" y="161"/>
                </a:lnTo>
                <a:lnTo>
                  <a:pt x="360" y="158"/>
                </a:lnTo>
                <a:lnTo>
                  <a:pt x="344" y="155"/>
                </a:lnTo>
                <a:lnTo>
                  <a:pt x="327" y="150"/>
                </a:lnTo>
                <a:lnTo>
                  <a:pt x="311" y="144"/>
                </a:lnTo>
                <a:lnTo>
                  <a:pt x="295" y="137"/>
                </a:lnTo>
                <a:lnTo>
                  <a:pt x="278" y="129"/>
                </a:lnTo>
                <a:lnTo>
                  <a:pt x="262" y="120"/>
                </a:lnTo>
                <a:lnTo>
                  <a:pt x="246" y="111"/>
                </a:lnTo>
                <a:lnTo>
                  <a:pt x="229" y="102"/>
                </a:lnTo>
                <a:lnTo>
                  <a:pt x="213" y="92"/>
                </a:lnTo>
                <a:lnTo>
                  <a:pt x="196" y="82"/>
                </a:lnTo>
                <a:lnTo>
                  <a:pt x="180" y="73"/>
                </a:lnTo>
                <a:lnTo>
                  <a:pt x="164" y="63"/>
                </a:lnTo>
                <a:lnTo>
                  <a:pt x="147" y="53"/>
                </a:lnTo>
                <a:lnTo>
                  <a:pt x="131" y="44"/>
                </a:lnTo>
                <a:lnTo>
                  <a:pt x="114" y="36"/>
                </a:lnTo>
                <a:lnTo>
                  <a:pt x="98" y="28"/>
                </a:lnTo>
                <a:lnTo>
                  <a:pt x="82" y="21"/>
                </a:lnTo>
                <a:lnTo>
                  <a:pt x="65" y="15"/>
                </a:lnTo>
                <a:lnTo>
                  <a:pt x="49" y="10"/>
                </a:lnTo>
                <a:lnTo>
                  <a:pt x="33" y="7"/>
                </a:lnTo>
                <a:lnTo>
                  <a:pt x="16" y="4"/>
                </a:lnTo>
                <a:lnTo>
                  <a:pt x="0" y="4"/>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4267200"/>
            <a:ext cx="3743325" cy="838200"/>
          </a:xfrm>
          <a:custGeom>
            <a:avLst/>
            <a:gdLst/>
            <a:ahLst/>
            <a:cxnLst/>
            <a:rect l="l" t="t" r="r" b="b"/>
            <a:pathLst>
              <a:path w="393" h="88">
                <a:moveTo>
                  <a:pt x="0" y="81"/>
                </a:moveTo>
                <a:lnTo>
                  <a:pt x="16" y="80"/>
                </a:lnTo>
                <a:lnTo>
                  <a:pt x="33" y="79"/>
                </a:lnTo>
                <a:lnTo>
                  <a:pt x="49" y="77"/>
                </a:lnTo>
                <a:lnTo>
                  <a:pt x="65" y="75"/>
                </a:lnTo>
                <a:lnTo>
                  <a:pt x="82" y="71"/>
                </a:lnTo>
                <a:lnTo>
                  <a:pt x="98" y="68"/>
                </a:lnTo>
                <a:lnTo>
                  <a:pt x="114" y="64"/>
                </a:lnTo>
                <a:lnTo>
                  <a:pt x="131" y="60"/>
                </a:lnTo>
                <a:lnTo>
                  <a:pt x="147" y="55"/>
                </a:lnTo>
                <a:lnTo>
                  <a:pt x="164" y="50"/>
                </a:lnTo>
                <a:lnTo>
                  <a:pt x="180" y="45"/>
                </a:lnTo>
                <a:lnTo>
                  <a:pt x="196" y="40"/>
                </a:lnTo>
                <a:lnTo>
                  <a:pt x="213" y="35"/>
                </a:lnTo>
                <a:lnTo>
                  <a:pt x="229" y="30"/>
                </a:lnTo>
                <a:lnTo>
                  <a:pt x="246" y="25"/>
                </a:lnTo>
                <a:lnTo>
                  <a:pt x="262" y="21"/>
                </a:lnTo>
                <a:lnTo>
                  <a:pt x="278" y="16"/>
                </a:lnTo>
                <a:lnTo>
                  <a:pt x="295" y="13"/>
                </a:lnTo>
                <a:lnTo>
                  <a:pt x="311" y="9"/>
                </a:lnTo>
                <a:lnTo>
                  <a:pt x="327" y="6"/>
                </a:lnTo>
                <a:lnTo>
                  <a:pt x="344" y="3"/>
                </a:lnTo>
                <a:lnTo>
                  <a:pt x="360" y="2"/>
                </a:lnTo>
                <a:lnTo>
                  <a:pt x="377" y="0"/>
                </a:lnTo>
                <a:lnTo>
                  <a:pt x="393" y="0"/>
                </a:lnTo>
                <a:lnTo>
                  <a:pt x="393" y="7"/>
                </a:lnTo>
                <a:lnTo>
                  <a:pt x="377" y="8"/>
                </a:lnTo>
                <a:lnTo>
                  <a:pt x="360" y="9"/>
                </a:lnTo>
                <a:lnTo>
                  <a:pt x="344" y="11"/>
                </a:lnTo>
                <a:lnTo>
                  <a:pt x="327" y="13"/>
                </a:lnTo>
                <a:lnTo>
                  <a:pt x="311" y="16"/>
                </a:lnTo>
                <a:lnTo>
                  <a:pt x="295" y="20"/>
                </a:lnTo>
                <a:lnTo>
                  <a:pt x="278" y="24"/>
                </a:lnTo>
                <a:lnTo>
                  <a:pt x="262" y="28"/>
                </a:lnTo>
                <a:lnTo>
                  <a:pt x="246" y="33"/>
                </a:lnTo>
                <a:lnTo>
                  <a:pt x="229" y="37"/>
                </a:lnTo>
                <a:lnTo>
                  <a:pt x="213" y="42"/>
                </a:lnTo>
                <a:lnTo>
                  <a:pt x="196" y="47"/>
                </a:lnTo>
                <a:lnTo>
                  <a:pt x="180" y="52"/>
                </a:lnTo>
                <a:lnTo>
                  <a:pt x="164" y="57"/>
                </a:lnTo>
                <a:lnTo>
                  <a:pt x="147" y="62"/>
                </a:lnTo>
                <a:lnTo>
                  <a:pt x="131" y="67"/>
                </a:lnTo>
                <a:lnTo>
                  <a:pt x="114" y="71"/>
                </a:lnTo>
                <a:lnTo>
                  <a:pt x="98" y="75"/>
                </a:lnTo>
                <a:lnTo>
                  <a:pt x="82" y="79"/>
                </a:lnTo>
                <a:lnTo>
                  <a:pt x="65" y="82"/>
                </a:lnTo>
                <a:lnTo>
                  <a:pt x="49" y="84"/>
                </a:lnTo>
                <a:lnTo>
                  <a:pt x="33" y="86"/>
                </a:lnTo>
                <a:lnTo>
                  <a:pt x="16" y="87"/>
                </a:lnTo>
                <a:lnTo>
                  <a:pt x="0" y="8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4648200"/>
            <a:ext cx="3743325" cy="523875"/>
          </a:xfrm>
          <a:custGeom>
            <a:avLst/>
            <a:gdLst/>
            <a:ahLst/>
            <a:cxnLst/>
            <a:rect l="l" t="t" r="r" b="b"/>
            <a:pathLst>
              <a:path w="393" h="55">
                <a:moveTo>
                  <a:pt x="0" y="48"/>
                </a:moveTo>
                <a:lnTo>
                  <a:pt x="16" y="48"/>
                </a:lnTo>
                <a:lnTo>
                  <a:pt x="33" y="47"/>
                </a:lnTo>
                <a:lnTo>
                  <a:pt x="49" y="46"/>
                </a:lnTo>
                <a:lnTo>
                  <a:pt x="65" y="44"/>
                </a:lnTo>
                <a:lnTo>
                  <a:pt x="82" y="42"/>
                </a:lnTo>
                <a:lnTo>
                  <a:pt x="98" y="40"/>
                </a:lnTo>
                <a:lnTo>
                  <a:pt x="114" y="38"/>
                </a:lnTo>
                <a:lnTo>
                  <a:pt x="131" y="35"/>
                </a:lnTo>
                <a:lnTo>
                  <a:pt x="147" y="33"/>
                </a:lnTo>
                <a:lnTo>
                  <a:pt x="164" y="30"/>
                </a:lnTo>
                <a:lnTo>
                  <a:pt x="180" y="27"/>
                </a:lnTo>
                <a:lnTo>
                  <a:pt x="196" y="24"/>
                </a:lnTo>
                <a:lnTo>
                  <a:pt x="213" y="21"/>
                </a:lnTo>
                <a:lnTo>
                  <a:pt x="229" y="18"/>
                </a:lnTo>
                <a:lnTo>
                  <a:pt x="246" y="15"/>
                </a:lnTo>
                <a:lnTo>
                  <a:pt x="262" y="13"/>
                </a:lnTo>
                <a:lnTo>
                  <a:pt x="278" y="10"/>
                </a:lnTo>
                <a:lnTo>
                  <a:pt x="295" y="8"/>
                </a:lnTo>
                <a:lnTo>
                  <a:pt x="311" y="6"/>
                </a:lnTo>
                <a:lnTo>
                  <a:pt x="327" y="4"/>
                </a:lnTo>
                <a:lnTo>
                  <a:pt x="344" y="3"/>
                </a:lnTo>
                <a:lnTo>
                  <a:pt x="360" y="1"/>
                </a:lnTo>
                <a:lnTo>
                  <a:pt x="377" y="1"/>
                </a:lnTo>
                <a:lnTo>
                  <a:pt x="393" y="0"/>
                </a:lnTo>
                <a:lnTo>
                  <a:pt x="393" y="8"/>
                </a:lnTo>
                <a:lnTo>
                  <a:pt x="377" y="8"/>
                </a:lnTo>
                <a:lnTo>
                  <a:pt x="360" y="9"/>
                </a:lnTo>
                <a:lnTo>
                  <a:pt x="344" y="10"/>
                </a:lnTo>
                <a:lnTo>
                  <a:pt x="327" y="11"/>
                </a:lnTo>
                <a:lnTo>
                  <a:pt x="311" y="13"/>
                </a:lnTo>
                <a:lnTo>
                  <a:pt x="295" y="15"/>
                </a:lnTo>
                <a:lnTo>
                  <a:pt x="278" y="18"/>
                </a:lnTo>
                <a:lnTo>
                  <a:pt x="262" y="20"/>
                </a:lnTo>
                <a:lnTo>
                  <a:pt x="246" y="23"/>
                </a:lnTo>
                <a:lnTo>
                  <a:pt x="229" y="26"/>
                </a:lnTo>
                <a:lnTo>
                  <a:pt x="213" y="29"/>
                </a:lnTo>
                <a:lnTo>
                  <a:pt x="196" y="31"/>
                </a:lnTo>
                <a:lnTo>
                  <a:pt x="180" y="34"/>
                </a:lnTo>
                <a:lnTo>
                  <a:pt x="164" y="37"/>
                </a:lnTo>
                <a:lnTo>
                  <a:pt x="147" y="40"/>
                </a:lnTo>
                <a:lnTo>
                  <a:pt x="131" y="43"/>
                </a:lnTo>
                <a:lnTo>
                  <a:pt x="114" y="45"/>
                </a:lnTo>
                <a:lnTo>
                  <a:pt x="98" y="48"/>
                </a:lnTo>
                <a:lnTo>
                  <a:pt x="82" y="50"/>
                </a:lnTo>
                <a:lnTo>
                  <a:pt x="65" y="52"/>
                </a:lnTo>
                <a:lnTo>
                  <a:pt x="49" y="53"/>
                </a:lnTo>
                <a:lnTo>
                  <a:pt x="33" y="54"/>
                </a:lnTo>
                <a:lnTo>
                  <a:pt x="16" y="55"/>
                </a:lnTo>
                <a:lnTo>
                  <a:pt x="0" y="5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5048250"/>
            <a:ext cx="3743325" cy="190500"/>
          </a:xfrm>
          <a:custGeom>
            <a:avLst/>
            <a:gdLst/>
            <a:ahLst/>
            <a:cxnLst/>
            <a:rect l="l" t="t" r="r" b="b"/>
            <a:pathLst>
              <a:path w="393" h="20">
                <a:moveTo>
                  <a:pt x="0" y="13"/>
                </a:moveTo>
                <a:lnTo>
                  <a:pt x="16" y="13"/>
                </a:lnTo>
                <a:lnTo>
                  <a:pt x="33" y="13"/>
                </a:lnTo>
                <a:lnTo>
                  <a:pt x="49" y="13"/>
                </a:lnTo>
                <a:lnTo>
                  <a:pt x="65" y="12"/>
                </a:lnTo>
                <a:lnTo>
                  <a:pt x="82" y="12"/>
                </a:lnTo>
                <a:lnTo>
                  <a:pt x="98" y="11"/>
                </a:lnTo>
                <a:lnTo>
                  <a:pt x="114" y="10"/>
                </a:lnTo>
                <a:lnTo>
                  <a:pt x="131" y="10"/>
                </a:lnTo>
                <a:lnTo>
                  <a:pt x="147" y="9"/>
                </a:lnTo>
                <a:lnTo>
                  <a:pt x="164" y="8"/>
                </a:lnTo>
                <a:lnTo>
                  <a:pt x="180" y="7"/>
                </a:lnTo>
                <a:lnTo>
                  <a:pt x="196" y="6"/>
                </a:lnTo>
                <a:lnTo>
                  <a:pt x="213" y="6"/>
                </a:lnTo>
                <a:lnTo>
                  <a:pt x="229" y="5"/>
                </a:lnTo>
                <a:lnTo>
                  <a:pt x="246" y="4"/>
                </a:lnTo>
                <a:lnTo>
                  <a:pt x="262" y="3"/>
                </a:lnTo>
                <a:lnTo>
                  <a:pt x="278" y="3"/>
                </a:lnTo>
                <a:lnTo>
                  <a:pt x="295" y="2"/>
                </a:lnTo>
                <a:lnTo>
                  <a:pt x="311" y="1"/>
                </a:lnTo>
                <a:lnTo>
                  <a:pt x="327" y="1"/>
                </a:lnTo>
                <a:lnTo>
                  <a:pt x="344" y="0"/>
                </a:lnTo>
                <a:lnTo>
                  <a:pt x="360" y="0"/>
                </a:lnTo>
                <a:lnTo>
                  <a:pt x="377" y="0"/>
                </a:lnTo>
                <a:lnTo>
                  <a:pt x="393" y="0"/>
                </a:lnTo>
                <a:lnTo>
                  <a:pt x="393" y="7"/>
                </a:lnTo>
                <a:lnTo>
                  <a:pt x="377" y="7"/>
                </a:lnTo>
                <a:lnTo>
                  <a:pt x="360" y="7"/>
                </a:lnTo>
                <a:lnTo>
                  <a:pt x="344" y="7"/>
                </a:lnTo>
                <a:lnTo>
                  <a:pt x="327" y="8"/>
                </a:lnTo>
                <a:lnTo>
                  <a:pt x="311" y="8"/>
                </a:lnTo>
                <a:lnTo>
                  <a:pt x="295" y="9"/>
                </a:lnTo>
                <a:lnTo>
                  <a:pt x="278" y="10"/>
                </a:lnTo>
                <a:lnTo>
                  <a:pt x="262" y="10"/>
                </a:lnTo>
                <a:lnTo>
                  <a:pt x="246" y="11"/>
                </a:lnTo>
                <a:lnTo>
                  <a:pt x="229" y="12"/>
                </a:lnTo>
                <a:lnTo>
                  <a:pt x="213" y="13"/>
                </a:lnTo>
                <a:lnTo>
                  <a:pt x="196" y="13"/>
                </a:lnTo>
                <a:lnTo>
                  <a:pt x="180" y="14"/>
                </a:lnTo>
                <a:lnTo>
                  <a:pt x="164" y="15"/>
                </a:lnTo>
                <a:lnTo>
                  <a:pt x="147" y="16"/>
                </a:lnTo>
                <a:lnTo>
                  <a:pt x="131" y="17"/>
                </a:lnTo>
                <a:lnTo>
                  <a:pt x="114" y="17"/>
                </a:lnTo>
                <a:lnTo>
                  <a:pt x="98" y="18"/>
                </a:lnTo>
                <a:lnTo>
                  <a:pt x="82" y="19"/>
                </a:lnTo>
                <a:lnTo>
                  <a:pt x="65" y="19"/>
                </a:lnTo>
                <a:lnTo>
                  <a:pt x="49" y="20"/>
                </a:lnTo>
                <a:lnTo>
                  <a:pt x="33" y="20"/>
                </a:lnTo>
                <a:lnTo>
                  <a:pt x="16" y="20"/>
                </a:lnTo>
                <a:lnTo>
                  <a:pt x="0" y="20"/>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5238750"/>
            <a:ext cx="3743325" cy="238125"/>
          </a:xfrm>
          <a:custGeom>
            <a:avLst/>
            <a:gdLst/>
            <a:ahLst/>
            <a:cxnLst/>
            <a:rect l="l" t="t" r="r" b="b"/>
            <a:pathLst>
              <a:path w="393" h="25">
                <a:moveTo>
                  <a:pt x="0" y="0"/>
                </a:moveTo>
                <a:lnTo>
                  <a:pt x="16" y="0"/>
                </a:lnTo>
                <a:lnTo>
                  <a:pt x="33" y="0"/>
                </a:lnTo>
                <a:lnTo>
                  <a:pt x="49" y="1"/>
                </a:lnTo>
                <a:lnTo>
                  <a:pt x="65" y="1"/>
                </a:lnTo>
                <a:lnTo>
                  <a:pt x="82" y="2"/>
                </a:lnTo>
                <a:lnTo>
                  <a:pt x="98" y="3"/>
                </a:lnTo>
                <a:lnTo>
                  <a:pt x="114" y="4"/>
                </a:lnTo>
                <a:lnTo>
                  <a:pt x="131" y="5"/>
                </a:lnTo>
                <a:lnTo>
                  <a:pt x="147" y="6"/>
                </a:lnTo>
                <a:lnTo>
                  <a:pt x="164" y="7"/>
                </a:lnTo>
                <a:lnTo>
                  <a:pt x="180" y="8"/>
                </a:lnTo>
                <a:lnTo>
                  <a:pt x="196" y="9"/>
                </a:lnTo>
                <a:lnTo>
                  <a:pt x="213" y="10"/>
                </a:lnTo>
                <a:lnTo>
                  <a:pt x="229" y="11"/>
                </a:lnTo>
                <a:lnTo>
                  <a:pt x="246" y="12"/>
                </a:lnTo>
                <a:lnTo>
                  <a:pt x="262" y="13"/>
                </a:lnTo>
                <a:lnTo>
                  <a:pt x="278" y="14"/>
                </a:lnTo>
                <a:lnTo>
                  <a:pt x="295" y="15"/>
                </a:lnTo>
                <a:lnTo>
                  <a:pt x="311" y="15"/>
                </a:lnTo>
                <a:lnTo>
                  <a:pt x="327" y="16"/>
                </a:lnTo>
                <a:lnTo>
                  <a:pt x="344" y="17"/>
                </a:lnTo>
                <a:lnTo>
                  <a:pt x="360" y="17"/>
                </a:lnTo>
                <a:lnTo>
                  <a:pt x="377" y="17"/>
                </a:lnTo>
                <a:lnTo>
                  <a:pt x="393" y="17"/>
                </a:lnTo>
                <a:lnTo>
                  <a:pt x="393" y="25"/>
                </a:lnTo>
                <a:lnTo>
                  <a:pt x="377" y="25"/>
                </a:lnTo>
                <a:lnTo>
                  <a:pt x="360" y="25"/>
                </a:lnTo>
                <a:lnTo>
                  <a:pt x="344" y="24"/>
                </a:lnTo>
                <a:lnTo>
                  <a:pt x="327" y="24"/>
                </a:lnTo>
                <a:lnTo>
                  <a:pt x="311" y="23"/>
                </a:lnTo>
                <a:lnTo>
                  <a:pt x="295" y="22"/>
                </a:lnTo>
                <a:lnTo>
                  <a:pt x="278" y="22"/>
                </a:lnTo>
                <a:lnTo>
                  <a:pt x="262" y="21"/>
                </a:lnTo>
                <a:lnTo>
                  <a:pt x="246" y="20"/>
                </a:lnTo>
                <a:lnTo>
                  <a:pt x="229" y="19"/>
                </a:lnTo>
                <a:lnTo>
                  <a:pt x="213" y="18"/>
                </a:lnTo>
                <a:lnTo>
                  <a:pt x="196" y="17"/>
                </a:lnTo>
                <a:lnTo>
                  <a:pt x="180" y="15"/>
                </a:lnTo>
                <a:lnTo>
                  <a:pt x="164" y="14"/>
                </a:lnTo>
                <a:lnTo>
                  <a:pt x="147" y="13"/>
                </a:lnTo>
                <a:lnTo>
                  <a:pt x="131" y="12"/>
                </a:lnTo>
                <a:lnTo>
                  <a:pt x="114" y="11"/>
                </a:lnTo>
                <a:lnTo>
                  <a:pt x="98" y="11"/>
                </a:lnTo>
                <a:lnTo>
                  <a:pt x="82" y="10"/>
                </a:lnTo>
                <a:lnTo>
                  <a:pt x="65" y="9"/>
                </a:lnTo>
                <a:lnTo>
                  <a:pt x="49" y="9"/>
                </a:lnTo>
                <a:lnTo>
                  <a:pt x="33" y="8"/>
                </a:lnTo>
                <a:lnTo>
                  <a:pt x="16" y="8"/>
                </a:lnTo>
                <a:lnTo>
                  <a:pt x="0" y="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5314950"/>
            <a:ext cx="3743325" cy="485775"/>
          </a:xfrm>
          <a:custGeom>
            <a:avLst/>
            <a:gdLst/>
            <a:ahLst/>
            <a:cxnLst/>
            <a:rect l="l" t="t" r="r" b="b"/>
            <a:pathLst>
              <a:path w="393" h="51">
                <a:moveTo>
                  <a:pt x="0" y="0"/>
                </a:moveTo>
                <a:lnTo>
                  <a:pt x="16" y="0"/>
                </a:lnTo>
                <a:lnTo>
                  <a:pt x="33" y="1"/>
                </a:lnTo>
                <a:lnTo>
                  <a:pt x="49" y="2"/>
                </a:lnTo>
                <a:lnTo>
                  <a:pt x="65" y="3"/>
                </a:lnTo>
                <a:lnTo>
                  <a:pt x="82" y="5"/>
                </a:lnTo>
                <a:lnTo>
                  <a:pt x="98" y="7"/>
                </a:lnTo>
                <a:lnTo>
                  <a:pt x="114" y="9"/>
                </a:lnTo>
                <a:lnTo>
                  <a:pt x="131" y="12"/>
                </a:lnTo>
                <a:lnTo>
                  <a:pt x="147" y="14"/>
                </a:lnTo>
                <a:lnTo>
                  <a:pt x="164" y="17"/>
                </a:lnTo>
                <a:lnTo>
                  <a:pt x="180" y="20"/>
                </a:lnTo>
                <a:lnTo>
                  <a:pt x="196" y="23"/>
                </a:lnTo>
                <a:lnTo>
                  <a:pt x="213" y="26"/>
                </a:lnTo>
                <a:lnTo>
                  <a:pt x="229" y="28"/>
                </a:lnTo>
                <a:lnTo>
                  <a:pt x="246" y="31"/>
                </a:lnTo>
                <a:lnTo>
                  <a:pt x="262" y="34"/>
                </a:lnTo>
                <a:lnTo>
                  <a:pt x="278" y="36"/>
                </a:lnTo>
                <a:lnTo>
                  <a:pt x="295" y="38"/>
                </a:lnTo>
                <a:lnTo>
                  <a:pt x="311" y="41"/>
                </a:lnTo>
                <a:lnTo>
                  <a:pt x="327" y="42"/>
                </a:lnTo>
                <a:lnTo>
                  <a:pt x="344" y="44"/>
                </a:lnTo>
                <a:lnTo>
                  <a:pt x="360" y="45"/>
                </a:lnTo>
                <a:lnTo>
                  <a:pt x="377" y="45"/>
                </a:lnTo>
                <a:lnTo>
                  <a:pt x="393" y="46"/>
                </a:lnTo>
                <a:lnTo>
                  <a:pt x="393" y="51"/>
                </a:lnTo>
                <a:lnTo>
                  <a:pt x="377" y="51"/>
                </a:lnTo>
                <a:lnTo>
                  <a:pt x="360" y="50"/>
                </a:lnTo>
                <a:lnTo>
                  <a:pt x="344" y="49"/>
                </a:lnTo>
                <a:lnTo>
                  <a:pt x="327" y="48"/>
                </a:lnTo>
                <a:lnTo>
                  <a:pt x="311" y="46"/>
                </a:lnTo>
                <a:lnTo>
                  <a:pt x="295" y="44"/>
                </a:lnTo>
                <a:lnTo>
                  <a:pt x="278" y="42"/>
                </a:lnTo>
                <a:lnTo>
                  <a:pt x="262" y="39"/>
                </a:lnTo>
                <a:lnTo>
                  <a:pt x="246" y="37"/>
                </a:lnTo>
                <a:lnTo>
                  <a:pt x="229" y="34"/>
                </a:lnTo>
                <a:lnTo>
                  <a:pt x="213" y="31"/>
                </a:lnTo>
                <a:lnTo>
                  <a:pt x="196" y="28"/>
                </a:lnTo>
                <a:lnTo>
                  <a:pt x="180" y="25"/>
                </a:lnTo>
                <a:lnTo>
                  <a:pt x="164" y="23"/>
                </a:lnTo>
                <a:lnTo>
                  <a:pt x="147" y="20"/>
                </a:lnTo>
                <a:lnTo>
                  <a:pt x="131" y="17"/>
                </a:lnTo>
                <a:lnTo>
                  <a:pt x="114" y="15"/>
                </a:lnTo>
                <a:lnTo>
                  <a:pt x="98" y="13"/>
                </a:lnTo>
                <a:lnTo>
                  <a:pt x="82" y="11"/>
                </a:lnTo>
                <a:lnTo>
                  <a:pt x="65" y="9"/>
                </a:lnTo>
                <a:lnTo>
                  <a:pt x="49" y="7"/>
                </a:lnTo>
                <a:lnTo>
                  <a:pt x="33" y="6"/>
                </a:lnTo>
                <a:lnTo>
                  <a:pt x="16" y="6"/>
                </a:lnTo>
                <a:lnTo>
                  <a:pt x="0" y="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5362575"/>
            <a:ext cx="3743325" cy="752475"/>
          </a:xfrm>
          <a:custGeom>
            <a:avLst/>
            <a:gdLst/>
            <a:ahLst/>
            <a:cxnLst/>
            <a:rect l="l" t="t" r="r" b="b"/>
            <a:pathLst>
              <a:path w="393" h="79">
                <a:moveTo>
                  <a:pt x="0" y="0"/>
                </a:moveTo>
                <a:lnTo>
                  <a:pt x="16" y="1"/>
                </a:lnTo>
                <a:lnTo>
                  <a:pt x="33" y="2"/>
                </a:lnTo>
                <a:lnTo>
                  <a:pt x="49" y="4"/>
                </a:lnTo>
                <a:lnTo>
                  <a:pt x="65" y="6"/>
                </a:lnTo>
                <a:lnTo>
                  <a:pt x="82" y="9"/>
                </a:lnTo>
                <a:lnTo>
                  <a:pt x="98" y="12"/>
                </a:lnTo>
                <a:lnTo>
                  <a:pt x="114" y="15"/>
                </a:lnTo>
                <a:lnTo>
                  <a:pt x="131" y="19"/>
                </a:lnTo>
                <a:lnTo>
                  <a:pt x="147" y="24"/>
                </a:lnTo>
                <a:lnTo>
                  <a:pt x="164" y="28"/>
                </a:lnTo>
                <a:lnTo>
                  <a:pt x="180" y="32"/>
                </a:lnTo>
                <a:lnTo>
                  <a:pt x="196" y="37"/>
                </a:lnTo>
                <a:lnTo>
                  <a:pt x="213" y="42"/>
                </a:lnTo>
                <a:lnTo>
                  <a:pt x="229" y="46"/>
                </a:lnTo>
                <a:lnTo>
                  <a:pt x="246" y="50"/>
                </a:lnTo>
                <a:lnTo>
                  <a:pt x="262" y="55"/>
                </a:lnTo>
                <a:lnTo>
                  <a:pt x="278" y="58"/>
                </a:lnTo>
                <a:lnTo>
                  <a:pt x="295" y="62"/>
                </a:lnTo>
                <a:lnTo>
                  <a:pt x="311" y="65"/>
                </a:lnTo>
                <a:lnTo>
                  <a:pt x="327" y="68"/>
                </a:lnTo>
                <a:lnTo>
                  <a:pt x="344" y="70"/>
                </a:lnTo>
                <a:lnTo>
                  <a:pt x="360" y="72"/>
                </a:lnTo>
                <a:lnTo>
                  <a:pt x="377" y="73"/>
                </a:lnTo>
                <a:lnTo>
                  <a:pt x="393" y="73"/>
                </a:lnTo>
                <a:lnTo>
                  <a:pt x="393" y="79"/>
                </a:lnTo>
                <a:lnTo>
                  <a:pt x="377" y="79"/>
                </a:lnTo>
                <a:lnTo>
                  <a:pt x="360" y="77"/>
                </a:lnTo>
                <a:lnTo>
                  <a:pt x="344" y="76"/>
                </a:lnTo>
                <a:lnTo>
                  <a:pt x="327" y="74"/>
                </a:lnTo>
                <a:lnTo>
                  <a:pt x="311" y="71"/>
                </a:lnTo>
                <a:lnTo>
                  <a:pt x="295" y="68"/>
                </a:lnTo>
                <a:lnTo>
                  <a:pt x="278" y="64"/>
                </a:lnTo>
                <a:lnTo>
                  <a:pt x="262" y="60"/>
                </a:lnTo>
                <a:lnTo>
                  <a:pt x="246" y="56"/>
                </a:lnTo>
                <a:lnTo>
                  <a:pt x="229" y="51"/>
                </a:lnTo>
                <a:lnTo>
                  <a:pt x="213" y="47"/>
                </a:lnTo>
                <a:lnTo>
                  <a:pt x="196" y="42"/>
                </a:lnTo>
                <a:lnTo>
                  <a:pt x="180" y="38"/>
                </a:lnTo>
                <a:lnTo>
                  <a:pt x="164" y="33"/>
                </a:lnTo>
                <a:lnTo>
                  <a:pt x="147" y="29"/>
                </a:lnTo>
                <a:lnTo>
                  <a:pt x="131" y="25"/>
                </a:lnTo>
                <a:lnTo>
                  <a:pt x="114" y="21"/>
                </a:lnTo>
                <a:lnTo>
                  <a:pt x="98" y="17"/>
                </a:lnTo>
                <a:lnTo>
                  <a:pt x="82" y="14"/>
                </a:lnTo>
                <a:lnTo>
                  <a:pt x="65" y="11"/>
                </a:lnTo>
                <a:lnTo>
                  <a:pt x="49" y="9"/>
                </a:lnTo>
                <a:lnTo>
                  <a:pt x="33" y="7"/>
                </a:lnTo>
                <a:lnTo>
                  <a:pt x="16" y="6"/>
                </a:lnTo>
                <a:lnTo>
                  <a:pt x="0" y="6"/>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5419725"/>
            <a:ext cx="3743325" cy="923925"/>
          </a:xfrm>
          <a:custGeom>
            <a:avLst/>
            <a:gdLst/>
            <a:ahLst/>
            <a:cxnLst/>
            <a:rect l="l" t="t" r="r" b="b"/>
            <a:pathLst>
              <a:path w="393" h="97">
                <a:moveTo>
                  <a:pt x="0" y="0"/>
                </a:moveTo>
                <a:lnTo>
                  <a:pt x="16" y="0"/>
                </a:lnTo>
                <a:lnTo>
                  <a:pt x="33" y="2"/>
                </a:lnTo>
                <a:lnTo>
                  <a:pt x="49" y="4"/>
                </a:lnTo>
                <a:lnTo>
                  <a:pt x="65" y="7"/>
                </a:lnTo>
                <a:lnTo>
                  <a:pt x="82" y="11"/>
                </a:lnTo>
                <a:lnTo>
                  <a:pt x="98" y="15"/>
                </a:lnTo>
                <a:lnTo>
                  <a:pt x="114" y="19"/>
                </a:lnTo>
                <a:lnTo>
                  <a:pt x="131" y="24"/>
                </a:lnTo>
                <a:lnTo>
                  <a:pt x="147" y="30"/>
                </a:lnTo>
                <a:lnTo>
                  <a:pt x="164" y="35"/>
                </a:lnTo>
                <a:lnTo>
                  <a:pt x="180" y="41"/>
                </a:lnTo>
                <a:lnTo>
                  <a:pt x="196" y="47"/>
                </a:lnTo>
                <a:lnTo>
                  <a:pt x="213" y="53"/>
                </a:lnTo>
                <a:lnTo>
                  <a:pt x="229" y="59"/>
                </a:lnTo>
                <a:lnTo>
                  <a:pt x="246" y="65"/>
                </a:lnTo>
                <a:lnTo>
                  <a:pt x="262" y="70"/>
                </a:lnTo>
                <a:lnTo>
                  <a:pt x="278" y="75"/>
                </a:lnTo>
                <a:lnTo>
                  <a:pt x="295" y="80"/>
                </a:lnTo>
                <a:lnTo>
                  <a:pt x="311" y="84"/>
                </a:lnTo>
                <a:lnTo>
                  <a:pt x="327" y="88"/>
                </a:lnTo>
                <a:lnTo>
                  <a:pt x="344" y="90"/>
                </a:lnTo>
                <a:lnTo>
                  <a:pt x="360" y="93"/>
                </a:lnTo>
                <a:lnTo>
                  <a:pt x="377" y="94"/>
                </a:lnTo>
                <a:lnTo>
                  <a:pt x="393" y="95"/>
                </a:lnTo>
                <a:lnTo>
                  <a:pt x="393" y="97"/>
                </a:lnTo>
                <a:lnTo>
                  <a:pt x="377" y="96"/>
                </a:lnTo>
                <a:lnTo>
                  <a:pt x="360" y="95"/>
                </a:lnTo>
                <a:lnTo>
                  <a:pt x="344" y="93"/>
                </a:lnTo>
                <a:lnTo>
                  <a:pt x="327" y="90"/>
                </a:lnTo>
                <a:lnTo>
                  <a:pt x="311" y="86"/>
                </a:lnTo>
                <a:lnTo>
                  <a:pt x="295" y="82"/>
                </a:lnTo>
                <a:lnTo>
                  <a:pt x="278" y="77"/>
                </a:lnTo>
                <a:lnTo>
                  <a:pt x="262" y="72"/>
                </a:lnTo>
                <a:lnTo>
                  <a:pt x="246" y="67"/>
                </a:lnTo>
                <a:lnTo>
                  <a:pt x="229" y="61"/>
                </a:lnTo>
                <a:lnTo>
                  <a:pt x="213" y="55"/>
                </a:lnTo>
                <a:lnTo>
                  <a:pt x="196" y="50"/>
                </a:lnTo>
                <a:lnTo>
                  <a:pt x="180" y="44"/>
                </a:lnTo>
                <a:lnTo>
                  <a:pt x="164" y="38"/>
                </a:lnTo>
                <a:lnTo>
                  <a:pt x="147" y="32"/>
                </a:lnTo>
                <a:lnTo>
                  <a:pt x="131" y="27"/>
                </a:lnTo>
                <a:lnTo>
                  <a:pt x="114" y="22"/>
                </a:lnTo>
                <a:lnTo>
                  <a:pt x="98" y="17"/>
                </a:lnTo>
                <a:lnTo>
                  <a:pt x="82" y="13"/>
                </a:lnTo>
                <a:lnTo>
                  <a:pt x="65" y="9"/>
                </a:lnTo>
                <a:lnTo>
                  <a:pt x="49" y="6"/>
                </a:lnTo>
                <a:lnTo>
                  <a:pt x="33" y="4"/>
                </a:lnTo>
                <a:lnTo>
                  <a:pt x="16" y="3"/>
                </a:lnTo>
                <a:lnTo>
                  <a:pt x="0" y="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5438775"/>
            <a:ext cx="3743325" cy="1057275"/>
          </a:xfrm>
          <a:custGeom>
            <a:avLst/>
            <a:gdLst/>
            <a:ahLst/>
            <a:cxnLst/>
            <a:rect l="l" t="t" r="r" b="b"/>
            <a:pathLst>
              <a:path w="393" h="111">
                <a:moveTo>
                  <a:pt x="0" y="0"/>
                </a:moveTo>
                <a:lnTo>
                  <a:pt x="16" y="1"/>
                </a:lnTo>
                <a:lnTo>
                  <a:pt x="33" y="2"/>
                </a:lnTo>
                <a:lnTo>
                  <a:pt x="49" y="5"/>
                </a:lnTo>
                <a:lnTo>
                  <a:pt x="65" y="8"/>
                </a:lnTo>
                <a:lnTo>
                  <a:pt x="82" y="13"/>
                </a:lnTo>
                <a:lnTo>
                  <a:pt x="98" y="17"/>
                </a:lnTo>
                <a:lnTo>
                  <a:pt x="114" y="23"/>
                </a:lnTo>
                <a:lnTo>
                  <a:pt x="131" y="29"/>
                </a:lnTo>
                <a:lnTo>
                  <a:pt x="147" y="35"/>
                </a:lnTo>
                <a:lnTo>
                  <a:pt x="164" y="41"/>
                </a:lnTo>
                <a:lnTo>
                  <a:pt x="180" y="48"/>
                </a:lnTo>
                <a:lnTo>
                  <a:pt x="196" y="55"/>
                </a:lnTo>
                <a:lnTo>
                  <a:pt x="213" y="62"/>
                </a:lnTo>
                <a:lnTo>
                  <a:pt x="229" y="68"/>
                </a:lnTo>
                <a:lnTo>
                  <a:pt x="246" y="75"/>
                </a:lnTo>
                <a:lnTo>
                  <a:pt x="262" y="81"/>
                </a:lnTo>
                <a:lnTo>
                  <a:pt x="278" y="87"/>
                </a:lnTo>
                <a:lnTo>
                  <a:pt x="295" y="92"/>
                </a:lnTo>
                <a:lnTo>
                  <a:pt x="311" y="97"/>
                </a:lnTo>
                <a:lnTo>
                  <a:pt x="327" y="101"/>
                </a:lnTo>
                <a:lnTo>
                  <a:pt x="344" y="105"/>
                </a:lnTo>
                <a:lnTo>
                  <a:pt x="360" y="107"/>
                </a:lnTo>
                <a:lnTo>
                  <a:pt x="377" y="109"/>
                </a:lnTo>
                <a:lnTo>
                  <a:pt x="393" y="109"/>
                </a:lnTo>
                <a:lnTo>
                  <a:pt x="393" y="111"/>
                </a:lnTo>
                <a:lnTo>
                  <a:pt x="377" y="111"/>
                </a:lnTo>
                <a:lnTo>
                  <a:pt x="360" y="109"/>
                </a:lnTo>
                <a:lnTo>
                  <a:pt x="344" y="107"/>
                </a:lnTo>
                <a:lnTo>
                  <a:pt x="327" y="103"/>
                </a:lnTo>
                <a:lnTo>
                  <a:pt x="311" y="99"/>
                </a:lnTo>
                <a:lnTo>
                  <a:pt x="295" y="94"/>
                </a:lnTo>
                <a:lnTo>
                  <a:pt x="278" y="89"/>
                </a:lnTo>
                <a:lnTo>
                  <a:pt x="262" y="83"/>
                </a:lnTo>
                <a:lnTo>
                  <a:pt x="246" y="77"/>
                </a:lnTo>
                <a:lnTo>
                  <a:pt x="229" y="70"/>
                </a:lnTo>
                <a:lnTo>
                  <a:pt x="213" y="64"/>
                </a:lnTo>
                <a:lnTo>
                  <a:pt x="196" y="57"/>
                </a:lnTo>
                <a:lnTo>
                  <a:pt x="180" y="50"/>
                </a:lnTo>
                <a:lnTo>
                  <a:pt x="164" y="43"/>
                </a:lnTo>
                <a:lnTo>
                  <a:pt x="147" y="37"/>
                </a:lnTo>
                <a:lnTo>
                  <a:pt x="131" y="31"/>
                </a:lnTo>
                <a:lnTo>
                  <a:pt x="114" y="25"/>
                </a:lnTo>
                <a:lnTo>
                  <a:pt x="98" y="19"/>
                </a:lnTo>
                <a:lnTo>
                  <a:pt x="82" y="15"/>
                </a:lnTo>
                <a:lnTo>
                  <a:pt x="65" y="10"/>
                </a:lnTo>
                <a:lnTo>
                  <a:pt x="49" y="7"/>
                </a:lnTo>
                <a:lnTo>
                  <a:pt x="33" y="4"/>
                </a:lnTo>
                <a:lnTo>
                  <a:pt x="16" y="3"/>
                </a:lnTo>
                <a:lnTo>
                  <a:pt x="0" y="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333875"/>
            <a:ext cx="3743325" cy="1238250"/>
          </a:xfrm>
          <a:custGeom>
            <a:avLst/>
            <a:gdLst/>
            <a:ahLst/>
            <a:cxnLst/>
            <a:rect l="l" t="t" r="r" b="b"/>
            <a:pathLst>
              <a:path w="393" h="130">
                <a:moveTo>
                  <a:pt x="0" y="124"/>
                </a:moveTo>
                <a:lnTo>
                  <a:pt x="16" y="124"/>
                </a:lnTo>
                <a:lnTo>
                  <a:pt x="33" y="122"/>
                </a:lnTo>
                <a:lnTo>
                  <a:pt x="49" y="119"/>
                </a:lnTo>
                <a:lnTo>
                  <a:pt x="65" y="115"/>
                </a:lnTo>
                <a:lnTo>
                  <a:pt x="82" y="110"/>
                </a:lnTo>
                <a:lnTo>
                  <a:pt x="98" y="105"/>
                </a:lnTo>
                <a:lnTo>
                  <a:pt x="114" y="99"/>
                </a:lnTo>
                <a:lnTo>
                  <a:pt x="131" y="92"/>
                </a:lnTo>
                <a:lnTo>
                  <a:pt x="147" y="85"/>
                </a:lnTo>
                <a:lnTo>
                  <a:pt x="164" y="78"/>
                </a:lnTo>
                <a:lnTo>
                  <a:pt x="180" y="70"/>
                </a:lnTo>
                <a:lnTo>
                  <a:pt x="196" y="62"/>
                </a:lnTo>
                <a:lnTo>
                  <a:pt x="213" y="54"/>
                </a:lnTo>
                <a:lnTo>
                  <a:pt x="229" y="47"/>
                </a:lnTo>
                <a:lnTo>
                  <a:pt x="246" y="39"/>
                </a:lnTo>
                <a:lnTo>
                  <a:pt x="262" y="32"/>
                </a:lnTo>
                <a:lnTo>
                  <a:pt x="278" y="26"/>
                </a:lnTo>
                <a:lnTo>
                  <a:pt x="295" y="20"/>
                </a:lnTo>
                <a:lnTo>
                  <a:pt x="311" y="14"/>
                </a:lnTo>
                <a:lnTo>
                  <a:pt x="327" y="9"/>
                </a:lnTo>
                <a:lnTo>
                  <a:pt x="344" y="6"/>
                </a:lnTo>
                <a:lnTo>
                  <a:pt x="360" y="3"/>
                </a:lnTo>
                <a:lnTo>
                  <a:pt x="377" y="1"/>
                </a:lnTo>
                <a:lnTo>
                  <a:pt x="393" y="0"/>
                </a:lnTo>
                <a:lnTo>
                  <a:pt x="393" y="6"/>
                </a:lnTo>
                <a:lnTo>
                  <a:pt x="377" y="6"/>
                </a:lnTo>
                <a:lnTo>
                  <a:pt x="360" y="8"/>
                </a:lnTo>
                <a:lnTo>
                  <a:pt x="344" y="11"/>
                </a:lnTo>
                <a:lnTo>
                  <a:pt x="327" y="15"/>
                </a:lnTo>
                <a:lnTo>
                  <a:pt x="311" y="20"/>
                </a:lnTo>
                <a:lnTo>
                  <a:pt x="295" y="25"/>
                </a:lnTo>
                <a:lnTo>
                  <a:pt x="278" y="31"/>
                </a:lnTo>
                <a:lnTo>
                  <a:pt x="262" y="38"/>
                </a:lnTo>
                <a:lnTo>
                  <a:pt x="246" y="45"/>
                </a:lnTo>
                <a:lnTo>
                  <a:pt x="229" y="52"/>
                </a:lnTo>
                <a:lnTo>
                  <a:pt x="213" y="60"/>
                </a:lnTo>
                <a:lnTo>
                  <a:pt x="196" y="68"/>
                </a:lnTo>
                <a:lnTo>
                  <a:pt x="180" y="75"/>
                </a:lnTo>
                <a:lnTo>
                  <a:pt x="164" y="83"/>
                </a:lnTo>
                <a:lnTo>
                  <a:pt x="147" y="90"/>
                </a:lnTo>
                <a:lnTo>
                  <a:pt x="131" y="98"/>
                </a:lnTo>
                <a:lnTo>
                  <a:pt x="114" y="104"/>
                </a:lnTo>
                <a:lnTo>
                  <a:pt x="98" y="110"/>
                </a:lnTo>
                <a:lnTo>
                  <a:pt x="82" y="116"/>
                </a:lnTo>
                <a:lnTo>
                  <a:pt x="65" y="121"/>
                </a:lnTo>
                <a:lnTo>
                  <a:pt x="49" y="124"/>
                </a:lnTo>
                <a:lnTo>
                  <a:pt x="33" y="127"/>
                </a:lnTo>
                <a:lnTo>
                  <a:pt x="16" y="129"/>
                </a:lnTo>
                <a:lnTo>
                  <a:pt x="0" y="130"/>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4724400"/>
            <a:ext cx="3743325" cy="904875"/>
          </a:xfrm>
          <a:custGeom>
            <a:avLst/>
            <a:gdLst/>
            <a:ahLst/>
            <a:cxnLst/>
            <a:rect l="l" t="t" r="r" b="b"/>
            <a:pathLst>
              <a:path w="393" h="95">
                <a:moveTo>
                  <a:pt x="0" y="89"/>
                </a:moveTo>
                <a:lnTo>
                  <a:pt x="16" y="88"/>
                </a:lnTo>
                <a:lnTo>
                  <a:pt x="33" y="87"/>
                </a:lnTo>
                <a:lnTo>
                  <a:pt x="49" y="85"/>
                </a:lnTo>
                <a:lnTo>
                  <a:pt x="65" y="82"/>
                </a:lnTo>
                <a:lnTo>
                  <a:pt x="82" y="79"/>
                </a:lnTo>
                <a:lnTo>
                  <a:pt x="98" y="75"/>
                </a:lnTo>
                <a:lnTo>
                  <a:pt x="114" y="70"/>
                </a:lnTo>
                <a:lnTo>
                  <a:pt x="131" y="66"/>
                </a:lnTo>
                <a:lnTo>
                  <a:pt x="147" y="61"/>
                </a:lnTo>
                <a:lnTo>
                  <a:pt x="164" y="55"/>
                </a:lnTo>
                <a:lnTo>
                  <a:pt x="180" y="50"/>
                </a:lnTo>
                <a:lnTo>
                  <a:pt x="196" y="44"/>
                </a:lnTo>
                <a:lnTo>
                  <a:pt x="213" y="39"/>
                </a:lnTo>
                <a:lnTo>
                  <a:pt x="229" y="33"/>
                </a:lnTo>
                <a:lnTo>
                  <a:pt x="246" y="28"/>
                </a:lnTo>
                <a:lnTo>
                  <a:pt x="262" y="23"/>
                </a:lnTo>
                <a:lnTo>
                  <a:pt x="278" y="18"/>
                </a:lnTo>
                <a:lnTo>
                  <a:pt x="295" y="14"/>
                </a:lnTo>
                <a:lnTo>
                  <a:pt x="311" y="10"/>
                </a:lnTo>
                <a:lnTo>
                  <a:pt x="327" y="6"/>
                </a:lnTo>
                <a:lnTo>
                  <a:pt x="344" y="4"/>
                </a:lnTo>
                <a:lnTo>
                  <a:pt x="360" y="2"/>
                </a:lnTo>
                <a:lnTo>
                  <a:pt x="377" y="0"/>
                </a:lnTo>
                <a:lnTo>
                  <a:pt x="393" y="0"/>
                </a:lnTo>
                <a:lnTo>
                  <a:pt x="393" y="6"/>
                </a:lnTo>
                <a:lnTo>
                  <a:pt x="377" y="6"/>
                </a:lnTo>
                <a:lnTo>
                  <a:pt x="360" y="8"/>
                </a:lnTo>
                <a:lnTo>
                  <a:pt x="344" y="10"/>
                </a:lnTo>
                <a:lnTo>
                  <a:pt x="327" y="12"/>
                </a:lnTo>
                <a:lnTo>
                  <a:pt x="311" y="16"/>
                </a:lnTo>
                <a:lnTo>
                  <a:pt x="295" y="20"/>
                </a:lnTo>
                <a:lnTo>
                  <a:pt x="278" y="24"/>
                </a:lnTo>
                <a:lnTo>
                  <a:pt x="262" y="29"/>
                </a:lnTo>
                <a:lnTo>
                  <a:pt x="246" y="34"/>
                </a:lnTo>
                <a:lnTo>
                  <a:pt x="229" y="39"/>
                </a:lnTo>
                <a:lnTo>
                  <a:pt x="213" y="45"/>
                </a:lnTo>
                <a:lnTo>
                  <a:pt x="196" y="50"/>
                </a:lnTo>
                <a:lnTo>
                  <a:pt x="180" y="56"/>
                </a:lnTo>
                <a:lnTo>
                  <a:pt x="164" y="61"/>
                </a:lnTo>
                <a:lnTo>
                  <a:pt x="147" y="67"/>
                </a:lnTo>
                <a:lnTo>
                  <a:pt x="131" y="72"/>
                </a:lnTo>
                <a:lnTo>
                  <a:pt x="114" y="76"/>
                </a:lnTo>
                <a:lnTo>
                  <a:pt x="98" y="81"/>
                </a:lnTo>
                <a:lnTo>
                  <a:pt x="82" y="85"/>
                </a:lnTo>
                <a:lnTo>
                  <a:pt x="65" y="88"/>
                </a:lnTo>
                <a:lnTo>
                  <a:pt x="49" y="91"/>
                </a:lnTo>
                <a:lnTo>
                  <a:pt x="33" y="93"/>
                </a:lnTo>
                <a:lnTo>
                  <a:pt x="16" y="94"/>
                </a:lnTo>
                <a:lnTo>
                  <a:pt x="0" y="95"/>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114925"/>
            <a:ext cx="3743325" cy="552450"/>
          </a:xfrm>
          <a:custGeom>
            <a:avLst/>
            <a:gdLst/>
            <a:ahLst/>
            <a:cxnLst/>
            <a:rect l="l" t="t" r="r" b="b"/>
            <a:pathLst>
              <a:path w="393" h="58">
                <a:moveTo>
                  <a:pt x="0" y="54"/>
                </a:moveTo>
                <a:lnTo>
                  <a:pt x="16" y="53"/>
                </a:lnTo>
                <a:lnTo>
                  <a:pt x="33" y="53"/>
                </a:lnTo>
                <a:lnTo>
                  <a:pt x="49" y="51"/>
                </a:lnTo>
                <a:lnTo>
                  <a:pt x="65" y="50"/>
                </a:lnTo>
                <a:lnTo>
                  <a:pt x="82" y="48"/>
                </a:lnTo>
                <a:lnTo>
                  <a:pt x="98" y="45"/>
                </a:lnTo>
                <a:lnTo>
                  <a:pt x="114" y="43"/>
                </a:lnTo>
                <a:lnTo>
                  <a:pt x="131" y="40"/>
                </a:lnTo>
                <a:lnTo>
                  <a:pt x="147" y="37"/>
                </a:lnTo>
                <a:lnTo>
                  <a:pt x="164" y="33"/>
                </a:lnTo>
                <a:lnTo>
                  <a:pt x="180" y="30"/>
                </a:lnTo>
                <a:lnTo>
                  <a:pt x="196" y="27"/>
                </a:lnTo>
                <a:lnTo>
                  <a:pt x="213" y="23"/>
                </a:lnTo>
                <a:lnTo>
                  <a:pt x="229" y="20"/>
                </a:lnTo>
                <a:lnTo>
                  <a:pt x="246" y="17"/>
                </a:lnTo>
                <a:lnTo>
                  <a:pt x="262" y="14"/>
                </a:lnTo>
                <a:lnTo>
                  <a:pt x="278" y="11"/>
                </a:lnTo>
                <a:lnTo>
                  <a:pt x="295" y="8"/>
                </a:lnTo>
                <a:lnTo>
                  <a:pt x="311" y="6"/>
                </a:lnTo>
                <a:lnTo>
                  <a:pt x="327" y="4"/>
                </a:lnTo>
                <a:lnTo>
                  <a:pt x="344" y="2"/>
                </a:lnTo>
                <a:lnTo>
                  <a:pt x="360" y="1"/>
                </a:lnTo>
                <a:lnTo>
                  <a:pt x="377" y="0"/>
                </a:lnTo>
                <a:lnTo>
                  <a:pt x="393" y="0"/>
                </a:lnTo>
                <a:lnTo>
                  <a:pt x="393" y="4"/>
                </a:lnTo>
                <a:lnTo>
                  <a:pt x="377" y="5"/>
                </a:lnTo>
                <a:lnTo>
                  <a:pt x="360" y="5"/>
                </a:lnTo>
                <a:lnTo>
                  <a:pt x="344" y="7"/>
                </a:lnTo>
                <a:lnTo>
                  <a:pt x="327" y="8"/>
                </a:lnTo>
                <a:lnTo>
                  <a:pt x="311" y="10"/>
                </a:lnTo>
                <a:lnTo>
                  <a:pt x="295" y="13"/>
                </a:lnTo>
                <a:lnTo>
                  <a:pt x="278" y="15"/>
                </a:lnTo>
                <a:lnTo>
                  <a:pt x="262" y="18"/>
                </a:lnTo>
                <a:lnTo>
                  <a:pt x="246" y="21"/>
                </a:lnTo>
                <a:lnTo>
                  <a:pt x="229" y="25"/>
                </a:lnTo>
                <a:lnTo>
                  <a:pt x="213" y="28"/>
                </a:lnTo>
                <a:lnTo>
                  <a:pt x="196" y="31"/>
                </a:lnTo>
                <a:lnTo>
                  <a:pt x="180" y="35"/>
                </a:lnTo>
                <a:lnTo>
                  <a:pt x="164" y="38"/>
                </a:lnTo>
                <a:lnTo>
                  <a:pt x="147" y="41"/>
                </a:lnTo>
                <a:lnTo>
                  <a:pt x="131" y="44"/>
                </a:lnTo>
                <a:lnTo>
                  <a:pt x="114" y="47"/>
                </a:lnTo>
                <a:lnTo>
                  <a:pt x="98" y="50"/>
                </a:lnTo>
                <a:lnTo>
                  <a:pt x="82" y="52"/>
                </a:lnTo>
                <a:lnTo>
                  <a:pt x="65" y="54"/>
                </a:lnTo>
                <a:lnTo>
                  <a:pt x="49" y="56"/>
                </a:lnTo>
                <a:lnTo>
                  <a:pt x="33" y="57"/>
                </a:lnTo>
                <a:lnTo>
                  <a:pt x="16" y="58"/>
                </a:lnTo>
                <a:lnTo>
                  <a:pt x="0" y="5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476875"/>
            <a:ext cx="3743325" cy="238125"/>
          </a:xfrm>
          <a:custGeom>
            <a:avLst/>
            <a:gdLst/>
            <a:ahLst/>
            <a:cxnLst/>
            <a:rect l="l" t="t" r="r" b="b"/>
            <a:pathLst>
              <a:path w="393" h="25">
                <a:moveTo>
                  <a:pt x="0" y="20"/>
                </a:moveTo>
                <a:lnTo>
                  <a:pt x="16" y="20"/>
                </a:lnTo>
                <a:lnTo>
                  <a:pt x="33" y="20"/>
                </a:lnTo>
                <a:lnTo>
                  <a:pt x="49" y="19"/>
                </a:lnTo>
                <a:lnTo>
                  <a:pt x="65" y="19"/>
                </a:lnTo>
                <a:lnTo>
                  <a:pt x="82" y="18"/>
                </a:lnTo>
                <a:lnTo>
                  <a:pt x="98" y="17"/>
                </a:lnTo>
                <a:lnTo>
                  <a:pt x="114" y="16"/>
                </a:lnTo>
                <a:lnTo>
                  <a:pt x="131" y="15"/>
                </a:lnTo>
                <a:lnTo>
                  <a:pt x="147" y="14"/>
                </a:lnTo>
                <a:lnTo>
                  <a:pt x="164" y="13"/>
                </a:lnTo>
                <a:lnTo>
                  <a:pt x="180" y="11"/>
                </a:lnTo>
                <a:lnTo>
                  <a:pt x="196" y="10"/>
                </a:lnTo>
                <a:lnTo>
                  <a:pt x="213" y="9"/>
                </a:lnTo>
                <a:lnTo>
                  <a:pt x="229" y="8"/>
                </a:lnTo>
                <a:lnTo>
                  <a:pt x="246" y="6"/>
                </a:lnTo>
                <a:lnTo>
                  <a:pt x="262" y="5"/>
                </a:lnTo>
                <a:lnTo>
                  <a:pt x="278" y="4"/>
                </a:lnTo>
                <a:lnTo>
                  <a:pt x="295" y="3"/>
                </a:lnTo>
                <a:lnTo>
                  <a:pt x="311" y="2"/>
                </a:lnTo>
                <a:lnTo>
                  <a:pt x="327" y="2"/>
                </a:lnTo>
                <a:lnTo>
                  <a:pt x="344" y="1"/>
                </a:lnTo>
                <a:lnTo>
                  <a:pt x="360" y="1"/>
                </a:lnTo>
                <a:lnTo>
                  <a:pt x="377" y="0"/>
                </a:lnTo>
                <a:lnTo>
                  <a:pt x="393" y="0"/>
                </a:lnTo>
                <a:lnTo>
                  <a:pt x="393" y="5"/>
                </a:lnTo>
                <a:lnTo>
                  <a:pt x="377" y="5"/>
                </a:lnTo>
                <a:lnTo>
                  <a:pt x="360" y="5"/>
                </a:lnTo>
                <a:lnTo>
                  <a:pt x="344" y="6"/>
                </a:lnTo>
                <a:lnTo>
                  <a:pt x="327" y="6"/>
                </a:lnTo>
                <a:lnTo>
                  <a:pt x="311" y="7"/>
                </a:lnTo>
                <a:lnTo>
                  <a:pt x="295" y="8"/>
                </a:lnTo>
                <a:lnTo>
                  <a:pt x="278" y="9"/>
                </a:lnTo>
                <a:lnTo>
                  <a:pt x="262" y="10"/>
                </a:lnTo>
                <a:lnTo>
                  <a:pt x="246" y="11"/>
                </a:lnTo>
                <a:lnTo>
                  <a:pt x="229" y="12"/>
                </a:lnTo>
                <a:lnTo>
                  <a:pt x="213" y="14"/>
                </a:lnTo>
                <a:lnTo>
                  <a:pt x="196" y="15"/>
                </a:lnTo>
                <a:lnTo>
                  <a:pt x="180" y="16"/>
                </a:lnTo>
                <a:lnTo>
                  <a:pt x="164" y="17"/>
                </a:lnTo>
                <a:lnTo>
                  <a:pt x="147" y="18"/>
                </a:lnTo>
                <a:lnTo>
                  <a:pt x="131" y="20"/>
                </a:lnTo>
                <a:lnTo>
                  <a:pt x="114" y="21"/>
                </a:lnTo>
                <a:lnTo>
                  <a:pt x="98" y="22"/>
                </a:lnTo>
                <a:lnTo>
                  <a:pt x="82" y="23"/>
                </a:lnTo>
                <a:lnTo>
                  <a:pt x="65" y="23"/>
                </a:lnTo>
                <a:lnTo>
                  <a:pt x="49" y="24"/>
                </a:lnTo>
                <a:lnTo>
                  <a:pt x="33" y="24"/>
                </a:lnTo>
                <a:lnTo>
                  <a:pt x="16" y="25"/>
                </a:lnTo>
                <a:lnTo>
                  <a:pt x="0" y="25"/>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5715000"/>
            <a:ext cx="3743325" cy="133350"/>
          </a:xfrm>
          <a:custGeom>
            <a:avLst/>
            <a:gdLst/>
            <a:ahLst/>
            <a:cxnLst/>
            <a:rect l="l" t="t" r="r" b="b"/>
            <a:pathLst>
              <a:path w="393" h="14">
                <a:moveTo>
                  <a:pt x="0" y="0"/>
                </a:moveTo>
                <a:lnTo>
                  <a:pt x="16" y="0"/>
                </a:lnTo>
                <a:lnTo>
                  <a:pt x="33" y="0"/>
                </a:lnTo>
                <a:lnTo>
                  <a:pt x="49" y="0"/>
                </a:lnTo>
                <a:lnTo>
                  <a:pt x="65" y="0"/>
                </a:lnTo>
                <a:lnTo>
                  <a:pt x="82" y="1"/>
                </a:lnTo>
                <a:lnTo>
                  <a:pt x="98" y="1"/>
                </a:lnTo>
                <a:lnTo>
                  <a:pt x="114" y="2"/>
                </a:lnTo>
                <a:lnTo>
                  <a:pt x="131" y="2"/>
                </a:lnTo>
                <a:lnTo>
                  <a:pt x="147" y="3"/>
                </a:lnTo>
                <a:lnTo>
                  <a:pt x="164" y="3"/>
                </a:lnTo>
                <a:lnTo>
                  <a:pt x="180" y="4"/>
                </a:lnTo>
                <a:lnTo>
                  <a:pt x="196" y="4"/>
                </a:lnTo>
                <a:lnTo>
                  <a:pt x="213" y="5"/>
                </a:lnTo>
                <a:lnTo>
                  <a:pt x="229" y="6"/>
                </a:lnTo>
                <a:lnTo>
                  <a:pt x="246" y="6"/>
                </a:lnTo>
                <a:lnTo>
                  <a:pt x="262" y="7"/>
                </a:lnTo>
                <a:lnTo>
                  <a:pt x="278" y="7"/>
                </a:lnTo>
                <a:lnTo>
                  <a:pt x="295" y="8"/>
                </a:lnTo>
                <a:lnTo>
                  <a:pt x="311" y="8"/>
                </a:lnTo>
                <a:lnTo>
                  <a:pt x="327" y="9"/>
                </a:lnTo>
                <a:lnTo>
                  <a:pt x="344" y="9"/>
                </a:lnTo>
                <a:lnTo>
                  <a:pt x="360" y="9"/>
                </a:lnTo>
                <a:lnTo>
                  <a:pt x="377" y="9"/>
                </a:lnTo>
                <a:lnTo>
                  <a:pt x="393" y="9"/>
                </a:lnTo>
                <a:lnTo>
                  <a:pt x="393" y="14"/>
                </a:lnTo>
                <a:lnTo>
                  <a:pt x="377" y="14"/>
                </a:lnTo>
                <a:lnTo>
                  <a:pt x="360" y="13"/>
                </a:lnTo>
                <a:lnTo>
                  <a:pt x="344" y="13"/>
                </a:lnTo>
                <a:lnTo>
                  <a:pt x="327" y="13"/>
                </a:lnTo>
                <a:lnTo>
                  <a:pt x="311" y="13"/>
                </a:lnTo>
                <a:lnTo>
                  <a:pt x="295" y="12"/>
                </a:lnTo>
                <a:lnTo>
                  <a:pt x="278" y="12"/>
                </a:lnTo>
                <a:lnTo>
                  <a:pt x="262" y="11"/>
                </a:lnTo>
                <a:lnTo>
                  <a:pt x="246" y="11"/>
                </a:lnTo>
                <a:lnTo>
                  <a:pt x="229" y="10"/>
                </a:lnTo>
                <a:lnTo>
                  <a:pt x="213" y="10"/>
                </a:lnTo>
                <a:lnTo>
                  <a:pt x="196" y="9"/>
                </a:lnTo>
                <a:lnTo>
                  <a:pt x="180" y="8"/>
                </a:lnTo>
                <a:lnTo>
                  <a:pt x="164" y="8"/>
                </a:lnTo>
                <a:lnTo>
                  <a:pt x="147" y="7"/>
                </a:lnTo>
                <a:lnTo>
                  <a:pt x="131" y="7"/>
                </a:lnTo>
                <a:lnTo>
                  <a:pt x="114" y="6"/>
                </a:lnTo>
                <a:lnTo>
                  <a:pt x="98" y="6"/>
                </a:lnTo>
                <a:lnTo>
                  <a:pt x="82" y="5"/>
                </a:lnTo>
                <a:lnTo>
                  <a:pt x="65" y="5"/>
                </a:lnTo>
                <a:lnTo>
                  <a:pt x="49" y="5"/>
                </a:lnTo>
                <a:lnTo>
                  <a:pt x="33" y="4"/>
                </a:lnTo>
                <a:lnTo>
                  <a:pt x="16" y="4"/>
                </a:lnTo>
                <a:lnTo>
                  <a:pt x="0" y="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753100"/>
            <a:ext cx="3743325" cy="400050"/>
          </a:xfrm>
          <a:custGeom>
            <a:avLst/>
            <a:gdLst/>
            <a:ahLst/>
            <a:cxnLst/>
            <a:rect l="l" t="t" r="r" b="b"/>
            <a:pathLst>
              <a:path w="393" h="42">
                <a:moveTo>
                  <a:pt x="0" y="0"/>
                </a:moveTo>
                <a:lnTo>
                  <a:pt x="16" y="0"/>
                </a:lnTo>
                <a:lnTo>
                  <a:pt x="33" y="1"/>
                </a:lnTo>
                <a:lnTo>
                  <a:pt x="49" y="2"/>
                </a:lnTo>
                <a:lnTo>
                  <a:pt x="65" y="3"/>
                </a:lnTo>
                <a:lnTo>
                  <a:pt x="82" y="4"/>
                </a:lnTo>
                <a:lnTo>
                  <a:pt x="98" y="6"/>
                </a:lnTo>
                <a:lnTo>
                  <a:pt x="114" y="8"/>
                </a:lnTo>
                <a:lnTo>
                  <a:pt x="131" y="10"/>
                </a:lnTo>
                <a:lnTo>
                  <a:pt x="147" y="12"/>
                </a:lnTo>
                <a:lnTo>
                  <a:pt x="164" y="14"/>
                </a:lnTo>
                <a:lnTo>
                  <a:pt x="180" y="17"/>
                </a:lnTo>
                <a:lnTo>
                  <a:pt x="196" y="19"/>
                </a:lnTo>
                <a:lnTo>
                  <a:pt x="213" y="21"/>
                </a:lnTo>
                <a:lnTo>
                  <a:pt x="229" y="24"/>
                </a:lnTo>
                <a:lnTo>
                  <a:pt x="246" y="26"/>
                </a:lnTo>
                <a:lnTo>
                  <a:pt x="262" y="28"/>
                </a:lnTo>
                <a:lnTo>
                  <a:pt x="278" y="30"/>
                </a:lnTo>
                <a:lnTo>
                  <a:pt x="295" y="32"/>
                </a:lnTo>
                <a:lnTo>
                  <a:pt x="311" y="34"/>
                </a:lnTo>
                <a:lnTo>
                  <a:pt x="327" y="35"/>
                </a:lnTo>
                <a:lnTo>
                  <a:pt x="344" y="36"/>
                </a:lnTo>
                <a:lnTo>
                  <a:pt x="360" y="37"/>
                </a:lnTo>
                <a:lnTo>
                  <a:pt x="377" y="38"/>
                </a:lnTo>
                <a:lnTo>
                  <a:pt x="393" y="38"/>
                </a:lnTo>
                <a:lnTo>
                  <a:pt x="393" y="42"/>
                </a:lnTo>
                <a:lnTo>
                  <a:pt x="377" y="42"/>
                </a:lnTo>
                <a:lnTo>
                  <a:pt x="360" y="41"/>
                </a:lnTo>
                <a:lnTo>
                  <a:pt x="344" y="40"/>
                </a:lnTo>
                <a:lnTo>
                  <a:pt x="327" y="39"/>
                </a:lnTo>
                <a:lnTo>
                  <a:pt x="311" y="38"/>
                </a:lnTo>
                <a:lnTo>
                  <a:pt x="295" y="36"/>
                </a:lnTo>
                <a:lnTo>
                  <a:pt x="278" y="34"/>
                </a:lnTo>
                <a:lnTo>
                  <a:pt x="262" y="32"/>
                </a:lnTo>
                <a:lnTo>
                  <a:pt x="246" y="30"/>
                </a:lnTo>
                <a:lnTo>
                  <a:pt x="229" y="28"/>
                </a:lnTo>
                <a:lnTo>
                  <a:pt x="213" y="25"/>
                </a:lnTo>
                <a:lnTo>
                  <a:pt x="196" y="23"/>
                </a:lnTo>
                <a:lnTo>
                  <a:pt x="180" y="21"/>
                </a:lnTo>
                <a:lnTo>
                  <a:pt x="164" y="18"/>
                </a:lnTo>
                <a:lnTo>
                  <a:pt x="147" y="16"/>
                </a:lnTo>
                <a:lnTo>
                  <a:pt x="131" y="14"/>
                </a:lnTo>
                <a:lnTo>
                  <a:pt x="114" y="12"/>
                </a:lnTo>
                <a:lnTo>
                  <a:pt x="98" y="10"/>
                </a:lnTo>
                <a:lnTo>
                  <a:pt x="82" y="8"/>
                </a:lnTo>
                <a:lnTo>
                  <a:pt x="65" y="7"/>
                </a:lnTo>
                <a:lnTo>
                  <a:pt x="49" y="6"/>
                </a:lnTo>
                <a:lnTo>
                  <a:pt x="33" y="5"/>
                </a:lnTo>
                <a:lnTo>
                  <a:pt x="16" y="4"/>
                </a:lnTo>
                <a:lnTo>
                  <a:pt x="0" y="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791200"/>
            <a:ext cx="3743325" cy="571500"/>
          </a:xfrm>
          <a:custGeom>
            <a:avLst/>
            <a:gdLst/>
            <a:ahLst/>
            <a:cxnLst/>
            <a:rect l="l" t="t" r="r" b="b"/>
            <a:pathLst>
              <a:path w="393" h="60">
                <a:moveTo>
                  <a:pt x="0" y="0"/>
                </a:moveTo>
                <a:lnTo>
                  <a:pt x="16" y="0"/>
                </a:lnTo>
                <a:lnTo>
                  <a:pt x="33" y="1"/>
                </a:lnTo>
                <a:lnTo>
                  <a:pt x="49" y="3"/>
                </a:lnTo>
                <a:lnTo>
                  <a:pt x="65" y="4"/>
                </a:lnTo>
                <a:lnTo>
                  <a:pt x="82" y="7"/>
                </a:lnTo>
                <a:lnTo>
                  <a:pt x="98" y="9"/>
                </a:lnTo>
                <a:lnTo>
                  <a:pt x="114" y="12"/>
                </a:lnTo>
                <a:lnTo>
                  <a:pt x="131" y="15"/>
                </a:lnTo>
                <a:lnTo>
                  <a:pt x="147" y="18"/>
                </a:lnTo>
                <a:lnTo>
                  <a:pt x="164" y="22"/>
                </a:lnTo>
                <a:lnTo>
                  <a:pt x="180" y="25"/>
                </a:lnTo>
                <a:lnTo>
                  <a:pt x="196" y="29"/>
                </a:lnTo>
                <a:lnTo>
                  <a:pt x="213" y="33"/>
                </a:lnTo>
                <a:lnTo>
                  <a:pt x="229" y="36"/>
                </a:lnTo>
                <a:lnTo>
                  <a:pt x="246" y="40"/>
                </a:lnTo>
                <a:lnTo>
                  <a:pt x="262" y="43"/>
                </a:lnTo>
                <a:lnTo>
                  <a:pt x="278" y="46"/>
                </a:lnTo>
                <a:lnTo>
                  <a:pt x="295" y="49"/>
                </a:lnTo>
                <a:lnTo>
                  <a:pt x="311" y="51"/>
                </a:lnTo>
                <a:lnTo>
                  <a:pt x="327" y="54"/>
                </a:lnTo>
                <a:lnTo>
                  <a:pt x="344" y="55"/>
                </a:lnTo>
                <a:lnTo>
                  <a:pt x="360" y="57"/>
                </a:lnTo>
                <a:lnTo>
                  <a:pt x="377" y="58"/>
                </a:lnTo>
                <a:lnTo>
                  <a:pt x="393" y="58"/>
                </a:lnTo>
                <a:lnTo>
                  <a:pt x="393" y="60"/>
                </a:lnTo>
                <a:lnTo>
                  <a:pt x="377" y="60"/>
                </a:lnTo>
                <a:lnTo>
                  <a:pt x="360" y="59"/>
                </a:lnTo>
                <a:lnTo>
                  <a:pt x="344" y="57"/>
                </a:lnTo>
                <a:lnTo>
                  <a:pt x="327" y="56"/>
                </a:lnTo>
                <a:lnTo>
                  <a:pt x="311" y="53"/>
                </a:lnTo>
                <a:lnTo>
                  <a:pt x="295" y="51"/>
                </a:lnTo>
                <a:lnTo>
                  <a:pt x="278" y="48"/>
                </a:lnTo>
                <a:lnTo>
                  <a:pt x="262" y="45"/>
                </a:lnTo>
                <a:lnTo>
                  <a:pt x="246" y="42"/>
                </a:lnTo>
                <a:lnTo>
                  <a:pt x="229" y="38"/>
                </a:lnTo>
                <a:lnTo>
                  <a:pt x="213" y="35"/>
                </a:lnTo>
                <a:lnTo>
                  <a:pt x="196" y="31"/>
                </a:lnTo>
                <a:lnTo>
                  <a:pt x="180" y="27"/>
                </a:lnTo>
                <a:lnTo>
                  <a:pt x="164" y="24"/>
                </a:lnTo>
                <a:lnTo>
                  <a:pt x="147" y="20"/>
                </a:lnTo>
                <a:lnTo>
                  <a:pt x="131" y="17"/>
                </a:lnTo>
                <a:lnTo>
                  <a:pt x="114" y="14"/>
                </a:lnTo>
                <a:lnTo>
                  <a:pt x="98" y="11"/>
                </a:lnTo>
                <a:lnTo>
                  <a:pt x="82" y="9"/>
                </a:lnTo>
                <a:lnTo>
                  <a:pt x="65" y="6"/>
                </a:lnTo>
                <a:lnTo>
                  <a:pt x="49" y="5"/>
                </a:lnTo>
                <a:lnTo>
                  <a:pt x="33" y="3"/>
                </a:lnTo>
                <a:lnTo>
                  <a:pt x="16" y="2"/>
                </a:lnTo>
                <a:lnTo>
                  <a:pt x="0" y="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5810250"/>
            <a:ext cx="3743325" cy="704850"/>
          </a:xfrm>
          <a:custGeom>
            <a:avLst/>
            <a:gdLst/>
            <a:ahLst/>
            <a:cxnLst/>
            <a:rect l="l" t="t" r="r" b="b"/>
            <a:pathLst>
              <a:path w="393" h="74">
                <a:moveTo>
                  <a:pt x="0" y="0"/>
                </a:moveTo>
                <a:lnTo>
                  <a:pt x="16" y="0"/>
                </a:lnTo>
                <a:lnTo>
                  <a:pt x="33" y="1"/>
                </a:lnTo>
                <a:lnTo>
                  <a:pt x="49" y="3"/>
                </a:lnTo>
                <a:lnTo>
                  <a:pt x="65" y="5"/>
                </a:lnTo>
                <a:lnTo>
                  <a:pt x="82" y="8"/>
                </a:lnTo>
                <a:lnTo>
                  <a:pt x="98" y="11"/>
                </a:lnTo>
                <a:lnTo>
                  <a:pt x="114" y="15"/>
                </a:lnTo>
                <a:lnTo>
                  <a:pt x="131" y="19"/>
                </a:lnTo>
                <a:lnTo>
                  <a:pt x="147" y="23"/>
                </a:lnTo>
                <a:lnTo>
                  <a:pt x="164" y="27"/>
                </a:lnTo>
                <a:lnTo>
                  <a:pt x="180" y="32"/>
                </a:lnTo>
                <a:lnTo>
                  <a:pt x="196" y="36"/>
                </a:lnTo>
                <a:lnTo>
                  <a:pt x="213" y="41"/>
                </a:lnTo>
                <a:lnTo>
                  <a:pt x="229" y="45"/>
                </a:lnTo>
                <a:lnTo>
                  <a:pt x="246" y="50"/>
                </a:lnTo>
                <a:lnTo>
                  <a:pt x="262" y="54"/>
                </a:lnTo>
                <a:lnTo>
                  <a:pt x="278" y="58"/>
                </a:lnTo>
                <a:lnTo>
                  <a:pt x="295" y="61"/>
                </a:lnTo>
                <a:lnTo>
                  <a:pt x="311" y="64"/>
                </a:lnTo>
                <a:lnTo>
                  <a:pt x="327" y="67"/>
                </a:lnTo>
                <a:lnTo>
                  <a:pt x="344" y="69"/>
                </a:lnTo>
                <a:lnTo>
                  <a:pt x="360" y="71"/>
                </a:lnTo>
                <a:lnTo>
                  <a:pt x="377" y="72"/>
                </a:lnTo>
                <a:lnTo>
                  <a:pt x="393" y="72"/>
                </a:lnTo>
                <a:lnTo>
                  <a:pt x="393" y="74"/>
                </a:lnTo>
                <a:lnTo>
                  <a:pt x="377" y="73"/>
                </a:lnTo>
                <a:lnTo>
                  <a:pt x="360" y="72"/>
                </a:lnTo>
                <a:lnTo>
                  <a:pt x="344" y="71"/>
                </a:lnTo>
                <a:lnTo>
                  <a:pt x="327" y="68"/>
                </a:lnTo>
                <a:lnTo>
                  <a:pt x="311" y="66"/>
                </a:lnTo>
                <a:lnTo>
                  <a:pt x="295" y="63"/>
                </a:lnTo>
                <a:lnTo>
                  <a:pt x="278" y="59"/>
                </a:lnTo>
                <a:lnTo>
                  <a:pt x="262" y="55"/>
                </a:lnTo>
                <a:lnTo>
                  <a:pt x="246" y="51"/>
                </a:lnTo>
                <a:lnTo>
                  <a:pt x="229" y="47"/>
                </a:lnTo>
                <a:lnTo>
                  <a:pt x="213" y="42"/>
                </a:lnTo>
                <a:lnTo>
                  <a:pt x="196" y="38"/>
                </a:lnTo>
                <a:lnTo>
                  <a:pt x="180" y="33"/>
                </a:lnTo>
                <a:lnTo>
                  <a:pt x="164" y="29"/>
                </a:lnTo>
                <a:lnTo>
                  <a:pt x="147" y="24"/>
                </a:lnTo>
                <a:lnTo>
                  <a:pt x="131" y="20"/>
                </a:lnTo>
                <a:lnTo>
                  <a:pt x="114" y="16"/>
                </a:lnTo>
                <a:lnTo>
                  <a:pt x="98" y="13"/>
                </a:lnTo>
                <a:lnTo>
                  <a:pt x="82" y="10"/>
                </a:lnTo>
                <a:lnTo>
                  <a:pt x="65" y="7"/>
                </a:lnTo>
                <a:lnTo>
                  <a:pt x="49" y="5"/>
                </a:lnTo>
                <a:lnTo>
                  <a:pt x="33" y="3"/>
                </a:lnTo>
                <a:lnTo>
                  <a:pt x="16" y="2"/>
                </a:lnTo>
                <a:lnTo>
                  <a:pt x="0" y="1"/>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4391025"/>
            <a:ext cx="3743325" cy="1533525"/>
          </a:xfrm>
          <a:custGeom>
            <a:avLst/>
            <a:gdLst/>
            <a:ahLst/>
            <a:cxnLst/>
            <a:rect l="l" t="t" r="r" b="b"/>
            <a:pathLst>
              <a:path w="393" h="161">
                <a:moveTo>
                  <a:pt x="0" y="156"/>
                </a:moveTo>
                <a:lnTo>
                  <a:pt x="16" y="156"/>
                </a:lnTo>
                <a:lnTo>
                  <a:pt x="33" y="153"/>
                </a:lnTo>
                <a:lnTo>
                  <a:pt x="49" y="150"/>
                </a:lnTo>
                <a:lnTo>
                  <a:pt x="65" y="145"/>
                </a:lnTo>
                <a:lnTo>
                  <a:pt x="82" y="139"/>
                </a:lnTo>
                <a:lnTo>
                  <a:pt x="98" y="132"/>
                </a:lnTo>
                <a:lnTo>
                  <a:pt x="114" y="124"/>
                </a:lnTo>
                <a:lnTo>
                  <a:pt x="131" y="116"/>
                </a:lnTo>
                <a:lnTo>
                  <a:pt x="147" y="107"/>
                </a:lnTo>
                <a:lnTo>
                  <a:pt x="164" y="97"/>
                </a:lnTo>
                <a:lnTo>
                  <a:pt x="180" y="88"/>
                </a:lnTo>
                <a:lnTo>
                  <a:pt x="196" y="78"/>
                </a:lnTo>
                <a:lnTo>
                  <a:pt x="213" y="68"/>
                </a:lnTo>
                <a:lnTo>
                  <a:pt x="229" y="59"/>
                </a:lnTo>
                <a:lnTo>
                  <a:pt x="246" y="49"/>
                </a:lnTo>
                <a:lnTo>
                  <a:pt x="262" y="40"/>
                </a:lnTo>
                <a:lnTo>
                  <a:pt x="278" y="32"/>
                </a:lnTo>
                <a:lnTo>
                  <a:pt x="295" y="24"/>
                </a:lnTo>
                <a:lnTo>
                  <a:pt x="311" y="17"/>
                </a:lnTo>
                <a:lnTo>
                  <a:pt x="327" y="11"/>
                </a:lnTo>
                <a:lnTo>
                  <a:pt x="344" y="6"/>
                </a:lnTo>
                <a:lnTo>
                  <a:pt x="360" y="3"/>
                </a:lnTo>
                <a:lnTo>
                  <a:pt x="377" y="0"/>
                </a:lnTo>
                <a:lnTo>
                  <a:pt x="393" y="0"/>
                </a:lnTo>
                <a:lnTo>
                  <a:pt x="393" y="5"/>
                </a:lnTo>
                <a:lnTo>
                  <a:pt x="377" y="5"/>
                </a:lnTo>
                <a:lnTo>
                  <a:pt x="360" y="8"/>
                </a:lnTo>
                <a:lnTo>
                  <a:pt x="344" y="11"/>
                </a:lnTo>
                <a:lnTo>
                  <a:pt x="327" y="16"/>
                </a:lnTo>
                <a:lnTo>
                  <a:pt x="311" y="22"/>
                </a:lnTo>
                <a:lnTo>
                  <a:pt x="295" y="29"/>
                </a:lnTo>
                <a:lnTo>
                  <a:pt x="278" y="37"/>
                </a:lnTo>
                <a:lnTo>
                  <a:pt x="262" y="45"/>
                </a:lnTo>
                <a:lnTo>
                  <a:pt x="246" y="54"/>
                </a:lnTo>
                <a:lnTo>
                  <a:pt x="229" y="64"/>
                </a:lnTo>
                <a:lnTo>
                  <a:pt x="213" y="73"/>
                </a:lnTo>
                <a:lnTo>
                  <a:pt x="196" y="83"/>
                </a:lnTo>
                <a:lnTo>
                  <a:pt x="180" y="93"/>
                </a:lnTo>
                <a:lnTo>
                  <a:pt x="164" y="102"/>
                </a:lnTo>
                <a:lnTo>
                  <a:pt x="147" y="112"/>
                </a:lnTo>
                <a:lnTo>
                  <a:pt x="131" y="121"/>
                </a:lnTo>
                <a:lnTo>
                  <a:pt x="114" y="129"/>
                </a:lnTo>
                <a:lnTo>
                  <a:pt x="98" y="137"/>
                </a:lnTo>
                <a:lnTo>
                  <a:pt x="82" y="144"/>
                </a:lnTo>
                <a:lnTo>
                  <a:pt x="65" y="150"/>
                </a:lnTo>
                <a:lnTo>
                  <a:pt x="49" y="155"/>
                </a:lnTo>
                <a:lnTo>
                  <a:pt x="33" y="158"/>
                </a:lnTo>
                <a:lnTo>
                  <a:pt x="16" y="161"/>
                </a:lnTo>
                <a:lnTo>
                  <a:pt x="0" y="161"/>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4781550"/>
            <a:ext cx="3743325" cy="1200150"/>
          </a:xfrm>
          <a:custGeom>
            <a:avLst/>
            <a:gdLst/>
            <a:ahLst/>
            <a:cxnLst/>
            <a:rect l="l" t="t" r="r" b="b"/>
            <a:pathLst>
              <a:path w="393" h="126">
                <a:moveTo>
                  <a:pt x="0" y="120"/>
                </a:moveTo>
                <a:lnTo>
                  <a:pt x="16" y="120"/>
                </a:lnTo>
                <a:lnTo>
                  <a:pt x="33" y="118"/>
                </a:lnTo>
                <a:lnTo>
                  <a:pt x="49" y="115"/>
                </a:lnTo>
                <a:lnTo>
                  <a:pt x="65" y="111"/>
                </a:lnTo>
                <a:lnTo>
                  <a:pt x="82" y="107"/>
                </a:lnTo>
                <a:lnTo>
                  <a:pt x="98" y="102"/>
                </a:lnTo>
                <a:lnTo>
                  <a:pt x="114" y="96"/>
                </a:lnTo>
                <a:lnTo>
                  <a:pt x="131" y="89"/>
                </a:lnTo>
                <a:lnTo>
                  <a:pt x="147" y="82"/>
                </a:lnTo>
                <a:lnTo>
                  <a:pt x="164" y="75"/>
                </a:lnTo>
                <a:lnTo>
                  <a:pt x="180" y="68"/>
                </a:lnTo>
                <a:lnTo>
                  <a:pt x="196" y="60"/>
                </a:lnTo>
                <a:lnTo>
                  <a:pt x="213" y="53"/>
                </a:lnTo>
                <a:lnTo>
                  <a:pt x="229" y="45"/>
                </a:lnTo>
                <a:lnTo>
                  <a:pt x="246" y="38"/>
                </a:lnTo>
                <a:lnTo>
                  <a:pt x="262" y="31"/>
                </a:lnTo>
                <a:lnTo>
                  <a:pt x="278" y="25"/>
                </a:lnTo>
                <a:lnTo>
                  <a:pt x="295" y="19"/>
                </a:lnTo>
                <a:lnTo>
                  <a:pt x="311" y="13"/>
                </a:lnTo>
                <a:lnTo>
                  <a:pt x="327" y="9"/>
                </a:lnTo>
                <a:lnTo>
                  <a:pt x="344" y="5"/>
                </a:lnTo>
                <a:lnTo>
                  <a:pt x="360" y="2"/>
                </a:lnTo>
                <a:lnTo>
                  <a:pt x="377" y="0"/>
                </a:lnTo>
                <a:lnTo>
                  <a:pt x="393" y="0"/>
                </a:lnTo>
                <a:lnTo>
                  <a:pt x="393" y="5"/>
                </a:lnTo>
                <a:lnTo>
                  <a:pt x="377" y="6"/>
                </a:lnTo>
                <a:lnTo>
                  <a:pt x="360" y="8"/>
                </a:lnTo>
                <a:lnTo>
                  <a:pt x="344" y="10"/>
                </a:lnTo>
                <a:lnTo>
                  <a:pt x="327" y="14"/>
                </a:lnTo>
                <a:lnTo>
                  <a:pt x="311" y="19"/>
                </a:lnTo>
                <a:lnTo>
                  <a:pt x="295" y="24"/>
                </a:lnTo>
                <a:lnTo>
                  <a:pt x="278" y="30"/>
                </a:lnTo>
                <a:lnTo>
                  <a:pt x="262" y="37"/>
                </a:lnTo>
                <a:lnTo>
                  <a:pt x="246" y="43"/>
                </a:lnTo>
                <a:lnTo>
                  <a:pt x="229" y="51"/>
                </a:lnTo>
                <a:lnTo>
                  <a:pt x="213" y="58"/>
                </a:lnTo>
                <a:lnTo>
                  <a:pt x="196" y="66"/>
                </a:lnTo>
                <a:lnTo>
                  <a:pt x="180" y="73"/>
                </a:lnTo>
                <a:lnTo>
                  <a:pt x="164" y="81"/>
                </a:lnTo>
                <a:lnTo>
                  <a:pt x="147" y="88"/>
                </a:lnTo>
                <a:lnTo>
                  <a:pt x="131" y="95"/>
                </a:lnTo>
                <a:lnTo>
                  <a:pt x="114" y="101"/>
                </a:lnTo>
                <a:lnTo>
                  <a:pt x="98" y="107"/>
                </a:lnTo>
                <a:lnTo>
                  <a:pt x="82" y="112"/>
                </a:lnTo>
                <a:lnTo>
                  <a:pt x="65" y="117"/>
                </a:lnTo>
                <a:lnTo>
                  <a:pt x="49" y="121"/>
                </a:lnTo>
                <a:lnTo>
                  <a:pt x="33" y="124"/>
                </a:lnTo>
                <a:lnTo>
                  <a:pt x="16" y="125"/>
                </a:lnTo>
                <a:lnTo>
                  <a:pt x="0" y="126"/>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057400" y="5153025"/>
            <a:ext cx="3743325" cy="866775"/>
          </a:xfrm>
          <a:custGeom>
            <a:avLst/>
            <a:gdLst/>
            <a:ahLst/>
            <a:cxnLst/>
            <a:rect l="l" t="t" r="r" b="b"/>
            <a:pathLst>
              <a:path w="393" h="91">
                <a:moveTo>
                  <a:pt x="0" y="87"/>
                </a:moveTo>
                <a:lnTo>
                  <a:pt x="16" y="86"/>
                </a:lnTo>
                <a:lnTo>
                  <a:pt x="33" y="85"/>
                </a:lnTo>
                <a:lnTo>
                  <a:pt x="49" y="83"/>
                </a:lnTo>
                <a:lnTo>
                  <a:pt x="65" y="80"/>
                </a:lnTo>
                <a:lnTo>
                  <a:pt x="82" y="77"/>
                </a:lnTo>
                <a:lnTo>
                  <a:pt x="98" y="73"/>
                </a:lnTo>
                <a:lnTo>
                  <a:pt x="114" y="69"/>
                </a:lnTo>
                <a:lnTo>
                  <a:pt x="131" y="64"/>
                </a:lnTo>
                <a:lnTo>
                  <a:pt x="147" y="59"/>
                </a:lnTo>
                <a:lnTo>
                  <a:pt x="164" y="54"/>
                </a:lnTo>
                <a:lnTo>
                  <a:pt x="180" y="49"/>
                </a:lnTo>
                <a:lnTo>
                  <a:pt x="196" y="44"/>
                </a:lnTo>
                <a:lnTo>
                  <a:pt x="213" y="38"/>
                </a:lnTo>
                <a:lnTo>
                  <a:pt x="229" y="33"/>
                </a:lnTo>
                <a:lnTo>
                  <a:pt x="246" y="28"/>
                </a:lnTo>
                <a:lnTo>
                  <a:pt x="262" y="23"/>
                </a:lnTo>
                <a:lnTo>
                  <a:pt x="278" y="18"/>
                </a:lnTo>
                <a:lnTo>
                  <a:pt x="295" y="14"/>
                </a:lnTo>
                <a:lnTo>
                  <a:pt x="311" y="10"/>
                </a:lnTo>
                <a:lnTo>
                  <a:pt x="327" y="7"/>
                </a:lnTo>
                <a:lnTo>
                  <a:pt x="344" y="4"/>
                </a:lnTo>
                <a:lnTo>
                  <a:pt x="360" y="2"/>
                </a:lnTo>
                <a:lnTo>
                  <a:pt x="377" y="1"/>
                </a:lnTo>
                <a:lnTo>
                  <a:pt x="393" y="0"/>
                </a:lnTo>
                <a:lnTo>
                  <a:pt x="393" y="5"/>
                </a:lnTo>
                <a:lnTo>
                  <a:pt x="377" y="5"/>
                </a:lnTo>
                <a:lnTo>
                  <a:pt x="360" y="6"/>
                </a:lnTo>
                <a:lnTo>
                  <a:pt x="344" y="8"/>
                </a:lnTo>
                <a:lnTo>
                  <a:pt x="327" y="11"/>
                </a:lnTo>
                <a:lnTo>
                  <a:pt x="311" y="14"/>
                </a:lnTo>
                <a:lnTo>
                  <a:pt x="295" y="18"/>
                </a:lnTo>
                <a:lnTo>
                  <a:pt x="278" y="22"/>
                </a:lnTo>
                <a:lnTo>
                  <a:pt x="262" y="27"/>
                </a:lnTo>
                <a:lnTo>
                  <a:pt x="246" y="32"/>
                </a:lnTo>
                <a:lnTo>
                  <a:pt x="229" y="37"/>
                </a:lnTo>
                <a:lnTo>
                  <a:pt x="213" y="42"/>
                </a:lnTo>
                <a:lnTo>
                  <a:pt x="196" y="48"/>
                </a:lnTo>
                <a:lnTo>
                  <a:pt x="180" y="53"/>
                </a:lnTo>
                <a:lnTo>
                  <a:pt x="164" y="59"/>
                </a:lnTo>
                <a:lnTo>
                  <a:pt x="147" y="64"/>
                </a:lnTo>
                <a:lnTo>
                  <a:pt x="131" y="69"/>
                </a:lnTo>
                <a:lnTo>
                  <a:pt x="114" y="73"/>
                </a:lnTo>
                <a:lnTo>
                  <a:pt x="98" y="78"/>
                </a:lnTo>
                <a:lnTo>
                  <a:pt x="82" y="81"/>
                </a:lnTo>
                <a:lnTo>
                  <a:pt x="65" y="85"/>
                </a:lnTo>
                <a:lnTo>
                  <a:pt x="49" y="87"/>
                </a:lnTo>
                <a:lnTo>
                  <a:pt x="33" y="89"/>
                </a:lnTo>
                <a:lnTo>
                  <a:pt x="16" y="91"/>
                </a:lnTo>
                <a:lnTo>
                  <a:pt x="0" y="91"/>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Freeform 42"/>
          <p:cNvSpPr/>
          <p:nvPr/>
        </p:nvSpPr>
        <p:spPr>
          <a:xfrm>
            <a:off x="2057400" y="5524500"/>
            <a:ext cx="3743325" cy="533400"/>
          </a:xfrm>
          <a:custGeom>
            <a:avLst/>
            <a:gdLst/>
            <a:ahLst/>
            <a:cxnLst/>
            <a:rect l="l" t="t" r="r" b="b"/>
            <a:pathLst>
              <a:path w="393" h="56">
                <a:moveTo>
                  <a:pt x="0" y="52"/>
                </a:moveTo>
                <a:lnTo>
                  <a:pt x="16" y="52"/>
                </a:lnTo>
                <a:lnTo>
                  <a:pt x="33" y="51"/>
                </a:lnTo>
                <a:lnTo>
                  <a:pt x="49" y="50"/>
                </a:lnTo>
                <a:lnTo>
                  <a:pt x="65" y="48"/>
                </a:lnTo>
                <a:lnTo>
                  <a:pt x="82" y="46"/>
                </a:lnTo>
                <a:lnTo>
                  <a:pt x="98" y="44"/>
                </a:lnTo>
                <a:lnTo>
                  <a:pt x="114" y="41"/>
                </a:lnTo>
                <a:lnTo>
                  <a:pt x="131" y="39"/>
                </a:lnTo>
                <a:lnTo>
                  <a:pt x="147" y="36"/>
                </a:lnTo>
                <a:lnTo>
                  <a:pt x="164" y="32"/>
                </a:lnTo>
                <a:lnTo>
                  <a:pt x="180" y="29"/>
                </a:lnTo>
                <a:lnTo>
                  <a:pt x="196" y="26"/>
                </a:lnTo>
                <a:lnTo>
                  <a:pt x="213" y="23"/>
                </a:lnTo>
                <a:lnTo>
                  <a:pt x="229" y="20"/>
                </a:lnTo>
                <a:lnTo>
                  <a:pt x="246" y="16"/>
                </a:lnTo>
                <a:lnTo>
                  <a:pt x="262" y="13"/>
                </a:lnTo>
                <a:lnTo>
                  <a:pt x="278" y="11"/>
                </a:lnTo>
                <a:lnTo>
                  <a:pt x="295" y="8"/>
                </a:lnTo>
                <a:lnTo>
                  <a:pt x="311" y="6"/>
                </a:lnTo>
                <a:lnTo>
                  <a:pt x="327" y="4"/>
                </a:lnTo>
                <a:lnTo>
                  <a:pt x="344" y="2"/>
                </a:lnTo>
                <a:lnTo>
                  <a:pt x="360" y="1"/>
                </a:lnTo>
                <a:lnTo>
                  <a:pt x="377" y="0"/>
                </a:lnTo>
                <a:lnTo>
                  <a:pt x="393" y="0"/>
                </a:lnTo>
                <a:lnTo>
                  <a:pt x="393" y="4"/>
                </a:lnTo>
                <a:lnTo>
                  <a:pt x="377" y="4"/>
                </a:lnTo>
                <a:lnTo>
                  <a:pt x="360" y="5"/>
                </a:lnTo>
                <a:lnTo>
                  <a:pt x="344" y="6"/>
                </a:lnTo>
                <a:lnTo>
                  <a:pt x="327" y="8"/>
                </a:lnTo>
                <a:lnTo>
                  <a:pt x="311" y="10"/>
                </a:lnTo>
                <a:lnTo>
                  <a:pt x="295" y="12"/>
                </a:lnTo>
                <a:lnTo>
                  <a:pt x="278" y="15"/>
                </a:lnTo>
                <a:lnTo>
                  <a:pt x="262" y="17"/>
                </a:lnTo>
                <a:lnTo>
                  <a:pt x="246" y="20"/>
                </a:lnTo>
                <a:lnTo>
                  <a:pt x="229" y="24"/>
                </a:lnTo>
                <a:lnTo>
                  <a:pt x="213" y="27"/>
                </a:lnTo>
                <a:lnTo>
                  <a:pt x="196" y="30"/>
                </a:lnTo>
                <a:lnTo>
                  <a:pt x="180" y="33"/>
                </a:lnTo>
                <a:lnTo>
                  <a:pt x="164" y="36"/>
                </a:lnTo>
                <a:lnTo>
                  <a:pt x="147" y="40"/>
                </a:lnTo>
                <a:lnTo>
                  <a:pt x="131" y="43"/>
                </a:lnTo>
                <a:lnTo>
                  <a:pt x="114" y="45"/>
                </a:lnTo>
                <a:lnTo>
                  <a:pt x="98" y="48"/>
                </a:lnTo>
                <a:lnTo>
                  <a:pt x="82" y="50"/>
                </a:lnTo>
                <a:lnTo>
                  <a:pt x="65" y="52"/>
                </a:lnTo>
                <a:lnTo>
                  <a:pt x="49" y="54"/>
                </a:lnTo>
                <a:lnTo>
                  <a:pt x="33" y="55"/>
                </a:lnTo>
                <a:lnTo>
                  <a:pt x="16" y="56"/>
                </a:lnTo>
                <a:lnTo>
                  <a:pt x="0" y="56"/>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2057400" y="5848350"/>
            <a:ext cx="3743325" cy="247650"/>
          </a:xfrm>
          <a:custGeom>
            <a:avLst/>
            <a:gdLst/>
            <a:ahLst/>
            <a:cxnLst/>
            <a:rect l="l" t="t" r="r" b="b"/>
            <a:pathLst>
              <a:path w="393" h="26">
                <a:moveTo>
                  <a:pt x="0" y="22"/>
                </a:moveTo>
                <a:lnTo>
                  <a:pt x="16" y="22"/>
                </a:lnTo>
                <a:lnTo>
                  <a:pt x="33" y="22"/>
                </a:lnTo>
                <a:lnTo>
                  <a:pt x="49" y="21"/>
                </a:lnTo>
                <a:lnTo>
                  <a:pt x="65" y="21"/>
                </a:lnTo>
                <a:lnTo>
                  <a:pt x="82" y="20"/>
                </a:lnTo>
                <a:lnTo>
                  <a:pt x="98" y="19"/>
                </a:lnTo>
                <a:lnTo>
                  <a:pt x="114" y="18"/>
                </a:lnTo>
                <a:lnTo>
                  <a:pt x="131" y="16"/>
                </a:lnTo>
                <a:lnTo>
                  <a:pt x="147" y="15"/>
                </a:lnTo>
                <a:lnTo>
                  <a:pt x="164" y="14"/>
                </a:lnTo>
                <a:lnTo>
                  <a:pt x="180" y="12"/>
                </a:lnTo>
                <a:lnTo>
                  <a:pt x="196" y="11"/>
                </a:lnTo>
                <a:lnTo>
                  <a:pt x="213" y="10"/>
                </a:lnTo>
                <a:lnTo>
                  <a:pt x="229" y="8"/>
                </a:lnTo>
                <a:lnTo>
                  <a:pt x="246" y="7"/>
                </a:lnTo>
                <a:lnTo>
                  <a:pt x="262" y="5"/>
                </a:lnTo>
                <a:lnTo>
                  <a:pt x="278" y="4"/>
                </a:lnTo>
                <a:lnTo>
                  <a:pt x="295" y="3"/>
                </a:lnTo>
                <a:lnTo>
                  <a:pt x="311" y="2"/>
                </a:lnTo>
                <a:lnTo>
                  <a:pt x="327" y="1"/>
                </a:lnTo>
                <a:lnTo>
                  <a:pt x="344" y="1"/>
                </a:lnTo>
                <a:lnTo>
                  <a:pt x="360" y="0"/>
                </a:lnTo>
                <a:lnTo>
                  <a:pt x="377" y="0"/>
                </a:lnTo>
                <a:lnTo>
                  <a:pt x="393" y="0"/>
                </a:lnTo>
                <a:lnTo>
                  <a:pt x="393" y="3"/>
                </a:lnTo>
                <a:lnTo>
                  <a:pt x="377" y="3"/>
                </a:lnTo>
                <a:lnTo>
                  <a:pt x="360" y="4"/>
                </a:lnTo>
                <a:lnTo>
                  <a:pt x="344" y="4"/>
                </a:lnTo>
                <a:lnTo>
                  <a:pt x="327" y="5"/>
                </a:lnTo>
                <a:lnTo>
                  <a:pt x="311" y="6"/>
                </a:lnTo>
                <a:lnTo>
                  <a:pt x="295" y="7"/>
                </a:lnTo>
                <a:lnTo>
                  <a:pt x="278" y="8"/>
                </a:lnTo>
                <a:lnTo>
                  <a:pt x="262" y="9"/>
                </a:lnTo>
                <a:lnTo>
                  <a:pt x="246" y="10"/>
                </a:lnTo>
                <a:lnTo>
                  <a:pt x="229" y="12"/>
                </a:lnTo>
                <a:lnTo>
                  <a:pt x="213" y="13"/>
                </a:lnTo>
                <a:lnTo>
                  <a:pt x="196" y="15"/>
                </a:lnTo>
                <a:lnTo>
                  <a:pt x="180" y="16"/>
                </a:lnTo>
                <a:lnTo>
                  <a:pt x="164" y="17"/>
                </a:lnTo>
                <a:lnTo>
                  <a:pt x="147" y="19"/>
                </a:lnTo>
                <a:lnTo>
                  <a:pt x="131" y="20"/>
                </a:lnTo>
                <a:lnTo>
                  <a:pt x="114" y="21"/>
                </a:lnTo>
                <a:lnTo>
                  <a:pt x="98" y="22"/>
                </a:lnTo>
                <a:lnTo>
                  <a:pt x="82" y="23"/>
                </a:lnTo>
                <a:lnTo>
                  <a:pt x="65" y="24"/>
                </a:lnTo>
                <a:lnTo>
                  <a:pt x="49" y="25"/>
                </a:lnTo>
                <a:lnTo>
                  <a:pt x="33" y="25"/>
                </a:lnTo>
                <a:lnTo>
                  <a:pt x="16" y="26"/>
                </a:lnTo>
                <a:lnTo>
                  <a:pt x="0" y="26"/>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Freeform 44"/>
          <p:cNvSpPr/>
          <p:nvPr/>
        </p:nvSpPr>
        <p:spPr>
          <a:xfrm>
            <a:off x="2057400" y="6096000"/>
            <a:ext cx="3743325" cy="85725"/>
          </a:xfrm>
          <a:custGeom>
            <a:avLst/>
            <a:gdLst/>
            <a:ahLst/>
            <a:cxnLst/>
            <a:rect l="l" t="t" r="r" b="b"/>
            <a:pathLst>
              <a:path w="393" h="9">
                <a:moveTo>
                  <a:pt x="0" y="0"/>
                </a:moveTo>
                <a:lnTo>
                  <a:pt x="16" y="0"/>
                </a:lnTo>
                <a:lnTo>
                  <a:pt x="33" y="0"/>
                </a:lnTo>
                <a:lnTo>
                  <a:pt x="49" y="0"/>
                </a:lnTo>
                <a:lnTo>
                  <a:pt x="65" y="0"/>
                </a:lnTo>
                <a:lnTo>
                  <a:pt x="82" y="0"/>
                </a:lnTo>
                <a:lnTo>
                  <a:pt x="98" y="1"/>
                </a:lnTo>
                <a:lnTo>
                  <a:pt x="114" y="1"/>
                </a:lnTo>
                <a:lnTo>
                  <a:pt x="131" y="1"/>
                </a:lnTo>
                <a:lnTo>
                  <a:pt x="147" y="2"/>
                </a:lnTo>
                <a:lnTo>
                  <a:pt x="164" y="2"/>
                </a:lnTo>
                <a:lnTo>
                  <a:pt x="180" y="2"/>
                </a:lnTo>
                <a:lnTo>
                  <a:pt x="196" y="3"/>
                </a:lnTo>
                <a:lnTo>
                  <a:pt x="213" y="3"/>
                </a:lnTo>
                <a:lnTo>
                  <a:pt x="229" y="4"/>
                </a:lnTo>
                <a:lnTo>
                  <a:pt x="246" y="4"/>
                </a:lnTo>
                <a:lnTo>
                  <a:pt x="262" y="4"/>
                </a:lnTo>
                <a:lnTo>
                  <a:pt x="278" y="5"/>
                </a:lnTo>
                <a:lnTo>
                  <a:pt x="295" y="5"/>
                </a:lnTo>
                <a:lnTo>
                  <a:pt x="311" y="5"/>
                </a:lnTo>
                <a:lnTo>
                  <a:pt x="327" y="5"/>
                </a:lnTo>
                <a:lnTo>
                  <a:pt x="344" y="6"/>
                </a:lnTo>
                <a:lnTo>
                  <a:pt x="360" y="6"/>
                </a:lnTo>
                <a:lnTo>
                  <a:pt x="377" y="6"/>
                </a:lnTo>
                <a:lnTo>
                  <a:pt x="393" y="6"/>
                </a:lnTo>
                <a:lnTo>
                  <a:pt x="393" y="9"/>
                </a:lnTo>
                <a:lnTo>
                  <a:pt x="377" y="9"/>
                </a:lnTo>
                <a:lnTo>
                  <a:pt x="360" y="9"/>
                </a:lnTo>
                <a:lnTo>
                  <a:pt x="344" y="9"/>
                </a:lnTo>
                <a:lnTo>
                  <a:pt x="327" y="9"/>
                </a:lnTo>
                <a:lnTo>
                  <a:pt x="311" y="9"/>
                </a:lnTo>
                <a:lnTo>
                  <a:pt x="295" y="8"/>
                </a:lnTo>
                <a:lnTo>
                  <a:pt x="278" y="8"/>
                </a:lnTo>
                <a:lnTo>
                  <a:pt x="262" y="8"/>
                </a:lnTo>
                <a:lnTo>
                  <a:pt x="246" y="8"/>
                </a:lnTo>
                <a:lnTo>
                  <a:pt x="229" y="7"/>
                </a:lnTo>
                <a:lnTo>
                  <a:pt x="213" y="7"/>
                </a:lnTo>
                <a:lnTo>
                  <a:pt x="196" y="6"/>
                </a:lnTo>
                <a:lnTo>
                  <a:pt x="180" y="6"/>
                </a:lnTo>
                <a:lnTo>
                  <a:pt x="164" y="6"/>
                </a:lnTo>
                <a:lnTo>
                  <a:pt x="147" y="5"/>
                </a:lnTo>
                <a:lnTo>
                  <a:pt x="131" y="5"/>
                </a:lnTo>
                <a:lnTo>
                  <a:pt x="114" y="5"/>
                </a:lnTo>
                <a:lnTo>
                  <a:pt x="98" y="4"/>
                </a:lnTo>
                <a:lnTo>
                  <a:pt x="82" y="4"/>
                </a:lnTo>
                <a:lnTo>
                  <a:pt x="65" y="4"/>
                </a:lnTo>
                <a:lnTo>
                  <a:pt x="49" y="4"/>
                </a:lnTo>
                <a:lnTo>
                  <a:pt x="33" y="3"/>
                </a:lnTo>
                <a:lnTo>
                  <a:pt x="16" y="3"/>
                </a:lnTo>
                <a:lnTo>
                  <a:pt x="0" y="3"/>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2057400" y="6124575"/>
            <a:ext cx="3743325" cy="247650"/>
          </a:xfrm>
          <a:custGeom>
            <a:avLst/>
            <a:gdLst/>
            <a:ahLst/>
            <a:cxnLst/>
            <a:rect l="l" t="t" r="r" b="b"/>
            <a:pathLst>
              <a:path w="393" h="26">
                <a:moveTo>
                  <a:pt x="0" y="0"/>
                </a:moveTo>
                <a:lnTo>
                  <a:pt x="16" y="0"/>
                </a:lnTo>
                <a:lnTo>
                  <a:pt x="33" y="1"/>
                </a:lnTo>
                <a:lnTo>
                  <a:pt x="49" y="1"/>
                </a:lnTo>
                <a:lnTo>
                  <a:pt x="65" y="2"/>
                </a:lnTo>
                <a:lnTo>
                  <a:pt x="82" y="3"/>
                </a:lnTo>
                <a:lnTo>
                  <a:pt x="98" y="4"/>
                </a:lnTo>
                <a:lnTo>
                  <a:pt x="114" y="5"/>
                </a:lnTo>
                <a:lnTo>
                  <a:pt x="131" y="7"/>
                </a:lnTo>
                <a:lnTo>
                  <a:pt x="147" y="8"/>
                </a:lnTo>
                <a:lnTo>
                  <a:pt x="164" y="10"/>
                </a:lnTo>
                <a:lnTo>
                  <a:pt x="180" y="11"/>
                </a:lnTo>
                <a:lnTo>
                  <a:pt x="196" y="13"/>
                </a:lnTo>
                <a:lnTo>
                  <a:pt x="213" y="14"/>
                </a:lnTo>
                <a:lnTo>
                  <a:pt x="229" y="16"/>
                </a:lnTo>
                <a:lnTo>
                  <a:pt x="246" y="17"/>
                </a:lnTo>
                <a:lnTo>
                  <a:pt x="262" y="18"/>
                </a:lnTo>
                <a:lnTo>
                  <a:pt x="278" y="20"/>
                </a:lnTo>
                <a:lnTo>
                  <a:pt x="295" y="21"/>
                </a:lnTo>
                <a:lnTo>
                  <a:pt x="311" y="22"/>
                </a:lnTo>
                <a:lnTo>
                  <a:pt x="327" y="23"/>
                </a:lnTo>
                <a:lnTo>
                  <a:pt x="344" y="24"/>
                </a:lnTo>
                <a:lnTo>
                  <a:pt x="360" y="24"/>
                </a:lnTo>
                <a:lnTo>
                  <a:pt x="377" y="25"/>
                </a:lnTo>
                <a:lnTo>
                  <a:pt x="393" y="25"/>
                </a:lnTo>
                <a:lnTo>
                  <a:pt x="393" y="26"/>
                </a:lnTo>
                <a:lnTo>
                  <a:pt x="377" y="26"/>
                </a:lnTo>
                <a:lnTo>
                  <a:pt x="360" y="26"/>
                </a:lnTo>
                <a:lnTo>
                  <a:pt x="344" y="25"/>
                </a:lnTo>
                <a:lnTo>
                  <a:pt x="327" y="25"/>
                </a:lnTo>
                <a:lnTo>
                  <a:pt x="311" y="24"/>
                </a:lnTo>
                <a:lnTo>
                  <a:pt x="295" y="23"/>
                </a:lnTo>
                <a:lnTo>
                  <a:pt x="278" y="21"/>
                </a:lnTo>
                <a:lnTo>
                  <a:pt x="262" y="20"/>
                </a:lnTo>
                <a:lnTo>
                  <a:pt x="246" y="19"/>
                </a:lnTo>
                <a:lnTo>
                  <a:pt x="229" y="17"/>
                </a:lnTo>
                <a:lnTo>
                  <a:pt x="213" y="16"/>
                </a:lnTo>
                <a:lnTo>
                  <a:pt x="196" y="14"/>
                </a:lnTo>
                <a:lnTo>
                  <a:pt x="180" y="13"/>
                </a:lnTo>
                <a:lnTo>
                  <a:pt x="164" y="11"/>
                </a:lnTo>
                <a:lnTo>
                  <a:pt x="147" y="10"/>
                </a:lnTo>
                <a:lnTo>
                  <a:pt x="131" y="8"/>
                </a:lnTo>
                <a:lnTo>
                  <a:pt x="114" y="7"/>
                </a:lnTo>
                <a:lnTo>
                  <a:pt x="98" y="6"/>
                </a:lnTo>
                <a:lnTo>
                  <a:pt x="82" y="5"/>
                </a:lnTo>
                <a:lnTo>
                  <a:pt x="65" y="4"/>
                </a:lnTo>
                <a:lnTo>
                  <a:pt x="49" y="3"/>
                </a:lnTo>
                <a:lnTo>
                  <a:pt x="33" y="2"/>
                </a:lnTo>
                <a:lnTo>
                  <a:pt x="16" y="2"/>
                </a:lnTo>
                <a:lnTo>
                  <a:pt x="0" y="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2057400" y="6143625"/>
            <a:ext cx="3743325" cy="381000"/>
          </a:xfrm>
          <a:custGeom>
            <a:avLst/>
            <a:gdLst/>
            <a:ahLst/>
            <a:cxnLst/>
            <a:rect l="l" t="t" r="r" b="b"/>
            <a:pathLst>
              <a:path w="393" h="40">
                <a:moveTo>
                  <a:pt x="0" y="0"/>
                </a:moveTo>
                <a:lnTo>
                  <a:pt x="16" y="0"/>
                </a:lnTo>
                <a:lnTo>
                  <a:pt x="33" y="1"/>
                </a:lnTo>
                <a:lnTo>
                  <a:pt x="49" y="2"/>
                </a:lnTo>
                <a:lnTo>
                  <a:pt x="65" y="3"/>
                </a:lnTo>
                <a:lnTo>
                  <a:pt x="82" y="4"/>
                </a:lnTo>
                <a:lnTo>
                  <a:pt x="98" y="6"/>
                </a:lnTo>
                <a:lnTo>
                  <a:pt x="114" y="8"/>
                </a:lnTo>
                <a:lnTo>
                  <a:pt x="131" y="10"/>
                </a:lnTo>
                <a:lnTo>
                  <a:pt x="147" y="12"/>
                </a:lnTo>
                <a:lnTo>
                  <a:pt x="164" y="15"/>
                </a:lnTo>
                <a:lnTo>
                  <a:pt x="180" y="17"/>
                </a:lnTo>
                <a:lnTo>
                  <a:pt x="196" y="19"/>
                </a:lnTo>
                <a:lnTo>
                  <a:pt x="213" y="22"/>
                </a:lnTo>
                <a:lnTo>
                  <a:pt x="229" y="24"/>
                </a:lnTo>
                <a:lnTo>
                  <a:pt x="246" y="27"/>
                </a:lnTo>
                <a:lnTo>
                  <a:pt x="262" y="29"/>
                </a:lnTo>
                <a:lnTo>
                  <a:pt x="278" y="31"/>
                </a:lnTo>
                <a:lnTo>
                  <a:pt x="295" y="33"/>
                </a:lnTo>
                <a:lnTo>
                  <a:pt x="311" y="34"/>
                </a:lnTo>
                <a:lnTo>
                  <a:pt x="327" y="36"/>
                </a:lnTo>
                <a:lnTo>
                  <a:pt x="344" y="37"/>
                </a:lnTo>
                <a:lnTo>
                  <a:pt x="360" y="38"/>
                </a:lnTo>
                <a:lnTo>
                  <a:pt x="377" y="39"/>
                </a:lnTo>
                <a:lnTo>
                  <a:pt x="393" y="39"/>
                </a:lnTo>
                <a:lnTo>
                  <a:pt x="393" y="40"/>
                </a:lnTo>
                <a:lnTo>
                  <a:pt x="377" y="40"/>
                </a:lnTo>
                <a:lnTo>
                  <a:pt x="360" y="39"/>
                </a:lnTo>
                <a:lnTo>
                  <a:pt x="344" y="38"/>
                </a:lnTo>
                <a:lnTo>
                  <a:pt x="327" y="37"/>
                </a:lnTo>
                <a:lnTo>
                  <a:pt x="311" y="36"/>
                </a:lnTo>
                <a:lnTo>
                  <a:pt x="295" y="34"/>
                </a:lnTo>
                <a:lnTo>
                  <a:pt x="278" y="32"/>
                </a:lnTo>
                <a:lnTo>
                  <a:pt x="262" y="30"/>
                </a:lnTo>
                <a:lnTo>
                  <a:pt x="246" y="28"/>
                </a:lnTo>
                <a:lnTo>
                  <a:pt x="229" y="25"/>
                </a:lnTo>
                <a:lnTo>
                  <a:pt x="213" y="23"/>
                </a:lnTo>
                <a:lnTo>
                  <a:pt x="196" y="21"/>
                </a:lnTo>
                <a:lnTo>
                  <a:pt x="180" y="18"/>
                </a:lnTo>
                <a:lnTo>
                  <a:pt x="164" y="16"/>
                </a:lnTo>
                <a:lnTo>
                  <a:pt x="147" y="14"/>
                </a:lnTo>
                <a:lnTo>
                  <a:pt x="131" y="11"/>
                </a:lnTo>
                <a:lnTo>
                  <a:pt x="114" y="9"/>
                </a:lnTo>
                <a:lnTo>
                  <a:pt x="98" y="7"/>
                </a:lnTo>
                <a:lnTo>
                  <a:pt x="82" y="6"/>
                </a:lnTo>
                <a:lnTo>
                  <a:pt x="65" y="4"/>
                </a:lnTo>
                <a:lnTo>
                  <a:pt x="49" y="3"/>
                </a:lnTo>
                <a:lnTo>
                  <a:pt x="33" y="2"/>
                </a:lnTo>
                <a:lnTo>
                  <a:pt x="16" y="1"/>
                </a:lnTo>
                <a:lnTo>
                  <a:pt x="0" y="1"/>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2057400" y="4438650"/>
            <a:ext cx="3743325" cy="1790700"/>
          </a:xfrm>
          <a:custGeom>
            <a:avLst/>
            <a:gdLst/>
            <a:ahLst/>
            <a:cxnLst/>
            <a:rect l="l" t="t" r="r" b="b"/>
            <a:pathLst>
              <a:path w="393" h="188">
                <a:moveTo>
                  <a:pt x="0" y="186"/>
                </a:moveTo>
                <a:lnTo>
                  <a:pt x="16" y="185"/>
                </a:lnTo>
                <a:lnTo>
                  <a:pt x="33" y="183"/>
                </a:lnTo>
                <a:lnTo>
                  <a:pt x="49" y="178"/>
                </a:lnTo>
                <a:lnTo>
                  <a:pt x="65" y="172"/>
                </a:lnTo>
                <a:lnTo>
                  <a:pt x="82" y="165"/>
                </a:lnTo>
                <a:lnTo>
                  <a:pt x="98" y="157"/>
                </a:lnTo>
                <a:lnTo>
                  <a:pt x="114" y="148"/>
                </a:lnTo>
                <a:lnTo>
                  <a:pt x="131" y="138"/>
                </a:lnTo>
                <a:lnTo>
                  <a:pt x="147" y="127"/>
                </a:lnTo>
                <a:lnTo>
                  <a:pt x="164" y="116"/>
                </a:lnTo>
                <a:lnTo>
                  <a:pt x="180" y="105"/>
                </a:lnTo>
                <a:lnTo>
                  <a:pt x="196" y="93"/>
                </a:lnTo>
                <a:lnTo>
                  <a:pt x="213" y="81"/>
                </a:lnTo>
                <a:lnTo>
                  <a:pt x="229" y="70"/>
                </a:lnTo>
                <a:lnTo>
                  <a:pt x="246" y="59"/>
                </a:lnTo>
                <a:lnTo>
                  <a:pt x="262" y="48"/>
                </a:lnTo>
                <a:lnTo>
                  <a:pt x="278" y="38"/>
                </a:lnTo>
                <a:lnTo>
                  <a:pt x="295" y="29"/>
                </a:lnTo>
                <a:lnTo>
                  <a:pt x="311" y="20"/>
                </a:lnTo>
                <a:lnTo>
                  <a:pt x="327" y="13"/>
                </a:lnTo>
                <a:lnTo>
                  <a:pt x="344" y="8"/>
                </a:lnTo>
                <a:lnTo>
                  <a:pt x="360" y="3"/>
                </a:lnTo>
                <a:lnTo>
                  <a:pt x="377" y="1"/>
                </a:lnTo>
                <a:lnTo>
                  <a:pt x="393" y="0"/>
                </a:lnTo>
                <a:lnTo>
                  <a:pt x="393" y="2"/>
                </a:lnTo>
                <a:lnTo>
                  <a:pt x="377" y="3"/>
                </a:lnTo>
                <a:lnTo>
                  <a:pt x="360" y="5"/>
                </a:lnTo>
                <a:lnTo>
                  <a:pt x="344" y="10"/>
                </a:lnTo>
                <a:lnTo>
                  <a:pt x="327" y="16"/>
                </a:lnTo>
                <a:lnTo>
                  <a:pt x="311" y="23"/>
                </a:lnTo>
                <a:lnTo>
                  <a:pt x="295" y="31"/>
                </a:lnTo>
                <a:lnTo>
                  <a:pt x="278" y="40"/>
                </a:lnTo>
                <a:lnTo>
                  <a:pt x="262" y="50"/>
                </a:lnTo>
                <a:lnTo>
                  <a:pt x="246" y="61"/>
                </a:lnTo>
                <a:lnTo>
                  <a:pt x="229" y="72"/>
                </a:lnTo>
                <a:lnTo>
                  <a:pt x="213" y="83"/>
                </a:lnTo>
                <a:lnTo>
                  <a:pt x="196" y="95"/>
                </a:lnTo>
                <a:lnTo>
                  <a:pt x="180" y="107"/>
                </a:lnTo>
                <a:lnTo>
                  <a:pt x="164" y="118"/>
                </a:lnTo>
                <a:lnTo>
                  <a:pt x="147" y="129"/>
                </a:lnTo>
                <a:lnTo>
                  <a:pt x="131" y="140"/>
                </a:lnTo>
                <a:lnTo>
                  <a:pt x="114" y="150"/>
                </a:lnTo>
                <a:lnTo>
                  <a:pt x="98" y="159"/>
                </a:lnTo>
                <a:lnTo>
                  <a:pt x="82" y="168"/>
                </a:lnTo>
                <a:lnTo>
                  <a:pt x="65" y="175"/>
                </a:lnTo>
                <a:lnTo>
                  <a:pt x="49" y="180"/>
                </a:lnTo>
                <a:lnTo>
                  <a:pt x="33" y="185"/>
                </a:lnTo>
                <a:lnTo>
                  <a:pt x="16" y="188"/>
                </a:lnTo>
                <a:lnTo>
                  <a:pt x="0" y="18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2057400" y="4829175"/>
            <a:ext cx="3743325" cy="1428750"/>
          </a:xfrm>
          <a:custGeom>
            <a:avLst/>
            <a:gdLst/>
            <a:ahLst/>
            <a:cxnLst/>
            <a:rect l="l" t="t" r="r" b="b"/>
            <a:pathLst>
              <a:path w="393" h="150">
                <a:moveTo>
                  <a:pt x="0" y="147"/>
                </a:moveTo>
                <a:lnTo>
                  <a:pt x="16" y="147"/>
                </a:lnTo>
                <a:lnTo>
                  <a:pt x="33" y="145"/>
                </a:lnTo>
                <a:lnTo>
                  <a:pt x="49" y="141"/>
                </a:lnTo>
                <a:lnTo>
                  <a:pt x="65" y="137"/>
                </a:lnTo>
                <a:lnTo>
                  <a:pt x="82" y="131"/>
                </a:lnTo>
                <a:lnTo>
                  <a:pt x="98" y="124"/>
                </a:lnTo>
                <a:lnTo>
                  <a:pt x="114" y="117"/>
                </a:lnTo>
                <a:lnTo>
                  <a:pt x="131" y="109"/>
                </a:lnTo>
                <a:lnTo>
                  <a:pt x="147" y="101"/>
                </a:lnTo>
                <a:lnTo>
                  <a:pt x="164" y="92"/>
                </a:lnTo>
                <a:lnTo>
                  <a:pt x="180" y="83"/>
                </a:lnTo>
                <a:lnTo>
                  <a:pt x="196" y="74"/>
                </a:lnTo>
                <a:lnTo>
                  <a:pt x="213" y="65"/>
                </a:lnTo>
                <a:lnTo>
                  <a:pt x="229" y="56"/>
                </a:lnTo>
                <a:lnTo>
                  <a:pt x="246" y="47"/>
                </a:lnTo>
                <a:lnTo>
                  <a:pt x="262" y="38"/>
                </a:lnTo>
                <a:lnTo>
                  <a:pt x="278" y="31"/>
                </a:lnTo>
                <a:lnTo>
                  <a:pt x="295" y="23"/>
                </a:lnTo>
                <a:lnTo>
                  <a:pt x="311" y="17"/>
                </a:lnTo>
                <a:lnTo>
                  <a:pt x="327" y="11"/>
                </a:lnTo>
                <a:lnTo>
                  <a:pt x="344" y="7"/>
                </a:lnTo>
                <a:lnTo>
                  <a:pt x="360" y="3"/>
                </a:lnTo>
                <a:lnTo>
                  <a:pt x="377" y="1"/>
                </a:lnTo>
                <a:lnTo>
                  <a:pt x="393" y="0"/>
                </a:lnTo>
                <a:lnTo>
                  <a:pt x="393" y="2"/>
                </a:lnTo>
                <a:lnTo>
                  <a:pt x="377" y="3"/>
                </a:lnTo>
                <a:lnTo>
                  <a:pt x="360" y="5"/>
                </a:lnTo>
                <a:lnTo>
                  <a:pt x="344" y="9"/>
                </a:lnTo>
                <a:lnTo>
                  <a:pt x="327" y="13"/>
                </a:lnTo>
                <a:lnTo>
                  <a:pt x="311" y="19"/>
                </a:lnTo>
                <a:lnTo>
                  <a:pt x="295" y="25"/>
                </a:lnTo>
                <a:lnTo>
                  <a:pt x="278" y="33"/>
                </a:lnTo>
                <a:lnTo>
                  <a:pt x="262" y="41"/>
                </a:lnTo>
                <a:lnTo>
                  <a:pt x="246" y="49"/>
                </a:lnTo>
                <a:lnTo>
                  <a:pt x="229" y="58"/>
                </a:lnTo>
                <a:lnTo>
                  <a:pt x="213" y="67"/>
                </a:lnTo>
                <a:lnTo>
                  <a:pt x="196" y="76"/>
                </a:lnTo>
                <a:lnTo>
                  <a:pt x="180" y="85"/>
                </a:lnTo>
                <a:lnTo>
                  <a:pt x="164" y="94"/>
                </a:lnTo>
                <a:lnTo>
                  <a:pt x="147" y="103"/>
                </a:lnTo>
                <a:lnTo>
                  <a:pt x="131" y="111"/>
                </a:lnTo>
                <a:lnTo>
                  <a:pt x="114" y="119"/>
                </a:lnTo>
                <a:lnTo>
                  <a:pt x="98" y="127"/>
                </a:lnTo>
                <a:lnTo>
                  <a:pt x="82" y="133"/>
                </a:lnTo>
                <a:lnTo>
                  <a:pt x="65" y="139"/>
                </a:lnTo>
                <a:lnTo>
                  <a:pt x="49" y="143"/>
                </a:lnTo>
                <a:lnTo>
                  <a:pt x="33" y="147"/>
                </a:lnTo>
                <a:lnTo>
                  <a:pt x="16" y="149"/>
                </a:lnTo>
                <a:lnTo>
                  <a:pt x="0" y="150"/>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2057400" y="5200650"/>
            <a:ext cx="3743325" cy="1076325"/>
          </a:xfrm>
          <a:custGeom>
            <a:avLst/>
            <a:gdLst/>
            <a:ahLst/>
            <a:cxnLst/>
            <a:rect l="l" t="t" r="r" b="b"/>
            <a:pathLst>
              <a:path w="393" h="113">
                <a:moveTo>
                  <a:pt x="0" y="111"/>
                </a:moveTo>
                <a:lnTo>
                  <a:pt x="16" y="110"/>
                </a:lnTo>
                <a:lnTo>
                  <a:pt x="33" y="108"/>
                </a:lnTo>
                <a:lnTo>
                  <a:pt x="49" y="106"/>
                </a:lnTo>
                <a:lnTo>
                  <a:pt x="65" y="102"/>
                </a:lnTo>
                <a:lnTo>
                  <a:pt x="82" y="98"/>
                </a:lnTo>
                <a:lnTo>
                  <a:pt x="98" y="93"/>
                </a:lnTo>
                <a:lnTo>
                  <a:pt x="114" y="88"/>
                </a:lnTo>
                <a:lnTo>
                  <a:pt x="131" y="82"/>
                </a:lnTo>
                <a:lnTo>
                  <a:pt x="147" y="75"/>
                </a:lnTo>
                <a:lnTo>
                  <a:pt x="164" y="69"/>
                </a:lnTo>
                <a:lnTo>
                  <a:pt x="180" y="62"/>
                </a:lnTo>
                <a:lnTo>
                  <a:pt x="196" y="55"/>
                </a:lnTo>
                <a:lnTo>
                  <a:pt x="213" y="48"/>
                </a:lnTo>
                <a:lnTo>
                  <a:pt x="229" y="41"/>
                </a:lnTo>
                <a:lnTo>
                  <a:pt x="246" y="35"/>
                </a:lnTo>
                <a:lnTo>
                  <a:pt x="262" y="28"/>
                </a:lnTo>
                <a:lnTo>
                  <a:pt x="278" y="22"/>
                </a:lnTo>
                <a:lnTo>
                  <a:pt x="295" y="17"/>
                </a:lnTo>
                <a:lnTo>
                  <a:pt x="311" y="12"/>
                </a:lnTo>
                <a:lnTo>
                  <a:pt x="327" y="8"/>
                </a:lnTo>
                <a:lnTo>
                  <a:pt x="344" y="4"/>
                </a:lnTo>
                <a:lnTo>
                  <a:pt x="360" y="2"/>
                </a:lnTo>
                <a:lnTo>
                  <a:pt x="377" y="0"/>
                </a:lnTo>
                <a:lnTo>
                  <a:pt x="393" y="0"/>
                </a:lnTo>
                <a:lnTo>
                  <a:pt x="393" y="2"/>
                </a:lnTo>
                <a:lnTo>
                  <a:pt x="377" y="2"/>
                </a:lnTo>
                <a:lnTo>
                  <a:pt x="360" y="4"/>
                </a:lnTo>
                <a:lnTo>
                  <a:pt x="344" y="6"/>
                </a:lnTo>
                <a:lnTo>
                  <a:pt x="327" y="10"/>
                </a:lnTo>
                <a:lnTo>
                  <a:pt x="311" y="14"/>
                </a:lnTo>
                <a:lnTo>
                  <a:pt x="295" y="19"/>
                </a:lnTo>
                <a:lnTo>
                  <a:pt x="278" y="24"/>
                </a:lnTo>
                <a:lnTo>
                  <a:pt x="262" y="30"/>
                </a:lnTo>
                <a:lnTo>
                  <a:pt x="246" y="37"/>
                </a:lnTo>
                <a:lnTo>
                  <a:pt x="229" y="43"/>
                </a:lnTo>
                <a:lnTo>
                  <a:pt x="213" y="50"/>
                </a:lnTo>
                <a:lnTo>
                  <a:pt x="196" y="57"/>
                </a:lnTo>
                <a:lnTo>
                  <a:pt x="180" y="64"/>
                </a:lnTo>
                <a:lnTo>
                  <a:pt x="164" y="71"/>
                </a:lnTo>
                <a:lnTo>
                  <a:pt x="147" y="78"/>
                </a:lnTo>
                <a:lnTo>
                  <a:pt x="131" y="84"/>
                </a:lnTo>
                <a:lnTo>
                  <a:pt x="114" y="90"/>
                </a:lnTo>
                <a:lnTo>
                  <a:pt x="98" y="95"/>
                </a:lnTo>
                <a:lnTo>
                  <a:pt x="82" y="100"/>
                </a:lnTo>
                <a:lnTo>
                  <a:pt x="65" y="104"/>
                </a:lnTo>
                <a:lnTo>
                  <a:pt x="49" y="108"/>
                </a:lnTo>
                <a:lnTo>
                  <a:pt x="33" y="111"/>
                </a:lnTo>
                <a:lnTo>
                  <a:pt x="16" y="112"/>
                </a:lnTo>
                <a:lnTo>
                  <a:pt x="0" y="113"/>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057400" y="5562600"/>
            <a:ext cx="3743325" cy="723900"/>
          </a:xfrm>
          <a:custGeom>
            <a:avLst/>
            <a:gdLst/>
            <a:ahLst/>
            <a:cxnLst/>
            <a:rect l="l" t="t" r="r" b="b"/>
            <a:pathLst>
              <a:path w="393" h="76">
                <a:moveTo>
                  <a:pt x="0" y="75"/>
                </a:moveTo>
                <a:lnTo>
                  <a:pt x="16" y="74"/>
                </a:lnTo>
                <a:lnTo>
                  <a:pt x="33" y="73"/>
                </a:lnTo>
                <a:lnTo>
                  <a:pt x="49" y="72"/>
                </a:lnTo>
                <a:lnTo>
                  <a:pt x="65" y="69"/>
                </a:lnTo>
                <a:lnTo>
                  <a:pt x="82" y="66"/>
                </a:lnTo>
                <a:lnTo>
                  <a:pt x="98" y="63"/>
                </a:lnTo>
                <a:lnTo>
                  <a:pt x="114" y="59"/>
                </a:lnTo>
                <a:lnTo>
                  <a:pt x="131" y="55"/>
                </a:lnTo>
                <a:lnTo>
                  <a:pt x="147" y="51"/>
                </a:lnTo>
                <a:lnTo>
                  <a:pt x="164" y="47"/>
                </a:lnTo>
                <a:lnTo>
                  <a:pt x="180" y="42"/>
                </a:lnTo>
                <a:lnTo>
                  <a:pt x="196" y="37"/>
                </a:lnTo>
                <a:lnTo>
                  <a:pt x="213" y="33"/>
                </a:lnTo>
                <a:lnTo>
                  <a:pt x="229" y="28"/>
                </a:lnTo>
                <a:lnTo>
                  <a:pt x="246" y="24"/>
                </a:lnTo>
                <a:lnTo>
                  <a:pt x="262" y="19"/>
                </a:lnTo>
                <a:lnTo>
                  <a:pt x="278" y="15"/>
                </a:lnTo>
                <a:lnTo>
                  <a:pt x="295" y="12"/>
                </a:lnTo>
                <a:lnTo>
                  <a:pt x="311" y="8"/>
                </a:lnTo>
                <a:lnTo>
                  <a:pt x="327" y="5"/>
                </a:lnTo>
                <a:lnTo>
                  <a:pt x="344" y="3"/>
                </a:lnTo>
                <a:lnTo>
                  <a:pt x="360" y="1"/>
                </a:lnTo>
                <a:lnTo>
                  <a:pt x="377" y="0"/>
                </a:lnTo>
                <a:lnTo>
                  <a:pt x="393" y="0"/>
                </a:lnTo>
                <a:lnTo>
                  <a:pt x="393" y="2"/>
                </a:lnTo>
                <a:lnTo>
                  <a:pt x="377" y="2"/>
                </a:lnTo>
                <a:lnTo>
                  <a:pt x="360" y="3"/>
                </a:lnTo>
                <a:lnTo>
                  <a:pt x="344" y="5"/>
                </a:lnTo>
                <a:lnTo>
                  <a:pt x="327" y="7"/>
                </a:lnTo>
                <a:lnTo>
                  <a:pt x="311" y="10"/>
                </a:lnTo>
                <a:lnTo>
                  <a:pt x="295" y="13"/>
                </a:lnTo>
                <a:lnTo>
                  <a:pt x="278" y="17"/>
                </a:lnTo>
                <a:lnTo>
                  <a:pt x="262" y="21"/>
                </a:lnTo>
                <a:lnTo>
                  <a:pt x="246" y="25"/>
                </a:lnTo>
                <a:lnTo>
                  <a:pt x="229" y="30"/>
                </a:lnTo>
                <a:lnTo>
                  <a:pt x="213" y="34"/>
                </a:lnTo>
                <a:lnTo>
                  <a:pt x="196" y="39"/>
                </a:lnTo>
                <a:lnTo>
                  <a:pt x="180" y="44"/>
                </a:lnTo>
                <a:lnTo>
                  <a:pt x="164" y="48"/>
                </a:lnTo>
                <a:lnTo>
                  <a:pt x="147" y="53"/>
                </a:lnTo>
                <a:lnTo>
                  <a:pt x="131" y="57"/>
                </a:lnTo>
                <a:lnTo>
                  <a:pt x="114" y="61"/>
                </a:lnTo>
                <a:lnTo>
                  <a:pt x="98" y="65"/>
                </a:lnTo>
                <a:lnTo>
                  <a:pt x="82" y="68"/>
                </a:lnTo>
                <a:lnTo>
                  <a:pt x="65" y="71"/>
                </a:lnTo>
                <a:lnTo>
                  <a:pt x="49" y="73"/>
                </a:lnTo>
                <a:lnTo>
                  <a:pt x="33" y="75"/>
                </a:lnTo>
                <a:lnTo>
                  <a:pt x="16" y="76"/>
                </a:lnTo>
                <a:lnTo>
                  <a:pt x="0" y="76"/>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2057400" y="5876925"/>
            <a:ext cx="3743325" cy="428625"/>
          </a:xfrm>
          <a:custGeom>
            <a:avLst/>
            <a:gdLst/>
            <a:ahLst/>
            <a:cxnLst/>
            <a:rect l="l" t="t" r="r" b="b"/>
            <a:pathLst>
              <a:path w="393" h="45">
                <a:moveTo>
                  <a:pt x="0" y="43"/>
                </a:moveTo>
                <a:lnTo>
                  <a:pt x="16" y="43"/>
                </a:lnTo>
                <a:lnTo>
                  <a:pt x="33" y="43"/>
                </a:lnTo>
                <a:lnTo>
                  <a:pt x="49" y="42"/>
                </a:lnTo>
                <a:lnTo>
                  <a:pt x="65" y="40"/>
                </a:lnTo>
                <a:lnTo>
                  <a:pt x="82" y="39"/>
                </a:lnTo>
                <a:lnTo>
                  <a:pt x="98" y="37"/>
                </a:lnTo>
                <a:lnTo>
                  <a:pt x="114" y="35"/>
                </a:lnTo>
                <a:lnTo>
                  <a:pt x="131" y="32"/>
                </a:lnTo>
                <a:lnTo>
                  <a:pt x="147" y="30"/>
                </a:lnTo>
                <a:lnTo>
                  <a:pt x="164" y="27"/>
                </a:lnTo>
                <a:lnTo>
                  <a:pt x="180" y="25"/>
                </a:lnTo>
                <a:lnTo>
                  <a:pt x="196" y="22"/>
                </a:lnTo>
                <a:lnTo>
                  <a:pt x="213" y="19"/>
                </a:lnTo>
                <a:lnTo>
                  <a:pt x="229" y="16"/>
                </a:lnTo>
                <a:lnTo>
                  <a:pt x="246" y="14"/>
                </a:lnTo>
                <a:lnTo>
                  <a:pt x="262" y="11"/>
                </a:lnTo>
                <a:lnTo>
                  <a:pt x="278" y="9"/>
                </a:lnTo>
                <a:lnTo>
                  <a:pt x="295" y="7"/>
                </a:lnTo>
                <a:lnTo>
                  <a:pt x="311" y="5"/>
                </a:lnTo>
                <a:lnTo>
                  <a:pt x="327" y="3"/>
                </a:lnTo>
                <a:lnTo>
                  <a:pt x="344" y="2"/>
                </a:lnTo>
                <a:lnTo>
                  <a:pt x="360" y="1"/>
                </a:lnTo>
                <a:lnTo>
                  <a:pt x="377" y="0"/>
                </a:lnTo>
                <a:lnTo>
                  <a:pt x="393" y="0"/>
                </a:lnTo>
                <a:lnTo>
                  <a:pt x="393" y="2"/>
                </a:lnTo>
                <a:lnTo>
                  <a:pt x="377" y="2"/>
                </a:lnTo>
                <a:lnTo>
                  <a:pt x="360" y="3"/>
                </a:lnTo>
                <a:lnTo>
                  <a:pt x="344" y="4"/>
                </a:lnTo>
                <a:lnTo>
                  <a:pt x="327" y="5"/>
                </a:lnTo>
                <a:lnTo>
                  <a:pt x="311" y="7"/>
                </a:lnTo>
                <a:lnTo>
                  <a:pt x="295" y="8"/>
                </a:lnTo>
                <a:lnTo>
                  <a:pt x="278" y="11"/>
                </a:lnTo>
                <a:lnTo>
                  <a:pt x="262" y="13"/>
                </a:lnTo>
                <a:lnTo>
                  <a:pt x="246" y="15"/>
                </a:lnTo>
                <a:lnTo>
                  <a:pt x="229" y="18"/>
                </a:lnTo>
                <a:lnTo>
                  <a:pt x="213" y="21"/>
                </a:lnTo>
                <a:lnTo>
                  <a:pt x="196" y="23"/>
                </a:lnTo>
                <a:lnTo>
                  <a:pt x="180" y="26"/>
                </a:lnTo>
                <a:lnTo>
                  <a:pt x="164" y="29"/>
                </a:lnTo>
                <a:lnTo>
                  <a:pt x="147" y="31"/>
                </a:lnTo>
                <a:lnTo>
                  <a:pt x="131" y="34"/>
                </a:lnTo>
                <a:lnTo>
                  <a:pt x="114" y="36"/>
                </a:lnTo>
                <a:lnTo>
                  <a:pt x="98" y="38"/>
                </a:lnTo>
                <a:lnTo>
                  <a:pt x="82" y="40"/>
                </a:lnTo>
                <a:lnTo>
                  <a:pt x="65" y="42"/>
                </a:lnTo>
                <a:lnTo>
                  <a:pt x="49" y="43"/>
                </a:lnTo>
                <a:lnTo>
                  <a:pt x="33" y="44"/>
                </a:lnTo>
                <a:lnTo>
                  <a:pt x="16" y="45"/>
                </a:lnTo>
                <a:lnTo>
                  <a:pt x="0" y="45"/>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2057400" y="6181725"/>
            <a:ext cx="3743325" cy="142875"/>
          </a:xfrm>
          <a:custGeom>
            <a:avLst/>
            <a:gdLst/>
            <a:ahLst/>
            <a:cxnLst/>
            <a:rect l="l" t="t" r="r" b="b"/>
            <a:pathLst>
              <a:path w="393" h="15">
                <a:moveTo>
                  <a:pt x="0" y="13"/>
                </a:moveTo>
                <a:lnTo>
                  <a:pt x="16" y="13"/>
                </a:lnTo>
                <a:lnTo>
                  <a:pt x="33" y="13"/>
                </a:lnTo>
                <a:lnTo>
                  <a:pt x="49" y="12"/>
                </a:lnTo>
                <a:lnTo>
                  <a:pt x="65" y="12"/>
                </a:lnTo>
                <a:lnTo>
                  <a:pt x="82" y="12"/>
                </a:lnTo>
                <a:lnTo>
                  <a:pt x="98" y="11"/>
                </a:lnTo>
                <a:lnTo>
                  <a:pt x="114" y="10"/>
                </a:lnTo>
                <a:lnTo>
                  <a:pt x="131" y="10"/>
                </a:lnTo>
                <a:lnTo>
                  <a:pt x="147" y="9"/>
                </a:lnTo>
                <a:lnTo>
                  <a:pt x="164" y="8"/>
                </a:lnTo>
                <a:lnTo>
                  <a:pt x="180" y="7"/>
                </a:lnTo>
                <a:lnTo>
                  <a:pt x="196" y="7"/>
                </a:lnTo>
                <a:lnTo>
                  <a:pt x="213" y="6"/>
                </a:lnTo>
                <a:lnTo>
                  <a:pt x="229" y="5"/>
                </a:lnTo>
                <a:lnTo>
                  <a:pt x="246" y="4"/>
                </a:lnTo>
                <a:lnTo>
                  <a:pt x="262" y="4"/>
                </a:lnTo>
                <a:lnTo>
                  <a:pt x="278" y="3"/>
                </a:lnTo>
                <a:lnTo>
                  <a:pt x="295" y="2"/>
                </a:lnTo>
                <a:lnTo>
                  <a:pt x="311" y="2"/>
                </a:lnTo>
                <a:lnTo>
                  <a:pt x="327" y="1"/>
                </a:lnTo>
                <a:lnTo>
                  <a:pt x="344" y="1"/>
                </a:lnTo>
                <a:lnTo>
                  <a:pt x="360" y="1"/>
                </a:lnTo>
                <a:lnTo>
                  <a:pt x="377" y="0"/>
                </a:lnTo>
                <a:lnTo>
                  <a:pt x="393" y="0"/>
                </a:lnTo>
                <a:lnTo>
                  <a:pt x="393" y="2"/>
                </a:lnTo>
                <a:lnTo>
                  <a:pt x="377" y="2"/>
                </a:lnTo>
                <a:lnTo>
                  <a:pt x="360" y="3"/>
                </a:lnTo>
                <a:lnTo>
                  <a:pt x="344" y="3"/>
                </a:lnTo>
                <a:lnTo>
                  <a:pt x="327" y="3"/>
                </a:lnTo>
                <a:lnTo>
                  <a:pt x="311" y="4"/>
                </a:lnTo>
                <a:lnTo>
                  <a:pt x="295" y="4"/>
                </a:lnTo>
                <a:lnTo>
                  <a:pt x="278" y="5"/>
                </a:lnTo>
                <a:lnTo>
                  <a:pt x="262" y="6"/>
                </a:lnTo>
                <a:lnTo>
                  <a:pt x="246" y="6"/>
                </a:lnTo>
                <a:lnTo>
                  <a:pt x="229" y="7"/>
                </a:lnTo>
                <a:lnTo>
                  <a:pt x="213" y="8"/>
                </a:lnTo>
                <a:lnTo>
                  <a:pt x="196" y="9"/>
                </a:lnTo>
                <a:lnTo>
                  <a:pt x="180" y="9"/>
                </a:lnTo>
                <a:lnTo>
                  <a:pt x="164" y="10"/>
                </a:lnTo>
                <a:lnTo>
                  <a:pt x="147" y="11"/>
                </a:lnTo>
                <a:lnTo>
                  <a:pt x="131" y="12"/>
                </a:lnTo>
                <a:lnTo>
                  <a:pt x="114" y="12"/>
                </a:lnTo>
                <a:lnTo>
                  <a:pt x="98" y="13"/>
                </a:lnTo>
                <a:lnTo>
                  <a:pt x="82" y="13"/>
                </a:lnTo>
                <a:lnTo>
                  <a:pt x="65" y="14"/>
                </a:lnTo>
                <a:lnTo>
                  <a:pt x="49" y="14"/>
                </a:lnTo>
                <a:lnTo>
                  <a:pt x="33" y="15"/>
                </a:lnTo>
                <a:lnTo>
                  <a:pt x="16" y="15"/>
                </a:lnTo>
                <a:lnTo>
                  <a:pt x="0" y="15"/>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057400" y="6324600"/>
            <a:ext cx="3743325" cy="57150"/>
          </a:xfrm>
          <a:custGeom>
            <a:avLst/>
            <a:gdLst/>
            <a:ahLst/>
            <a:cxnLst/>
            <a:rect l="l" t="t" r="r" b="b"/>
            <a:pathLst>
              <a:path w="393" h="6">
                <a:moveTo>
                  <a:pt x="0" y="0"/>
                </a:moveTo>
                <a:lnTo>
                  <a:pt x="16" y="0"/>
                </a:lnTo>
                <a:lnTo>
                  <a:pt x="33" y="0"/>
                </a:lnTo>
                <a:lnTo>
                  <a:pt x="49" y="0"/>
                </a:lnTo>
                <a:lnTo>
                  <a:pt x="65" y="0"/>
                </a:lnTo>
                <a:lnTo>
                  <a:pt x="82" y="0"/>
                </a:lnTo>
                <a:lnTo>
                  <a:pt x="98" y="1"/>
                </a:lnTo>
                <a:lnTo>
                  <a:pt x="114" y="1"/>
                </a:lnTo>
                <a:lnTo>
                  <a:pt x="131" y="1"/>
                </a:lnTo>
                <a:lnTo>
                  <a:pt x="147" y="2"/>
                </a:lnTo>
                <a:lnTo>
                  <a:pt x="164" y="2"/>
                </a:lnTo>
                <a:lnTo>
                  <a:pt x="180" y="2"/>
                </a:lnTo>
                <a:lnTo>
                  <a:pt x="196" y="3"/>
                </a:lnTo>
                <a:lnTo>
                  <a:pt x="213" y="3"/>
                </a:lnTo>
                <a:lnTo>
                  <a:pt x="229" y="3"/>
                </a:lnTo>
                <a:lnTo>
                  <a:pt x="246" y="4"/>
                </a:lnTo>
                <a:lnTo>
                  <a:pt x="262" y="4"/>
                </a:lnTo>
                <a:lnTo>
                  <a:pt x="278" y="4"/>
                </a:lnTo>
                <a:lnTo>
                  <a:pt x="295" y="5"/>
                </a:lnTo>
                <a:lnTo>
                  <a:pt x="311" y="5"/>
                </a:lnTo>
                <a:lnTo>
                  <a:pt x="327" y="5"/>
                </a:lnTo>
                <a:lnTo>
                  <a:pt x="344" y="5"/>
                </a:lnTo>
                <a:lnTo>
                  <a:pt x="360" y="5"/>
                </a:lnTo>
                <a:lnTo>
                  <a:pt x="377" y="5"/>
                </a:lnTo>
                <a:lnTo>
                  <a:pt x="393" y="5"/>
                </a:lnTo>
                <a:lnTo>
                  <a:pt x="393" y="6"/>
                </a:lnTo>
                <a:lnTo>
                  <a:pt x="377" y="6"/>
                </a:lnTo>
                <a:lnTo>
                  <a:pt x="360" y="6"/>
                </a:lnTo>
                <a:lnTo>
                  <a:pt x="344" y="6"/>
                </a:lnTo>
                <a:lnTo>
                  <a:pt x="327" y="6"/>
                </a:lnTo>
                <a:lnTo>
                  <a:pt x="311" y="6"/>
                </a:lnTo>
                <a:lnTo>
                  <a:pt x="295" y="5"/>
                </a:lnTo>
                <a:lnTo>
                  <a:pt x="278" y="5"/>
                </a:lnTo>
                <a:lnTo>
                  <a:pt x="262" y="5"/>
                </a:lnTo>
                <a:lnTo>
                  <a:pt x="246" y="4"/>
                </a:lnTo>
                <a:lnTo>
                  <a:pt x="229" y="4"/>
                </a:lnTo>
                <a:lnTo>
                  <a:pt x="213" y="4"/>
                </a:lnTo>
                <a:lnTo>
                  <a:pt x="196" y="3"/>
                </a:lnTo>
                <a:lnTo>
                  <a:pt x="180" y="3"/>
                </a:lnTo>
                <a:lnTo>
                  <a:pt x="164" y="3"/>
                </a:lnTo>
                <a:lnTo>
                  <a:pt x="147" y="2"/>
                </a:lnTo>
                <a:lnTo>
                  <a:pt x="131" y="2"/>
                </a:lnTo>
                <a:lnTo>
                  <a:pt x="114" y="2"/>
                </a:lnTo>
                <a:lnTo>
                  <a:pt x="98" y="1"/>
                </a:lnTo>
                <a:lnTo>
                  <a:pt x="82" y="1"/>
                </a:lnTo>
                <a:lnTo>
                  <a:pt x="65" y="1"/>
                </a:lnTo>
                <a:lnTo>
                  <a:pt x="49" y="1"/>
                </a:lnTo>
                <a:lnTo>
                  <a:pt x="33" y="1"/>
                </a:lnTo>
                <a:lnTo>
                  <a:pt x="16" y="1"/>
                </a:lnTo>
                <a:lnTo>
                  <a:pt x="0" y="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2057400" y="6334125"/>
            <a:ext cx="3743325" cy="200025"/>
          </a:xfrm>
          <a:custGeom>
            <a:avLst/>
            <a:gdLst/>
            <a:ahLst/>
            <a:cxnLst/>
            <a:rect l="l" t="t" r="r" b="b"/>
            <a:pathLst>
              <a:path w="393" h="21">
                <a:moveTo>
                  <a:pt x="0" y="0"/>
                </a:moveTo>
                <a:lnTo>
                  <a:pt x="16" y="0"/>
                </a:lnTo>
                <a:lnTo>
                  <a:pt x="33" y="0"/>
                </a:lnTo>
                <a:lnTo>
                  <a:pt x="49" y="0"/>
                </a:lnTo>
                <a:lnTo>
                  <a:pt x="65" y="1"/>
                </a:lnTo>
                <a:lnTo>
                  <a:pt x="82" y="2"/>
                </a:lnTo>
                <a:lnTo>
                  <a:pt x="98" y="3"/>
                </a:lnTo>
                <a:lnTo>
                  <a:pt x="114" y="4"/>
                </a:lnTo>
                <a:lnTo>
                  <a:pt x="131" y="5"/>
                </a:lnTo>
                <a:lnTo>
                  <a:pt x="147" y="6"/>
                </a:lnTo>
                <a:lnTo>
                  <a:pt x="164" y="7"/>
                </a:lnTo>
                <a:lnTo>
                  <a:pt x="180" y="9"/>
                </a:lnTo>
                <a:lnTo>
                  <a:pt x="196" y="10"/>
                </a:lnTo>
                <a:lnTo>
                  <a:pt x="213" y="11"/>
                </a:lnTo>
                <a:lnTo>
                  <a:pt x="229" y="12"/>
                </a:lnTo>
                <a:lnTo>
                  <a:pt x="246" y="14"/>
                </a:lnTo>
                <a:lnTo>
                  <a:pt x="262" y="15"/>
                </a:lnTo>
                <a:lnTo>
                  <a:pt x="278" y="16"/>
                </a:lnTo>
                <a:lnTo>
                  <a:pt x="295" y="17"/>
                </a:lnTo>
                <a:lnTo>
                  <a:pt x="311" y="18"/>
                </a:lnTo>
                <a:lnTo>
                  <a:pt x="327" y="19"/>
                </a:lnTo>
                <a:lnTo>
                  <a:pt x="344" y="19"/>
                </a:lnTo>
                <a:lnTo>
                  <a:pt x="360" y="20"/>
                </a:lnTo>
                <a:lnTo>
                  <a:pt x="377" y="20"/>
                </a:lnTo>
                <a:lnTo>
                  <a:pt x="393" y="20"/>
                </a:lnTo>
                <a:lnTo>
                  <a:pt x="393" y="21"/>
                </a:lnTo>
                <a:lnTo>
                  <a:pt x="377" y="21"/>
                </a:lnTo>
                <a:lnTo>
                  <a:pt x="360" y="20"/>
                </a:lnTo>
                <a:lnTo>
                  <a:pt x="344" y="20"/>
                </a:lnTo>
                <a:lnTo>
                  <a:pt x="327" y="19"/>
                </a:lnTo>
                <a:lnTo>
                  <a:pt x="311" y="18"/>
                </a:lnTo>
                <a:lnTo>
                  <a:pt x="295" y="17"/>
                </a:lnTo>
                <a:lnTo>
                  <a:pt x="278" y="16"/>
                </a:lnTo>
                <a:lnTo>
                  <a:pt x="262" y="15"/>
                </a:lnTo>
                <a:lnTo>
                  <a:pt x="246" y="14"/>
                </a:lnTo>
                <a:lnTo>
                  <a:pt x="229" y="13"/>
                </a:lnTo>
                <a:lnTo>
                  <a:pt x="213" y="12"/>
                </a:lnTo>
                <a:lnTo>
                  <a:pt x="196" y="10"/>
                </a:lnTo>
                <a:lnTo>
                  <a:pt x="180" y="9"/>
                </a:lnTo>
                <a:lnTo>
                  <a:pt x="164" y="8"/>
                </a:lnTo>
                <a:lnTo>
                  <a:pt x="147" y="7"/>
                </a:lnTo>
                <a:lnTo>
                  <a:pt x="131" y="5"/>
                </a:lnTo>
                <a:lnTo>
                  <a:pt x="114" y="4"/>
                </a:lnTo>
                <a:lnTo>
                  <a:pt x="98" y="3"/>
                </a:lnTo>
                <a:lnTo>
                  <a:pt x="82" y="2"/>
                </a:lnTo>
                <a:lnTo>
                  <a:pt x="65" y="2"/>
                </a:lnTo>
                <a:lnTo>
                  <a:pt x="49" y="1"/>
                </a:lnTo>
                <a:lnTo>
                  <a:pt x="33" y="0"/>
                </a:lnTo>
                <a:lnTo>
                  <a:pt x="16" y="0"/>
                </a:lnTo>
                <a:lnTo>
                  <a:pt x="0" y="0"/>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2057400" y="4457700"/>
            <a:ext cx="3743325" cy="1952625"/>
          </a:xfrm>
          <a:custGeom>
            <a:avLst/>
            <a:gdLst/>
            <a:ahLst/>
            <a:cxnLst/>
            <a:rect l="l" t="t" r="r" b="b"/>
            <a:pathLst>
              <a:path w="393" h="205">
                <a:moveTo>
                  <a:pt x="0" y="203"/>
                </a:moveTo>
                <a:lnTo>
                  <a:pt x="16" y="202"/>
                </a:lnTo>
                <a:lnTo>
                  <a:pt x="33" y="199"/>
                </a:lnTo>
                <a:lnTo>
                  <a:pt x="49" y="194"/>
                </a:lnTo>
                <a:lnTo>
                  <a:pt x="65" y="188"/>
                </a:lnTo>
                <a:lnTo>
                  <a:pt x="82" y="180"/>
                </a:lnTo>
                <a:lnTo>
                  <a:pt x="98" y="171"/>
                </a:lnTo>
                <a:lnTo>
                  <a:pt x="114" y="161"/>
                </a:lnTo>
                <a:lnTo>
                  <a:pt x="131" y="150"/>
                </a:lnTo>
                <a:lnTo>
                  <a:pt x="147" y="139"/>
                </a:lnTo>
                <a:lnTo>
                  <a:pt x="164" y="127"/>
                </a:lnTo>
                <a:lnTo>
                  <a:pt x="180" y="114"/>
                </a:lnTo>
                <a:lnTo>
                  <a:pt x="196" y="101"/>
                </a:lnTo>
                <a:lnTo>
                  <a:pt x="213" y="89"/>
                </a:lnTo>
                <a:lnTo>
                  <a:pt x="229" y="76"/>
                </a:lnTo>
                <a:lnTo>
                  <a:pt x="246" y="64"/>
                </a:lnTo>
                <a:lnTo>
                  <a:pt x="262" y="52"/>
                </a:lnTo>
                <a:lnTo>
                  <a:pt x="278" y="42"/>
                </a:lnTo>
                <a:lnTo>
                  <a:pt x="295" y="32"/>
                </a:lnTo>
                <a:lnTo>
                  <a:pt x="311" y="23"/>
                </a:lnTo>
                <a:lnTo>
                  <a:pt x="327" y="15"/>
                </a:lnTo>
                <a:lnTo>
                  <a:pt x="344" y="9"/>
                </a:lnTo>
                <a:lnTo>
                  <a:pt x="360" y="4"/>
                </a:lnTo>
                <a:lnTo>
                  <a:pt x="377" y="1"/>
                </a:lnTo>
                <a:lnTo>
                  <a:pt x="393" y="0"/>
                </a:lnTo>
                <a:lnTo>
                  <a:pt x="393" y="1"/>
                </a:lnTo>
                <a:lnTo>
                  <a:pt x="377" y="2"/>
                </a:lnTo>
                <a:lnTo>
                  <a:pt x="360" y="5"/>
                </a:lnTo>
                <a:lnTo>
                  <a:pt x="344" y="10"/>
                </a:lnTo>
                <a:lnTo>
                  <a:pt x="327" y="16"/>
                </a:lnTo>
                <a:lnTo>
                  <a:pt x="311" y="24"/>
                </a:lnTo>
                <a:lnTo>
                  <a:pt x="295" y="33"/>
                </a:lnTo>
                <a:lnTo>
                  <a:pt x="278" y="43"/>
                </a:lnTo>
                <a:lnTo>
                  <a:pt x="262" y="54"/>
                </a:lnTo>
                <a:lnTo>
                  <a:pt x="246" y="66"/>
                </a:lnTo>
                <a:lnTo>
                  <a:pt x="229" y="78"/>
                </a:lnTo>
                <a:lnTo>
                  <a:pt x="213" y="90"/>
                </a:lnTo>
                <a:lnTo>
                  <a:pt x="196" y="103"/>
                </a:lnTo>
                <a:lnTo>
                  <a:pt x="180" y="116"/>
                </a:lnTo>
                <a:lnTo>
                  <a:pt x="164" y="128"/>
                </a:lnTo>
                <a:lnTo>
                  <a:pt x="147" y="140"/>
                </a:lnTo>
                <a:lnTo>
                  <a:pt x="131" y="152"/>
                </a:lnTo>
                <a:lnTo>
                  <a:pt x="114" y="163"/>
                </a:lnTo>
                <a:lnTo>
                  <a:pt x="98" y="173"/>
                </a:lnTo>
                <a:lnTo>
                  <a:pt x="82" y="182"/>
                </a:lnTo>
                <a:lnTo>
                  <a:pt x="65" y="189"/>
                </a:lnTo>
                <a:lnTo>
                  <a:pt x="49" y="196"/>
                </a:lnTo>
                <a:lnTo>
                  <a:pt x="33" y="201"/>
                </a:lnTo>
                <a:lnTo>
                  <a:pt x="16" y="203"/>
                </a:lnTo>
                <a:lnTo>
                  <a:pt x="0" y="205"/>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057400" y="4848225"/>
            <a:ext cx="3743325" cy="1571625"/>
          </a:xfrm>
          <a:custGeom>
            <a:avLst/>
            <a:gdLst/>
            <a:ahLst/>
            <a:cxnLst/>
            <a:rect l="l" t="t" r="r" b="b"/>
            <a:pathLst>
              <a:path w="393" h="165">
                <a:moveTo>
                  <a:pt x="0" y="164"/>
                </a:moveTo>
                <a:lnTo>
                  <a:pt x="16" y="163"/>
                </a:lnTo>
                <a:lnTo>
                  <a:pt x="33" y="160"/>
                </a:lnTo>
                <a:lnTo>
                  <a:pt x="49" y="157"/>
                </a:lnTo>
                <a:lnTo>
                  <a:pt x="65" y="151"/>
                </a:lnTo>
                <a:lnTo>
                  <a:pt x="82" y="145"/>
                </a:lnTo>
                <a:lnTo>
                  <a:pt x="98" y="138"/>
                </a:lnTo>
                <a:lnTo>
                  <a:pt x="114" y="130"/>
                </a:lnTo>
                <a:lnTo>
                  <a:pt x="131" y="121"/>
                </a:lnTo>
                <a:lnTo>
                  <a:pt x="147" y="112"/>
                </a:lnTo>
                <a:lnTo>
                  <a:pt x="164" y="102"/>
                </a:lnTo>
                <a:lnTo>
                  <a:pt x="180" y="92"/>
                </a:lnTo>
                <a:lnTo>
                  <a:pt x="196" y="82"/>
                </a:lnTo>
                <a:lnTo>
                  <a:pt x="213" y="72"/>
                </a:lnTo>
                <a:lnTo>
                  <a:pt x="229" y="62"/>
                </a:lnTo>
                <a:lnTo>
                  <a:pt x="246" y="52"/>
                </a:lnTo>
                <a:lnTo>
                  <a:pt x="262" y="43"/>
                </a:lnTo>
                <a:lnTo>
                  <a:pt x="278" y="34"/>
                </a:lnTo>
                <a:lnTo>
                  <a:pt x="295" y="26"/>
                </a:lnTo>
                <a:lnTo>
                  <a:pt x="311" y="19"/>
                </a:lnTo>
                <a:lnTo>
                  <a:pt x="327" y="13"/>
                </a:lnTo>
                <a:lnTo>
                  <a:pt x="344" y="7"/>
                </a:lnTo>
                <a:lnTo>
                  <a:pt x="360" y="4"/>
                </a:lnTo>
                <a:lnTo>
                  <a:pt x="377" y="1"/>
                </a:lnTo>
                <a:lnTo>
                  <a:pt x="393" y="0"/>
                </a:lnTo>
                <a:lnTo>
                  <a:pt x="393" y="2"/>
                </a:lnTo>
                <a:lnTo>
                  <a:pt x="377" y="3"/>
                </a:lnTo>
                <a:lnTo>
                  <a:pt x="360" y="5"/>
                </a:lnTo>
                <a:lnTo>
                  <a:pt x="344" y="9"/>
                </a:lnTo>
                <a:lnTo>
                  <a:pt x="327" y="14"/>
                </a:lnTo>
                <a:lnTo>
                  <a:pt x="311" y="20"/>
                </a:lnTo>
                <a:lnTo>
                  <a:pt x="295" y="27"/>
                </a:lnTo>
                <a:lnTo>
                  <a:pt x="278" y="35"/>
                </a:lnTo>
                <a:lnTo>
                  <a:pt x="262" y="44"/>
                </a:lnTo>
                <a:lnTo>
                  <a:pt x="246" y="54"/>
                </a:lnTo>
                <a:lnTo>
                  <a:pt x="229" y="63"/>
                </a:lnTo>
                <a:lnTo>
                  <a:pt x="213" y="73"/>
                </a:lnTo>
                <a:lnTo>
                  <a:pt x="196" y="84"/>
                </a:lnTo>
                <a:lnTo>
                  <a:pt x="180" y="94"/>
                </a:lnTo>
                <a:lnTo>
                  <a:pt x="164" y="104"/>
                </a:lnTo>
                <a:lnTo>
                  <a:pt x="147" y="113"/>
                </a:lnTo>
                <a:lnTo>
                  <a:pt x="131" y="123"/>
                </a:lnTo>
                <a:lnTo>
                  <a:pt x="114" y="132"/>
                </a:lnTo>
                <a:lnTo>
                  <a:pt x="98" y="140"/>
                </a:lnTo>
                <a:lnTo>
                  <a:pt x="82" y="147"/>
                </a:lnTo>
                <a:lnTo>
                  <a:pt x="65" y="153"/>
                </a:lnTo>
                <a:lnTo>
                  <a:pt x="49" y="158"/>
                </a:lnTo>
                <a:lnTo>
                  <a:pt x="33" y="162"/>
                </a:lnTo>
                <a:lnTo>
                  <a:pt x="16" y="164"/>
                </a:lnTo>
                <a:lnTo>
                  <a:pt x="0" y="165"/>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reeform 57"/>
          <p:cNvSpPr/>
          <p:nvPr/>
        </p:nvSpPr>
        <p:spPr>
          <a:xfrm>
            <a:off x="2057400" y="5219700"/>
            <a:ext cx="3743325" cy="1209675"/>
          </a:xfrm>
          <a:custGeom>
            <a:avLst/>
            <a:gdLst/>
            <a:ahLst/>
            <a:cxnLst/>
            <a:rect l="l" t="t" r="r" b="b"/>
            <a:pathLst>
              <a:path w="393" h="127">
                <a:moveTo>
                  <a:pt x="0" y="126"/>
                </a:moveTo>
                <a:lnTo>
                  <a:pt x="16" y="125"/>
                </a:lnTo>
                <a:lnTo>
                  <a:pt x="33" y="124"/>
                </a:lnTo>
                <a:lnTo>
                  <a:pt x="49" y="121"/>
                </a:lnTo>
                <a:lnTo>
                  <a:pt x="65" y="117"/>
                </a:lnTo>
                <a:lnTo>
                  <a:pt x="82" y="112"/>
                </a:lnTo>
                <a:lnTo>
                  <a:pt x="98" y="106"/>
                </a:lnTo>
                <a:lnTo>
                  <a:pt x="114" y="100"/>
                </a:lnTo>
                <a:lnTo>
                  <a:pt x="131" y="93"/>
                </a:lnTo>
                <a:lnTo>
                  <a:pt x="147" y="86"/>
                </a:lnTo>
                <a:lnTo>
                  <a:pt x="164" y="78"/>
                </a:lnTo>
                <a:lnTo>
                  <a:pt x="180" y="71"/>
                </a:lnTo>
                <a:lnTo>
                  <a:pt x="196" y="63"/>
                </a:lnTo>
                <a:lnTo>
                  <a:pt x="213" y="55"/>
                </a:lnTo>
                <a:lnTo>
                  <a:pt x="229" y="47"/>
                </a:lnTo>
                <a:lnTo>
                  <a:pt x="246" y="40"/>
                </a:lnTo>
                <a:lnTo>
                  <a:pt x="262" y="32"/>
                </a:lnTo>
                <a:lnTo>
                  <a:pt x="278" y="26"/>
                </a:lnTo>
                <a:lnTo>
                  <a:pt x="295" y="19"/>
                </a:lnTo>
                <a:lnTo>
                  <a:pt x="311" y="14"/>
                </a:lnTo>
                <a:lnTo>
                  <a:pt x="327" y="9"/>
                </a:lnTo>
                <a:lnTo>
                  <a:pt x="344" y="5"/>
                </a:lnTo>
                <a:lnTo>
                  <a:pt x="360" y="2"/>
                </a:lnTo>
                <a:lnTo>
                  <a:pt x="377" y="0"/>
                </a:lnTo>
                <a:lnTo>
                  <a:pt x="393" y="0"/>
                </a:lnTo>
                <a:lnTo>
                  <a:pt x="393" y="1"/>
                </a:lnTo>
                <a:lnTo>
                  <a:pt x="377" y="2"/>
                </a:lnTo>
                <a:lnTo>
                  <a:pt x="360" y="4"/>
                </a:lnTo>
                <a:lnTo>
                  <a:pt x="344" y="6"/>
                </a:lnTo>
                <a:lnTo>
                  <a:pt x="327" y="10"/>
                </a:lnTo>
                <a:lnTo>
                  <a:pt x="311" y="15"/>
                </a:lnTo>
                <a:lnTo>
                  <a:pt x="295" y="21"/>
                </a:lnTo>
                <a:lnTo>
                  <a:pt x="278" y="27"/>
                </a:lnTo>
                <a:lnTo>
                  <a:pt x="262" y="34"/>
                </a:lnTo>
                <a:lnTo>
                  <a:pt x="246" y="41"/>
                </a:lnTo>
                <a:lnTo>
                  <a:pt x="229" y="49"/>
                </a:lnTo>
                <a:lnTo>
                  <a:pt x="213" y="56"/>
                </a:lnTo>
                <a:lnTo>
                  <a:pt x="196" y="64"/>
                </a:lnTo>
                <a:lnTo>
                  <a:pt x="180" y="72"/>
                </a:lnTo>
                <a:lnTo>
                  <a:pt x="164" y="80"/>
                </a:lnTo>
                <a:lnTo>
                  <a:pt x="147" y="87"/>
                </a:lnTo>
                <a:lnTo>
                  <a:pt x="131" y="95"/>
                </a:lnTo>
                <a:lnTo>
                  <a:pt x="114" y="101"/>
                </a:lnTo>
                <a:lnTo>
                  <a:pt x="98" y="108"/>
                </a:lnTo>
                <a:lnTo>
                  <a:pt x="82" y="113"/>
                </a:lnTo>
                <a:lnTo>
                  <a:pt x="65" y="118"/>
                </a:lnTo>
                <a:lnTo>
                  <a:pt x="49" y="122"/>
                </a:lnTo>
                <a:lnTo>
                  <a:pt x="33" y="125"/>
                </a:lnTo>
                <a:lnTo>
                  <a:pt x="16" y="127"/>
                </a:lnTo>
                <a:lnTo>
                  <a:pt x="0" y="127"/>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2057400" y="5581650"/>
            <a:ext cx="3743325" cy="866775"/>
          </a:xfrm>
          <a:custGeom>
            <a:avLst/>
            <a:gdLst/>
            <a:ahLst/>
            <a:cxnLst/>
            <a:rect l="l" t="t" r="r" b="b"/>
            <a:pathLst>
              <a:path w="393" h="91">
                <a:moveTo>
                  <a:pt x="0" y="89"/>
                </a:moveTo>
                <a:lnTo>
                  <a:pt x="16" y="89"/>
                </a:lnTo>
                <a:lnTo>
                  <a:pt x="33" y="88"/>
                </a:lnTo>
                <a:lnTo>
                  <a:pt x="49" y="86"/>
                </a:lnTo>
                <a:lnTo>
                  <a:pt x="65" y="83"/>
                </a:lnTo>
                <a:lnTo>
                  <a:pt x="82" y="79"/>
                </a:lnTo>
                <a:lnTo>
                  <a:pt x="98" y="75"/>
                </a:lnTo>
                <a:lnTo>
                  <a:pt x="114" y="71"/>
                </a:lnTo>
                <a:lnTo>
                  <a:pt x="131" y="66"/>
                </a:lnTo>
                <a:lnTo>
                  <a:pt x="147" y="61"/>
                </a:lnTo>
                <a:lnTo>
                  <a:pt x="164" y="56"/>
                </a:lnTo>
                <a:lnTo>
                  <a:pt x="180" y="50"/>
                </a:lnTo>
                <a:lnTo>
                  <a:pt x="196" y="44"/>
                </a:lnTo>
                <a:lnTo>
                  <a:pt x="213" y="39"/>
                </a:lnTo>
                <a:lnTo>
                  <a:pt x="229" y="33"/>
                </a:lnTo>
                <a:lnTo>
                  <a:pt x="246" y="28"/>
                </a:lnTo>
                <a:lnTo>
                  <a:pt x="262" y="23"/>
                </a:lnTo>
                <a:lnTo>
                  <a:pt x="278" y="18"/>
                </a:lnTo>
                <a:lnTo>
                  <a:pt x="295" y="14"/>
                </a:lnTo>
                <a:lnTo>
                  <a:pt x="311" y="10"/>
                </a:lnTo>
                <a:lnTo>
                  <a:pt x="327" y="6"/>
                </a:lnTo>
                <a:lnTo>
                  <a:pt x="344" y="3"/>
                </a:lnTo>
                <a:lnTo>
                  <a:pt x="360" y="1"/>
                </a:lnTo>
                <a:lnTo>
                  <a:pt x="377" y="0"/>
                </a:lnTo>
                <a:lnTo>
                  <a:pt x="393" y="0"/>
                </a:lnTo>
                <a:lnTo>
                  <a:pt x="393" y="1"/>
                </a:lnTo>
                <a:lnTo>
                  <a:pt x="377" y="1"/>
                </a:lnTo>
                <a:lnTo>
                  <a:pt x="360" y="3"/>
                </a:lnTo>
                <a:lnTo>
                  <a:pt x="344" y="5"/>
                </a:lnTo>
                <a:lnTo>
                  <a:pt x="327" y="8"/>
                </a:lnTo>
                <a:lnTo>
                  <a:pt x="311" y="11"/>
                </a:lnTo>
                <a:lnTo>
                  <a:pt x="295" y="15"/>
                </a:lnTo>
                <a:lnTo>
                  <a:pt x="278" y="19"/>
                </a:lnTo>
                <a:lnTo>
                  <a:pt x="262" y="24"/>
                </a:lnTo>
                <a:lnTo>
                  <a:pt x="246" y="29"/>
                </a:lnTo>
                <a:lnTo>
                  <a:pt x="229" y="35"/>
                </a:lnTo>
                <a:lnTo>
                  <a:pt x="213" y="40"/>
                </a:lnTo>
                <a:lnTo>
                  <a:pt x="196" y="46"/>
                </a:lnTo>
                <a:lnTo>
                  <a:pt x="180" y="52"/>
                </a:lnTo>
                <a:lnTo>
                  <a:pt x="164" y="57"/>
                </a:lnTo>
                <a:lnTo>
                  <a:pt x="147" y="62"/>
                </a:lnTo>
                <a:lnTo>
                  <a:pt x="131" y="68"/>
                </a:lnTo>
                <a:lnTo>
                  <a:pt x="114" y="72"/>
                </a:lnTo>
                <a:lnTo>
                  <a:pt x="98" y="77"/>
                </a:lnTo>
                <a:lnTo>
                  <a:pt x="82" y="81"/>
                </a:lnTo>
                <a:lnTo>
                  <a:pt x="65" y="84"/>
                </a:lnTo>
                <a:lnTo>
                  <a:pt x="49" y="87"/>
                </a:lnTo>
                <a:lnTo>
                  <a:pt x="33" y="89"/>
                </a:lnTo>
                <a:lnTo>
                  <a:pt x="16" y="90"/>
                </a:lnTo>
                <a:lnTo>
                  <a:pt x="0" y="91"/>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reeform 59"/>
          <p:cNvSpPr/>
          <p:nvPr/>
        </p:nvSpPr>
        <p:spPr>
          <a:xfrm>
            <a:off x="2057400" y="5895975"/>
            <a:ext cx="3743325" cy="561975"/>
          </a:xfrm>
          <a:custGeom>
            <a:avLst/>
            <a:gdLst/>
            <a:ahLst/>
            <a:cxnLst/>
            <a:rect l="l" t="t" r="r" b="b"/>
            <a:pathLst>
              <a:path w="393" h="59">
                <a:moveTo>
                  <a:pt x="0" y="58"/>
                </a:moveTo>
                <a:lnTo>
                  <a:pt x="16" y="58"/>
                </a:lnTo>
                <a:lnTo>
                  <a:pt x="33" y="57"/>
                </a:lnTo>
                <a:lnTo>
                  <a:pt x="49" y="55"/>
                </a:lnTo>
                <a:lnTo>
                  <a:pt x="65" y="54"/>
                </a:lnTo>
                <a:lnTo>
                  <a:pt x="82" y="51"/>
                </a:lnTo>
                <a:lnTo>
                  <a:pt x="98" y="49"/>
                </a:lnTo>
                <a:lnTo>
                  <a:pt x="114" y="46"/>
                </a:lnTo>
                <a:lnTo>
                  <a:pt x="131" y="43"/>
                </a:lnTo>
                <a:lnTo>
                  <a:pt x="147" y="39"/>
                </a:lnTo>
                <a:lnTo>
                  <a:pt x="164" y="36"/>
                </a:lnTo>
                <a:lnTo>
                  <a:pt x="180" y="32"/>
                </a:lnTo>
                <a:lnTo>
                  <a:pt x="196" y="29"/>
                </a:lnTo>
                <a:lnTo>
                  <a:pt x="213" y="25"/>
                </a:lnTo>
                <a:lnTo>
                  <a:pt x="229" y="22"/>
                </a:lnTo>
                <a:lnTo>
                  <a:pt x="246" y="18"/>
                </a:lnTo>
                <a:lnTo>
                  <a:pt x="262" y="15"/>
                </a:lnTo>
                <a:lnTo>
                  <a:pt x="278" y="12"/>
                </a:lnTo>
                <a:lnTo>
                  <a:pt x="295" y="9"/>
                </a:lnTo>
                <a:lnTo>
                  <a:pt x="311" y="6"/>
                </a:lnTo>
                <a:lnTo>
                  <a:pt x="327" y="4"/>
                </a:lnTo>
                <a:lnTo>
                  <a:pt x="344" y="2"/>
                </a:lnTo>
                <a:lnTo>
                  <a:pt x="360" y="1"/>
                </a:lnTo>
                <a:lnTo>
                  <a:pt x="377" y="0"/>
                </a:lnTo>
                <a:lnTo>
                  <a:pt x="393" y="0"/>
                </a:lnTo>
                <a:lnTo>
                  <a:pt x="393" y="1"/>
                </a:lnTo>
                <a:lnTo>
                  <a:pt x="377" y="1"/>
                </a:lnTo>
                <a:lnTo>
                  <a:pt x="360" y="2"/>
                </a:lnTo>
                <a:lnTo>
                  <a:pt x="344" y="3"/>
                </a:lnTo>
                <a:lnTo>
                  <a:pt x="327" y="5"/>
                </a:lnTo>
                <a:lnTo>
                  <a:pt x="311" y="7"/>
                </a:lnTo>
                <a:lnTo>
                  <a:pt x="295" y="10"/>
                </a:lnTo>
                <a:lnTo>
                  <a:pt x="278" y="13"/>
                </a:lnTo>
                <a:lnTo>
                  <a:pt x="262" y="16"/>
                </a:lnTo>
                <a:lnTo>
                  <a:pt x="246" y="19"/>
                </a:lnTo>
                <a:lnTo>
                  <a:pt x="229" y="23"/>
                </a:lnTo>
                <a:lnTo>
                  <a:pt x="213" y="26"/>
                </a:lnTo>
                <a:lnTo>
                  <a:pt x="196" y="30"/>
                </a:lnTo>
                <a:lnTo>
                  <a:pt x="180" y="33"/>
                </a:lnTo>
                <a:lnTo>
                  <a:pt x="164" y="37"/>
                </a:lnTo>
                <a:lnTo>
                  <a:pt x="147" y="41"/>
                </a:lnTo>
                <a:lnTo>
                  <a:pt x="131" y="44"/>
                </a:lnTo>
                <a:lnTo>
                  <a:pt x="114" y="47"/>
                </a:lnTo>
                <a:lnTo>
                  <a:pt x="98" y="50"/>
                </a:lnTo>
                <a:lnTo>
                  <a:pt x="82" y="52"/>
                </a:lnTo>
                <a:lnTo>
                  <a:pt x="65" y="55"/>
                </a:lnTo>
                <a:lnTo>
                  <a:pt x="49" y="56"/>
                </a:lnTo>
                <a:lnTo>
                  <a:pt x="33" y="58"/>
                </a:lnTo>
                <a:lnTo>
                  <a:pt x="16" y="59"/>
                </a:lnTo>
                <a:lnTo>
                  <a:pt x="0" y="59"/>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2057400" y="6200775"/>
            <a:ext cx="3743325" cy="266700"/>
          </a:xfrm>
          <a:custGeom>
            <a:avLst/>
            <a:gdLst/>
            <a:ahLst/>
            <a:cxnLst/>
            <a:rect l="l" t="t" r="r" b="b"/>
            <a:pathLst>
              <a:path w="393" h="28">
                <a:moveTo>
                  <a:pt x="0" y="27"/>
                </a:moveTo>
                <a:lnTo>
                  <a:pt x="16" y="27"/>
                </a:lnTo>
                <a:lnTo>
                  <a:pt x="33" y="26"/>
                </a:lnTo>
                <a:lnTo>
                  <a:pt x="49" y="26"/>
                </a:lnTo>
                <a:lnTo>
                  <a:pt x="65" y="25"/>
                </a:lnTo>
                <a:lnTo>
                  <a:pt x="82" y="24"/>
                </a:lnTo>
                <a:lnTo>
                  <a:pt x="98" y="23"/>
                </a:lnTo>
                <a:lnTo>
                  <a:pt x="114" y="21"/>
                </a:lnTo>
                <a:lnTo>
                  <a:pt x="131" y="20"/>
                </a:lnTo>
                <a:lnTo>
                  <a:pt x="147" y="19"/>
                </a:lnTo>
                <a:lnTo>
                  <a:pt x="164" y="17"/>
                </a:lnTo>
                <a:lnTo>
                  <a:pt x="180" y="15"/>
                </a:lnTo>
                <a:lnTo>
                  <a:pt x="196" y="14"/>
                </a:lnTo>
                <a:lnTo>
                  <a:pt x="213" y="12"/>
                </a:lnTo>
                <a:lnTo>
                  <a:pt x="229" y="10"/>
                </a:lnTo>
                <a:lnTo>
                  <a:pt x="246" y="9"/>
                </a:lnTo>
                <a:lnTo>
                  <a:pt x="262" y="7"/>
                </a:lnTo>
                <a:lnTo>
                  <a:pt x="278" y="6"/>
                </a:lnTo>
                <a:lnTo>
                  <a:pt x="295" y="4"/>
                </a:lnTo>
                <a:lnTo>
                  <a:pt x="311" y="3"/>
                </a:lnTo>
                <a:lnTo>
                  <a:pt x="327" y="2"/>
                </a:lnTo>
                <a:lnTo>
                  <a:pt x="344" y="1"/>
                </a:lnTo>
                <a:lnTo>
                  <a:pt x="360" y="1"/>
                </a:lnTo>
                <a:lnTo>
                  <a:pt x="377" y="0"/>
                </a:lnTo>
                <a:lnTo>
                  <a:pt x="393" y="0"/>
                </a:lnTo>
                <a:lnTo>
                  <a:pt x="393" y="2"/>
                </a:lnTo>
                <a:lnTo>
                  <a:pt x="377" y="2"/>
                </a:lnTo>
                <a:lnTo>
                  <a:pt x="360" y="2"/>
                </a:lnTo>
                <a:lnTo>
                  <a:pt x="344" y="3"/>
                </a:lnTo>
                <a:lnTo>
                  <a:pt x="327" y="4"/>
                </a:lnTo>
                <a:lnTo>
                  <a:pt x="311" y="5"/>
                </a:lnTo>
                <a:lnTo>
                  <a:pt x="295" y="6"/>
                </a:lnTo>
                <a:lnTo>
                  <a:pt x="278" y="7"/>
                </a:lnTo>
                <a:lnTo>
                  <a:pt x="262" y="8"/>
                </a:lnTo>
                <a:lnTo>
                  <a:pt x="246" y="10"/>
                </a:lnTo>
                <a:lnTo>
                  <a:pt x="229" y="12"/>
                </a:lnTo>
                <a:lnTo>
                  <a:pt x="213" y="13"/>
                </a:lnTo>
                <a:lnTo>
                  <a:pt x="196" y="15"/>
                </a:lnTo>
                <a:lnTo>
                  <a:pt x="180" y="17"/>
                </a:lnTo>
                <a:lnTo>
                  <a:pt x="164" y="18"/>
                </a:lnTo>
                <a:lnTo>
                  <a:pt x="147" y="20"/>
                </a:lnTo>
                <a:lnTo>
                  <a:pt x="131" y="21"/>
                </a:lnTo>
                <a:lnTo>
                  <a:pt x="114" y="23"/>
                </a:lnTo>
                <a:lnTo>
                  <a:pt x="98" y="24"/>
                </a:lnTo>
                <a:lnTo>
                  <a:pt x="82" y="25"/>
                </a:lnTo>
                <a:lnTo>
                  <a:pt x="65" y="26"/>
                </a:lnTo>
                <a:lnTo>
                  <a:pt x="49" y="27"/>
                </a:lnTo>
                <a:lnTo>
                  <a:pt x="33" y="28"/>
                </a:lnTo>
                <a:lnTo>
                  <a:pt x="16" y="28"/>
                </a:lnTo>
                <a:lnTo>
                  <a:pt x="0" y="28"/>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2057400" y="6381750"/>
            <a:ext cx="3743325" cy="95250"/>
          </a:xfrm>
          <a:custGeom>
            <a:avLst/>
            <a:gdLst/>
            <a:ahLst/>
            <a:cxnLst/>
            <a:rect l="l" t="t" r="r" b="b"/>
            <a:pathLst>
              <a:path w="393" h="10">
                <a:moveTo>
                  <a:pt x="0" y="9"/>
                </a:moveTo>
                <a:lnTo>
                  <a:pt x="16" y="9"/>
                </a:lnTo>
                <a:lnTo>
                  <a:pt x="33" y="9"/>
                </a:lnTo>
                <a:lnTo>
                  <a:pt x="49" y="9"/>
                </a:lnTo>
                <a:lnTo>
                  <a:pt x="65" y="9"/>
                </a:lnTo>
                <a:lnTo>
                  <a:pt x="82" y="8"/>
                </a:lnTo>
                <a:lnTo>
                  <a:pt x="98" y="8"/>
                </a:lnTo>
                <a:lnTo>
                  <a:pt x="114" y="7"/>
                </a:lnTo>
                <a:lnTo>
                  <a:pt x="131" y="7"/>
                </a:lnTo>
                <a:lnTo>
                  <a:pt x="147" y="6"/>
                </a:lnTo>
                <a:lnTo>
                  <a:pt x="164" y="6"/>
                </a:lnTo>
                <a:lnTo>
                  <a:pt x="180" y="5"/>
                </a:lnTo>
                <a:lnTo>
                  <a:pt x="196" y="5"/>
                </a:lnTo>
                <a:lnTo>
                  <a:pt x="213" y="4"/>
                </a:lnTo>
                <a:lnTo>
                  <a:pt x="229" y="4"/>
                </a:lnTo>
                <a:lnTo>
                  <a:pt x="246" y="3"/>
                </a:lnTo>
                <a:lnTo>
                  <a:pt x="262" y="3"/>
                </a:lnTo>
                <a:lnTo>
                  <a:pt x="278" y="2"/>
                </a:lnTo>
                <a:lnTo>
                  <a:pt x="295" y="2"/>
                </a:lnTo>
                <a:lnTo>
                  <a:pt x="311" y="1"/>
                </a:lnTo>
                <a:lnTo>
                  <a:pt x="327" y="1"/>
                </a:lnTo>
                <a:lnTo>
                  <a:pt x="344" y="1"/>
                </a:lnTo>
                <a:lnTo>
                  <a:pt x="360" y="0"/>
                </a:lnTo>
                <a:lnTo>
                  <a:pt x="377" y="0"/>
                </a:lnTo>
                <a:lnTo>
                  <a:pt x="393" y="0"/>
                </a:lnTo>
                <a:lnTo>
                  <a:pt x="393" y="1"/>
                </a:lnTo>
                <a:lnTo>
                  <a:pt x="377" y="1"/>
                </a:lnTo>
                <a:lnTo>
                  <a:pt x="360" y="1"/>
                </a:lnTo>
                <a:lnTo>
                  <a:pt x="344" y="1"/>
                </a:lnTo>
                <a:lnTo>
                  <a:pt x="327" y="1"/>
                </a:lnTo>
                <a:lnTo>
                  <a:pt x="311" y="2"/>
                </a:lnTo>
                <a:lnTo>
                  <a:pt x="295" y="2"/>
                </a:lnTo>
                <a:lnTo>
                  <a:pt x="278" y="3"/>
                </a:lnTo>
                <a:lnTo>
                  <a:pt x="262" y="3"/>
                </a:lnTo>
                <a:lnTo>
                  <a:pt x="246" y="4"/>
                </a:lnTo>
                <a:lnTo>
                  <a:pt x="229" y="4"/>
                </a:lnTo>
                <a:lnTo>
                  <a:pt x="213" y="5"/>
                </a:lnTo>
                <a:lnTo>
                  <a:pt x="196" y="5"/>
                </a:lnTo>
                <a:lnTo>
                  <a:pt x="180" y="6"/>
                </a:lnTo>
                <a:lnTo>
                  <a:pt x="164" y="6"/>
                </a:lnTo>
                <a:lnTo>
                  <a:pt x="147" y="7"/>
                </a:lnTo>
                <a:lnTo>
                  <a:pt x="131" y="7"/>
                </a:lnTo>
                <a:lnTo>
                  <a:pt x="114" y="8"/>
                </a:lnTo>
                <a:lnTo>
                  <a:pt x="98" y="8"/>
                </a:lnTo>
                <a:lnTo>
                  <a:pt x="82" y="9"/>
                </a:lnTo>
                <a:lnTo>
                  <a:pt x="65" y="9"/>
                </a:lnTo>
                <a:lnTo>
                  <a:pt x="49" y="9"/>
                </a:lnTo>
                <a:lnTo>
                  <a:pt x="33" y="9"/>
                </a:lnTo>
                <a:lnTo>
                  <a:pt x="16" y="10"/>
                </a:lnTo>
                <a:lnTo>
                  <a:pt x="0" y="10"/>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057400" y="6477000"/>
            <a:ext cx="3743325" cy="57150"/>
          </a:xfrm>
          <a:custGeom>
            <a:avLst/>
            <a:gdLst/>
            <a:ahLst/>
            <a:cxnLst/>
            <a:rect l="l" t="t" r="r" b="b"/>
            <a:pathLst>
              <a:path w="393" h="6">
                <a:moveTo>
                  <a:pt x="0" y="0"/>
                </a:moveTo>
                <a:lnTo>
                  <a:pt x="16" y="0"/>
                </a:lnTo>
                <a:lnTo>
                  <a:pt x="33" y="0"/>
                </a:lnTo>
                <a:lnTo>
                  <a:pt x="49" y="0"/>
                </a:lnTo>
                <a:lnTo>
                  <a:pt x="65" y="0"/>
                </a:lnTo>
                <a:lnTo>
                  <a:pt x="82" y="0"/>
                </a:lnTo>
                <a:lnTo>
                  <a:pt x="98" y="1"/>
                </a:lnTo>
                <a:lnTo>
                  <a:pt x="114" y="1"/>
                </a:lnTo>
                <a:lnTo>
                  <a:pt x="131" y="1"/>
                </a:lnTo>
                <a:lnTo>
                  <a:pt x="147" y="2"/>
                </a:lnTo>
                <a:lnTo>
                  <a:pt x="164" y="2"/>
                </a:lnTo>
                <a:lnTo>
                  <a:pt x="180" y="2"/>
                </a:lnTo>
                <a:lnTo>
                  <a:pt x="196" y="3"/>
                </a:lnTo>
                <a:lnTo>
                  <a:pt x="213" y="3"/>
                </a:lnTo>
                <a:lnTo>
                  <a:pt x="229" y="3"/>
                </a:lnTo>
                <a:lnTo>
                  <a:pt x="246" y="4"/>
                </a:lnTo>
                <a:lnTo>
                  <a:pt x="262" y="4"/>
                </a:lnTo>
                <a:lnTo>
                  <a:pt x="278" y="4"/>
                </a:lnTo>
                <a:lnTo>
                  <a:pt x="295" y="5"/>
                </a:lnTo>
                <a:lnTo>
                  <a:pt x="311" y="5"/>
                </a:lnTo>
                <a:lnTo>
                  <a:pt x="327" y="5"/>
                </a:lnTo>
                <a:lnTo>
                  <a:pt x="344" y="5"/>
                </a:lnTo>
                <a:lnTo>
                  <a:pt x="360" y="6"/>
                </a:lnTo>
                <a:lnTo>
                  <a:pt x="377" y="6"/>
                </a:lnTo>
                <a:lnTo>
                  <a:pt x="393" y="6"/>
                </a:lnTo>
                <a:lnTo>
                  <a:pt x="393" y="6"/>
                </a:lnTo>
                <a:lnTo>
                  <a:pt x="377" y="6"/>
                </a:lnTo>
                <a:lnTo>
                  <a:pt x="360" y="6"/>
                </a:lnTo>
                <a:lnTo>
                  <a:pt x="344" y="6"/>
                </a:lnTo>
                <a:lnTo>
                  <a:pt x="327" y="6"/>
                </a:lnTo>
                <a:lnTo>
                  <a:pt x="311" y="5"/>
                </a:lnTo>
                <a:lnTo>
                  <a:pt x="295" y="5"/>
                </a:lnTo>
                <a:lnTo>
                  <a:pt x="278" y="5"/>
                </a:lnTo>
                <a:lnTo>
                  <a:pt x="262" y="4"/>
                </a:lnTo>
                <a:lnTo>
                  <a:pt x="246" y="4"/>
                </a:lnTo>
                <a:lnTo>
                  <a:pt x="229" y="4"/>
                </a:lnTo>
                <a:lnTo>
                  <a:pt x="213" y="3"/>
                </a:lnTo>
                <a:lnTo>
                  <a:pt x="196" y="3"/>
                </a:lnTo>
                <a:lnTo>
                  <a:pt x="180" y="3"/>
                </a:lnTo>
                <a:lnTo>
                  <a:pt x="164" y="2"/>
                </a:lnTo>
                <a:lnTo>
                  <a:pt x="147" y="2"/>
                </a:lnTo>
                <a:lnTo>
                  <a:pt x="131" y="2"/>
                </a:lnTo>
                <a:lnTo>
                  <a:pt x="114" y="1"/>
                </a:lnTo>
                <a:lnTo>
                  <a:pt x="98" y="1"/>
                </a:lnTo>
                <a:lnTo>
                  <a:pt x="82" y="1"/>
                </a:lnTo>
                <a:lnTo>
                  <a:pt x="65" y="0"/>
                </a:lnTo>
                <a:lnTo>
                  <a:pt x="49" y="0"/>
                </a:lnTo>
                <a:lnTo>
                  <a:pt x="33" y="0"/>
                </a:lnTo>
                <a:lnTo>
                  <a:pt x="16" y="0"/>
                </a:lnTo>
                <a:lnTo>
                  <a:pt x="0" y="0"/>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941195" y="4181475"/>
            <a:ext cx="114300" cy="79550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941195" y="5034130"/>
            <a:ext cx="114300" cy="426280"/>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41195" y="5517560"/>
            <a:ext cx="114300" cy="30654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941195" y="5881252"/>
            <a:ext cx="114300" cy="274094"/>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941195" y="6212497"/>
            <a:ext cx="114300" cy="12249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941195" y="6392141"/>
            <a:ext cx="114300" cy="84859"/>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800725" y="4124325"/>
            <a:ext cx="114300" cy="345063"/>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00725" y="4526538"/>
            <a:ext cx="114300" cy="34046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00725" y="4924157"/>
            <a:ext cx="114300" cy="30527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5800725" y="5286581"/>
            <a:ext cx="114300" cy="303907"/>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5800725" y="5647639"/>
            <a:ext cx="114300" cy="25556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5800725" y="5960350"/>
            <a:ext cx="114300" cy="25526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5800725" y="6272764"/>
            <a:ext cx="114300" cy="115280"/>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5800725" y="6445195"/>
            <a:ext cx="114300" cy="88955"/>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257175" y="4507790"/>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79" name="TextBox 78"/>
          <p:cNvSpPr txBox="1"/>
          <p:nvPr/>
        </p:nvSpPr>
        <p:spPr>
          <a:xfrm>
            <a:off x="257175" y="5175832"/>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0" name="TextBox 79"/>
          <p:cNvSpPr txBox="1"/>
          <p:nvPr/>
        </p:nvSpPr>
        <p:spPr>
          <a:xfrm>
            <a:off x="257175" y="5599394"/>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1" name="TextBox 80"/>
          <p:cNvSpPr txBox="1"/>
          <p:nvPr/>
        </p:nvSpPr>
        <p:spPr>
          <a:xfrm>
            <a:off x="257175" y="5946862"/>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2" name="TextBox 81"/>
          <p:cNvSpPr txBox="1"/>
          <p:nvPr/>
        </p:nvSpPr>
        <p:spPr>
          <a:xfrm>
            <a:off x="257175" y="6202306"/>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3" name="TextBox 82"/>
          <p:cNvSpPr txBox="1"/>
          <p:nvPr/>
        </p:nvSpPr>
        <p:spPr>
          <a:xfrm>
            <a:off x="257175" y="6363133"/>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4" name="TextBox 83"/>
          <p:cNvSpPr txBox="1"/>
          <p:nvPr/>
        </p:nvSpPr>
        <p:spPr>
          <a:xfrm>
            <a:off x="5972175" y="4225419"/>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5" name="TextBox 84"/>
          <p:cNvSpPr txBox="1"/>
          <p:nvPr/>
        </p:nvSpPr>
        <p:spPr>
          <a:xfrm>
            <a:off x="5972175" y="462533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6" name="TextBox 85"/>
          <p:cNvSpPr txBox="1"/>
          <p:nvPr/>
        </p:nvSpPr>
        <p:spPr>
          <a:xfrm>
            <a:off x="5972175" y="5005357"/>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7" name="TextBox 86"/>
          <p:cNvSpPr txBox="1"/>
          <p:nvPr/>
        </p:nvSpPr>
        <p:spPr>
          <a:xfrm>
            <a:off x="5972175" y="5367098"/>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8" name="TextBox 87"/>
          <p:cNvSpPr txBox="1"/>
          <p:nvPr/>
        </p:nvSpPr>
        <p:spPr>
          <a:xfrm>
            <a:off x="5972175" y="5703982"/>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9" name="TextBox 88"/>
          <p:cNvSpPr txBox="1"/>
          <p:nvPr/>
        </p:nvSpPr>
        <p:spPr>
          <a:xfrm>
            <a:off x="5972175" y="601654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90" name="TextBox 89"/>
          <p:cNvSpPr txBox="1"/>
          <p:nvPr/>
        </p:nvSpPr>
        <p:spPr>
          <a:xfrm>
            <a:off x="5972175" y="623887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91" name="TextBox 90"/>
          <p:cNvSpPr txBox="1"/>
          <p:nvPr/>
        </p:nvSpPr>
        <p:spPr>
          <a:xfrm>
            <a:off x="5972175" y="639127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92" name="Rounded Rectangle 91"/>
          <p:cNvSpPr/>
          <p:nvPr/>
        </p:nvSpPr>
        <p:spPr>
          <a:xfrm>
            <a:off x="7581900" y="3800475"/>
            <a:ext cx="445770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715250" y="38862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94" name="Rectangle 93"/>
          <p:cNvSpPr/>
          <p:nvPr/>
        </p:nvSpPr>
        <p:spPr>
          <a:xfrm>
            <a:off x="7715250" y="41243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7715250" y="4210050"/>
            <a:ext cx="41910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96" name="TextBox 9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7" name="Picture 96" descr="lock.png"/>
          <p:cNvPicPr>
            <a:picLocks noChangeAspect="1"/>
          </p:cNvPicPr>
          <p:nvPr/>
        </p:nvPicPr>
        <p:blipFill>
          <a:blip r:embed="rId4"/>
          <a:stretch>
            <a:fillRect/>
          </a:stretch>
        </p:blipFill>
        <p:spPr>
          <a:xfrm>
            <a:off x="6329786" y="2327601"/>
            <a:ext cx="366712" cy="533400"/>
          </a:xfrm>
          <a:prstGeom prst="rect">
            <a:avLst/>
          </a:prstGeom>
        </p:spPr>
      </p:pic>
      <p:sp>
        <p:nvSpPr>
          <p:cNvPr id="98" name="TextBox 97"/>
          <p:cNvSpPr txBox="1"/>
          <p:nvPr/>
        </p:nvSpPr>
        <p:spPr>
          <a:xfrm>
            <a:off x="1506956" y="4518877"/>
            <a:ext cx="323338" cy="139750"/>
          </a:xfrm>
          <a:prstGeom prst="rect">
            <a:avLst/>
          </a:prstGeom>
          <a:noFill/>
        </p:spPr>
        <p:txBody>
          <a:bodyPr wrap="none" lIns="0" rIns="0" tIns="0" bIns="0">
            <a:spAutoFit/>
          </a:bodyPr>
          <a:lstStyle/>
          <a:p>
            <a:r>
              <a:rPr sz="791" b="0">
                <a:solidFill>
                  <a:srgbClr val="6C7A89"/>
                </a:solidFill>
                <a:latin typeface="Calibri"/>
              </a:rPr>
              <a:t>Liquid</a:t>
            </a:r>
          </a:p>
        </p:txBody>
      </p:sp>
      <p:pic>
        <p:nvPicPr>
          <p:cNvPr id="99" name="Picture 98" descr="lock.png"/>
          <p:cNvPicPr>
            <a:picLocks noChangeAspect="1"/>
          </p:cNvPicPr>
          <p:nvPr/>
        </p:nvPicPr>
        <p:blipFill>
          <a:blip r:embed="rId4"/>
          <a:stretch>
            <a:fillRect/>
          </a:stretch>
        </p:blipFill>
        <p:spPr>
          <a:xfrm>
            <a:off x="1771555" y="4511836"/>
            <a:ext cx="92663" cy="134782"/>
          </a:xfrm>
          <a:prstGeom prst="rect">
            <a:avLst/>
          </a:prstGeom>
        </p:spPr>
      </p:pic>
      <p:sp>
        <p:nvSpPr>
          <p:cNvPr id="100" name="TextBox 99"/>
          <p:cNvSpPr txBox="1"/>
          <p:nvPr/>
        </p:nvSpPr>
        <p:spPr>
          <a:xfrm>
            <a:off x="1409515" y="5186919"/>
            <a:ext cx="420778" cy="139750"/>
          </a:xfrm>
          <a:prstGeom prst="rect">
            <a:avLst/>
          </a:prstGeom>
          <a:noFill/>
        </p:spPr>
        <p:txBody>
          <a:bodyPr wrap="none" lIns="0" rIns="0" tIns="0" bIns="0">
            <a:spAutoFit/>
          </a:bodyPr>
          <a:lstStyle/>
          <a:p>
            <a:r>
              <a:rPr sz="791" b="1">
                <a:solidFill>
                  <a:srgbClr val="2E2E2E"/>
                </a:solidFill>
                <a:latin typeface="Calibri"/>
              </a:rPr>
              <a:t>Blended</a:t>
            </a:r>
          </a:p>
        </p:txBody>
      </p:sp>
      <p:pic>
        <p:nvPicPr>
          <p:cNvPr id="101" name="Picture 100" descr="lock.png"/>
          <p:cNvPicPr>
            <a:picLocks noChangeAspect="1"/>
          </p:cNvPicPr>
          <p:nvPr/>
        </p:nvPicPr>
        <p:blipFill>
          <a:blip r:embed="rId4"/>
          <a:stretch>
            <a:fillRect/>
          </a:stretch>
        </p:blipFill>
        <p:spPr>
          <a:xfrm>
            <a:off x="1771555" y="5179878"/>
            <a:ext cx="92663" cy="134782"/>
          </a:xfrm>
          <a:prstGeom prst="rect">
            <a:avLst/>
          </a:prstGeom>
        </p:spPr>
      </p:pic>
      <p:sp>
        <p:nvSpPr>
          <p:cNvPr id="102" name="TextBox 101"/>
          <p:cNvSpPr txBox="1"/>
          <p:nvPr/>
        </p:nvSpPr>
        <p:spPr>
          <a:xfrm>
            <a:off x="1443895" y="5610481"/>
            <a:ext cx="386399" cy="139750"/>
          </a:xfrm>
          <a:prstGeom prst="rect">
            <a:avLst/>
          </a:prstGeom>
          <a:noFill/>
        </p:spPr>
        <p:txBody>
          <a:bodyPr wrap="none" lIns="0" rIns="0" tIns="0" bIns="0">
            <a:spAutoFit/>
          </a:bodyPr>
          <a:lstStyle/>
          <a:p>
            <a:r>
              <a:rPr sz="791" b="0">
                <a:solidFill>
                  <a:srgbClr val="6C7A89"/>
                </a:solidFill>
                <a:latin typeface="Calibri"/>
              </a:rPr>
              <a:t>Ground</a:t>
            </a:r>
          </a:p>
        </p:txBody>
      </p:sp>
      <p:pic>
        <p:nvPicPr>
          <p:cNvPr id="103" name="Picture 102" descr="lock.png"/>
          <p:cNvPicPr>
            <a:picLocks noChangeAspect="1"/>
          </p:cNvPicPr>
          <p:nvPr/>
        </p:nvPicPr>
        <p:blipFill>
          <a:blip r:embed="rId4"/>
          <a:stretch>
            <a:fillRect/>
          </a:stretch>
        </p:blipFill>
        <p:spPr>
          <a:xfrm>
            <a:off x="1771555" y="5603440"/>
            <a:ext cx="92663" cy="134782"/>
          </a:xfrm>
          <a:prstGeom prst="rect">
            <a:avLst/>
          </a:prstGeom>
        </p:spPr>
      </p:pic>
      <p:sp>
        <p:nvSpPr>
          <p:cNvPr id="104" name="TextBox 103"/>
          <p:cNvSpPr txBox="1"/>
          <p:nvPr/>
        </p:nvSpPr>
        <p:spPr>
          <a:xfrm>
            <a:off x="1485346" y="5957949"/>
            <a:ext cx="344947" cy="139750"/>
          </a:xfrm>
          <a:prstGeom prst="rect">
            <a:avLst/>
          </a:prstGeom>
          <a:noFill/>
        </p:spPr>
        <p:txBody>
          <a:bodyPr wrap="none" lIns="0" rIns="0" tIns="0" bIns="0">
            <a:spAutoFit/>
          </a:bodyPr>
          <a:lstStyle/>
          <a:p>
            <a:r>
              <a:rPr sz="791" b="0">
                <a:solidFill>
                  <a:srgbClr val="6C7A89"/>
                </a:solidFill>
                <a:latin typeface="Calibri"/>
              </a:rPr>
              <a:t>Whole</a:t>
            </a:r>
          </a:p>
        </p:txBody>
      </p:sp>
      <p:pic>
        <p:nvPicPr>
          <p:cNvPr id="105" name="Picture 104" descr="lock.png"/>
          <p:cNvPicPr>
            <a:picLocks noChangeAspect="1"/>
          </p:cNvPicPr>
          <p:nvPr/>
        </p:nvPicPr>
        <p:blipFill>
          <a:blip r:embed="rId4"/>
          <a:stretch>
            <a:fillRect/>
          </a:stretch>
        </p:blipFill>
        <p:spPr>
          <a:xfrm>
            <a:off x="1771555" y="5950908"/>
            <a:ext cx="92663" cy="134782"/>
          </a:xfrm>
          <a:prstGeom prst="rect">
            <a:avLst/>
          </a:prstGeom>
        </p:spPr>
      </p:pic>
      <p:sp>
        <p:nvSpPr>
          <p:cNvPr id="106" name="TextBox 105"/>
          <p:cNvSpPr txBox="1"/>
          <p:nvPr/>
        </p:nvSpPr>
        <p:spPr>
          <a:xfrm>
            <a:off x="1438983" y="6213393"/>
            <a:ext cx="391310" cy="139750"/>
          </a:xfrm>
          <a:prstGeom prst="rect">
            <a:avLst/>
          </a:prstGeom>
          <a:noFill/>
        </p:spPr>
        <p:txBody>
          <a:bodyPr wrap="none" lIns="0" rIns="0" tIns="0" bIns="0">
            <a:spAutoFit/>
          </a:bodyPr>
          <a:lstStyle/>
          <a:p>
            <a:r>
              <a:rPr sz="791" b="0">
                <a:solidFill>
                  <a:srgbClr val="6C7A89"/>
                </a:solidFill>
                <a:latin typeface="Calibri"/>
              </a:rPr>
              <a:t>Powder</a:t>
            </a:r>
          </a:p>
        </p:txBody>
      </p:sp>
      <p:pic>
        <p:nvPicPr>
          <p:cNvPr id="107" name="Picture 106" descr="lock.png"/>
          <p:cNvPicPr>
            <a:picLocks noChangeAspect="1"/>
          </p:cNvPicPr>
          <p:nvPr/>
        </p:nvPicPr>
        <p:blipFill>
          <a:blip r:embed="rId4"/>
          <a:stretch>
            <a:fillRect/>
          </a:stretch>
        </p:blipFill>
        <p:spPr>
          <a:xfrm>
            <a:off x="1771555" y="6206352"/>
            <a:ext cx="92663" cy="134782"/>
          </a:xfrm>
          <a:prstGeom prst="rect">
            <a:avLst/>
          </a:prstGeom>
        </p:spPr>
      </p:pic>
      <p:sp>
        <p:nvSpPr>
          <p:cNvPr id="108" name="TextBox 107"/>
          <p:cNvSpPr txBox="1"/>
          <p:nvPr/>
        </p:nvSpPr>
        <p:spPr>
          <a:xfrm>
            <a:off x="1381030" y="6374220"/>
            <a:ext cx="449264" cy="139750"/>
          </a:xfrm>
          <a:prstGeom prst="rect">
            <a:avLst/>
          </a:prstGeom>
          <a:noFill/>
        </p:spPr>
        <p:txBody>
          <a:bodyPr wrap="none" lIns="0" rIns="0" tIns="0" bIns="0">
            <a:spAutoFit/>
          </a:bodyPr>
          <a:lstStyle/>
          <a:p>
            <a:r>
              <a:rPr sz="791" b="1">
                <a:solidFill>
                  <a:srgbClr val="2E2E2E"/>
                </a:solidFill>
                <a:latin typeface="Calibri"/>
              </a:rPr>
              <a:t>Granules</a:t>
            </a:r>
          </a:p>
        </p:txBody>
      </p:sp>
      <p:pic>
        <p:nvPicPr>
          <p:cNvPr id="109" name="Picture 108" descr="lock.png"/>
          <p:cNvPicPr>
            <a:picLocks noChangeAspect="1"/>
          </p:cNvPicPr>
          <p:nvPr/>
        </p:nvPicPr>
        <p:blipFill>
          <a:blip r:embed="rId4"/>
          <a:stretch>
            <a:fillRect/>
          </a:stretch>
        </p:blipFill>
        <p:spPr>
          <a:xfrm>
            <a:off x="1771555" y="6367179"/>
            <a:ext cx="92663" cy="134782"/>
          </a:xfrm>
          <a:prstGeom prst="rect">
            <a:avLst/>
          </a:prstGeom>
        </p:spPr>
      </p:pic>
      <p:sp>
        <p:nvSpPr>
          <p:cNvPr id="110" name="TextBox 109"/>
          <p:cNvSpPr txBox="1"/>
          <p:nvPr/>
        </p:nvSpPr>
        <p:spPr>
          <a:xfrm>
            <a:off x="5972175" y="4236506"/>
            <a:ext cx="376380" cy="139750"/>
          </a:xfrm>
          <a:prstGeom prst="rect">
            <a:avLst/>
          </a:prstGeom>
          <a:noFill/>
        </p:spPr>
        <p:txBody>
          <a:bodyPr wrap="none" lIns="0" rIns="0" tIns="0" bIns="0">
            <a:spAutoFit/>
          </a:bodyPr>
          <a:lstStyle/>
          <a:p>
            <a:r>
              <a:rPr sz="791" b="0">
                <a:solidFill>
                  <a:srgbClr val="6C7A89"/>
                </a:solidFill>
                <a:latin typeface="Calibri"/>
              </a:rPr>
              <a:t>Orange</a:t>
            </a:r>
          </a:p>
        </p:txBody>
      </p:sp>
      <p:pic>
        <p:nvPicPr>
          <p:cNvPr id="111" name="Picture 110" descr="lock.png"/>
          <p:cNvPicPr>
            <a:picLocks noChangeAspect="1"/>
          </p:cNvPicPr>
          <p:nvPr/>
        </p:nvPicPr>
        <p:blipFill>
          <a:blip r:embed="rId4"/>
          <a:stretch>
            <a:fillRect/>
          </a:stretch>
        </p:blipFill>
        <p:spPr>
          <a:xfrm>
            <a:off x="6289816" y="4229465"/>
            <a:ext cx="92663" cy="134782"/>
          </a:xfrm>
          <a:prstGeom prst="rect">
            <a:avLst/>
          </a:prstGeom>
        </p:spPr>
      </p:pic>
      <p:sp>
        <p:nvSpPr>
          <p:cNvPr id="112" name="TextBox 111"/>
          <p:cNvSpPr txBox="1"/>
          <p:nvPr/>
        </p:nvSpPr>
        <p:spPr>
          <a:xfrm>
            <a:off x="5972175" y="4636422"/>
            <a:ext cx="363414" cy="139750"/>
          </a:xfrm>
          <a:prstGeom prst="rect">
            <a:avLst/>
          </a:prstGeom>
          <a:noFill/>
        </p:spPr>
        <p:txBody>
          <a:bodyPr wrap="none" lIns="0" rIns="0" tIns="0" bIns="0">
            <a:spAutoFit/>
          </a:bodyPr>
          <a:lstStyle/>
          <a:p>
            <a:r>
              <a:rPr sz="791" b="1">
                <a:solidFill>
                  <a:srgbClr val="2E2E2E"/>
                </a:solidFill>
                <a:latin typeface="Calibri"/>
              </a:rPr>
              <a:t>Vanilla</a:t>
            </a:r>
          </a:p>
        </p:txBody>
      </p:sp>
      <p:pic>
        <p:nvPicPr>
          <p:cNvPr id="113" name="Picture 112" descr="lock.png"/>
          <p:cNvPicPr>
            <a:picLocks noChangeAspect="1"/>
          </p:cNvPicPr>
          <p:nvPr/>
        </p:nvPicPr>
        <p:blipFill>
          <a:blip r:embed="rId4"/>
          <a:stretch>
            <a:fillRect/>
          </a:stretch>
        </p:blipFill>
        <p:spPr>
          <a:xfrm>
            <a:off x="6276850" y="4629381"/>
            <a:ext cx="92663" cy="134782"/>
          </a:xfrm>
          <a:prstGeom prst="rect">
            <a:avLst/>
          </a:prstGeom>
        </p:spPr>
      </p:pic>
      <p:sp>
        <p:nvSpPr>
          <p:cNvPr id="114" name="TextBox 113"/>
          <p:cNvSpPr txBox="1"/>
          <p:nvPr/>
        </p:nvSpPr>
        <p:spPr>
          <a:xfrm>
            <a:off x="5972175" y="5016444"/>
            <a:ext cx="598175" cy="139750"/>
          </a:xfrm>
          <a:prstGeom prst="rect">
            <a:avLst/>
          </a:prstGeom>
          <a:noFill/>
        </p:spPr>
        <p:txBody>
          <a:bodyPr wrap="none" lIns="0" rIns="0" tIns="0" bIns="0">
            <a:spAutoFit/>
          </a:bodyPr>
          <a:lstStyle/>
          <a:p>
            <a:r>
              <a:rPr sz="791" b="1">
                <a:solidFill>
                  <a:srgbClr val="2E2E2E"/>
                </a:solidFill>
                <a:latin typeface="Calibri"/>
              </a:rPr>
              <a:t>Unflavoured</a:t>
            </a:r>
          </a:p>
        </p:txBody>
      </p:sp>
      <p:pic>
        <p:nvPicPr>
          <p:cNvPr id="115" name="Picture 114" descr="lock.png"/>
          <p:cNvPicPr>
            <a:picLocks noChangeAspect="1"/>
          </p:cNvPicPr>
          <p:nvPr/>
        </p:nvPicPr>
        <p:blipFill>
          <a:blip r:embed="rId4"/>
          <a:stretch>
            <a:fillRect/>
          </a:stretch>
        </p:blipFill>
        <p:spPr>
          <a:xfrm>
            <a:off x="6511612" y="5009403"/>
            <a:ext cx="92663" cy="134782"/>
          </a:xfrm>
          <a:prstGeom prst="rect">
            <a:avLst/>
          </a:prstGeom>
        </p:spPr>
      </p:pic>
      <p:sp>
        <p:nvSpPr>
          <p:cNvPr id="116" name="TextBox 115"/>
          <p:cNvSpPr txBox="1"/>
          <p:nvPr/>
        </p:nvSpPr>
        <p:spPr>
          <a:xfrm>
            <a:off x="5972175" y="5378185"/>
            <a:ext cx="688740" cy="139750"/>
          </a:xfrm>
          <a:prstGeom prst="rect">
            <a:avLst/>
          </a:prstGeom>
          <a:noFill/>
        </p:spPr>
        <p:txBody>
          <a:bodyPr wrap="none" lIns="0" rIns="0" tIns="0" bIns="0">
            <a:spAutoFit/>
          </a:bodyPr>
          <a:lstStyle/>
          <a:p>
            <a:r>
              <a:rPr sz="791" b="1">
                <a:solidFill>
                  <a:srgbClr val="2E2E2E"/>
                </a:solidFill>
                <a:latin typeface="Calibri"/>
              </a:rPr>
              <a:t>Pumpkin Spice</a:t>
            </a:r>
          </a:p>
        </p:txBody>
      </p:sp>
      <p:pic>
        <p:nvPicPr>
          <p:cNvPr id="117" name="Picture 116" descr="lock.png"/>
          <p:cNvPicPr>
            <a:picLocks noChangeAspect="1"/>
          </p:cNvPicPr>
          <p:nvPr/>
        </p:nvPicPr>
        <p:blipFill>
          <a:blip r:embed="rId4"/>
          <a:stretch>
            <a:fillRect/>
          </a:stretch>
        </p:blipFill>
        <p:spPr>
          <a:xfrm>
            <a:off x="6602176" y="5371144"/>
            <a:ext cx="92663" cy="134782"/>
          </a:xfrm>
          <a:prstGeom prst="rect">
            <a:avLst/>
          </a:prstGeom>
        </p:spPr>
      </p:pic>
      <p:sp>
        <p:nvSpPr>
          <p:cNvPr id="118" name="TextBox 117"/>
          <p:cNvSpPr txBox="1"/>
          <p:nvPr/>
        </p:nvSpPr>
        <p:spPr>
          <a:xfrm>
            <a:off x="5972175" y="5715069"/>
            <a:ext cx="358896" cy="139750"/>
          </a:xfrm>
          <a:prstGeom prst="rect">
            <a:avLst/>
          </a:prstGeom>
          <a:noFill/>
        </p:spPr>
        <p:txBody>
          <a:bodyPr wrap="none" lIns="0" rIns="0" tIns="0" bIns="0">
            <a:spAutoFit/>
          </a:bodyPr>
          <a:lstStyle/>
          <a:p>
            <a:r>
              <a:rPr sz="791" b="0">
                <a:solidFill>
                  <a:srgbClr val="6C7A89"/>
                </a:solidFill>
                <a:latin typeface="Calibri"/>
              </a:rPr>
              <a:t>Mocha</a:t>
            </a:r>
          </a:p>
        </p:txBody>
      </p:sp>
      <p:pic>
        <p:nvPicPr>
          <p:cNvPr id="119" name="Picture 118" descr="lock.png"/>
          <p:cNvPicPr>
            <a:picLocks noChangeAspect="1"/>
          </p:cNvPicPr>
          <p:nvPr/>
        </p:nvPicPr>
        <p:blipFill>
          <a:blip r:embed="rId4"/>
          <a:stretch>
            <a:fillRect/>
          </a:stretch>
        </p:blipFill>
        <p:spPr>
          <a:xfrm>
            <a:off x="6272332" y="5708028"/>
            <a:ext cx="92663" cy="134782"/>
          </a:xfrm>
          <a:prstGeom prst="rect">
            <a:avLst/>
          </a:prstGeom>
        </p:spPr>
      </p:pic>
      <p:sp>
        <p:nvSpPr>
          <p:cNvPr id="120" name="TextBox 119"/>
          <p:cNvSpPr txBox="1"/>
          <p:nvPr/>
        </p:nvSpPr>
        <p:spPr>
          <a:xfrm>
            <a:off x="5972175" y="6027632"/>
            <a:ext cx="354770" cy="139750"/>
          </a:xfrm>
          <a:prstGeom prst="rect">
            <a:avLst/>
          </a:prstGeom>
          <a:noFill/>
        </p:spPr>
        <p:txBody>
          <a:bodyPr wrap="none" lIns="0" rIns="0" tIns="0" bIns="0">
            <a:spAutoFit/>
          </a:bodyPr>
          <a:lstStyle/>
          <a:p>
            <a:r>
              <a:rPr sz="791" b="0">
                <a:solidFill>
                  <a:srgbClr val="6C7A89"/>
                </a:solidFill>
                <a:latin typeface="Calibri"/>
              </a:rPr>
              <a:t>Lemon</a:t>
            </a:r>
          </a:p>
        </p:txBody>
      </p:sp>
      <p:pic>
        <p:nvPicPr>
          <p:cNvPr id="121" name="Picture 120" descr="lock.png"/>
          <p:cNvPicPr>
            <a:picLocks noChangeAspect="1"/>
          </p:cNvPicPr>
          <p:nvPr/>
        </p:nvPicPr>
        <p:blipFill>
          <a:blip r:embed="rId4"/>
          <a:stretch>
            <a:fillRect/>
          </a:stretch>
        </p:blipFill>
        <p:spPr>
          <a:xfrm>
            <a:off x="6268206" y="6020591"/>
            <a:ext cx="92663" cy="134782"/>
          </a:xfrm>
          <a:prstGeom prst="rect">
            <a:avLst/>
          </a:prstGeom>
        </p:spPr>
      </p:pic>
      <p:sp>
        <p:nvSpPr>
          <p:cNvPr id="122" name="TextBox 121"/>
          <p:cNvSpPr txBox="1"/>
          <p:nvPr/>
        </p:nvSpPr>
        <p:spPr>
          <a:xfrm>
            <a:off x="5972175" y="6249962"/>
            <a:ext cx="501913" cy="139750"/>
          </a:xfrm>
          <a:prstGeom prst="rect">
            <a:avLst/>
          </a:prstGeom>
          <a:noFill/>
        </p:spPr>
        <p:txBody>
          <a:bodyPr wrap="none" lIns="0" rIns="0" tIns="0" bIns="0">
            <a:spAutoFit/>
          </a:bodyPr>
          <a:lstStyle/>
          <a:p>
            <a:r>
              <a:rPr sz="791" b="1">
                <a:solidFill>
                  <a:srgbClr val="2E2E2E"/>
                </a:solidFill>
                <a:latin typeface="Calibri"/>
              </a:rPr>
              <a:t>Cinnamon</a:t>
            </a:r>
          </a:p>
        </p:txBody>
      </p:sp>
      <p:pic>
        <p:nvPicPr>
          <p:cNvPr id="123" name="Picture 122" descr="lock.png"/>
          <p:cNvPicPr>
            <a:picLocks noChangeAspect="1"/>
          </p:cNvPicPr>
          <p:nvPr/>
        </p:nvPicPr>
        <p:blipFill>
          <a:blip r:embed="rId4"/>
          <a:stretch>
            <a:fillRect/>
          </a:stretch>
        </p:blipFill>
        <p:spPr>
          <a:xfrm>
            <a:off x="6415350" y="6242921"/>
            <a:ext cx="92663" cy="134782"/>
          </a:xfrm>
          <a:prstGeom prst="rect">
            <a:avLst/>
          </a:prstGeom>
        </p:spPr>
      </p:pic>
      <p:sp>
        <p:nvSpPr>
          <p:cNvPr id="124" name="TextBox 123"/>
          <p:cNvSpPr txBox="1"/>
          <p:nvPr/>
        </p:nvSpPr>
        <p:spPr>
          <a:xfrm>
            <a:off x="5972175" y="6402362"/>
            <a:ext cx="694437" cy="139750"/>
          </a:xfrm>
          <a:prstGeom prst="rect">
            <a:avLst/>
          </a:prstGeom>
          <a:noFill/>
        </p:spPr>
        <p:txBody>
          <a:bodyPr wrap="none" lIns="0" rIns="0" tIns="0" bIns="0">
            <a:spAutoFit/>
          </a:bodyPr>
          <a:lstStyle/>
          <a:p>
            <a:r>
              <a:rPr sz="791" b="1">
                <a:solidFill>
                  <a:srgbClr val="2E2E2E"/>
                </a:solidFill>
                <a:latin typeface="Calibri"/>
              </a:rPr>
              <a:t>Other Flavours</a:t>
            </a:r>
          </a:p>
        </p:txBody>
      </p:sp>
      <p:pic>
        <p:nvPicPr>
          <p:cNvPr id="125" name="Picture 124" descr="lock.png"/>
          <p:cNvPicPr>
            <a:picLocks noChangeAspect="1"/>
          </p:cNvPicPr>
          <p:nvPr/>
        </p:nvPicPr>
        <p:blipFill>
          <a:blip r:embed="rId4"/>
          <a:stretch>
            <a:fillRect/>
          </a:stretch>
        </p:blipFill>
        <p:spPr>
          <a:xfrm>
            <a:off x="6607874" y="6395321"/>
            <a:ext cx="92663" cy="134782"/>
          </a:xfrm>
          <a:prstGeom prst="rect">
            <a:avLst/>
          </a:prstGeom>
        </p:spPr>
      </p:pic>
      <p:sp>
        <p:nvSpPr>
          <p:cNvPr id="126" name="TextBox 125"/>
          <p:cNvSpPr txBox="1"/>
          <p:nvPr/>
        </p:nvSpPr>
        <p:spPr>
          <a:xfrm>
            <a:off x="7715250" y="4219575"/>
            <a:ext cx="3996729" cy="194310"/>
          </a:xfrm>
          <a:prstGeom prst="rect">
            <a:avLst/>
          </a:prstGeom>
          <a:noFill/>
        </p:spPr>
        <p:txBody>
          <a:bodyPr wrap="none" lIns="0" rIns="0" tIns="0" bIns="0">
            <a:spAutoFit/>
          </a:bodyPr>
          <a:lstStyle/>
          <a:p>
            <a:r>
              <a:rPr sz="1150" b="0">
                <a:solidFill>
                  <a:srgbClr val="2E2E2E"/>
                </a:solidFill>
                <a:latin typeface="Calibri"/>
              </a:rPr>
              <a:t>Liquid segment is projected to account for the largest share of the</a:t>
            </a:r>
          </a:p>
        </p:txBody>
      </p:sp>
      <p:sp>
        <p:nvSpPr>
          <p:cNvPr id="127" name="TextBox 126"/>
          <p:cNvSpPr txBox="1"/>
          <p:nvPr/>
        </p:nvSpPr>
        <p:spPr>
          <a:xfrm>
            <a:off x="7715250" y="4394835"/>
            <a:ext cx="2670299" cy="194310"/>
          </a:xfrm>
          <a:prstGeom prst="rect">
            <a:avLst/>
          </a:prstGeom>
          <a:noFill/>
        </p:spPr>
        <p:txBody>
          <a:bodyPr wrap="none" lIns="0" rIns="0" tIns="0" bIns="0">
            <a:spAutoFit/>
          </a:bodyPr>
          <a:lstStyle/>
          <a:p>
            <a:r>
              <a:rPr sz="1150" b="0">
                <a:solidFill>
                  <a:srgbClr val="2E2E2E"/>
                </a:solidFill>
                <a:latin typeface="Calibri"/>
              </a:rPr>
              <a:t>global matcha market, led by orange at US$</a:t>
            </a:r>
          </a:p>
        </p:txBody>
      </p:sp>
      <p:pic>
        <p:nvPicPr>
          <p:cNvPr id="128" name="Picture 127" descr="lock.png"/>
          <p:cNvPicPr>
            <a:picLocks noChangeAspect="1"/>
          </p:cNvPicPr>
          <p:nvPr/>
        </p:nvPicPr>
        <p:blipFill>
          <a:blip r:embed="rId4"/>
          <a:stretch>
            <a:fillRect/>
          </a:stretch>
        </p:blipFill>
        <p:spPr>
          <a:xfrm>
            <a:off x="10334702" y="4384611"/>
            <a:ext cx="134549" cy="195707"/>
          </a:xfrm>
          <a:prstGeom prst="rect">
            <a:avLst/>
          </a:prstGeom>
        </p:spPr>
      </p:pic>
      <p:sp>
        <p:nvSpPr>
          <p:cNvPr id="129" name="TextBox 128"/>
          <p:cNvSpPr txBox="1"/>
          <p:nvPr/>
        </p:nvSpPr>
        <p:spPr>
          <a:xfrm>
            <a:off x="10509812" y="4394835"/>
            <a:ext cx="1317910" cy="194310"/>
          </a:xfrm>
          <a:prstGeom prst="rect">
            <a:avLst/>
          </a:prstGeom>
          <a:noFill/>
        </p:spPr>
        <p:txBody>
          <a:bodyPr wrap="none" lIns="0" rIns="0" tIns="0" bIns="0">
            <a:spAutoFit/>
          </a:bodyPr>
          <a:lstStyle/>
          <a:p>
            <a:r>
              <a:rPr sz="1150" b="0">
                <a:solidFill>
                  <a:srgbClr val="2E2E2E"/>
                </a:solidFill>
                <a:latin typeface="Calibri"/>
              </a:rPr>
              <a:t>Mn in 2036. 'Liquid ×</a:t>
            </a:r>
          </a:p>
        </p:txBody>
      </p:sp>
      <p:sp>
        <p:nvSpPr>
          <p:cNvPr id="130" name="TextBox 129"/>
          <p:cNvSpPr txBox="1"/>
          <p:nvPr/>
        </p:nvSpPr>
        <p:spPr>
          <a:xfrm>
            <a:off x="7715250" y="4570095"/>
            <a:ext cx="2901354" cy="194310"/>
          </a:xfrm>
          <a:prstGeom prst="rect">
            <a:avLst/>
          </a:prstGeom>
          <a:noFill/>
        </p:spPr>
        <p:txBody>
          <a:bodyPr wrap="none" lIns="0" rIns="0" tIns="0" bIns="0">
            <a:spAutoFit/>
          </a:bodyPr>
          <a:lstStyle/>
          <a:p>
            <a:r>
              <a:rPr sz="1150" b="0">
                <a:solidFill>
                  <a:srgbClr val="2E2E2E"/>
                </a:solidFill>
                <a:latin typeface="Calibri"/>
              </a:rPr>
              <a:t>Vanilla' is the single largest cross-sectional cell (</a:t>
            </a:r>
          </a:p>
        </p:txBody>
      </p:sp>
      <p:pic>
        <p:nvPicPr>
          <p:cNvPr id="131" name="Picture 130" descr="lock.png"/>
          <p:cNvPicPr>
            <a:picLocks noChangeAspect="1"/>
          </p:cNvPicPr>
          <p:nvPr/>
        </p:nvPicPr>
        <p:blipFill>
          <a:blip r:embed="rId4"/>
          <a:stretch>
            <a:fillRect/>
          </a:stretch>
        </p:blipFill>
        <p:spPr>
          <a:xfrm>
            <a:off x="10565758" y="4559871"/>
            <a:ext cx="134549" cy="195707"/>
          </a:xfrm>
          <a:prstGeom prst="rect">
            <a:avLst/>
          </a:prstGeom>
        </p:spPr>
      </p:pic>
      <p:sp>
        <p:nvSpPr>
          <p:cNvPr id="132" name="TextBox 131"/>
          <p:cNvSpPr txBox="1"/>
          <p:nvPr/>
        </p:nvSpPr>
        <p:spPr>
          <a:xfrm>
            <a:off x="10740867" y="4570095"/>
            <a:ext cx="1064319" cy="194310"/>
          </a:xfrm>
          <a:prstGeom prst="rect">
            <a:avLst/>
          </a:prstGeom>
          <a:noFill/>
        </p:spPr>
        <p:txBody>
          <a:bodyPr wrap="none" lIns="0" rIns="0" tIns="0" bIns="0">
            <a:spAutoFit/>
          </a:bodyPr>
          <a:lstStyle/>
          <a:p>
            <a:r>
              <a:rPr sz="1150" b="0">
                <a:solidFill>
                  <a:srgbClr val="2E2E2E"/>
                </a:solidFill>
                <a:latin typeface="Calibri"/>
              </a:rPr>
              <a:t>US$ Mn, 2026E),</a:t>
            </a:r>
          </a:p>
        </p:txBody>
      </p:sp>
      <p:sp>
        <p:nvSpPr>
          <p:cNvPr id="133" name="TextBox 132"/>
          <p:cNvSpPr txBox="1"/>
          <p:nvPr/>
        </p:nvSpPr>
        <p:spPr>
          <a:xfrm>
            <a:off x="7715250" y="4745354"/>
            <a:ext cx="4171950" cy="194310"/>
          </a:xfrm>
          <a:prstGeom prst="rect">
            <a:avLst/>
          </a:prstGeom>
          <a:noFill/>
        </p:spPr>
        <p:txBody>
          <a:bodyPr wrap="none" lIns="0" rIns="0" tIns="0" bIns="0">
            <a:spAutoFit/>
          </a:bodyPr>
          <a:lstStyle/>
          <a:p>
            <a:r>
              <a:rPr sz="1150" b="0">
                <a:solidFill>
                  <a:srgbClr val="2E2E2E"/>
                </a:solidFill>
                <a:latin typeface="Calibri"/>
              </a:rPr>
              <a:t>while 'Liquid × Pumpkin Spice' records the fastest growth at a CAGR of</a:t>
            </a:r>
          </a:p>
        </p:txBody>
      </p:sp>
      <p:pic>
        <p:nvPicPr>
          <p:cNvPr id="134" name="Picture 133" descr="lock.png"/>
          <p:cNvPicPr>
            <a:picLocks noChangeAspect="1"/>
          </p:cNvPicPr>
          <p:nvPr/>
        </p:nvPicPr>
        <p:blipFill>
          <a:blip r:embed="rId4"/>
          <a:stretch>
            <a:fillRect/>
          </a:stretch>
        </p:blipFill>
        <p:spPr>
          <a:xfrm>
            <a:off x="7701170" y="4910391"/>
            <a:ext cx="134549" cy="195707"/>
          </a:xfrm>
          <a:prstGeom prst="rect">
            <a:avLst/>
          </a:prstGeom>
        </p:spPr>
      </p:pic>
      <p:sp>
        <p:nvSpPr>
          <p:cNvPr id="135" name="TextBox 134"/>
          <p:cNvSpPr txBox="1"/>
          <p:nvPr/>
        </p:nvSpPr>
        <p:spPr>
          <a:xfrm>
            <a:off x="7876279" y="492061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36" name="TextBox 135"/>
          <p:cNvSpPr txBox="1"/>
          <p:nvPr/>
        </p:nvSpPr>
        <p:spPr>
          <a:xfrm>
            <a:off x="7715250" y="5148452"/>
            <a:ext cx="4115680" cy="194310"/>
          </a:xfrm>
          <a:prstGeom prst="rect">
            <a:avLst/>
          </a:prstGeom>
          <a:noFill/>
        </p:spPr>
        <p:txBody>
          <a:bodyPr wrap="none" lIns="0" rIns="0" tIns="0" bIns="0">
            <a:spAutoFit/>
          </a:bodyPr>
          <a:lstStyle/>
          <a:p>
            <a:r>
              <a:rPr sz="1150" b="0">
                <a:solidFill>
                  <a:srgbClr val="2E2E2E"/>
                </a:solidFill>
                <a:latin typeface="Calibri"/>
              </a:rPr>
              <a:t>Combined, the top three form × flavour cells generate an absolute $</a:t>
            </a:r>
          </a:p>
        </p:txBody>
      </p:sp>
      <p:sp>
        <p:nvSpPr>
          <p:cNvPr id="137" name="TextBox 136"/>
          <p:cNvSpPr txBox="1"/>
          <p:nvPr/>
        </p:nvSpPr>
        <p:spPr>
          <a:xfrm>
            <a:off x="7715250" y="5323712"/>
            <a:ext cx="940804" cy="194310"/>
          </a:xfrm>
          <a:prstGeom prst="rect">
            <a:avLst/>
          </a:prstGeom>
          <a:noFill/>
        </p:spPr>
        <p:txBody>
          <a:bodyPr wrap="none" lIns="0" rIns="0" tIns="0" bIns="0">
            <a:spAutoFit/>
          </a:bodyPr>
          <a:lstStyle/>
          <a:p>
            <a:r>
              <a:rPr sz="1150" b="0">
                <a:solidFill>
                  <a:srgbClr val="2E2E2E"/>
                </a:solidFill>
                <a:latin typeface="Calibri"/>
              </a:rPr>
              <a:t>opportunity of</a:t>
            </a:r>
          </a:p>
        </p:txBody>
      </p:sp>
      <p:pic>
        <p:nvPicPr>
          <p:cNvPr id="138" name="Picture 137" descr="lock.png"/>
          <p:cNvPicPr>
            <a:picLocks noChangeAspect="1"/>
          </p:cNvPicPr>
          <p:nvPr/>
        </p:nvPicPr>
        <p:blipFill>
          <a:blip r:embed="rId4"/>
          <a:stretch>
            <a:fillRect/>
          </a:stretch>
        </p:blipFill>
        <p:spPr>
          <a:xfrm>
            <a:off x="8605208" y="5313489"/>
            <a:ext cx="134549" cy="195707"/>
          </a:xfrm>
          <a:prstGeom prst="rect">
            <a:avLst/>
          </a:prstGeom>
        </p:spPr>
      </p:pic>
      <p:sp>
        <p:nvSpPr>
          <p:cNvPr id="139" name="TextBox 138"/>
          <p:cNvSpPr txBox="1"/>
          <p:nvPr/>
        </p:nvSpPr>
        <p:spPr>
          <a:xfrm>
            <a:off x="8780317" y="532371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Form × Flavour,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flavour sub-segments</a:t>
            </a:r>
          </a:p>
        </p:txBody>
      </p:sp>
      <p:sp>
        <p:nvSpPr>
          <p:cNvPr id="10" name="Rounded Rectangle 9"/>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Form × Flavour, 2026E (% of each row)</a:t>
            </a:r>
          </a:p>
        </p:txBody>
      </p:sp>
      <p:graphicFrame>
        <p:nvGraphicFramePr>
          <p:cNvPr id="12" name="Table 11"/>
          <p:cNvGraphicFramePr>
            <a:graphicFrameLocks noGrp="1"/>
          </p:cNvGraphicFramePr>
          <p:nvPr/>
        </p:nvGraphicFramePr>
        <p:xfrm>
          <a:off x="152400" y="1238250"/>
          <a:ext cx="11887196" cy="1971675"/>
        </p:xfrm>
        <a:graphic>
          <a:graphicData uri="http://schemas.openxmlformats.org/drawingml/2006/table">
            <a:tbl>
              <a:tblPr>
                <a:tableStyleId>{5C22544A-7EE6-4342-B048-85BDC9FD1C3A}</a:tableStyleId>
              </a:tblPr>
              <a:tblGrid>
                <a:gridCol w="797864"/>
                <a:gridCol w="1232148"/>
                <a:gridCol w="1232148"/>
                <a:gridCol w="1232148"/>
                <a:gridCol w="1232148"/>
                <a:gridCol w="1232148"/>
                <a:gridCol w="1232148"/>
                <a:gridCol w="1232148"/>
                <a:gridCol w="1232148"/>
                <a:gridCol w="1232148"/>
              </a:tblGrid>
              <a:tr h="246126">
                <a:tc>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Unflavoured</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Vanilla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Lemon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Orange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Mocha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Cinnamon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Pumpkin Spice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 Flavours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552825"/>
            <a:ext cx="7286625"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60997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Flavour Mix by Form, 2026E (% share)</a:t>
            </a:r>
          </a:p>
        </p:txBody>
      </p:sp>
      <p:graphicFrame>
        <p:nvGraphicFramePr>
          <p:cNvPr id="16" name="Chart 15"/>
          <p:cNvGraphicFramePr>
            <a:graphicFrameLocks noGrp="1"/>
          </p:cNvGraphicFramePr>
          <p:nvPr/>
        </p:nvGraphicFramePr>
        <p:xfrm>
          <a:off x="238125" y="3838575"/>
          <a:ext cx="7096125" cy="2733675"/>
        </p:xfrm>
        <a:graphic>
          <a:graphicData uri="http://schemas.openxmlformats.org/drawingml/2006/chart">
            <c:chart xmlns:c="http://schemas.openxmlformats.org/drawingml/2006/chart" r:id="rId3"/>
          </a:graphicData>
        </a:graphic>
      </p:graphicFrame>
      <p:sp>
        <p:nvSpPr>
          <p:cNvPr id="17" name="Rounded Rectangle 16"/>
          <p:cNvSpPr/>
          <p:nvPr/>
        </p:nvSpPr>
        <p:spPr>
          <a:xfrm>
            <a:off x="7581900" y="3552825"/>
            <a:ext cx="445770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7715250" y="363855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9" name="Rectangle 18"/>
          <p:cNvSpPr/>
          <p:nvPr/>
        </p:nvSpPr>
        <p:spPr>
          <a:xfrm>
            <a:off x="7715250" y="387667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7715250" y="3962400"/>
            <a:ext cx="419100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5"/>
          <a:stretch>
            <a:fillRect/>
          </a:stretch>
        </p:blipFill>
        <p:spPr>
          <a:xfrm>
            <a:off x="6308240" y="2080450"/>
            <a:ext cx="366712" cy="533400"/>
          </a:xfrm>
          <a:prstGeom prst="rect">
            <a:avLst/>
          </a:prstGeom>
        </p:spPr>
      </p:pic>
      <p:pic>
        <p:nvPicPr>
          <p:cNvPr id="23" name="Picture 22" descr="lock.png"/>
          <p:cNvPicPr>
            <a:picLocks noChangeAspect="1"/>
          </p:cNvPicPr>
          <p:nvPr/>
        </p:nvPicPr>
        <p:blipFill>
          <a:blip r:embed="rId5"/>
          <a:stretch>
            <a:fillRect/>
          </a:stretch>
        </p:blipFill>
        <p:spPr>
          <a:xfrm>
            <a:off x="3775138" y="4442650"/>
            <a:ext cx="311705" cy="453389"/>
          </a:xfrm>
          <a:prstGeom prst="rect">
            <a:avLst/>
          </a:prstGeom>
        </p:spPr>
      </p:pic>
      <p:sp>
        <p:nvSpPr>
          <p:cNvPr id="24" name="TextBox 23"/>
          <p:cNvSpPr txBox="1"/>
          <p:nvPr/>
        </p:nvSpPr>
        <p:spPr>
          <a:xfrm>
            <a:off x="7715250" y="3971925"/>
            <a:ext cx="2834605" cy="194310"/>
          </a:xfrm>
          <a:prstGeom prst="rect">
            <a:avLst/>
          </a:prstGeom>
          <a:noFill/>
        </p:spPr>
        <p:txBody>
          <a:bodyPr wrap="none" lIns="0" rIns="0" tIns="0" bIns="0">
            <a:spAutoFit/>
          </a:bodyPr>
          <a:lstStyle/>
          <a:p>
            <a:r>
              <a:rPr sz="1150" b="0">
                <a:solidFill>
                  <a:srgbClr val="2E2E2E"/>
                </a:solidFill>
                <a:latin typeface="Calibri"/>
              </a:rPr>
              <a:t>▪ 'Vanilla' holds the highest share of 'Whole' at</a:t>
            </a:r>
          </a:p>
        </p:txBody>
      </p:sp>
      <p:pic>
        <p:nvPicPr>
          <p:cNvPr id="25" name="Picture 24" descr="lock.png"/>
          <p:cNvPicPr>
            <a:picLocks noChangeAspect="1"/>
          </p:cNvPicPr>
          <p:nvPr/>
        </p:nvPicPr>
        <p:blipFill>
          <a:blip r:embed="rId5"/>
          <a:stretch>
            <a:fillRect/>
          </a:stretch>
        </p:blipFill>
        <p:spPr>
          <a:xfrm>
            <a:off x="10499009" y="3961701"/>
            <a:ext cx="134549" cy="195707"/>
          </a:xfrm>
          <a:prstGeom prst="rect">
            <a:avLst/>
          </a:prstGeom>
        </p:spPr>
      </p:pic>
      <p:sp>
        <p:nvSpPr>
          <p:cNvPr id="26" name="TextBox 25"/>
          <p:cNvSpPr txBox="1"/>
          <p:nvPr/>
        </p:nvSpPr>
        <p:spPr>
          <a:xfrm>
            <a:off x="10674118" y="397192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7" name="TextBox 26"/>
          <p:cNvSpPr txBox="1"/>
          <p:nvPr/>
        </p:nvSpPr>
        <p:spPr>
          <a:xfrm>
            <a:off x="7715250" y="4199763"/>
            <a:ext cx="3590528" cy="194310"/>
          </a:xfrm>
          <a:prstGeom prst="rect">
            <a:avLst/>
          </a:prstGeom>
          <a:noFill/>
        </p:spPr>
        <p:txBody>
          <a:bodyPr wrap="none" lIns="0" rIns="0" tIns="0" bIns="0">
            <a:spAutoFit/>
          </a:bodyPr>
          <a:lstStyle/>
          <a:p>
            <a:r>
              <a:rPr sz="1150" b="0">
                <a:solidFill>
                  <a:srgbClr val="2E2E2E"/>
                </a:solidFill>
                <a:latin typeface="Calibri"/>
              </a:rPr>
              <a:t>▪ 'Whole' is the most concentrated form sub-segment, with</a:t>
            </a:r>
          </a:p>
        </p:txBody>
      </p:sp>
      <p:pic>
        <p:nvPicPr>
          <p:cNvPr id="28" name="Picture 27" descr="lock.png"/>
          <p:cNvPicPr>
            <a:picLocks noChangeAspect="1"/>
          </p:cNvPicPr>
          <p:nvPr/>
        </p:nvPicPr>
        <p:blipFill>
          <a:blip r:embed="rId5"/>
          <a:stretch>
            <a:fillRect/>
          </a:stretch>
        </p:blipFill>
        <p:spPr>
          <a:xfrm>
            <a:off x="11254932" y="4189539"/>
            <a:ext cx="134549" cy="195707"/>
          </a:xfrm>
          <a:prstGeom prst="rect">
            <a:avLst/>
          </a:prstGeom>
        </p:spPr>
      </p:pic>
      <p:sp>
        <p:nvSpPr>
          <p:cNvPr id="29" name="TextBox 28"/>
          <p:cNvSpPr txBox="1"/>
          <p:nvPr/>
        </p:nvSpPr>
        <p:spPr>
          <a:xfrm>
            <a:off x="11430041" y="4199763"/>
            <a:ext cx="370582" cy="194310"/>
          </a:xfrm>
          <a:prstGeom prst="rect">
            <a:avLst/>
          </a:prstGeom>
          <a:noFill/>
        </p:spPr>
        <p:txBody>
          <a:bodyPr wrap="none" lIns="0" rIns="0" tIns="0" bIns="0">
            <a:spAutoFit/>
          </a:bodyPr>
          <a:lstStyle/>
          <a:p>
            <a:r>
              <a:rPr sz="1150" b="0">
                <a:solidFill>
                  <a:srgbClr val="2E2E2E"/>
                </a:solidFill>
                <a:latin typeface="Calibri"/>
              </a:rPr>
              <a:t>of its</a:t>
            </a:r>
          </a:p>
        </p:txBody>
      </p:sp>
      <p:sp>
        <p:nvSpPr>
          <p:cNvPr id="30" name="TextBox 29"/>
          <p:cNvSpPr txBox="1"/>
          <p:nvPr/>
        </p:nvSpPr>
        <p:spPr>
          <a:xfrm>
            <a:off x="7715250" y="4375022"/>
            <a:ext cx="1132495" cy="194310"/>
          </a:xfrm>
          <a:prstGeom prst="rect">
            <a:avLst/>
          </a:prstGeom>
          <a:noFill/>
        </p:spPr>
        <p:txBody>
          <a:bodyPr wrap="none" lIns="0" rIns="0" tIns="0" bIns="0">
            <a:spAutoFit/>
          </a:bodyPr>
          <a:lstStyle/>
          <a:p>
            <a:r>
              <a:rPr sz="1150" b="0">
                <a:solidFill>
                  <a:srgbClr val="2E2E2E"/>
                </a:solidFill>
                <a:latin typeface="Calibri"/>
              </a:rPr>
              <a:t>value via 'Vanilla'.</a:t>
            </a:r>
          </a:p>
        </p:txBody>
      </p:sp>
      <p:sp>
        <p:nvSpPr>
          <p:cNvPr id="31" name="TextBox 30"/>
          <p:cNvSpPr txBox="1"/>
          <p:nvPr/>
        </p:nvSpPr>
        <p:spPr>
          <a:xfrm>
            <a:off x="7715250" y="4602860"/>
            <a:ext cx="1538126" cy="194310"/>
          </a:xfrm>
          <a:prstGeom prst="rect">
            <a:avLst/>
          </a:prstGeom>
          <a:noFill/>
        </p:spPr>
        <p:txBody>
          <a:bodyPr wrap="none" lIns="0" rIns="0" tIns="0" bIns="0">
            <a:spAutoFit/>
          </a:bodyPr>
          <a:lstStyle/>
          <a:p>
            <a:r>
              <a:rPr sz="1150" b="0">
                <a:solidFill>
                  <a:srgbClr val="2E2E2E"/>
                </a:solidFill>
                <a:latin typeface="Calibri"/>
              </a:rPr>
              <a:t>▪ 'Pumpkin Spice' gains +</a:t>
            </a:r>
          </a:p>
        </p:txBody>
      </p:sp>
      <p:pic>
        <p:nvPicPr>
          <p:cNvPr id="32" name="Picture 31" descr="lock.png"/>
          <p:cNvPicPr>
            <a:picLocks noChangeAspect="1"/>
          </p:cNvPicPr>
          <p:nvPr/>
        </p:nvPicPr>
        <p:blipFill>
          <a:blip r:embed="rId5"/>
          <a:stretch>
            <a:fillRect/>
          </a:stretch>
        </p:blipFill>
        <p:spPr>
          <a:xfrm>
            <a:off x="9202530" y="4592637"/>
            <a:ext cx="134549" cy="195707"/>
          </a:xfrm>
          <a:prstGeom prst="rect">
            <a:avLst/>
          </a:prstGeom>
        </p:spPr>
      </p:pic>
      <p:sp>
        <p:nvSpPr>
          <p:cNvPr id="33" name="TextBox 32"/>
          <p:cNvSpPr txBox="1"/>
          <p:nvPr/>
        </p:nvSpPr>
        <p:spPr>
          <a:xfrm>
            <a:off x="9377639" y="4602860"/>
            <a:ext cx="2426121" cy="194310"/>
          </a:xfrm>
          <a:prstGeom prst="rect">
            <a:avLst/>
          </a:prstGeom>
          <a:noFill/>
        </p:spPr>
        <p:txBody>
          <a:bodyPr wrap="none" lIns="0" rIns="0" tIns="0" bIns="0">
            <a:spAutoFit/>
          </a:bodyPr>
          <a:lstStyle/>
          <a:p>
            <a:r>
              <a:rPr sz="1150" b="0">
                <a:solidFill>
                  <a:srgbClr val="2E2E2E"/>
                </a:solidFill>
                <a:latin typeface="Calibri"/>
              </a:rPr>
              <a:t>BPS of share of the Global cross-section</a:t>
            </a:r>
          </a:p>
        </p:txBody>
      </p:sp>
      <p:sp>
        <p:nvSpPr>
          <p:cNvPr id="34" name="TextBox 33"/>
          <p:cNvSpPr txBox="1"/>
          <p:nvPr/>
        </p:nvSpPr>
        <p:spPr>
          <a:xfrm>
            <a:off x="7715250" y="4778120"/>
            <a:ext cx="652484" cy="194310"/>
          </a:xfrm>
          <a:prstGeom prst="rect">
            <a:avLst/>
          </a:prstGeom>
          <a:noFill/>
        </p:spPr>
        <p:txBody>
          <a:bodyPr wrap="none" lIns="0" rIns="0" tIns="0" bIns="0">
            <a:spAutoFit/>
          </a:bodyPr>
          <a:lstStyle/>
          <a:p>
            <a:r>
              <a:rPr sz="1150" b="0">
                <a:solidFill>
                  <a:srgbClr val="2E2E2E"/>
                </a:solidFill>
                <a:latin typeface="Calibri"/>
              </a:rPr>
              <a:t>by 2036F.</a:t>
            </a:r>
          </a:p>
        </p:txBody>
      </p:sp>
      <p:sp>
        <p:nvSpPr>
          <p:cNvPr id="35" name="lockshield_16"/>
          <p:cNvSpPr/>
          <p:nvPr/>
        </p:nvSpPr>
        <p:spPr>
          <a:xfrm>
            <a:off x="238125" y="3838575"/>
            <a:ext cx="7096125" cy="27336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Form × Flavour,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Form × Flavour, 2026E–2036F</a:t>
            </a:r>
          </a:p>
        </p:txBody>
      </p:sp>
      <p:graphicFrame>
        <p:nvGraphicFramePr>
          <p:cNvPr id="12" name="Table 11"/>
          <p:cNvGraphicFramePr>
            <a:graphicFrameLocks noGrp="1"/>
          </p:cNvGraphicFramePr>
          <p:nvPr/>
        </p:nvGraphicFramePr>
        <p:xfrm>
          <a:off x="152400" y="1238250"/>
          <a:ext cx="11887741" cy="2219326"/>
        </p:xfrm>
        <a:graphic>
          <a:graphicData uri="http://schemas.openxmlformats.org/drawingml/2006/table">
            <a:tbl>
              <a:tblPr>
                <a:tableStyleId>{5C22544A-7EE6-4342-B048-85BDC9FD1C3A}</a:tableStyleId>
              </a:tblPr>
              <a:tblGrid>
                <a:gridCol w="700314"/>
                <a:gridCol w="621493"/>
                <a:gridCol w="621493"/>
                <a:gridCol w="621493"/>
                <a:gridCol w="621493"/>
                <a:gridCol w="621493"/>
                <a:gridCol w="621493"/>
                <a:gridCol w="621493"/>
                <a:gridCol w="621493"/>
                <a:gridCol w="621493"/>
                <a:gridCol w="621493"/>
                <a:gridCol w="621493"/>
                <a:gridCol w="621493"/>
                <a:gridCol w="621493"/>
                <a:gridCol w="621493"/>
                <a:gridCol w="621493"/>
                <a:gridCol w="621493"/>
                <a:gridCol w="621493"/>
                <a:gridCol w="622046"/>
              </a:tblGrid>
              <a:tr h="246126">
                <a:tc rowSpan="2">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Unflavoured</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Vanilla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Lemon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Orange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Mocha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Cinnamon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Pumpkin Spice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65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560070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8862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6" name="Rectangle 15"/>
          <p:cNvSpPr/>
          <p:nvPr/>
        </p:nvSpPr>
        <p:spPr>
          <a:xfrm>
            <a:off x="276225" y="41243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210050"/>
            <a:ext cx="53340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5895975" y="3800475"/>
            <a:ext cx="1943100" cy="28289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029325" y="38862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0" name="Rectangle 19"/>
          <p:cNvSpPr/>
          <p:nvPr/>
        </p:nvSpPr>
        <p:spPr>
          <a:xfrm>
            <a:off x="6029325" y="41243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029325" y="4210050"/>
            <a:ext cx="16764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7991475" y="3800475"/>
            <a:ext cx="1943100" cy="28289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124825" y="38862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4" name="Rectangle 23"/>
          <p:cNvSpPr/>
          <p:nvPr/>
        </p:nvSpPr>
        <p:spPr>
          <a:xfrm>
            <a:off x="8124825" y="41243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24825" y="4210050"/>
            <a:ext cx="16764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0086975" y="3800475"/>
            <a:ext cx="1943100" cy="28289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0220325" y="38862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8" name="Rectangle 27"/>
          <p:cNvSpPr/>
          <p:nvPr/>
        </p:nvSpPr>
        <p:spPr>
          <a:xfrm>
            <a:off x="10220325" y="41243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220325" y="4210050"/>
            <a:ext cx="16764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'Liquid × Unflavoured' ranks highest (5/5); 'Granules × Lemon' lowest (1/5), a deprioritised cell.</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4"/>
          <a:stretch>
            <a:fillRect/>
          </a:stretch>
        </p:blipFill>
        <p:spPr>
          <a:xfrm>
            <a:off x="6254493" y="2327601"/>
            <a:ext cx="366712" cy="533400"/>
          </a:xfrm>
          <a:prstGeom prst="rect">
            <a:avLst/>
          </a:prstGeom>
        </p:spPr>
      </p:pic>
      <p:sp>
        <p:nvSpPr>
          <p:cNvPr id="32" name="TextBox 31"/>
          <p:cNvSpPr txBox="1"/>
          <p:nvPr/>
        </p:nvSpPr>
        <p:spPr>
          <a:xfrm>
            <a:off x="276225" y="4219575"/>
            <a:ext cx="1344438" cy="194310"/>
          </a:xfrm>
          <a:prstGeom prst="rect">
            <a:avLst/>
          </a:prstGeom>
          <a:noFill/>
        </p:spPr>
        <p:txBody>
          <a:bodyPr wrap="none" lIns="0" rIns="0" tIns="0" bIns="0">
            <a:spAutoFit/>
          </a:bodyPr>
          <a:lstStyle/>
          <a:p>
            <a:r>
              <a:rPr sz="1150" b="0">
                <a:solidFill>
                  <a:srgbClr val="2E2E2E"/>
                </a:solidFill>
                <a:latin typeface="Calibri"/>
              </a:rPr>
              <a:t>▪ 1. Liquid × Orange –</a:t>
            </a:r>
          </a:p>
        </p:txBody>
      </p:sp>
      <p:pic>
        <p:nvPicPr>
          <p:cNvPr id="33" name="Picture 32" descr="lock.png"/>
          <p:cNvPicPr>
            <a:picLocks noChangeAspect="1"/>
          </p:cNvPicPr>
          <p:nvPr/>
        </p:nvPicPr>
        <p:blipFill>
          <a:blip r:embed="rId4"/>
          <a:stretch>
            <a:fillRect/>
          </a:stretch>
        </p:blipFill>
        <p:spPr>
          <a:xfrm>
            <a:off x="1569817" y="4209351"/>
            <a:ext cx="134549" cy="195707"/>
          </a:xfrm>
          <a:prstGeom prst="rect">
            <a:avLst/>
          </a:prstGeom>
        </p:spPr>
      </p:pic>
      <p:sp>
        <p:nvSpPr>
          <p:cNvPr id="34" name="TextBox 33"/>
          <p:cNvSpPr txBox="1"/>
          <p:nvPr/>
        </p:nvSpPr>
        <p:spPr>
          <a:xfrm>
            <a:off x="1744927" y="42195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1807078" y="4209351"/>
            <a:ext cx="134549" cy="195707"/>
          </a:xfrm>
          <a:prstGeom prst="rect">
            <a:avLst/>
          </a:prstGeom>
        </p:spPr>
      </p:pic>
      <p:sp>
        <p:nvSpPr>
          <p:cNvPr id="36" name="TextBox 35"/>
          <p:cNvSpPr txBox="1"/>
          <p:nvPr/>
        </p:nvSpPr>
        <p:spPr>
          <a:xfrm>
            <a:off x="1982188" y="42195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4447413"/>
            <a:ext cx="1776313" cy="194310"/>
          </a:xfrm>
          <a:prstGeom prst="rect">
            <a:avLst/>
          </a:prstGeom>
          <a:noFill/>
        </p:spPr>
        <p:txBody>
          <a:bodyPr wrap="none" lIns="0" rIns="0" tIns="0" bIns="0">
            <a:spAutoFit/>
          </a:bodyPr>
          <a:lstStyle/>
          <a:p>
            <a:r>
              <a:rPr sz="1150" b="0">
                <a:solidFill>
                  <a:srgbClr val="2E2E2E"/>
                </a:solidFill>
                <a:latin typeface="Calibri"/>
              </a:rPr>
              <a:t>▪ 2. Liquid × Pumpkin Spice –</a:t>
            </a:r>
          </a:p>
        </p:txBody>
      </p:sp>
      <p:pic>
        <p:nvPicPr>
          <p:cNvPr id="38" name="Picture 37" descr="lock.png"/>
          <p:cNvPicPr>
            <a:picLocks noChangeAspect="1"/>
          </p:cNvPicPr>
          <p:nvPr/>
        </p:nvPicPr>
        <p:blipFill>
          <a:blip r:embed="rId4"/>
          <a:stretch>
            <a:fillRect/>
          </a:stretch>
        </p:blipFill>
        <p:spPr>
          <a:xfrm>
            <a:off x="2001692" y="4437189"/>
            <a:ext cx="134549" cy="195707"/>
          </a:xfrm>
          <a:prstGeom prst="rect">
            <a:avLst/>
          </a:prstGeom>
        </p:spPr>
      </p:pic>
      <p:sp>
        <p:nvSpPr>
          <p:cNvPr id="39" name="TextBox 38"/>
          <p:cNvSpPr txBox="1"/>
          <p:nvPr/>
        </p:nvSpPr>
        <p:spPr>
          <a:xfrm>
            <a:off x="2176801" y="44474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2238953" y="4437189"/>
            <a:ext cx="134549" cy="195707"/>
          </a:xfrm>
          <a:prstGeom prst="rect">
            <a:avLst/>
          </a:prstGeom>
        </p:spPr>
      </p:pic>
      <p:sp>
        <p:nvSpPr>
          <p:cNvPr id="41" name="TextBox 40"/>
          <p:cNvSpPr txBox="1"/>
          <p:nvPr/>
        </p:nvSpPr>
        <p:spPr>
          <a:xfrm>
            <a:off x="2414062" y="44474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2" name="TextBox 41"/>
          <p:cNvSpPr txBox="1"/>
          <p:nvPr/>
        </p:nvSpPr>
        <p:spPr>
          <a:xfrm>
            <a:off x="276225" y="4675250"/>
            <a:ext cx="1647378" cy="194310"/>
          </a:xfrm>
          <a:prstGeom prst="rect">
            <a:avLst/>
          </a:prstGeom>
          <a:noFill/>
        </p:spPr>
        <p:txBody>
          <a:bodyPr wrap="none" lIns="0" rIns="0" tIns="0" bIns="0">
            <a:spAutoFit/>
          </a:bodyPr>
          <a:lstStyle/>
          <a:p>
            <a:r>
              <a:rPr sz="1150" b="0">
                <a:solidFill>
                  <a:srgbClr val="2E2E2E"/>
                </a:solidFill>
                <a:latin typeface="Calibri"/>
              </a:rPr>
              <a:t>▪ 3. Liquid × Unflavoured –</a:t>
            </a:r>
          </a:p>
        </p:txBody>
      </p:sp>
      <p:pic>
        <p:nvPicPr>
          <p:cNvPr id="43" name="Picture 42" descr="lock.png"/>
          <p:cNvPicPr>
            <a:picLocks noChangeAspect="1"/>
          </p:cNvPicPr>
          <p:nvPr/>
        </p:nvPicPr>
        <p:blipFill>
          <a:blip r:embed="rId4"/>
          <a:stretch>
            <a:fillRect/>
          </a:stretch>
        </p:blipFill>
        <p:spPr>
          <a:xfrm>
            <a:off x="1872757" y="4665027"/>
            <a:ext cx="134549" cy="195707"/>
          </a:xfrm>
          <a:prstGeom prst="rect">
            <a:avLst/>
          </a:prstGeom>
        </p:spPr>
      </p:pic>
      <p:sp>
        <p:nvSpPr>
          <p:cNvPr id="44" name="TextBox 43"/>
          <p:cNvSpPr txBox="1"/>
          <p:nvPr/>
        </p:nvSpPr>
        <p:spPr>
          <a:xfrm>
            <a:off x="2047866" y="46752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2110018" y="4665027"/>
            <a:ext cx="134549" cy="195707"/>
          </a:xfrm>
          <a:prstGeom prst="rect">
            <a:avLst/>
          </a:prstGeom>
        </p:spPr>
      </p:pic>
      <p:sp>
        <p:nvSpPr>
          <p:cNvPr id="46" name="TextBox 45"/>
          <p:cNvSpPr txBox="1"/>
          <p:nvPr/>
        </p:nvSpPr>
        <p:spPr>
          <a:xfrm>
            <a:off x="2285127" y="46752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7" name="TextBox 46"/>
          <p:cNvSpPr txBox="1"/>
          <p:nvPr/>
        </p:nvSpPr>
        <p:spPr>
          <a:xfrm>
            <a:off x="276225" y="4903088"/>
            <a:ext cx="1309067" cy="194310"/>
          </a:xfrm>
          <a:prstGeom prst="rect">
            <a:avLst/>
          </a:prstGeom>
          <a:noFill/>
        </p:spPr>
        <p:txBody>
          <a:bodyPr wrap="none" lIns="0" rIns="0" tIns="0" bIns="0">
            <a:spAutoFit/>
          </a:bodyPr>
          <a:lstStyle/>
          <a:p>
            <a:r>
              <a:rPr sz="1150" b="0">
                <a:solidFill>
                  <a:srgbClr val="2E2E2E"/>
                </a:solidFill>
                <a:latin typeface="Calibri"/>
              </a:rPr>
              <a:t>▪ 4. Liquid × Vanilla –</a:t>
            </a:r>
          </a:p>
        </p:txBody>
      </p:sp>
      <p:pic>
        <p:nvPicPr>
          <p:cNvPr id="48" name="Picture 47" descr="lock.png"/>
          <p:cNvPicPr>
            <a:picLocks noChangeAspect="1"/>
          </p:cNvPicPr>
          <p:nvPr/>
        </p:nvPicPr>
        <p:blipFill>
          <a:blip r:embed="rId4"/>
          <a:stretch>
            <a:fillRect/>
          </a:stretch>
        </p:blipFill>
        <p:spPr>
          <a:xfrm>
            <a:off x="1534446" y="4892865"/>
            <a:ext cx="134549" cy="195707"/>
          </a:xfrm>
          <a:prstGeom prst="rect">
            <a:avLst/>
          </a:prstGeom>
        </p:spPr>
      </p:pic>
      <p:sp>
        <p:nvSpPr>
          <p:cNvPr id="49" name="TextBox 48"/>
          <p:cNvSpPr txBox="1"/>
          <p:nvPr/>
        </p:nvSpPr>
        <p:spPr>
          <a:xfrm>
            <a:off x="1709555" y="490308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1771707" y="4892865"/>
            <a:ext cx="134549" cy="195707"/>
          </a:xfrm>
          <a:prstGeom prst="rect">
            <a:avLst/>
          </a:prstGeom>
        </p:spPr>
      </p:pic>
      <p:sp>
        <p:nvSpPr>
          <p:cNvPr id="51" name="TextBox 50"/>
          <p:cNvSpPr txBox="1"/>
          <p:nvPr/>
        </p:nvSpPr>
        <p:spPr>
          <a:xfrm>
            <a:off x="1946816" y="4903088"/>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2" name="TextBox 51"/>
          <p:cNvSpPr txBox="1"/>
          <p:nvPr/>
        </p:nvSpPr>
        <p:spPr>
          <a:xfrm>
            <a:off x="276225" y="5130926"/>
            <a:ext cx="1319051" cy="194310"/>
          </a:xfrm>
          <a:prstGeom prst="rect">
            <a:avLst/>
          </a:prstGeom>
          <a:noFill/>
        </p:spPr>
        <p:txBody>
          <a:bodyPr wrap="none" lIns="0" rIns="0" tIns="0" bIns="0">
            <a:spAutoFit/>
          </a:bodyPr>
          <a:lstStyle/>
          <a:p>
            <a:r>
              <a:rPr sz="1150" b="0">
                <a:solidFill>
                  <a:srgbClr val="2E2E2E"/>
                </a:solidFill>
                <a:latin typeface="Calibri"/>
              </a:rPr>
              <a:t>▪ 5. Liquid × Mocha –</a:t>
            </a:r>
          </a:p>
        </p:txBody>
      </p:sp>
      <p:pic>
        <p:nvPicPr>
          <p:cNvPr id="53" name="Picture 52" descr="lock.png"/>
          <p:cNvPicPr>
            <a:picLocks noChangeAspect="1"/>
          </p:cNvPicPr>
          <p:nvPr/>
        </p:nvPicPr>
        <p:blipFill>
          <a:blip r:embed="rId4"/>
          <a:stretch>
            <a:fillRect/>
          </a:stretch>
        </p:blipFill>
        <p:spPr>
          <a:xfrm>
            <a:off x="1544430" y="5120703"/>
            <a:ext cx="134549" cy="195707"/>
          </a:xfrm>
          <a:prstGeom prst="rect">
            <a:avLst/>
          </a:prstGeom>
        </p:spPr>
      </p:pic>
      <p:sp>
        <p:nvSpPr>
          <p:cNvPr id="54" name="TextBox 53"/>
          <p:cNvSpPr txBox="1"/>
          <p:nvPr/>
        </p:nvSpPr>
        <p:spPr>
          <a:xfrm>
            <a:off x="1719539" y="513092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5" name="Picture 54" descr="lock.png"/>
          <p:cNvPicPr>
            <a:picLocks noChangeAspect="1"/>
          </p:cNvPicPr>
          <p:nvPr/>
        </p:nvPicPr>
        <p:blipFill>
          <a:blip r:embed="rId4"/>
          <a:stretch>
            <a:fillRect/>
          </a:stretch>
        </p:blipFill>
        <p:spPr>
          <a:xfrm>
            <a:off x="1781691" y="5120703"/>
            <a:ext cx="134549" cy="195707"/>
          </a:xfrm>
          <a:prstGeom prst="rect">
            <a:avLst/>
          </a:prstGeom>
        </p:spPr>
      </p:pic>
      <p:sp>
        <p:nvSpPr>
          <p:cNvPr id="56" name="TextBox 55"/>
          <p:cNvSpPr txBox="1"/>
          <p:nvPr/>
        </p:nvSpPr>
        <p:spPr>
          <a:xfrm>
            <a:off x="1956800" y="5130926"/>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7" name="TextBox 56"/>
          <p:cNvSpPr txBox="1"/>
          <p:nvPr/>
        </p:nvSpPr>
        <p:spPr>
          <a:xfrm>
            <a:off x="6029325" y="4219575"/>
            <a:ext cx="1472517" cy="194310"/>
          </a:xfrm>
          <a:prstGeom prst="rect">
            <a:avLst/>
          </a:prstGeom>
          <a:noFill/>
        </p:spPr>
        <p:txBody>
          <a:bodyPr wrap="none" lIns="0" rIns="0" tIns="0" bIns="0">
            <a:spAutoFit/>
          </a:bodyPr>
          <a:lstStyle/>
          <a:p>
            <a:r>
              <a:rPr sz="1150" b="0">
                <a:solidFill>
                  <a:srgbClr val="2E2E2E"/>
                </a:solidFill>
                <a:latin typeface="Calibri"/>
              </a:rPr>
              <a:t>▪ 'Liquid × Orange' adds</a:t>
            </a:r>
          </a:p>
        </p:txBody>
      </p:sp>
      <p:pic>
        <p:nvPicPr>
          <p:cNvPr id="58" name="Picture 57" descr="lock.png"/>
          <p:cNvPicPr>
            <a:picLocks noChangeAspect="1"/>
          </p:cNvPicPr>
          <p:nvPr/>
        </p:nvPicPr>
        <p:blipFill>
          <a:blip r:embed="rId4"/>
          <a:stretch>
            <a:fillRect/>
          </a:stretch>
        </p:blipFill>
        <p:spPr>
          <a:xfrm>
            <a:off x="6015245" y="4384611"/>
            <a:ext cx="134549" cy="195707"/>
          </a:xfrm>
          <a:prstGeom prst="rect">
            <a:avLst/>
          </a:prstGeom>
        </p:spPr>
      </p:pic>
      <p:sp>
        <p:nvSpPr>
          <p:cNvPr id="59" name="TextBox 58"/>
          <p:cNvSpPr txBox="1"/>
          <p:nvPr/>
        </p:nvSpPr>
        <p:spPr>
          <a:xfrm>
            <a:off x="6190354" y="439483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60" name="Picture 59" descr="lock.png"/>
          <p:cNvPicPr>
            <a:picLocks noChangeAspect="1"/>
          </p:cNvPicPr>
          <p:nvPr/>
        </p:nvPicPr>
        <p:blipFill>
          <a:blip r:embed="rId4"/>
          <a:stretch>
            <a:fillRect/>
          </a:stretch>
        </p:blipFill>
        <p:spPr>
          <a:xfrm>
            <a:off x="6015245" y="4559871"/>
            <a:ext cx="134549" cy="195707"/>
          </a:xfrm>
          <a:prstGeom prst="rect">
            <a:avLst/>
          </a:prstGeom>
        </p:spPr>
      </p:pic>
      <p:sp>
        <p:nvSpPr>
          <p:cNvPr id="61" name="TextBox 60"/>
          <p:cNvSpPr txBox="1"/>
          <p:nvPr/>
        </p:nvSpPr>
        <p:spPr>
          <a:xfrm>
            <a:off x="6190354" y="4570095"/>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2" name="TextBox 61"/>
          <p:cNvSpPr txBox="1"/>
          <p:nvPr/>
        </p:nvSpPr>
        <p:spPr>
          <a:xfrm>
            <a:off x="6029325" y="474535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3" name="TextBox 62"/>
          <p:cNvSpPr txBox="1"/>
          <p:nvPr/>
        </p:nvSpPr>
        <p:spPr>
          <a:xfrm>
            <a:off x="8124825" y="4219575"/>
            <a:ext cx="1590898" cy="194310"/>
          </a:xfrm>
          <a:prstGeom prst="rect">
            <a:avLst/>
          </a:prstGeom>
          <a:noFill/>
        </p:spPr>
        <p:txBody>
          <a:bodyPr wrap="none" lIns="0" rIns="0" tIns="0" bIns="0">
            <a:spAutoFit/>
          </a:bodyPr>
          <a:lstStyle/>
          <a:p>
            <a:r>
              <a:rPr sz="1150" b="0">
                <a:solidFill>
                  <a:srgbClr val="2E2E2E"/>
                </a:solidFill>
                <a:latin typeface="Calibri"/>
              </a:rPr>
              <a:t>▪ 'Liquid × Pumpkin Spice'</a:t>
            </a:r>
          </a:p>
        </p:txBody>
      </p:sp>
      <p:sp>
        <p:nvSpPr>
          <p:cNvPr id="64" name="TextBox 63"/>
          <p:cNvSpPr txBox="1"/>
          <p:nvPr/>
        </p:nvSpPr>
        <p:spPr>
          <a:xfrm>
            <a:off x="8124825" y="4394835"/>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5" name="Picture 64" descr="lock.png"/>
          <p:cNvPicPr>
            <a:picLocks noChangeAspect="1"/>
          </p:cNvPicPr>
          <p:nvPr/>
        </p:nvPicPr>
        <p:blipFill>
          <a:blip r:embed="rId4"/>
          <a:stretch>
            <a:fillRect/>
          </a:stretch>
        </p:blipFill>
        <p:spPr>
          <a:xfrm>
            <a:off x="8763474" y="4384611"/>
            <a:ext cx="134549" cy="195707"/>
          </a:xfrm>
          <a:prstGeom prst="rect">
            <a:avLst/>
          </a:prstGeom>
        </p:spPr>
      </p:pic>
      <p:sp>
        <p:nvSpPr>
          <p:cNvPr id="66" name="TextBox 65"/>
          <p:cNvSpPr txBox="1"/>
          <p:nvPr/>
        </p:nvSpPr>
        <p:spPr>
          <a:xfrm>
            <a:off x="8938584" y="439483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7" name="Picture 66" descr="lock.png"/>
          <p:cNvPicPr>
            <a:picLocks noChangeAspect="1"/>
          </p:cNvPicPr>
          <p:nvPr/>
        </p:nvPicPr>
        <p:blipFill>
          <a:blip r:embed="rId4"/>
          <a:stretch>
            <a:fillRect/>
          </a:stretch>
        </p:blipFill>
        <p:spPr>
          <a:xfrm>
            <a:off x="9334179" y="4384611"/>
            <a:ext cx="134549" cy="195707"/>
          </a:xfrm>
          <a:prstGeom prst="rect">
            <a:avLst/>
          </a:prstGeom>
        </p:spPr>
      </p:pic>
      <p:sp>
        <p:nvSpPr>
          <p:cNvPr id="68" name="TextBox 67"/>
          <p:cNvSpPr txBox="1"/>
          <p:nvPr/>
        </p:nvSpPr>
        <p:spPr>
          <a:xfrm>
            <a:off x="8124825" y="4570095"/>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69" name="TextBox 68"/>
          <p:cNvSpPr txBox="1"/>
          <p:nvPr/>
        </p:nvSpPr>
        <p:spPr>
          <a:xfrm>
            <a:off x="8124825" y="474535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11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8.3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Packaging Type × 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1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Packaging Type × Distribution Channel,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packaging type sub-segment across distribution channel sub-segments</a:t>
            </a:r>
          </a:p>
        </p:txBody>
      </p:sp>
      <p:sp>
        <p:nvSpPr>
          <p:cNvPr id="10" name="Rounded Rectangle 9"/>
          <p:cNvSpPr/>
          <p:nvPr/>
        </p:nvSpPr>
        <p:spPr>
          <a:xfrm>
            <a:off x="142875" y="981075"/>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Market Value, Packaging Type × Distribution Channel, 2026E and 2036F (US$ Mn)</a:t>
            </a:r>
          </a:p>
        </p:txBody>
      </p:sp>
      <p:graphicFrame>
        <p:nvGraphicFramePr>
          <p:cNvPr id="12" name="Table 11"/>
          <p:cNvGraphicFramePr>
            <a:graphicFrameLocks noGrp="1"/>
          </p:cNvGraphicFramePr>
          <p:nvPr/>
        </p:nvGraphicFramePr>
        <p:xfrm>
          <a:off x="152400" y="1238250"/>
          <a:ext cx="11887193" cy="3343274"/>
        </p:xfrm>
        <a:graphic>
          <a:graphicData uri="http://schemas.openxmlformats.org/drawingml/2006/table">
            <a:tbl>
              <a:tblPr>
                <a:tableStyleId>{5C22544A-7EE6-4342-B048-85BDC9FD1C3A}</a:tableStyleId>
              </a:tblPr>
              <a:tblGrid>
                <a:gridCol w="2088265"/>
                <a:gridCol w="612433"/>
                <a:gridCol w="612433"/>
                <a:gridCol w="612433"/>
                <a:gridCol w="612433"/>
                <a:gridCol w="612433"/>
                <a:gridCol w="612433"/>
                <a:gridCol w="612433"/>
                <a:gridCol w="612433"/>
                <a:gridCol w="612433"/>
                <a:gridCol w="612433"/>
                <a:gridCol w="612433"/>
                <a:gridCol w="612433"/>
                <a:gridCol w="612433"/>
                <a:gridCol w="612433"/>
                <a:gridCol w="612433"/>
                <a:gridCol w="612433"/>
              </a:tblGrid>
              <a:tr h="631697">
                <a:tc rowSpan="2">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B2B / Institutional</a:t>
                      </a:r>
                      <a:endParaRPr sz="1100"/>
                    </a:p>
                    <a:p>
                      <a:pPr algn="ctr"/>
                      <a:r>
                        <a:rPr sz="1100" b="1">
                          <a:solidFill>
                            <a:srgbClr val="0B2E4A"/>
                          </a:solidFill>
                          <a:latin typeface="Calibri"/>
                        </a:rPr>
                        <a:t>and Ingredient</a:t>
                      </a:r>
                      <a:endParaRPr sz="1100"/>
                    </a:p>
                    <a:p>
                      <a:pPr algn="ctr"/>
                      <a:r>
                        <a:rPr sz="1100" b="1">
                          <a:solidFill>
                            <a:srgbClr val="0B2E4A"/>
                          </a:solidFill>
                          <a:latin typeface="Calibri"/>
                        </a:rPr>
                        <a:t>Sales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Supermarkets and</a:t>
                      </a:r>
                      <a:endParaRPr sz="1100"/>
                    </a:p>
                    <a:p>
                      <a:pPr algn="ctr"/>
                      <a:r>
                        <a:rPr sz="1100" b="1">
                          <a:solidFill>
                            <a:srgbClr val="0B2E4A"/>
                          </a:solidFill>
                          <a:latin typeface="Calibri"/>
                        </a:rPr>
                        <a:t>Hypermarkets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Convenience</a:t>
                      </a:r>
                      <a:endParaRPr sz="1100"/>
                    </a:p>
                    <a:p>
                      <a:pPr algn="ctr"/>
                      <a:r>
                        <a:rPr sz="1100" b="1">
                          <a:solidFill>
                            <a:srgbClr val="0B2E4A"/>
                          </a:solidFill>
                          <a:latin typeface="Calibri"/>
                        </a:rPr>
                        <a:t>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Specialty Tea and</a:t>
                      </a:r>
                      <a:endParaRPr sz="1100"/>
                    </a:p>
                    <a:p>
                      <a:pPr algn="ctr"/>
                      <a:r>
                        <a:rPr sz="1100" b="1">
                          <a:solidFill>
                            <a:srgbClr val="0B2E4A"/>
                          </a:solidFill>
                          <a:latin typeface="Calibri"/>
                        </a:rPr>
                        <a:t>Health Food</a:t>
                      </a:r>
                      <a:endParaRPr sz="1100"/>
                    </a:p>
                    <a:p>
                      <a:pPr algn="ctr"/>
                      <a:r>
                        <a:rPr sz="1100" b="1">
                          <a:solidFill>
                            <a:srgbClr val="0B2E4A"/>
                          </a:solidFill>
                          <a:latin typeface="Calibri"/>
                        </a:rPr>
                        <a:t>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 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HoReCa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Retail</a:t>
                      </a:r>
                      <a:endParaRPr sz="1100"/>
                    </a:p>
                    <a:p>
                      <a:pPr algn="ctr"/>
                      <a:r>
                        <a:rPr sz="1100" b="1">
                          <a:solidFill>
                            <a:srgbClr val="0B2E4A"/>
                          </a:solidFill>
                          <a:latin typeface="Calibri"/>
                        </a:rPr>
                        <a:t>Channels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50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3,374</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591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953439" y="3082289"/>
            <a:ext cx="366712" cy="533400"/>
          </a:xfrm>
          <a:prstGeom prst="rect">
            <a:avLst/>
          </a:prstGeom>
        </p:spPr>
      </p:pic>
    </p:spTree>
  </p:cSld>
  <p:clrMapOvr>
    <a:masterClrMapping/>
  </p:clrMapOvr>
</p:sld>
</file>

<file path=ppt/slides/slide1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Snapshot: Packaging Type × Distribution Channel,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Global market value (US$ Mn) for each packaging type sub-segment across distribution channel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Flow, Packaging Type → Distribution Channel, 2036F (US$ Mn)</a:t>
            </a:r>
          </a:p>
        </p:txBody>
      </p:sp>
      <p:sp>
        <p:nvSpPr>
          <p:cNvPr id="12" name="Freeform 11"/>
          <p:cNvSpPr/>
          <p:nvPr/>
        </p:nvSpPr>
        <p:spPr>
          <a:xfrm>
            <a:off x="2057400" y="1304925"/>
            <a:ext cx="3743325" cy="276225"/>
          </a:xfrm>
          <a:custGeom>
            <a:avLst/>
            <a:gdLst/>
            <a:ahLst/>
            <a:cxnLst/>
            <a:rect l="l" t="t" r="r" b="b"/>
            <a:pathLst>
              <a:path w="393" h="29">
                <a:moveTo>
                  <a:pt x="0" y="0"/>
                </a:moveTo>
                <a:lnTo>
                  <a:pt x="16" y="0"/>
                </a:lnTo>
                <a:lnTo>
                  <a:pt x="33" y="0"/>
                </a:lnTo>
                <a:lnTo>
                  <a:pt x="49" y="0"/>
                </a:lnTo>
                <a:lnTo>
                  <a:pt x="65" y="0"/>
                </a:lnTo>
                <a:lnTo>
                  <a:pt x="82" y="1"/>
                </a:lnTo>
                <a:lnTo>
                  <a:pt x="98" y="1"/>
                </a:lnTo>
                <a:lnTo>
                  <a:pt x="114" y="1"/>
                </a:lnTo>
                <a:lnTo>
                  <a:pt x="131" y="2"/>
                </a:lnTo>
                <a:lnTo>
                  <a:pt x="147" y="2"/>
                </a:lnTo>
                <a:lnTo>
                  <a:pt x="164" y="2"/>
                </a:lnTo>
                <a:lnTo>
                  <a:pt x="180" y="3"/>
                </a:lnTo>
                <a:lnTo>
                  <a:pt x="196" y="3"/>
                </a:lnTo>
                <a:lnTo>
                  <a:pt x="213" y="3"/>
                </a:lnTo>
                <a:lnTo>
                  <a:pt x="229" y="4"/>
                </a:lnTo>
                <a:lnTo>
                  <a:pt x="246" y="4"/>
                </a:lnTo>
                <a:lnTo>
                  <a:pt x="262" y="4"/>
                </a:lnTo>
                <a:lnTo>
                  <a:pt x="278" y="5"/>
                </a:lnTo>
                <a:lnTo>
                  <a:pt x="295" y="5"/>
                </a:lnTo>
                <a:lnTo>
                  <a:pt x="311" y="5"/>
                </a:lnTo>
                <a:lnTo>
                  <a:pt x="327" y="6"/>
                </a:lnTo>
                <a:lnTo>
                  <a:pt x="344" y="6"/>
                </a:lnTo>
                <a:lnTo>
                  <a:pt x="360" y="6"/>
                </a:lnTo>
                <a:lnTo>
                  <a:pt x="377" y="6"/>
                </a:lnTo>
                <a:lnTo>
                  <a:pt x="393" y="6"/>
                </a:lnTo>
                <a:lnTo>
                  <a:pt x="393" y="29"/>
                </a:lnTo>
                <a:lnTo>
                  <a:pt x="377" y="29"/>
                </a:lnTo>
                <a:lnTo>
                  <a:pt x="360" y="29"/>
                </a:lnTo>
                <a:lnTo>
                  <a:pt x="344" y="29"/>
                </a:lnTo>
                <a:lnTo>
                  <a:pt x="327" y="29"/>
                </a:lnTo>
                <a:lnTo>
                  <a:pt x="311" y="28"/>
                </a:lnTo>
                <a:lnTo>
                  <a:pt x="295" y="28"/>
                </a:lnTo>
                <a:lnTo>
                  <a:pt x="278" y="28"/>
                </a:lnTo>
                <a:lnTo>
                  <a:pt x="262" y="27"/>
                </a:lnTo>
                <a:lnTo>
                  <a:pt x="246" y="27"/>
                </a:lnTo>
                <a:lnTo>
                  <a:pt x="229" y="27"/>
                </a:lnTo>
                <a:lnTo>
                  <a:pt x="213" y="26"/>
                </a:lnTo>
                <a:lnTo>
                  <a:pt x="196" y="26"/>
                </a:lnTo>
                <a:lnTo>
                  <a:pt x="180" y="26"/>
                </a:lnTo>
                <a:lnTo>
                  <a:pt x="164" y="25"/>
                </a:lnTo>
                <a:lnTo>
                  <a:pt x="147" y="25"/>
                </a:lnTo>
                <a:lnTo>
                  <a:pt x="131" y="25"/>
                </a:lnTo>
                <a:lnTo>
                  <a:pt x="114" y="24"/>
                </a:lnTo>
                <a:lnTo>
                  <a:pt x="98" y="24"/>
                </a:lnTo>
                <a:lnTo>
                  <a:pt x="82" y="24"/>
                </a:lnTo>
                <a:lnTo>
                  <a:pt x="65" y="23"/>
                </a:lnTo>
                <a:lnTo>
                  <a:pt x="49" y="23"/>
                </a:lnTo>
                <a:lnTo>
                  <a:pt x="33" y="23"/>
                </a:lnTo>
                <a:lnTo>
                  <a:pt x="16" y="23"/>
                </a:lnTo>
                <a:lnTo>
                  <a:pt x="0" y="2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24000"/>
            <a:ext cx="3743325" cy="1333500"/>
          </a:xfrm>
          <a:custGeom>
            <a:avLst/>
            <a:gdLst/>
            <a:ahLst/>
            <a:cxnLst/>
            <a:rect l="l" t="t" r="r" b="b"/>
            <a:pathLst>
              <a:path w="393" h="140">
                <a:moveTo>
                  <a:pt x="0" y="0"/>
                </a:moveTo>
                <a:lnTo>
                  <a:pt x="16" y="1"/>
                </a:lnTo>
                <a:lnTo>
                  <a:pt x="33" y="2"/>
                </a:lnTo>
                <a:lnTo>
                  <a:pt x="49" y="5"/>
                </a:lnTo>
                <a:lnTo>
                  <a:pt x="65" y="9"/>
                </a:lnTo>
                <a:lnTo>
                  <a:pt x="82" y="13"/>
                </a:lnTo>
                <a:lnTo>
                  <a:pt x="98" y="19"/>
                </a:lnTo>
                <a:lnTo>
                  <a:pt x="114" y="25"/>
                </a:lnTo>
                <a:lnTo>
                  <a:pt x="131" y="31"/>
                </a:lnTo>
                <a:lnTo>
                  <a:pt x="147" y="38"/>
                </a:lnTo>
                <a:lnTo>
                  <a:pt x="164" y="45"/>
                </a:lnTo>
                <a:lnTo>
                  <a:pt x="180" y="52"/>
                </a:lnTo>
                <a:lnTo>
                  <a:pt x="196" y="60"/>
                </a:lnTo>
                <a:lnTo>
                  <a:pt x="213" y="67"/>
                </a:lnTo>
                <a:lnTo>
                  <a:pt x="229" y="75"/>
                </a:lnTo>
                <a:lnTo>
                  <a:pt x="246" y="82"/>
                </a:lnTo>
                <a:lnTo>
                  <a:pt x="262" y="89"/>
                </a:lnTo>
                <a:lnTo>
                  <a:pt x="278" y="95"/>
                </a:lnTo>
                <a:lnTo>
                  <a:pt x="295" y="101"/>
                </a:lnTo>
                <a:lnTo>
                  <a:pt x="311" y="106"/>
                </a:lnTo>
                <a:lnTo>
                  <a:pt x="327" y="111"/>
                </a:lnTo>
                <a:lnTo>
                  <a:pt x="344" y="115"/>
                </a:lnTo>
                <a:lnTo>
                  <a:pt x="360" y="118"/>
                </a:lnTo>
                <a:lnTo>
                  <a:pt x="377" y="119"/>
                </a:lnTo>
                <a:lnTo>
                  <a:pt x="393" y="120"/>
                </a:lnTo>
                <a:lnTo>
                  <a:pt x="393" y="140"/>
                </a:lnTo>
                <a:lnTo>
                  <a:pt x="377" y="139"/>
                </a:lnTo>
                <a:lnTo>
                  <a:pt x="360" y="137"/>
                </a:lnTo>
                <a:lnTo>
                  <a:pt x="344" y="135"/>
                </a:lnTo>
                <a:lnTo>
                  <a:pt x="327" y="131"/>
                </a:lnTo>
                <a:lnTo>
                  <a:pt x="311" y="126"/>
                </a:lnTo>
                <a:lnTo>
                  <a:pt x="295" y="121"/>
                </a:lnTo>
                <a:lnTo>
                  <a:pt x="278" y="115"/>
                </a:lnTo>
                <a:lnTo>
                  <a:pt x="262" y="109"/>
                </a:lnTo>
                <a:lnTo>
                  <a:pt x="246" y="102"/>
                </a:lnTo>
                <a:lnTo>
                  <a:pt x="229" y="95"/>
                </a:lnTo>
                <a:lnTo>
                  <a:pt x="213" y="87"/>
                </a:lnTo>
                <a:lnTo>
                  <a:pt x="196" y="80"/>
                </a:lnTo>
                <a:lnTo>
                  <a:pt x="180" y="72"/>
                </a:lnTo>
                <a:lnTo>
                  <a:pt x="164" y="65"/>
                </a:lnTo>
                <a:lnTo>
                  <a:pt x="147" y="58"/>
                </a:lnTo>
                <a:lnTo>
                  <a:pt x="131" y="51"/>
                </a:lnTo>
                <a:lnTo>
                  <a:pt x="114" y="44"/>
                </a:lnTo>
                <a:lnTo>
                  <a:pt x="98" y="39"/>
                </a:lnTo>
                <a:lnTo>
                  <a:pt x="82" y="33"/>
                </a:lnTo>
                <a:lnTo>
                  <a:pt x="65" y="29"/>
                </a:lnTo>
                <a:lnTo>
                  <a:pt x="49" y="25"/>
                </a:lnTo>
                <a:lnTo>
                  <a:pt x="33" y="22"/>
                </a:lnTo>
                <a:lnTo>
                  <a:pt x="16" y="20"/>
                </a:lnTo>
                <a:lnTo>
                  <a:pt x="0" y="20"/>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714500"/>
            <a:ext cx="3743325" cy="2152650"/>
          </a:xfrm>
          <a:custGeom>
            <a:avLst/>
            <a:gdLst/>
            <a:ahLst/>
            <a:cxnLst/>
            <a:rect l="l" t="t" r="r" b="b"/>
            <a:pathLst>
              <a:path w="393" h="226">
                <a:moveTo>
                  <a:pt x="0" y="0"/>
                </a:moveTo>
                <a:lnTo>
                  <a:pt x="16" y="1"/>
                </a:lnTo>
                <a:lnTo>
                  <a:pt x="33" y="4"/>
                </a:lnTo>
                <a:lnTo>
                  <a:pt x="49" y="9"/>
                </a:lnTo>
                <a:lnTo>
                  <a:pt x="65" y="15"/>
                </a:lnTo>
                <a:lnTo>
                  <a:pt x="82" y="23"/>
                </a:lnTo>
                <a:lnTo>
                  <a:pt x="98" y="32"/>
                </a:lnTo>
                <a:lnTo>
                  <a:pt x="114" y="43"/>
                </a:lnTo>
                <a:lnTo>
                  <a:pt x="131" y="54"/>
                </a:lnTo>
                <a:lnTo>
                  <a:pt x="147" y="66"/>
                </a:lnTo>
                <a:lnTo>
                  <a:pt x="164" y="78"/>
                </a:lnTo>
                <a:lnTo>
                  <a:pt x="180" y="91"/>
                </a:lnTo>
                <a:lnTo>
                  <a:pt x="196" y="104"/>
                </a:lnTo>
                <a:lnTo>
                  <a:pt x="213" y="117"/>
                </a:lnTo>
                <a:lnTo>
                  <a:pt x="229" y="130"/>
                </a:lnTo>
                <a:lnTo>
                  <a:pt x="246" y="143"/>
                </a:lnTo>
                <a:lnTo>
                  <a:pt x="262" y="154"/>
                </a:lnTo>
                <a:lnTo>
                  <a:pt x="278" y="166"/>
                </a:lnTo>
                <a:lnTo>
                  <a:pt x="295" y="176"/>
                </a:lnTo>
                <a:lnTo>
                  <a:pt x="311" y="185"/>
                </a:lnTo>
                <a:lnTo>
                  <a:pt x="327" y="193"/>
                </a:lnTo>
                <a:lnTo>
                  <a:pt x="344" y="200"/>
                </a:lnTo>
                <a:lnTo>
                  <a:pt x="360" y="205"/>
                </a:lnTo>
                <a:lnTo>
                  <a:pt x="377" y="208"/>
                </a:lnTo>
                <a:lnTo>
                  <a:pt x="393" y="209"/>
                </a:lnTo>
                <a:lnTo>
                  <a:pt x="393" y="226"/>
                </a:lnTo>
                <a:lnTo>
                  <a:pt x="377" y="225"/>
                </a:lnTo>
                <a:lnTo>
                  <a:pt x="360" y="222"/>
                </a:lnTo>
                <a:lnTo>
                  <a:pt x="344" y="217"/>
                </a:lnTo>
                <a:lnTo>
                  <a:pt x="327" y="210"/>
                </a:lnTo>
                <a:lnTo>
                  <a:pt x="311" y="202"/>
                </a:lnTo>
                <a:lnTo>
                  <a:pt x="295" y="193"/>
                </a:lnTo>
                <a:lnTo>
                  <a:pt x="278" y="183"/>
                </a:lnTo>
                <a:lnTo>
                  <a:pt x="262" y="172"/>
                </a:lnTo>
                <a:lnTo>
                  <a:pt x="246" y="160"/>
                </a:lnTo>
                <a:lnTo>
                  <a:pt x="229" y="147"/>
                </a:lnTo>
                <a:lnTo>
                  <a:pt x="213" y="134"/>
                </a:lnTo>
                <a:lnTo>
                  <a:pt x="196" y="121"/>
                </a:lnTo>
                <a:lnTo>
                  <a:pt x="180" y="108"/>
                </a:lnTo>
                <a:lnTo>
                  <a:pt x="164" y="96"/>
                </a:lnTo>
                <a:lnTo>
                  <a:pt x="147" y="83"/>
                </a:lnTo>
                <a:lnTo>
                  <a:pt x="131" y="71"/>
                </a:lnTo>
                <a:lnTo>
                  <a:pt x="114" y="60"/>
                </a:lnTo>
                <a:lnTo>
                  <a:pt x="98" y="50"/>
                </a:lnTo>
                <a:lnTo>
                  <a:pt x="82" y="40"/>
                </a:lnTo>
                <a:lnTo>
                  <a:pt x="65" y="32"/>
                </a:lnTo>
                <a:lnTo>
                  <a:pt x="49" y="26"/>
                </a:lnTo>
                <a:lnTo>
                  <a:pt x="33" y="21"/>
                </a:lnTo>
                <a:lnTo>
                  <a:pt x="16" y="18"/>
                </a:lnTo>
                <a:lnTo>
                  <a:pt x="0" y="17"/>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876425"/>
            <a:ext cx="3743325" cy="2828925"/>
          </a:xfrm>
          <a:custGeom>
            <a:avLst/>
            <a:gdLst/>
            <a:ahLst/>
            <a:cxnLst/>
            <a:rect l="l" t="t" r="r" b="b"/>
            <a:pathLst>
              <a:path w="393" h="297">
                <a:moveTo>
                  <a:pt x="0" y="0"/>
                </a:moveTo>
                <a:lnTo>
                  <a:pt x="16" y="1"/>
                </a:lnTo>
                <a:lnTo>
                  <a:pt x="33" y="6"/>
                </a:lnTo>
                <a:lnTo>
                  <a:pt x="49" y="12"/>
                </a:lnTo>
                <a:lnTo>
                  <a:pt x="65" y="21"/>
                </a:lnTo>
                <a:lnTo>
                  <a:pt x="82" y="32"/>
                </a:lnTo>
                <a:lnTo>
                  <a:pt x="98" y="45"/>
                </a:lnTo>
                <a:lnTo>
                  <a:pt x="114" y="59"/>
                </a:lnTo>
                <a:lnTo>
                  <a:pt x="131" y="74"/>
                </a:lnTo>
                <a:lnTo>
                  <a:pt x="147" y="90"/>
                </a:lnTo>
                <a:lnTo>
                  <a:pt x="164" y="107"/>
                </a:lnTo>
                <a:lnTo>
                  <a:pt x="180" y="125"/>
                </a:lnTo>
                <a:lnTo>
                  <a:pt x="196" y="143"/>
                </a:lnTo>
                <a:lnTo>
                  <a:pt x="213" y="161"/>
                </a:lnTo>
                <a:lnTo>
                  <a:pt x="229" y="178"/>
                </a:lnTo>
                <a:lnTo>
                  <a:pt x="246" y="195"/>
                </a:lnTo>
                <a:lnTo>
                  <a:pt x="262" y="212"/>
                </a:lnTo>
                <a:lnTo>
                  <a:pt x="278" y="227"/>
                </a:lnTo>
                <a:lnTo>
                  <a:pt x="295" y="241"/>
                </a:lnTo>
                <a:lnTo>
                  <a:pt x="311" y="254"/>
                </a:lnTo>
                <a:lnTo>
                  <a:pt x="327" y="265"/>
                </a:lnTo>
                <a:lnTo>
                  <a:pt x="344" y="273"/>
                </a:lnTo>
                <a:lnTo>
                  <a:pt x="360" y="280"/>
                </a:lnTo>
                <a:lnTo>
                  <a:pt x="377" y="284"/>
                </a:lnTo>
                <a:lnTo>
                  <a:pt x="393" y="286"/>
                </a:lnTo>
                <a:lnTo>
                  <a:pt x="393" y="297"/>
                </a:lnTo>
                <a:lnTo>
                  <a:pt x="377" y="296"/>
                </a:lnTo>
                <a:lnTo>
                  <a:pt x="360" y="292"/>
                </a:lnTo>
                <a:lnTo>
                  <a:pt x="344" y="285"/>
                </a:lnTo>
                <a:lnTo>
                  <a:pt x="327" y="276"/>
                </a:lnTo>
                <a:lnTo>
                  <a:pt x="311" y="265"/>
                </a:lnTo>
                <a:lnTo>
                  <a:pt x="295" y="252"/>
                </a:lnTo>
                <a:lnTo>
                  <a:pt x="278" y="238"/>
                </a:lnTo>
                <a:lnTo>
                  <a:pt x="262" y="223"/>
                </a:lnTo>
                <a:lnTo>
                  <a:pt x="246" y="207"/>
                </a:lnTo>
                <a:lnTo>
                  <a:pt x="229" y="190"/>
                </a:lnTo>
                <a:lnTo>
                  <a:pt x="213" y="172"/>
                </a:lnTo>
                <a:lnTo>
                  <a:pt x="196" y="154"/>
                </a:lnTo>
                <a:lnTo>
                  <a:pt x="180" y="136"/>
                </a:lnTo>
                <a:lnTo>
                  <a:pt x="164" y="119"/>
                </a:lnTo>
                <a:lnTo>
                  <a:pt x="147" y="102"/>
                </a:lnTo>
                <a:lnTo>
                  <a:pt x="131" y="85"/>
                </a:lnTo>
                <a:lnTo>
                  <a:pt x="114" y="70"/>
                </a:lnTo>
                <a:lnTo>
                  <a:pt x="98" y="56"/>
                </a:lnTo>
                <a:lnTo>
                  <a:pt x="82" y="43"/>
                </a:lnTo>
                <a:lnTo>
                  <a:pt x="65" y="33"/>
                </a:lnTo>
                <a:lnTo>
                  <a:pt x="49" y="24"/>
                </a:lnTo>
                <a:lnTo>
                  <a:pt x="33" y="17"/>
                </a:lnTo>
                <a:lnTo>
                  <a:pt x="16" y="13"/>
                </a:lnTo>
                <a:lnTo>
                  <a:pt x="0" y="11"/>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1981200"/>
            <a:ext cx="3743325" cy="3409950"/>
          </a:xfrm>
          <a:custGeom>
            <a:avLst/>
            <a:gdLst/>
            <a:ahLst/>
            <a:cxnLst/>
            <a:rect l="l" t="t" r="r" b="b"/>
            <a:pathLst>
              <a:path w="393" h="358">
                <a:moveTo>
                  <a:pt x="0" y="0"/>
                </a:moveTo>
                <a:lnTo>
                  <a:pt x="16" y="2"/>
                </a:lnTo>
                <a:lnTo>
                  <a:pt x="33" y="7"/>
                </a:lnTo>
                <a:lnTo>
                  <a:pt x="49" y="15"/>
                </a:lnTo>
                <a:lnTo>
                  <a:pt x="65" y="26"/>
                </a:lnTo>
                <a:lnTo>
                  <a:pt x="82" y="40"/>
                </a:lnTo>
                <a:lnTo>
                  <a:pt x="98" y="55"/>
                </a:lnTo>
                <a:lnTo>
                  <a:pt x="114" y="72"/>
                </a:lnTo>
                <a:lnTo>
                  <a:pt x="131" y="91"/>
                </a:lnTo>
                <a:lnTo>
                  <a:pt x="147" y="111"/>
                </a:lnTo>
                <a:lnTo>
                  <a:pt x="164" y="132"/>
                </a:lnTo>
                <a:lnTo>
                  <a:pt x="180" y="153"/>
                </a:lnTo>
                <a:lnTo>
                  <a:pt x="196" y="175"/>
                </a:lnTo>
                <a:lnTo>
                  <a:pt x="213" y="197"/>
                </a:lnTo>
                <a:lnTo>
                  <a:pt x="229" y="218"/>
                </a:lnTo>
                <a:lnTo>
                  <a:pt x="246" y="239"/>
                </a:lnTo>
                <a:lnTo>
                  <a:pt x="262" y="259"/>
                </a:lnTo>
                <a:lnTo>
                  <a:pt x="278" y="278"/>
                </a:lnTo>
                <a:lnTo>
                  <a:pt x="295" y="295"/>
                </a:lnTo>
                <a:lnTo>
                  <a:pt x="311" y="310"/>
                </a:lnTo>
                <a:lnTo>
                  <a:pt x="327" y="324"/>
                </a:lnTo>
                <a:lnTo>
                  <a:pt x="344" y="335"/>
                </a:lnTo>
                <a:lnTo>
                  <a:pt x="360" y="343"/>
                </a:lnTo>
                <a:lnTo>
                  <a:pt x="377" y="348"/>
                </a:lnTo>
                <a:lnTo>
                  <a:pt x="393" y="350"/>
                </a:lnTo>
                <a:lnTo>
                  <a:pt x="393" y="358"/>
                </a:lnTo>
                <a:lnTo>
                  <a:pt x="377" y="357"/>
                </a:lnTo>
                <a:lnTo>
                  <a:pt x="360" y="352"/>
                </a:lnTo>
                <a:lnTo>
                  <a:pt x="344" y="343"/>
                </a:lnTo>
                <a:lnTo>
                  <a:pt x="327" y="333"/>
                </a:lnTo>
                <a:lnTo>
                  <a:pt x="311" y="319"/>
                </a:lnTo>
                <a:lnTo>
                  <a:pt x="295" y="304"/>
                </a:lnTo>
                <a:lnTo>
                  <a:pt x="278" y="287"/>
                </a:lnTo>
                <a:lnTo>
                  <a:pt x="262" y="268"/>
                </a:lnTo>
                <a:lnTo>
                  <a:pt x="246" y="248"/>
                </a:lnTo>
                <a:lnTo>
                  <a:pt x="229" y="227"/>
                </a:lnTo>
                <a:lnTo>
                  <a:pt x="213" y="206"/>
                </a:lnTo>
                <a:lnTo>
                  <a:pt x="196" y="184"/>
                </a:lnTo>
                <a:lnTo>
                  <a:pt x="180" y="162"/>
                </a:lnTo>
                <a:lnTo>
                  <a:pt x="164" y="141"/>
                </a:lnTo>
                <a:lnTo>
                  <a:pt x="147" y="120"/>
                </a:lnTo>
                <a:lnTo>
                  <a:pt x="131" y="100"/>
                </a:lnTo>
                <a:lnTo>
                  <a:pt x="114" y="81"/>
                </a:lnTo>
                <a:lnTo>
                  <a:pt x="98" y="64"/>
                </a:lnTo>
                <a:lnTo>
                  <a:pt x="82" y="48"/>
                </a:lnTo>
                <a:lnTo>
                  <a:pt x="65" y="35"/>
                </a:lnTo>
                <a:lnTo>
                  <a:pt x="49" y="24"/>
                </a:lnTo>
                <a:lnTo>
                  <a:pt x="33" y="16"/>
                </a:lnTo>
                <a:lnTo>
                  <a:pt x="16" y="11"/>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066925"/>
            <a:ext cx="3743325" cy="3800475"/>
          </a:xfrm>
          <a:custGeom>
            <a:avLst/>
            <a:gdLst/>
            <a:ahLst/>
            <a:cxnLst/>
            <a:rect l="l" t="t" r="r" b="b"/>
            <a:pathLst>
              <a:path w="393" h="399">
                <a:moveTo>
                  <a:pt x="0" y="0"/>
                </a:moveTo>
                <a:lnTo>
                  <a:pt x="16" y="2"/>
                </a:lnTo>
                <a:lnTo>
                  <a:pt x="33" y="8"/>
                </a:lnTo>
                <a:lnTo>
                  <a:pt x="49" y="17"/>
                </a:lnTo>
                <a:lnTo>
                  <a:pt x="65" y="29"/>
                </a:lnTo>
                <a:lnTo>
                  <a:pt x="82" y="44"/>
                </a:lnTo>
                <a:lnTo>
                  <a:pt x="98" y="62"/>
                </a:lnTo>
                <a:lnTo>
                  <a:pt x="114" y="81"/>
                </a:lnTo>
                <a:lnTo>
                  <a:pt x="131" y="102"/>
                </a:lnTo>
                <a:lnTo>
                  <a:pt x="147" y="124"/>
                </a:lnTo>
                <a:lnTo>
                  <a:pt x="164" y="148"/>
                </a:lnTo>
                <a:lnTo>
                  <a:pt x="180" y="172"/>
                </a:lnTo>
                <a:lnTo>
                  <a:pt x="196" y="196"/>
                </a:lnTo>
                <a:lnTo>
                  <a:pt x="213" y="221"/>
                </a:lnTo>
                <a:lnTo>
                  <a:pt x="229" y="245"/>
                </a:lnTo>
                <a:lnTo>
                  <a:pt x="246" y="268"/>
                </a:lnTo>
                <a:lnTo>
                  <a:pt x="262" y="291"/>
                </a:lnTo>
                <a:lnTo>
                  <a:pt x="278" y="312"/>
                </a:lnTo>
                <a:lnTo>
                  <a:pt x="295" y="331"/>
                </a:lnTo>
                <a:lnTo>
                  <a:pt x="311" y="349"/>
                </a:lnTo>
                <a:lnTo>
                  <a:pt x="327" y="364"/>
                </a:lnTo>
                <a:lnTo>
                  <a:pt x="344" y="376"/>
                </a:lnTo>
                <a:lnTo>
                  <a:pt x="360" y="385"/>
                </a:lnTo>
                <a:lnTo>
                  <a:pt x="377" y="391"/>
                </a:lnTo>
                <a:lnTo>
                  <a:pt x="393" y="393"/>
                </a:lnTo>
                <a:lnTo>
                  <a:pt x="393" y="399"/>
                </a:lnTo>
                <a:lnTo>
                  <a:pt x="377" y="397"/>
                </a:lnTo>
                <a:lnTo>
                  <a:pt x="360" y="391"/>
                </a:lnTo>
                <a:lnTo>
                  <a:pt x="344" y="382"/>
                </a:lnTo>
                <a:lnTo>
                  <a:pt x="327" y="370"/>
                </a:lnTo>
                <a:lnTo>
                  <a:pt x="311" y="355"/>
                </a:lnTo>
                <a:lnTo>
                  <a:pt x="295" y="338"/>
                </a:lnTo>
                <a:lnTo>
                  <a:pt x="278" y="318"/>
                </a:lnTo>
                <a:lnTo>
                  <a:pt x="262" y="297"/>
                </a:lnTo>
                <a:lnTo>
                  <a:pt x="246" y="275"/>
                </a:lnTo>
                <a:lnTo>
                  <a:pt x="229" y="251"/>
                </a:lnTo>
                <a:lnTo>
                  <a:pt x="213" y="227"/>
                </a:lnTo>
                <a:lnTo>
                  <a:pt x="196" y="203"/>
                </a:lnTo>
                <a:lnTo>
                  <a:pt x="180" y="178"/>
                </a:lnTo>
                <a:lnTo>
                  <a:pt x="164" y="154"/>
                </a:lnTo>
                <a:lnTo>
                  <a:pt x="147" y="131"/>
                </a:lnTo>
                <a:lnTo>
                  <a:pt x="131" y="108"/>
                </a:lnTo>
                <a:lnTo>
                  <a:pt x="114" y="87"/>
                </a:lnTo>
                <a:lnTo>
                  <a:pt x="98" y="68"/>
                </a:lnTo>
                <a:lnTo>
                  <a:pt x="82" y="51"/>
                </a:lnTo>
                <a:lnTo>
                  <a:pt x="65" y="36"/>
                </a:lnTo>
                <a:lnTo>
                  <a:pt x="49" y="23"/>
                </a:lnTo>
                <a:lnTo>
                  <a:pt x="33" y="14"/>
                </a:lnTo>
                <a:lnTo>
                  <a:pt x="16" y="9"/>
                </a:lnTo>
                <a:lnTo>
                  <a:pt x="0" y="7"/>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2133600"/>
            <a:ext cx="3743325" cy="4143375"/>
          </a:xfrm>
          <a:custGeom>
            <a:avLst/>
            <a:gdLst/>
            <a:ahLst/>
            <a:cxnLst/>
            <a:rect l="l" t="t" r="r" b="b"/>
            <a:pathLst>
              <a:path w="393" h="435">
                <a:moveTo>
                  <a:pt x="0" y="0"/>
                </a:moveTo>
                <a:lnTo>
                  <a:pt x="16" y="2"/>
                </a:lnTo>
                <a:lnTo>
                  <a:pt x="33" y="8"/>
                </a:lnTo>
                <a:lnTo>
                  <a:pt x="49" y="18"/>
                </a:lnTo>
                <a:lnTo>
                  <a:pt x="65" y="31"/>
                </a:lnTo>
                <a:lnTo>
                  <a:pt x="82" y="48"/>
                </a:lnTo>
                <a:lnTo>
                  <a:pt x="98" y="67"/>
                </a:lnTo>
                <a:lnTo>
                  <a:pt x="114" y="88"/>
                </a:lnTo>
                <a:lnTo>
                  <a:pt x="131" y="111"/>
                </a:lnTo>
                <a:lnTo>
                  <a:pt x="147" y="136"/>
                </a:lnTo>
                <a:lnTo>
                  <a:pt x="164" y="162"/>
                </a:lnTo>
                <a:lnTo>
                  <a:pt x="180" y="188"/>
                </a:lnTo>
                <a:lnTo>
                  <a:pt x="196" y="215"/>
                </a:lnTo>
                <a:lnTo>
                  <a:pt x="213" y="242"/>
                </a:lnTo>
                <a:lnTo>
                  <a:pt x="229" y="268"/>
                </a:lnTo>
                <a:lnTo>
                  <a:pt x="246" y="294"/>
                </a:lnTo>
                <a:lnTo>
                  <a:pt x="262" y="318"/>
                </a:lnTo>
                <a:lnTo>
                  <a:pt x="278" y="342"/>
                </a:lnTo>
                <a:lnTo>
                  <a:pt x="295" y="363"/>
                </a:lnTo>
                <a:lnTo>
                  <a:pt x="311" y="382"/>
                </a:lnTo>
                <a:lnTo>
                  <a:pt x="327" y="398"/>
                </a:lnTo>
                <a:lnTo>
                  <a:pt x="344" y="412"/>
                </a:lnTo>
                <a:lnTo>
                  <a:pt x="360" y="422"/>
                </a:lnTo>
                <a:lnTo>
                  <a:pt x="377" y="428"/>
                </a:lnTo>
                <a:lnTo>
                  <a:pt x="393" y="430"/>
                </a:lnTo>
                <a:lnTo>
                  <a:pt x="393" y="435"/>
                </a:lnTo>
                <a:lnTo>
                  <a:pt x="377" y="432"/>
                </a:lnTo>
                <a:lnTo>
                  <a:pt x="360" y="426"/>
                </a:lnTo>
                <a:lnTo>
                  <a:pt x="344" y="416"/>
                </a:lnTo>
                <a:lnTo>
                  <a:pt x="327" y="403"/>
                </a:lnTo>
                <a:lnTo>
                  <a:pt x="311" y="386"/>
                </a:lnTo>
                <a:lnTo>
                  <a:pt x="295" y="367"/>
                </a:lnTo>
                <a:lnTo>
                  <a:pt x="278" y="346"/>
                </a:lnTo>
                <a:lnTo>
                  <a:pt x="262" y="323"/>
                </a:lnTo>
                <a:lnTo>
                  <a:pt x="246" y="298"/>
                </a:lnTo>
                <a:lnTo>
                  <a:pt x="229" y="273"/>
                </a:lnTo>
                <a:lnTo>
                  <a:pt x="213" y="246"/>
                </a:lnTo>
                <a:lnTo>
                  <a:pt x="196" y="219"/>
                </a:lnTo>
                <a:lnTo>
                  <a:pt x="180" y="193"/>
                </a:lnTo>
                <a:lnTo>
                  <a:pt x="164" y="166"/>
                </a:lnTo>
                <a:lnTo>
                  <a:pt x="147" y="140"/>
                </a:lnTo>
                <a:lnTo>
                  <a:pt x="131" y="116"/>
                </a:lnTo>
                <a:lnTo>
                  <a:pt x="114" y="93"/>
                </a:lnTo>
                <a:lnTo>
                  <a:pt x="98" y="71"/>
                </a:lnTo>
                <a:lnTo>
                  <a:pt x="82" y="52"/>
                </a:lnTo>
                <a:lnTo>
                  <a:pt x="65" y="36"/>
                </a:lnTo>
                <a:lnTo>
                  <a:pt x="49" y="23"/>
                </a:lnTo>
                <a:lnTo>
                  <a:pt x="33" y="13"/>
                </a:lnTo>
                <a:lnTo>
                  <a:pt x="16" y="6"/>
                </a:lnTo>
                <a:lnTo>
                  <a:pt x="0" y="4"/>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1581150"/>
            <a:ext cx="3743325" cy="876300"/>
          </a:xfrm>
          <a:custGeom>
            <a:avLst/>
            <a:gdLst/>
            <a:ahLst/>
            <a:cxnLst/>
            <a:rect l="l" t="t" r="r" b="b"/>
            <a:pathLst>
              <a:path w="393" h="92">
                <a:moveTo>
                  <a:pt x="0" y="68"/>
                </a:moveTo>
                <a:lnTo>
                  <a:pt x="16" y="68"/>
                </a:lnTo>
                <a:lnTo>
                  <a:pt x="33" y="67"/>
                </a:lnTo>
                <a:lnTo>
                  <a:pt x="49" y="65"/>
                </a:lnTo>
                <a:lnTo>
                  <a:pt x="65" y="63"/>
                </a:lnTo>
                <a:lnTo>
                  <a:pt x="82" y="61"/>
                </a:lnTo>
                <a:lnTo>
                  <a:pt x="98" y="58"/>
                </a:lnTo>
                <a:lnTo>
                  <a:pt x="114" y="54"/>
                </a:lnTo>
                <a:lnTo>
                  <a:pt x="131" y="51"/>
                </a:lnTo>
                <a:lnTo>
                  <a:pt x="147" y="47"/>
                </a:lnTo>
                <a:lnTo>
                  <a:pt x="164" y="43"/>
                </a:lnTo>
                <a:lnTo>
                  <a:pt x="180" y="38"/>
                </a:lnTo>
                <a:lnTo>
                  <a:pt x="196" y="34"/>
                </a:lnTo>
                <a:lnTo>
                  <a:pt x="213" y="30"/>
                </a:lnTo>
                <a:lnTo>
                  <a:pt x="229" y="26"/>
                </a:lnTo>
                <a:lnTo>
                  <a:pt x="246" y="22"/>
                </a:lnTo>
                <a:lnTo>
                  <a:pt x="262" y="18"/>
                </a:lnTo>
                <a:lnTo>
                  <a:pt x="278" y="14"/>
                </a:lnTo>
                <a:lnTo>
                  <a:pt x="295" y="11"/>
                </a:lnTo>
                <a:lnTo>
                  <a:pt x="311" y="8"/>
                </a:lnTo>
                <a:lnTo>
                  <a:pt x="327" y="5"/>
                </a:lnTo>
                <a:lnTo>
                  <a:pt x="344" y="3"/>
                </a:lnTo>
                <a:lnTo>
                  <a:pt x="360" y="1"/>
                </a:lnTo>
                <a:lnTo>
                  <a:pt x="377" y="0"/>
                </a:lnTo>
                <a:lnTo>
                  <a:pt x="393" y="0"/>
                </a:lnTo>
                <a:lnTo>
                  <a:pt x="393" y="24"/>
                </a:lnTo>
                <a:lnTo>
                  <a:pt x="377" y="25"/>
                </a:lnTo>
                <a:lnTo>
                  <a:pt x="360" y="26"/>
                </a:lnTo>
                <a:lnTo>
                  <a:pt x="344" y="27"/>
                </a:lnTo>
                <a:lnTo>
                  <a:pt x="327" y="29"/>
                </a:lnTo>
                <a:lnTo>
                  <a:pt x="311" y="32"/>
                </a:lnTo>
                <a:lnTo>
                  <a:pt x="295" y="35"/>
                </a:lnTo>
                <a:lnTo>
                  <a:pt x="278" y="38"/>
                </a:lnTo>
                <a:lnTo>
                  <a:pt x="262" y="42"/>
                </a:lnTo>
                <a:lnTo>
                  <a:pt x="246" y="46"/>
                </a:lnTo>
                <a:lnTo>
                  <a:pt x="229" y="50"/>
                </a:lnTo>
                <a:lnTo>
                  <a:pt x="213" y="54"/>
                </a:lnTo>
                <a:lnTo>
                  <a:pt x="196" y="58"/>
                </a:lnTo>
                <a:lnTo>
                  <a:pt x="180" y="63"/>
                </a:lnTo>
                <a:lnTo>
                  <a:pt x="164" y="67"/>
                </a:lnTo>
                <a:lnTo>
                  <a:pt x="147" y="71"/>
                </a:lnTo>
                <a:lnTo>
                  <a:pt x="131" y="75"/>
                </a:lnTo>
                <a:lnTo>
                  <a:pt x="114" y="78"/>
                </a:lnTo>
                <a:lnTo>
                  <a:pt x="98" y="82"/>
                </a:lnTo>
                <a:lnTo>
                  <a:pt x="82" y="85"/>
                </a:lnTo>
                <a:lnTo>
                  <a:pt x="65" y="87"/>
                </a:lnTo>
                <a:lnTo>
                  <a:pt x="49" y="89"/>
                </a:lnTo>
                <a:lnTo>
                  <a:pt x="33" y="91"/>
                </a:lnTo>
                <a:lnTo>
                  <a:pt x="16" y="92"/>
                </a:lnTo>
                <a:lnTo>
                  <a:pt x="0" y="9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457450"/>
            <a:ext cx="3743325" cy="561975"/>
          </a:xfrm>
          <a:custGeom>
            <a:avLst/>
            <a:gdLst/>
            <a:ahLst/>
            <a:cxnLst/>
            <a:rect l="l" t="t" r="r" b="b"/>
            <a:pathLst>
              <a:path w="393" h="59">
                <a:moveTo>
                  <a:pt x="0" y="0"/>
                </a:moveTo>
                <a:lnTo>
                  <a:pt x="16" y="1"/>
                </a:lnTo>
                <a:lnTo>
                  <a:pt x="33" y="1"/>
                </a:lnTo>
                <a:lnTo>
                  <a:pt x="49" y="2"/>
                </a:lnTo>
                <a:lnTo>
                  <a:pt x="65" y="3"/>
                </a:lnTo>
                <a:lnTo>
                  <a:pt x="82" y="5"/>
                </a:lnTo>
                <a:lnTo>
                  <a:pt x="98" y="7"/>
                </a:lnTo>
                <a:lnTo>
                  <a:pt x="114" y="9"/>
                </a:lnTo>
                <a:lnTo>
                  <a:pt x="131" y="11"/>
                </a:lnTo>
                <a:lnTo>
                  <a:pt x="147" y="13"/>
                </a:lnTo>
                <a:lnTo>
                  <a:pt x="164" y="16"/>
                </a:lnTo>
                <a:lnTo>
                  <a:pt x="180" y="18"/>
                </a:lnTo>
                <a:lnTo>
                  <a:pt x="196" y="21"/>
                </a:lnTo>
                <a:lnTo>
                  <a:pt x="213" y="24"/>
                </a:lnTo>
                <a:lnTo>
                  <a:pt x="229" y="26"/>
                </a:lnTo>
                <a:lnTo>
                  <a:pt x="246" y="29"/>
                </a:lnTo>
                <a:lnTo>
                  <a:pt x="262" y="31"/>
                </a:lnTo>
                <a:lnTo>
                  <a:pt x="278" y="33"/>
                </a:lnTo>
                <a:lnTo>
                  <a:pt x="295" y="35"/>
                </a:lnTo>
                <a:lnTo>
                  <a:pt x="311" y="37"/>
                </a:lnTo>
                <a:lnTo>
                  <a:pt x="327" y="39"/>
                </a:lnTo>
                <a:lnTo>
                  <a:pt x="344" y="40"/>
                </a:lnTo>
                <a:lnTo>
                  <a:pt x="360" y="41"/>
                </a:lnTo>
                <a:lnTo>
                  <a:pt x="377" y="41"/>
                </a:lnTo>
                <a:lnTo>
                  <a:pt x="393" y="42"/>
                </a:lnTo>
                <a:lnTo>
                  <a:pt x="393" y="59"/>
                </a:lnTo>
                <a:lnTo>
                  <a:pt x="377" y="58"/>
                </a:lnTo>
                <a:lnTo>
                  <a:pt x="360" y="58"/>
                </a:lnTo>
                <a:lnTo>
                  <a:pt x="344" y="57"/>
                </a:lnTo>
                <a:lnTo>
                  <a:pt x="327" y="55"/>
                </a:lnTo>
                <a:lnTo>
                  <a:pt x="311" y="54"/>
                </a:lnTo>
                <a:lnTo>
                  <a:pt x="295" y="52"/>
                </a:lnTo>
                <a:lnTo>
                  <a:pt x="278" y="50"/>
                </a:lnTo>
                <a:lnTo>
                  <a:pt x="262" y="48"/>
                </a:lnTo>
                <a:lnTo>
                  <a:pt x="246" y="45"/>
                </a:lnTo>
                <a:lnTo>
                  <a:pt x="229" y="43"/>
                </a:lnTo>
                <a:lnTo>
                  <a:pt x="213" y="40"/>
                </a:lnTo>
                <a:lnTo>
                  <a:pt x="196" y="38"/>
                </a:lnTo>
                <a:lnTo>
                  <a:pt x="180" y="35"/>
                </a:lnTo>
                <a:lnTo>
                  <a:pt x="164" y="33"/>
                </a:lnTo>
                <a:lnTo>
                  <a:pt x="147" y="30"/>
                </a:lnTo>
                <a:lnTo>
                  <a:pt x="131" y="28"/>
                </a:lnTo>
                <a:lnTo>
                  <a:pt x="114" y="26"/>
                </a:lnTo>
                <a:lnTo>
                  <a:pt x="98" y="24"/>
                </a:lnTo>
                <a:lnTo>
                  <a:pt x="82" y="22"/>
                </a:lnTo>
                <a:lnTo>
                  <a:pt x="65" y="20"/>
                </a:lnTo>
                <a:lnTo>
                  <a:pt x="49" y="19"/>
                </a:lnTo>
                <a:lnTo>
                  <a:pt x="33" y="18"/>
                </a:lnTo>
                <a:lnTo>
                  <a:pt x="16" y="17"/>
                </a:lnTo>
                <a:lnTo>
                  <a:pt x="0" y="17"/>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619375"/>
            <a:ext cx="3743325" cy="1381125"/>
          </a:xfrm>
          <a:custGeom>
            <a:avLst/>
            <a:gdLst/>
            <a:ahLst/>
            <a:cxnLst/>
            <a:rect l="l" t="t" r="r" b="b"/>
            <a:pathLst>
              <a:path w="393" h="145">
                <a:moveTo>
                  <a:pt x="0" y="0"/>
                </a:moveTo>
                <a:lnTo>
                  <a:pt x="16" y="1"/>
                </a:lnTo>
                <a:lnTo>
                  <a:pt x="33" y="3"/>
                </a:lnTo>
                <a:lnTo>
                  <a:pt x="49" y="6"/>
                </a:lnTo>
                <a:lnTo>
                  <a:pt x="65" y="10"/>
                </a:lnTo>
                <a:lnTo>
                  <a:pt x="82" y="15"/>
                </a:lnTo>
                <a:lnTo>
                  <a:pt x="98" y="21"/>
                </a:lnTo>
                <a:lnTo>
                  <a:pt x="114" y="27"/>
                </a:lnTo>
                <a:lnTo>
                  <a:pt x="131" y="34"/>
                </a:lnTo>
                <a:lnTo>
                  <a:pt x="147" y="42"/>
                </a:lnTo>
                <a:lnTo>
                  <a:pt x="164" y="49"/>
                </a:lnTo>
                <a:lnTo>
                  <a:pt x="180" y="57"/>
                </a:lnTo>
                <a:lnTo>
                  <a:pt x="196" y="66"/>
                </a:lnTo>
                <a:lnTo>
                  <a:pt x="213" y="74"/>
                </a:lnTo>
                <a:lnTo>
                  <a:pt x="229" y="82"/>
                </a:lnTo>
                <a:lnTo>
                  <a:pt x="246" y="90"/>
                </a:lnTo>
                <a:lnTo>
                  <a:pt x="262" y="97"/>
                </a:lnTo>
                <a:lnTo>
                  <a:pt x="278" y="104"/>
                </a:lnTo>
                <a:lnTo>
                  <a:pt x="295" y="110"/>
                </a:lnTo>
                <a:lnTo>
                  <a:pt x="311" y="116"/>
                </a:lnTo>
                <a:lnTo>
                  <a:pt x="327" y="121"/>
                </a:lnTo>
                <a:lnTo>
                  <a:pt x="344" y="125"/>
                </a:lnTo>
                <a:lnTo>
                  <a:pt x="360" y="128"/>
                </a:lnTo>
                <a:lnTo>
                  <a:pt x="377" y="130"/>
                </a:lnTo>
                <a:lnTo>
                  <a:pt x="393" y="131"/>
                </a:lnTo>
                <a:lnTo>
                  <a:pt x="393" y="145"/>
                </a:lnTo>
                <a:lnTo>
                  <a:pt x="377" y="145"/>
                </a:lnTo>
                <a:lnTo>
                  <a:pt x="360" y="143"/>
                </a:lnTo>
                <a:lnTo>
                  <a:pt x="344" y="140"/>
                </a:lnTo>
                <a:lnTo>
                  <a:pt x="327" y="136"/>
                </a:lnTo>
                <a:lnTo>
                  <a:pt x="311" y="131"/>
                </a:lnTo>
                <a:lnTo>
                  <a:pt x="295" y="125"/>
                </a:lnTo>
                <a:lnTo>
                  <a:pt x="278" y="119"/>
                </a:lnTo>
                <a:lnTo>
                  <a:pt x="262" y="112"/>
                </a:lnTo>
                <a:lnTo>
                  <a:pt x="246" y="104"/>
                </a:lnTo>
                <a:lnTo>
                  <a:pt x="229" y="96"/>
                </a:lnTo>
                <a:lnTo>
                  <a:pt x="213" y="88"/>
                </a:lnTo>
                <a:lnTo>
                  <a:pt x="196" y="80"/>
                </a:lnTo>
                <a:lnTo>
                  <a:pt x="180" y="72"/>
                </a:lnTo>
                <a:lnTo>
                  <a:pt x="164" y="64"/>
                </a:lnTo>
                <a:lnTo>
                  <a:pt x="147" y="56"/>
                </a:lnTo>
                <a:lnTo>
                  <a:pt x="131" y="49"/>
                </a:lnTo>
                <a:lnTo>
                  <a:pt x="114" y="42"/>
                </a:lnTo>
                <a:lnTo>
                  <a:pt x="98" y="35"/>
                </a:lnTo>
                <a:lnTo>
                  <a:pt x="82" y="29"/>
                </a:lnTo>
                <a:lnTo>
                  <a:pt x="65" y="24"/>
                </a:lnTo>
                <a:lnTo>
                  <a:pt x="49" y="20"/>
                </a:lnTo>
                <a:lnTo>
                  <a:pt x="33" y="17"/>
                </a:lnTo>
                <a:lnTo>
                  <a:pt x="16" y="15"/>
                </a:lnTo>
                <a:lnTo>
                  <a:pt x="0" y="1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2762250"/>
            <a:ext cx="3743325" cy="2057400"/>
          </a:xfrm>
          <a:custGeom>
            <a:avLst/>
            <a:gdLst/>
            <a:ahLst/>
            <a:cxnLst/>
            <a:rect l="l" t="t" r="r" b="b"/>
            <a:pathLst>
              <a:path w="393" h="216">
                <a:moveTo>
                  <a:pt x="0" y="0"/>
                </a:moveTo>
                <a:lnTo>
                  <a:pt x="16" y="1"/>
                </a:lnTo>
                <a:lnTo>
                  <a:pt x="33" y="4"/>
                </a:lnTo>
                <a:lnTo>
                  <a:pt x="49" y="9"/>
                </a:lnTo>
                <a:lnTo>
                  <a:pt x="65" y="15"/>
                </a:lnTo>
                <a:lnTo>
                  <a:pt x="82" y="23"/>
                </a:lnTo>
                <a:lnTo>
                  <a:pt x="98" y="32"/>
                </a:lnTo>
                <a:lnTo>
                  <a:pt x="114" y="42"/>
                </a:lnTo>
                <a:lnTo>
                  <a:pt x="131" y="53"/>
                </a:lnTo>
                <a:lnTo>
                  <a:pt x="147" y="64"/>
                </a:lnTo>
                <a:lnTo>
                  <a:pt x="164" y="77"/>
                </a:lnTo>
                <a:lnTo>
                  <a:pt x="180" y="89"/>
                </a:lnTo>
                <a:lnTo>
                  <a:pt x="196" y="102"/>
                </a:lnTo>
                <a:lnTo>
                  <a:pt x="213" y="115"/>
                </a:lnTo>
                <a:lnTo>
                  <a:pt x="229" y="127"/>
                </a:lnTo>
                <a:lnTo>
                  <a:pt x="246" y="139"/>
                </a:lnTo>
                <a:lnTo>
                  <a:pt x="262" y="151"/>
                </a:lnTo>
                <a:lnTo>
                  <a:pt x="278" y="162"/>
                </a:lnTo>
                <a:lnTo>
                  <a:pt x="295" y="172"/>
                </a:lnTo>
                <a:lnTo>
                  <a:pt x="311" y="181"/>
                </a:lnTo>
                <a:lnTo>
                  <a:pt x="327" y="189"/>
                </a:lnTo>
                <a:lnTo>
                  <a:pt x="344" y="195"/>
                </a:lnTo>
                <a:lnTo>
                  <a:pt x="360" y="200"/>
                </a:lnTo>
                <a:lnTo>
                  <a:pt x="377" y="203"/>
                </a:lnTo>
                <a:lnTo>
                  <a:pt x="393" y="204"/>
                </a:lnTo>
                <a:lnTo>
                  <a:pt x="393" y="216"/>
                </a:lnTo>
                <a:lnTo>
                  <a:pt x="377" y="215"/>
                </a:lnTo>
                <a:lnTo>
                  <a:pt x="360" y="212"/>
                </a:lnTo>
                <a:lnTo>
                  <a:pt x="344" y="208"/>
                </a:lnTo>
                <a:lnTo>
                  <a:pt x="327" y="201"/>
                </a:lnTo>
                <a:lnTo>
                  <a:pt x="311" y="194"/>
                </a:lnTo>
                <a:lnTo>
                  <a:pt x="295" y="185"/>
                </a:lnTo>
                <a:lnTo>
                  <a:pt x="278" y="174"/>
                </a:lnTo>
                <a:lnTo>
                  <a:pt x="262" y="163"/>
                </a:lnTo>
                <a:lnTo>
                  <a:pt x="246" y="152"/>
                </a:lnTo>
                <a:lnTo>
                  <a:pt x="229" y="140"/>
                </a:lnTo>
                <a:lnTo>
                  <a:pt x="213" y="127"/>
                </a:lnTo>
                <a:lnTo>
                  <a:pt x="196" y="114"/>
                </a:lnTo>
                <a:lnTo>
                  <a:pt x="180" y="102"/>
                </a:lnTo>
                <a:lnTo>
                  <a:pt x="164" y="89"/>
                </a:lnTo>
                <a:lnTo>
                  <a:pt x="147" y="77"/>
                </a:lnTo>
                <a:lnTo>
                  <a:pt x="131" y="65"/>
                </a:lnTo>
                <a:lnTo>
                  <a:pt x="114" y="54"/>
                </a:lnTo>
                <a:lnTo>
                  <a:pt x="98" y="44"/>
                </a:lnTo>
                <a:lnTo>
                  <a:pt x="82" y="35"/>
                </a:lnTo>
                <a:lnTo>
                  <a:pt x="65" y="27"/>
                </a:lnTo>
                <a:lnTo>
                  <a:pt x="49" y="21"/>
                </a:lnTo>
                <a:lnTo>
                  <a:pt x="33" y="16"/>
                </a:lnTo>
                <a:lnTo>
                  <a:pt x="16" y="13"/>
                </a:lnTo>
                <a:lnTo>
                  <a:pt x="0" y="1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2876550"/>
            <a:ext cx="3743325" cy="2590800"/>
          </a:xfrm>
          <a:custGeom>
            <a:avLst/>
            <a:gdLst/>
            <a:ahLst/>
            <a:cxnLst/>
            <a:rect l="l" t="t" r="r" b="b"/>
            <a:pathLst>
              <a:path w="393" h="272">
                <a:moveTo>
                  <a:pt x="0" y="0"/>
                </a:moveTo>
                <a:lnTo>
                  <a:pt x="16" y="1"/>
                </a:lnTo>
                <a:lnTo>
                  <a:pt x="33" y="5"/>
                </a:lnTo>
                <a:lnTo>
                  <a:pt x="49" y="11"/>
                </a:lnTo>
                <a:lnTo>
                  <a:pt x="65" y="20"/>
                </a:lnTo>
                <a:lnTo>
                  <a:pt x="82" y="30"/>
                </a:lnTo>
                <a:lnTo>
                  <a:pt x="98" y="41"/>
                </a:lnTo>
                <a:lnTo>
                  <a:pt x="114" y="54"/>
                </a:lnTo>
                <a:lnTo>
                  <a:pt x="131" y="69"/>
                </a:lnTo>
                <a:lnTo>
                  <a:pt x="147" y="84"/>
                </a:lnTo>
                <a:lnTo>
                  <a:pt x="164" y="100"/>
                </a:lnTo>
                <a:lnTo>
                  <a:pt x="180" y="116"/>
                </a:lnTo>
                <a:lnTo>
                  <a:pt x="196" y="132"/>
                </a:lnTo>
                <a:lnTo>
                  <a:pt x="213" y="149"/>
                </a:lnTo>
                <a:lnTo>
                  <a:pt x="229" y="165"/>
                </a:lnTo>
                <a:lnTo>
                  <a:pt x="246" y="181"/>
                </a:lnTo>
                <a:lnTo>
                  <a:pt x="262" y="196"/>
                </a:lnTo>
                <a:lnTo>
                  <a:pt x="278" y="210"/>
                </a:lnTo>
                <a:lnTo>
                  <a:pt x="295" y="223"/>
                </a:lnTo>
                <a:lnTo>
                  <a:pt x="311" y="235"/>
                </a:lnTo>
                <a:lnTo>
                  <a:pt x="327" y="245"/>
                </a:lnTo>
                <a:lnTo>
                  <a:pt x="344" y="253"/>
                </a:lnTo>
                <a:lnTo>
                  <a:pt x="360" y="259"/>
                </a:lnTo>
                <a:lnTo>
                  <a:pt x="377" y="263"/>
                </a:lnTo>
                <a:lnTo>
                  <a:pt x="393" y="264"/>
                </a:lnTo>
                <a:lnTo>
                  <a:pt x="393" y="272"/>
                </a:lnTo>
                <a:lnTo>
                  <a:pt x="377" y="271"/>
                </a:lnTo>
                <a:lnTo>
                  <a:pt x="360" y="267"/>
                </a:lnTo>
                <a:lnTo>
                  <a:pt x="344" y="261"/>
                </a:lnTo>
                <a:lnTo>
                  <a:pt x="327" y="253"/>
                </a:lnTo>
                <a:lnTo>
                  <a:pt x="311" y="243"/>
                </a:lnTo>
                <a:lnTo>
                  <a:pt x="295" y="231"/>
                </a:lnTo>
                <a:lnTo>
                  <a:pt x="278" y="218"/>
                </a:lnTo>
                <a:lnTo>
                  <a:pt x="262" y="204"/>
                </a:lnTo>
                <a:lnTo>
                  <a:pt x="246" y="189"/>
                </a:lnTo>
                <a:lnTo>
                  <a:pt x="229" y="173"/>
                </a:lnTo>
                <a:lnTo>
                  <a:pt x="213" y="157"/>
                </a:lnTo>
                <a:lnTo>
                  <a:pt x="196" y="140"/>
                </a:lnTo>
                <a:lnTo>
                  <a:pt x="180" y="124"/>
                </a:lnTo>
                <a:lnTo>
                  <a:pt x="164" y="107"/>
                </a:lnTo>
                <a:lnTo>
                  <a:pt x="147" y="92"/>
                </a:lnTo>
                <a:lnTo>
                  <a:pt x="131" y="77"/>
                </a:lnTo>
                <a:lnTo>
                  <a:pt x="114" y="62"/>
                </a:lnTo>
                <a:lnTo>
                  <a:pt x="98" y="49"/>
                </a:lnTo>
                <a:lnTo>
                  <a:pt x="82" y="38"/>
                </a:lnTo>
                <a:lnTo>
                  <a:pt x="65" y="28"/>
                </a:lnTo>
                <a:lnTo>
                  <a:pt x="49" y="19"/>
                </a:lnTo>
                <a:lnTo>
                  <a:pt x="33" y="13"/>
                </a:lnTo>
                <a:lnTo>
                  <a:pt x="16" y="9"/>
                </a:lnTo>
                <a:lnTo>
                  <a:pt x="0" y="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2952750"/>
            <a:ext cx="3743325" cy="2981325"/>
          </a:xfrm>
          <a:custGeom>
            <a:avLst/>
            <a:gdLst/>
            <a:ahLst/>
            <a:cxnLst/>
            <a:rect l="l" t="t" r="r" b="b"/>
            <a:pathLst>
              <a:path w="393" h="313">
                <a:moveTo>
                  <a:pt x="0" y="0"/>
                </a:moveTo>
                <a:lnTo>
                  <a:pt x="16" y="2"/>
                </a:lnTo>
                <a:lnTo>
                  <a:pt x="33" y="6"/>
                </a:lnTo>
                <a:lnTo>
                  <a:pt x="49" y="13"/>
                </a:lnTo>
                <a:lnTo>
                  <a:pt x="65" y="23"/>
                </a:lnTo>
                <a:lnTo>
                  <a:pt x="82" y="34"/>
                </a:lnTo>
                <a:lnTo>
                  <a:pt x="98" y="48"/>
                </a:lnTo>
                <a:lnTo>
                  <a:pt x="114" y="63"/>
                </a:lnTo>
                <a:lnTo>
                  <a:pt x="131" y="79"/>
                </a:lnTo>
                <a:lnTo>
                  <a:pt x="147" y="97"/>
                </a:lnTo>
                <a:lnTo>
                  <a:pt x="164" y="115"/>
                </a:lnTo>
                <a:lnTo>
                  <a:pt x="180" y="134"/>
                </a:lnTo>
                <a:lnTo>
                  <a:pt x="196" y="153"/>
                </a:lnTo>
                <a:lnTo>
                  <a:pt x="213" y="172"/>
                </a:lnTo>
                <a:lnTo>
                  <a:pt x="229" y="191"/>
                </a:lnTo>
                <a:lnTo>
                  <a:pt x="246" y="209"/>
                </a:lnTo>
                <a:lnTo>
                  <a:pt x="262" y="227"/>
                </a:lnTo>
                <a:lnTo>
                  <a:pt x="278" y="243"/>
                </a:lnTo>
                <a:lnTo>
                  <a:pt x="295" y="258"/>
                </a:lnTo>
                <a:lnTo>
                  <a:pt x="311" y="272"/>
                </a:lnTo>
                <a:lnTo>
                  <a:pt x="327" y="283"/>
                </a:lnTo>
                <a:lnTo>
                  <a:pt x="344" y="293"/>
                </a:lnTo>
                <a:lnTo>
                  <a:pt x="360" y="300"/>
                </a:lnTo>
                <a:lnTo>
                  <a:pt x="377" y="304"/>
                </a:lnTo>
                <a:lnTo>
                  <a:pt x="393" y="306"/>
                </a:lnTo>
                <a:lnTo>
                  <a:pt x="393" y="313"/>
                </a:lnTo>
                <a:lnTo>
                  <a:pt x="377" y="312"/>
                </a:lnTo>
                <a:lnTo>
                  <a:pt x="360" y="307"/>
                </a:lnTo>
                <a:lnTo>
                  <a:pt x="344" y="300"/>
                </a:lnTo>
                <a:lnTo>
                  <a:pt x="327" y="291"/>
                </a:lnTo>
                <a:lnTo>
                  <a:pt x="311" y="279"/>
                </a:lnTo>
                <a:lnTo>
                  <a:pt x="295" y="266"/>
                </a:lnTo>
                <a:lnTo>
                  <a:pt x="278" y="251"/>
                </a:lnTo>
                <a:lnTo>
                  <a:pt x="262" y="234"/>
                </a:lnTo>
                <a:lnTo>
                  <a:pt x="246" y="217"/>
                </a:lnTo>
                <a:lnTo>
                  <a:pt x="229" y="198"/>
                </a:lnTo>
                <a:lnTo>
                  <a:pt x="213" y="180"/>
                </a:lnTo>
                <a:lnTo>
                  <a:pt x="196" y="160"/>
                </a:lnTo>
                <a:lnTo>
                  <a:pt x="180" y="141"/>
                </a:lnTo>
                <a:lnTo>
                  <a:pt x="164" y="123"/>
                </a:lnTo>
                <a:lnTo>
                  <a:pt x="147" y="104"/>
                </a:lnTo>
                <a:lnTo>
                  <a:pt x="131" y="87"/>
                </a:lnTo>
                <a:lnTo>
                  <a:pt x="114" y="70"/>
                </a:lnTo>
                <a:lnTo>
                  <a:pt x="98" y="55"/>
                </a:lnTo>
                <a:lnTo>
                  <a:pt x="82" y="42"/>
                </a:lnTo>
                <a:lnTo>
                  <a:pt x="65" y="30"/>
                </a:lnTo>
                <a:lnTo>
                  <a:pt x="49" y="21"/>
                </a:lnTo>
                <a:lnTo>
                  <a:pt x="33" y="14"/>
                </a:lnTo>
                <a:lnTo>
                  <a:pt x="16" y="9"/>
                </a:lnTo>
                <a:lnTo>
                  <a:pt x="0" y="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028950"/>
            <a:ext cx="3743325" cy="3286125"/>
          </a:xfrm>
          <a:custGeom>
            <a:avLst/>
            <a:gdLst/>
            <a:ahLst/>
            <a:cxnLst/>
            <a:rect l="l" t="t" r="r" b="b"/>
            <a:pathLst>
              <a:path w="393" h="345">
                <a:moveTo>
                  <a:pt x="0" y="0"/>
                </a:moveTo>
                <a:lnTo>
                  <a:pt x="16" y="1"/>
                </a:lnTo>
                <a:lnTo>
                  <a:pt x="33" y="6"/>
                </a:lnTo>
                <a:lnTo>
                  <a:pt x="49" y="14"/>
                </a:lnTo>
                <a:lnTo>
                  <a:pt x="65" y="25"/>
                </a:lnTo>
                <a:lnTo>
                  <a:pt x="82" y="38"/>
                </a:lnTo>
                <a:lnTo>
                  <a:pt x="98" y="53"/>
                </a:lnTo>
                <a:lnTo>
                  <a:pt x="114" y="70"/>
                </a:lnTo>
                <a:lnTo>
                  <a:pt x="131" y="88"/>
                </a:lnTo>
                <a:lnTo>
                  <a:pt x="147" y="107"/>
                </a:lnTo>
                <a:lnTo>
                  <a:pt x="164" y="128"/>
                </a:lnTo>
                <a:lnTo>
                  <a:pt x="180" y="149"/>
                </a:lnTo>
                <a:lnTo>
                  <a:pt x="196" y="170"/>
                </a:lnTo>
                <a:lnTo>
                  <a:pt x="213" y="191"/>
                </a:lnTo>
                <a:lnTo>
                  <a:pt x="229" y="212"/>
                </a:lnTo>
                <a:lnTo>
                  <a:pt x="246" y="233"/>
                </a:lnTo>
                <a:lnTo>
                  <a:pt x="262" y="252"/>
                </a:lnTo>
                <a:lnTo>
                  <a:pt x="278" y="271"/>
                </a:lnTo>
                <a:lnTo>
                  <a:pt x="295" y="287"/>
                </a:lnTo>
                <a:lnTo>
                  <a:pt x="311" y="302"/>
                </a:lnTo>
                <a:lnTo>
                  <a:pt x="327" y="315"/>
                </a:lnTo>
                <a:lnTo>
                  <a:pt x="344" y="326"/>
                </a:lnTo>
                <a:lnTo>
                  <a:pt x="360" y="334"/>
                </a:lnTo>
                <a:lnTo>
                  <a:pt x="377" y="339"/>
                </a:lnTo>
                <a:lnTo>
                  <a:pt x="393" y="341"/>
                </a:lnTo>
                <a:lnTo>
                  <a:pt x="393" y="345"/>
                </a:lnTo>
                <a:lnTo>
                  <a:pt x="377" y="344"/>
                </a:lnTo>
                <a:lnTo>
                  <a:pt x="360" y="339"/>
                </a:lnTo>
                <a:lnTo>
                  <a:pt x="344" y="331"/>
                </a:lnTo>
                <a:lnTo>
                  <a:pt x="327" y="320"/>
                </a:lnTo>
                <a:lnTo>
                  <a:pt x="311" y="307"/>
                </a:lnTo>
                <a:lnTo>
                  <a:pt x="295" y="292"/>
                </a:lnTo>
                <a:lnTo>
                  <a:pt x="278" y="275"/>
                </a:lnTo>
                <a:lnTo>
                  <a:pt x="262" y="257"/>
                </a:lnTo>
                <a:lnTo>
                  <a:pt x="246" y="237"/>
                </a:lnTo>
                <a:lnTo>
                  <a:pt x="229" y="217"/>
                </a:lnTo>
                <a:lnTo>
                  <a:pt x="213" y="196"/>
                </a:lnTo>
                <a:lnTo>
                  <a:pt x="196" y="175"/>
                </a:lnTo>
                <a:lnTo>
                  <a:pt x="180" y="153"/>
                </a:lnTo>
                <a:lnTo>
                  <a:pt x="164" y="132"/>
                </a:lnTo>
                <a:lnTo>
                  <a:pt x="147" y="112"/>
                </a:lnTo>
                <a:lnTo>
                  <a:pt x="131" y="93"/>
                </a:lnTo>
                <a:lnTo>
                  <a:pt x="114" y="74"/>
                </a:lnTo>
                <a:lnTo>
                  <a:pt x="98" y="57"/>
                </a:lnTo>
                <a:lnTo>
                  <a:pt x="82" y="42"/>
                </a:lnTo>
                <a:lnTo>
                  <a:pt x="65" y="29"/>
                </a:lnTo>
                <a:lnTo>
                  <a:pt x="49" y="19"/>
                </a:lnTo>
                <a:lnTo>
                  <a:pt x="33" y="11"/>
                </a:lnTo>
                <a:lnTo>
                  <a:pt x="16" y="6"/>
                </a:lnTo>
                <a:lnTo>
                  <a:pt x="0" y="4"/>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1809750"/>
            <a:ext cx="3743325" cy="1504950"/>
          </a:xfrm>
          <a:custGeom>
            <a:avLst/>
            <a:gdLst/>
            <a:ahLst/>
            <a:cxnLst/>
            <a:rect l="l" t="t" r="r" b="b"/>
            <a:pathLst>
              <a:path w="393" h="158">
                <a:moveTo>
                  <a:pt x="0" y="138"/>
                </a:moveTo>
                <a:lnTo>
                  <a:pt x="16" y="137"/>
                </a:lnTo>
                <a:lnTo>
                  <a:pt x="33" y="135"/>
                </a:lnTo>
                <a:lnTo>
                  <a:pt x="49" y="132"/>
                </a:lnTo>
                <a:lnTo>
                  <a:pt x="65" y="128"/>
                </a:lnTo>
                <a:lnTo>
                  <a:pt x="82" y="123"/>
                </a:lnTo>
                <a:lnTo>
                  <a:pt x="98" y="117"/>
                </a:lnTo>
                <a:lnTo>
                  <a:pt x="114" y="110"/>
                </a:lnTo>
                <a:lnTo>
                  <a:pt x="131" y="102"/>
                </a:lnTo>
                <a:lnTo>
                  <a:pt x="147" y="95"/>
                </a:lnTo>
                <a:lnTo>
                  <a:pt x="164" y="86"/>
                </a:lnTo>
                <a:lnTo>
                  <a:pt x="180" y="78"/>
                </a:lnTo>
                <a:lnTo>
                  <a:pt x="196" y="69"/>
                </a:lnTo>
                <a:lnTo>
                  <a:pt x="213" y="61"/>
                </a:lnTo>
                <a:lnTo>
                  <a:pt x="229" y="52"/>
                </a:lnTo>
                <a:lnTo>
                  <a:pt x="246" y="44"/>
                </a:lnTo>
                <a:lnTo>
                  <a:pt x="262" y="36"/>
                </a:lnTo>
                <a:lnTo>
                  <a:pt x="278" y="29"/>
                </a:lnTo>
                <a:lnTo>
                  <a:pt x="295" y="22"/>
                </a:lnTo>
                <a:lnTo>
                  <a:pt x="311" y="16"/>
                </a:lnTo>
                <a:lnTo>
                  <a:pt x="327" y="10"/>
                </a:lnTo>
                <a:lnTo>
                  <a:pt x="344" y="6"/>
                </a:lnTo>
                <a:lnTo>
                  <a:pt x="360" y="3"/>
                </a:lnTo>
                <a:lnTo>
                  <a:pt x="377" y="1"/>
                </a:lnTo>
                <a:lnTo>
                  <a:pt x="393" y="0"/>
                </a:lnTo>
                <a:lnTo>
                  <a:pt x="393" y="20"/>
                </a:lnTo>
                <a:lnTo>
                  <a:pt x="377" y="20"/>
                </a:lnTo>
                <a:lnTo>
                  <a:pt x="360" y="22"/>
                </a:lnTo>
                <a:lnTo>
                  <a:pt x="344" y="26"/>
                </a:lnTo>
                <a:lnTo>
                  <a:pt x="327" y="30"/>
                </a:lnTo>
                <a:lnTo>
                  <a:pt x="311" y="35"/>
                </a:lnTo>
                <a:lnTo>
                  <a:pt x="295" y="41"/>
                </a:lnTo>
                <a:lnTo>
                  <a:pt x="278" y="48"/>
                </a:lnTo>
                <a:lnTo>
                  <a:pt x="262" y="55"/>
                </a:lnTo>
                <a:lnTo>
                  <a:pt x="246" y="63"/>
                </a:lnTo>
                <a:lnTo>
                  <a:pt x="229" y="71"/>
                </a:lnTo>
                <a:lnTo>
                  <a:pt x="213" y="80"/>
                </a:lnTo>
                <a:lnTo>
                  <a:pt x="196" y="89"/>
                </a:lnTo>
                <a:lnTo>
                  <a:pt x="180" y="97"/>
                </a:lnTo>
                <a:lnTo>
                  <a:pt x="164" y="106"/>
                </a:lnTo>
                <a:lnTo>
                  <a:pt x="147" y="114"/>
                </a:lnTo>
                <a:lnTo>
                  <a:pt x="131" y="122"/>
                </a:lnTo>
                <a:lnTo>
                  <a:pt x="114" y="129"/>
                </a:lnTo>
                <a:lnTo>
                  <a:pt x="98" y="136"/>
                </a:lnTo>
                <a:lnTo>
                  <a:pt x="82" y="142"/>
                </a:lnTo>
                <a:lnTo>
                  <a:pt x="65" y="147"/>
                </a:lnTo>
                <a:lnTo>
                  <a:pt x="49" y="152"/>
                </a:lnTo>
                <a:lnTo>
                  <a:pt x="33" y="155"/>
                </a:lnTo>
                <a:lnTo>
                  <a:pt x="16" y="157"/>
                </a:lnTo>
                <a:lnTo>
                  <a:pt x="0" y="15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3019425"/>
            <a:ext cx="3743325" cy="457200"/>
          </a:xfrm>
          <a:custGeom>
            <a:avLst/>
            <a:gdLst/>
            <a:ahLst/>
            <a:cxnLst/>
            <a:rect l="l" t="t" r="r" b="b"/>
            <a:pathLst>
              <a:path w="393" h="48">
                <a:moveTo>
                  <a:pt x="0" y="31"/>
                </a:moveTo>
                <a:lnTo>
                  <a:pt x="16" y="30"/>
                </a:lnTo>
                <a:lnTo>
                  <a:pt x="33" y="30"/>
                </a:lnTo>
                <a:lnTo>
                  <a:pt x="49" y="29"/>
                </a:lnTo>
                <a:lnTo>
                  <a:pt x="65" y="28"/>
                </a:lnTo>
                <a:lnTo>
                  <a:pt x="82" y="27"/>
                </a:lnTo>
                <a:lnTo>
                  <a:pt x="98" y="26"/>
                </a:lnTo>
                <a:lnTo>
                  <a:pt x="114" y="24"/>
                </a:lnTo>
                <a:lnTo>
                  <a:pt x="131" y="22"/>
                </a:lnTo>
                <a:lnTo>
                  <a:pt x="147" y="21"/>
                </a:lnTo>
                <a:lnTo>
                  <a:pt x="164" y="19"/>
                </a:lnTo>
                <a:lnTo>
                  <a:pt x="180" y="17"/>
                </a:lnTo>
                <a:lnTo>
                  <a:pt x="196" y="15"/>
                </a:lnTo>
                <a:lnTo>
                  <a:pt x="213" y="13"/>
                </a:lnTo>
                <a:lnTo>
                  <a:pt x="229" y="11"/>
                </a:lnTo>
                <a:lnTo>
                  <a:pt x="246" y="9"/>
                </a:lnTo>
                <a:lnTo>
                  <a:pt x="262" y="8"/>
                </a:lnTo>
                <a:lnTo>
                  <a:pt x="278" y="6"/>
                </a:lnTo>
                <a:lnTo>
                  <a:pt x="295" y="4"/>
                </a:lnTo>
                <a:lnTo>
                  <a:pt x="311" y="3"/>
                </a:lnTo>
                <a:lnTo>
                  <a:pt x="327" y="2"/>
                </a:lnTo>
                <a:lnTo>
                  <a:pt x="344" y="1"/>
                </a:lnTo>
                <a:lnTo>
                  <a:pt x="360" y="0"/>
                </a:lnTo>
                <a:lnTo>
                  <a:pt x="377" y="0"/>
                </a:lnTo>
                <a:lnTo>
                  <a:pt x="393" y="0"/>
                </a:lnTo>
                <a:lnTo>
                  <a:pt x="393" y="17"/>
                </a:lnTo>
                <a:lnTo>
                  <a:pt x="377" y="17"/>
                </a:lnTo>
                <a:lnTo>
                  <a:pt x="360" y="17"/>
                </a:lnTo>
                <a:lnTo>
                  <a:pt x="344" y="18"/>
                </a:lnTo>
                <a:lnTo>
                  <a:pt x="327" y="19"/>
                </a:lnTo>
                <a:lnTo>
                  <a:pt x="311" y="20"/>
                </a:lnTo>
                <a:lnTo>
                  <a:pt x="295" y="22"/>
                </a:lnTo>
                <a:lnTo>
                  <a:pt x="278" y="23"/>
                </a:lnTo>
                <a:lnTo>
                  <a:pt x="262" y="25"/>
                </a:lnTo>
                <a:lnTo>
                  <a:pt x="246" y="27"/>
                </a:lnTo>
                <a:lnTo>
                  <a:pt x="229" y="29"/>
                </a:lnTo>
                <a:lnTo>
                  <a:pt x="213" y="30"/>
                </a:lnTo>
                <a:lnTo>
                  <a:pt x="196" y="32"/>
                </a:lnTo>
                <a:lnTo>
                  <a:pt x="180" y="34"/>
                </a:lnTo>
                <a:lnTo>
                  <a:pt x="164" y="36"/>
                </a:lnTo>
                <a:lnTo>
                  <a:pt x="147" y="38"/>
                </a:lnTo>
                <a:lnTo>
                  <a:pt x="131" y="40"/>
                </a:lnTo>
                <a:lnTo>
                  <a:pt x="114" y="42"/>
                </a:lnTo>
                <a:lnTo>
                  <a:pt x="98" y="43"/>
                </a:lnTo>
                <a:lnTo>
                  <a:pt x="82" y="44"/>
                </a:lnTo>
                <a:lnTo>
                  <a:pt x="65" y="46"/>
                </a:lnTo>
                <a:lnTo>
                  <a:pt x="49" y="47"/>
                </a:lnTo>
                <a:lnTo>
                  <a:pt x="33" y="47"/>
                </a:lnTo>
                <a:lnTo>
                  <a:pt x="16" y="48"/>
                </a:lnTo>
                <a:lnTo>
                  <a:pt x="0" y="4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3476625"/>
            <a:ext cx="3743325" cy="657225"/>
          </a:xfrm>
          <a:custGeom>
            <a:avLst/>
            <a:gdLst/>
            <a:ahLst/>
            <a:cxnLst/>
            <a:rect l="l" t="t" r="r" b="b"/>
            <a:pathLst>
              <a:path w="393" h="69">
                <a:moveTo>
                  <a:pt x="0" y="0"/>
                </a:moveTo>
                <a:lnTo>
                  <a:pt x="16" y="0"/>
                </a:lnTo>
                <a:lnTo>
                  <a:pt x="33" y="1"/>
                </a:lnTo>
                <a:lnTo>
                  <a:pt x="49" y="2"/>
                </a:lnTo>
                <a:lnTo>
                  <a:pt x="65" y="4"/>
                </a:lnTo>
                <a:lnTo>
                  <a:pt x="82" y="6"/>
                </a:lnTo>
                <a:lnTo>
                  <a:pt x="98" y="9"/>
                </a:lnTo>
                <a:lnTo>
                  <a:pt x="114" y="11"/>
                </a:lnTo>
                <a:lnTo>
                  <a:pt x="131" y="14"/>
                </a:lnTo>
                <a:lnTo>
                  <a:pt x="147" y="17"/>
                </a:lnTo>
                <a:lnTo>
                  <a:pt x="164" y="21"/>
                </a:lnTo>
                <a:lnTo>
                  <a:pt x="180" y="24"/>
                </a:lnTo>
                <a:lnTo>
                  <a:pt x="196" y="28"/>
                </a:lnTo>
                <a:lnTo>
                  <a:pt x="213" y="31"/>
                </a:lnTo>
                <a:lnTo>
                  <a:pt x="229" y="35"/>
                </a:lnTo>
                <a:lnTo>
                  <a:pt x="246" y="38"/>
                </a:lnTo>
                <a:lnTo>
                  <a:pt x="262" y="41"/>
                </a:lnTo>
                <a:lnTo>
                  <a:pt x="278" y="44"/>
                </a:lnTo>
                <a:lnTo>
                  <a:pt x="295" y="47"/>
                </a:lnTo>
                <a:lnTo>
                  <a:pt x="311" y="49"/>
                </a:lnTo>
                <a:lnTo>
                  <a:pt x="327" y="51"/>
                </a:lnTo>
                <a:lnTo>
                  <a:pt x="344" y="53"/>
                </a:lnTo>
                <a:lnTo>
                  <a:pt x="360" y="54"/>
                </a:lnTo>
                <a:lnTo>
                  <a:pt x="377" y="55"/>
                </a:lnTo>
                <a:lnTo>
                  <a:pt x="393" y="55"/>
                </a:lnTo>
                <a:lnTo>
                  <a:pt x="393" y="69"/>
                </a:lnTo>
                <a:lnTo>
                  <a:pt x="377" y="69"/>
                </a:lnTo>
                <a:lnTo>
                  <a:pt x="360" y="68"/>
                </a:lnTo>
                <a:lnTo>
                  <a:pt x="344" y="67"/>
                </a:lnTo>
                <a:lnTo>
                  <a:pt x="327" y="65"/>
                </a:lnTo>
                <a:lnTo>
                  <a:pt x="311" y="63"/>
                </a:lnTo>
                <a:lnTo>
                  <a:pt x="295" y="61"/>
                </a:lnTo>
                <a:lnTo>
                  <a:pt x="278" y="58"/>
                </a:lnTo>
                <a:lnTo>
                  <a:pt x="262" y="55"/>
                </a:lnTo>
                <a:lnTo>
                  <a:pt x="246" y="52"/>
                </a:lnTo>
                <a:lnTo>
                  <a:pt x="229" y="48"/>
                </a:lnTo>
                <a:lnTo>
                  <a:pt x="213" y="45"/>
                </a:lnTo>
                <a:lnTo>
                  <a:pt x="196" y="42"/>
                </a:lnTo>
                <a:lnTo>
                  <a:pt x="180" y="38"/>
                </a:lnTo>
                <a:lnTo>
                  <a:pt x="164" y="35"/>
                </a:lnTo>
                <a:lnTo>
                  <a:pt x="147" y="31"/>
                </a:lnTo>
                <a:lnTo>
                  <a:pt x="131" y="28"/>
                </a:lnTo>
                <a:lnTo>
                  <a:pt x="114" y="25"/>
                </a:lnTo>
                <a:lnTo>
                  <a:pt x="98" y="22"/>
                </a:lnTo>
                <a:lnTo>
                  <a:pt x="82" y="20"/>
                </a:lnTo>
                <a:lnTo>
                  <a:pt x="65" y="18"/>
                </a:lnTo>
                <a:lnTo>
                  <a:pt x="49" y="16"/>
                </a:lnTo>
                <a:lnTo>
                  <a:pt x="33" y="15"/>
                </a:lnTo>
                <a:lnTo>
                  <a:pt x="16" y="14"/>
                </a:lnTo>
                <a:lnTo>
                  <a:pt x="0" y="1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3609975"/>
            <a:ext cx="3743325" cy="1323975"/>
          </a:xfrm>
          <a:custGeom>
            <a:avLst/>
            <a:gdLst/>
            <a:ahLst/>
            <a:cxnLst/>
            <a:rect l="l" t="t" r="r" b="b"/>
            <a:pathLst>
              <a:path w="393" h="139">
                <a:moveTo>
                  <a:pt x="0" y="0"/>
                </a:moveTo>
                <a:lnTo>
                  <a:pt x="16" y="0"/>
                </a:lnTo>
                <a:lnTo>
                  <a:pt x="33" y="2"/>
                </a:lnTo>
                <a:lnTo>
                  <a:pt x="49" y="5"/>
                </a:lnTo>
                <a:lnTo>
                  <a:pt x="65" y="9"/>
                </a:lnTo>
                <a:lnTo>
                  <a:pt x="82" y="14"/>
                </a:lnTo>
                <a:lnTo>
                  <a:pt x="98" y="20"/>
                </a:lnTo>
                <a:lnTo>
                  <a:pt x="114" y="26"/>
                </a:lnTo>
                <a:lnTo>
                  <a:pt x="131" y="33"/>
                </a:lnTo>
                <a:lnTo>
                  <a:pt x="147" y="40"/>
                </a:lnTo>
                <a:lnTo>
                  <a:pt x="164" y="48"/>
                </a:lnTo>
                <a:lnTo>
                  <a:pt x="180" y="56"/>
                </a:lnTo>
                <a:lnTo>
                  <a:pt x="196" y="64"/>
                </a:lnTo>
                <a:lnTo>
                  <a:pt x="213" y="72"/>
                </a:lnTo>
                <a:lnTo>
                  <a:pt x="229" y="79"/>
                </a:lnTo>
                <a:lnTo>
                  <a:pt x="246" y="87"/>
                </a:lnTo>
                <a:lnTo>
                  <a:pt x="262" y="94"/>
                </a:lnTo>
                <a:lnTo>
                  <a:pt x="278" y="101"/>
                </a:lnTo>
                <a:lnTo>
                  <a:pt x="295" y="108"/>
                </a:lnTo>
                <a:lnTo>
                  <a:pt x="311" y="113"/>
                </a:lnTo>
                <a:lnTo>
                  <a:pt x="327" y="118"/>
                </a:lnTo>
                <a:lnTo>
                  <a:pt x="344" y="122"/>
                </a:lnTo>
                <a:lnTo>
                  <a:pt x="360" y="125"/>
                </a:lnTo>
                <a:lnTo>
                  <a:pt x="377" y="127"/>
                </a:lnTo>
                <a:lnTo>
                  <a:pt x="393" y="127"/>
                </a:lnTo>
                <a:lnTo>
                  <a:pt x="393" y="139"/>
                </a:lnTo>
                <a:lnTo>
                  <a:pt x="377" y="138"/>
                </a:lnTo>
                <a:lnTo>
                  <a:pt x="360" y="136"/>
                </a:lnTo>
                <a:lnTo>
                  <a:pt x="344" y="133"/>
                </a:lnTo>
                <a:lnTo>
                  <a:pt x="327" y="129"/>
                </a:lnTo>
                <a:lnTo>
                  <a:pt x="311" y="124"/>
                </a:lnTo>
                <a:lnTo>
                  <a:pt x="295" y="119"/>
                </a:lnTo>
                <a:lnTo>
                  <a:pt x="278" y="112"/>
                </a:lnTo>
                <a:lnTo>
                  <a:pt x="262" y="106"/>
                </a:lnTo>
                <a:lnTo>
                  <a:pt x="246" y="98"/>
                </a:lnTo>
                <a:lnTo>
                  <a:pt x="229" y="91"/>
                </a:lnTo>
                <a:lnTo>
                  <a:pt x="213" y="83"/>
                </a:lnTo>
                <a:lnTo>
                  <a:pt x="196" y="75"/>
                </a:lnTo>
                <a:lnTo>
                  <a:pt x="180" y="67"/>
                </a:lnTo>
                <a:lnTo>
                  <a:pt x="164" y="59"/>
                </a:lnTo>
                <a:lnTo>
                  <a:pt x="147" y="51"/>
                </a:lnTo>
                <a:lnTo>
                  <a:pt x="131" y="44"/>
                </a:lnTo>
                <a:lnTo>
                  <a:pt x="114" y="37"/>
                </a:lnTo>
                <a:lnTo>
                  <a:pt x="98" y="31"/>
                </a:lnTo>
                <a:lnTo>
                  <a:pt x="82" y="25"/>
                </a:lnTo>
                <a:lnTo>
                  <a:pt x="65" y="20"/>
                </a:lnTo>
                <a:lnTo>
                  <a:pt x="49" y="16"/>
                </a:lnTo>
                <a:lnTo>
                  <a:pt x="33" y="13"/>
                </a:lnTo>
                <a:lnTo>
                  <a:pt x="16" y="12"/>
                </a:lnTo>
                <a:lnTo>
                  <a:pt x="0" y="11"/>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3714750"/>
            <a:ext cx="3743325" cy="1828800"/>
          </a:xfrm>
          <a:custGeom>
            <a:avLst/>
            <a:gdLst/>
            <a:ahLst/>
            <a:cxnLst/>
            <a:rect l="l" t="t" r="r" b="b"/>
            <a:pathLst>
              <a:path w="393" h="192">
                <a:moveTo>
                  <a:pt x="0" y="0"/>
                </a:moveTo>
                <a:lnTo>
                  <a:pt x="16" y="1"/>
                </a:lnTo>
                <a:lnTo>
                  <a:pt x="33" y="4"/>
                </a:lnTo>
                <a:lnTo>
                  <a:pt x="49" y="8"/>
                </a:lnTo>
                <a:lnTo>
                  <a:pt x="65" y="14"/>
                </a:lnTo>
                <a:lnTo>
                  <a:pt x="82" y="21"/>
                </a:lnTo>
                <a:lnTo>
                  <a:pt x="98" y="29"/>
                </a:lnTo>
                <a:lnTo>
                  <a:pt x="114" y="38"/>
                </a:lnTo>
                <a:lnTo>
                  <a:pt x="131" y="48"/>
                </a:lnTo>
                <a:lnTo>
                  <a:pt x="147" y="58"/>
                </a:lnTo>
                <a:lnTo>
                  <a:pt x="164" y="69"/>
                </a:lnTo>
                <a:lnTo>
                  <a:pt x="180" y="81"/>
                </a:lnTo>
                <a:lnTo>
                  <a:pt x="196" y="92"/>
                </a:lnTo>
                <a:lnTo>
                  <a:pt x="213" y="104"/>
                </a:lnTo>
                <a:lnTo>
                  <a:pt x="229" y="115"/>
                </a:lnTo>
                <a:lnTo>
                  <a:pt x="246" y="126"/>
                </a:lnTo>
                <a:lnTo>
                  <a:pt x="262" y="137"/>
                </a:lnTo>
                <a:lnTo>
                  <a:pt x="278" y="146"/>
                </a:lnTo>
                <a:lnTo>
                  <a:pt x="295" y="156"/>
                </a:lnTo>
                <a:lnTo>
                  <a:pt x="311" y="164"/>
                </a:lnTo>
                <a:lnTo>
                  <a:pt x="327" y="171"/>
                </a:lnTo>
                <a:lnTo>
                  <a:pt x="344" y="176"/>
                </a:lnTo>
                <a:lnTo>
                  <a:pt x="360" y="181"/>
                </a:lnTo>
                <a:lnTo>
                  <a:pt x="377" y="183"/>
                </a:lnTo>
                <a:lnTo>
                  <a:pt x="393" y="184"/>
                </a:lnTo>
                <a:lnTo>
                  <a:pt x="393" y="192"/>
                </a:lnTo>
                <a:lnTo>
                  <a:pt x="377" y="191"/>
                </a:lnTo>
                <a:lnTo>
                  <a:pt x="360" y="189"/>
                </a:lnTo>
                <a:lnTo>
                  <a:pt x="344" y="184"/>
                </a:lnTo>
                <a:lnTo>
                  <a:pt x="327" y="179"/>
                </a:lnTo>
                <a:lnTo>
                  <a:pt x="311" y="172"/>
                </a:lnTo>
                <a:lnTo>
                  <a:pt x="295" y="163"/>
                </a:lnTo>
                <a:lnTo>
                  <a:pt x="278" y="154"/>
                </a:lnTo>
                <a:lnTo>
                  <a:pt x="262" y="144"/>
                </a:lnTo>
                <a:lnTo>
                  <a:pt x="246" y="134"/>
                </a:lnTo>
                <a:lnTo>
                  <a:pt x="229" y="123"/>
                </a:lnTo>
                <a:lnTo>
                  <a:pt x="213" y="111"/>
                </a:lnTo>
                <a:lnTo>
                  <a:pt x="196" y="100"/>
                </a:lnTo>
                <a:lnTo>
                  <a:pt x="180" y="88"/>
                </a:lnTo>
                <a:lnTo>
                  <a:pt x="164" y="77"/>
                </a:lnTo>
                <a:lnTo>
                  <a:pt x="147" y="66"/>
                </a:lnTo>
                <a:lnTo>
                  <a:pt x="131" y="56"/>
                </a:lnTo>
                <a:lnTo>
                  <a:pt x="114" y="46"/>
                </a:lnTo>
                <a:lnTo>
                  <a:pt x="98" y="37"/>
                </a:lnTo>
                <a:lnTo>
                  <a:pt x="82" y="28"/>
                </a:lnTo>
                <a:lnTo>
                  <a:pt x="65" y="21"/>
                </a:lnTo>
                <a:lnTo>
                  <a:pt x="49" y="16"/>
                </a:lnTo>
                <a:lnTo>
                  <a:pt x="33" y="11"/>
                </a:lnTo>
                <a:lnTo>
                  <a:pt x="16" y="9"/>
                </a:lnTo>
                <a:lnTo>
                  <a:pt x="0" y="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3790950"/>
            <a:ext cx="3743325" cy="2209800"/>
          </a:xfrm>
          <a:custGeom>
            <a:avLst/>
            <a:gdLst/>
            <a:ahLst/>
            <a:cxnLst/>
            <a:rect l="l" t="t" r="r" b="b"/>
            <a:pathLst>
              <a:path w="393" h="232">
                <a:moveTo>
                  <a:pt x="0" y="0"/>
                </a:moveTo>
                <a:lnTo>
                  <a:pt x="16" y="1"/>
                </a:lnTo>
                <a:lnTo>
                  <a:pt x="33" y="4"/>
                </a:lnTo>
                <a:lnTo>
                  <a:pt x="49" y="9"/>
                </a:lnTo>
                <a:lnTo>
                  <a:pt x="65" y="16"/>
                </a:lnTo>
                <a:lnTo>
                  <a:pt x="82" y="25"/>
                </a:lnTo>
                <a:lnTo>
                  <a:pt x="98" y="35"/>
                </a:lnTo>
                <a:lnTo>
                  <a:pt x="114" y="46"/>
                </a:lnTo>
                <a:lnTo>
                  <a:pt x="131" y="58"/>
                </a:lnTo>
                <a:lnTo>
                  <a:pt x="147" y="71"/>
                </a:lnTo>
                <a:lnTo>
                  <a:pt x="164" y="85"/>
                </a:lnTo>
                <a:lnTo>
                  <a:pt x="180" y="99"/>
                </a:lnTo>
                <a:lnTo>
                  <a:pt x="196" y="113"/>
                </a:lnTo>
                <a:lnTo>
                  <a:pt x="213" y="127"/>
                </a:lnTo>
                <a:lnTo>
                  <a:pt x="229" y="141"/>
                </a:lnTo>
                <a:lnTo>
                  <a:pt x="246" y="154"/>
                </a:lnTo>
                <a:lnTo>
                  <a:pt x="262" y="167"/>
                </a:lnTo>
                <a:lnTo>
                  <a:pt x="278" y="179"/>
                </a:lnTo>
                <a:lnTo>
                  <a:pt x="295" y="190"/>
                </a:lnTo>
                <a:lnTo>
                  <a:pt x="311" y="200"/>
                </a:lnTo>
                <a:lnTo>
                  <a:pt x="327" y="209"/>
                </a:lnTo>
                <a:lnTo>
                  <a:pt x="344" y="216"/>
                </a:lnTo>
                <a:lnTo>
                  <a:pt x="360" y="221"/>
                </a:lnTo>
                <a:lnTo>
                  <a:pt x="377" y="224"/>
                </a:lnTo>
                <a:lnTo>
                  <a:pt x="393" y="225"/>
                </a:lnTo>
                <a:lnTo>
                  <a:pt x="393" y="232"/>
                </a:lnTo>
                <a:lnTo>
                  <a:pt x="377" y="231"/>
                </a:lnTo>
                <a:lnTo>
                  <a:pt x="360" y="228"/>
                </a:lnTo>
                <a:lnTo>
                  <a:pt x="344" y="222"/>
                </a:lnTo>
                <a:lnTo>
                  <a:pt x="327" y="215"/>
                </a:lnTo>
                <a:lnTo>
                  <a:pt x="311" y="207"/>
                </a:lnTo>
                <a:lnTo>
                  <a:pt x="295" y="197"/>
                </a:lnTo>
                <a:lnTo>
                  <a:pt x="278" y="186"/>
                </a:lnTo>
                <a:lnTo>
                  <a:pt x="262" y="173"/>
                </a:lnTo>
                <a:lnTo>
                  <a:pt x="246" y="161"/>
                </a:lnTo>
                <a:lnTo>
                  <a:pt x="229" y="147"/>
                </a:lnTo>
                <a:lnTo>
                  <a:pt x="213" y="133"/>
                </a:lnTo>
                <a:lnTo>
                  <a:pt x="196" y="119"/>
                </a:lnTo>
                <a:lnTo>
                  <a:pt x="180" y="105"/>
                </a:lnTo>
                <a:lnTo>
                  <a:pt x="164" y="91"/>
                </a:lnTo>
                <a:lnTo>
                  <a:pt x="147" y="78"/>
                </a:lnTo>
                <a:lnTo>
                  <a:pt x="131" y="65"/>
                </a:lnTo>
                <a:lnTo>
                  <a:pt x="114" y="53"/>
                </a:lnTo>
                <a:lnTo>
                  <a:pt x="98" y="42"/>
                </a:lnTo>
                <a:lnTo>
                  <a:pt x="82" y="32"/>
                </a:lnTo>
                <a:lnTo>
                  <a:pt x="65" y="23"/>
                </a:lnTo>
                <a:lnTo>
                  <a:pt x="49" y="16"/>
                </a:lnTo>
                <a:lnTo>
                  <a:pt x="33" y="11"/>
                </a:lnTo>
                <a:lnTo>
                  <a:pt x="16" y="7"/>
                </a:lnTo>
                <a:lnTo>
                  <a:pt x="0" y="6"/>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3848100"/>
            <a:ext cx="3743325" cy="2514600"/>
          </a:xfrm>
          <a:custGeom>
            <a:avLst/>
            <a:gdLst/>
            <a:ahLst/>
            <a:cxnLst/>
            <a:rect l="l" t="t" r="r" b="b"/>
            <a:pathLst>
              <a:path w="393" h="264">
                <a:moveTo>
                  <a:pt x="0" y="0"/>
                </a:moveTo>
                <a:lnTo>
                  <a:pt x="16" y="2"/>
                </a:lnTo>
                <a:lnTo>
                  <a:pt x="33" y="5"/>
                </a:lnTo>
                <a:lnTo>
                  <a:pt x="49" y="11"/>
                </a:lnTo>
                <a:lnTo>
                  <a:pt x="65" y="19"/>
                </a:lnTo>
                <a:lnTo>
                  <a:pt x="82" y="29"/>
                </a:lnTo>
                <a:lnTo>
                  <a:pt x="98" y="41"/>
                </a:lnTo>
                <a:lnTo>
                  <a:pt x="114" y="54"/>
                </a:lnTo>
                <a:lnTo>
                  <a:pt x="131" y="67"/>
                </a:lnTo>
                <a:lnTo>
                  <a:pt x="147" y="82"/>
                </a:lnTo>
                <a:lnTo>
                  <a:pt x="164" y="98"/>
                </a:lnTo>
                <a:lnTo>
                  <a:pt x="180" y="114"/>
                </a:lnTo>
                <a:lnTo>
                  <a:pt x="196" y="130"/>
                </a:lnTo>
                <a:lnTo>
                  <a:pt x="213" y="146"/>
                </a:lnTo>
                <a:lnTo>
                  <a:pt x="229" y="162"/>
                </a:lnTo>
                <a:lnTo>
                  <a:pt x="246" y="177"/>
                </a:lnTo>
                <a:lnTo>
                  <a:pt x="262" y="192"/>
                </a:lnTo>
                <a:lnTo>
                  <a:pt x="278" y="206"/>
                </a:lnTo>
                <a:lnTo>
                  <a:pt x="295" y="219"/>
                </a:lnTo>
                <a:lnTo>
                  <a:pt x="311" y="230"/>
                </a:lnTo>
                <a:lnTo>
                  <a:pt x="327" y="240"/>
                </a:lnTo>
                <a:lnTo>
                  <a:pt x="344" y="248"/>
                </a:lnTo>
                <a:lnTo>
                  <a:pt x="360" y="254"/>
                </a:lnTo>
                <a:lnTo>
                  <a:pt x="377" y="258"/>
                </a:lnTo>
                <a:lnTo>
                  <a:pt x="393" y="259"/>
                </a:lnTo>
                <a:lnTo>
                  <a:pt x="393" y="264"/>
                </a:lnTo>
                <a:lnTo>
                  <a:pt x="377" y="262"/>
                </a:lnTo>
                <a:lnTo>
                  <a:pt x="360" y="258"/>
                </a:lnTo>
                <a:lnTo>
                  <a:pt x="344" y="252"/>
                </a:lnTo>
                <a:lnTo>
                  <a:pt x="327" y="244"/>
                </a:lnTo>
                <a:lnTo>
                  <a:pt x="311" y="234"/>
                </a:lnTo>
                <a:lnTo>
                  <a:pt x="295" y="223"/>
                </a:lnTo>
                <a:lnTo>
                  <a:pt x="278" y="210"/>
                </a:lnTo>
                <a:lnTo>
                  <a:pt x="262" y="196"/>
                </a:lnTo>
                <a:lnTo>
                  <a:pt x="246" y="182"/>
                </a:lnTo>
                <a:lnTo>
                  <a:pt x="229" y="166"/>
                </a:lnTo>
                <a:lnTo>
                  <a:pt x="213" y="150"/>
                </a:lnTo>
                <a:lnTo>
                  <a:pt x="196" y="134"/>
                </a:lnTo>
                <a:lnTo>
                  <a:pt x="180" y="118"/>
                </a:lnTo>
                <a:lnTo>
                  <a:pt x="164" y="102"/>
                </a:lnTo>
                <a:lnTo>
                  <a:pt x="147" y="86"/>
                </a:lnTo>
                <a:lnTo>
                  <a:pt x="131" y="72"/>
                </a:lnTo>
                <a:lnTo>
                  <a:pt x="114" y="58"/>
                </a:lnTo>
                <a:lnTo>
                  <a:pt x="98" y="45"/>
                </a:lnTo>
                <a:lnTo>
                  <a:pt x="82" y="34"/>
                </a:lnTo>
                <a:lnTo>
                  <a:pt x="65" y="24"/>
                </a:lnTo>
                <a:lnTo>
                  <a:pt x="49" y="16"/>
                </a:lnTo>
                <a:lnTo>
                  <a:pt x="33" y="10"/>
                </a:lnTo>
                <a:lnTo>
                  <a:pt x="16" y="6"/>
                </a:lnTo>
                <a:lnTo>
                  <a:pt x="0" y="5"/>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2000250"/>
            <a:ext cx="3743325" cy="2114550"/>
          </a:xfrm>
          <a:custGeom>
            <a:avLst/>
            <a:gdLst/>
            <a:ahLst/>
            <a:cxnLst/>
            <a:rect l="l" t="t" r="r" b="b"/>
            <a:pathLst>
              <a:path w="393" h="222">
                <a:moveTo>
                  <a:pt x="0" y="205"/>
                </a:moveTo>
                <a:lnTo>
                  <a:pt x="16" y="204"/>
                </a:lnTo>
                <a:lnTo>
                  <a:pt x="33" y="201"/>
                </a:lnTo>
                <a:lnTo>
                  <a:pt x="49" y="196"/>
                </a:lnTo>
                <a:lnTo>
                  <a:pt x="65" y="189"/>
                </a:lnTo>
                <a:lnTo>
                  <a:pt x="82" y="182"/>
                </a:lnTo>
                <a:lnTo>
                  <a:pt x="98" y="173"/>
                </a:lnTo>
                <a:lnTo>
                  <a:pt x="114" y="162"/>
                </a:lnTo>
                <a:lnTo>
                  <a:pt x="131" y="151"/>
                </a:lnTo>
                <a:lnTo>
                  <a:pt x="147" y="140"/>
                </a:lnTo>
                <a:lnTo>
                  <a:pt x="164" y="127"/>
                </a:lnTo>
                <a:lnTo>
                  <a:pt x="180" y="115"/>
                </a:lnTo>
                <a:lnTo>
                  <a:pt x="196" y="102"/>
                </a:lnTo>
                <a:lnTo>
                  <a:pt x="213" y="89"/>
                </a:lnTo>
                <a:lnTo>
                  <a:pt x="229" y="77"/>
                </a:lnTo>
                <a:lnTo>
                  <a:pt x="246" y="64"/>
                </a:lnTo>
                <a:lnTo>
                  <a:pt x="262" y="53"/>
                </a:lnTo>
                <a:lnTo>
                  <a:pt x="278" y="42"/>
                </a:lnTo>
                <a:lnTo>
                  <a:pt x="295" y="32"/>
                </a:lnTo>
                <a:lnTo>
                  <a:pt x="311" y="23"/>
                </a:lnTo>
                <a:lnTo>
                  <a:pt x="327" y="15"/>
                </a:lnTo>
                <a:lnTo>
                  <a:pt x="344" y="8"/>
                </a:lnTo>
                <a:lnTo>
                  <a:pt x="360" y="4"/>
                </a:lnTo>
                <a:lnTo>
                  <a:pt x="377" y="1"/>
                </a:lnTo>
                <a:lnTo>
                  <a:pt x="393" y="0"/>
                </a:lnTo>
                <a:lnTo>
                  <a:pt x="393" y="17"/>
                </a:lnTo>
                <a:lnTo>
                  <a:pt x="377" y="18"/>
                </a:lnTo>
                <a:lnTo>
                  <a:pt x="360" y="21"/>
                </a:lnTo>
                <a:lnTo>
                  <a:pt x="344" y="26"/>
                </a:lnTo>
                <a:lnTo>
                  <a:pt x="327" y="32"/>
                </a:lnTo>
                <a:lnTo>
                  <a:pt x="311" y="40"/>
                </a:lnTo>
                <a:lnTo>
                  <a:pt x="295" y="49"/>
                </a:lnTo>
                <a:lnTo>
                  <a:pt x="278" y="59"/>
                </a:lnTo>
                <a:lnTo>
                  <a:pt x="262" y="70"/>
                </a:lnTo>
                <a:lnTo>
                  <a:pt x="246" y="82"/>
                </a:lnTo>
                <a:lnTo>
                  <a:pt x="229" y="94"/>
                </a:lnTo>
                <a:lnTo>
                  <a:pt x="213" y="106"/>
                </a:lnTo>
                <a:lnTo>
                  <a:pt x="196" y="119"/>
                </a:lnTo>
                <a:lnTo>
                  <a:pt x="180" y="132"/>
                </a:lnTo>
                <a:lnTo>
                  <a:pt x="164" y="145"/>
                </a:lnTo>
                <a:lnTo>
                  <a:pt x="147" y="157"/>
                </a:lnTo>
                <a:lnTo>
                  <a:pt x="131" y="169"/>
                </a:lnTo>
                <a:lnTo>
                  <a:pt x="114" y="180"/>
                </a:lnTo>
                <a:lnTo>
                  <a:pt x="98" y="190"/>
                </a:lnTo>
                <a:lnTo>
                  <a:pt x="82" y="199"/>
                </a:lnTo>
                <a:lnTo>
                  <a:pt x="65" y="206"/>
                </a:lnTo>
                <a:lnTo>
                  <a:pt x="49" y="213"/>
                </a:lnTo>
                <a:lnTo>
                  <a:pt x="33" y="218"/>
                </a:lnTo>
                <a:lnTo>
                  <a:pt x="16" y="221"/>
                </a:lnTo>
                <a:lnTo>
                  <a:pt x="0" y="22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3181350"/>
            <a:ext cx="3743325" cy="1047750"/>
          </a:xfrm>
          <a:custGeom>
            <a:avLst/>
            <a:gdLst/>
            <a:ahLst/>
            <a:cxnLst/>
            <a:rect l="l" t="t" r="r" b="b"/>
            <a:pathLst>
              <a:path w="393" h="110">
                <a:moveTo>
                  <a:pt x="0" y="98"/>
                </a:moveTo>
                <a:lnTo>
                  <a:pt x="16" y="97"/>
                </a:lnTo>
                <a:lnTo>
                  <a:pt x="33" y="96"/>
                </a:lnTo>
                <a:lnTo>
                  <a:pt x="49" y="93"/>
                </a:lnTo>
                <a:lnTo>
                  <a:pt x="65" y="90"/>
                </a:lnTo>
                <a:lnTo>
                  <a:pt x="82" y="87"/>
                </a:lnTo>
                <a:lnTo>
                  <a:pt x="98" y="82"/>
                </a:lnTo>
                <a:lnTo>
                  <a:pt x="114" y="78"/>
                </a:lnTo>
                <a:lnTo>
                  <a:pt x="131" y="72"/>
                </a:lnTo>
                <a:lnTo>
                  <a:pt x="147" y="67"/>
                </a:lnTo>
                <a:lnTo>
                  <a:pt x="164" y="61"/>
                </a:lnTo>
                <a:lnTo>
                  <a:pt x="180" y="55"/>
                </a:lnTo>
                <a:lnTo>
                  <a:pt x="196" y="49"/>
                </a:lnTo>
                <a:lnTo>
                  <a:pt x="213" y="43"/>
                </a:lnTo>
                <a:lnTo>
                  <a:pt x="229" y="37"/>
                </a:lnTo>
                <a:lnTo>
                  <a:pt x="246" y="31"/>
                </a:lnTo>
                <a:lnTo>
                  <a:pt x="262" y="25"/>
                </a:lnTo>
                <a:lnTo>
                  <a:pt x="278" y="20"/>
                </a:lnTo>
                <a:lnTo>
                  <a:pt x="295" y="15"/>
                </a:lnTo>
                <a:lnTo>
                  <a:pt x="311" y="11"/>
                </a:lnTo>
                <a:lnTo>
                  <a:pt x="327" y="7"/>
                </a:lnTo>
                <a:lnTo>
                  <a:pt x="344" y="4"/>
                </a:lnTo>
                <a:lnTo>
                  <a:pt x="360" y="2"/>
                </a:lnTo>
                <a:lnTo>
                  <a:pt x="377" y="0"/>
                </a:lnTo>
                <a:lnTo>
                  <a:pt x="393" y="0"/>
                </a:lnTo>
                <a:lnTo>
                  <a:pt x="393" y="12"/>
                </a:lnTo>
                <a:lnTo>
                  <a:pt x="377" y="13"/>
                </a:lnTo>
                <a:lnTo>
                  <a:pt x="360" y="14"/>
                </a:lnTo>
                <a:lnTo>
                  <a:pt x="344" y="17"/>
                </a:lnTo>
                <a:lnTo>
                  <a:pt x="327" y="20"/>
                </a:lnTo>
                <a:lnTo>
                  <a:pt x="311" y="23"/>
                </a:lnTo>
                <a:lnTo>
                  <a:pt x="295" y="28"/>
                </a:lnTo>
                <a:lnTo>
                  <a:pt x="278" y="33"/>
                </a:lnTo>
                <a:lnTo>
                  <a:pt x="262" y="38"/>
                </a:lnTo>
                <a:lnTo>
                  <a:pt x="246" y="43"/>
                </a:lnTo>
                <a:lnTo>
                  <a:pt x="229" y="49"/>
                </a:lnTo>
                <a:lnTo>
                  <a:pt x="213" y="55"/>
                </a:lnTo>
                <a:lnTo>
                  <a:pt x="196" y="61"/>
                </a:lnTo>
                <a:lnTo>
                  <a:pt x="180" y="67"/>
                </a:lnTo>
                <a:lnTo>
                  <a:pt x="164" y="73"/>
                </a:lnTo>
                <a:lnTo>
                  <a:pt x="147" y="79"/>
                </a:lnTo>
                <a:lnTo>
                  <a:pt x="131" y="85"/>
                </a:lnTo>
                <a:lnTo>
                  <a:pt x="114" y="90"/>
                </a:lnTo>
                <a:lnTo>
                  <a:pt x="98" y="95"/>
                </a:lnTo>
                <a:lnTo>
                  <a:pt x="82" y="99"/>
                </a:lnTo>
                <a:lnTo>
                  <a:pt x="65" y="103"/>
                </a:lnTo>
                <a:lnTo>
                  <a:pt x="49" y="106"/>
                </a:lnTo>
                <a:lnTo>
                  <a:pt x="33" y="108"/>
                </a:lnTo>
                <a:lnTo>
                  <a:pt x="16" y="110"/>
                </a:lnTo>
                <a:lnTo>
                  <a:pt x="0" y="11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4133850"/>
            <a:ext cx="3743325" cy="219075"/>
          </a:xfrm>
          <a:custGeom>
            <a:avLst/>
            <a:gdLst/>
            <a:ahLst/>
            <a:cxnLst/>
            <a:rect l="l" t="t" r="r" b="b"/>
            <a:pathLst>
              <a:path w="393" h="23">
                <a:moveTo>
                  <a:pt x="0" y="10"/>
                </a:moveTo>
                <a:lnTo>
                  <a:pt x="16" y="10"/>
                </a:lnTo>
                <a:lnTo>
                  <a:pt x="33" y="10"/>
                </a:lnTo>
                <a:lnTo>
                  <a:pt x="49" y="10"/>
                </a:lnTo>
                <a:lnTo>
                  <a:pt x="65" y="9"/>
                </a:lnTo>
                <a:lnTo>
                  <a:pt x="82" y="9"/>
                </a:lnTo>
                <a:lnTo>
                  <a:pt x="98" y="9"/>
                </a:lnTo>
                <a:lnTo>
                  <a:pt x="114" y="8"/>
                </a:lnTo>
                <a:lnTo>
                  <a:pt x="131" y="8"/>
                </a:lnTo>
                <a:lnTo>
                  <a:pt x="147" y="7"/>
                </a:lnTo>
                <a:lnTo>
                  <a:pt x="164" y="6"/>
                </a:lnTo>
                <a:lnTo>
                  <a:pt x="180" y="6"/>
                </a:lnTo>
                <a:lnTo>
                  <a:pt x="196" y="5"/>
                </a:lnTo>
                <a:lnTo>
                  <a:pt x="213" y="5"/>
                </a:lnTo>
                <a:lnTo>
                  <a:pt x="229" y="4"/>
                </a:lnTo>
                <a:lnTo>
                  <a:pt x="246" y="3"/>
                </a:lnTo>
                <a:lnTo>
                  <a:pt x="262" y="3"/>
                </a:lnTo>
                <a:lnTo>
                  <a:pt x="278" y="2"/>
                </a:lnTo>
                <a:lnTo>
                  <a:pt x="295" y="2"/>
                </a:lnTo>
                <a:lnTo>
                  <a:pt x="311" y="1"/>
                </a:lnTo>
                <a:lnTo>
                  <a:pt x="327" y="1"/>
                </a:lnTo>
                <a:lnTo>
                  <a:pt x="344" y="1"/>
                </a:lnTo>
                <a:lnTo>
                  <a:pt x="360" y="0"/>
                </a:lnTo>
                <a:lnTo>
                  <a:pt x="377" y="0"/>
                </a:lnTo>
                <a:lnTo>
                  <a:pt x="393" y="0"/>
                </a:lnTo>
                <a:lnTo>
                  <a:pt x="393" y="13"/>
                </a:lnTo>
                <a:lnTo>
                  <a:pt x="377" y="13"/>
                </a:lnTo>
                <a:lnTo>
                  <a:pt x="360" y="13"/>
                </a:lnTo>
                <a:lnTo>
                  <a:pt x="344" y="14"/>
                </a:lnTo>
                <a:lnTo>
                  <a:pt x="327" y="14"/>
                </a:lnTo>
                <a:lnTo>
                  <a:pt x="311" y="14"/>
                </a:lnTo>
                <a:lnTo>
                  <a:pt x="295" y="15"/>
                </a:lnTo>
                <a:lnTo>
                  <a:pt x="278" y="15"/>
                </a:lnTo>
                <a:lnTo>
                  <a:pt x="262" y="16"/>
                </a:lnTo>
                <a:lnTo>
                  <a:pt x="246" y="16"/>
                </a:lnTo>
                <a:lnTo>
                  <a:pt x="229" y="17"/>
                </a:lnTo>
                <a:lnTo>
                  <a:pt x="213" y="17"/>
                </a:lnTo>
                <a:lnTo>
                  <a:pt x="196" y="18"/>
                </a:lnTo>
                <a:lnTo>
                  <a:pt x="180" y="19"/>
                </a:lnTo>
                <a:lnTo>
                  <a:pt x="164" y="19"/>
                </a:lnTo>
                <a:lnTo>
                  <a:pt x="147" y="20"/>
                </a:lnTo>
                <a:lnTo>
                  <a:pt x="131" y="20"/>
                </a:lnTo>
                <a:lnTo>
                  <a:pt x="114" y="21"/>
                </a:lnTo>
                <a:lnTo>
                  <a:pt x="98" y="22"/>
                </a:lnTo>
                <a:lnTo>
                  <a:pt x="82" y="22"/>
                </a:lnTo>
                <a:lnTo>
                  <a:pt x="65" y="22"/>
                </a:lnTo>
                <a:lnTo>
                  <a:pt x="49" y="23"/>
                </a:lnTo>
                <a:lnTo>
                  <a:pt x="33" y="23"/>
                </a:lnTo>
                <a:lnTo>
                  <a:pt x="16" y="23"/>
                </a:lnTo>
                <a:lnTo>
                  <a:pt x="0" y="23"/>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4352925"/>
            <a:ext cx="3743325" cy="666750"/>
          </a:xfrm>
          <a:custGeom>
            <a:avLst/>
            <a:gdLst/>
            <a:ahLst/>
            <a:cxnLst/>
            <a:rect l="l" t="t" r="r" b="b"/>
            <a:pathLst>
              <a:path w="393" h="70">
                <a:moveTo>
                  <a:pt x="0" y="0"/>
                </a:moveTo>
                <a:lnTo>
                  <a:pt x="16" y="0"/>
                </a:lnTo>
                <a:lnTo>
                  <a:pt x="33" y="1"/>
                </a:lnTo>
                <a:lnTo>
                  <a:pt x="49" y="3"/>
                </a:lnTo>
                <a:lnTo>
                  <a:pt x="65" y="5"/>
                </a:lnTo>
                <a:lnTo>
                  <a:pt x="82" y="7"/>
                </a:lnTo>
                <a:lnTo>
                  <a:pt x="98" y="10"/>
                </a:lnTo>
                <a:lnTo>
                  <a:pt x="114" y="13"/>
                </a:lnTo>
                <a:lnTo>
                  <a:pt x="131" y="16"/>
                </a:lnTo>
                <a:lnTo>
                  <a:pt x="147" y="19"/>
                </a:lnTo>
                <a:lnTo>
                  <a:pt x="164" y="23"/>
                </a:lnTo>
                <a:lnTo>
                  <a:pt x="180" y="27"/>
                </a:lnTo>
                <a:lnTo>
                  <a:pt x="196" y="30"/>
                </a:lnTo>
                <a:lnTo>
                  <a:pt x="213" y="34"/>
                </a:lnTo>
                <a:lnTo>
                  <a:pt x="229" y="38"/>
                </a:lnTo>
                <a:lnTo>
                  <a:pt x="246" y="41"/>
                </a:lnTo>
                <a:lnTo>
                  <a:pt x="262" y="45"/>
                </a:lnTo>
                <a:lnTo>
                  <a:pt x="278" y="48"/>
                </a:lnTo>
                <a:lnTo>
                  <a:pt x="295" y="51"/>
                </a:lnTo>
                <a:lnTo>
                  <a:pt x="311" y="54"/>
                </a:lnTo>
                <a:lnTo>
                  <a:pt x="327" y="56"/>
                </a:lnTo>
                <a:lnTo>
                  <a:pt x="344" y="58"/>
                </a:lnTo>
                <a:lnTo>
                  <a:pt x="360" y="59"/>
                </a:lnTo>
                <a:lnTo>
                  <a:pt x="377" y="60"/>
                </a:lnTo>
                <a:lnTo>
                  <a:pt x="393" y="61"/>
                </a:lnTo>
                <a:lnTo>
                  <a:pt x="393" y="70"/>
                </a:lnTo>
                <a:lnTo>
                  <a:pt x="377" y="70"/>
                </a:lnTo>
                <a:lnTo>
                  <a:pt x="360" y="69"/>
                </a:lnTo>
                <a:lnTo>
                  <a:pt x="344" y="68"/>
                </a:lnTo>
                <a:lnTo>
                  <a:pt x="327" y="66"/>
                </a:lnTo>
                <a:lnTo>
                  <a:pt x="311" y="63"/>
                </a:lnTo>
                <a:lnTo>
                  <a:pt x="295" y="61"/>
                </a:lnTo>
                <a:lnTo>
                  <a:pt x="278" y="58"/>
                </a:lnTo>
                <a:lnTo>
                  <a:pt x="262" y="54"/>
                </a:lnTo>
                <a:lnTo>
                  <a:pt x="246" y="51"/>
                </a:lnTo>
                <a:lnTo>
                  <a:pt x="229" y="47"/>
                </a:lnTo>
                <a:lnTo>
                  <a:pt x="213" y="44"/>
                </a:lnTo>
                <a:lnTo>
                  <a:pt x="196" y="40"/>
                </a:lnTo>
                <a:lnTo>
                  <a:pt x="180" y="36"/>
                </a:lnTo>
                <a:lnTo>
                  <a:pt x="164" y="32"/>
                </a:lnTo>
                <a:lnTo>
                  <a:pt x="147" y="29"/>
                </a:lnTo>
                <a:lnTo>
                  <a:pt x="131" y="25"/>
                </a:lnTo>
                <a:lnTo>
                  <a:pt x="114" y="22"/>
                </a:lnTo>
                <a:lnTo>
                  <a:pt x="98" y="19"/>
                </a:lnTo>
                <a:lnTo>
                  <a:pt x="82" y="16"/>
                </a:lnTo>
                <a:lnTo>
                  <a:pt x="65" y="14"/>
                </a:lnTo>
                <a:lnTo>
                  <a:pt x="49" y="12"/>
                </a:lnTo>
                <a:lnTo>
                  <a:pt x="33" y="11"/>
                </a:lnTo>
                <a:lnTo>
                  <a:pt x="16" y="10"/>
                </a:lnTo>
                <a:lnTo>
                  <a:pt x="0" y="1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4448175"/>
            <a:ext cx="3743325" cy="1152525"/>
          </a:xfrm>
          <a:custGeom>
            <a:avLst/>
            <a:gdLst/>
            <a:ahLst/>
            <a:cxnLst/>
            <a:rect l="l" t="t" r="r" b="b"/>
            <a:pathLst>
              <a:path w="393" h="121">
                <a:moveTo>
                  <a:pt x="0" y="0"/>
                </a:moveTo>
                <a:lnTo>
                  <a:pt x="16" y="0"/>
                </a:lnTo>
                <a:lnTo>
                  <a:pt x="33" y="2"/>
                </a:lnTo>
                <a:lnTo>
                  <a:pt x="49" y="5"/>
                </a:lnTo>
                <a:lnTo>
                  <a:pt x="65" y="8"/>
                </a:lnTo>
                <a:lnTo>
                  <a:pt x="82" y="13"/>
                </a:lnTo>
                <a:lnTo>
                  <a:pt x="98" y="18"/>
                </a:lnTo>
                <a:lnTo>
                  <a:pt x="114" y="23"/>
                </a:lnTo>
                <a:lnTo>
                  <a:pt x="131" y="30"/>
                </a:lnTo>
                <a:lnTo>
                  <a:pt x="147" y="36"/>
                </a:lnTo>
                <a:lnTo>
                  <a:pt x="164" y="43"/>
                </a:lnTo>
                <a:lnTo>
                  <a:pt x="180" y="50"/>
                </a:lnTo>
                <a:lnTo>
                  <a:pt x="196" y="57"/>
                </a:lnTo>
                <a:lnTo>
                  <a:pt x="213" y="65"/>
                </a:lnTo>
                <a:lnTo>
                  <a:pt x="229" y="72"/>
                </a:lnTo>
                <a:lnTo>
                  <a:pt x="246" y="79"/>
                </a:lnTo>
                <a:lnTo>
                  <a:pt x="262" y="85"/>
                </a:lnTo>
                <a:lnTo>
                  <a:pt x="278" y="91"/>
                </a:lnTo>
                <a:lnTo>
                  <a:pt x="295" y="97"/>
                </a:lnTo>
                <a:lnTo>
                  <a:pt x="311" y="102"/>
                </a:lnTo>
                <a:lnTo>
                  <a:pt x="327" y="107"/>
                </a:lnTo>
                <a:lnTo>
                  <a:pt x="344" y="110"/>
                </a:lnTo>
                <a:lnTo>
                  <a:pt x="360" y="113"/>
                </a:lnTo>
                <a:lnTo>
                  <a:pt x="377" y="115"/>
                </a:lnTo>
                <a:lnTo>
                  <a:pt x="393" y="115"/>
                </a:lnTo>
                <a:lnTo>
                  <a:pt x="393" y="121"/>
                </a:lnTo>
                <a:lnTo>
                  <a:pt x="377" y="121"/>
                </a:lnTo>
                <a:lnTo>
                  <a:pt x="360" y="119"/>
                </a:lnTo>
                <a:lnTo>
                  <a:pt x="344" y="116"/>
                </a:lnTo>
                <a:lnTo>
                  <a:pt x="327" y="113"/>
                </a:lnTo>
                <a:lnTo>
                  <a:pt x="311" y="108"/>
                </a:lnTo>
                <a:lnTo>
                  <a:pt x="295" y="103"/>
                </a:lnTo>
                <a:lnTo>
                  <a:pt x="278" y="97"/>
                </a:lnTo>
                <a:lnTo>
                  <a:pt x="262" y="91"/>
                </a:lnTo>
                <a:lnTo>
                  <a:pt x="246" y="85"/>
                </a:lnTo>
                <a:lnTo>
                  <a:pt x="229" y="78"/>
                </a:lnTo>
                <a:lnTo>
                  <a:pt x="213" y="71"/>
                </a:lnTo>
                <a:lnTo>
                  <a:pt x="196" y="63"/>
                </a:lnTo>
                <a:lnTo>
                  <a:pt x="180" y="56"/>
                </a:lnTo>
                <a:lnTo>
                  <a:pt x="164" y="49"/>
                </a:lnTo>
                <a:lnTo>
                  <a:pt x="147" y="42"/>
                </a:lnTo>
                <a:lnTo>
                  <a:pt x="131" y="36"/>
                </a:lnTo>
                <a:lnTo>
                  <a:pt x="114" y="29"/>
                </a:lnTo>
                <a:lnTo>
                  <a:pt x="98" y="24"/>
                </a:lnTo>
                <a:lnTo>
                  <a:pt x="82" y="19"/>
                </a:lnTo>
                <a:lnTo>
                  <a:pt x="65" y="14"/>
                </a:lnTo>
                <a:lnTo>
                  <a:pt x="49" y="11"/>
                </a:lnTo>
                <a:lnTo>
                  <a:pt x="33" y="8"/>
                </a:lnTo>
                <a:lnTo>
                  <a:pt x="16" y="6"/>
                </a:lnTo>
                <a:lnTo>
                  <a:pt x="0" y="6"/>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4505325"/>
            <a:ext cx="3743325" cy="1543050"/>
          </a:xfrm>
          <a:custGeom>
            <a:avLst/>
            <a:gdLst/>
            <a:ahLst/>
            <a:cxnLst/>
            <a:rect l="l" t="t" r="r" b="b"/>
            <a:pathLst>
              <a:path w="393" h="162">
                <a:moveTo>
                  <a:pt x="0" y="0"/>
                </a:moveTo>
                <a:lnTo>
                  <a:pt x="16" y="0"/>
                </a:lnTo>
                <a:lnTo>
                  <a:pt x="33" y="3"/>
                </a:lnTo>
                <a:lnTo>
                  <a:pt x="49" y="6"/>
                </a:lnTo>
                <a:lnTo>
                  <a:pt x="65" y="11"/>
                </a:lnTo>
                <a:lnTo>
                  <a:pt x="82" y="17"/>
                </a:lnTo>
                <a:lnTo>
                  <a:pt x="98" y="24"/>
                </a:lnTo>
                <a:lnTo>
                  <a:pt x="114" y="32"/>
                </a:lnTo>
                <a:lnTo>
                  <a:pt x="131" y="40"/>
                </a:lnTo>
                <a:lnTo>
                  <a:pt x="147" y="49"/>
                </a:lnTo>
                <a:lnTo>
                  <a:pt x="164" y="59"/>
                </a:lnTo>
                <a:lnTo>
                  <a:pt x="180" y="69"/>
                </a:lnTo>
                <a:lnTo>
                  <a:pt x="196" y="78"/>
                </a:lnTo>
                <a:lnTo>
                  <a:pt x="213" y="88"/>
                </a:lnTo>
                <a:lnTo>
                  <a:pt x="229" y="98"/>
                </a:lnTo>
                <a:lnTo>
                  <a:pt x="246" y="107"/>
                </a:lnTo>
                <a:lnTo>
                  <a:pt x="262" y="116"/>
                </a:lnTo>
                <a:lnTo>
                  <a:pt x="278" y="125"/>
                </a:lnTo>
                <a:lnTo>
                  <a:pt x="295" y="132"/>
                </a:lnTo>
                <a:lnTo>
                  <a:pt x="311" y="139"/>
                </a:lnTo>
                <a:lnTo>
                  <a:pt x="327" y="145"/>
                </a:lnTo>
                <a:lnTo>
                  <a:pt x="344" y="150"/>
                </a:lnTo>
                <a:lnTo>
                  <a:pt x="360" y="154"/>
                </a:lnTo>
                <a:lnTo>
                  <a:pt x="377" y="156"/>
                </a:lnTo>
                <a:lnTo>
                  <a:pt x="393" y="157"/>
                </a:lnTo>
                <a:lnTo>
                  <a:pt x="393" y="162"/>
                </a:lnTo>
                <a:lnTo>
                  <a:pt x="377" y="161"/>
                </a:lnTo>
                <a:lnTo>
                  <a:pt x="360" y="159"/>
                </a:lnTo>
                <a:lnTo>
                  <a:pt x="344" y="155"/>
                </a:lnTo>
                <a:lnTo>
                  <a:pt x="327" y="150"/>
                </a:lnTo>
                <a:lnTo>
                  <a:pt x="311" y="144"/>
                </a:lnTo>
                <a:lnTo>
                  <a:pt x="295" y="137"/>
                </a:lnTo>
                <a:lnTo>
                  <a:pt x="278" y="130"/>
                </a:lnTo>
                <a:lnTo>
                  <a:pt x="262" y="121"/>
                </a:lnTo>
                <a:lnTo>
                  <a:pt x="246" y="112"/>
                </a:lnTo>
                <a:lnTo>
                  <a:pt x="229" y="103"/>
                </a:lnTo>
                <a:lnTo>
                  <a:pt x="213" y="93"/>
                </a:lnTo>
                <a:lnTo>
                  <a:pt x="196" y="83"/>
                </a:lnTo>
                <a:lnTo>
                  <a:pt x="180" y="73"/>
                </a:lnTo>
                <a:lnTo>
                  <a:pt x="164" y="64"/>
                </a:lnTo>
                <a:lnTo>
                  <a:pt x="147" y="54"/>
                </a:lnTo>
                <a:lnTo>
                  <a:pt x="131" y="45"/>
                </a:lnTo>
                <a:lnTo>
                  <a:pt x="114" y="37"/>
                </a:lnTo>
                <a:lnTo>
                  <a:pt x="98" y="29"/>
                </a:lnTo>
                <a:lnTo>
                  <a:pt x="82" y="22"/>
                </a:lnTo>
                <a:lnTo>
                  <a:pt x="65" y="16"/>
                </a:lnTo>
                <a:lnTo>
                  <a:pt x="49" y="11"/>
                </a:lnTo>
                <a:lnTo>
                  <a:pt x="33" y="8"/>
                </a:lnTo>
                <a:lnTo>
                  <a:pt x="16" y="5"/>
                </a:lnTo>
                <a:lnTo>
                  <a:pt x="0" y="5"/>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4552950"/>
            <a:ext cx="3743325" cy="1838325"/>
          </a:xfrm>
          <a:custGeom>
            <a:avLst/>
            <a:gdLst/>
            <a:ahLst/>
            <a:cxnLst/>
            <a:rect l="l" t="t" r="r" b="b"/>
            <a:pathLst>
              <a:path w="393" h="193">
                <a:moveTo>
                  <a:pt x="0" y="0"/>
                </a:moveTo>
                <a:lnTo>
                  <a:pt x="16" y="1"/>
                </a:lnTo>
                <a:lnTo>
                  <a:pt x="33" y="3"/>
                </a:lnTo>
                <a:lnTo>
                  <a:pt x="49" y="8"/>
                </a:lnTo>
                <a:lnTo>
                  <a:pt x="65" y="14"/>
                </a:lnTo>
                <a:lnTo>
                  <a:pt x="82" y="21"/>
                </a:lnTo>
                <a:lnTo>
                  <a:pt x="98" y="29"/>
                </a:lnTo>
                <a:lnTo>
                  <a:pt x="114" y="39"/>
                </a:lnTo>
                <a:lnTo>
                  <a:pt x="131" y="49"/>
                </a:lnTo>
                <a:lnTo>
                  <a:pt x="147" y="60"/>
                </a:lnTo>
                <a:lnTo>
                  <a:pt x="164" y="71"/>
                </a:lnTo>
                <a:lnTo>
                  <a:pt x="180" y="83"/>
                </a:lnTo>
                <a:lnTo>
                  <a:pt x="196" y="95"/>
                </a:lnTo>
                <a:lnTo>
                  <a:pt x="213" y="106"/>
                </a:lnTo>
                <a:lnTo>
                  <a:pt x="229" y="118"/>
                </a:lnTo>
                <a:lnTo>
                  <a:pt x="246" y="129"/>
                </a:lnTo>
                <a:lnTo>
                  <a:pt x="262" y="140"/>
                </a:lnTo>
                <a:lnTo>
                  <a:pt x="278" y="150"/>
                </a:lnTo>
                <a:lnTo>
                  <a:pt x="295" y="160"/>
                </a:lnTo>
                <a:lnTo>
                  <a:pt x="311" y="168"/>
                </a:lnTo>
                <a:lnTo>
                  <a:pt x="327" y="175"/>
                </a:lnTo>
                <a:lnTo>
                  <a:pt x="344" y="181"/>
                </a:lnTo>
                <a:lnTo>
                  <a:pt x="360" y="186"/>
                </a:lnTo>
                <a:lnTo>
                  <a:pt x="377" y="189"/>
                </a:lnTo>
                <a:lnTo>
                  <a:pt x="393" y="190"/>
                </a:lnTo>
                <a:lnTo>
                  <a:pt x="393" y="193"/>
                </a:lnTo>
                <a:lnTo>
                  <a:pt x="377" y="192"/>
                </a:lnTo>
                <a:lnTo>
                  <a:pt x="360" y="189"/>
                </a:lnTo>
                <a:lnTo>
                  <a:pt x="344" y="185"/>
                </a:lnTo>
                <a:lnTo>
                  <a:pt x="327" y="179"/>
                </a:lnTo>
                <a:lnTo>
                  <a:pt x="311" y="171"/>
                </a:lnTo>
                <a:lnTo>
                  <a:pt x="295" y="163"/>
                </a:lnTo>
                <a:lnTo>
                  <a:pt x="278" y="154"/>
                </a:lnTo>
                <a:lnTo>
                  <a:pt x="262" y="143"/>
                </a:lnTo>
                <a:lnTo>
                  <a:pt x="246" y="133"/>
                </a:lnTo>
                <a:lnTo>
                  <a:pt x="229" y="121"/>
                </a:lnTo>
                <a:lnTo>
                  <a:pt x="213" y="110"/>
                </a:lnTo>
                <a:lnTo>
                  <a:pt x="196" y="98"/>
                </a:lnTo>
                <a:lnTo>
                  <a:pt x="180" y="86"/>
                </a:lnTo>
                <a:lnTo>
                  <a:pt x="164" y="74"/>
                </a:lnTo>
                <a:lnTo>
                  <a:pt x="147" y="63"/>
                </a:lnTo>
                <a:lnTo>
                  <a:pt x="131" y="52"/>
                </a:lnTo>
                <a:lnTo>
                  <a:pt x="114" y="42"/>
                </a:lnTo>
                <a:lnTo>
                  <a:pt x="98" y="32"/>
                </a:lnTo>
                <a:lnTo>
                  <a:pt x="82" y="24"/>
                </a:lnTo>
                <a:lnTo>
                  <a:pt x="65" y="17"/>
                </a:lnTo>
                <a:lnTo>
                  <a:pt x="49" y="11"/>
                </a:lnTo>
                <a:lnTo>
                  <a:pt x="33" y="7"/>
                </a:lnTo>
                <a:lnTo>
                  <a:pt x="16" y="4"/>
                </a:lnTo>
                <a:lnTo>
                  <a:pt x="0" y="3"/>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2162175"/>
            <a:ext cx="3743325" cy="2647950"/>
          </a:xfrm>
          <a:custGeom>
            <a:avLst/>
            <a:gdLst/>
            <a:ahLst/>
            <a:cxnLst/>
            <a:rect l="l" t="t" r="r" b="b"/>
            <a:pathLst>
              <a:path w="393" h="278">
                <a:moveTo>
                  <a:pt x="0" y="260"/>
                </a:moveTo>
                <a:lnTo>
                  <a:pt x="16" y="258"/>
                </a:lnTo>
                <a:lnTo>
                  <a:pt x="33" y="255"/>
                </a:lnTo>
                <a:lnTo>
                  <a:pt x="49" y="249"/>
                </a:lnTo>
                <a:lnTo>
                  <a:pt x="65" y="241"/>
                </a:lnTo>
                <a:lnTo>
                  <a:pt x="82" y="231"/>
                </a:lnTo>
                <a:lnTo>
                  <a:pt x="98" y="219"/>
                </a:lnTo>
                <a:lnTo>
                  <a:pt x="114" y="206"/>
                </a:lnTo>
                <a:lnTo>
                  <a:pt x="131" y="192"/>
                </a:lnTo>
                <a:lnTo>
                  <a:pt x="147" y="177"/>
                </a:lnTo>
                <a:lnTo>
                  <a:pt x="164" y="162"/>
                </a:lnTo>
                <a:lnTo>
                  <a:pt x="180" y="146"/>
                </a:lnTo>
                <a:lnTo>
                  <a:pt x="196" y="130"/>
                </a:lnTo>
                <a:lnTo>
                  <a:pt x="213" y="114"/>
                </a:lnTo>
                <a:lnTo>
                  <a:pt x="229" y="98"/>
                </a:lnTo>
                <a:lnTo>
                  <a:pt x="246" y="82"/>
                </a:lnTo>
                <a:lnTo>
                  <a:pt x="262" y="67"/>
                </a:lnTo>
                <a:lnTo>
                  <a:pt x="278" y="53"/>
                </a:lnTo>
                <a:lnTo>
                  <a:pt x="295" y="40"/>
                </a:lnTo>
                <a:lnTo>
                  <a:pt x="311" y="29"/>
                </a:lnTo>
                <a:lnTo>
                  <a:pt x="327" y="19"/>
                </a:lnTo>
                <a:lnTo>
                  <a:pt x="344" y="11"/>
                </a:lnTo>
                <a:lnTo>
                  <a:pt x="360" y="5"/>
                </a:lnTo>
                <a:lnTo>
                  <a:pt x="377" y="1"/>
                </a:lnTo>
                <a:lnTo>
                  <a:pt x="393" y="0"/>
                </a:lnTo>
                <a:lnTo>
                  <a:pt x="393" y="18"/>
                </a:lnTo>
                <a:lnTo>
                  <a:pt x="377" y="19"/>
                </a:lnTo>
                <a:lnTo>
                  <a:pt x="360" y="23"/>
                </a:lnTo>
                <a:lnTo>
                  <a:pt x="344" y="29"/>
                </a:lnTo>
                <a:lnTo>
                  <a:pt x="327" y="37"/>
                </a:lnTo>
                <a:lnTo>
                  <a:pt x="311" y="47"/>
                </a:lnTo>
                <a:lnTo>
                  <a:pt x="295" y="58"/>
                </a:lnTo>
                <a:lnTo>
                  <a:pt x="278" y="71"/>
                </a:lnTo>
                <a:lnTo>
                  <a:pt x="262" y="85"/>
                </a:lnTo>
                <a:lnTo>
                  <a:pt x="246" y="100"/>
                </a:lnTo>
                <a:lnTo>
                  <a:pt x="229" y="115"/>
                </a:lnTo>
                <a:lnTo>
                  <a:pt x="213" y="131"/>
                </a:lnTo>
                <a:lnTo>
                  <a:pt x="196" y="148"/>
                </a:lnTo>
                <a:lnTo>
                  <a:pt x="180" y="164"/>
                </a:lnTo>
                <a:lnTo>
                  <a:pt x="164" y="180"/>
                </a:lnTo>
                <a:lnTo>
                  <a:pt x="147" y="195"/>
                </a:lnTo>
                <a:lnTo>
                  <a:pt x="131" y="210"/>
                </a:lnTo>
                <a:lnTo>
                  <a:pt x="114" y="224"/>
                </a:lnTo>
                <a:lnTo>
                  <a:pt x="98" y="237"/>
                </a:lnTo>
                <a:lnTo>
                  <a:pt x="82" y="248"/>
                </a:lnTo>
                <a:lnTo>
                  <a:pt x="65" y="258"/>
                </a:lnTo>
                <a:lnTo>
                  <a:pt x="49" y="266"/>
                </a:lnTo>
                <a:lnTo>
                  <a:pt x="33" y="273"/>
                </a:lnTo>
                <a:lnTo>
                  <a:pt x="16" y="276"/>
                </a:lnTo>
                <a:lnTo>
                  <a:pt x="0" y="27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3295650"/>
            <a:ext cx="3743325" cy="1628775"/>
          </a:xfrm>
          <a:custGeom>
            <a:avLst/>
            <a:gdLst/>
            <a:ahLst/>
            <a:cxnLst/>
            <a:rect l="l" t="t" r="r" b="b"/>
            <a:pathLst>
              <a:path w="393" h="171">
                <a:moveTo>
                  <a:pt x="0" y="159"/>
                </a:moveTo>
                <a:lnTo>
                  <a:pt x="16" y="158"/>
                </a:lnTo>
                <a:lnTo>
                  <a:pt x="33" y="156"/>
                </a:lnTo>
                <a:lnTo>
                  <a:pt x="49" y="152"/>
                </a:lnTo>
                <a:lnTo>
                  <a:pt x="65" y="147"/>
                </a:lnTo>
                <a:lnTo>
                  <a:pt x="82" y="141"/>
                </a:lnTo>
                <a:lnTo>
                  <a:pt x="98" y="134"/>
                </a:lnTo>
                <a:lnTo>
                  <a:pt x="114" y="126"/>
                </a:lnTo>
                <a:lnTo>
                  <a:pt x="131" y="118"/>
                </a:lnTo>
                <a:lnTo>
                  <a:pt x="147" y="109"/>
                </a:lnTo>
                <a:lnTo>
                  <a:pt x="164" y="99"/>
                </a:lnTo>
                <a:lnTo>
                  <a:pt x="180" y="89"/>
                </a:lnTo>
                <a:lnTo>
                  <a:pt x="196" y="80"/>
                </a:lnTo>
                <a:lnTo>
                  <a:pt x="213" y="70"/>
                </a:lnTo>
                <a:lnTo>
                  <a:pt x="229" y="60"/>
                </a:lnTo>
                <a:lnTo>
                  <a:pt x="246" y="51"/>
                </a:lnTo>
                <a:lnTo>
                  <a:pt x="262" y="41"/>
                </a:lnTo>
                <a:lnTo>
                  <a:pt x="278" y="33"/>
                </a:lnTo>
                <a:lnTo>
                  <a:pt x="295" y="25"/>
                </a:lnTo>
                <a:lnTo>
                  <a:pt x="311" y="18"/>
                </a:lnTo>
                <a:lnTo>
                  <a:pt x="327" y="12"/>
                </a:lnTo>
                <a:lnTo>
                  <a:pt x="344" y="7"/>
                </a:lnTo>
                <a:lnTo>
                  <a:pt x="360" y="4"/>
                </a:lnTo>
                <a:lnTo>
                  <a:pt x="377" y="1"/>
                </a:lnTo>
                <a:lnTo>
                  <a:pt x="393" y="0"/>
                </a:lnTo>
                <a:lnTo>
                  <a:pt x="393" y="13"/>
                </a:lnTo>
                <a:lnTo>
                  <a:pt x="377" y="13"/>
                </a:lnTo>
                <a:lnTo>
                  <a:pt x="360" y="16"/>
                </a:lnTo>
                <a:lnTo>
                  <a:pt x="344" y="19"/>
                </a:lnTo>
                <a:lnTo>
                  <a:pt x="327" y="24"/>
                </a:lnTo>
                <a:lnTo>
                  <a:pt x="311" y="30"/>
                </a:lnTo>
                <a:lnTo>
                  <a:pt x="295" y="37"/>
                </a:lnTo>
                <a:lnTo>
                  <a:pt x="278" y="45"/>
                </a:lnTo>
                <a:lnTo>
                  <a:pt x="262" y="54"/>
                </a:lnTo>
                <a:lnTo>
                  <a:pt x="246" y="63"/>
                </a:lnTo>
                <a:lnTo>
                  <a:pt x="229" y="72"/>
                </a:lnTo>
                <a:lnTo>
                  <a:pt x="213" y="82"/>
                </a:lnTo>
                <a:lnTo>
                  <a:pt x="196" y="92"/>
                </a:lnTo>
                <a:lnTo>
                  <a:pt x="180" y="102"/>
                </a:lnTo>
                <a:lnTo>
                  <a:pt x="164" y="111"/>
                </a:lnTo>
                <a:lnTo>
                  <a:pt x="147" y="121"/>
                </a:lnTo>
                <a:lnTo>
                  <a:pt x="131" y="130"/>
                </a:lnTo>
                <a:lnTo>
                  <a:pt x="114" y="138"/>
                </a:lnTo>
                <a:lnTo>
                  <a:pt x="98" y="146"/>
                </a:lnTo>
                <a:lnTo>
                  <a:pt x="82" y="153"/>
                </a:lnTo>
                <a:lnTo>
                  <a:pt x="65" y="159"/>
                </a:lnTo>
                <a:lnTo>
                  <a:pt x="49" y="164"/>
                </a:lnTo>
                <a:lnTo>
                  <a:pt x="33" y="168"/>
                </a:lnTo>
                <a:lnTo>
                  <a:pt x="16" y="170"/>
                </a:lnTo>
                <a:lnTo>
                  <a:pt x="0" y="17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057400" y="4257675"/>
            <a:ext cx="3743325" cy="762000"/>
          </a:xfrm>
          <a:custGeom>
            <a:avLst/>
            <a:gdLst/>
            <a:ahLst/>
            <a:cxnLst/>
            <a:rect l="l" t="t" r="r" b="b"/>
            <a:pathLst>
              <a:path w="393" h="80">
                <a:moveTo>
                  <a:pt x="0" y="70"/>
                </a:moveTo>
                <a:lnTo>
                  <a:pt x="16" y="69"/>
                </a:lnTo>
                <a:lnTo>
                  <a:pt x="33" y="68"/>
                </a:lnTo>
                <a:lnTo>
                  <a:pt x="49" y="67"/>
                </a:lnTo>
                <a:lnTo>
                  <a:pt x="65" y="65"/>
                </a:lnTo>
                <a:lnTo>
                  <a:pt x="82" y="62"/>
                </a:lnTo>
                <a:lnTo>
                  <a:pt x="98" y="59"/>
                </a:lnTo>
                <a:lnTo>
                  <a:pt x="114" y="55"/>
                </a:lnTo>
                <a:lnTo>
                  <a:pt x="131" y="52"/>
                </a:lnTo>
                <a:lnTo>
                  <a:pt x="147" y="48"/>
                </a:lnTo>
                <a:lnTo>
                  <a:pt x="164" y="44"/>
                </a:lnTo>
                <a:lnTo>
                  <a:pt x="180" y="39"/>
                </a:lnTo>
                <a:lnTo>
                  <a:pt x="196" y="35"/>
                </a:lnTo>
                <a:lnTo>
                  <a:pt x="213" y="31"/>
                </a:lnTo>
                <a:lnTo>
                  <a:pt x="229" y="26"/>
                </a:lnTo>
                <a:lnTo>
                  <a:pt x="246" y="22"/>
                </a:lnTo>
                <a:lnTo>
                  <a:pt x="262" y="18"/>
                </a:lnTo>
                <a:lnTo>
                  <a:pt x="278" y="14"/>
                </a:lnTo>
                <a:lnTo>
                  <a:pt x="295" y="11"/>
                </a:lnTo>
                <a:lnTo>
                  <a:pt x="311" y="8"/>
                </a:lnTo>
                <a:lnTo>
                  <a:pt x="327" y="5"/>
                </a:lnTo>
                <a:lnTo>
                  <a:pt x="344" y="3"/>
                </a:lnTo>
                <a:lnTo>
                  <a:pt x="360" y="2"/>
                </a:lnTo>
                <a:lnTo>
                  <a:pt x="377" y="0"/>
                </a:lnTo>
                <a:lnTo>
                  <a:pt x="393" y="0"/>
                </a:lnTo>
                <a:lnTo>
                  <a:pt x="393" y="11"/>
                </a:lnTo>
                <a:lnTo>
                  <a:pt x="377" y="11"/>
                </a:lnTo>
                <a:lnTo>
                  <a:pt x="360" y="12"/>
                </a:lnTo>
                <a:lnTo>
                  <a:pt x="344" y="14"/>
                </a:lnTo>
                <a:lnTo>
                  <a:pt x="327" y="16"/>
                </a:lnTo>
                <a:lnTo>
                  <a:pt x="311" y="18"/>
                </a:lnTo>
                <a:lnTo>
                  <a:pt x="295" y="22"/>
                </a:lnTo>
                <a:lnTo>
                  <a:pt x="278" y="25"/>
                </a:lnTo>
                <a:lnTo>
                  <a:pt x="262" y="29"/>
                </a:lnTo>
                <a:lnTo>
                  <a:pt x="246" y="33"/>
                </a:lnTo>
                <a:lnTo>
                  <a:pt x="229" y="37"/>
                </a:lnTo>
                <a:lnTo>
                  <a:pt x="213" y="41"/>
                </a:lnTo>
                <a:lnTo>
                  <a:pt x="196" y="46"/>
                </a:lnTo>
                <a:lnTo>
                  <a:pt x="180" y="50"/>
                </a:lnTo>
                <a:lnTo>
                  <a:pt x="164" y="54"/>
                </a:lnTo>
                <a:lnTo>
                  <a:pt x="147" y="58"/>
                </a:lnTo>
                <a:lnTo>
                  <a:pt x="131" y="62"/>
                </a:lnTo>
                <a:lnTo>
                  <a:pt x="114" y="66"/>
                </a:lnTo>
                <a:lnTo>
                  <a:pt x="98" y="69"/>
                </a:lnTo>
                <a:lnTo>
                  <a:pt x="82" y="73"/>
                </a:lnTo>
                <a:lnTo>
                  <a:pt x="65" y="75"/>
                </a:lnTo>
                <a:lnTo>
                  <a:pt x="49" y="77"/>
                </a:lnTo>
                <a:lnTo>
                  <a:pt x="33" y="79"/>
                </a:lnTo>
                <a:lnTo>
                  <a:pt x="16" y="80"/>
                </a:lnTo>
                <a:lnTo>
                  <a:pt x="0" y="80"/>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Freeform 42"/>
          <p:cNvSpPr/>
          <p:nvPr/>
        </p:nvSpPr>
        <p:spPr>
          <a:xfrm>
            <a:off x="2057400" y="5019675"/>
            <a:ext cx="3743325" cy="85725"/>
          </a:xfrm>
          <a:custGeom>
            <a:avLst/>
            <a:gdLst/>
            <a:ahLst/>
            <a:cxnLst/>
            <a:rect l="l" t="t" r="r" b="b"/>
            <a:pathLst>
              <a:path w="393" h="9">
                <a:moveTo>
                  <a:pt x="0" y="0"/>
                </a:moveTo>
                <a:lnTo>
                  <a:pt x="16" y="0"/>
                </a:lnTo>
                <a:lnTo>
                  <a:pt x="33" y="0"/>
                </a:lnTo>
                <a:lnTo>
                  <a:pt x="49" y="0"/>
                </a:lnTo>
                <a:lnTo>
                  <a:pt x="65" y="0"/>
                </a:lnTo>
                <a:lnTo>
                  <a:pt x="82" y="0"/>
                </a:lnTo>
                <a:lnTo>
                  <a:pt x="98" y="0"/>
                </a:lnTo>
                <a:lnTo>
                  <a:pt x="114" y="0"/>
                </a:lnTo>
                <a:lnTo>
                  <a:pt x="131" y="0"/>
                </a:lnTo>
                <a:lnTo>
                  <a:pt x="147" y="0"/>
                </a:lnTo>
                <a:lnTo>
                  <a:pt x="164" y="0"/>
                </a:lnTo>
                <a:lnTo>
                  <a:pt x="180" y="0"/>
                </a:lnTo>
                <a:lnTo>
                  <a:pt x="196" y="0"/>
                </a:lnTo>
                <a:lnTo>
                  <a:pt x="213" y="0"/>
                </a:lnTo>
                <a:lnTo>
                  <a:pt x="229" y="0"/>
                </a:lnTo>
                <a:lnTo>
                  <a:pt x="246" y="0"/>
                </a:lnTo>
                <a:lnTo>
                  <a:pt x="262" y="0"/>
                </a:lnTo>
                <a:lnTo>
                  <a:pt x="278" y="0"/>
                </a:lnTo>
                <a:lnTo>
                  <a:pt x="295" y="0"/>
                </a:lnTo>
                <a:lnTo>
                  <a:pt x="311" y="0"/>
                </a:lnTo>
                <a:lnTo>
                  <a:pt x="327" y="0"/>
                </a:lnTo>
                <a:lnTo>
                  <a:pt x="344" y="0"/>
                </a:lnTo>
                <a:lnTo>
                  <a:pt x="360" y="0"/>
                </a:lnTo>
                <a:lnTo>
                  <a:pt x="377" y="0"/>
                </a:lnTo>
                <a:lnTo>
                  <a:pt x="393" y="0"/>
                </a:lnTo>
                <a:lnTo>
                  <a:pt x="393" y="9"/>
                </a:lnTo>
                <a:lnTo>
                  <a:pt x="377" y="9"/>
                </a:lnTo>
                <a:lnTo>
                  <a:pt x="360" y="9"/>
                </a:lnTo>
                <a:lnTo>
                  <a:pt x="344" y="9"/>
                </a:lnTo>
                <a:lnTo>
                  <a:pt x="327" y="9"/>
                </a:lnTo>
                <a:lnTo>
                  <a:pt x="311" y="9"/>
                </a:lnTo>
                <a:lnTo>
                  <a:pt x="295" y="9"/>
                </a:lnTo>
                <a:lnTo>
                  <a:pt x="278" y="9"/>
                </a:lnTo>
                <a:lnTo>
                  <a:pt x="262" y="9"/>
                </a:lnTo>
                <a:lnTo>
                  <a:pt x="246" y="9"/>
                </a:lnTo>
                <a:lnTo>
                  <a:pt x="229" y="9"/>
                </a:lnTo>
                <a:lnTo>
                  <a:pt x="213" y="9"/>
                </a:lnTo>
                <a:lnTo>
                  <a:pt x="196" y="9"/>
                </a:lnTo>
                <a:lnTo>
                  <a:pt x="180" y="9"/>
                </a:lnTo>
                <a:lnTo>
                  <a:pt x="164" y="9"/>
                </a:lnTo>
                <a:lnTo>
                  <a:pt x="147" y="9"/>
                </a:lnTo>
                <a:lnTo>
                  <a:pt x="131" y="9"/>
                </a:lnTo>
                <a:lnTo>
                  <a:pt x="114" y="9"/>
                </a:lnTo>
                <a:lnTo>
                  <a:pt x="98" y="9"/>
                </a:lnTo>
                <a:lnTo>
                  <a:pt x="82" y="9"/>
                </a:lnTo>
                <a:lnTo>
                  <a:pt x="65" y="9"/>
                </a:lnTo>
                <a:lnTo>
                  <a:pt x="49" y="9"/>
                </a:lnTo>
                <a:lnTo>
                  <a:pt x="33" y="9"/>
                </a:lnTo>
                <a:lnTo>
                  <a:pt x="16" y="9"/>
                </a:lnTo>
                <a:lnTo>
                  <a:pt x="0" y="9"/>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2057400" y="5105400"/>
            <a:ext cx="3743325" cy="552450"/>
          </a:xfrm>
          <a:custGeom>
            <a:avLst/>
            <a:gdLst/>
            <a:ahLst/>
            <a:cxnLst/>
            <a:rect l="l" t="t" r="r" b="b"/>
            <a:pathLst>
              <a:path w="393" h="58">
                <a:moveTo>
                  <a:pt x="0" y="0"/>
                </a:moveTo>
                <a:lnTo>
                  <a:pt x="16" y="1"/>
                </a:lnTo>
                <a:lnTo>
                  <a:pt x="33" y="1"/>
                </a:lnTo>
                <a:lnTo>
                  <a:pt x="49" y="3"/>
                </a:lnTo>
                <a:lnTo>
                  <a:pt x="65" y="4"/>
                </a:lnTo>
                <a:lnTo>
                  <a:pt x="82" y="6"/>
                </a:lnTo>
                <a:lnTo>
                  <a:pt x="98" y="8"/>
                </a:lnTo>
                <a:lnTo>
                  <a:pt x="114" y="11"/>
                </a:lnTo>
                <a:lnTo>
                  <a:pt x="131" y="14"/>
                </a:lnTo>
                <a:lnTo>
                  <a:pt x="147" y="17"/>
                </a:lnTo>
                <a:lnTo>
                  <a:pt x="164" y="20"/>
                </a:lnTo>
                <a:lnTo>
                  <a:pt x="180" y="23"/>
                </a:lnTo>
                <a:lnTo>
                  <a:pt x="196" y="26"/>
                </a:lnTo>
                <a:lnTo>
                  <a:pt x="213" y="30"/>
                </a:lnTo>
                <a:lnTo>
                  <a:pt x="229" y="33"/>
                </a:lnTo>
                <a:lnTo>
                  <a:pt x="246" y="36"/>
                </a:lnTo>
                <a:lnTo>
                  <a:pt x="262" y="39"/>
                </a:lnTo>
                <a:lnTo>
                  <a:pt x="278" y="42"/>
                </a:lnTo>
                <a:lnTo>
                  <a:pt x="295" y="44"/>
                </a:lnTo>
                <a:lnTo>
                  <a:pt x="311" y="46"/>
                </a:lnTo>
                <a:lnTo>
                  <a:pt x="327" y="48"/>
                </a:lnTo>
                <a:lnTo>
                  <a:pt x="344" y="50"/>
                </a:lnTo>
                <a:lnTo>
                  <a:pt x="360" y="51"/>
                </a:lnTo>
                <a:lnTo>
                  <a:pt x="377" y="52"/>
                </a:lnTo>
                <a:lnTo>
                  <a:pt x="393" y="52"/>
                </a:lnTo>
                <a:lnTo>
                  <a:pt x="393" y="58"/>
                </a:lnTo>
                <a:lnTo>
                  <a:pt x="377" y="58"/>
                </a:lnTo>
                <a:lnTo>
                  <a:pt x="360" y="57"/>
                </a:lnTo>
                <a:lnTo>
                  <a:pt x="344" y="56"/>
                </a:lnTo>
                <a:lnTo>
                  <a:pt x="327" y="54"/>
                </a:lnTo>
                <a:lnTo>
                  <a:pt x="311" y="52"/>
                </a:lnTo>
                <a:lnTo>
                  <a:pt x="295" y="50"/>
                </a:lnTo>
                <a:lnTo>
                  <a:pt x="278" y="47"/>
                </a:lnTo>
                <a:lnTo>
                  <a:pt x="262" y="45"/>
                </a:lnTo>
                <a:lnTo>
                  <a:pt x="246" y="42"/>
                </a:lnTo>
                <a:lnTo>
                  <a:pt x="229" y="39"/>
                </a:lnTo>
                <a:lnTo>
                  <a:pt x="213" y="35"/>
                </a:lnTo>
                <a:lnTo>
                  <a:pt x="196" y="32"/>
                </a:lnTo>
                <a:lnTo>
                  <a:pt x="180" y="29"/>
                </a:lnTo>
                <a:lnTo>
                  <a:pt x="164" y="26"/>
                </a:lnTo>
                <a:lnTo>
                  <a:pt x="147" y="23"/>
                </a:lnTo>
                <a:lnTo>
                  <a:pt x="131" y="20"/>
                </a:lnTo>
                <a:lnTo>
                  <a:pt x="114" y="17"/>
                </a:lnTo>
                <a:lnTo>
                  <a:pt x="98" y="14"/>
                </a:lnTo>
                <a:lnTo>
                  <a:pt x="82" y="12"/>
                </a:lnTo>
                <a:lnTo>
                  <a:pt x="65" y="10"/>
                </a:lnTo>
                <a:lnTo>
                  <a:pt x="49" y="8"/>
                </a:lnTo>
                <a:lnTo>
                  <a:pt x="33" y="7"/>
                </a:lnTo>
                <a:lnTo>
                  <a:pt x="16" y="7"/>
                </a:lnTo>
                <a:lnTo>
                  <a:pt x="0" y="6"/>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Freeform 44"/>
          <p:cNvSpPr/>
          <p:nvPr/>
        </p:nvSpPr>
        <p:spPr>
          <a:xfrm>
            <a:off x="2057400" y="5162550"/>
            <a:ext cx="3743325" cy="923925"/>
          </a:xfrm>
          <a:custGeom>
            <a:avLst/>
            <a:gdLst/>
            <a:ahLst/>
            <a:cxnLst/>
            <a:rect l="l" t="t" r="r" b="b"/>
            <a:pathLst>
              <a:path w="393" h="97">
                <a:moveTo>
                  <a:pt x="0" y="0"/>
                </a:moveTo>
                <a:lnTo>
                  <a:pt x="16" y="1"/>
                </a:lnTo>
                <a:lnTo>
                  <a:pt x="33" y="2"/>
                </a:lnTo>
                <a:lnTo>
                  <a:pt x="49" y="4"/>
                </a:lnTo>
                <a:lnTo>
                  <a:pt x="65" y="7"/>
                </a:lnTo>
                <a:lnTo>
                  <a:pt x="82" y="11"/>
                </a:lnTo>
                <a:lnTo>
                  <a:pt x="98" y="15"/>
                </a:lnTo>
                <a:lnTo>
                  <a:pt x="114" y="19"/>
                </a:lnTo>
                <a:lnTo>
                  <a:pt x="131" y="24"/>
                </a:lnTo>
                <a:lnTo>
                  <a:pt x="147" y="30"/>
                </a:lnTo>
                <a:lnTo>
                  <a:pt x="164" y="35"/>
                </a:lnTo>
                <a:lnTo>
                  <a:pt x="180" y="41"/>
                </a:lnTo>
                <a:lnTo>
                  <a:pt x="196" y="47"/>
                </a:lnTo>
                <a:lnTo>
                  <a:pt x="213" y="52"/>
                </a:lnTo>
                <a:lnTo>
                  <a:pt x="229" y="58"/>
                </a:lnTo>
                <a:lnTo>
                  <a:pt x="246" y="64"/>
                </a:lnTo>
                <a:lnTo>
                  <a:pt x="262" y="69"/>
                </a:lnTo>
                <a:lnTo>
                  <a:pt x="278" y="74"/>
                </a:lnTo>
                <a:lnTo>
                  <a:pt x="295" y="78"/>
                </a:lnTo>
                <a:lnTo>
                  <a:pt x="311" y="83"/>
                </a:lnTo>
                <a:lnTo>
                  <a:pt x="327" y="86"/>
                </a:lnTo>
                <a:lnTo>
                  <a:pt x="344" y="89"/>
                </a:lnTo>
                <a:lnTo>
                  <a:pt x="360" y="91"/>
                </a:lnTo>
                <a:lnTo>
                  <a:pt x="377" y="92"/>
                </a:lnTo>
                <a:lnTo>
                  <a:pt x="393" y="93"/>
                </a:lnTo>
                <a:lnTo>
                  <a:pt x="393" y="97"/>
                </a:lnTo>
                <a:lnTo>
                  <a:pt x="377" y="97"/>
                </a:lnTo>
                <a:lnTo>
                  <a:pt x="360" y="95"/>
                </a:lnTo>
                <a:lnTo>
                  <a:pt x="344" y="93"/>
                </a:lnTo>
                <a:lnTo>
                  <a:pt x="327" y="90"/>
                </a:lnTo>
                <a:lnTo>
                  <a:pt x="311" y="87"/>
                </a:lnTo>
                <a:lnTo>
                  <a:pt x="295" y="83"/>
                </a:lnTo>
                <a:lnTo>
                  <a:pt x="278" y="78"/>
                </a:lnTo>
                <a:lnTo>
                  <a:pt x="262" y="73"/>
                </a:lnTo>
                <a:lnTo>
                  <a:pt x="246" y="68"/>
                </a:lnTo>
                <a:lnTo>
                  <a:pt x="229" y="62"/>
                </a:lnTo>
                <a:lnTo>
                  <a:pt x="213" y="57"/>
                </a:lnTo>
                <a:lnTo>
                  <a:pt x="196" y="51"/>
                </a:lnTo>
                <a:lnTo>
                  <a:pt x="180" y="45"/>
                </a:lnTo>
                <a:lnTo>
                  <a:pt x="164" y="39"/>
                </a:lnTo>
                <a:lnTo>
                  <a:pt x="147" y="34"/>
                </a:lnTo>
                <a:lnTo>
                  <a:pt x="131" y="29"/>
                </a:lnTo>
                <a:lnTo>
                  <a:pt x="114" y="24"/>
                </a:lnTo>
                <a:lnTo>
                  <a:pt x="98" y="19"/>
                </a:lnTo>
                <a:lnTo>
                  <a:pt x="82" y="15"/>
                </a:lnTo>
                <a:lnTo>
                  <a:pt x="65" y="11"/>
                </a:lnTo>
                <a:lnTo>
                  <a:pt x="49" y="9"/>
                </a:lnTo>
                <a:lnTo>
                  <a:pt x="33" y="6"/>
                </a:lnTo>
                <a:lnTo>
                  <a:pt x="16" y="5"/>
                </a:lnTo>
                <a:lnTo>
                  <a:pt x="0" y="5"/>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2057400" y="5210175"/>
            <a:ext cx="3743325" cy="1209675"/>
          </a:xfrm>
          <a:custGeom>
            <a:avLst/>
            <a:gdLst/>
            <a:ahLst/>
            <a:cxnLst/>
            <a:rect l="l" t="t" r="r" b="b"/>
            <a:pathLst>
              <a:path w="393" h="127">
                <a:moveTo>
                  <a:pt x="0" y="0"/>
                </a:moveTo>
                <a:lnTo>
                  <a:pt x="16" y="0"/>
                </a:lnTo>
                <a:lnTo>
                  <a:pt x="33" y="2"/>
                </a:lnTo>
                <a:lnTo>
                  <a:pt x="49" y="5"/>
                </a:lnTo>
                <a:lnTo>
                  <a:pt x="65" y="9"/>
                </a:lnTo>
                <a:lnTo>
                  <a:pt x="82" y="13"/>
                </a:lnTo>
                <a:lnTo>
                  <a:pt x="98" y="19"/>
                </a:lnTo>
                <a:lnTo>
                  <a:pt x="114" y="25"/>
                </a:lnTo>
                <a:lnTo>
                  <a:pt x="131" y="32"/>
                </a:lnTo>
                <a:lnTo>
                  <a:pt x="147" y="39"/>
                </a:lnTo>
                <a:lnTo>
                  <a:pt x="164" y="46"/>
                </a:lnTo>
                <a:lnTo>
                  <a:pt x="180" y="54"/>
                </a:lnTo>
                <a:lnTo>
                  <a:pt x="196" y="62"/>
                </a:lnTo>
                <a:lnTo>
                  <a:pt x="213" y="69"/>
                </a:lnTo>
                <a:lnTo>
                  <a:pt x="229" y="77"/>
                </a:lnTo>
                <a:lnTo>
                  <a:pt x="246" y="84"/>
                </a:lnTo>
                <a:lnTo>
                  <a:pt x="262" y="92"/>
                </a:lnTo>
                <a:lnTo>
                  <a:pt x="278" y="98"/>
                </a:lnTo>
                <a:lnTo>
                  <a:pt x="295" y="104"/>
                </a:lnTo>
                <a:lnTo>
                  <a:pt x="311" y="110"/>
                </a:lnTo>
                <a:lnTo>
                  <a:pt x="327" y="115"/>
                </a:lnTo>
                <a:lnTo>
                  <a:pt x="344" y="118"/>
                </a:lnTo>
                <a:lnTo>
                  <a:pt x="360" y="121"/>
                </a:lnTo>
                <a:lnTo>
                  <a:pt x="377" y="123"/>
                </a:lnTo>
                <a:lnTo>
                  <a:pt x="393" y="124"/>
                </a:lnTo>
                <a:lnTo>
                  <a:pt x="393" y="127"/>
                </a:lnTo>
                <a:lnTo>
                  <a:pt x="377" y="126"/>
                </a:lnTo>
                <a:lnTo>
                  <a:pt x="360" y="125"/>
                </a:lnTo>
                <a:lnTo>
                  <a:pt x="344" y="122"/>
                </a:lnTo>
                <a:lnTo>
                  <a:pt x="327" y="118"/>
                </a:lnTo>
                <a:lnTo>
                  <a:pt x="311" y="113"/>
                </a:lnTo>
                <a:lnTo>
                  <a:pt x="295" y="108"/>
                </a:lnTo>
                <a:lnTo>
                  <a:pt x="278" y="102"/>
                </a:lnTo>
                <a:lnTo>
                  <a:pt x="262" y="95"/>
                </a:lnTo>
                <a:lnTo>
                  <a:pt x="246" y="88"/>
                </a:lnTo>
                <a:lnTo>
                  <a:pt x="229" y="80"/>
                </a:lnTo>
                <a:lnTo>
                  <a:pt x="213" y="73"/>
                </a:lnTo>
                <a:lnTo>
                  <a:pt x="196" y="65"/>
                </a:lnTo>
                <a:lnTo>
                  <a:pt x="180" y="57"/>
                </a:lnTo>
                <a:lnTo>
                  <a:pt x="164" y="50"/>
                </a:lnTo>
                <a:lnTo>
                  <a:pt x="147" y="42"/>
                </a:lnTo>
                <a:lnTo>
                  <a:pt x="131" y="35"/>
                </a:lnTo>
                <a:lnTo>
                  <a:pt x="114" y="28"/>
                </a:lnTo>
                <a:lnTo>
                  <a:pt x="98" y="22"/>
                </a:lnTo>
                <a:lnTo>
                  <a:pt x="82" y="17"/>
                </a:lnTo>
                <a:lnTo>
                  <a:pt x="65" y="12"/>
                </a:lnTo>
                <a:lnTo>
                  <a:pt x="49" y="8"/>
                </a:lnTo>
                <a:lnTo>
                  <a:pt x="33" y="5"/>
                </a:lnTo>
                <a:lnTo>
                  <a:pt x="16" y="4"/>
                </a:lnTo>
                <a:lnTo>
                  <a:pt x="0" y="3"/>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2057400" y="2333625"/>
            <a:ext cx="3743325" cy="3057525"/>
          </a:xfrm>
          <a:custGeom>
            <a:avLst/>
            <a:gdLst/>
            <a:ahLst/>
            <a:cxnLst/>
            <a:rect l="l" t="t" r="r" b="b"/>
            <a:pathLst>
              <a:path w="393" h="321">
                <a:moveTo>
                  <a:pt x="0" y="311"/>
                </a:moveTo>
                <a:lnTo>
                  <a:pt x="16" y="309"/>
                </a:lnTo>
                <a:lnTo>
                  <a:pt x="33" y="305"/>
                </a:lnTo>
                <a:lnTo>
                  <a:pt x="49" y="298"/>
                </a:lnTo>
                <a:lnTo>
                  <a:pt x="65" y="288"/>
                </a:lnTo>
                <a:lnTo>
                  <a:pt x="82" y="276"/>
                </a:lnTo>
                <a:lnTo>
                  <a:pt x="98" y="262"/>
                </a:lnTo>
                <a:lnTo>
                  <a:pt x="114" y="247"/>
                </a:lnTo>
                <a:lnTo>
                  <a:pt x="131" y="230"/>
                </a:lnTo>
                <a:lnTo>
                  <a:pt x="147" y="212"/>
                </a:lnTo>
                <a:lnTo>
                  <a:pt x="164" y="194"/>
                </a:lnTo>
                <a:lnTo>
                  <a:pt x="180" y="175"/>
                </a:lnTo>
                <a:lnTo>
                  <a:pt x="196" y="155"/>
                </a:lnTo>
                <a:lnTo>
                  <a:pt x="213" y="136"/>
                </a:lnTo>
                <a:lnTo>
                  <a:pt x="229" y="117"/>
                </a:lnTo>
                <a:lnTo>
                  <a:pt x="246" y="98"/>
                </a:lnTo>
                <a:lnTo>
                  <a:pt x="262" y="80"/>
                </a:lnTo>
                <a:lnTo>
                  <a:pt x="278" y="64"/>
                </a:lnTo>
                <a:lnTo>
                  <a:pt x="295" y="48"/>
                </a:lnTo>
                <a:lnTo>
                  <a:pt x="311" y="34"/>
                </a:lnTo>
                <a:lnTo>
                  <a:pt x="327" y="23"/>
                </a:lnTo>
                <a:lnTo>
                  <a:pt x="344" y="13"/>
                </a:lnTo>
                <a:lnTo>
                  <a:pt x="360" y="6"/>
                </a:lnTo>
                <a:lnTo>
                  <a:pt x="377" y="1"/>
                </a:lnTo>
                <a:lnTo>
                  <a:pt x="393" y="0"/>
                </a:lnTo>
                <a:lnTo>
                  <a:pt x="393" y="10"/>
                </a:lnTo>
                <a:lnTo>
                  <a:pt x="377" y="11"/>
                </a:lnTo>
                <a:lnTo>
                  <a:pt x="360" y="16"/>
                </a:lnTo>
                <a:lnTo>
                  <a:pt x="344" y="23"/>
                </a:lnTo>
                <a:lnTo>
                  <a:pt x="327" y="33"/>
                </a:lnTo>
                <a:lnTo>
                  <a:pt x="311" y="45"/>
                </a:lnTo>
                <a:lnTo>
                  <a:pt x="295" y="58"/>
                </a:lnTo>
                <a:lnTo>
                  <a:pt x="278" y="74"/>
                </a:lnTo>
                <a:lnTo>
                  <a:pt x="262" y="90"/>
                </a:lnTo>
                <a:lnTo>
                  <a:pt x="246" y="108"/>
                </a:lnTo>
                <a:lnTo>
                  <a:pt x="229" y="127"/>
                </a:lnTo>
                <a:lnTo>
                  <a:pt x="213" y="146"/>
                </a:lnTo>
                <a:lnTo>
                  <a:pt x="196" y="165"/>
                </a:lnTo>
                <a:lnTo>
                  <a:pt x="180" y="185"/>
                </a:lnTo>
                <a:lnTo>
                  <a:pt x="164" y="204"/>
                </a:lnTo>
                <a:lnTo>
                  <a:pt x="147" y="223"/>
                </a:lnTo>
                <a:lnTo>
                  <a:pt x="131" y="240"/>
                </a:lnTo>
                <a:lnTo>
                  <a:pt x="114" y="257"/>
                </a:lnTo>
                <a:lnTo>
                  <a:pt x="98" y="272"/>
                </a:lnTo>
                <a:lnTo>
                  <a:pt x="82" y="286"/>
                </a:lnTo>
                <a:lnTo>
                  <a:pt x="65" y="298"/>
                </a:lnTo>
                <a:lnTo>
                  <a:pt x="49" y="308"/>
                </a:lnTo>
                <a:lnTo>
                  <a:pt x="33" y="315"/>
                </a:lnTo>
                <a:lnTo>
                  <a:pt x="16" y="319"/>
                </a:lnTo>
                <a:lnTo>
                  <a:pt x="0" y="321"/>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2057400" y="3419475"/>
            <a:ext cx="3743325" cy="2066925"/>
          </a:xfrm>
          <a:custGeom>
            <a:avLst/>
            <a:gdLst/>
            <a:ahLst/>
            <a:cxnLst/>
            <a:rect l="l" t="t" r="r" b="b"/>
            <a:pathLst>
              <a:path w="393" h="217">
                <a:moveTo>
                  <a:pt x="0" y="207"/>
                </a:moveTo>
                <a:lnTo>
                  <a:pt x="16" y="206"/>
                </a:lnTo>
                <a:lnTo>
                  <a:pt x="33" y="203"/>
                </a:lnTo>
                <a:lnTo>
                  <a:pt x="49" y="198"/>
                </a:lnTo>
                <a:lnTo>
                  <a:pt x="65" y="192"/>
                </a:lnTo>
                <a:lnTo>
                  <a:pt x="82" y="184"/>
                </a:lnTo>
                <a:lnTo>
                  <a:pt x="98" y="175"/>
                </a:lnTo>
                <a:lnTo>
                  <a:pt x="114" y="164"/>
                </a:lnTo>
                <a:lnTo>
                  <a:pt x="131" y="153"/>
                </a:lnTo>
                <a:lnTo>
                  <a:pt x="147" y="141"/>
                </a:lnTo>
                <a:lnTo>
                  <a:pt x="164" y="129"/>
                </a:lnTo>
                <a:lnTo>
                  <a:pt x="180" y="116"/>
                </a:lnTo>
                <a:lnTo>
                  <a:pt x="196" y="103"/>
                </a:lnTo>
                <a:lnTo>
                  <a:pt x="213" y="90"/>
                </a:lnTo>
                <a:lnTo>
                  <a:pt x="229" y="78"/>
                </a:lnTo>
                <a:lnTo>
                  <a:pt x="246" y="65"/>
                </a:lnTo>
                <a:lnTo>
                  <a:pt x="262" y="53"/>
                </a:lnTo>
                <a:lnTo>
                  <a:pt x="278" y="42"/>
                </a:lnTo>
                <a:lnTo>
                  <a:pt x="295" y="32"/>
                </a:lnTo>
                <a:lnTo>
                  <a:pt x="311" y="23"/>
                </a:lnTo>
                <a:lnTo>
                  <a:pt x="327" y="15"/>
                </a:lnTo>
                <a:lnTo>
                  <a:pt x="344" y="9"/>
                </a:lnTo>
                <a:lnTo>
                  <a:pt x="360" y="4"/>
                </a:lnTo>
                <a:lnTo>
                  <a:pt x="377" y="1"/>
                </a:lnTo>
                <a:lnTo>
                  <a:pt x="393" y="0"/>
                </a:lnTo>
                <a:lnTo>
                  <a:pt x="393" y="9"/>
                </a:lnTo>
                <a:lnTo>
                  <a:pt x="377" y="10"/>
                </a:lnTo>
                <a:lnTo>
                  <a:pt x="360" y="13"/>
                </a:lnTo>
                <a:lnTo>
                  <a:pt x="344" y="18"/>
                </a:lnTo>
                <a:lnTo>
                  <a:pt x="327" y="25"/>
                </a:lnTo>
                <a:lnTo>
                  <a:pt x="311" y="33"/>
                </a:lnTo>
                <a:lnTo>
                  <a:pt x="295" y="42"/>
                </a:lnTo>
                <a:lnTo>
                  <a:pt x="278" y="52"/>
                </a:lnTo>
                <a:lnTo>
                  <a:pt x="262" y="63"/>
                </a:lnTo>
                <a:lnTo>
                  <a:pt x="246" y="75"/>
                </a:lnTo>
                <a:lnTo>
                  <a:pt x="229" y="87"/>
                </a:lnTo>
                <a:lnTo>
                  <a:pt x="213" y="100"/>
                </a:lnTo>
                <a:lnTo>
                  <a:pt x="196" y="113"/>
                </a:lnTo>
                <a:lnTo>
                  <a:pt x="180" y="126"/>
                </a:lnTo>
                <a:lnTo>
                  <a:pt x="164" y="139"/>
                </a:lnTo>
                <a:lnTo>
                  <a:pt x="147" y="151"/>
                </a:lnTo>
                <a:lnTo>
                  <a:pt x="131" y="163"/>
                </a:lnTo>
                <a:lnTo>
                  <a:pt x="114" y="174"/>
                </a:lnTo>
                <a:lnTo>
                  <a:pt x="98" y="184"/>
                </a:lnTo>
                <a:lnTo>
                  <a:pt x="82" y="193"/>
                </a:lnTo>
                <a:lnTo>
                  <a:pt x="65" y="201"/>
                </a:lnTo>
                <a:lnTo>
                  <a:pt x="49" y="208"/>
                </a:lnTo>
                <a:lnTo>
                  <a:pt x="33" y="213"/>
                </a:lnTo>
                <a:lnTo>
                  <a:pt x="16" y="216"/>
                </a:lnTo>
                <a:lnTo>
                  <a:pt x="0" y="217"/>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2057400" y="4362450"/>
            <a:ext cx="3743325" cy="1190625"/>
          </a:xfrm>
          <a:custGeom>
            <a:avLst/>
            <a:gdLst/>
            <a:ahLst/>
            <a:cxnLst/>
            <a:rect l="l" t="t" r="r" b="b"/>
            <a:pathLst>
              <a:path w="393" h="125">
                <a:moveTo>
                  <a:pt x="0" y="118"/>
                </a:moveTo>
                <a:lnTo>
                  <a:pt x="16" y="117"/>
                </a:lnTo>
                <a:lnTo>
                  <a:pt x="33" y="115"/>
                </a:lnTo>
                <a:lnTo>
                  <a:pt x="49" y="113"/>
                </a:lnTo>
                <a:lnTo>
                  <a:pt x="65" y="109"/>
                </a:lnTo>
                <a:lnTo>
                  <a:pt x="82" y="105"/>
                </a:lnTo>
                <a:lnTo>
                  <a:pt x="98" y="99"/>
                </a:lnTo>
                <a:lnTo>
                  <a:pt x="114" y="93"/>
                </a:lnTo>
                <a:lnTo>
                  <a:pt x="131" y="87"/>
                </a:lnTo>
                <a:lnTo>
                  <a:pt x="147" y="80"/>
                </a:lnTo>
                <a:lnTo>
                  <a:pt x="164" y="73"/>
                </a:lnTo>
                <a:lnTo>
                  <a:pt x="180" y="66"/>
                </a:lnTo>
                <a:lnTo>
                  <a:pt x="196" y="59"/>
                </a:lnTo>
                <a:lnTo>
                  <a:pt x="213" y="51"/>
                </a:lnTo>
                <a:lnTo>
                  <a:pt x="229" y="44"/>
                </a:lnTo>
                <a:lnTo>
                  <a:pt x="246" y="37"/>
                </a:lnTo>
                <a:lnTo>
                  <a:pt x="262" y="30"/>
                </a:lnTo>
                <a:lnTo>
                  <a:pt x="278" y="24"/>
                </a:lnTo>
                <a:lnTo>
                  <a:pt x="295" y="18"/>
                </a:lnTo>
                <a:lnTo>
                  <a:pt x="311" y="13"/>
                </a:lnTo>
                <a:lnTo>
                  <a:pt x="327" y="8"/>
                </a:lnTo>
                <a:lnTo>
                  <a:pt x="344" y="5"/>
                </a:lnTo>
                <a:lnTo>
                  <a:pt x="360" y="2"/>
                </a:lnTo>
                <a:lnTo>
                  <a:pt x="377" y="0"/>
                </a:lnTo>
                <a:lnTo>
                  <a:pt x="393" y="0"/>
                </a:lnTo>
                <a:lnTo>
                  <a:pt x="393" y="7"/>
                </a:lnTo>
                <a:lnTo>
                  <a:pt x="377" y="7"/>
                </a:lnTo>
                <a:lnTo>
                  <a:pt x="360" y="9"/>
                </a:lnTo>
                <a:lnTo>
                  <a:pt x="344" y="12"/>
                </a:lnTo>
                <a:lnTo>
                  <a:pt x="327" y="15"/>
                </a:lnTo>
                <a:lnTo>
                  <a:pt x="311" y="20"/>
                </a:lnTo>
                <a:lnTo>
                  <a:pt x="295" y="25"/>
                </a:lnTo>
                <a:lnTo>
                  <a:pt x="278" y="31"/>
                </a:lnTo>
                <a:lnTo>
                  <a:pt x="262" y="37"/>
                </a:lnTo>
                <a:lnTo>
                  <a:pt x="246" y="44"/>
                </a:lnTo>
                <a:lnTo>
                  <a:pt x="229" y="51"/>
                </a:lnTo>
                <a:lnTo>
                  <a:pt x="213" y="58"/>
                </a:lnTo>
                <a:lnTo>
                  <a:pt x="196" y="66"/>
                </a:lnTo>
                <a:lnTo>
                  <a:pt x="180" y="73"/>
                </a:lnTo>
                <a:lnTo>
                  <a:pt x="164" y="80"/>
                </a:lnTo>
                <a:lnTo>
                  <a:pt x="147" y="87"/>
                </a:lnTo>
                <a:lnTo>
                  <a:pt x="131" y="94"/>
                </a:lnTo>
                <a:lnTo>
                  <a:pt x="114" y="100"/>
                </a:lnTo>
                <a:lnTo>
                  <a:pt x="98" y="106"/>
                </a:lnTo>
                <a:lnTo>
                  <a:pt x="82" y="111"/>
                </a:lnTo>
                <a:lnTo>
                  <a:pt x="65" y="116"/>
                </a:lnTo>
                <a:lnTo>
                  <a:pt x="49" y="120"/>
                </a:lnTo>
                <a:lnTo>
                  <a:pt x="33" y="122"/>
                </a:lnTo>
                <a:lnTo>
                  <a:pt x="16" y="124"/>
                </a:lnTo>
                <a:lnTo>
                  <a:pt x="0" y="125"/>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2057400" y="5105400"/>
            <a:ext cx="3743325" cy="504825"/>
          </a:xfrm>
          <a:custGeom>
            <a:avLst/>
            <a:gdLst/>
            <a:ahLst/>
            <a:cxnLst/>
            <a:rect l="l" t="t" r="r" b="b"/>
            <a:pathLst>
              <a:path w="393" h="53">
                <a:moveTo>
                  <a:pt x="0" y="47"/>
                </a:moveTo>
                <a:lnTo>
                  <a:pt x="16" y="46"/>
                </a:lnTo>
                <a:lnTo>
                  <a:pt x="33" y="46"/>
                </a:lnTo>
                <a:lnTo>
                  <a:pt x="49" y="45"/>
                </a:lnTo>
                <a:lnTo>
                  <a:pt x="65" y="43"/>
                </a:lnTo>
                <a:lnTo>
                  <a:pt x="82" y="41"/>
                </a:lnTo>
                <a:lnTo>
                  <a:pt x="98" y="39"/>
                </a:lnTo>
                <a:lnTo>
                  <a:pt x="114" y="37"/>
                </a:lnTo>
                <a:lnTo>
                  <a:pt x="131" y="35"/>
                </a:lnTo>
                <a:lnTo>
                  <a:pt x="147" y="32"/>
                </a:lnTo>
                <a:lnTo>
                  <a:pt x="164" y="29"/>
                </a:lnTo>
                <a:lnTo>
                  <a:pt x="180" y="26"/>
                </a:lnTo>
                <a:lnTo>
                  <a:pt x="196" y="23"/>
                </a:lnTo>
                <a:lnTo>
                  <a:pt x="213" y="21"/>
                </a:lnTo>
                <a:lnTo>
                  <a:pt x="229" y="18"/>
                </a:lnTo>
                <a:lnTo>
                  <a:pt x="246" y="15"/>
                </a:lnTo>
                <a:lnTo>
                  <a:pt x="262" y="12"/>
                </a:lnTo>
                <a:lnTo>
                  <a:pt x="278" y="10"/>
                </a:lnTo>
                <a:lnTo>
                  <a:pt x="295" y="7"/>
                </a:lnTo>
                <a:lnTo>
                  <a:pt x="311" y="5"/>
                </a:lnTo>
                <a:lnTo>
                  <a:pt x="327" y="4"/>
                </a:lnTo>
                <a:lnTo>
                  <a:pt x="344" y="2"/>
                </a:lnTo>
                <a:lnTo>
                  <a:pt x="360" y="1"/>
                </a:lnTo>
                <a:lnTo>
                  <a:pt x="377" y="0"/>
                </a:lnTo>
                <a:lnTo>
                  <a:pt x="393" y="0"/>
                </a:lnTo>
                <a:lnTo>
                  <a:pt x="393" y="6"/>
                </a:lnTo>
                <a:lnTo>
                  <a:pt x="377" y="6"/>
                </a:lnTo>
                <a:lnTo>
                  <a:pt x="360" y="7"/>
                </a:lnTo>
                <a:lnTo>
                  <a:pt x="344" y="8"/>
                </a:lnTo>
                <a:lnTo>
                  <a:pt x="327" y="10"/>
                </a:lnTo>
                <a:lnTo>
                  <a:pt x="311" y="11"/>
                </a:lnTo>
                <a:lnTo>
                  <a:pt x="295" y="13"/>
                </a:lnTo>
                <a:lnTo>
                  <a:pt x="278" y="16"/>
                </a:lnTo>
                <a:lnTo>
                  <a:pt x="262" y="18"/>
                </a:lnTo>
                <a:lnTo>
                  <a:pt x="246" y="21"/>
                </a:lnTo>
                <a:lnTo>
                  <a:pt x="229" y="24"/>
                </a:lnTo>
                <a:lnTo>
                  <a:pt x="213" y="26"/>
                </a:lnTo>
                <a:lnTo>
                  <a:pt x="196" y="29"/>
                </a:lnTo>
                <a:lnTo>
                  <a:pt x="180" y="32"/>
                </a:lnTo>
                <a:lnTo>
                  <a:pt x="164" y="35"/>
                </a:lnTo>
                <a:lnTo>
                  <a:pt x="147" y="38"/>
                </a:lnTo>
                <a:lnTo>
                  <a:pt x="131" y="41"/>
                </a:lnTo>
                <a:lnTo>
                  <a:pt x="114" y="43"/>
                </a:lnTo>
                <a:lnTo>
                  <a:pt x="98" y="45"/>
                </a:lnTo>
                <a:lnTo>
                  <a:pt x="82" y="47"/>
                </a:lnTo>
                <a:lnTo>
                  <a:pt x="65" y="49"/>
                </a:lnTo>
                <a:lnTo>
                  <a:pt x="49" y="51"/>
                </a:lnTo>
                <a:lnTo>
                  <a:pt x="33" y="52"/>
                </a:lnTo>
                <a:lnTo>
                  <a:pt x="16" y="52"/>
                </a:lnTo>
                <a:lnTo>
                  <a:pt x="0" y="5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057400" y="5610225"/>
            <a:ext cx="3743325" cy="85725"/>
          </a:xfrm>
          <a:custGeom>
            <a:avLst/>
            <a:gdLst/>
            <a:ahLst/>
            <a:cxnLst/>
            <a:rect l="l" t="t" r="r" b="b"/>
            <a:pathLst>
              <a:path w="393" h="9">
                <a:moveTo>
                  <a:pt x="0" y="0"/>
                </a:moveTo>
                <a:lnTo>
                  <a:pt x="16" y="0"/>
                </a:lnTo>
                <a:lnTo>
                  <a:pt x="33" y="0"/>
                </a:lnTo>
                <a:lnTo>
                  <a:pt x="49" y="0"/>
                </a:lnTo>
                <a:lnTo>
                  <a:pt x="65" y="0"/>
                </a:lnTo>
                <a:lnTo>
                  <a:pt x="82" y="0"/>
                </a:lnTo>
                <a:lnTo>
                  <a:pt x="98" y="1"/>
                </a:lnTo>
                <a:lnTo>
                  <a:pt x="114" y="1"/>
                </a:lnTo>
                <a:lnTo>
                  <a:pt x="131" y="1"/>
                </a:lnTo>
                <a:lnTo>
                  <a:pt x="147" y="1"/>
                </a:lnTo>
                <a:lnTo>
                  <a:pt x="164" y="2"/>
                </a:lnTo>
                <a:lnTo>
                  <a:pt x="180" y="2"/>
                </a:lnTo>
                <a:lnTo>
                  <a:pt x="196" y="2"/>
                </a:lnTo>
                <a:lnTo>
                  <a:pt x="213" y="3"/>
                </a:lnTo>
                <a:lnTo>
                  <a:pt x="229" y="3"/>
                </a:lnTo>
                <a:lnTo>
                  <a:pt x="246" y="3"/>
                </a:lnTo>
                <a:lnTo>
                  <a:pt x="262" y="4"/>
                </a:lnTo>
                <a:lnTo>
                  <a:pt x="278" y="4"/>
                </a:lnTo>
                <a:lnTo>
                  <a:pt x="295" y="4"/>
                </a:lnTo>
                <a:lnTo>
                  <a:pt x="311" y="5"/>
                </a:lnTo>
                <a:lnTo>
                  <a:pt x="327" y="5"/>
                </a:lnTo>
                <a:lnTo>
                  <a:pt x="344" y="5"/>
                </a:lnTo>
                <a:lnTo>
                  <a:pt x="360" y="5"/>
                </a:lnTo>
                <a:lnTo>
                  <a:pt x="377" y="5"/>
                </a:lnTo>
                <a:lnTo>
                  <a:pt x="393" y="5"/>
                </a:lnTo>
                <a:lnTo>
                  <a:pt x="393" y="9"/>
                </a:lnTo>
                <a:lnTo>
                  <a:pt x="377" y="9"/>
                </a:lnTo>
                <a:lnTo>
                  <a:pt x="360" y="9"/>
                </a:lnTo>
                <a:lnTo>
                  <a:pt x="344" y="8"/>
                </a:lnTo>
                <a:lnTo>
                  <a:pt x="327" y="8"/>
                </a:lnTo>
                <a:lnTo>
                  <a:pt x="311" y="8"/>
                </a:lnTo>
                <a:lnTo>
                  <a:pt x="295" y="8"/>
                </a:lnTo>
                <a:lnTo>
                  <a:pt x="278" y="8"/>
                </a:lnTo>
                <a:lnTo>
                  <a:pt x="262" y="7"/>
                </a:lnTo>
                <a:lnTo>
                  <a:pt x="246" y="7"/>
                </a:lnTo>
                <a:lnTo>
                  <a:pt x="229" y="7"/>
                </a:lnTo>
                <a:lnTo>
                  <a:pt x="213" y="6"/>
                </a:lnTo>
                <a:lnTo>
                  <a:pt x="196" y="6"/>
                </a:lnTo>
                <a:lnTo>
                  <a:pt x="180" y="6"/>
                </a:lnTo>
                <a:lnTo>
                  <a:pt x="164" y="5"/>
                </a:lnTo>
                <a:lnTo>
                  <a:pt x="147" y="5"/>
                </a:lnTo>
                <a:lnTo>
                  <a:pt x="131" y="5"/>
                </a:lnTo>
                <a:lnTo>
                  <a:pt x="114" y="4"/>
                </a:lnTo>
                <a:lnTo>
                  <a:pt x="98" y="4"/>
                </a:lnTo>
                <a:lnTo>
                  <a:pt x="82" y="4"/>
                </a:lnTo>
                <a:lnTo>
                  <a:pt x="65" y="4"/>
                </a:lnTo>
                <a:lnTo>
                  <a:pt x="49" y="3"/>
                </a:lnTo>
                <a:lnTo>
                  <a:pt x="33" y="3"/>
                </a:lnTo>
                <a:lnTo>
                  <a:pt x="16" y="3"/>
                </a:lnTo>
                <a:lnTo>
                  <a:pt x="0" y="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2057400" y="5638800"/>
            <a:ext cx="3743325" cy="476250"/>
          </a:xfrm>
          <a:custGeom>
            <a:avLst/>
            <a:gdLst/>
            <a:ahLst/>
            <a:cxnLst/>
            <a:rect l="l" t="t" r="r" b="b"/>
            <a:pathLst>
              <a:path w="393" h="50">
                <a:moveTo>
                  <a:pt x="0" y="0"/>
                </a:moveTo>
                <a:lnTo>
                  <a:pt x="16" y="0"/>
                </a:lnTo>
                <a:lnTo>
                  <a:pt x="33" y="1"/>
                </a:lnTo>
                <a:lnTo>
                  <a:pt x="49" y="2"/>
                </a:lnTo>
                <a:lnTo>
                  <a:pt x="65" y="4"/>
                </a:lnTo>
                <a:lnTo>
                  <a:pt x="82" y="5"/>
                </a:lnTo>
                <a:lnTo>
                  <a:pt x="98" y="8"/>
                </a:lnTo>
                <a:lnTo>
                  <a:pt x="114" y="10"/>
                </a:lnTo>
                <a:lnTo>
                  <a:pt x="131" y="12"/>
                </a:lnTo>
                <a:lnTo>
                  <a:pt x="147" y="15"/>
                </a:lnTo>
                <a:lnTo>
                  <a:pt x="164" y="18"/>
                </a:lnTo>
                <a:lnTo>
                  <a:pt x="180" y="21"/>
                </a:lnTo>
                <a:lnTo>
                  <a:pt x="196" y="24"/>
                </a:lnTo>
                <a:lnTo>
                  <a:pt x="213" y="27"/>
                </a:lnTo>
                <a:lnTo>
                  <a:pt x="229" y="30"/>
                </a:lnTo>
                <a:lnTo>
                  <a:pt x="246" y="32"/>
                </a:lnTo>
                <a:lnTo>
                  <a:pt x="262" y="35"/>
                </a:lnTo>
                <a:lnTo>
                  <a:pt x="278" y="38"/>
                </a:lnTo>
                <a:lnTo>
                  <a:pt x="295" y="40"/>
                </a:lnTo>
                <a:lnTo>
                  <a:pt x="311" y="42"/>
                </a:lnTo>
                <a:lnTo>
                  <a:pt x="327" y="44"/>
                </a:lnTo>
                <a:lnTo>
                  <a:pt x="344" y="45"/>
                </a:lnTo>
                <a:lnTo>
                  <a:pt x="360" y="46"/>
                </a:lnTo>
                <a:lnTo>
                  <a:pt x="377" y="47"/>
                </a:lnTo>
                <a:lnTo>
                  <a:pt x="393" y="47"/>
                </a:lnTo>
                <a:lnTo>
                  <a:pt x="393" y="50"/>
                </a:lnTo>
                <a:lnTo>
                  <a:pt x="377" y="50"/>
                </a:lnTo>
                <a:lnTo>
                  <a:pt x="360" y="50"/>
                </a:lnTo>
                <a:lnTo>
                  <a:pt x="344" y="48"/>
                </a:lnTo>
                <a:lnTo>
                  <a:pt x="327" y="47"/>
                </a:lnTo>
                <a:lnTo>
                  <a:pt x="311" y="45"/>
                </a:lnTo>
                <a:lnTo>
                  <a:pt x="295" y="43"/>
                </a:lnTo>
                <a:lnTo>
                  <a:pt x="278" y="41"/>
                </a:lnTo>
                <a:lnTo>
                  <a:pt x="262" y="38"/>
                </a:lnTo>
                <a:lnTo>
                  <a:pt x="246" y="36"/>
                </a:lnTo>
                <a:lnTo>
                  <a:pt x="229" y="33"/>
                </a:lnTo>
                <a:lnTo>
                  <a:pt x="213" y="30"/>
                </a:lnTo>
                <a:lnTo>
                  <a:pt x="196" y="27"/>
                </a:lnTo>
                <a:lnTo>
                  <a:pt x="180" y="24"/>
                </a:lnTo>
                <a:lnTo>
                  <a:pt x="164" y="21"/>
                </a:lnTo>
                <a:lnTo>
                  <a:pt x="147" y="18"/>
                </a:lnTo>
                <a:lnTo>
                  <a:pt x="131" y="16"/>
                </a:lnTo>
                <a:lnTo>
                  <a:pt x="114" y="13"/>
                </a:lnTo>
                <a:lnTo>
                  <a:pt x="98" y="11"/>
                </a:lnTo>
                <a:lnTo>
                  <a:pt x="82" y="9"/>
                </a:lnTo>
                <a:lnTo>
                  <a:pt x="65" y="7"/>
                </a:lnTo>
                <a:lnTo>
                  <a:pt x="49" y="5"/>
                </a:lnTo>
                <a:lnTo>
                  <a:pt x="33" y="4"/>
                </a:lnTo>
                <a:lnTo>
                  <a:pt x="16" y="4"/>
                </a:lnTo>
                <a:lnTo>
                  <a:pt x="0" y="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2057400" y="5667375"/>
            <a:ext cx="3743325" cy="771525"/>
          </a:xfrm>
          <a:custGeom>
            <a:avLst/>
            <a:gdLst/>
            <a:ahLst/>
            <a:cxnLst/>
            <a:rect l="l" t="t" r="r" b="b"/>
            <a:pathLst>
              <a:path w="393" h="81">
                <a:moveTo>
                  <a:pt x="0" y="0"/>
                </a:moveTo>
                <a:lnTo>
                  <a:pt x="16" y="1"/>
                </a:lnTo>
                <a:lnTo>
                  <a:pt x="33" y="2"/>
                </a:lnTo>
                <a:lnTo>
                  <a:pt x="49" y="4"/>
                </a:lnTo>
                <a:lnTo>
                  <a:pt x="65" y="6"/>
                </a:lnTo>
                <a:lnTo>
                  <a:pt x="82" y="9"/>
                </a:lnTo>
                <a:lnTo>
                  <a:pt x="98" y="13"/>
                </a:lnTo>
                <a:lnTo>
                  <a:pt x="114" y="17"/>
                </a:lnTo>
                <a:lnTo>
                  <a:pt x="131" y="21"/>
                </a:lnTo>
                <a:lnTo>
                  <a:pt x="147" y="25"/>
                </a:lnTo>
                <a:lnTo>
                  <a:pt x="164" y="30"/>
                </a:lnTo>
                <a:lnTo>
                  <a:pt x="180" y="35"/>
                </a:lnTo>
                <a:lnTo>
                  <a:pt x="196" y="40"/>
                </a:lnTo>
                <a:lnTo>
                  <a:pt x="213" y="45"/>
                </a:lnTo>
                <a:lnTo>
                  <a:pt x="229" y="49"/>
                </a:lnTo>
                <a:lnTo>
                  <a:pt x="246" y="54"/>
                </a:lnTo>
                <a:lnTo>
                  <a:pt x="262" y="59"/>
                </a:lnTo>
                <a:lnTo>
                  <a:pt x="278" y="63"/>
                </a:lnTo>
                <a:lnTo>
                  <a:pt x="295" y="67"/>
                </a:lnTo>
                <a:lnTo>
                  <a:pt x="311" y="70"/>
                </a:lnTo>
                <a:lnTo>
                  <a:pt x="327" y="73"/>
                </a:lnTo>
                <a:lnTo>
                  <a:pt x="344" y="76"/>
                </a:lnTo>
                <a:lnTo>
                  <a:pt x="360" y="77"/>
                </a:lnTo>
                <a:lnTo>
                  <a:pt x="377" y="79"/>
                </a:lnTo>
                <a:lnTo>
                  <a:pt x="393" y="79"/>
                </a:lnTo>
                <a:lnTo>
                  <a:pt x="393" y="81"/>
                </a:lnTo>
                <a:lnTo>
                  <a:pt x="377" y="81"/>
                </a:lnTo>
                <a:lnTo>
                  <a:pt x="360" y="80"/>
                </a:lnTo>
                <a:lnTo>
                  <a:pt x="344" y="78"/>
                </a:lnTo>
                <a:lnTo>
                  <a:pt x="327" y="76"/>
                </a:lnTo>
                <a:lnTo>
                  <a:pt x="311" y="73"/>
                </a:lnTo>
                <a:lnTo>
                  <a:pt x="295" y="69"/>
                </a:lnTo>
                <a:lnTo>
                  <a:pt x="278" y="65"/>
                </a:lnTo>
                <a:lnTo>
                  <a:pt x="262" y="61"/>
                </a:lnTo>
                <a:lnTo>
                  <a:pt x="246" y="57"/>
                </a:lnTo>
                <a:lnTo>
                  <a:pt x="229" y="52"/>
                </a:lnTo>
                <a:lnTo>
                  <a:pt x="213" y="47"/>
                </a:lnTo>
                <a:lnTo>
                  <a:pt x="196" y="42"/>
                </a:lnTo>
                <a:lnTo>
                  <a:pt x="180" y="37"/>
                </a:lnTo>
                <a:lnTo>
                  <a:pt x="164" y="32"/>
                </a:lnTo>
                <a:lnTo>
                  <a:pt x="147" y="28"/>
                </a:lnTo>
                <a:lnTo>
                  <a:pt x="131" y="23"/>
                </a:lnTo>
                <a:lnTo>
                  <a:pt x="114" y="19"/>
                </a:lnTo>
                <a:lnTo>
                  <a:pt x="98" y="15"/>
                </a:lnTo>
                <a:lnTo>
                  <a:pt x="82" y="12"/>
                </a:lnTo>
                <a:lnTo>
                  <a:pt x="65" y="9"/>
                </a:lnTo>
                <a:lnTo>
                  <a:pt x="49" y="6"/>
                </a:lnTo>
                <a:lnTo>
                  <a:pt x="33" y="4"/>
                </a:lnTo>
                <a:lnTo>
                  <a:pt x="16" y="3"/>
                </a:lnTo>
                <a:lnTo>
                  <a:pt x="0" y="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057400" y="2428875"/>
            <a:ext cx="3743325" cy="3419475"/>
          </a:xfrm>
          <a:custGeom>
            <a:avLst/>
            <a:gdLst/>
            <a:ahLst/>
            <a:cxnLst/>
            <a:rect l="l" t="t" r="r" b="b"/>
            <a:pathLst>
              <a:path w="393" h="359">
                <a:moveTo>
                  <a:pt x="0" y="349"/>
                </a:moveTo>
                <a:lnTo>
                  <a:pt x="16" y="347"/>
                </a:lnTo>
                <a:lnTo>
                  <a:pt x="33" y="342"/>
                </a:lnTo>
                <a:lnTo>
                  <a:pt x="49" y="334"/>
                </a:lnTo>
                <a:lnTo>
                  <a:pt x="65" y="323"/>
                </a:lnTo>
                <a:lnTo>
                  <a:pt x="82" y="310"/>
                </a:lnTo>
                <a:lnTo>
                  <a:pt x="98" y="294"/>
                </a:lnTo>
                <a:lnTo>
                  <a:pt x="114" y="277"/>
                </a:lnTo>
                <a:lnTo>
                  <a:pt x="131" y="258"/>
                </a:lnTo>
                <a:lnTo>
                  <a:pt x="147" y="238"/>
                </a:lnTo>
                <a:lnTo>
                  <a:pt x="164" y="217"/>
                </a:lnTo>
                <a:lnTo>
                  <a:pt x="180" y="196"/>
                </a:lnTo>
                <a:lnTo>
                  <a:pt x="196" y="174"/>
                </a:lnTo>
                <a:lnTo>
                  <a:pt x="213" y="153"/>
                </a:lnTo>
                <a:lnTo>
                  <a:pt x="229" y="131"/>
                </a:lnTo>
                <a:lnTo>
                  <a:pt x="246" y="110"/>
                </a:lnTo>
                <a:lnTo>
                  <a:pt x="262" y="90"/>
                </a:lnTo>
                <a:lnTo>
                  <a:pt x="278" y="72"/>
                </a:lnTo>
                <a:lnTo>
                  <a:pt x="295" y="54"/>
                </a:lnTo>
                <a:lnTo>
                  <a:pt x="311" y="39"/>
                </a:lnTo>
                <a:lnTo>
                  <a:pt x="327" y="26"/>
                </a:lnTo>
                <a:lnTo>
                  <a:pt x="344" y="15"/>
                </a:lnTo>
                <a:lnTo>
                  <a:pt x="360" y="7"/>
                </a:lnTo>
                <a:lnTo>
                  <a:pt x="377" y="2"/>
                </a:lnTo>
                <a:lnTo>
                  <a:pt x="393" y="0"/>
                </a:lnTo>
                <a:lnTo>
                  <a:pt x="393" y="10"/>
                </a:lnTo>
                <a:lnTo>
                  <a:pt x="377" y="12"/>
                </a:lnTo>
                <a:lnTo>
                  <a:pt x="360" y="17"/>
                </a:lnTo>
                <a:lnTo>
                  <a:pt x="344" y="25"/>
                </a:lnTo>
                <a:lnTo>
                  <a:pt x="327" y="36"/>
                </a:lnTo>
                <a:lnTo>
                  <a:pt x="311" y="49"/>
                </a:lnTo>
                <a:lnTo>
                  <a:pt x="295" y="65"/>
                </a:lnTo>
                <a:lnTo>
                  <a:pt x="278" y="82"/>
                </a:lnTo>
                <a:lnTo>
                  <a:pt x="262" y="101"/>
                </a:lnTo>
                <a:lnTo>
                  <a:pt x="246" y="121"/>
                </a:lnTo>
                <a:lnTo>
                  <a:pt x="229" y="142"/>
                </a:lnTo>
                <a:lnTo>
                  <a:pt x="213" y="163"/>
                </a:lnTo>
                <a:lnTo>
                  <a:pt x="196" y="185"/>
                </a:lnTo>
                <a:lnTo>
                  <a:pt x="180" y="207"/>
                </a:lnTo>
                <a:lnTo>
                  <a:pt x="164" y="228"/>
                </a:lnTo>
                <a:lnTo>
                  <a:pt x="147" y="249"/>
                </a:lnTo>
                <a:lnTo>
                  <a:pt x="131" y="269"/>
                </a:lnTo>
                <a:lnTo>
                  <a:pt x="114" y="288"/>
                </a:lnTo>
                <a:lnTo>
                  <a:pt x="98" y="305"/>
                </a:lnTo>
                <a:lnTo>
                  <a:pt x="82" y="320"/>
                </a:lnTo>
                <a:lnTo>
                  <a:pt x="65" y="334"/>
                </a:lnTo>
                <a:lnTo>
                  <a:pt x="49" y="344"/>
                </a:lnTo>
                <a:lnTo>
                  <a:pt x="33" y="352"/>
                </a:lnTo>
                <a:lnTo>
                  <a:pt x="16" y="358"/>
                </a:lnTo>
                <a:lnTo>
                  <a:pt x="0" y="35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2057400" y="3505200"/>
            <a:ext cx="3743325" cy="2419350"/>
          </a:xfrm>
          <a:custGeom>
            <a:avLst/>
            <a:gdLst/>
            <a:ahLst/>
            <a:cxnLst/>
            <a:rect l="l" t="t" r="r" b="b"/>
            <a:pathLst>
              <a:path w="393" h="254">
                <a:moveTo>
                  <a:pt x="0" y="246"/>
                </a:moveTo>
                <a:lnTo>
                  <a:pt x="16" y="245"/>
                </a:lnTo>
                <a:lnTo>
                  <a:pt x="33" y="242"/>
                </a:lnTo>
                <a:lnTo>
                  <a:pt x="49" y="236"/>
                </a:lnTo>
                <a:lnTo>
                  <a:pt x="65" y="228"/>
                </a:lnTo>
                <a:lnTo>
                  <a:pt x="82" y="219"/>
                </a:lnTo>
                <a:lnTo>
                  <a:pt x="98" y="208"/>
                </a:lnTo>
                <a:lnTo>
                  <a:pt x="114" y="196"/>
                </a:lnTo>
                <a:lnTo>
                  <a:pt x="131" y="183"/>
                </a:lnTo>
                <a:lnTo>
                  <a:pt x="147" y="169"/>
                </a:lnTo>
                <a:lnTo>
                  <a:pt x="164" y="154"/>
                </a:lnTo>
                <a:lnTo>
                  <a:pt x="180" y="139"/>
                </a:lnTo>
                <a:lnTo>
                  <a:pt x="196" y="123"/>
                </a:lnTo>
                <a:lnTo>
                  <a:pt x="213" y="108"/>
                </a:lnTo>
                <a:lnTo>
                  <a:pt x="229" y="93"/>
                </a:lnTo>
                <a:lnTo>
                  <a:pt x="246" y="78"/>
                </a:lnTo>
                <a:lnTo>
                  <a:pt x="262" y="64"/>
                </a:lnTo>
                <a:lnTo>
                  <a:pt x="278" y="51"/>
                </a:lnTo>
                <a:lnTo>
                  <a:pt x="295" y="39"/>
                </a:lnTo>
                <a:lnTo>
                  <a:pt x="311" y="28"/>
                </a:lnTo>
                <a:lnTo>
                  <a:pt x="327" y="19"/>
                </a:lnTo>
                <a:lnTo>
                  <a:pt x="344" y="11"/>
                </a:lnTo>
                <a:lnTo>
                  <a:pt x="360" y="5"/>
                </a:lnTo>
                <a:lnTo>
                  <a:pt x="377" y="2"/>
                </a:lnTo>
                <a:lnTo>
                  <a:pt x="393" y="0"/>
                </a:lnTo>
                <a:lnTo>
                  <a:pt x="393" y="8"/>
                </a:lnTo>
                <a:lnTo>
                  <a:pt x="377" y="10"/>
                </a:lnTo>
                <a:lnTo>
                  <a:pt x="360" y="13"/>
                </a:lnTo>
                <a:lnTo>
                  <a:pt x="344" y="19"/>
                </a:lnTo>
                <a:lnTo>
                  <a:pt x="327" y="27"/>
                </a:lnTo>
                <a:lnTo>
                  <a:pt x="311" y="36"/>
                </a:lnTo>
                <a:lnTo>
                  <a:pt x="295" y="47"/>
                </a:lnTo>
                <a:lnTo>
                  <a:pt x="278" y="59"/>
                </a:lnTo>
                <a:lnTo>
                  <a:pt x="262" y="72"/>
                </a:lnTo>
                <a:lnTo>
                  <a:pt x="246" y="86"/>
                </a:lnTo>
                <a:lnTo>
                  <a:pt x="229" y="101"/>
                </a:lnTo>
                <a:lnTo>
                  <a:pt x="213" y="116"/>
                </a:lnTo>
                <a:lnTo>
                  <a:pt x="196" y="131"/>
                </a:lnTo>
                <a:lnTo>
                  <a:pt x="180" y="147"/>
                </a:lnTo>
                <a:lnTo>
                  <a:pt x="164" y="162"/>
                </a:lnTo>
                <a:lnTo>
                  <a:pt x="147" y="177"/>
                </a:lnTo>
                <a:lnTo>
                  <a:pt x="131" y="191"/>
                </a:lnTo>
                <a:lnTo>
                  <a:pt x="114" y="204"/>
                </a:lnTo>
                <a:lnTo>
                  <a:pt x="98" y="216"/>
                </a:lnTo>
                <a:lnTo>
                  <a:pt x="82" y="227"/>
                </a:lnTo>
                <a:lnTo>
                  <a:pt x="65" y="236"/>
                </a:lnTo>
                <a:lnTo>
                  <a:pt x="49" y="244"/>
                </a:lnTo>
                <a:lnTo>
                  <a:pt x="33" y="250"/>
                </a:lnTo>
                <a:lnTo>
                  <a:pt x="16" y="253"/>
                </a:lnTo>
                <a:lnTo>
                  <a:pt x="0" y="254"/>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2057400" y="4429125"/>
            <a:ext cx="3743325" cy="1571625"/>
          </a:xfrm>
          <a:custGeom>
            <a:avLst/>
            <a:gdLst/>
            <a:ahLst/>
            <a:cxnLst/>
            <a:rect l="l" t="t" r="r" b="b"/>
            <a:pathLst>
              <a:path w="393" h="165">
                <a:moveTo>
                  <a:pt x="0" y="157"/>
                </a:moveTo>
                <a:lnTo>
                  <a:pt x="16" y="157"/>
                </a:lnTo>
                <a:lnTo>
                  <a:pt x="33" y="154"/>
                </a:lnTo>
                <a:lnTo>
                  <a:pt x="49" y="151"/>
                </a:lnTo>
                <a:lnTo>
                  <a:pt x="65" y="146"/>
                </a:lnTo>
                <a:lnTo>
                  <a:pt x="82" y="140"/>
                </a:lnTo>
                <a:lnTo>
                  <a:pt x="98" y="133"/>
                </a:lnTo>
                <a:lnTo>
                  <a:pt x="114" y="125"/>
                </a:lnTo>
                <a:lnTo>
                  <a:pt x="131" y="117"/>
                </a:lnTo>
                <a:lnTo>
                  <a:pt x="147" y="107"/>
                </a:lnTo>
                <a:lnTo>
                  <a:pt x="164" y="98"/>
                </a:lnTo>
                <a:lnTo>
                  <a:pt x="180" y="88"/>
                </a:lnTo>
                <a:lnTo>
                  <a:pt x="196" y="79"/>
                </a:lnTo>
                <a:lnTo>
                  <a:pt x="213" y="69"/>
                </a:lnTo>
                <a:lnTo>
                  <a:pt x="229" y="59"/>
                </a:lnTo>
                <a:lnTo>
                  <a:pt x="246" y="50"/>
                </a:lnTo>
                <a:lnTo>
                  <a:pt x="262" y="41"/>
                </a:lnTo>
                <a:lnTo>
                  <a:pt x="278" y="32"/>
                </a:lnTo>
                <a:lnTo>
                  <a:pt x="295" y="24"/>
                </a:lnTo>
                <a:lnTo>
                  <a:pt x="311" y="17"/>
                </a:lnTo>
                <a:lnTo>
                  <a:pt x="327" y="11"/>
                </a:lnTo>
                <a:lnTo>
                  <a:pt x="344" y="6"/>
                </a:lnTo>
                <a:lnTo>
                  <a:pt x="360" y="3"/>
                </a:lnTo>
                <a:lnTo>
                  <a:pt x="377" y="0"/>
                </a:lnTo>
                <a:lnTo>
                  <a:pt x="393" y="0"/>
                </a:lnTo>
                <a:lnTo>
                  <a:pt x="393" y="7"/>
                </a:lnTo>
                <a:lnTo>
                  <a:pt x="377" y="8"/>
                </a:lnTo>
                <a:lnTo>
                  <a:pt x="360" y="10"/>
                </a:lnTo>
                <a:lnTo>
                  <a:pt x="344" y="14"/>
                </a:lnTo>
                <a:lnTo>
                  <a:pt x="327" y="19"/>
                </a:lnTo>
                <a:lnTo>
                  <a:pt x="311" y="25"/>
                </a:lnTo>
                <a:lnTo>
                  <a:pt x="295" y="32"/>
                </a:lnTo>
                <a:lnTo>
                  <a:pt x="278" y="39"/>
                </a:lnTo>
                <a:lnTo>
                  <a:pt x="262" y="48"/>
                </a:lnTo>
                <a:lnTo>
                  <a:pt x="246" y="57"/>
                </a:lnTo>
                <a:lnTo>
                  <a:pt x="229" y="66"/>
                </a:lnTo>
                <a:lnTo>
                  <a:pt x="213" y="76"/>
                </a:lnTo>
                <a:lnTo>
                  <a:pt x="196" y="86"/>
                </a:lnTo>
                <a:lnTo>
                  <a:pt x="180" y="96"/>
                </a:lnTo>
                <a:lnTo>
                  <a:pt x="164" y="105"/>
                </a:lnTo>
                <a:lnTo>
                  <a:pt x="147" y="115"/>
                </a:lnTo>
                <a:lnTo>
                  <a:pt x="131" y="124"/>
                </a:lnTo>
                <a:lnTo>
                  <a:pt x="114" y="132"/>
                </a:lnTo>
                <a:lnTo>
                  <a:pt x="98" y="140"/>
                </a:lnTo>
                <a:lnTo>
                  <a:pt x="82" y="147"/>
                </a:lnTo>
                <a:lnTo>
                  <a:pt x="65" y="153"/>
                </a:lnTo>
                <a:lnTo>
                  <a:pt x="49" y="158"/>
                </a:lnTo>
                <a:lnTo>
                  <a:pt x="33" y="162"/>
                </a:lnTo>
                <a:lnTo>
                  <a:pt x="16" y="164"/>
                </a:lnTo>
                <a:lnTo>
                  <a:pt x="0" y="165"/>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057400" y="5162550"/>
            <a:ext cx="3743325" cy="885825"/>
          </a:xfrm>
          <a:custGeom>
            <a:avLst/>
            <a:gdLst/>
            <a:ahLst/>
            <a:cxnLst/>
            <a:rect l="l" t="t" r="r" b="b"/>
            <a:pathLst>
              <a:path w="393" h="93">
                <a:moveTo>
                  <a:pt x="0" y="88"/>
                </a:moveTo>
                <a:lnTo>
                  <a:pt x="16" y="87"/>
                </a:lnTo>
                <a:lnTo>
                  <a:pt x="33" y="86"/>
                </a:lnTo>
                <a:lnTo>
                  <a:pt x="49" y="84"/>
                </a:lnTo>
                <a:lnTo>
                  <a:pt x="65" y="81"/>
                </a:lnTo>
                <a:lnTo>
                  <a:pt x="82" y="78"/>
                </a:lnTo>
                <a:lnTo>
                  <a:pt x="98" y="74"/>
                </a:lnTo>
                <a:lnTo>
                  <a:pt x="114" y="70"/>
                </a:lnTo>
                <a:lnTo>
                  <a:pt x="131" y="65"/>
                </a:lnTo>
                <a:lnTo>
                  <a:pt x="147" y="60"/>
                </a:lnTo>
                <a:lnTo>
                  <a:pt x="164" y="55"/>
                </a:lnTo>
                <a:lnTo>
                  <a:pt x="180" y="49"/>
                </a:lnTo>
                <a:lnTo>
                  <a:pt x="196" y="44"/>
                </a:lnTo>
                <a:lnTo>
                  <a:pt x="213" y="38"/>
                </a:lnTo>
                <a:lnTo>
                  <a:pt x="229" y="33"/>
                </a:lnTo>
                <a:lnTo>
                  <a:pt x="246" y="28"/>
                </a:lnTo>
                <a:lnTo>
                  <a:pt x="262" y="23"/>
                </a:lnTo>
                <a:lnTo>
                  <a:pt x="278" y="18"/>
                </a:lnTo>
                <a:lnTo>
                  <a:pt x="295" y="14"/>
                </a:lnTo>
                <a:lnTo>
                  <a:pt x="311" y="10"/>
                </a:lnTo>
                <a:lnTo>
                  <a:pt x="327" y="7"/>
                </a:lnTo>
                <a:lnTo>
                  <a:pt x="344" y="4"/>
                </a:lnTo>
                <a:lnTo>
                  <a:pt x="360" y="2"/>
                </a:lnTo>
                <a:lnTo>
                  <a:pt x="377" y="1"/>
                </a:lnTo>
                <a:lnTo>
                  <a:pt x="393" y="0"/>
                </a:lnTo>
                <a:lnTo>
                  <a:pt x="393" y="5"/>
                </a:lnTo>
                <a:lnTo>
                  <a:pt x="377" y="6"/>
                </a:lnTo>
                <a:lnTo>
                  <a:pt x="360" y="7"/>
                </a:lnTo>
                <a:lnTo>
                  <a:pt x="344" y="9"/>
                </a:lnTo>
                <a:lnTo>
                  <a:pt x="327" y="12"/>
                </a:lnTo>
                <a:lnTo>
                  <a:pt x="311" y="15"/>
                </a:lnTo>
                <a:lnTo>
                  <a:pt x="295" y="19"/>
                </a:lnTo>
                <a:lnTo>
                  <a:pt x="278" y="24"/>
                </a:lnTo>
                <a:lnTo>
                  <a:pt x="262" y="28"/>
                </a:lnTo>
                <a:lnTo>
                  <a:pt x="246" y="33"/>
                </a:lnTo>
                <a:lnTo>
                  <a:pt x="229" y="38"/>
                </a:lnTo>
                <a:lnTo>
                  <a:pt x="213" y="44"/>
                </a:lnTo>
                <a:lnTo>
                  <a:pt x="196" y="49"/>
                </a:lnTo>
                <a:lnTo>
                  <a:pt x="180" y="55"/>
                </a:lnTo>
                <a:lnTo>
                  <a:pt x="164" y="60"/>
                </a:lnTo>
                <a:lnTo>
                  <a:pt x="147" y="65"/>
                </a:lnTo>
                <a:lnTo>
                  <a:pt x="131" y="70"/>
                </a:lnTo>
                <a:lnTo>
                  <a:pt x="114" y="75"/>
                </a:lnTo>
                <a:lnTo>
                  <a:pt x="98" y="79"/>
                </a:lnTo>
                <a:lnTo>
                  <a:pt x="82" y="83"/>
                </a:lnTo>
                <a:lnTo>
                  <a:pt x="65" y="87"/>
                </a:lnTo>
                <a:lnTo>
                  <a:pt x="49" y="89"/>
                </a:lnTo>
                <a:lnTo>
                  <a:pt x="33" y="91"/>
                </a:lnTo>
                <a:lnTo>
                  <a:pt x="16" y="93"/>
                </a:lnTo>
                <a:lnTo>
                  <a:pt x="0" y="93"/>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reeform 57"/>
          <p:cNvSpPr/>
          <p:nvPr/>
        </p:nvSpPr>
        <p:spPr>
          <a:xfrm>
            <a:off x="2057400" y="5695950"/>
            <a:ext cx="3743325" cy="381000"/>
          </a:xfrm>
          <a:custGeom>
            <a:avLst/>
            <a:gdLst/>
            <a:ahLst/>
            <a:cxnLst/>
            <a:rect l="l" t="t" r="r" b="b"/>
            <a:pathLst>
              <a:path w="393" h="40">
                <a:moveTo>
                  <a:pt x="0" y="37"/>
                </a:moveTo>
                <a:lnTo>
                  <a:pt x="16" y="37"/>
                </a:lnTo>
                <a:lnTo>
                  <a:pt x="33" y="36"/>
                </a:lnTo>
                <a:lnTo>
                  <a:pt x="49" y="36"/>
                </a:lnTo>
                <a:lnTo>
                  <a:pt x="65" y="34"/>
                </a:lnTo>
                <a:lnTo>
                  <a:pt x="82" y="33"/>
                </a:lnTo>
                <a:lnTo>
                  <a:pt x="98" y="31"/>
                </a:lnTo>
                <a:lnTo>
                  <a:pt x="114" y="29"/>
                </a:lnTo>
                <a:lnTo>
                  <a:pt x="131" y="27"/>
                </a:lnTo>
                <a:lnTo>
                  <a:pt x="147" y="25"/>
                </a:lnTo>
                <a:lnTo>
                  <a:pt x="164" y="23"/>
                </a:lnTo>
                <a:lnTo>
                  <a:pt x="180" y="21"/>
                </a:lnTo>
                <a:lnTo>
                  <a:pt x="196" y="18"/>
                </a:lnTo>
                <a:lnTo>
                  <a:pt x="213" y="16"/>
                </a:lnTo>
                <a:lnTo>
                  <a:pt x="229" y="14"/>
                </a:lnTo>
                <a:lnTo>
                  <a:pt x="246" y="12"/>
                </a:lnTo>
                <a:lnTo>
                  <a:pt x="262" y="9"/>
                </a:lnTo>
                <a:lnTo>
                  <a:pt x="278" y="7"/>
                </a:lnTo>
                <a:lnTo>
                  <a:pt x="295" y="6"/>
                </a:lnTo>
                <a:lnTo>
                  <a:pt x="311" y="4"/>
                </a:lnTo>
                <a:lnTo>
                  <a:pt x="327" y="2"/>
                </a:lnTo>
                <a:lnTo>
                  <a:pt x="344" y="1"/>
                </a:lnTo>
                <a:lnTo>
                  <a:pt x="360" y="0"/>
                </a:lnTo>
                <a:lnTo>
                  <a:pt x="377" y="0"/>
                </a:lnTo>
                <a:lnTo>
                  <a:pt x="393" y="0"/>
                </a:lnTo>
                <a:lnTo>
                  <a:pt x="393" y="3"/>
                </a:lnTo>
                <a:lnTo>
                  <a:pt x="377" y="3"/>
                </a:lnTo>
                <a:lnTo>
                  <a:pt x="360" y="4"/>
                </a:lnTo>
                <a:lnTo>
                  <a:pt x="344" y="5"/>
                </a:lnTo>
                <a:lnTo>
                  <a:pt x="327" y="6"/>
                </a:lnTo>
                <a:lnTo>
                  <a:pt x="311" y="7"/>
                </a:lnTo>
                <a:lnTo>
                  <a:pt x="295" y="9"/>
                </a:lnTo>
                <a:lnTo>
                  <a:pt x="278" y="11"/>
                </a:lnTo>
                <a:lnTo>
                  <a:pt x="262" y="13"/>
                </a:lnTo>
                <a:lnTo>
                  <a:pt x="246" y="15"/>
                </a:lnTo>
                <a:lnTo>
                  <a:pt x="229" y="17"/>
                </a:lnTo>
                <a:lnTo>
                  <a:pt x="213" y="19"/>
                </a:lnTo>
                <a:lnTo>
                  <a:pt x="196" y="22"/>
                </a:lnTo>
                <a:lnTo>
                  <a:pt x="180" y="24"/>
                </a:lnTo>
                <a:lnTo>
                  <a:pt x="164" y="26"/>
                </a:lnTo>
                <a:lnTo>
                  <a:pt x="147" y="29"/>
                </a:lnTo>
                <a:lnTo>
                  <a:pt x="131" y="31"/>
                </a:lnTo>
                <a:lnTo>
                  <a:pt x="114" y="33"/>
                </a:lnTo>
                <a:lnTo>
                  <a:pt x="98" y="35"/>
                </a:lnTo>
                <a:lnTo>
                  <a:pt x="82" y="36"/>
                </a:lnTo>
                <a:lnTo>
                  <a:pt x="65" y="38"/>
                </a:lnTo>
                <a:lnTo>
                  <a:pt x="49" y="39"/>
                </a:lnTo>
                <a:lnTo>
                  <a:pt x="33" y="40"/>
                </a:lnTo>
                <a:lnTo>
                  <a:pt x="16" y="40"/>
                </a:lnTo>
                <a:lnTo>
                  <a:pt x="0" y="40"/>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2057400" y="6076950"/>
            <a:ext cx="3743325" cy="76200"/>
          </a:xfrm>
          <a:custGeom>
            <a:avLst/>
            <a:gdLst/>
            <a:ahLst/>
            <a:cxnLst/>
            <a:rect l="l" t="t" r="r" b="b"/>
            <a:pathLst>
              <a:path w="393" h="8">
                <a:moveTo>
                  <a:pt x="0" y="0"/>
                </a:moveTo>
                <a:lnTo>
                  <a:pt x="16" y="0"/>
                </a:lnTo>
                <a:lnTo>
                  <a:pt x="33" y="1"/>
                </a:lnTo>
                <a:lnTo>
                  <a:pt x="49" y="1"/>
                </a:lnTo>
                <a:lnTo>
                  <a:pt x="65" y="1"/>
                </a:lnTo>
                <a:lnTo>
                  <a:pt x="82" y="1"/>
                </a:lnTo>
                <a:lnTo>
                  <a:pt x="98" y="1"/>
                </a:lnTo>
                <a:lnTo>
                  <a:pt x="114" y="1"/>
                </a:lnTo>
                <a:lnTo>
                  <a:pt x="131" y="2"/>
                </a:lnTo>
                <a:lnTo>
                  <a:pt x="147" y="2"/>
                </a:lnTo>
                <a:lnTo>
                  <a:pt x="164" y="2"/>
                </a:lnTo>
                <a:lnTo>
                  <a:pt x="180" y="2"/>
                </a:lnTo>
                <a:lnTo>
                  <a:pt x="196" y="2"/>
                </a:lnTo>
                <a:lnTo>
                  <a:pt x="213" y="3"/>
                </a:lnTo>
                <a:lnTo>
                  <a:pt x="229" y="3"/>
                </a:lnTo>
                <a:lnTo>
                  <a:pt x="246" y="3"/>
                </a:lnTo>
                <a:lnTo>
                  <a:pt x="262" y="3"/>
                </a:lnTo>
                <a:lnTo>
                  <a:pt x="278" y="4"/>
                </a:lnTo>
                <a:lnTo>
                  <a:pt x="295" y="4"/>
                </a:lnTo>
                <a:lnTo>
                  <a:pt x="311" y="4"/>
                </a:lnTo>
                <a:lnTo>
                  <a:pt x="327" y="4"/>
                </a:lnTo>
                <a:lnTo>
                  <a:pt x="344" y="4"/>
                </a:lnTo>
                <a:lnTo>
                  <a:pt x="360" y="4"/>
                </a:lnTo>
                <a:lnTo>
                  <a:pt x="377" y="4"/>
                </a:lnTo>
                <a:lnTo>
                  <a:pt x="393" y="4"/>
                </a:lnTo>
                <a:lnTo>
                  <a:pt x="393" y="8"/>
                </a:lnTo>
                <a:lnTo>
                  <a:pt x="377" y="8"/>
                </a:lnTo>
                <a:lnTo>
                  <a:pt x="360" y="8"/>
                </a:lnTo>
                <a:lnTo>
                  <a:pt x="344" y="8"/>
                </a:lnTo>
                <a:lnTo>
                  <a:pt x="327" y="7"/>
                </a:lnTo>
                <a:lnTo>
                  <a:pt x="311" y="7"/>
                </a:lnTo>
                <a:lnTo>
                  <a:pt x="295" y="7"/>
                </a:lnTo>
                <a:lnTo>
                  <a:pt x="278" y="7"/>
                </a:lnTo>
                <a:lnTo>
                  <a:pt x="262" y="7"/>
                </a:lnTo>
                <a:lnTo>
                  <a:pt x="246" y="6"/>
                </a:lnTo>
                <a:lnTo>
                  <a:pt x="229" y="6"/>
                </a:lnTo>
                <a:lnTo>
                  <a:pt x="213" y="6"/>
                </a:lnTo>
                <a:lnTo>
                  <a:pt x="196" y="6"/>
                </a:lnTo>
                <a:lnTo>
                  <a:pt x="180" y="5"/>
                </a:lnTo>
                <a:lnTo>
                  <a:pt x="164" y="5"/>
                </a:lnTo>
                <a:lnTo>
                  <a:pt x="147" y="5"/>
                </a:lnTo>
                <a:lnTo>
                  <a:pt x="131" y="5"/>
                </a:lnTo>
                <a:lnTo>
                  <a:pt x="114" y="5"/>
                </a:lnTo>
                <a:lnTo>
                  <a:pt x="98" y="4"/>
                </a:lnTo>
                <a:lnTo>
                  <a:pt x="82" y="4"/>
                </a:lnTo>
                <a:lnTo>
                  <a:pt x="65" y="4"/>
                </a:lnTo>
                <a:lnTo>
                  <a:pt x="49" y="4"/>
                </a:lnTo>
                <a:lnTo>
                  <a:pt x="33" y="4"/>
                </a:lnTo>
                <a:lnTo>
                  <a:pt x="16" y="4"/>
                </a:lnTo>
                <a:lnTo>
                  <a:pt x="0" y="4"/>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reeform 59"/>
          <p:cNvSpPr/>
          <p:nvPr/>
        </p:nvSpPr>
        <p:spPr>
          <a:xfrm>
            <a:off x="2057400" y="6115050"/>
            <a:ext cx="3743325" cy="342900"/>
          </a:xfrm>
          <a:custGeom>
            <a:avLst/>
            <a:gdLst/>
            <a:ahLst/>
            <a:cxnLst/>
            <a:rect l="l" t="t" r="r" b="b"/>
            <a:pathLst>
              <a:path w="393" h="36">
                <a:moveTo>
                  <a:pt x="0" y="0"/>
                </a:moveTo>
                <a:lnTo>
                  <a:pt x="16" y="0"/>
                </a:lnTo>
                <a:lnTo>
                  <a:pt x="33" y="0"/>
                </a:lnTo>
                <a:lnTo>
                  <a:pt x="49" y="1"/>
                </a:lnTo>
                <a:lnTo>
                  <a:pt x="65" y="2"/>
                </a:lnTo>
                <a:lnTo>
                  <a:pt x="82" y="4"/>
                </a:lnTo>
                <a:lnTo>
                  <a:pt x="98" y="5"/>
                </a:lnTo>
                <a:lnTo>
                  <a:pt x="114" y="7"/>
                </a:lnTo>
                <a:lnTo>
                  <a:pt x="131" y="9"/>
                </a:lnTo>
                <a:lnTo>
                  <a:pt x="147" y="11"/>
                </a:lnTo>
                <a:lnTo>
                  <a:pt x="164" y="13"/>
                </a:lnTo>
                <a:lnTo>
                  <a:pt x="180" y="15"/>
                </a:lnTo>
                <a:lnTo>
                  <a:pt x="196" y="17"/>
                </a:lnTo>
                <a:lnTo>
                  <a:pt x="213" y="19"/>
                </a:lnTo>
                <a:lnTo>
                  <a:pt x="229" y="21"/>
                </a:lnTo>
                <a:lnTo>
                  <a:pt x="246" y="23"/>
                </a:lnTo>
                <a:lnTo>
                  <a:pt x="262" y="25"/>
                </a:lnTo>
                <a:lnTo>
                  <a:pt x="278" y="27"/>
                </a:lnTo>
                <a:lnTo>
                  <a:pt x="295" y="29"/>
                </a:lnTo>
                <a:lnTo>
                  <a:pt x="311" y="31"/>
                </a:lnTo>
                <a:lnTo>
                  <a:pt x="327" y="32"/>
                </a:lnTo>
                <a:lnTo>
                  <a:pt x="344" y="33"/>
                </a:lnTo>
                <a:lnTo>
                  <a:pt x="360" y="34"/>
                </a:lnTo>
                <a:lnTo>
                  <a:pt x="377" y="34"/>
                </a:lnTo>
                <a:lnTo>
                  <a:pt x="393" y="34"/>
                </a:lnTo>
                <a:lnTo>
                  <a:pt x="393" y="36"/>
                </a:lnTo>
                <a:lnTo>
                  <a:pt x="377" y="36"/>
                </a:lnTo>
                <a:lnTo>
                  <a:pt x="360" y="36"/>
                </a:lnTo>
                <a:lnTo>
                  <a:pt x="344" y="35"/>
                </a:lnTo>
                <a:lnTo>
                  <a:pt x="327" y="34"/>
                </a:lnTo>
                <a:lnTo>
                  <a:pt x="311" y="32"/>
                </a:lnTo>
                <a:lnTo>
                  <a:pt x="295" y="31"/>
                </a:lnTo>
                <a:lnTo>
                  <a:pt x="278" y="29"/>
                </a:lnTo>
                <a:lnTo>
                  <a:pt x="262" y="27"/>
                </a:lnTo>
                <a:lnTo>
                  <a:pt x="246" y="25"/>
                </a:lnTo>
                <a:lnTo>
                  <a:pt x="229" y="23"/>
                </a:lnTo>
                <a:lnTo>
                  <a:pt x="213" y="21"/>
                </a:lnTo>
                <a:lnTo>
                  <a:pt x="196" y="19"/>
                </a:lnTo>
                <a:lnTo>
                  <a:pt x="180" y="17"/>
                </a:lnTo>
                <a:lnTo>
                  <a:pt x="164" y="15"/>
                </a:lnTo>
                <a:lnTo>
                  <a:pt x="147" y="13"/>
                </a:lnTo>
                <a:lnTo>
                  <a:pt x="131" y="11"/>
                </a:lnTo>
                <a:lnTo>
                  <a:pt x="114" y="9"/>
                </a:lnTo>
                <a:lnTo>
                  <a:pt x="98" y="7"/>
                </a:lnTo>
                <a:lnTo>
                  <a:pt x="82" y="6"/>
                </a:lnTo>
                <a:lnTo>
                  <a:pt x="65" y="4"/>
                </a:lnTo>
                <a:lnTo>
                  <a:pt x="49" y="3"/>
                </a:lnTo>
                <a:lnTo>
                  <a:pt x="33" y="2"/>
                </a:lnTo>
                <a:lnTo>
                  <a:pt x="16" y="2"/>
                </a:lnTo>
                <a:lnTo>
                  <a:pt x="0" y="2"/>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2057400" y="2524125"/>
            <a:ext cx="3743325" cy="3705225"/>
          </a:xfrm>
          <a:custGeom>
            <a:avLst/>
            <a:gdLst/>
            <a:ahLst/>
            <a:cxnLst/>
            <a:rect l="l" t="t" r="r" b="b"/>
            <a:pathLst>
              <a:path w="393" h="389">
                <a:moveTo>
                  <a:pt x="0" y="385"/>
                </a:moveTo>
                <a:lnTo>
                  <a:pt x="16" y="383"/>
                </a:lnTo>
                <a:lnTo>
                  <a:pt x="33" y="377"/>
                </a:lnTo>
                <a:lnTo>
                  <a:pt x="49" y="368"/>
                </a:lnTo>
                <a:lnTo>
                  <a:pt x="65" y="356"/>
                </a:lnTo>
                <a:lnTo>
                  <a:pt x="82" y="342"/>
                </a:lnTo>
                <a:lnTo>
                  <a:pt x="98" y="325"/>
                </a:lnTo>
                <a:lnTo>
                  <a:pt x="114" y="306"/>
                </a:lnTo>
                <a:lnTo>
                  <a:pt x="131" y="285"/>
                </a:lnTo>
                <a:lnTo>
                  <a:pt x="147" y="263"/>
                </a:lnTo>
                <a:lnTo>
                  <a:pt x="164" y="240"/>
                </a:lnTo>
                <a:lnTo>
                  <a:pt x="180" y="216"/>
                </a:lnTo>
                <a:lnTo>
                  <a:pt x="196" y="193"/>
                </a:lnTo>
                <a:lnTo>
                  <a:pt x="213" y="169"/>
                </a:lnTo>
                <a:lnTo>
                  <a:pt x="229" y="145"/>
                </a:lnTo>
                <a:lnTo>
                  <a:pt x="246" y="122"/>
                </a:lnTo>
                <a:lnTo>
                  <a:pt x="262" y="100"/>
                </a:lnTo>
                <a:lnTo>
                  <a:pt x="278" y="79"/>
                </a:lnTo>
                <a:lnTo>
                  <a:pt x="295" y="60"/>
                </a:lnTo>
                <a:lnTo>
                  <a:pt x="311" y="43"/>
                </a:lnTo>
                <a:lnTo>
                  <a:pt x="327" y="29"/>
                </a:lnTo>
                <a:lnTo>
                  <a:pt x="344" y="17"/>
                </a:lnTo>
                <a:lnTo>
                  <a:pt x="360" y="8"/>
                </a:lnTo>
                <a:lnTo>
                  <a:pt x="377" y="2"/>
                </a:lnTo>
                <a:lnTo>
                  <a:pt x="393" y="0"/>
                </a:lnTo>
                <a:lnTo>
                  <a:pt x="393" y="4"/>
                </a:lnTo>
                <a:lnTo>
                  <a:pt x="377" y="6"/>
                </a:lnTo>
                <a:lnTo>
                  <a:pt x="360" y="12"/>
                </a:lnTo>
                <a:lnTo>
                  <a:pt x="344" y="21"/>
                </a:lnTo>
                <a:lnTo>
                  <a:pt x="327" y="33"/>
                </a:lnTo>
                <a:lnTo>
                  <a:pt x="311" y="48"/>
                </a:lnTo>
                <a:lnTo>
                  <a:pt x="295" y="64"/>
                </a:lnTo>
                <a:lnTo>
                  <a:pt x="278" y="83"/>
                </a:lnTo>
                <a:lnTo>
                  <a:pt x="262" y="104"/>
                </a:lnTo>
                <a:lnTo>
                  <a:pt x="246" y="126"/>
                </a:lnTo>
                <a:lnTo>
                  <a:pt x="229" y="149"/>
                </a:lnTo>
                <a:lnTo>
                  <a:pt x="213" y="173"/>
                </a:lnTo>
                <a:lnTo>
                  <a:pt x="196" y="197"/>
                </a:lnTo>
                <a:lnTo>
                  <a:pt x="180" y="221"/>
                </a:lnTo>
                <a:lnTo>
                  <a:pt x="164" y="244"/>
                </a:lnTo>
                <a:lnTo>
                  <a:pt x="147" y="267"/>
                </a:lnTo>
                <a:lnTo>
                  <a:pt x="131" y="289"/>
                </a:lnTo>
                <a:lnTo>
                  <a:pt x="114" y="310"/>
                </a:lnTo>
                <a:lnTo>
                  <a:pt x="98" y="329"/>
                </a:lnTo>
                <a:lnTo>
                  <a:pt x="82" y="346"/>
                </a:lnTo>
                <a:lnTo>
                  <a:pt x="65" y="360"/>
                </a:lnTo>
                <a:lnTo>
                  <a:pt x="49" y="372"/>
                </a:lnTo>
                <a:lnTo>
                  <a:pt x="33" y="381"/>
                </a:lnTo>
                <a:lnTo>
                  <a:pt x="16" y="387"/>
                </a:lnTo>
                <a:lnTo>
                  <a:pt x="0" y="389"/>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2057400" y="3581400"/>
            <a:ext cx="3743325" cy="2676525"/>
          </a:xfrm>
          <a:custGeom>
            <a:avLst/>
            <a:gdLst/>
            <a:ahLst/>
            <a:cxnLst/>
            <a:rect l="l" t="t" r="r" b="b"/>
            <a:pathLst>
              <a:path w="393" h="281">
                <a:moveTo>
                  <a:pt x="0" y="278"/>
                </a:moveTo>
                <a:lnTo>
                  <a:pt x="16" y="276"/>
                </a:lnTo>
                <a:lnTo>
                  <a:pt x="33" y="272"/>
                </a:lnTo>
                <a:lnTo>
                  <a:pt x="49" y="266"/>
                </a:lnTo>
                <a:lnTo>
                  <a:pt x="65" y="257"/>
                </a:lnTo>
                <a:lnTo>
                  <a:pt x="82" y="247"/>
                </a:lnTo>
                <a:lnTo>
                  <a:pt x="98" y="234"/>
                </a:lnTo>
                <a:lnTo>
                  <a:pt x="114" y="221"/>
                </a:lnTo>
                <a:lnTo>
                  <a:pt x="131" y="206"/>
                </a:lnTo>
                <a:lnTo>
                  <a:pt x="147" y="190"/>
                </a:lnTo>
                <a:lnTo>
                  <a:pt x="164" y="173"/>
                </a:lnTo>
                <a:lnTo>
                  <a:pt x="180" y="156"/>
                </a:lnTo>
                <a:lnTo>
                  <a:pt x="196" y="139"/>
                </a:lnTo>
                <a:lnTo>
                  <a:pt x="213" y="122"/>
                </a:lnTo>
                <a:lnTo>
                  <a:pt x="229" y="105"/>
                </a:lnTo>
                <a:lnTo>
                  <a:pt x="246" y="88"/>
                </a:lnTo>
                <a:lnTo>
                  <a:pt x="262" y="72"/>
                </a:lnTo>
                <a:lnTo>
                  <a:pt x="278" y="57"/>
                </a:lnTo>
                <a:lnTo>
                  <a:pt x="295" y="44"/>
                </a:lnTo>
                <a:lnTo>
                  <a:pt x="311" y="31"/>
                </a:lnTo>
                <a:lnTo>
                  <a:pt x="327" y="21"/>
                </a:lnTo>
                <a:lnTo>
                  <a:pt x="344" y="12"/>
                </a:lnTo>
                <a:lnTo>
                  <a:pt x="360" y="6"/>
                </a:lnTo>
                <a:lnTo>
                  <a:pt x="377" y="2"/>
                </a:lnTo>
                <a:lnTo>
                  <a:pt x="393" y="0"/>
                </a:lnTo>
                <a:lnTo>
                  <a:pt x="393" y="4"/>
                </a:lnTo>
                <a:lnTo>
                  <a:pt x="377" y="5"/>
                </a:lnTo>
                <a:lnTo>
                  <a:pt x="360" y="9"/>
                </a:lnTo>
                <a:lnTo>
                  <a:pt x="344" y="16"/>
                </a:lnTo>
                <a:lnTo>
                  <a:pt x="327" y="24"/>
                </a:lnTo>
                <a:lnTo>
                  <a:pt x="311" y="35"/>
                </a:lnTo>
                <a:lnTo>
                  <a:pt x="295" y="47"/>
                </a:lnTo>
                <a:lnTo>
                  <a:pt x="278" y="61"/>
                </a:lnTo>
                <a:lnTo>
                  <a:pt x="262" y="76"/>
                </a:lnTo>
                <a:lnTo>
                  <a:pt x="246" y="91"/>
                </a:lnTo>
                <a:lnTo>
                  <a:pt x="229" y="108"/>
                </a:lnTo>
                <a:lnTo>
                  <a:pt x="213" y="125"/>
                </a:lnTo>
                <a:lnTo>
                  <a:pt x="196" y="142"/>
                </a:lnTo>
                <a:lnTo>
                  <a:pt x="180" y="160"/>
                </a:lnTo>
                <a:lnTo>
                  <a:pt x="164" y="177"/>
                </a:lnTo>
                <a:lnTo>
                  <a:pt x="147" y="193"/>
                </a:lnTo>
                <a:lnTo>
                  <a:pt x="131" y="209"/>
                </a:lnTo>
                <a:lnTo>
                  <a:pt x="114" y="224"/>
                </a:lnTo>
                <a:lnTo>
                  <a:pt x="98" y="238"/>
                </a:lnTo>
                <a:lnTo>
                  <a:pt x="82" y="250"/>
                </a:lnTo>
                <a:lnTo>
                  <a:pt x="65" y="261"/>
                </a:lnTo>
                <a:lnTo>
                  <a:pt x="49" y="269"/>
                </a:lnTo>
                <a:lnTo>
                  <a:pt x="33" y="276"/>
                </a:lnTo>
                <a:lnTo>
                  <a:pt x="16" y="280"/>
                </a:lnTo>
                <a:lnTo>
                  <a:pt x="0" y="281"/>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057400" y="4495800"/>
            <a:ext cx="3743325" cy="1781175"/>
          </a:xfrm>
          <a:custGeom>
            <a:avLst/>
            <a:gdLst/>
            <a:ahLst/>
            <a:cxnLst/>
            <a:rect l="l" t="t" r="r" b="b"/>
            <a:pathLst>
              <a:path w="393" h="187">
                <a:moveTo>
                  <a:pt x="0" y="185"/>
                </a:moveTo>
                <a:lnTo>
                  <a:pt x="16" y="184"/>
                </a:lnTo>
                <a:lnTo>
                  <a:pt x="33" y="181"/>
                </a:lnTo>
                <a:lnTo>
                  <a:pt x="49" y="177"/>
                </a:lnTo>
                <a:lnTo>
                  <a:pt x="65" y="171"/>
                </a:lnTo>
                <a:lnTo>
                  <a:pt x="82" y="164"/>
                </a:lnTo>
                <a:lnTo>
                  <a:pt x="98" y="156"/>
                </a:lnTo>
                <a:lnTo>
                  <a:pt x="114" y="147"/>
                </a:lnTo>
                <a:lnTo>
                  <a:pt x="131" y="137"/>
                </a:lnTo>
                <a:lnTo>
                  <a:pt x="147" y="127"/>
                </a:lnTo>
                <a:lnTo>
                  <a:pt x="164" y="115"/>
                </a:lnTo>
                <a:lnTo>
                  <a:pt x="180" y="104"/>
                </a:lnTo>
                <a:lnTo>
                  <a:pt x="196" y="93"/>
                </a:lnTo>
                <a:lnTo>
                  <a:pt x="213" y="81"/>
                </a:lnTo>
                <a:lnTo>
                  <a:pt x="229" y="70"/>
                </a:lnTo>
                <a:lnTo>
                  <a:pt x="246" y="59"/>
                </a:lnTo>
                <a:lnTo>
                  <a:pt x="262" y="48"/>
                </a:lnTo>
                <a:lnTo>
                  <a:pt x="278" y="38"/>
                </a:lnTo>
                <a:lnTo>
                  <a:pt x="295" y="29"/>
                </a:lnTo>
                <a:lnTo>
                  <a:pt x="311" y="21"/>
                </a:lnTo>
                <a:lnTo>
                  <a:pt x="327" y="14"/>
                </a:lnTo>
                <a:lnTo>
                  <a:pt x="344" y="8"/>
                </a:lnTo>
                <a:lnTo>
                  <a:pt x="360" y="4"/>
                </a:lnTo>
                <a:lnTo>
                  <a:pt x="377" y="1"/>
                </a:lnTo>
                <a:lnTo>
                  <a:pt x="393" y="0"/>
                </a:lnTo>
                <a:lnTo>
                  <a:pt x="393" y="2"/>
                </a:lnTo>
                <a:lnTo>
                  <a:pt x="377" y="3"/>
                </a:lnTo>
                <a:lnTo>
                  <a:pt x="360" y="6"/>
                </a:lnTo>
                <a:lnTo>
                  <a:pt x="344" y="10"/>
                </a:lnTo>
                <a:lnTo>
                  <a:pt x="327" y="16"/>
                </a:lnTo>
                <a:lnTo>
                  <a:pt x="311" y="23"/>
                </a:lnTo>
                <a:lnTo>
                  <a:pt x="295" y="31"/>
                </a:lnTo>
                <a:lnTo>
                  <a:pt x="278" y="40"/>
                </a:lnTo>
                <a:lnTo>
                  <a:pt x="262" y="50"/>
                </a:lnTo>
                <a:lnTo>
                  <a:pt x="246" y="61"/>
                </a:lnTo>
                <a:lnTo>
                  <a:pt x="229" y="72"/>
                </a:lnTo>
                <a:lnTo>
                  <a:pt x="213" y="83"/>
                </a:lnTo>
                <a:lnTo>
                  <a:pt x="196" y="95"/>
                </a:lnTo>
                <a:lnTo>
                  <a:pt x="180" y="106"/>
                </a:lnTo>
                <a:lnTo>
                  <a:pt x="164" y="118"/>
                </a:lnTo>
                <a:lnTo>
                  <a:pt x="147" y="129"/>
                </a:lnTo>
                <a:lnTo>
                  <a:pt x="131" y="139"/>
                </a:lnTo>
                <a:lnTo>
                  <a:pt x="114" y="149"/>
                </a:lnTo>
                <a:lnTo>
                  <a:pt x="98" y="159"/>
                </a:lnTo>
                <a:lnTo>
                  <a:pt x="82" y="167"/>
                </a:lnTo>
                <a:lnTo>
                  <a:pt x="65" y="174"/>
                </a:lnTo>
                <a:lnTo>
                  <a:pt x="49" y="179"/>
                </a:lnTo>
                <a:lnTo>
                  <a:pt x="33" y="184"/>
                </a:lnTo>
                <a:lnTo>
                  <a:pt x="16" y="186"/>
                </a:lnTo>
                <a:lnTo>
                  <a:pt x="0" y="187"/>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2057400" y="5210175"/>
            <a:ext cx="3743325" cy="1095375"/>
          </a:xfrm>
          <a:custGeom>
            <a:avLst/>
            <a:gdLst/>
            <a:ahLst/>
            <a:cxnLst/>
            <a:rect l="l" t="t" r="r" b="b"/>
            <a:pathLst>
              <a:path w="393" h="115">
                <a:moveTo>
                  <a:pt x="0" y="112"/>
                </a:moveTo>
                <a:lnTo>
                  <a:pt x="16" y="112"/>
                </a:lnTo>
                <a:lnTo>
                  <a:pt x="33" y="110"/>
                </a:lnTo>
                <a:lnTo>
                  <a:pt x="49" y="108"/>
                </a:lnTo>
                <a:lnTo>
                  <a:pt x="65" y="104"/>
                </a:lnTo>
                <a:lnTo>
                  <a:pt x="82" y="100"/>
                </a:lnTo>
                <a:lnTo>
                  <a:pt x="98" y="95"/>
                </a:lnTo>
                <a:lnTo>
                  <a:pt x="114" y="89"/>
                </a:lnTo>
                <a:lnTo>
                  <a:pt x="131" y="83"/>
                </a:lnTo>
                <a:lnTo>
                  <a:pt x="147" y="77"/>
                </a:lnTo>
                <a:lnTo>
                  <a:pt x="164" y="70"/>
                </a:lnTo>
                <a:lnTo>
                  <a:pt x="180" y="63"/>
                </a:lnTo>
                <a:lnTo>
                  <a:pt x="196" y="56"/>
                </a:lnTo>
                <a:lnTo>
                  <a:pt x="213" y="49"/>
                </a:lnTo>
                <a:lnTo>
                  <a:pt x="229" y="43"/>
                </a:lnTo>
                <a:lnTo>
                  <a:pt x="246" y="36"/>
                </a:lnTo>
                <a:lnTo>
                  <a:pt x="262" y="29"/>
                </a:lnTo>
                <a:lnTo>
                  <a:pt x="278" y="23"/>
                </a:lnTo>
                <a:lnTo>
                  <a:pt x="295" y="18"/>
                </a:lnTo>
                <a:lnTo>
                  <a:pt x="311" y="13"/>
                </a:lnTo>
                <a:lnTo>
                  <a:pt x="327" y="9"/>
                </a:lnTo>
                <a:lnTo>
                  <a:pt x="344" y="5"/>
                </a:lnTo>
                <a:lnTo>
                  <a:pt x="360" y="3"/>
                </a:lnTo>
                <a:lnTo>
                  <a:pt x="377" y="1"/>
                </a:lnTo>
                <a:lnTo>
                  <a:pt x="393" y="0"/>
                </a:lnTo>
                <a:lnTo>
                  <a:pt x="393" y="3"/>
                </a:lnTo>
                <a:lnTo>
                  <a:pt x="377" y="3"/>
                </a:lnTo>
                <a:lnTo>
                  <a:pt x="360" y="5"/>
                </a:lnTo>
                <a:lnTo>
                  <a:pt x="344" y="7"/>
                </a:lnTo>
                <a:lnTo>
                  <a:pt x="327" y="11"/>
                </a:lnTo>
                <a:lnTo>
                  <a:pt x="311" y="15"/>
                </a:lnTo>
                <a:lnTo>
                  <a:pt x="295" y="20"/>
                </a:lnTo>
                <a:lnTo>
                  <a:pt x="278" y="26"/>
                </a:lnTo>
                <a:lnTo>
                  <a:pt x="262" y="32"/>
                </a:lnTo>
                <a:lnTo>
                  <a:pt x="246" y="38"/>
                </a:lnTo>
                <a:lnTo>
                  <a:pt x="229" y="45"/>
                </a:lnTo>
                <a:lnTo>
                  <a:pt x="213" y="52"/>
                </a:lnTo>
                <a:lnTo>
                  <a:pt x="196" y="59"/>
                </a:lnTo>
                <a:lnTo>
                  <a:pt x="180" y="66"/>
                </a:lnTo>
                <a:lnTo>
                  <a:pt x="164" y="73"/>
                </a:lnTo>
                <a:lnTo>
                  <a:pt x="147" y="79"/>
                </a:lnTo>
                <a:lnTo>
                  <a:pt x="131" y="86"/>
                </a:lnTo>
                <a:lnTo>
                  <a:pt x="114" y="92"/>
                </a:lnTo>
                <a:lnTo>
                  <a:pt x="98" y="97"/>
                </a:lnTo>
                <a:lnTo>
                  <a:pt x="82" y="102"/>
                </a:lnTo>
                <a:lnTo>
                  <a:pt x="65" y="106"/>
                </a:lnTo>
                <a:lnTo>
                  <a:pt x="49" y="110"/>
                </a:lnTo>
                <a:lnTo>
                  <a:pt x="33" y="112"/>
                </a:lnTo>
                <a:lnTo>
                  <a:pt x="16" y="114"/>
                </a:lnTo>
                <a:lnTo>
                  <a:pt x="0" y="115"/>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2057400" y="5724525"/>
            <a:ext cx="3743325" cy="590550"/>
          </a:xfrm>
          <a:custGeom>
            <a:avLst/>
            <a:gdLst/>
            <a:ahLst/>
            <a:cxnLst/>
            <a:rect l="l" t="t" r="r" b="b"/>
            <a:pathLst>
              <a:path w="393" h="62">
                <a:moveTo>
                  <a:pt x="0" y="61"/>
                </a:moveTo>
                <a:lnTo>
                  <a:pt x="16" y="60"/>
                </a:lnTo>
                <a:lnTo>
                  <a:pt x="33" y="59"/>
                </a:lnTo>
                <a:lnTo>
                  <a:pt x="49" y="58"/>
                </a:lnTo>
                <a:lnTo>
                  <a:pt x="65" y="56"/>
                </a:lnTo>
                <a:lnTo>
                  <a:pt x="82" y="54"/>
                </a:lnTo>
                <a:lnTo>
                  <a:pt x="98" y="51"/>
                </a:lnTo>
                <a:lnTo>
                  <a:pt x="114" y="48"/>
                </a:lnTo>
                <a:lnTo>
                  <a:pt x="131" y="45"/>
                </a:lnTo>
                <a:lnTo>
                  <a:pt x="147" y="41"/>
                </a:lnTo>
                <a:lnTo>
                  <a:pt x="164" y="38"/>
                </a:lnTo>
                <a:lnTo>
                  <a:pt x="180" y="34"/>
                </a:lnTo>
                <a:lnTo>
                  <a:pt x="196" y="30"/>
                </a:lnTo>
                <a:lnTo>
                  <a:pt x="213" y="27"/>
                </a:lnTo>
                <a:lnTo>
                  <a:pt x="229" y="23"/>
                </a:lnTo>
                <a:lnTo>
                  <a:pt x="246" y="19"/>
                </a:lnTo>
                <a:lnTo>
                  <a:pt x="262" y="16"/>
                </a:lnTo>
                <a:lnTo>
                  <a:pt x="278" y="12"/>
                </a:lnTo>
                <a:lnTo>
                  <a:pt x="295" y="9"/>
                </a:lnTo>
                <a:lnTo>
                  <a:pt x="311" y="7"/>
                </a:lnTo>
                <a:lnTo>
                  <a:pt x="327" y="4"/>
                </a:lnTo>
                <a:lnTo>
                  <a:pt x="344" y="3"/>
                </a:lnTo>
                <a:lnTo>
                  <a:pt x="360" y="1"/>
                </a:lnTo>
                <a:lnTo>
                  <a:pt x="377" y="0"/>
                </a:lnTo>
                <a:lnTo>
                  <a:pt x="393" y="0"/>
                </a:lnTo>
                <a:lnTo>
                  <a:pt x="393" y="1"/>
                </a:lnTo>
                <a:lnTo>
                  <a:pt x="377" y="2"/>
                </a:lnTo>
                <a:lnTo>
                  <a:pt x="360" y="2"/>
                </a:lnTo>
                <a:lnTo>
                  <a:pt x="344" y="4"/>
                </a:lnTo>
                <a:lnTo>
                  <a:pt x="327" y="6"/>
                </a:lnTo>
                <a:lnTo>
                  <a:pt x="311" y="8"/>
                </a:lnTo>
                <a:lnTo>
                  <a:pt x="295" y="11"/>
                </a:lnTo>
                <a:lnTo>
                  <a:pt x="278" y="14"/>
                </a:lnTo>
                <a:lnTo>
                  <a:pt x="262" y="17"/>
                </a:lnTo>
                <a:lnTo>
                  <a:pt x="246" y="20"/>
                </a:lnTo>
                <a:lnTo>
                  <a:pt x="229" y="24"/>
                </a:lnTo>
                <a:lnTo>
                  <a:pt x="213" y="28"/>
                </a:lnTo>
                <a:lnTo>
                  <a:pt x="196" y="32"/>
                </a:lnTo>
                <a:lnTo>
                  <a:pt x="180" y="35"/>
                </a:lnTo>
                <a:lnTo>
                  <a:pt x="164" y="39"/>
                </a:lnTo>
                <a:lnTo>
                  <a:pt x="147" y="43"/>
                </a:lnTo>
                <a:lnTo>
                  <a:pt x="131" y="46"/>
                </a:lnTo>
                <a:lnTo>
                  <a:pt x="114" y="49"/>
                </a:lnTo>
                <a:lnTo>
                  <a:pt x="98" y="52"/>
                </a:lnTo>
                <a:lnTo>
                  <a:pt x="82" y="55"/>
                </a:lnTo>
                <a:lnTo>
                  <a:pt x="65" y="57"/>
                </a:lnTo>
                <a:lnTo>
                  <a:pt x="49" y="59"/>
                </a:lnTo>
                <a:lnTo>
                  <a:pt x="33" y="61"/>
                </a:lnTo>
                <a:lnTo>
                  <a:pt x="16" y="62"/>
                </a:lnTo>
                <a:lnTo>
                  <a:pt x="0" y="62"/>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Freeform 65"/>
          <p:cNvSpPr/>
          <p:nvPr/>
        </p:nvSpPr>
        <p:spPr>
          <a:xfrm>
            <a:off x="2057400" y="6153150"/>
            <a:ext cx="3743325" cy="171450"/>
          </a:xfrm>
          <a:custGeom>
            <a:avLst/>
            <a:gdLst/>
            <a:ahLst/>
            <a:cxnLst/>
            <a:rect l="l" t="t" r="r" b="b"/>
            <a:pathLst>
              <a:path w="393" h="18">
                <a:moveTo>
                  <a:pt x="0" y="17"/>
                </a:moveTo>
                <a:lnTo>
                  <a:pt x="16" y="17"/>
                </a:lnTo>
                <a:lnTo>
                  <a:pt x="33" y="17"/>
                </a:lnTo>
                <a:lnTo>
                  <a:pt x="49" y="16"/>
                </a:lnTo>
                <a:lnTo>
                  <a:pt x="65" y="16"/>
                </a:lnTo>
                <a:lnTo>
                  <a:pt x="82" y="15"/>
                </a:lnTo>
                <a:lnTo>
                  <a:pt x="98" y="14"/>
                </a:lnTo>
                <a:lnTo>
                  <a:pt x="114" y="13"/>
                </a:lnTo>
                <a:lnTo>
                  <a:pt x="131" y="13"/>
                </a:lnTo>
                <a:lnTo>
                  <a:pt x="147" y="12"/>
                </a:lnTo>
                <a:lnTo>
                  <a:pt x="164" y="10"/>
                </a:lnTo>
                <a:lnTo>
                  <a:pt x="180" y="9"/>
                </a:lnTo>
                <a:lnTo>
                  <a:pt x="196" y="8"/>
                </a:lnTo>
                <a:lnTo>
                  <a:pt x="213" y="7"/>
                </a:lnTo>
                <a:lnTo>
                  <a:pt x="229" y="6"/>
                </a:lnTo>
                <a:lnTo>
                  <a:pt x="246" y="5"/>
                </a:lnTo>
                <a:lnTo>
                  <a:pt x="262" y="4"/>
                </a:lnTo>
                <a:lnTo>
                  <a:pt x="278" y="3"/>
                </a:lnTo>
                <a:lnTo>
                  <a:pt x="295" y="2"/>
                </a:lnTo>
                <a:lnTo>
                  <a:pt x="311" y="2"/>
                </a:lnTo>
                <a:lnTo>
                  <a:pt x="327" y="1"/>
                </a:lnTo>
                <a:lnTo>
                  <a:pt x="344" y="0"/>
                </a:lnTo>
                <a:lnTo>
                  <a:pt x="360" y="0"/>
                </a:lnTo>
                <a:lnTo>
                  <a:pt x="377" y="0"/>
                </a:lnTo>
                <a:lnTo>
                  <a:pt x="393" y="0"/>
                </a:lnTo>
                <a:lnTo>
                  <a:pt x="393" y="1"/>
                </a:lnTo>
                <a:lnTo>
                  <a:pt x="377" y="1"/>
                </a:lnTo>
                <a:lnTo>
                  <a:pt x="360" y="1"/>
                </a:lnTo>
                <a:lnTo>
                  <a:pt x="344" y="2"/>
                </a:lnTo>
                <a:lnTo>
                  <a:pt x="327" y="2"/>
                </a:lnTo>
                <a:lnTo>
                  <a:pt x="311" y="3"/>
                </a:lnTo>
                <a:lnTo>
                  <a:pt x="295" y="4"/>
                </a:lnTo>
                <a:lnTo>
                  <a:pt x="278" y="4"/>
                </a:lnTo>
                <a:lnTo>
                  <a:pt x="262" y="5"/>
                </a:lnTo>
                <a:lnTo>
                  <a:pt x="246" y="6"/>
                </a:lnTo>
                <a:lnTo>
                  <a:pt x="229" y="7"/>
                </a:lnTo>
                <a:lnTo>
                  <a:pt x="213" y="8"/>
                </a:lnTo>
                <a:lnTo>
                  <a:pt x="196" y="10"/>
                </a:lnTo>
                <a:lnTo>
                  <a:pt x="180" y="11"/>
                </a:lnTo>
                <a:lnTo>
                  <a:pt x="164" y="12"/>
                </a:lnTo>
                <a:lnTo>
                  <a:pt x="147" y="13"/>
                </a:lnTo>
                <a:lnTo>
                  <a:pt x="131" y="14"/>
                </a:lnTo>
                <a:lnTo>
                  <a:pt x="114" y="15"/>
                </a:lnTo>
                <a:lnTo>
                  <a:pt x="98" y="15"/>
                </a:lnTo>
                <a:lnTo>
                  <a:pt x="82" y="16"/>
                </a:lnTo>
                <a:lnTo>
                  <a:pt x="65" y="17"/>
                </a:lnTo>
                <a:lnTo>
                  <a:pt x="49" y="17"/>
                </a:lnTo>
                <a:lnTo>
                  <a:pt x="33" y="18"/>
                </a:lnTo>
                <a:lnTo>
                  <a:pt x="16" y="18"/>
                </a:lnTo>
                <a:lnTo>
                  <a:pt x="0" y="18"/>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2057400" y="6324600"/>
            <a:ext cx="3743325" cy="142875"/>
          </a:xfrm>
          <a:custGeom>
            <a:avLst/>
            <a:gdLst/>
            <a:ahLst/>
            <a:cxnLst/>
            <a:rect l="l" t="t" r="r" b="b"/>
            <a:pathLst>
              <a:path w="393" h="15">
                <a:moveTo>
                  <a:pt x="0" y="0"/>
                </a:moveTo>
                <a:lnTo>
                  <a:pt x="16" y="0"/>
                </a:lnTo>
                <a:lnTo>
                  <a:pt x="33" y="0"/>
                </a:lnTo>
                <a:lnTo>
                  <a:pt x="49" y="1"/>
                </a:lnTo>
                <a:lnTo>
                  <a:pt x="65" y="1"/>
                </a:lnTo>
                <a:lnTo>
                  <a:pt x="82" y="2"/>
                </a:lnTo>
                <a:lnTo>
                  <a:pt x="98" y="2"/>
                </a:lnTo>
                <a:lnTo>
                  <a:pt x="114" y="3"/>
                </a:lnTo>
                <a:lnTo>
                  <a:pt x="131" y="4"/>
                </a:lnTo>
                <a:lnTo>
                  <a:pt x="147" y="5"/>
                </a:lnTo>
                <a:lnTo>
                  <a:pt x="164" y="5"/>
                </a:lnTo>
                <a:lnTo>
                  <a:pt x="180" y="6"/>
                </a:lnTo>
                <a:lnTo>
                  <a:pt x="196" y="7"/>
                </a:lnTo>
                <a:lnTo>
                  <a:pt x="213" y="8"/>
                </a:lnTo>
                <a:lnTo>
                  <a:pt x="229" y="9"/>
                </a:lnTo>
                <a:lnTo>
                  <a:pt x="246" y="10"/>
                </a:lnTo>
                <a:lnTo>
                  <a:pt x="262" y="11"/>
                </a:lnTo>
                <a:lnTo>
                  <a:pt x="278" y="11"/>
                </a:lnTo>
                <a:lnTo>
                  <a:pt x="295" y="12"/>
                </a:lnTo>
                <a:lnTo>
                  <a:pt x="311" y="13"/>
                </a:lnTo>
                <a:lnTo>
                  <a:pt x="327" y="13"/>
                </a:lnTo>
                <a:lnTo>
                  <a:pt x="344" y="14"/>
                </a:lnTo>
                <a:lnTo>
                  <a:pt x="360" y="14"/>
                </a:lnTo>
                <a:lnTo>
                  <a:pt x="377" y="14"/>
                </a:lnTo>
                <a:lnTo>
                  <a:pt x="393" y="14"/>
                </a:lnTo>
                <a:lnTo>
                  <a:pt x="393" y="15"/>
                </a:lnTo>
                <a:lnTo>
                  <a:pt x="377" y="15"/>
                </a:lnTo>
                <a:lnTo>
                  <a:pt x="360" y="15"/>
                </a:lnTo>
                <a:lnTo>
                  <a:pt x="344" y="15"/>
                </a:lnTo>
                <a:lnTo>
                  <a:pt x="327" y="14"/>
                </a:lnTo>
                <a:lnTo>
                  <a:pt x="311" y="14"/>
                </a:lnTo>
                <a:lnTo>
                  <a:pt x="295" y="13"/>
                </a:lnTo>
                <a:lnTo>
                  <a:pt x="278" y="12"/>
                </a:lnTo>
                <a:lnTo>
                  <a:pt x="262" y="12"/>
                </a:lnTo>
                <a:lnTo>
                  <a:pt x="246" y="11"/>
                </a:lnTo>
                <a:lnTo>
                  <a:pt x="229" y="10"/>
                </a:lnTo>
                <a:lnTo>
                  <a:pt x="213" y="9"/>
                </a:lnTo>
                <a:lnTo>
                  <a:pt x="196" y="8"/>
                </a:lnTo>
                <a:lnTo>
                  <a:pt x="180" y="7"/>
                </a:lnTo>
                <a:lnTo>
                  <a:pt x="164" y="6"/>
                </a:lnTo>
                <a:lnTo>
                  <a:pt x="147" y="6"/>
                </a:lnTo>
                <a:lnTo>
                  <a:pt x="131" y="5"/>
                </a:lnTo>
                <a:lnTo>
                  <a:pt x="114" y="4"/>
                </a:lnTo>
                <a:lnTo>
                  <a:pt x="98" y="3"/>
                </a:lnTo>
                <a:lnTo>
                  <a:pt x="82" y="3"/>
                </a:lnTo>
                <a:lnTo>
                  <a:pt x="65" y="2"/>
                </a:lnTo>
                <a:lnTo>
                  <a:pt x="49" y="2"/>
                </a:lnTo>
                <a:lnTo>
                  <a:pt x="33" y="1"/>
                </a:lnTo>
                <a:lnTo>
                  <a:pt x="16" y="1"/>
                </a:lnTo>
                <a:lnTo>
                  <a:pt x="0" y="1"/>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reeform 67"/>
          <p:cNvSpPr/>
          <p:nvPr/>
        </p:nvSpPr>
        <p:spPr>
          <a:xfrm>
            <a:off x="2057400" y="2562225"/>
            <a:ext cx="3743325" cy="3876675"/>
          </a:xfrm>
          <a:custGeom>
            <a:avLst/>
            <a:gdLst/>
            <a:ahLst/>
            <a:cxnLst/>
            <a:rect l="l" t="t" r="r" b="b"/>
            <a:pathLst>
              <a:path w="393" h="407">
                <a:moveTo>
                  <a:pt x="0" y="402"/>
                </a:moveTo>
                <a:lnTo>
                  <a:pt x="16" y="400"/>
                </a:lnTo>
                <a:lnTo>
                  <a:pt x="33" y="394"/>
                </a:lnTo>
                <a:lnTo>
                  <a:pt x="49" y="385"/>
                </a:lnTo>
                <a:lnTo>
                  <a:pt x="65" y="372"/>
                </a:lnTo>
                <a:lnTo>
                  <a:pt x="82" y="357"/>
                </a:lnTo>
                <a:lnTo>
                  <a:pt x="98" y="339"/>
                </a:lnTo>
                <a:lnTo>
                  <a:pt x="114" y="319"/>
                </a:lnTo>
                <a:lnTo>
                  <a:pt x="131" y="298"/>
                </a:lnTo>
                <a:lnTo>
                  <a:pt x="147" y="275"/>
                </a:lnTo>
                <a:lnTo>
                  <a:pt x="164" y="251"/>
                </a:lnTo>
                <a:lnTo>
                  <a:pt x="180" y="226"/>
                </a:lnTo>
                <a:lnTo>
                  <a:pt x="196" y="201"/>
                </a:lnTo>
                <a:lnTo>
                  <a:pt x="213" y="176"/>
                </a:lnTo>
                <a:lnTo>
                  <a:pt x="229" y="151"/>
                </a:lnTo>
                <a:lnTo>
                  <a:pt x="246" y="127"/>
                </a:lnTo>
                <a:lnTo>
                  <a:pt x="262" y="105"/>
                </a:lnTo>
                <a:lnTo>
                  <a:pt x="278" y="83"/>
                </a:lnTo>
                <a:lnTo>
                  <a:pt x="295" y="63"/>
                </a:lnTo>
                <a:lnTo>
                  <a:pt x="311" y="45"/>
                </a:lnTo>
                <a:lnTo>
                  <a:pt x="327" y="30"/>
                </a:lnTo>
                <a:lnTo>
                  <a:pt x="344" y="18"/>
                </a:lnTo>
                <a:lnTo>
                  <a:pt x="360" y="8"/>
                </a:lnTo>
                <a:lnTo>
                  <a:pt x="377" y="2"/>
                </a:lnTo>
                <a:lnTo>
                  <a:pt x="393" y="0"/>
                </a:lnTo>
                <a:lnTo>
                  <a:pt x="393" y="5"/>
                </a:lnTo>
                <a:lnTo>
                  <a:pt x="377" y="7"/>
                </a:lnTo>
                <a:lnTo>
                  <a:pt x="360" y="13"/>
                </a:lnTo>
                <a:lnTo>
                  <a:pt x="344" y="22"/>
                </a:lnTo>
                <a:lnTo>
                  <a:pt x="327" y="35"/>
                </a:lnTo>
                <a:lnTo>
                  <a:pt x="311" y="50"/>
                </a:lnTo>
                <a:lnTo>
                  <a:pt x="295" y="68"/>
                </a:lnTo>
                <a:lnTo>
                  <a:pt x="278" y="87"/>
                </a:lnTo>
                <a:lnTo>
                  <a:pt x="262" y="109"/>
                </a:lnTo>
                <a:lnTo>
                  <a:pt x="246" y="132"/>
                </a:lnTo>
                <a:lnTo>
                  <a:pt x="229" y="156"/>
                </a:lnTo>
                <a:lnTo>
                  <a:pt x="213" y="181"/>
                </a:lnTo>
                <a:lnTo>
                  <a:pt x="196" y="206"/>
                </a:lnTo>
                <a:lnTo>
                  <a:pt x="180" y="231"/>
                </a:lnTo>
                <a:lnTo>
                  <a:pt x="164" y="255"/>
                </a:lnTo>
                <a:lnTo>
                  <a:pt x="147" y="279"/>
                </a:lnTo>
                <a:lnTo>
                  <a:pt x="131" y="302"/>
                </a:lnTo>
                <a:lnTo>
                  <a:pt x="114" y="324"/>
                </a:lnTo>
                <a:lnTo>
                  <a:pt x="98" y="344"/>
                </a:lnTo>
                <a:lnTo>
                  <a:pt x="82" y="361"/>
                </a:lnTo>
                <a:lnTo>
                  <a:pt x="65" y="377"/>
                </a:lnTo>
                <a:lnTo>
                  <a:pt x="49" y="389"/>
                </a:lnTo>
                <a:lnTo>
                  <a:pt x="33" y="399"/>
                </a:lnTo>
                <a:lnTo>
                  <a:pt x="16" y="404"/>
                </a:lnTo>
                <a:lnTo>
                  <a:pt x="0" y="407"/>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2057400" y="3619500"/>
            <a:ext cx="3743325" cy="2838450"/>
          </a:xfrm>
          <a:custGeom>
            <a:avLst/>
            <a:gdLst/>
            <a:ahLst/>
            <a:cxnLst/>
            <a:rect l="l" t="t" r="r" b="b"/>
            <a:pathLst>
              <a:path w="393" h="298">
                <a:moveTo>
                  <a:pt x="0" y="296"/>
                </a:moveTo>
                <a:lnTo>
                  <a:pt x="16" y="294"/>
                </a:lnTo>
                <a:lnTo>
                  <a:pt x="33" y="290"/>
                </a:lnTo>
                <a:lnTo>
                  <a:pt x="49" y="283"/>
                </a:lnTo>
                <a:lnTo>
                  <a:pt x="65" y="274"/>
                </a:lnTo>
                <a:lnTo>
                  <a:pt x="82" y="262"/>
                </a:lnTo>
                <a:lnTo>
                  <a:pt x="98" y="249"/>
                </a:lnTo>
                <a:lnTo>
                  <a:pt x="114" y="235"/>
                </a:lnTo>
                <a:lnTo>
                  <a:pt x="131" y="219"/>
                </a:lnTo>
                <a:lnTo>
                  <a:pt x="147" y="202"/>
                </a:lnTo>
                <a:lnTo>
                  <a:pt x="164" y="184"/>
                </a:lnTo>
                <a:lnTo>
                  <a:pt x="180" y="166"/>
                </a:lnTo>
                <a:lnTo>
                  <a:pt x="196" y="148"/>
                </a:lnTo>
                <a:lnTo>
                  <a:pt x="213" y="129"/>
                </a:lnTo>
                <a:lnTo>
                  <a:pt x="229" y="111"/>
                </a:lnTo>
                <a:lnTo>
                  <a:pt x="246" y="93"/>
                </a:lnTo>
                <a:lnTo>
                  <a:pt x="262" y="76"/>
                </a:lnTo>
                <a:lnTo>
                  <a:pt x="278" y="60"/>
                </a:lnTo>
                <a:lnTo>
                  <a:pt x="295" y="46"/>
                </a:lnTo>
                <a:lnTo>
                  <a:pt x="311" y="33"/>
                </a:lnTo>
                <a:lnTo>
                  <a:pt x="327" y="22"/>
                </a:lnTo>
                <a:lnTo>
                  <a:pt x="344" y="12"/>
                </a:lnTo>
                <a:lnTo>
                  <a:pt x="360" y="5"/>
                </a:lnTo>
                <a:lnTo>
                  <a:pt x="377" y="1"/>
                </a:lnTo>
                <a:lnTo>
                  <a:pt x="393" y="0"/>
                </a:lnTo>
                <a:lnTo>
                  <a:pt x="393" y="3"/>
                </a:lnTo>
                <a:lnTo>
                  <a:pt x="377" y="4"/>
                </a:lnTo>
                <a:lnTo>
                  <a:pt x="360" y="8"/>
                </a:lnTo>
                <a:lnTo>
                  <a:pt x="344" y="15"/>
                </a:lnTo>
                <a:lnTo>
                  <a:pt x="327" y="25"/>
                </a:lnTo>
                <a:lnTo>
                  <a:pt x="311" y="36"/>
                </a:lnTo>
                <a:lnTo>
                  <a:pt x="295" y="49"/>
                </a:lnTo>
                <a:lnTo>
                  <a:pt x="278" y="63"/>
                </a:lnTo>
                <a:lnTo>
                  <a:pt x="262" y="79"/>
                </a:lnTo>
                <a:lnTo>
                  <a:pt x="246" y="96"/>
                </a:lnTo>
                <a:lnTo>
                  <a:pt x="229" y="114"/>
                </a:lnTo>
                <a:lnTo>
                  <a:pt x="213" y="132"/>
                </a:lnTo>
                <a:lnTo>
                  <a:pt x="196" y="151"/>
                </a:lnTo>
                <a:lnTo>
                  <a:pt x="180" y="169"/>
                </a:lnTo>
                <a:lnTo>
                  <a:pt x="164" y="187"/>
                </a:lnTo>
                <a:lnTo>
                  <a:pt x="147" y="205"/>
                </a:lnTo>
                <a:lnTo>
                  <a:pt x="131" y="222"/>
                </a:lnTo>
                <a:lnTo>
                  <a:pt x="114" y="238"/>
                </a:lnTo>
                <a:lnTo>
                  <a:pt x="98" y="252"/>
                </a:lnTo>
                <a:lnTo>
                  <a:pt x="82" y="265"/>
                </a:lnTo>
                <a:lnTo>
                  <a:pt x="65" y="277"/>
                </a:lnTo>
                <a:lnTo>
                  <a:pt x="49" y="286"/>
                </a:lnTo>
                <a:lnTo>
                  <a:pt x="33" y="293"/>
                </a:lnTo>
                <a:lnTo>
                  <a:pt x="16" y="297"/>
                </a:lnTo>
                <a:lnTo>
                  <a:pt x="0" y="298"/>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reeform 69"/>
          <p:cNvSpPr/>
          <p:nvPr/>
        </p:nvSpPr>
        <p:spPr>
          <a:xfrm>
            <a:off x="2057400" y="4514850"/>
            <a:ext cx="3743325" cy="1971675"/>
          </a:xfrm>
          <a:custGeom>
            <a:avLst/>
            <a:gdLst/>
            <a:ahLst/>
            <a:cxnLst/>
            <a:rect l="l" t="t" r="r" b="b"/>
            <a:pathLst>
              <a:path w="393" h="207">
                <a:moveTo>
                  <a:pt x="0" y="204"/>
                </a:moveTo>
                <a:lnTo>
                  <a:pt x="16" y="203"/>
                </a:lnTo>
                <a:lnTo>
                  <a:pt x="33" y="200"/>
                </a:lnTo>
                <a:lnTo>
                  <a:pt x="49" y="196"/>
                </a:lnTo>
                <a:lnTo>
                  <a:pt x="65" y="189"/>
                </a:lnTo>
                <a:lnTo>
                  <a:pt x="82" y="182"/>
                </a:lnTo>
                <a:lnTo>
                  <a:pt x="98" y="173"/>
                </a:lnTo>
                <a:lnTo>
                  <a:pt x="114" y="163"/>
                </a:lnTo>
                <a:lnTo>
                  <a:pt x="131" y="152"/>
                </a:lnTo>
                <a:lnTo>
                  <a:pt x="147" y="140"/>
                </a:lnTo>
                <a:lnTo>
                  <a:pt x="164" y="128"/>
                </a:lnTo>
                <a:lnTo>
                  <a:pt x="180" y="115"/>
                </a:lnTo>
                <a:lnTo>
                  <a:pt x="196" y="102"/>
                </a:lnTo>
                <a:lnTo>
                  <a:pt x="213" y="90"/>
                </a:lnTo>
                <a:lnTo>
                  <a:pt x="229" y="77"/>
                </a:lnTo>
                <a:lnTo>
                  <a:pt x="246" y="65"/>
                </a:lnTo>
                <a:lnTo>
                  <a:pt x="262" y="53"/>
                </a:lnTo>
                <a:lnTo>
                  <a:pt x="278" y="42"/>
                </a:lnTo>
                <a:lnTo>
                  <a:pt x="295" y="32"/>
                </a:lnTo>
                <a:lnTo>
                  <a:pt x="311" y="23"/>
                </a:lnTo>
                <a:lnTo>
                  <a:pt x="327" y="15"/>
                </a:lnTo>
                <a:lnTo>
                  <a:pt x="344" y="9"/>
                </a:lnTo>
                <a:lnTo>
                  <a:pt x="360" y="4"/>
                </a:lnTo>
                <a:lnTo>
                  <a:pt x="377" y="1"/>
                </a:lnTo>
                <a:lnTo>
                  <a:pt x="393" y="0"/>
                </a:lnTo>
                <a:lnTo>
                  <a:pt x="393" y="3"/>
                </a:lnTo>
                <a:lnTo>
                  <a:pt x="377" y="4"/>
                </a:lnTo>
                <a:lnTo>
                  <a:pt x="360" y="7"/>
                </a:lnTo>
                <a:lnTo>
                  <a:pt x="344" y="12"/>
                </a:lnTo>
                <a:lnTo>
                  <a:pt x="327" y="18"/>
                </a:lnTo>
                <a:lnTo>
                  <a:pt x="311" y="26"/>
                </a:lnTo>
                <a:lnTo>
                  <a:pt x="295" y="35"/>
                </a:lnTo>
                <a:lnTo>
                  <a:pt x="278" y="45"/>
                </a:lnTo>
                <a:lnTo>
                  <a:pt x="262" y="56"/>
                </a:lnTo>
                <a:lnTo>
                  <a:pt x="246" y="67"/>
                </a:lnTo>
                <a:lnTo>
                  <a:pt x="229" y="80"/>
                </a:lnTo>
                <a:lnTo>
                  <a:pt x="213" y="92"/>
                </a:lnTo>
                <a:lnTo>
                  <a:pt x="196" y="105"/>
                </a:lnTo>
                <a:lnTo>
                  <a:pt x="180" y="118"/>
                </a:lnTo>
                <a:lnTo>
                  <a:pt x="164" y="130"/>
                </a:lnTo>
                <a:lnTo>
                  <a:pt x="147" y="142"/>
                </a:lnTo>
                <a:lnTo>
                  <a:pt x="131" y="154"/>
                </a:lnTo>
                <a:lnTo>
                  <a:pt x="114" y="165"/>
                </a:lnTo>
                <a:lnTo>
                  <a:pt x="98" y="175"/>
                </a:lnTo>
                <a:lnTo>
                  <a:pt x="82" y="184"/>
                </a:lnTo>
                <a:lnTo>
                  <a:pt x="65" y="192"/>
                </a:lnTo>
                <a:lnTo>
                  <a:pt x="49" y="198"/>
                </a:lnTo>
                <a:lnTo>
                  <a:pt x="33" y="203"/>
                </a:lnTo>
                <a:lnTo>
                  <a:pt x="16" y="206"/>
                </a:lnTo>
                <a:lnTo>
                  <a:pt x="0" y="207"/>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Freeform 70"/>
          <p:cNvSpPr/>
          <p:nvPr/>
        </p:nvSpPr>
        <p:spPr>
          <a:xfrm>
            <a:off x="2057400" y="5238750"/>
            <a:ext cx="3743325" cy="1266825"/>
          </a:xfrm>
          <a:custGeom>
            <a:avLst/>
            <a:gdLst/>
            <a:ahLst/>
            <a:cxnLst/>
            <a:rect l="l" t="t" r="r" b="b"/>
            <a:pathLst>
              <a:path w="393" h="133">
                <a:moveTo>
                  <a:pt x="0" y="131"/>
                </a:moveTo>
                <a:lnTo>
                  <a:pt x="16" y="130"/>
                </a:lnTo>
                <a:lnTo>
                  <a:pt x="33" y="128"/>
                </a:lnTo>
                <a:lnTo>
                  <a:pt x="49" y="125"/>
                </a:lnTo>
                <a:lnTo>
                  <a:pt x="65" y="121"/>
                </a:lnTo>
                <a:lnTo>
                  <a:pt x="82" y="116"/>
                </a:lnTo>
                <a:lnTo>
                  <a:pt x="98" y="110"/>
                </a:lnTo>
                <a:lnTo>
                  <a:pt x="114" y="104"/>
                </a:lnTo>
                <a:lnTo>
                  <a:pt x="131" y="97"/>
                </a:lnTo>
                <a:lnTo>
                  <a:pt x="147" y="89"/>
                </a:lnTo>
                <a:lnTo>
                  <a:pt x="164" y="82"/>
                </a:lnTo>
                <a:lnTo>
                  <a:pt x="180" y="73"/>
                </a:lnTo>
                <a:lnTo>
                  <a:pt x="196" y="65"/>
                </a:lnTo>
                <a:lnTo>
                  <a:pt x="213" y="57"/>
                </a:lnTo>
                <a:lnTo>
                  <a:pt x="229" y="49"/>
                </a:lnTo>
                <a:lnTo>
                  <a:pt x="246" y="41"/>
                </a:lnTo>
                <a:lnTo>
                  <a:pt x="262" y="34"/>
                </a:lnTo>
                <a:lnTo>
                  <a:pt x="278" y="27"/>
                </a:lnTo>
                <a:lnTo>
                  <a:pt x="295" y="20"/>
                </a:lnTo>
                <a:lnTo>
                  <a:pt x="311" y="14"/>
                </a:lnTo>
                <a:lnTo>
                  <a:pt x="327" y="9"/>
                </a:lnTo>
                <a:lnTo>
                  <a:pt x="344" y="5"/>
                </a:lnTo>
                <a:lnTo>
                  <a:pt x="360" y="2"/>
                </a:lnTo>
                <a:lnTo>
                  <a:pt x="377" y="0"/>
                </a:lnTo>
                <a:lnTo>
                  <a:pt x="393" y="0"/>
                </a:lnTo>
                <a:lnTo>
                  <a:pt x="393" y="2"/>
                </a:lnTo>
                <a:lnTo>
                  <a:pt x="377" y="2"/>
                </a:lnTo>
                <a:lnTo>
                  <a:pt x="360" y="4"/>
                </a:lnTo>
                <a:lnTo>
                  <a:pt x="344" y="7"/>
                </a:lnTo>
                <a:lnTo>
                  <a:pt x="327" y="11"/>
                </a:lnTo>
                <a:lnTo>
                  <a:pt x="311" y="16"/>
                </a:lnTo>
                <a:lnTo>
                  <a:pt x="295" y="22"/>
                </a:lnTo>
                <a:lnTo>
                  <a:pt x="278" y="29"/>
                </a:lnTo>
                <a:lnTo>
                  <a:pt x="262" y="36"/>
                </a:lnTo>
                <a:lnTo>
                  <a:pt x="246" y="43"/>
                </a:lnTo>
                <a:lnTo>
                  <a:pt x="229" y="51"/>
                </a:lnTo>
                <a:lnTo>
                  <a:pt x="213" y="59"/>
                </a:lnTo>
                <a:lnTo>
                  <a:pt x="196" y="67"/>
                </a:lnTo>
                <a:lnTo>
                  <a:pt x="180" y="75"/>
                </a:lnTo>
                <a:lnTo>
                  <a:pt x="164" y="83"/>
                </a:lnTo>
                <a:lnTo>
                  <a:pt x="147" y="91"/>
                </a:lnTo>
                <a:lnTo>
                  <a:pt x="131" y="99"/>
                </a:lnTo>
                <a:lnTo>
                  <a:pt x="114" y="106"/>
                </a:lnTo>
                <a:lnTo>
                  <a:pt x="98" y="112"/>
                </a:lnTo>
                <a:lnTo>
                  <a:pt x="82" y="118"/>
                </a:lnTo>
                <a:lnTo>
                  <a:pt x="65" y="123"/>
                </a:lnTo>
                <a:lnTo>
                  <a:pt x="49" y="127"/>
                </a:lnTo>
                <a:lnTo>
                  <a:pt x="33" y="130"/>
                </a:lnTo>
                <a:lnTo>
                  <a:pt x="16" y="132"/>
                </a:lnTo>
                <a:lnTo>
                  <a:pt x="0" y="133"/>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2057400" y="5734050"/>
            <a:ext cx="3743325" cy="781050"/>
          </a:xfrm>
          <a:custGeom>
            <a:avLst/>
            <a:gdLst/>
            <a:ahLst/>
            <a:cxnLst/>
            <a:rect l="l" t="t" r="r" b="b"/>
            <a:pathLst>
              <a:path w="393" h="82">
                <a:moveTo>
                  <a:pt x="0" y="81"/>
                </a:moveTo>
                <a:lnTo>
                  <a:pt x="16" y="80"/>
                </a:lnTo>
                <a:lnTo>
                  <a:pt x="33" y="79"/>
                </a:lnTo>
                <a:lnTo>
                  <a:pt x="49" y="77"/>
                </a:lnTo>
                <a:lnTo>
                  <a:pt x="65" y="75"/>
                </a:lnTo>
                <a:lnTo>
                  <a:pt x="82" y="72"/>
                </a:lnTo>
                <a:lnTo>
                  <a:pt x="98" y="68"/>
                </a:lnTo>
                <a:lnTo>
                  <a:pt x="114" y="64"/>
                </a:lnTo>
                <a:lnTo>
                  <a:pt x="131" y="60"/>
                </a:lnTo>
                <a:lnTo>
                  <a:pt x="147" y="55"/>
                </a:lnTo>
                <a:lnTo>
                  <a:pt x="164" y="50"/>
                </a:lnTo>
                <a:lnTo>
                  <a:pt x="180" y="46"/>
                </a:lnTo>
                <a:lnTo>
                  <a:pt x="196" y="41"/>
                </a:lnTo>
                <a:lnTo>
                  <a:pt x="213" y="35"/>
                </a:lnTo>
                <a:lnTo>
                  <a:pt x="229" y="31"/>
                </a:lnTo>
                <a:lnTo>
                  <a:pt x="246" y="26"/>
                </a:lnTo>
                <a:lnTo>
                  <a:pt x="262" y="21"/>
                </a:lnTo>
                <a:lnTo>
                  <a:pt x="278" y="17"/>
                </a:lnTo>
                <a:lnTo>
                  <a:pt x="295" y="13"/>
                </a:lnTo>
                <a:lnTo>
                  <a:pt x="311" y="9"/>
                </a:lnTo>
                <a:lnTo>
                  <a:pt x="327" y="6"/>
                </a:lnTo>
                <a:lnTo>
                  <a:pt x="344" y="4"/>
                </a:lnTo>
                <a:lnTo>
                  <a:pt x="360" y="2"/>
                </a:lnTo>
                <a:lnTo>
                  <a:pt x="377" y="1"/>
                </a:lnTo>
                <a:lnTo>
                  <a:pt x="393" y="0"/>
                </a:lnTo>
                <a:lnTo>
                  <a:pt x="393" y="2"/>
                </a:lnTo>
                <a:lnTo>
                  <a:pt x="377" y="2"/>
                </a:lnTo>
                <a:lnTo>
                  <a:pt x="360" y="3"/>
                </a:lnTo>
                <a:lnTo>
                  <a:pt x="344" y="5"/>
                </a:lnTo>
                <a:lnTo>
                  <a:pt x="327" y="8"/>
                </a:lnTo>
                <a:lnTo>
                  <a:pt x="311" y="11"/>
                </a:lnTo>
                <a:lnTo>
                  <a:pt x="295" y="14"/>
                </a:lnTo>
                <a:lnTo>
                  <a:pt x="278" y="18"/>
                </a:lnTo>
                <a:lnTo>
                  <a:pt x="262" y="22"/>
                </a:lnTo>
                <a:lnTo>
                  <a:pt x="246" y="27"/>
                </a:lnTo>
                <a:lnTo>
                  <a:pt x="229" y="32"/>
                </a:lnTo>
                <a:lnTo>
                  <a:pt x="213" y="37"/>
                </a:lnTo>
                <a:lnTo>
                  <a:pt x="196" y="42"/>
                </a:lnTo>
                <a:lnTo>
                  <a:pt x="180" y="47"/>
                </a:lnTo>
                <a:lnTo>
                  <a:pt x="164" y="52"/>
                </a:lnTo>
                <a:lnTo>
                  <a:pt x="147" y="57"/>
                </a:lnTo>
                <a:lnTo>
                  <a:pt x="131" y="61"/>
                </a:lnTo>
                <a:lnTo>
                  <a:pt x="114" y="66"/>
                </a:lnTo>
                <a:lnTo>
                  <a:pt x="98" y="69"/>
                </a:lnTo>
                <a:lnTo>
                  <a:pt x="82" y="73"/>
                </a:lnTo>
                <a:lnTo>
                  <a:pt x="65" y="76"/>
                </a:lnTo>
                <a:lnTo>
                  <a:pt x="49" y="79"/>
                </a:lnTo>
                <a:lnTo>
                  <a:pt x="33" y="80"/>
                </a:lnTo>
                <a:lnTo>
                  <a:pt x="16" y="82"/>
                </a:lnTo>
                <a:lnTo>
                  <a:pt x="0" y="82"/>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Freeform 72"/>
          <p:cNvSpPr/>
          <p:nvPr/>
        </p:nvSpPr>
        <p:spPr>
          <a:xfrm>
            <a:off x="2057400" y="6162675"/>
            <a:ext cx="3743325" cy="361950"/>
          </a:xfrm>
          <a:custGeom>
            <a:avLst/>
            <a:gdLst/>
            <a:ahLst/>
            <a:cxnLst/>
            <a:rect l="l" t="t" r="r" b="b"/>
            <a:pathLst>
              <a:path w="393" h="38">
                <a:moveTo>
                  <a:pt x="0" y="37"/>
                </a:moveTo>
                <a:lnTo>
                  <a:pt x="16" y="37"/>
                </a:lnTo>
                <a:lnTo>
                  <a:pt x="33" y="36"/>
                </a:lnTo>
                <a:lnTo>
                  <a:pt x="49" y="35"/>
                </a:lnTo>
                <a:lnTo>
                  <a:pt x="65" y="34"/>
                </a:lnTo>
                <a:lnTo>
                  <a:pt x="82" y="33"/>
                </a:lnTo>
                <a:lnTo>
                  <a:pt x="98" y="31"/>
                </a:lnTo>
                <a:lnTo>
                  <a:pt x="114" y="29"/>
                </a:lnTo>
                <a:lnTo>
                  <a:pt x="131" y="27"/>
                </a:lnTo>
                <a:lnTo>
                  <a:pt x="147" y="25"/>
                </a:lnTo>
                <a:lnTo>
                  <a:pt x="164" y="23"/>
                </a:lnTo>
                <a:lnTo>
                  <a:pt x="180" y="21"/>
                </a:lnTo>
                <a:lnTo>
                  <a:pt x="196" y="18"/>
                </a:lnTo>
                <a:lnTo>
                  <a:pt x="213" y="16"/>
                </a:lnTo>
                <a:lnTo>
                  <a:pt x="229" y="14"/>
                </a:lnTo>
                <a:lnTo>
                  <a:pt x="246" y="12"/>
                </a:lnTo>
                <a:lnTo>
                  <a:pt x="262" y="10"/>
                </a:lnTo>
                <a:lnTo>
                  <a:pt x="278" y="8"/>
                </a:lnTo>
                <a:lnTo>
                  <a:pt x="295" y="6"/>
                </a:lnTo>
                <a:lnTo>
                  <a:pt x="311" y="4"/>
                </a:lnTo>
                <a:lnTo>
                  <a:pt x="327" y="3"/>
                </a:lnTo>
                <a:lnTo>
                  <a:pt x="344" y="2"/>
                </a:lnTo>
                <a:lnTo>
                  <a:pt x="360" y="1"/>
                </a:lnTo>
                <a:lnTo>
                  <a:pt x="377" y="0"/>
                </a:lnTo>
                <a:lnTo>
                  <a:pt x="393" y="0"/>
                </a:lnTo>
                <a:lnTo>
                  <a:pt x="393" y="1"/>
                </a:lnTo>
                <a:lnTo>
                  <a:pt x="377" y="1"/>
                </a:lnTo>
                <a:lnTo>
                  <a:pt x="360" y="2"/>
                </a:lnTo>
                <a:lnTo>
                  <a:pt x="344" y="3"/>
                </a:lnTo>
                <a:lnTo>
                  <a:pt x="327" y="4"/>
                </a:lnTo>
                <a:lnTo>
                  <a:pt x="311" y="5"/>
                </a:lnTo>
                <a:lnTo>
                  <a:pt x="295" y="7"/>
                </a:lnTo>
                <a:lnTo>
                  <a:pt x="278" y="9"/>
                </a:lnTo>
                <a:lnTo>
                  <a:pt x="262" y="11"/>
                </a:lnTo>
                <a:lnTo>
                  <a:pt x="246" y="13"/>
                </a:lnTo>
                <a:lnTo>
                  <a:pt x="229" y="15"/>
                </a:lnTo>
                <a:lnTo>
                  <a:pt x="213" y="17"/>
                </a:lnTo>
                <a:lnTo>
                  <a:pt x="196" y="20"/>
                </a:lnTo>
                <a:lnTo>
                  <a:pt x="180" y="22"/>
                </a:lnTo>
                <a:lnTo>
                  <a:pt x="164" y="24"/>
                </a:lnTo>
                <a:lnTo>
                  <a:pt x="147" y="26"/>
                </a:lnTo>
                <a:lnTo>
                  <a:pt x="131" y="29"/>
                </a:lnTo>
                <a:lnTo>
                  <a:pt x="114" y="31"/>
                </a:lnTo>
                <a:lnTo>
                  <a:pt x="98" y="32"/>
                </a:lnTo>
                <a:lnTo>
                  <a:pt x="82" y="34"/>
                </a:lnTo>
                <a:lnTo>
                  <a:pt x="65" y="35"/>
                </a:lnTo>
                <a:lnTo>
                  <a:pt x="49" y="37"/>
                </a:lnTo>
                <a:lnTo>
                  <a:pt x="33" y="37"/>
                </a:lnTo>
                <a:lnTo>
                  <a:pt x="16" y="38"/>
                </a:lnTo>
                <a:lnTo>
                  <a:pt x="0" y="38"/>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057400" y="6467475"/>
            <a:ext cx="3743325" cy="66675"/>
          </a:xfrm>
          <a:custGeom>
            <a:avLst/>
            <a:gdLst/>
            <a:ahLst/>
            <a:cxnLst/>
            <a:rect l="l" t="t" r="r" b="b"/>
            <a:pathLst>
              <a:path w="393" h="7">
                <a:moveTo>
                  <a:pt x="0" y="6"/>
                </a:moveTo>
                <a:lnTo>
                  <a:pt x="16" y="6"/>
                </a:lnTo>
                <a:lnTo>
                  <a:pt x="33" y="6"/>
                </a:lnTo>
                <a:lnTo>
                  <a:pt x="49" y="6"/>
                </a:lnTo>
                <a:lnTo>
                  <a:pt x="65" y="6"/>
                </a:lnTo>
                <a:lnTo>
                  <a:pt x="82" y="6"/>
                </a:lnTo>
                <a:lnTo>
                  <a:pt x="98" y="5"/>
                </a:lnTo>
                <a:lnTo>
                  <a:pt x="114" y="5"/>
                </a:lnTo>
                <a:lnTo>
                  <a:pt x="131" y="5"/>
                </a:lnTo>
                <a:lnTo>
                  <a:pt x="147" y="4"/>
                </a:lnTo>
                <a:lnTo>
                  <a:pt x="164" y="4"/>
                </a:lnTo>
                <a:lnTo>
                  <a:pt x="180" y="4"/>
                </a:lnTo>
                <a:lnTo>
                  <a:pt x="196" y="3"/>
                </a:lnTo>
                <a:lnTo>
                  <a:pt x="213" y="3"/>
                </a:lnTo>
                <a:lnTo>
                  <a:pt x="229" y="2"/>
                </a:lnTo>
                <a:lnTo>
                  <a:pt x="246" y="2"/>
                </a:lnTo>
                <a:lnTo>
                  <a:pt x="262" y="2"/>
                </a:lnTo>
                <a:lnTo>
                  <a:pt x="278" y="1"/>
                </a:lnTo>
                <a:lnTo>
                  <a:pt x="295" y="1"/>
                </a:lnTo>
                <a:lnTo>
                  <a:pt x="311" y="1"/>
                </a:lnTo>
                <a:lnTo>
                  <a:pt x="327" y="1"/>
                </a:lnTo>
                <a:lnTo>
                  <a:pt x="344" y="0"/>
                </a:lnTo>
                <a:lnTo>
                  <a:pt x="360" y="0"/>
                </a:lnTo>
                <a:lnTo>
                  <a:pt x="377" y="0"/>
                </a:lnTo>
                <a:lnTo>
                  <a:pt x="393" y="0"/>
                </a:lnTo>
                <a:lnTo>
                  <a:pt x="393" y="1"/>
                </a:lnTo>
                <a:lnTo>
                  <a:pt x="377" y="1"/>
                </a:lnTo>
                <a:lnTo>
                  <a:pt x="360" y="1"/>
                </a:lnTo>
                <a:lnTo>
                  <a:pt x="344" y="1"/>
                </a:lnTo>
                <a:lnTo>
                  <a:pt x="327" y="1"/>
                </a:lnTo>
                <a:lnTo>
                  <a:pt x="311" y="2"/>
                </a:lnTo>
                <a:lnTo>
                  <a:pt x="295" y="2"/>
                </a:lnTo>
                <a:lnTo>
                  <a:pt x="278" y="2"/>
                </a:lnTo>
                <a:lnTo>
                  <a:pt x="262" y="3"/>
                </a:lnTo>
                <a:lnTo>
                  <a:pt x="246" y="3"/>
                </a:lnTo>
                <a:lnTo>
                  <a:pt x="229" y="3"/>
                </a:lnTo>
                <a:lnTo>
                  <a:pt x="213" y="4"/>
                </a:lnTo>
                <a:lnTo>
                  <a:pt x="196" y="4"/>
                </a:lnTo>
                <a:lnTo>
                  <a:pt x="180" y="4"/>
                </a:lnTo>
                <a:lnTo>
                  <a:pt x="164" y="5"/>
                </a:lnTo>
                <a:lnTo>
                  <a:pt x="147" y="5"/>
                </a:lnTo>
                <a:lnTo>
                  <a:pt x="131" y="5"/>
                </a:lnTo>
                <a:lnTo>
                  <a:pt x="114" y="6"/>
                </a:lnTo>
                <a:lnTo>
                  <a:pt x="98" y="6"/>
                </a:lnTo>
                <a:lnTo>
                  <a:pt x="82" y="6"/>
                </a:lnTo>
                <a:lnTo>
                  <a:pt x="65" y="7"/>
                </a:lnTo>
                <a:lnTo>
                  <a:pt x="49" y="7"/>
                </a:lnTo>
                <a:lnTo>
                  <a:pt x="33" y="7"/>
                </a:lnTo>
                <a:lnTo>
                  <a:pt x="16" y="7"/>
                </a:lnTo>
                <a:lnTo>
                  <a:pt x="0" y="7"/>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941195" y="1304925"/>
            <a:ext cx="114300" cy="868480"/>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941195" y="2230555"/>
            <a:ext cx="114300" cy="837831"/>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941195" y="3125536"/>
            <a:ext cx="114300" cy="76581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941195" y="3948497"/>
            <a:ext cx="114300" cy="630963"/>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941195" y="4636610"/>
            <a:ext cx="114300" cy="601209"/>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941195" y="5294969"/>
            <a:ext cx="114300" cy="39886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941195" y="5750984"/>
            <a:ext cx="114300" cy="380188"/>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41195" y="6188323"/>
            <a:ext cx="114300" cy="145903"/>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941195" y="6391376"/>
            <a:ext cx="114300" cy="14277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5800725" y="1362075"/>
            <a:ext cx="114300" cy="1246962"/>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5800725" y="2666187"/>
            <a:ext cx="114300" cy="978452"/>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800725" y="3701790"/>
            <a:ext cx="114300" cy="839422"/>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00725" y="4598362"/>
            <a:ext cx="114300" cy="65526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00725" y="5310773"/>
            <a:ext cx="114300" cy="43825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5800725" y="5806182"/>
            <a:ext cx="114300" cy="36682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5800725" y="6230161"/>
            <a:ext cx="114300" cy="24683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57175" y="1667728"/>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2" name="TextBox 91"/>
          <p:cNvSpPr txBox="1"/>
          <p:nvPr/>
        </p:nvSpPr>
        <p:spPr>
          <a:xfrm>
            <a:off x="257175" y="2578033"/>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3" name="TextBox 92"/>
          <p:cNvSpPr txBox="1"/>
          <p:nvPr/>
        </p:nvSpPr>
        <p:spPr>
          <a:xfrm>
            <a:off x="257175" y="3437004"/>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4" name="TextBox 93"/>
          <p:cNvSpPr txBox="1"/>
          <p:nvPr/>
        </p:nvSpPr>
        <p:spPr>
          <a:xfrm>
            <a:off x="257175" y="4192541"/>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5" name="TextBox 94"/>
          <p:cNvSpPr txBox="1"/>
          <p:nvPr/>
        </p:nvSpPr>
        <p:spPr>
          <a:xfrm>
            <a:off x="257175" y="4865777"/>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6" name="TextBox 95"/>
          <p:cNvSpPr txBox="1"/>
          <p:nvPr/>
        </p:nvSpPr>
        <p:spPr>
          <a:xfrm>
            <a:off x="257175" y="5422964"/>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7" name="TextBox 96"/>
          <p:cNvSpPr txBox="1"/>
          <p:nvPr/>
        </p:nvSpPr>
        <p:spPr>
          <a:xfrm>
            <a:off x="257175" y="5869641"/>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8" name="TextBox 97"/>
          <p:cNvSpPr txBox="1"/>
          <p:nvPr/>
        </p:nvSpPr>
        <p:spPr>
          <a:xfrm>
            <a:off x="257175" y="6189837"/>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9" name="TextBox 98"/>
          <p:cNvSpPr txBox="1"/>
          <p:nvPr/>
        </p:nvSpPr>
        <p:spPr>
          <a:xfrm>
            <a:off x="257175" y="6391275"/>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100" name="TextBox 99"/>
          <p:cNvSpPr txBox="1"/>
          <p:nvPr/>
        </p:nvSpPr>
        <p:spPr>
          <a:xfrm>
            <a:off x="5972175" y="1861731"/>
            <a:ext cx="1381125" cy="24765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1" name="TextBox 100"/>
          <p:cNvSpPr txBox="1"/>
          <p:nvPr/>
        </p:nvSpPr>
        <p:spPr>
          <a:xfrm>
            <a:off x="5972175" y="3083976"/>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2" name="TextBox 101"/>
          <p:cNvSpPr txBox="1"/>
          <p:nvPr/>
        </p:nvSpPr>
        <p:spPr>
          <a:xfrm>
            <a:off x="5972175" y="3997676"/>
            <a:ext cx="1381125" cy="24765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3" name="TextBox 102"/>
          <p:cNvSpPr txBox="1"/>
          <p:nvPr/>
        </p:nvSpPr>
        <p:spPr>
          <a:xfrm>
            <a:off x="5972175" y="485455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4" name="TextBox 103"/>
          <p:cNvSpPr txBox="1"/>
          <p:nvPr/>
        </p:nvSpPr>
        <p:spPr>
          <a:xfrm>
            <a:off x="5972175" y="5406078"/>
            <a:ext cx="1381125" cy="24765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5" name="TextBox 104"/>
          <p:cNvSpPr txBox="1"/>
          <p:nvPr/>
        </p:nvSpPr>
        <p:spPr>
          <a:xfrm>
            <a:off x="5972175" y="5918159"/>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6" name="TextBox 105"/>
          <p:cNvSpPr txBox="1"/>
          <p:nvPr/>
        </p:nvSpPr>
        <p:spPr>
          <a:xfrm>
            <a:off x="5972175" y="6282143"/>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7" name="Rounded Rectangle 106"/>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09" name="Rectangle 108"/>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11" name="TextBox 1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12" name="TextBox 111"/>
          <p:cNvSpPr txBox="1"/>
          <p:nvPr/>
        </p:nvSpPr>
        <p:spPr>
          <a:xfrm>
            <a:off x="1405586" y="1678815"/>
            <a:ext cx="424707" cy="139750"/>
          </a:xfrm>
          <a:prstGeom prst="rect">
            <a:avLst/>
          </a:prstGeom>
          <a:noFill/>
        </p:spPr>
        <p:txBody>
          <a:bodyPr wrap="none" lIns="0" rIns="0" tIns="0" bIns="0">
            <a:spAutoFit/>
          </a:bodyPr>
          <a:lstStyle/>
          <a:p>
            <a:r>
              <a:rPr sz="791" b="1">
                <a:solidFill>
                  <a:srgbClr val="2E2E2E"/>
                </a:solidFill>
                <a:latin typeface="Calibri"/>
              </a:rPr>
              <a:t>Pouches</a:t>
            </a:r>
          </a:p>
        </p:txBody>
      </p:sp>
      <p:pic>
        <p:nvPicPr>
          <p:cNvPr id="113" name="Picture 112" descr="lock.png"/>
          <p:cNvPicPr>
            <a:picLocks noChangeAspect="1"/>
          </p:cNvPicPr>
          <p:nvPr/>
        </p:nvPicPr>
        <p:blipFill>
          <a:blip r:embed="rId4"/>
          <a:stretch>
            <a:fillRect/>
          </a:stretch>
        </p:blipFill>
        <p:spPr>
          <a:xfrm>
            <a:off x="1771555" y="1671774"/>
            <a:ext cx="92663" cy="134782"/>
          </a:xfrm>
          <a:prstGeom prst="rect">
            <a:avLst/>
          </a:prstGeom>
        </p:spPr>
      </p:pic>
      <p:sp>
        <p:nvSpPr>
          <p:cNvPr id="114" name="TextBox 113"/>
          <p:cNvSpPr txBox="1"/>
          <p:nvPr/>
        </p:nvSpPr>
        <p:spPr>
          <a:xfrm>
            <a:off x="708374" y="2589120"/>
            <a:ext cx="1121919" cy="139750"/>
          </a:xfrm>
          <a:prstGeom prst="rect">
            <a:avLst/>
          </a:prstGeom>
          <a:noFill/>
        </p:spPr>
        <p:txBody>
          <a:bodyPr wrap="none" lIns="0" rIns="0" tIns="0" bIns="0">
            <a:spAutoFit/>
          </a:bodyPr>
          <a:lstStyle/>
          <a:p>
            <a:r>
              <a:rPr sz="791" b="1">
                <a:solidFill>
                  <a:srgbClr val="2E2E2E"/>
                </a:solidFill>
                <a:latin typeface="Calibri"/>
              </a:rPr>
              <a:t>Bulk Industrial Packaging</a:t>
            </a:r>
          </a:p>
        </p:txBody>
      </p:sp>
      <p:pic>
        <p:nvPicPr>
          <p:cNvPr id="115" name="Picture 114" descr="lock.png"/>
          <p:cNvPicPr>
            <a:picLocks noChangeAspect="1"/>
          </p:cNvPicPr>
          <p:nvPr/>
        </p:nvPicPr>
        <p:blipFill>
          <a:blip r:embed="rId4"/>
          <a:stretch>
            <a:fillRect/>
          </a:stretch>
        </p:blipFill>
        <p:spPr>
          <a:xfrm>
            <a:off x="1771555" y="2582079"/>
            <a:ext cx="92663" cy="134782"/>
          </a:xfrm>
          <a:prstGeom prst="rect">
            <a:avLst/>
          </a:prstGeom>
        </p:spPr>
      </p:pic>
      <p:sp>
        <p:nvSpPr>
          <p:cNvPr id="116" name="TextBox 115"/>
          <p:cNvSpPr txBox="1"/>
          <p:nvPr/>
        </p:nvSpPr>
        <p:spPr>
          <a:xfrm>
            <a:off x="1555480" y="3448091"/>
            <a:ext cx="274814" cy="139750"/>
          </a:xfrm>
          <a:prstGeom prst="rect">
            <a:avLst/>
          </a:prstGeom>
          <a:noFill/>
        </p:spPr>
        <p:txBody>
          <a:bodyPr wrap="none" lIns="0" rIns="0" tIns="0" bIns="0">
            <a:spAutoFit/>
          </a:bodyPr>
          <a:lstStyle/>
          <a:p>
            <a:r>
              <a:rPr sz="791" b="0">
                <a:solidFill>
                  <a:srgbClr val="6C7A89"/>
                </a:solidFill>
                <a:latin typeface="Calibri"/>
              </a:rPr>
              <a:t>Cups</a:t>
            </a:r>
          </a:p>
        </p:txBody>
      </p:sp>
      <p:pic>
        <p:nvPicPr>
          <p:cNvPr id="117" name="Picture 116" descr="lock.png"/>
          <p:cNvPicPr>
            <a:picLocks noChangeAspect="1"/>
          </p:cNvPicPr>
          <p:nvPr/>
        </p:nvPicPr>
        <p:blipFill>
          <a:blip r:embed="rId4"/>
          <a:stretch>
            <a:fillRect/>
          </a:stretch>
        </p:blipFill>
        <p:spPr>
          <a:xfrm>
            <a:off x="1771555" y="3441050"/>
            <a:ext cx="92663" cy="134782"/>
          </a:xfrm>
          <a:prstGeom prst="rect">
            <a:avLst/>
          </a:prstGeom>
        </p:spPr>
      </p:pic>
      <p:sp>
        <p:nvSpPr>
          <p:cNvPr id="118" name="TextBox 117"/>
          <p:cNvSpPr txBox="1"/>
          <p:nvPr/>
        </p:nvSpPr>
        <p:spPr>
          <a:xfrm>
            <a:off x="1458236" y="4203628"/>
            <a:ext cx="372058" cy="139750"/>
          </a:xfrm>
          <a:prstGeom prst="rect">
            <a:avLst/>
          </a:prstGeom>
          <a:noFill/>
        </p:spPr>
        <p:txBody>
          <a:bodyPr wrap="none" lIns="0" rIns="0" tIns="0" bIns="0">
            <a:spAutoFit/>
          </a:bodyPr>
          <a:lstStyle/>
          <a:p>
            <a:r>
              <a:rPr sz="791" b="1">
                <a:solidFill>
                  <a:srgbClr val="2E2E2E"/>
                </a:solidFill>
                <a:latin typeface="Calibri"/>
              </a:rPr>
              <a:t>Bottles</a:t>
            </a:r>
          </a:p>
        </p:txBody>
      </p:sp>
      <p:pic>
        <p:nvPicPr>
          <p:cNvPr id="119" name="Picture 118" descr="lock.png"/>
          <p:cNvPicPr>
            <a:picLocks noChangeAspect="1"/>
          </p:cNvPicPr>
          <p:nvPr/>
        </p:nvPicPr>
        <p:blipFill>
          <a:blip r:embed="rId4"/>
          <a:stretch>
            <a:fillRect/>
          </a:stretch>
        </p:blipFill>
        <p:spPr>
          <a:xfrm>
            <a:off x="1771555" y="4196587"/>
            <a:ext cx="92663" cy="134782"/>
          </a:xfrm>
          <a:prstGeom prst="rect">
            <a:avLst/>
          </a:prstGeom>
        </p:spPr>
      </p:pic>
      <p:sp>
        <p:nvSpPr>
          <p:cNvPr id="120" name="TextBox 119"/>
          <p:cNvSpPr txBox="1"/>
          <p:nvPr/>
        </p:nvSpPr>
        <p:spPr>
          <a:xfrm>
            <a:off x="777526" y="4876864"/>
            <a:ext cx="1052768" cy="139750"/>
          </a:xfrm>
          <a:prstGeom prst="rect">
            <a:avLst/>
          </a:prstGeom>
          <a:noFill/>
        </p:spPr>
        <p:txBody>
          <a:bodyPr wrap="none" lIns="0" rIns="0" tIns="0" bIns="0">
            <a:spAutoFit/>
          </a:bodyPr>
          <a:lstStyle/>
          <a:p>
            <a:r>
              <a:rPr sz="791" b="1">
                <a:solidFill>
                  <a:srgbClr val="2E2E2E"/>
                </a:solidFill>
                <a:latin typeface="Calibri"/>
              </a:rPr>
              <a:t>Sachets and Stick Packs</a:t>
            </a:r>
          </a:p>
        </p:txBody>
      </p:sp>
      <p:pic>
        <p:nvPicPr>
          <p:cNvPr id="121" name="Picture 120" descr="lock.png"/>
          <p:cNvPicPr>
            <a:picLocks noChangeAspect="1"/>
          </p:cNvPicPr>
          <p:nvPr/>
        </p:nvPicPr>
        <p:blipFill>
          <a:blip r:embed="rId4"/>
          <a:stretch>
            <a:fillRect/>
          </a:stretch>
        </p:blipFill>
        <p:spPr>
          <a:xfrm>
            <a:off x="1771555" y="4869823"/>
            <a:ext cx="92663" cy="134782"/>
          </a:xfrm>
          <a:prstGeom prst="rect">
            <a:avLst/>
          </a:prstGeom>
        </p:spPr>
      </p:pic>
      <p:sp>
        <p:nvSpPr>
          <p:cNvPr id="122" name="TextBox 121"/>
          <p:cNvSpPr txBox="1"/>
          <p:nvPr/>
        </p:nvSpPr>
        <p:spPr>
          <a:xfrm>
            <a:off x="1599485" y="5434051"/>
            <a:ext cx="230808" cy="139750"/>
          </a:xfrm>
          <a:prstGeom prst="rect">
            <a:avLst/>
          </a:prstGeom>
          <a:noFill/>
        </p:spPr>
        <p:txBody>
          <a:bodyPr wrap="none" lIns="0" rIns="0" tIns="0" bIns="0">
            <a:spAutoFit/>
          </a:bodyPr>
          <a:lstStyle/>
          <a:p>
            <a:r>
              <a:rPr sz="791" b="0">
                <a:solidFill>
                  <a:srgbClr val="6C7A89"/>
                </a:solidFill>
                <a:latin typeface="Calibri"/>
              </a:rPr>
              <a:t>Jars</a:t>
            </a:r>
          </a:p>
        </p:txBody>
      </p:sp>
      <p:pic>
        <p:nvPicPr>
          <p:cNvPr id="123" name="Picture 122" descr="lock.png"/>
          <p:cNvPicPr>
            <a:picLocks noChangeAspect="1"/>
          </p:cNvPicPr>
          <p:nvPr/>
        </p:nvPicPr>
        <p:blipFill>
          <a:blip r:embed="rId4"/>
          <a:stretch>
            <a:fillRect/>
          </a:stretch>
        </p:blipFill>
        <p:spPr>
          <a:xfrm>
            <a:off x="1771555" y="5427010"/>
            <a:ext cx="92663" cy="134782"/>
          </a:xfrm>
          <a:prstGeom prst="rect">
            <a:avLst/>
          </a:prstGeom>
        </p:spPr>
      </p:pic>
      <p:sp>
        <p:nvSpPr>
          <p:cNvPr id="124" name="TextBox 123"/>
          <p:cNvSpPr txBox="1"/>
          <p:nvPr/>
        </p:nvSpPr>
        <p:spPr>
          <a:xfrm>
            <a:off x="981640" y="5880728"/>
            <a:ext cx="848653" cy="139750"/>
          </a:xfrm>
          <a:prstGeom prst="rect">
            <a:avLst/>
          </a:prstGeom>
          <a:noFill/>
        </p:spPr>
        <p:txBody>
          <a:bodyPr wrap="none" lIns="0" rIns="0" tIns="0" bIns="0">
            <a:spAutoFit/>
          </a:bodyPr>
          <a:lstStyle/>
          <a:p>
            <a:r>
              <a:rPr sz="791" b="1">
                <a:solidFill>
                  <a:srgbClr val="2E2E2E"/>
                </a:solidFill>
                <a:latin typeface="Calibri"/>
              </a:rPr>
              <a:t>Boxes and Cartons</a:t>
            </a:r>
          </a:p>
        </p:txBody>
      </p:sp>
      <p:pic>
        <p:nvPicPr>
          <p:cNvPr id="125" name="Picture 124" descr="lock.png"/>
          <p:cNvPicPr>
            <a:picLocks noChangeAspect="1"/>
          </p:cNvPicPr>
          <p:nvPr/>
        </p:nvPicPr>
        <p:blipFill>
          <a:blip r:embed="rId4"/>
          <a:stretch>
            <a:fillRect/>
          </a:stretch>
        </p:blipFill>
        <p:spPr>
          <a:xfrm>
            <a:off x="1771555" y="5873687"/>
            <a:ext cx="92663" cy="134782"/>
          </a:xfrm>
          <a:prstGeom prst="rect">
            <a:avLst/>
          </a:prstGeom>
        </p:spPr>
      </p:pic>
      <p:sp>
        <p:nvSpPr>
          <p:cNvPr id="126" name="TextBox 125"/>
          <p:cNvSpPr txBox="1"/>
          <p:nvPr/>
        </p:nvSpPr>
        <p:spPr>
          <a:xfrm>
            <a:off x="805029" y="6200924"/>
            <a:ext cx="1025265" cy="139750"/>
          </a:xfrm>
          <a:prstGeom prst="rect">
            <a:avLst/>
          </a:prstGeom>
          <a:noFill/>
        </p:spPr>
        <p:txBody>
          <a:bodyPr wrap="none" lIns="0" rIns="0" tIns="0" bIns="0">
            <a:spAutoFit/>
          </a:bodyPr>
          <a:lstStyle/>
          <a:p>
            <a:r>
              <a:rPr sz="791" b="1">
                <a:solidFill>
                  <a:srgbClr val="2E2E2E"/>
                </a:solidFill>
                <a:latin typeface="Calibri"/>
              </a:rPr>
              <a:t>Other Packaging Types</a:t>
            </a:r>
          </a:p>
        </p:txBody>
      </p:sp>
      <p:pic>
        <p:nvPicPr>
          <p:cNvPr id="127" name="Picture 126" descr="lock.png"/>
          <p:cNvPicPr>
            <a:picLocks noChangeAspect="1"/>
          </p:cNvPicPr>
          <p:nvPr/>
        </p:nvPicPr>
        <p:blipFill>
          <a:blip r:embed="rId4"/>
          <a:stretch>
            <a:fillRect/>
          </a:stretch>
        </p:blipFill>
        <p:spPr>
          <a:xfrm>
            <a:off x="1771555" y="6193883"/>
            <a:ext cx="92663" cy="134782"/>
          </a:xfrm>
          <a:prstGeom prst="rect">
            <a:avLst/>
          </a:prstGeom>
        </p:spPr>
      </p:pic>
      <p:sp>
        <p:nvSpPr>
          <p:cNvPr id="128" name="TextBox 127"/>
          <p:cNvSpPr txBox="1"/>
          <p:nvPr/>
        </p:nvSpPr>
        <p:spPr>
          <a:xfrm>
            <a:off x="1184969" y="6402362"/>
            <a:ext cx="645324" cy="139750"/>
          </a:xfrm>
          <a:prstGeom prst="rect">
            <a:avLst/>
          </a:prstGeom>
          <a:noFill/>
        </p:spPr>
        <p:txBody>
          <a:bodyPr wrap="none" lIns="0" rIns="0" tIns="0" bIns="0">
            <a:spAutoFit/>
          </a:bodyPr>
          <a:lstStyle/>
          <a:p>
            <a:r>
              <a:rPr sz="791" b="1">
                <a:solidFill>
                  <a:srgbClr val="2E2E2E"/>
                </a:solidFill>
                <a:latin typeface="Calibri"/>
              </a:rPr>
              <a:t>Tins and Cans</a:t>
            </a:r>
          </a:p>
        </p:txBody>
      </p:sp>
      <p:pic>
        <p:nvPicPr>
          <p:cNvPr id="129" name="Picture 128" descr="lock.png"/>
          <p:cNvPicPr>
            <a:picLocks noChangeAspect="1"/>
          </p:cNvPicPr>
          <p:nvPr/>
        </p:nvPicPr>
        <p:blipFill>
          <a:blip r:embed="rId4"/>
          <a:stretch>
            <a:fillRect/>
          </a:stretch>
        </p:blipFill>
        <p:spPr>
          <a:xfrm>
            <a:off x="1771555" y="6395321"/>
            <a:ext cx="92663" cy="134782"/>
          </a:xfrm>
          <a:prstGeom prst="rect">
            <a:avLst/>
          </a:prstGeom>
        </p:spPr>
      </p:pic>
      <p:sp>
        <p:nvSpPr>
          <p:cNvPr id="130" name="TextBox 129"/>
          <p:cNvSpPr txBox="1"/>
          <p:nvPr/>
        </p:nvSpPr>
        <p:spPr>
          <a:xfrm>
            <a:off x="5972175" y="1864855"/>
            <a:ext cx="840206" cy="139750"/>
          </a:xfrm>
          <a:prstGeom prst="rect">
            <a:avLst/>
          </a:prstGeom>
          <a:noFill/>
        </p:spPr>
        <p:txBody>
          <a:bodyPr wrap="none" lIns="0" rIns="0" tIns="0" bIns="0">
            <a:spAutoFit/>
          </a:bodyPr>
          <a:lstStyle/>
          <a:p>
            <a:r>
              <a:rPr sz="791" b="1">
                <a:solidFill>
                  <a:srgbClr val="2E2E2E"/>
                </a:solidFill>
                <a:latin typeface="Calibri"/>
              </a:rPr>
              <a:t>Supermarkets and</a:t>
            </a:r>
          </a:p>
        </p:txBody>
      </p:sp>
      <p:sp>
        <p:nvSpPr>
          <p:cNvPr id="131" name="TextBox 130"/>
          <p:cNvSpPr txBox="1"/>
          <p:nvPr/>
        </p:nvSpPr>
        <p:spPr>
          <a:xfrm>
            <a:off x="5972175" y="1985556"/>
            <a:ext cx="669291" cy="139750"/>
          </a:xfrm>
          <a:prstGeom prst="rect">
            <a:avLst/>
          </a:prstGeom>
          <a:noFill/>
        </p:spPr>
        <p:txBody>
          <a:bodyPr wrap="none" lIns="0" rIns="0" tIns="0" bIns="0">
            <a:spAutoFit/>
          </a:bodyPr>
          <a:lstStyle/>
          <a:p>
            <a:r>
              <a:rPr sz="791" b="1">
                <a:solidFill>
                  <a:srgbClr val="2E2E2E"/>
                </a:solidFill>
                <a:latin typeface="Calibri"/>
              </a:rPr>
              <a:t>Hypermarkets</a:t>
            </a:r>
          </a:p>
        </p:txBody>
      </p:sp>
      <p:pic>
        <p:nvPicPr>
          <p:cNvPr id="132" name="Picture 131" descr="lock.png"/>
          <p:cNvPicPr>
            <a:picLocks noChangeAspect="1"/>
          </p:cNvPicPr>
          <p:nvPr/>
        </p:nvPicPr>
        <p:blipFill>
          <a:blip r:embed="rId4"/>
          <a:stretch>
            <a:fillRect/>
          </a:stretch>
        </p:blipFill>
        <p:spPr>
          <a:xfrm>
            <a:off x="6582728" y="1978515"/>
            <a:ext cx="92663" cy="134782"/>
          </a:xfrm>
          <a:prstGeom prst="rect">
            <a:avLst/>
          </a:prstGeom>
        </p:spPr>
      </p:pic>
      <p:sp>
        <p:nvSpPr>
          <p:cNvPr id="133" name="TextBox 132"/>
          <p:cNvSpPr txBox="1"/>
          <p:nvPr/>
        </p:nvSpPr>
        <p:spPr>
          <a:xfrm>
            <a:off x="5972175" y="3095063"/>
            <a:ext cx="897766" cy="139750"/>
          </a:xfrm>
          <a:prstGeom prst="rect">
            <a:avLst/>
          </a:prstGeom>
          <a:noFill/>
        </p:spPr>
        <p:txBody>
          <a:bodyPr wrap="none" lIns="0" rIns="0" tIns="0" bIns="0">
            <a:spAutoFit/>
          </a:bodyPr>
          <a:lstStyle/>
          <a:p>
            <a:r>
              <a:rPr sz="791" b="1">
                <a:solidFill>
                  <a:srgbClr val="2E2E2E"/>
                </a:solidFill>
                <a:latin typeface="Calibri"/>
              </a:rPr>
              <a:t>Convenience Stores</a:t>
            </a:r>
          </a:p>
        </p:txBody>
      </p:sp>
      <p:pic>
        <p:nvPicPr>
          <p:cNvPr id="134" name="Picture 133" descr="lock.png"/>
          <p:cNvPicPr>
            <a:picLocks noChangeAspect="1"/>
          </p:cNvPicPr>
          <p:nvPr/>
        </p:nvPicPr>
        <p:blipFill>
          <a:blip r:embed="rId4"/>
          <a:stretch>
            <a:fillRect/>
          </a:stretch>
        </p:blipFill>
        <p:spPr>
          <a:xfrm>
            <a:off x="6811203" y="3088022"/>
            <a:ext cx="92663" cy="134782"/>
          </a:xfrm>
          <a:prstGeom prst="rect">
            <a:avLst/>
          </a:prstGeom>
        </p:spPr>
      </p:pic>
      <p:sp>
        <p:nvSpPr>
          <p:cNvPr id="135" name="TextBox 134"/>
          <p:cNvSpPr txBox="1"/>
          <p:nvPr/>
        </p:nvSpPr>
        <p:spPr>
          <a:xfrm>
            <a:off x="5972175" y="4000800"/>
            <a:ext cx="1337410" cy="139750"/>
          </a:xfrm>
          <a:prstGeom prst="rect">
            <a:avLst/>
          </a:prstGeom>
          <a:noFill/>
        </p:spPr>
        <p:txBody>
          <a:bodyPr wrap="none" lIns="0" rIns="0" tIns="0" bIns="0">
            <a:spAutoFit/>
          </a:bodyPr>
          <a:lstStyle/>
          <a:p>
            <a:r>
              <a:rPr sz="791" b="1">
                <a:solidFill>
                  <a:srgbClr val="2E2E2E"/>
                </a:solidFill>
                <a:latin typeface="Calibri"/>
              </a:rPr>
              <a:t>Specialty Tea and Health Food</a:t>
            </a:r>
          </a:p>
        </p:txBody>
      </p:sp>
      <p:sp>
        <p:nvSpPr>
          <p:cNvPr id="136" name="TextBox 135"/>
          <p:cNvSpPr txBox="1"/>
          <p:nvPr/>
        </p:nvSpPr>
        <p:spPr>
          <a:xfrm>
            <a:off x="5972175" y="4121501"/>
            <a:ext cx="339250" cy="139750"/>
          </a:xfrm>
          <a:prstGeom prst="rect">
            <a:avLst/>
          </a:prstGeom>
          <a:noFill/>
        </p:spPr>
        <p:txBody>
          <a:bodyPr wrap="none" lIns="0" rIns="0" tIns="0" bIns="0">
            <a:spAutoFit/>
          </a:bodyPr>
          <a:lstStyle/>
          <a:p>
            <a:r>
              <a:rPr sz="791" b="1">
                <a:solidFill>
                  <a:srgbClr val="2E2E2E"/>
                </a:solidFill>
                <a:latin typeface="Calibri"/>
              </a:rPr>
              <a:t>Stores</a:t>
            </a:r>
          </a:p>
        </p:txBody>
      </p:sp>
      <p:pic>
        <p:nvPicPr>
          <p:cNvPr id="137" name="Picture 136" descr="lock.png"/>
          <p:cNvPicPr>
            <a:picLocks noChangeAspect="1"/>
          </p:cNvPicPr>
          <p:nvPr/>
        </p:nvPicPr>
        <p:blipFill>
          <a:blip r:embed="rId4"/>
          <a:stretch>
            <a:fillRect/>
          </a:stretch>
        </p:blipFill>
        <p:spPr>
          <a:xfrm>
            <a:off x="6252686" y="4114460"/>
            <a:ext cx="92663" cy="134782"/>
          </a:xfrm>
          <a:prstGeom prst="rect">
            <a:avLst/>
          </a:prstGeom>
        </p:spPr>
      </p:pic>
      <p:sp>
        <p:nvSpPr>
          <p:cNvPr id="138" name="TextBox 137"/>
          <p:cNvSpPr txBox="1"/>
          <p:nvPr/>
        </p:nvSpPr>
        <p:spPr>
          <a:xfrm>
            <a:off x="5972175" y="4865642"/>
            <a:ext cx="616642" cy="139750"/>
          </a:xfrm>
          <a:prstGeom prst="rect">
            <a:avLst/>
          </a:prstGeom>
          <a:noFill/>
        </p:spPr>
        <p:txBody>
          <a:bodyPr wrap="none" lIns="0" rIns="0" tIns="0" bIns="0">
            <a:spAutoFit/>
          </a:bodyPr>
          <a:lstStyle/>
          <a:p>
            <a:r>
              <a:rPr sz="791" b="1">
                <a:solidFill>
                  <a:srgbClr val="2E2E2E"/>
                </a:solidFill>
                <a:latin typeface="Calibri"/>
              </a:rPr>
              <a:t>Online Retail</a:t>
            </a:r>
          </a:p>
        </p:txBody>
      </p:sp>
      <p:pic>
        <p:nvPicPr>
          <p:cNvPr id="139" name="Picture 138" descr="lock.png"/>
          <p:cNvPicPr>
            <a:picLocks noChangeAspect="1"/>
          </p:cNvPicPr>
          <p:nvPr/>
        </p:nvPicPr>
        <p:blipFill>
          <a:blip r:embed="rId4"/>
          <a:stretch>
            <a:fillRect/>
          </a:stretch>
        </p:blipFill>
        <p:spPr>
          <a:xfrm>
            <a:off x="6530078" y="4858601"/>
            <a:ext cx="92663" cy="134782"/>
          </a:xfrm>
          <a:prstGeom prst="rect">
            <a:avLst/>
          </a:prstGeom>
        </p:spPr>
      </p:pic>
      <p:sp>
        <p:nvSpPr>
          <p:cNvPr id="140" name="TextBox 139"/>
          <p:cNvSpPr txBox="1"/>
          <p:nvPr/>
        </p:nvSpPr>
        <p:spPr>
          <a:xfrm>
            <a:off x="5972175" y="5409202"/>
            <a:ext cx="1021335" cy="139750"/>
          </a:xfrm>
          <a:prstGeom prst="rect">
            <a:avLst/>
          </a:prstGeom>
          <a:noFill/>
        </p:spPr>
        <p:txBody>
          <a:bodyPr wrap="none" lIns="0" rIns="0" tIns="0" bIns="0">
            <a:spAutoFit/>
          </a:bodyPr>
          <a:lstStyle/>
          <a:p>
            <a:r>
              <a:rPr sz="791" b="1">
                <a:solidFill>
                  <a:srgbClr val="2E2E2E"/>
                </a:solidFill>
                <a:latin typeface="Calibri"/>
              </a:rPr>
              <a:t>B2B / Institutional and</a:t>
            </a:r>
          </a:p>
        </p:txBody>
      </p:sp>
      <p:sp>
        <p:nvSpPr>
          <p:cNvPr id="141" name="TextBox 140"/>
          <p:cNvSpPr txBox="1"/>
          <p:nvPr/>
        </p:nvSpPr>
        <p:spPr>
          <a:xfrm>
            <a:off x="5972175" y="5529903"/>
            <a:ext cx="745319" cy="139750"/>
          </a:xfrm>
          <a:prstGeom prst="rect">
            <a:avLst/>
          </a:prstGeom>
          <a:noFill/>
        </p:spPr>
        <p:txBody>
          <a:bodyPr wrap="none" lIns="0" rIns="0" tIns="0" bIns="0">
            <a:spAutoFit/>
          </a:bodyPr>
          <a:lstStyle/>
          <a:p>
            <a:r>
              <a:rPr sz="791" b="1">
                <a:solidFill>
                  <a:srgbClr val="2E2E2E"/>
                </a:solidFill>
                <a:latin typeface="Calibri"/>
              </a:rPr>
              <a:t>Ingredient Sales</a:t>
            </a:r>
          </a:p>
        </p:txBody>
      </p:sp>
      <p:pic>
        <p:nvPicPr>
          <p:cNvPr id="142" name="Picture 141" descr="lock.png"/>
          <p:cNvPicPr>
            <a:picLocks noChangeAspect="1"/>
          </p:cNvPicPr>
          <p:nvPr/>
        </p:nvPicPr>
        <p:blipFill>
          <a:blip r:embed="rId4"/>
          <a:stretch>
            <a:fillRect/>
          </a:stretch>
        </p:blipFill>
        <p:spPr>
          <a:xfrm>
            <a:off x="6658755" y="5522862"/>
            <a:ext cx="92663" cy="134782"/>
          </a:xfrm>
          <a:prstGeom prst="rect">
            <a:avLst/>
          </a:prstGeom>
        </p:spPr>
      </p:pic>
      <p:sp>
        <p:nvSpPr>
          <p:cNvPr id="143" name="TextBox 142"/>
          <p:cNvSpPr txBox="1"/>
          <p:nvPr/>
        </p:nvSpPr>
        <p:spPr>
          <a:xfrm>
            <a:off x="5972175" y="5929246"/>
            <a:ext cx="1106971" cy="139750"/>
          </a:xfrm>
          <a:prstGeom prst="rect">
            <a:avLst/>
          </a:prstGeom>
          <a:noFill/>
        </p:spPr>
        <p:txBody>
          <a:bodyPr wrap="none" lIns="0" rIns="0" tIns="0" bIns="0">
            <a:spAutoFit/>
          </a:bodyPr>
          <a:lstStyle/>
          <a:p>
            <a:r>
              <a:rPr sz="791" b="1">
                <a:solidFill>
                  <a:srgbClr val="2E2E2E"/>
                </a:solidFill>
                <a:latin typeface="Calibri"/>
              </a:rPr>
              <a:t>Foodservice and HoReCa</a:t>
            </a:r>
          </a:p>
        </p:txBody>
      </p:sp>
      <p:pic>
        <p:nvPicPr>
          <p:cNvPr id="144" name="Picture 143" descr="lock.png"/>
          <p:cNvPicPr>
            <a:picLocks noChangeAspect="1"/>
          </p:cNvPicPr>
          <p:nvPr/>
        </p:nvPicPr>
        <p:blipFill>
          <a:blip r:embed="rId4"/>
          <a:stretch>
            <a:fillRect/>
          </a:stretch>
        </p:blipFill>
        <p:spPr>
          <a:xfrm>
            <a:off x="7020407" y="5922205"/>
            <a:ext cx="92663" cy="134782"/>
          </a:xfrm>
          <a:prstGeom prst="rect">
            <a:avLst/>
          </a:prstGeom>
        </p:spPr>
      </p:pic>
      <p:sp>
        <p:nvSpPr>
          <p:cNvPr id="145" name="TextBox 144"/>
          <p:cNvSpPr txBox="1"/>
          <p:nvPr/>
        </p:nvSpPr>
        <p:spPr>
          <a:xfrm>
            <a:off x="5972175" y="6293230"/>
            <a:ext cx="987153" cy="139750"/>
          </a:xfrm>
          <a:prstGeom prst="rect">
            <a:avLst/>
          </a:prstGeom>
          <a:noFill/>
        </p:spPr>
        <p:txBody>
          <a:bodyPr wrap="none" lIns="0" rIns="0" tIns="0" bIns="0">
            <a:spAutoFit/>
          </a:bodyPr>
          <a:lstStyle/>
          <a:p>
            <a:r>
              <a:rPr sz="791" b="1">
                <a:solidFill>
                  <a:srgbClr val="2E2E2E"/>
                </a:solidFill>
                <a:latin typeface="Calibri"/>
              </a:rPr>
              <a:t>Other Retail Channels</a:t>
            </a:r>
          </a:p>
        </p:txBody>
      </p:sp>
      <p:pic>
        <p:nvPicPr>
          <p:cNvPr id="146" name="Picture 145" descr="lock.png"/>
          <p:cNvPicPr>
            <a:picLocks noChangeAspect="1"/>
          </p:cNvPicPr>
          <p:nvPr/>
        </p:nvPicPr>
        <p:blipFill>
          <a:blip r:embed="rId4"/>
          <a:stretch>
            <a:fillRect/>
          </a:stretch>
        </p:blipFill>
        <p:spPr>
          <a:xfrm>
            <a:off x="6900589" y="6286189"/>
            <a:ext cx="92663" cy="134782"/>
          </a:xfrm>
          <a:prstGeom prst="rect">
            <a:avLst/>
          </a:prstGeom>
        </p:spPr>
      </p:pic>
      <p:sp>
        <p:nvSpPr>
          <p:cNvPr id="147" name="TextBox 146"/>
          <p:cNvSpPr txBox="1"/>
          <p:nvPr/>
        </p:nvSpPr>
        <p:spPr>
          <a:xfrm>
            <a:off x="7715250" y="1400175"/>
            <a:ext cx="4135648" cy="194310"/>
          </a:xfrm>
          <a:prstGeom prst="rect">
            <a:avLst/>
          </a:prstGeom>
          <a:noFill/>
        </p:spPr>
        <p:txBody>
          <a:bodyPr wrap="none" lIns="0" rIns="0" tIns="0" bIns="0">
            <a:spAutoFit/>
          </a:bodyPr>
          <a:lstStyle/>
          <a:p>
            <a:r>
              <a:rPr sz="1150" b="0">
                <a:solidFill>
                  <a:srgbClr val="2E2E2E"/>
                </a:solidFill>
                <a:latin typeface="Calibri"/>
              </a:rPr>
              <a:t>Pouches segment is projected to account for the largest share of the</a:t>
            </a:r>
          </a:p>
        </p:txBody>
      </p:sp>
      <p:sp>
        <p:nvSpPr>
          <p:cNvPr id="148" name="TextBox 147"/>
          <p:cNvSpPr txBox="1"/>
          <p:nvPr/>
        </p:nvSpPr>
        <p:spPr>
          <a:xfrm>
            <a:off x="7715250" y="1575435"/>
            <a:ext cx="4171950" cy="194310"/>
          </a:xfrm>
          <a:prstGeom prst="rect">
            <a:avLst/>
          </a:prstGeom>
          <a:noFill/>
        </p:spPr>
        <p:txBody>
          <a:bodyPr wrap="none" lIns="0" rIns="0" tIns="0" bIns="0">
            <a:spAutoFit/>
          </a:bodyPr>
          <a:lstStyle/>
          <a:p>
            <a:r>
              <a:rPr sz="1150" b="0">
                <a:solidFill>
                  <a:srgbClr val="2E2E2E"/>
                </a:solidFill>
                <a:latin typeface="Calibri"/>
              </a:rPr>
              <a:t>global matcha market, led by supermarkets and hypermarkets at US$</a:t>
            </a:r>
          </a:p>
        </p:txBody>
      </p:sp>
      <p:pic>
        <p:nvPicPr>
          <p:cNvPr id="149" name="Picture 148" descr="lock.png"/>
          <p:cNvPicPr>
            <a:picLocks noChangeAspect="1"/>
          </p:cNvPicPr>
          <p:nvPr/>
        </p:nvPicPr>
        <p:blipFill>
          <a:blip r:embed="rId4"/>
          <a:stretch>
            <a:fillRect/>
          </a:stretch>
        </p:blipFill>
        <p:spPr>
          <a:xfrm>
            <a:off x="7701170" y="1740471"/>
            <a:ext cx="134549" cy="195707"/>
          </a:xfrm>
          <a:prstGeom prst="rect">
            <a:avLst/>
          </a:prstGeom>
        </p:spPr>
      </p:pic>
      <p:sp>
        <p:nvSpPr>
          <p:cNvPr id="150" name="TextBox 149"/>
          <p:cNvSpPr txBox="1"/>
          <p:nvPr/>
        </p:nvSpPr>
        <p:spPr>
          <a:xfrm>
            <a:off x="7876279" y="1750695"/>
            <a:ext cx="3834990" cy="194310"/>
          </a:xfrm>
          <a:prstGeom prst="rect">
            <a:avLst/>
          </a:prstGeom>
          <a:noFill/>
        </p:spPr>
        <p:txBody>
          <a:bodyPr wrap="none" lIns="0" rIns="0" tIns="0" bIns="0">
            <a:spAutoFit/>
          </a:bodyPr>
          <a:lstStyle/>
          <a:p>
            <a:r>
              <a:rPr sz="1150" b="0">
                <a:solidFill>
                  <a:srgbClr val="2E2E2E"/>
                </a:solidFill>
                <a:latin typeface="Calibri"/>
              </a:rPr>
              <a:t>Mn in 2036. 'Pouches × Supermarkets and Hypermarkets' is the</a:t>
            </a:r>
          </a:p>
        </p:txBody>
      </p:sp>
      <p:sp>
        <p:nvSpPr>
          <p:cNvPr id="151" name="TextBox 150"/>
          <p:cNvSpPr txBox="1"/>
          <p:nvPr/>
        </p:nvSpPr>
        <p:spPr>
          <a:xfrm>
            <a:off x="7715250" y="1925955"/>
            <a:ext cx="2080108" cy="194310"/>
          </a:xfrm>
          <a:prstGeom prst="rect">
            <a:avLst/>
          </a:prstGeom>
          <a:noFill/>
        </p:spPr>
        <p:txBody>
          <a:bodyPr wrap="none" lIns="0" rIns="0" tIns="0" bIns="0">
            <a:spAutoFit/>
          </a:bodyPr>
          <a:lstStyle/>
          <a:p>
            <a:r>
              <a:rPr sz="1150" b="0">
                <a:solidFill>
                  <a:srgbClr val="2E2E2E"/>
                </a:solidFill>
                <a:latin typeface="Calibri"/>
              </a:rPr>
              <a:t>single largest cross-sectional cell (</a:t>
            </a:r>
          </a:p>
        </p:txBody>
      </p:sp>
      <p:pic>
        <p:nvPicPr>
          <p:cNvPr id="152" name="Picture 151" descr="lock.png"/>
          <p:cNvPicPr>
            <a:picLocks noChangeAspect="1"/>
          </p:cNvPicPr>
          <p:nvPr/>
        </p:nvPicPr>
        <p:blipFill>
          <a:blip r:embed="rId4"/>
          <a:stretch>
            <a:fillRect/>
          </a:stretch>
        </p:blipFill>
        <p:spPr>
          <a:xfrm>
            <a:off x="9744512" y="1915731"/>
            <a:ext cx="134549" cy="195707"/>
          </a:xfrm>
          <a:prstGeom prst="rect">
            <a:avLst/>
          </a:prstGeom>
        </p:spPr>
      </p:pic>
      <p:sp>
        <p:nvSpPr>
          <p:cNvPr id="153" name="TextBox 152"/>
          <p:cNvSpPr txBox="1"/>
          <p:nvPr/>
        </p:nvSpPr>
        <p:spPr>
          <a:xfrm>
            <a:off x="9919621" y="1925955"/>
            <a:ext cx="1938337" cy="194310"/>
          </a:xfrm>
          <a:prstGeom prst="rect">
            <a:avLst/>
          </a:prstGeom>
          <a:noFill/>
        </p:spPr>
        <p:txBody>
          <a:bodyPr wrap="none" lIns="0" rIns="0" tIns="0" bIns="0">
            <a:spAutoFit/>
          </a:bodyPr>
          <a:lstStyle/>
          <a:p>
            <a:r>
              <a:rPr sz="1150" b="0">
                <a:solidFill>
                  <a:srgbClr val="2E2E2E"/>
                </a:solidFill>
                <a:latin typeface="Calibri"/>
              </a:rPr>
              <a:t>US$ Mn, 2026E), while 'Sachets</a:t>
            </a:r>
          </a:p>
        </p:txBody>
      </p:sp>
      <p:sp>
        <p:nvSpPr>
          <p:cNvPr id="154" name="TextBox 153"/>
          <p:cNvSpPr txBox="1"/>
          <p:nvPr/>
        </p:nvSpPr>
        <p:spPr>
          <a:xfrm>
            <a:off x="7715250" y="2101215"/>
            <a:ext cx="4171305" cy="194310"/>
          </a:xfrm>
          <a:prstGeom prst="rect">
            <a:avLst/>
          </a:prstGeom>
          <a:noFill/>
        </p:spPr>
        <p:txBody>
          <a:bodyPr wrap="none" lIns="0" rIns="0" tIns="0" bIns="0">
            <a:spAutoFit/>
          </a:bodyPr>
          <a:lstStyle/>
          <a:p>
            <a:r>
              <a:rPr sz="1150" b="0">
                <a:solidFill>
                  <a:srgbClr val="2E2E2E"/>
                </a:solidFill>
                <a:latin typeface="Calibri"/>
              </a:rPr>
              <a:t>and Stick Packs × B2B / Institutional and Ingredient Sales' records the</a:t>
            </a:r>
          </a:p>
        </p:txBody>
      </p:sp>
      <p:sp>
        <p:nvSpPr>
          <p:cNvPr id="155" name="TextBox 154"/>
          <p:cNvSpPr txBox="1"/>
          <p:nvPr/>
        </p:nvSpPr>
        <p:spPr>
          <a:xfrm>
            <a:off x="7715250" y="2276475"/>
            <a:ext cx="1712113" cy="194310"/>
          </a:xfrm>
          <a:prstGeom prst="rect">
            <a:avLst/>
          </a:prstGeom>
          <a:noFill/>
        </p:spPr>
        <p:txBody>
          <a:bodyPr wrap="none" lIns="0" rIns="0" tIns="0" bIns="0">
            <a:spAutoFit/>
          </a:bodyPr>
          <a:lstStyle/>
          <a:p>
            <a:r>
              <a:rPr sz="1150" b="0">
                <a:solidFill>
                  <a:srgbClr val="2E2E2E"/>
                </a:solidFill>
                <a:latin typeface="Calibri"/>
              </a:rPr>
              <a:t>fastest growth at a CAGR of</a:t>
            </a:r>
          </a:p>
        </p:txBody>
      </p:sp>
      <p:pic>
        <p:nvPicPr>
          <p:cNvPr id="156" name="Picture 155" descr="lock.png"/>
          <p:cNvPicPr>
            <a:picLocks noChangeAspect="1"/>
          </p:cNvPicPr>
          <p:nvPr/>
        </p:nvPicPr>
        <p:blipFill>
          <a:blip r:embed="rId4"/>
          <a:stretch>
            <a:fillRect/>
          </a:stretch>
        </p:blipFill>
        <p:spPr>
          <a:xfrm>
            <a:off x="9376517" y="2266251"/>
            <a:ext cx="134549" cy="195707"/>
          </a:xfrm>
          <a:prstGeom prst="rect">
            <a:avLst/>
          </a:prstGeom>
        </p:spPr>
      </p:pic>
      <p:sp>
        <p:nvSpPr>
          <p:cNvPr id="157" name="TextBox 156"/>
          <p:cNvSpPr txBox="1"/>
          <p:nvPr/>
        </p:nvSpPr>
        <p:spPr>
          <a:xfrm>
            <a:off x="9551626" y="2276475"/>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58" name="TextBox 157"/>
          <p:cNvSpPr txBox="1"/>
          <p:nvPr/>
        </p:nvSpPr>
        <p:spPr>
          <a:xfrm>
            <a:off x="7715250" y="2504313"/>
            <a:ext cx="4091148" cy="194310"/>
          </a:xfrm>
          <a:prstGeom prst="rect">
            <a:avLst/>
          </a:prstGeom>
          <a:noFill/>
        </p:spPr>
        <p:txBody>
          <a:bodyPr wrap="none" lIns="0" rIns="0" tIns="0" bIns="0">
            <a:spAutoFit/>
          </a:bodyPr>
          <a:lstStyle/>
          <a:p>
            <a:r>
              <a:rPr sz="1150" b="0">
                <a:solidFill>
                  <a:srgbClr val="2E2E2E"/>
                </a:solidFill>
                <a:latin typeface="Calibri"/>
              </a:rPr>
              <a:t>Combined, the top three packaging type × distribution channel cells</a:t>
            </a:r>
          </a:p>
        </p:txBody>
      </p:sp>
      <p:sp>
        <p:nvSpPr>
          <p:cNvPr id="159" name="TextBox 158"/>
          <p:cNvSpPr txBox="1"/>
          <p:nvPr/>
        </p:nvSpPr>
        <p:spPr>
          <a:xfrm>
            <a:off x="7715250" y="2679573"/>
            <a:ext cx="2340545" cy="194310"/>
          </a:xfrm>
          <a:prstGeom prst="rect">
            <a:avLst/>
          </a:prstGeom>
          <a:noFill/>
        </p:spPr>
        <p:txBody>
          <a:bodyPr wrap="none" lIns="0" rIns="0" tIns="0" bIns="0">
            <a:spAutoFit/>
          </a:bodyPr>
          <a:lstStyle/>
          <a:p>
            <a:r>
              <a:rPr sz="1150" b="0">
                <a:solidFill>
                  <a:srgbClr val="2E2E2E"/>
                </a:solidFill>
                <a:latin typeface="Calibri"/>
              </a:rPr>
              <a:t>generate an absolute $ opportunity of</a:t>
            </a:r>
          </a:p>
        </p:txBody>
      </p:sp>
      <p:pic>
        <p:nvPicPr>
          <p:cNvPr id="160" name="Picture 159" descr="lock.png"/>
          <p:cNvPicPr>
            <a:picLocks noChangeAspect="1"/>
          </p:cNvPicPr>
          <p:nvPr/>
        </p:nvPicPr>
        <p:blipFill>
          <a:blip r:embed="rId4"/>
          <a:stretch>
            <a:fillRect/>
          </a:stretch>
        </p:blipFill>
        <p:spPr>
          <a:xfrm>
            <a:off x="10004949" y="2669349"/>
            <a:ext cx="134549" cy="195707"/>
          </a:xfrm>
          <a:prstGeom prst="rect">
            <a:avLst/>
          </a:prstGeom>
        </p:spPr>
      </p:pic>
      <p:sp>
        <p:nvSpPr>
          <p:cNvPr id="161" name="TextBox 160"/>
          <p:cNvSpPr txBox="1"/>
          <p:nvPr/>
        </p:nvSpPr>
        <p:spPr>
          <a:xfrm>
            <a:off x="10180058" y="2679573"/>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1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Packaging Type × Distribution Channel,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distribution channel sub-segments</a:t>
            </a:r>
          </a:p>
        </p:txBody>
      </p:sp>
      <p:sp>
        <p:nvSpPr>
          <p:cNvPr id="10" name="Rounded Rectangle 9"/>
          <p:cNvSpPr/>
          <p:nvPr/>
        </p:nvSpPr>
        <p:spPr>
          <a:xfrm>
            <a:off x="142875" y="981075"/>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Packaging Type × Distribution Channel, 2026E (% of each row)</a:t>
            </a:r>
          </a:p>
        </p:txBody>
      </p:sp>
      <p:graphicFrame>
        <p:nvGraphicFramePr>
          <p:cNvPr id="12" name="Table 11"/>
          <p:cNvGraphicFramePr>
            <a:graphicFrameLocks noGrp="1"/>
          </p:cNvGraphicFramePr>
          <p:nvPr/>
        </p:nvGraphicFramePr>
        <p:xfrm>
          <a:off x="152400" y="1238250"/>
          <a:ext cx="11889575" cy="2905122"/>
        </p:xfrm>
        <a:graphic>
          <a:graphicData uri="http://schemas.openxmlformats.org/drawingml/2006/table">
            <a:tbl>
              <a:tblPr>
                <a:tableStyleId>{5C22544A-7EE6-4342-B048-85BDC9FD1C3A}</a:tableStyleId>
              </a:tblPr>
              <a:tblGrid>
                <a:gridCol w="1648279"/>
                <a:gridCol w="1893350"/>
                <a:gridCol w="1696467"/>
                <a:gridCol w="1145925"/>
                <a:gridCol w="1743792"/>
                <a:gridCol w="745758"/>
                <a:gridCol w="1324377"/>
                <a:gridCol w="1147821"/>
                <a:gridCol w="543806"/>
              </a:tblGrid>
              <a:tr h="438912">
                <a:tc>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B2B / Institutional and Ingredient Sales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Supermarkets and Hypermarkets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Convenience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Specialty Tea and Health Food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Online Retail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Foodservice and HoReCa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Retail Channels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621">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152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710992" y="2643566"/>
            <a:ext cx="366712" cy="533400"/>
          </a:xfrm>
          <a:prstGeom prst="rect">
            <a:avLst/>
          </a:prstGeom>
        </p:spPr>
      </p:pic>
    </p:spTree>
  </p:cSld>
  <p:clrMapOvr>
    <a:masterClrMapping/>
  </p:clrMapOvr>
</p:sld>
</file>

<file path=ppt/slides/slide1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Market Share Analysis: Packaging Type × Distribution Channel,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global market value, each row split across all distribution channel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Distribution Channel Mix by Packaging Type,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796562" y="2775901"/>
            <a:ext cx="269622" cy="392177"/>
          </a:xfrm>
          <a:prstGeom prst="rect">
            <a:avLst/>
          </a:prstGeom>
        </p:spPr>
      </p:pic>
      <p:sp>
        <p:nvSpPr>
          <p:cNvPr id="19" name="TextBox 18"/>
          <p:cNvSpPr txBox="1"/>
          <p:nvPr/>
        </p:nvSpPr>
        <p:spPr>
          <a:xfrm>
            <a:off x="7715250" y="1400175"/>
            <a:ext cx="4055777" cy="194310"/>
          </a:xfrm>
          <a:prstGeom prst="rect">
            <a:avLst/>
          </a:prstGeom>
          <a:noFill/>
        </p:spPr>
        <p:txBody>
          <a:bodyPr wrap="none" lIns="0" rIns="0" tIns="0" bIns="0">
            <a:spAutoFit/>
          </a:bodyPr>
          <a:lstStyle/>
          <a:p>
            <a:r>
              <a:rPr sz="1150" b="0">
                <a:solidFill>
                  <a:srgbClr val="2E2E2E"/>
                </a:solidFill>
                <a:latin typeface="Calibri"/>
              </a:rPr>
              <a:t>▪ 'Supermarkets and Hypermarkets' holds the highest share of 'Tins</a:t>
            </a:r>
          </a:p>
        </p:txBody>
      </p:sp>
      <p:sp>
        <p:nvSpPr>
          <p:cNvPr id="20" name="TextBox 19"/>
          <p:cNvSpPr txBox="1"/>
          <p:nvPr/>
        </p:nvSpPr>
        <p:spPr>
          <a:xfrm>
            <a:off x="7715250" y="1575435"/>
            <a:ext cx="798462" cy="194310"/>
          </a:xfrm>
          <a:prstGeom prst="rect">
            <a:avLst/>
          </a:prstGeom>
          <a:noFill/>
        </p:spPr>
        <p:txBody>
          <a:bodyPr wrap="none" lIns="0" rIns="0" tIns="0" bIns="0">
            <a:spAutoFit/>
          </a:bodyPr>
          <a:lstStyle/>
          <a:p>
            <a:r>
              <a:rPr sz="1150" b="0">
                <a:solidFill>
                  <a:srgbClr val="2E2E2E"/>
                </a:solidFill>
                <a:latin typeface="Calibri"/>
              </a:rPr>
              <a:t>and Cans' at</a:t>
            </a:r>
          </a:p>
        </p:txBody>
      </p:sp>
      <p:pic>
        <p:nvPicPr>
          <p:cNvPr id="21" name="Picture 20" descr="lock.png"/>
          <p:cNvPicPr>
            <a:picLocks noChangeAspect="1"/>
          </p:cNvPicPr>
          <p:nvPr/>
        </p:nvPicPr>
        <p:blipFill>
          <a:blip r:embed="rId5"/>
          <a:stretch>
            <a:fillRect/>
          </a:stretch>
        </p:blipFill>
        <p:spPr>
          <a:xfrm>
            <a:off x="8462866" y="1565211"/>
            <a:ext cx="134549" cy="195707"/>
          </a:xfrm>
          <a:prstGeom prst="rect">
            <a:avLst/>
          </a:prstGeom>
        </p:spPr>
      </p:pic>
      <p:sp>
        <p:nvSpPr>
          <p:cNvPr id="22" name="TextBox 21"/>
          <p:cNvSpPr txBox="1"/>
          <p:nvPr/>
        </p:nvSpPr>
        <p:spPr>
          <a:xfrm>
            <a:off x="8637976"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3475856" cy="194310"/>
          </a:xfrm>
          <a:prstGeom prst="rect">
            <a:avLst/>
          </a:prstGeom>
          <a:noFill/>
        </p:spPr>
        <p:txBody>
          <a:bodyPr wrap="none" lIns="0" rIns="0" tIns="0" bIns="0">
            <a:spAutoFit/>
          </a:bodyPr>
          <a:lstStyle/>
          <a:p>
            <a:r>
              <a:rPr sz="1150" b="0">
                <a:solidFill>
                  <a:srgbClr val="2E2E2E"/>
                </a:solidFill>
                <a:latin typeface="Calibri"/>
              </a:rPr>
              <a:t>▪ 'Tins and Cans' is the most concentrated packaging type</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074118" cy="194310"/>
          </a:xfrm>
          <a:prstGeom prst="rect">
            <a:avLst/>
          </a:prstGeom>
          <a:noFill/>
        </p:spPr>
        <p:txBody>
          <a:bodyPr wrap="none" lIns="0" rIns="0" tIns="0" bIns="0">
            <a:spAutoFit/>
          </a:bodyPr>
          <a:lstStyle/>
          <a:p>
            <a:r>
              <a:rPr sz="1150" b="0">
                <a:solidFill>
                  <a:srgbClr val="2E2E2E"/>
                </a:solidFill>
                <a:latin typeface="Calibri"/>
              </a:rPr>
              <a:t>of its value via 'Supermarkets and</a:t>
            </a:r>
          </a:p>
        </p:txBody>
      </p:sp>
      <p:sp>
        <p:nvSpPr>
          <p:cNvPr id="27" name="TextBox 26"/>
          <p:cNvSpPr txBox="1"/>
          <p:nvPr/>
        </p:nvSpPr>
        <p:spPr>
          <a:xfrm>
            <a:off x="7715250" y="2153793"/>
            <a:ext cx="985874" cy="194310"/>
          </a:xfrm>
          <a:prstGeom prst="rect">
            <a:avLst/>
          </a:prstGeom>
          <a:noFill/>
        </p:spPr>
        <p:txBody>
          <a:bodyPr wrap="none" lIns="0" rIns="0" tIns="0" bIns="0">
            <a:spAutoFit/>
          </a:bodyPr>
          <a:lstStyle/>
          <a:p>
            <a:r>
              <a:rPr sz="1150" b="0">
                <a:solidFill>
                  <a:srgbClr val="2E2E2E"/>
                </a:solidFill>
                <a:latin typeface="Calibri"/>
              </a:rPr>
              <a:t>Hypermarkets'.</a:t>
            </a:r>
          </a:p>
        </p:txBody>
      </p:sp>
      <p:sp>
        <p:nvSpPr>
          <p:cNvPr id="28" name="TextBox 27"/>
          <p:cNvSpPr txBox="1"/>
          <p:nvPr/>
        </p:nvSpPr>
        <p:spPr>
          <a:xfrm>
            <a:off x="7715250" y="2381631"/>
            <a:ext cx="1842206" cy="194310"/>
          </a:xfrm>
          <a:prstGeom prst="rect">
            <a:avLst/>
          </a:prstGeom>
          <a:noFill/>
        </p:spPr>
        <p:txBody>
          <a:bodyPr wrap="none" lIns="0" rIns="0" tIns="0" bIns="0">
            <a:spAutoFit/>
          </a:bodyPr>
          <a:lstStyle/>
          <a:p>
            <a:r>
              <a:rPr sz="1150" b="0">
                <a:solidFill>
                  <a:srgbClr val="2E2E2E"/>
                </a:solidFill>
                <a:latin typeface="Calibri"/>
              </a:rPr>
              <a:t>▪ 'Convenience Stores' gains +</a:t>
            </a:r>
          </a:p>
        </p:txBody>
      </p:sp>
      <p:pic>
        <p:nvPicPr>
          <p:cNvPr id="29" name="Picture 28" descr="lock.png"/>
          <p:cNvPicPr>
            <a:picLocks noChangeAspect="1"/>
          </p:cNvPicPr>
          <p:nvPr/>
        </p:nvPicPr>
        <p:blipFill>
          <a:blip r:embed="rId5"/>
          <a:stretch>
            <a:fillRect/>
          </a:stretch>
        </p:blipFill>
        <p:spPr>
          <a:xfrm>
            <a:off x="9506610" y="2371407"/>
            <a:ext cx="134549" cy="195707"/>
          </a:xfrm>
          <a:prstGeom prst="rect">
            <a:avLst/>
          </a:prstGeom>
        </p:spPr>
      </p:pic>
      <p:sp>
        <p:nvSpPr>
          <p:cNvPr id="30" name="TextBox 29"/>
          <p:cNvSpPr txBox="1"/>
          <p:nvPr/>
        </p:nvSpPr>
        <p:spPr>
          <a:xfrm>
            <a:off x="9681720" y="2381631"/>
            <a:ext cx="1616000" cy="194310"/>
          </a:xfrm>
          <a:prstGeom prst="rect">
            <a:avLst/>
          </a:prstGeom>
          <a:noFill/>
        </p:spPr>
        <p:txBody>
          <a:bodyPr wrap="none" lIns="0" rIns="0" tIns="0" bIns="0">
            <a:spAutoFit/>
          </a:bodyPr>
          <a:lstStyle/>
          <a:p>
            <a:r>
              <a:rPr sz="1150" b="0">
                <a:solidFill>
                  <a:srgbClr val="2E2E2E"/>
                </a:solidFill>
                <a:latin typeface="Calibri"/>
              </a:rPr>
              <a:t>BPS of share of the Global</a:t>
            </a:r>
          </a:p>
        </p:txBody>
      </p:sp>
      <p:sp>
        <p:nvSpPr>
          <p:cNvPr id="31" name="TextBox 30"/>
          <p:cNvSpPr txBox="1"/>
          <p:nvPr/>
        </p:nvSpPr>
        <p:spPr>
          <a:xfrm>
            <a:off x="7715250" y="2556891"/>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2"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Packaging Type × Distribution Channel, 2026E–2036F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Packaging Type × Distribution Channel, 2026E–2036F</a:t>
            </a:r>
          </a:p>
        </p:txBody>
      </p:sp>
      <p:graphicFrame>
        <p:nvGraphicFramePr>
          <p:cNvPr id="12" name="Table 11"/>
          <p:cNvGraphicFramePr>
            <a:graphicFrameLocks noGrp="1"/>
          </p:cNvGraphicFramePr>
          <p:nvPr/>
        </p:nvGraphicFramePr>
        <p:xfrm>
          <a:off x="152400" y="1238250"/>
          <a:ext cx="11887192" cy="3343274"/>
        </p:xfrm>
        <a:graphic>
          <a:graphicData uri="http://schemas.openxmlformats.org/drawingml/2006/table">
            <a:tbl>
              <a:tblPr>
                <a:tableStyleId>{5C22544A-7EE6-4342-B048-85BDC9FD1C3A}</a:tableStyleId>
              </a:tblPr>
              <a:tblGrid>
                <a:gridCol w="1749720"/>
                <a:gridCol w="633592"/>
                <a:gridCol w="633592"/>
                <a:gridCol w="633592"/>
                <a:gridCol w="633592"/>
                <a:gridCol w="633592"/>
                <a:gridCol w="633592"/>
                <a:gridCol w="633592"/>
                <a:gridCol w="633592"/>
                <a:gridCol w="633592"/>
                <a:gridCol w="633592"/>
                <a:gridCol w="633592"/>
                <a:gridCol w="633592"/>
                <a:gridCol w="633592"/>
                <a:gridCol w="633592"/>
                <a:gridCol w="633592"/>
                <a:gridCol w="633592"/>
              </a:tblGrid>
              <a:tr h="631697">
                <a:tc rowSpan="2">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B2B / Institutional</a:t>
                      </a:r>
                      <a:endParaRPr sz="1100"/>
                    </a:p>
                    <a:p>
                      <a:pPr algn="ctr"/>
                      <a:r>
                        <a:rPr sz="1100" b="1">
                          <a:solidFill>
                            <a:srgbClr val="0B2E4A"/>
                          </a:solidFill>
                          <a:latin typeface="Calibri"/>
                        </a:rPr>
                        <a:t>and Ingredient</a:t>
                      </a:r>
                      <a:endParaRPr sz="1100"/>
                    </a:p>
                    <a:p>
                      <a:pPr algn="ctr"/>
                      <a:r>
                        <a:rPr sz="1100" b="1">
                          <a:solidFill>
                            <a:srgbClr val="0B2E4A"/>
                          </a:solidFill>
                          <a:latin typeface="Calibri"/>
                        </a:rPr>
                        <a:t>Sales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Supermarkets and</a:t>
                      </a:r>
                      <a:endParaRPr sz="1100"/>
                    </a:p>
                    <a:p>
                      <a:pPr algn="ctr"/>
                      <a:r>
                        <a:rPr sz="1100" b="1">
                          <a:solidFill>
                            <a:srgbClr val="0B2E4A"/>
                          </a:solidFill>
                          <a:latin typeface="Calibri"/>
                        </a:rPr>
                        <a:t>Hypermarkets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Convenience</a:t>
                      </a:r>
                      <a:endParaRPr sz="1100"/>
                    </a:p>
                    <a:p>
                      <a:pPr algn="ctr"/>
                      <a:r>
                        <a:rPr sz="1100" b="1">
                          <a:solidFill>
                            <a:srgbClr val="0B2E4A"/>
                          </a:solidFill>
                          <a:latin typeface="Calibri"/>
                        </a:rPr>
                        <a:t>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Specialty Tea and</a:t>
                      </a:r>
                      <a:endParaRPr sz="1100"/>
                    </a:p>
                    <a:p>
                      <a:pPr algn="ctr"/>
                      <a:r>
                        <a:rPr sz="1100" b="1">
                          <a:solidFill>
                            <a:srgbClr val="0B2E4A"/>
                          </a:solidFill>
                          <a:latin typeface="Calibri"/>
                        </a:rPr>
                        <a:t>Health Food 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 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HoReCa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Retail</a:t>
                      </a:r>
                      <a:endParaRPr sz="1100"/>
                    </a:p>
                    <a:p>
                      <a:pPr algn="ctr"/>
                      <a:r>
                        <a:rPr sz="1100" b="1">
                          <a:solidFill>
                            <a:srgbClr val="0B2E4A"/>
                          </a:solidFill>
                          <a:latin typeface="Calibri"/>
                        </a:rPr>
                        <a:t>Channels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50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b="1">
                          <a:solidFill>
                            <a:srgbClr val="2E2E2E"/>
                          </a:solidFill>
                          <a:latin typeface="Calibri"/>
                        </a:rPr>
                        <a:t>7.1%</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591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784165" y="3082289"/>
            <a:ext cx="366712" cy="533400"/>
          </a:xfrm>
          <a:prstGeom prst="rect">
            <a:avLst/>
          </a:prstGeom>
        </p:spPr>
      </p:pic>
    </p:spTree>
  </p:cSld>
  <p:clrMapOvr>
    <a:masterClrMapping/>
  </p:clrMapOvr>
</p:sld>
</file>

<file path=ppt/slides/slide12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Absolute $ Opportunity &amp; Attractiveness: Packaging Type × Distribution Channel, 2026E–2036F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5600700" cy="5648325"/>
          </a:xfrm>
          <a:prstGeom prst="roundRect">
            <a:avLst>
              <a:gd name="adj" fmla="val 13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2" name="Rectangle 11"/>
          <p:cNvSpPr/>
          <p:nvPr/>
        </p:nvSpPr>
        <p:spPr>
          <a:xfrm>
            <a:off x="276225" y="13049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334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5895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029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16" name="Rectangle 15"/>
          <p:cNvSpPr/>
          <p:nvPr/>
        </p:nvSpPr>
        <p:spPr>
          <a:xfrm>
            <a:off x="6029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029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79914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81248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0" name="Rectangle 19"/>
          <p:cNvSpPr/>
          <p:nvPr/>
        </p:nvSpPr>
        <p:spPr>
          <a:xfrm>
            <a:off x="81248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248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10086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0220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4" name="Rectangle 23"/>
          <p:cNvSpPr/>
          <p:nvPr/>
        </p:nvSpPr>
        <p:spPr>
          <a:xfrm>
            <a:off x="10220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10220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'Sachets and Stick Packs × Supermarkets and Hypermarkets' ranks highest (5/5); 'Tins and Cans × B2B / Institutional and Ingredient Sales' lowest (1/5), a deprioritised cell.</a:t>
            </a:r>
          </a:p>
        </p:txBody>
      </p:sp>
      <p:sp>
        <p:nvSpPr>
          <p:cNvPr id="26" name="TextBox 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7" name="TextBox 26"/>
          <p:cNvSpPr txBox="1"/>
          <p:nvPr/>
        </p:nvSpPr>
        <p:spPr>
          <a:xfrm>
            <a:off x="276225" y="1400175"/>
            <a:ext cx="3982752" cy="194310"/>
          </a:xfrm>
          <a:prstGeom prst="rect">
            <a:avLst/>
          </a:prstGeom>
          <a:noFill/>
        </p:spPr>
        <p:txBody>
          <a:bodyPr wrap="none" lIns="0" rIns="0" tIns="0" bIns="0">
            <a:spAutoFit/>
          </a:bodyPr>
          <a:lstStyle/>
          <a:p>
            <a:r>
              <a:rPr sz="1150" b="0">
                <a:solidFill>
                  <a:srgbClr val="2E2E2E"/>
                </a:solidFill>
                <a:latin typeface="Calibri"/>
              </a:rPr>
              <a:t>▪ 1. Bulk Industrial Packaging × Supermarkets and Hypermarkets –</a:t>
            </a:r>
          </a:p>
        </p:txBody>
      </p:sp>
      <p:pic>
        <p:nvPicPr>
          <p:cNvPr id="28" name="Picture 27" descr="lock.png"/>
          <p:cNvPicPr>
            <a:picLocks noChangeAspect="1"/>
          </p:cNvPicPr>
          <p:nvPr/>
        </p:nvPicPr>
        <p:blipFill>
          <a:blip r:embed="rId4"/>
          <a:stretch>
            <a:fillRect/>
          </a:stretch>
        </p:blipFill>
        <p:spPr>
          <a:xfrm>
            <a:off x="4208131" y="1389951"/>
            <a:ext cx="134549" cy="195707"/>
          </a:xfrm>
          <a:prstGeom prst="rect">
            <a:avLst/>
          </a:prstGeom>
        </p:spPr>
      </p:pic>
      <p:sp>
        <p:nvSpPr>
          <p:cNvPr id="29" name="TextBox 28"/>
          <p:cNvSpPr txBox="1"/>
          <p:nvPr/>
        </p:nvSpPr>
        <p:spPr>
          <a:xfrm>
            <a:off x="4383240" y="1400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4"/>
          <a:stretch>
            <a:fillRect/>
          </a:stretch>
        </p:blipFill>
        <p:spPr>
          <a:xfrm>
            <a:off x="4445392" y="1389951"/>
            <a:ext cx="134549" cy="195707"/>
          </a:xfrm>
          <a:prstGeom prst="rect">
            <a:avLst/>
          </a:prstGeom>
        </p:spPr>
      </p:pic>
      <p:sp>
        <p:nvSpPr>
          <p:cNvPr id="31" name="TextBox 30"/>
          <p:cNvSpPr txBox="1"/>
          <p:nvPr/>
        </p:nvSpPr>
        <p:spPr>
          <a:xfrm>
            <a:off x="4620501" y="14001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2" name="TextBox 31"/>
          <p:cNvSpPr txBox="1"/>
          <p:nvPr/>
        </p:nvSpPr>
        <p:spPr>
          <a:xfrm>
            <a:off x="276225" y="1628013"/>
            <a:ext cx="3004901" cy="194310"/>
          </a:xfrm>
          <a:prstGeom prst="rect">
            <a:avLst/>
          </a:prstGeom>
          <a:noFill/>
        </p:spPr>
        <p:txBody>
          <a:bodyPr wrap="none" lIns="0" rIns="0" tIns="0" bIns="0">
            <a:spAutoFit/>
          </a:bodyPr>
          <a:lstStyle/>
          <a:p>
            <a:r>
              <a:rPr sz="1150" b="0">
                <a:solidFill>
                  <a:srgbClr val="2E2E2E"/>
                </a:solidFill>
                <a:latin typeface="Calibri"/>
              </a:rPr>
              <a:t>▪ 2. Pouches × Supermarkets and Hypermarkets –</a:t>
            </a:r>
          </a:p>
        </p:txBody>
      </p:sp>
      <p:pic>
        <p:nvPicPr>
          <p:cNvPr id="33" name="Picture 32" descr="lock.png"/>
          <p:cNvPicPr>
            <a:picLocks noChangeAspect="1"/>
          </p:cNvPicPr>
          <p:nvPr/>
        </p:nvPicPr>
        <p:blipFill>
          <a:blip r:embed="rId4"/>
          <a:stretch>
            <a:fillRect/>
          </a:stretch>
        </p:blipFill>
        <p:spPr>
          <a:xfrm>
            <a:off x="3230280" y="1617789"/>
            <a:ext cx="134549" cy="195707"/>
          </a:xfrm>
          <a:prstGeom prst="rect">
            <a:avLst/>
          </a:prstGeom>
        </p:spPr>
      </p:pic>
      <p:sp>
        <p:nvSpPr>
          <p:cNvPr id="34" name="TextBox 33"/>
          <p:cNvSpPr txBox="1"/>
          <p:nvPr/>
        </p:nvSpPr>
        <p:spPr>
          <a:xfrm>
            <a:off x="3405390" y="1628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3467541" y="1617789"/>
            <a:ext cx="134549" cy="195707"/>
          </a:xfrm>
          <a:prstGeom prst="rect">
            <a:avLst/>
          </a:prstGeom>
        </p:spPr>
      </p:pic>
      <p:sp>
        <p:nvSpPr>
          <p:cNvPr id="36" name="TextBox 35"/>
          <p:cNvSpPr txBox="1"/>
          <p:nvPr/>
        </p:nvSpPr>
        <p:spPr>
          <a:xfrm>
            <a:off x="3642651" y="16280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37" name="TextBox 36"/>
          <p:cNvSpPr txBox="1"/>
          <p:nvPr/>
        </p:nvSpPr>
        <p:spPr>
          <a:xfrm>
            <a:off x="276225" y="1855851"/>
            <a:ext cx="3893182" cy="194310"/>
          </a:xfrm>
          <a:prstGeom prst="rect">
            <a:avLst/>
          </a:prstGeom>
          <a:noFill/>
        </p:spPr>
        <p:txBody>
          <a:bodyPr wrap="none" lIns="0" rIns="0" tIns="0" bIns="0">
            <a:spAutoFit/>
          </a:bodyPr>
          <a:lstStyle/>
          <a:p>
            <a:r>
              <a:rPr sz="1150" b="0">
                <a:solidFill>
                  <a:srgbClr val="2E2E2E"/>
                </a:solidFill>
                <a:latin typeface="Calibri"/>
              </a:rPr>
              <a:t>▪ 3. Sachets and Stick Packs × Supermarkets and Hypermarkets –</a:t>
            </a:r>
          </a:p>
        </p:txBody>
      </p:sp>
      <p:pic>
        <p:nvPicPr>
          <p:cNvPr id="38" name="Picture 37" descr="lock.png"/>
          <p:cNvPicPr>
            <a:picLocks noChangeAspect="1"/>
          </p:cNvPicPr>
          <p:nvPr/>
        </p:nvPicPr>
        <p:blipFill>
          <a:blip r:embed="rId4"/>
          <a:stretch>
            <a:fillRect/>
          </a:stretch>
        </p:blipFill>
        <p:spPr>
          <a:xfrm>
            <a:off x="4118561" y="1845627"/>
            <a:ext cx="134549" cy="195707"/>
          </a:xfrm>
          <a:prstGeom prst="rect">
            <a:avLst/>
          </a:prstGeom>
        </p:spPr>
      </p:pic>
      <p:sp>
        <p:nvSpPr>
          <p:cNvPr id="39" name="TextBox 38"/>
          <p:cNvSpPr txBox="1"/>
          <p:nvPr/>
        </p:nvSpPr>
        <p:spPr>
          <a:xfrm>
            <a:off x="4293670" y="1855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4355822" y="1845627"/>
            <a:ext cx="134549" cy="195707"/>
          </a:xfrm>
          <a:prstGeom prst="rect">
            <a:avLst/>
          </a:prstGeom>
        </p:spPr>
      </p:pic>
      <p:sp>
        <p:nvSpPr>
          <p:cNvPr id="41" name="TextBox 40"/>
          <p:cNvSpPr txBox="1"/>
          <p:nvPr/>
        </p:nvSpPr>
        <p:spPr>
          <a:xfrm>
            <a:off x="4530931" y="1855851"/>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2" name="TextBox 41"/>
          <p:cNvSpPr txBox="1"/>
          <p:nvPr/>
        </p:nvSpPr>
        <p:spPr>
          <a:xfrm>
            <a:off x="276225" y="2083689"/>
            <a:ext cx="2219312" cy="194310"/>
          </a:xfrm>
          <a:prstGeom prst="rect">
            <a:avLst/>
          </a:prstGeom>
          <a:noFill/>
        </p:spPr>
        <p:txBody>
          <a:bodyPr wrap="none" lIns="0" rIns="0" tIns="0" bIns="0">
            <a:spAutoFit/>
          </a:bodyPr>
          <a:lstStyle/>
          <a:p>
            <a:r>
              <a:rPr sz="1150" b="0">
                <a:solidFill>
                  <a:srgbClr val="2E2E2E"/>
                </a:solidFill>
                <a:latin typeface="Calibri"/>
              </a:rPr>
              <a:t>▪ 4. Pouches × Convenience Stores –</a:t>
            </a:r>
          </a:p>
        </p:txBody>
      </p:sp>
      <p:pic>
        <p:nvPicPr>
          <p:cNvPr id="43" name="Picture 42" descr="lock.png"/>
          <p:cNvPicPr>
            <a:picLocks noChangeAspect="1"/>
          </p:cNvPicPr>
          <p:nvPr/>
        </p:nvPicPr>
        <p:blipFill>
          <a:blip r:embed="rId4"/>
          <a:stretch>
            <a:fillRect/>
          </a:stretch>
        </p:blipFill>
        <p:spPr>
          <a:xfrm>
            <a:off x="2444691" y="2073465"/>
            <a:ext cx="134549" cy="195707"/>
          </a:xfrm>
          <a:prstGeom prst="rect">
            <a:avLst/>
          </a:prstGeom>
        </p:spPr>
      </p:pic>
      <p:sp>
        <p:nvSpPr>
          <p:cNvPr id="44" name="TextBox 43"/>
          <p:cNvSpPr txBox="1"/>
          <p:nvPr/>
        </p:nvSpPr>
        <p:spPr>
          <a:xfrm>
            <a:off x="2619800" y="2083689"/>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2681952" y="2073465"/>
            <a:ext cx="134549" cy="195707"/>
          </a:xfrm>
          <a:prstGeom prst="rect">
            <a:avLst/>
          </a:prstGeom>
        </p:spPr>
      </p:pic>
      <p:sp>
        <p:nvSpPr>
          <p:cNvPr id="46" name="TextBox 45"/>
          <p:cNvSpPr txBox="1"/>
          <p:nvPr/>
        </p:nvSpPr>
        <p:spPr>
          <a:xfrm>
            <a:off x="2857061" y="2083689"/>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7" name="TextBox 46"/>
          <p:cNvSpPr txBox="1"/>
          <p:nvPr/>
        </p:nvSpPr>
        <p:spPr>
          <a:xfrm>
            <a:off x="276225" y="2311527"/>
            <a:ext cx="2795525" cy="194310"/>
          </a:xfrm>
          <a:prstGeom prst="rect">
            <a:avLst/>
          </a:prstGeom>
          <a:noFill/>
        </p:spPr>
        <p:txBody>
          <a:bodyPr wrap="none" lIns="0" rIns="0" tIns="0" bIns="0">
            <a:spAutoFit/>
          </a:bodyPr>
          <a:lstStyle/>
          <a:p>
            <a:r>
              <a:rPr sz="1150" b="0">
                <a:solidFill>
                  <a:srgbClr val="2E2E2E"/>
                </a:solidFill>
                <a:latin typeface="Calibri"/>
              </a:rPr>
              <a:t>▪ 5. Cups × Supermarkets and Hypermarkets –</a:t>
            </a:r>
          </a:p>
        </p:txBody>
      </p:sp>
      <p:pic>
        <p:nvPicPr>
          <p:cNvPr id="48" name="Picture 47" descr="lock.png"/>
          <p:cNvPicPr>
            <a:picLocks noChangeAspect="1"/>
          </p:cNvPicPr>
          <p:nvPr/>
        </p:nvPicPr>
        <p:blipFill>
          <a:blip r:embed="rId4"/>
          <a:stretch>
            <a:fillRect/>
          </a:stretch>
        </p:blipFill>
        <p:spPr>
          <a:xfrm>
            <a:off x="3020904" y="2301303"/>
            <a:ext cx="134549" cy="195707"/>
          </a:xfrm>
          <a:prstGeom prst="rect">
            <a:avLst/>
          </a:prstGeom>
        </p:spPr>
      </p:pic>
      <p:sp>
        <p:nvSpPr>
          <p:cNvPr id="49" name="TextBox 48"/>
          <p:cNvSpPr txBox="1"/>
          <p:nvPr/>
        </p:nvSpPr>
        <p:spPr>
          <a:xfrm>
            <a:off x="3196013" y="231152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3258165" y="2301303"/>
            <a:ext cx="134549" cy="195707"/>
          </a:xfrm>
          <a:prstGeom prst="rect">
            <a:avLst/>
          </a:prstGeom>
        </p:spPr>
      </p:pic>
      <p:sp>
        <p:nvSpPr>
          <p:cNvPr id="51" name="TextBox 50"/>
          <p:cNvSpPr txBox="1"/>
          <p:nvPr/>
        </p:nvSpPr>
        <p:spPr>
          <a:xfrm>
            <a:off x="3433274" y="231152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2" name="TextBox 51"/>
          <p:cNvSpPr txBox="1"/>
          <p:nvPr/>
        </p:nvSpPr>
        <p:spPr>
          <a:xfrm>
            <a:off x="6029325" y="1400175"/>
            <a:ext cx="1657350" cy="194310"/>
          </a:xfrm>
          <a:prstGeom prst="rect">
            <a:avLst/>
          </a:prstGeom>
          <a:noFill/>
        </p:spPr>
        <p:txBody>
          <a:bodyPr wrap="none" lIns="0" rIns="0" tIns="0" bIns="0">
            <a:spAutoFit/>
          </a:bodyPr>
          <a:lstStyle/>
          <a:p>
            <a:r>
              <a:rPr sz="1150" b="0">
                <a:solidFill>
                  <a:srgbClr val="2E2E2E"/>
                </a:solidFill>
                <a:latin typeface="Calibri"/>
              </a:rPr>
              <a:t>▪ 'Bulk Industrial Packaging</a:t>
            </a:r>
          </a:p>
        </p:txBody>
      </p:sp>
      <p:sp>
        <p:nvSpPr>
          <p:cNvPr id="53" name="TextBox 52"/>
          <p:cNvSpPr txBox="1"/>
          <p:nvPr/>
        </p:nvSpPr>
        <p:spPr>
          <a:xfrm>
            <a:off x="6029325" y="1575435"/>
            <a:ext cx="1265708" cy="194310"/>
          </a:xfrm>
          <a:prstGeom prst="rect">
            <a:avLst/>
          </a:prstGeom>
          <a:noFill/>
        </p:spPr>
        <p:txBody>
          <a:bodyPr wrap="none" lIns="0" rIns="0" tIns="0" bIns="0">
            <a:spAutoFit/>
          </a:bodyPr>
          <a:lstStyle/>
          <a:p>
            <a:r>
              <a:rPr sz="1150" b="0">
                <a:solidFill>
                  <a:srgbClr val="2E2E2E"/>
                </a:solidFill>
                <a:latin typeface="Calibri"/>
              </a:rPr>
              <a:t>× Supermarkets and</a:t>
            </a:r>
          </a:p>
        </p:txBody>
      </p:sp>
      <p:sp>
        <p:nvSpPr>
          <p:cNvPr id="54" name="TextBox 53"/>
          <p:cNvSpPr txBox="1"/>
          <p:nvPr/>
        </p:nvSpPr>
        <p:spPr>
          <a:xfrm>
            <a:off x="6029325" y="1750695"/>
            <a:ext cx="1262570" cy="194310"/>
          </a:xfrm>
          <a:prstGeom prst="rect">
            <a:avLst/>
          </a:prstGeom>
          <a:noFill/>
        </p:spPr>
        <p:txBody>
          <a:bodyPr wrap="none" lIns="0" rIns="0" tIns="0" bIns="0">
            <a:spAutoFit/>
          </a:bodyPr>
          <a:lstStyle/>
          <a:p>
            <a:r>
              <a:rPr sz="1150" b="0">
                <a:solidFill>
                  <a:srgbClr val="2E2E2E"/>
                </a:solidFill>
                <a:latin typeface="Calibri"/>
              </a:rPr>
              <a:t>Hypermarkets' adds</a:t>
            </a:r>
          </a:p>
        </p:txBody>
      </p:sp>
      <p:pic>
        <p:nvPicPr>
          <p:cNvPr id="55" name="Picture 54" descr="lock.png"/>
          <p:cNvPicPr>
            <a:picLocks noChangeAspect="1"/>
          </p:cNvPicPr>
          <p:nvPr/>
        </p:nvPicPr>
        <p:blipFill>
          <a:blip r:embed="rId4"/>
          <a:stretch>
            <a:fillRect/>
          </a:stretch>
        </p:blipFill>
        <p:spPr>
          <a:xfrm>
            <a:off x="7241049" y="1740471"/>
            <a:ext cx="134549" cy="195707"/>
          </a:xfrm>
          <a:prstGeom prst="rect">
            <a:avLst/>
          </a:prstGeom>
        </p:spPr>
      </p:pic>
      <p:sp>
        <p:nvSpPr>
          <p:cNvPr id="56" name="TextBox 55"/>
          <p:cNvSpPr txBox="1"/>
          <p:nvPr/>
        </p:nvSpPr>
        <p:spPr>
          <a:xfrm>
            <a:off x="6029325" y="192595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7" name="Picture 56" descr="lock.png"/>
          <p:cNvPicPr>
            <a:picLocks noChangeAspect="1"/>
          </p:cNvPicPr>
          <p:nvPr/>
        </p:nvPicPr>
        <p:blipFill>
          <a:blip r:embed="rId4"/>
          <a:stretch>
            <a:fillRect/>
          </a:stretch>
        </p:blipFill>
        <p:spPr>
          <a:xfrm>
            <a:off x="7203111" y="1915731"/>
            <a:ext cx="134549" cy="195707"/>
          </a:xfrm>
          <a:prstGeom prst="rect">
            <a:avLst/>
          </a:prstGeom>
        </p:spPr>
      </p:pic>
      <p:sp>
        <p:nvSpPr>
          <p:cNvPr id="58" name="TextBox 57"/>
          <p:cNvSpPr txBox="1"/>
          <p:nvPr/>
        </p:nvSpPr>
        <p:spPr>
          <a:xfrm>
            <a:off x="7378220" y="1925955"/>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9" name="TextBox 58"/>
          <p:cNvSpPr txBox="1"/>
          <p:nvPr/>
        </p:nvSpPr>
        <p:spPr>
          <a:xfrm>
            <a:off x="6029325" y="2101215"/>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0" name="TextBox 59"/>
          <p:cNvSpPr txBox="1"/>
          <p:nvPr/>
        </p:nvSpPr>
        <p:spPr>
          <a:xfrm>
            <a:off x="8124825" y="1400175"/>
            <a:ext cx="1657350" cy="194310"/>
          </a:xfrm>
          <a:prstGeom prst="rect">
            <a:avLst/>
          </a:prstGeom>
          <a:noFill/>
        </p:spPr>
        <p:txBody>
          <a:bodyPr wrap="none" lIns="0" rIns="0" tIns="0" bIns="0">
            <a:spAutoFit/>
          </a:bodyPr>
          <a:lstStyle/>
          <a:p>
            <a:r>
              <a:rPr sz="1150" b="0">
                <a:solidFill>
                  <a:srgbClr val="2E2E2E"/>
                </a:solidFill>
                <a:latin typeface="Calibri"/>
              </a:rPr>
              <a:t>▪ 'Sachets and Stick Packs ×</a:t>
            </a:r>
          </a:p>
        </p:txBody>
      </p:sp>
      <p:sp>
        <p:nvSpPr>
          <p:cNvPr id="61" name="TextBox 60"/>
          <p:cNvSpPr txBox="1"/>
          <p:nvPr/>
        </p:nvSpPr>
        <p:spPr>
          <a:xfrm>
            <a:off x="8124825" y="1575435"/>
            <a:ext cx="1407765" cy="194310"/>
          </a:xfrm>
          <a:prstGeom prst="rect">
            <a:avLst/>
          </a:prstGeom>
          <a:noFill/>
        </p:spPr>
        <p:txBody>
          <a:bodyPr wrap="none" lIns="0" rIns="0" tIns="0" bIns="0">
            <a:spAutoFit/>
          </a:bodyPr>
          <a:lstStyle/>
          <a:p>
            <a:r>
              <a:rPr sz="1150" b="0">
                <a:solidFill>
                  <a:srgbClr val="2E2E2E"/>
                </a:solidFill>
                <a:latin typeface="Calibri"/>
              </a:rPr>
              <a:t>B2B / Institutional and</a:t>
            </a:r>
          </a:p>
        </p:txBody>
      </p:sp>
      <p:sp>
        <p:nvSpPr>
          <p:cNvPr id="62" name="TextBox 61"/>
          <p:cNvSpPr txBox="1"/>
          <p:nvPr/>
        </p:nvSpPr>
        <p:spPr>
          <a:xfrm>
            <a:off x="8124825" y="1750695"/>
            <a:ext cx="1657350" cy="194310"/>
          </a:xfrm>
          <a:prstGeom prst="rect">
            <a:avLst/>
          </a:prstGeom>
          <a:noFill/>
        </p:spPr>
        <p:txBody>
          <a:bodyPr wrap="none" lIns="0" rIns="0" tIns="0" bIns="0">
            <a:spAutoFit/>
          </a:bodyPr>
          <a:lstStyle/>
          <a:p>
            <a:r>
              <a:rPr sz="1150" b="0">
                <a:solidFill>
                  <a:srgbClr val="2E2E2E"/>
                </a:solidFill>
                <a:latin typeface="Calibri"/>
              </a:rPr>
              <a:t>Ingredient Sales' grows at a</a:t>
            </a:r>
          </a:p>
        </p:txBody>
      </p:sp>
      <p:pic>
        <p:nvPicPr>
          <p:cNvPr id="63" name="Picture 62" descr="lock.png"/>
          <p:cNvPicPr>
            <a:picLocks noChangeAspect="1"/>
          </p:cNvPicPr>
          <p:nvPr/>
        </p:nvPicPr>
        <p:blipFill>
          <a:blip r:embed="rId4"/>
          <a:stretch>
            <a:fillRect/>
          </a:stretch>
        </p:blipFill>
        <p:spPr>
          <a:xfrm>
            <a:off x="8110745" y="1915731"/>
            <a:ext cx="134549" cy="195707"/>
          </a:xfrm>
          <a:prstGeom prst="rect">
            <a:avLst/>
          </a:prstGeom>
        </p:spPr>
      </p:pic>
      <p:sp>
        <p:nvSpPr>
          <p:cNvPr id="64" name="TextBox 63"/>
          <p:cNvSpPr txBox="1"/>
          <p:nvPr/>
        </p:nvSpPr>
        <p:spPr>
          <a:xfrm>
            <a:off x="8285854" y="192595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5" name="Picture 64" descr="lock.png"/>
          <p:cNvPicPr>
            <a:picLocks noChangeAspect="1"/>
          </p:cNvPicPr>
          <p:nvPr/>
        </p:nvPicPr>
        <p:blipFill>
          <a:blip r:embed="rId4"/>
          <a:stretch>
            <a:fillRect/>
          </a:stretch>
        </p:blipFill>
        <p:spPr>
          <a:xfrm>
            <a:off x="8681450" y="1915731"/>
            <a:ext cx="134549" cy="195707"/>
          </a:xfrm>
          <a:prstGeom prst="rect">
            <a:avLst/>
          </a:prstGeom>
        </p:spPr>
      </p:pic>
      <p:sp>
        <p:nvSpPr>
          <p:cNvPr id="66" name="TextBox 65"/>
          <p:cNvSpPr txBox="1"/>
          <p:nvPr/>
        </p:nvSpPr>
        <p:spPr>
          <a:xfrm>
            <a:off x="8856559" y="1925955"/>
            <a:ext cx="693774" cy="194310"/>
          </a:xfrm>
          <a:prstGeom prst="rect">
            <a:avLst/>
          </a:prstGeom>
          <a:noFill/>
        </p:spPr>
        <p:txBody>
          <a:bodyPr wrap="none" lIns="0" rIns="0" tIns="0" bIns="0">
            <a:spAutoFit/>
          </a:bodyPr>
          <a:lstStyle/>
          <a:p>
            <a:r>
              <a:rPr sz="1150" b="0">
                <a:solidFill>
                  <a:srgbClr val="2E2E2E"/>
                </a:solidFill>
                <a:latin typeface="Calibri"/>
              </a:rPr>
              <a:t>BPS above</a:t>
            </a:r>
          </a:p>
        </p:txBody>
      </p:sp>
      <p:sp>
        <p:nvSpPr>
          <p:cNvPr id="67" name="TextBox 66"/>
          <p:cNvSpPr txBox="1"/>
          <p:nvPr/>
        </p:nvSpPr>
        <p:spPr>
          <a:xfrm>
            <a:off x="8124825" y="2101215"/>
            <a:ext cx="1121655" cy="194310"/>
          </a:xfrm>
          <a:prstGeom prst="rect">
            <a:avLst/>
          </a:prstGeom>
          <a:noFill/>
        </p:spPr>
        <p:txBody>
          <a:bodyPr wrap="none" lIns="0" rIns="0" tIns="0" bIns="0">
            <a:spAutoFit/>
          </a:bodyPr>
          <a:lstStyle/>
          <a:p>
            <a:r>
              <a:rPr sz="1150" b="0">
                <a:solidFill>
                  <a:srgbClr val="2E2E2E"/>
                </a:solidFill>
                <a:latin typeface="Calibri"/>
              </a:rPr>
              <a:t>the cross-section.</a:t>
            </a:r>
          </a:p>
        </p:txBody>
      </p:sp>
    </p:spTree>
  </p:cSld>
  <p:clrMapOvr>
    <a:masterClrMapping/>
  </p:clrMapOvr>
</p:sld>
</file>

<file path=ppt/slides/slide123.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200910"/>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2505710"/>
            <a:ext cx="7239000" cy="971550"/>
          </a:xfrm>
          <a:prstGeom prst="rect">
            <a:avLst/>
          </a:prstGeom>
          <a:noFill/>
        </p:spPr>
        <p:txBody>
          <a:bodyPr wrap="square" lIns="0" rIns="0" tIns="0">
            <a:spAutoFit/>
          </a:bodyPr>
          <a:lstStyle/>
          <a:p>
            <a:r>
              <a:rPr sz="3000" b="1" cap="all" spc="400">
                <a:solidFill>
                  <a:srgbClr val="FFFFFF"/>
                </a:solidFill>
                <a:latin typeface="Calibri"/>
              </a:rPr>
              <a:t>North America Market Outlook</a:t>
            </a:r>
          </a:p>
        </p:txBody>
      </p:sp>
      <p:sp>
        <p:nvSpPr>
          <p:cNvPr id="7" name="TextBox 6"/>
          <p:cNvSpPr txBox="1"/>
          <p:nvPr/>
        </p:nvSpPr>
        <p:spPr>
          <a:xfrm>
            <a:off x="914400" y="3667760"/>
            <a:ext cx="5067300" cy="237871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Overview</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Country</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North America Market Analysis By Segments</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Nature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Form</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Flavour</a:t>
            </a:r>
          </a:p>
        </p:txBody>
      </p:sp>
      <p:sp>
        <p:nvSpPr>
          <p:cNvPr id="8" name="TextBox 7"/>
          <p:cNvSpPr txBox="1"/>
          <p:nvPr/>
        </p:nvSpPr>
        <p:spPr>
          <a:xfrm>
            <a:off x="6096000" y="3667760"/>
            <a:ext cx="5067300" cy="2418080"/>
          </a:xfrm>
          <a:prstGeom prst="rect">
            <a:avLst/>
          </a:prstGeom>
          <a:noFill/>
        </p:spPr>
        <p:txBody>
          <a:bodyPr wrap="square" lIns="0" rIns="0" tIns="0" bIns="0">
            <a:spAutoFit/>
          </a:bodyPr>
          <a:lstStyle/>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Packaging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Grade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By Distribution Channel</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Cross-sectional Assessment</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 × Nature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Form × 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Packaging Type × Distribution Channel</a:t>
            </a:r>
          </a:p>
        </p:txBody>
      </p:sp>
      <p:sp>
        <p:nvSpPr>
          <p:cNvPr id="9" name="TextBox 8"/>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12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North America Overview</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Pricing &amp; Price Index</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Market Summary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Volume &amp; Value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Country Outlook</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Summary, By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volume growth, incremental opportunity and the geographies driving it, 2021–2036</a:t>
            </a:r>
          </a:p>
        </p:txBody>
      </p:sp>
      <p:sp>
        <p:nvSpPr>
          <p:cNvPr id="10" name="Rounded Rectangle 9"/>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(MT)</a:t>
            </a:r>
          </a:p>
          <a:p>
            <a:pPr algn="ctr">
              <a:lnSpc>
                <a:spcPct val="95000"/>
              </a:lnSpc>
            </a:pPr>
            <a:r>
              <a:rPr sz="1500" b="1">
                <a:solidFill>
                  <a:srgbClr val="0E72AE"/>
                </a:solidFill>
                <a:latin typeface="Calibri"/>
              </a:rPr>
              <a:t> </a:t>
            </a:r>
          </a:p>
        </p:txBody>
      </p:sp>
      <p:sp>
        <p:nvSpPr>
          <p:cNvPr id="11" name="Rounded Rectangle 10"/>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p:txBody>
      </p:sp>
      <p:sp>
        <p:nvSpPr>
          <p:cNvPr id="12" name="Rounded Rectangle 11"/>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3" name="Rounded Rectangle 12"/>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4" name="Rounded Rectangle 13"/>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6" name="Chart 15"/>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7" name="Rounded Rectangle 16"/>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(MT)</a:t>
            </a:r>
          </a:p>
        </p:txBody>
      </p:sp>
      <p:graphicFrame>
        <p:nvGraphicFramePr>
          <p:cNvPr id="19" name="Chart 18"/>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0" name="Rounded Rectangle 19"/>
          <p:cNvSpPr/>
          <p:nvPr/>
        </p:nvSpPr>
        <p:spPr>
          <a:xfrm>
            <a:off x="7915275" y="1627887"/>
            <a:ext cx="41338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2" name="Rectangle 21"/>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048625" y="2037462"/>
            <a:ext cx="38671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Rounded Rectangle 23"/>
          <p:cNvSpPr/>
          <p:nvPr/>
        </p:nvSpPr>
        <p:spPr>
          <a:xfrm>
            <a:off x="7915275" y="4037375"/>
            <a:ext cx="413385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048625" y="4123100"/>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6" name="Rectangle 25"/>
          <p:cNvSpPr/>
          <p:nvPr/>
        </p:nvSpPr>
        <p:spPr>
          <a:xfrm>
            <a:off x="8048625" y="436122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048625" y="4446950"/>
            <a:ext cx="3867150" cy="20332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6"/>
          <a:stretch>
            <a:fillRect/>
          </a:stretch>
        </p:blipFill>
        <p:spPr>
          <a:xfrm>
            <a:off x="1502569" y="1250587"/>
            <a:ext cx="157162" cy="228600"/>
          </a:xfrm>
          <a:prstGeom prst="rect">
            <a:avLst/>
          </a:prstGeom>
        </p:spPr>
      </p:pic>
      <p:pic>
        <p:nvPicPr>
          <p:cNvPr id="30" name="Picture 29" descr="lock.png"/>
          <p:cNvPicPr>
            <a:picLocks noChangeAspect="1"/>
          </p:cNvPicPr>
          <p:nvPr/>
        </p:nvPicPr>
        <p:blipFill>
          <a:blip r:embed="rId6"/>
          <a:stretch>
            <a:fillRect/>
          </a:stretch>
        </p:blipFill>
        <p:spPr>
          <a:xfrm>
            <a:off x="4502944"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75128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105227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3991062" y="5157531"/>
            <a:ext cx="289830" cy="421571"/>
          </a:xfrm>
          <a:prstGeom prst="rect">
            <a:avLst/>
          </a:prstGeom>
        </p:spPr>
      </p:pic>
      <p:sp>
        <p:nvSpPr>
          <p:cNvPr id="34" name="TextBox 33"/>
          <p:cNvSpPr txBox="1"/>
          <p:nvPr/>
        </p:nvSpPr>
        <p:spPr>
          <a:xfrm>
            <a:off x="8048625" y="2046987"/>
            <a:ext cx="3262486" cy="194310"/>
          </a:xfrm>
          <a:prstGeom prst="rect">
            <a:avLst/>
          </a:prstGeom>
          <a:noFill/>
        </p:spPr>
        <p:txBody>
          <a:bodyPr wrap="none" lIns="0" rIns="0" tIns="0" bIns="0">
            <a:spAutoFit/>
          </a:bodyPr>
          <a:lstStyle/>
          <a:p>
            <a:r>
              <a:rPr sz="1150" b="0">
                <a:solidFill>
                  <a:srgbClr val="2E2E2E"/>
                </a:solidFill>
                <a:latin typeface="Calibri"/>
              </a:rPr>
              <a:t>North America matcha market is projected to register</a:t>
            </a:r>
          </a:p>
        </p:txBody>
      </p:sp>
      <p:pic>
        <p:nvPicPr>
          <p:cNvPr id="35" name="Picture 34" descr="lock.png"/>
          <p:cNvPicPr>
            <a:picLocks noChangeAspect="1"/>
          </p:cNvPicPr>
          <p:nvPr/>
        </p:nvPicPr>
        <p:blipFill>
          <a:blip r:embed="rId6"/>
          <a:stretch>
            <a:fillRect/>
          </a:stretch>
        </p:blipFill>
        <p:spPr>
          <a:xfrm>
            <a:off x="11260265" y="2036763"/>
            <a:ext cx="134549" cy="195707"/>
          </a:xfrm>
          <a:prstGeom prst="rect">
            <a:avLst/>
          </a:prstGeom>
        </p:spPr>
      </p:pic>
      <p:sp>
        <p:nvSpPr>
          <p:cNvPr id="36" name="TextBox 35"/>
          <p:cNvSpPr txBox="1"/>
          <p:nvPr/>
        </p:nvSpPr>
        <p:spPr>
          <a:xfrm>
            <a:off x="11435374" y="2046987"/>
            <a:ext cx="152077" cy="194310"/>
          </a:xfrm>
          <a:prstGeom prst="rect">
            <a:avLst/>
          </a:prstGeom>
          <a:noFill/>
        </p:spPr>
        <p:txBody>
          <a:bodyPr wrap="none" lIns="0" rIns="0" tIns="0" bIns="0">
            <a:spAutoFit/>
          </a:bodyPr>
          <a:lstStyle/>
          <a:p>
            <a:r>
              <a:rPr sz="1150" b="0">
                <a:solidFill>
                  <a:srgbClr val="2E2E2E"/>
                </a:solidFill>
                <a:latin typeface="Calibri"/>
              </a:rPr>
              <a:t>X</a:t>
            </a:r>
          </a:p>
        </p:txBody>
      </p:sp>
      <p:sp>
        <p:nvSpPr>
          <p:cNvPr id="37" name="TextBox 36"/>
          <p:cNvSpPr txBox="1"/>
          <p:nvPr/>
        </p:nvSpPr>
        <p:spPr>
          <a:xfrm>
            <a:off x="8048625" y="2222247"/>
            <a:ext cx="3734581" cy="194310"/>
          </a:xfrm>
          <a:prstGeom prst="rect">
            <a:avLst/>
          </a:prstGeom>
          <a:noFill/>
        </p:spPr>
        <p:txBody>
          <a:bodyPr wrap="none" lIns="0" rIns="0" tIns="0" bIns="0">
            <a:spAutoFit/>
          </a:bodyPr>
          <a:lstStyle/>
          <a:p>
            <a:r>
              <a:rPr sz="1150" b="0">
                <a:solidFill>
                  <a:srgbClr val="2E2E2E"/>
                </a:solidFill>
                <a:latin typeface="Calibri"/>
              </a:rPr>
              <a:t>increase in volume by the end of forecast period, 2036. North</a:t>
            </a:r>
          </a:p>
        </p:txBody>
      </p:sp>
      <p:sp>
        <p:nvSpPr>
          <p:cNvPr id="38" name="TextBox 37"/>
          <p:cNvSpPr txBox="1"/>
          <p:nvPr/>
        </p:nvSpPr>
        <p:spPr>
          <a:xfrm>
            <a:off x="8048625" y="2397507"/>
            <a:ext cx="2500572" cy="194310"/>
          </a:xfrm>
          <a:prstGeom prst="rect">
            <a:avLst/>
          </a:prstGeom>
          <a:noFill/>
        </p:spPr>
        <p:txBody>
          <a:bodyPr wrap="none" lIns="0" rIns="0" tIns="0" bIns="0">
            <a:spAutoFit/>
          </a:bodyPr>
          <a:lstStyle/>
          <a:p>
            <a:r>
              <a:rPr sz="1150" b="0">
                <a:solidFill>
                  <a:srgbClr val="2E2E2E"/>
                </a:solidFill>
                <a:latin typeface="Calibri"/>
              </a:rPr>
              <a:t>America matcha market volume stood at</a:t>
            </a:r>
          </a:p>
        </p:txBody>
      </p:sp>
      <p:pic>
        <p:nvPicPr>
          <p:cNvPr id="39" name="Picture 38" descr="lock.png"/>
          <p:cNvPicPr>
            <a:picLocks noChangeAspect="1"/>
          </p:cNvPicPr>
          <p:nvPr/>
        </p:nvPicPr>
        <p:blipFill>
          <a:blip r:embed="rId6"/>
          <a:stretch>
            <a:fillRect/>
          </a:stretch>
        </p:blipFill>
        <p:spPr>
          <a:xfrm>
            <a:off x="10498351" y="2387283"/>
            <a:ext cx="134549" cy="195707"/>
          </a:xfrm>
          <a:prstGeom prst="rect">
            <a:avLst/>
          </a:prstGeom>
        </p:spPr>
      </p:pic>
      <p:sp>
        <p:nvSpPr>
          <p:cNvPr id="40" name="TextBox 39"/>
          <p:cNvSpPr txBox="1"/>
          <p:nvPr/>
        </p:nvSpPr>
        <p:spPr>
          <a:xfrm>
            <a:off x="10673461" y="2397507"/>
            <a:ext cx="1125934" cy="194310"/>
          </a:xfrm>
          <a:prstGeom prst="rect">
            <a:avLst/>
          </a:prstGeom>
          <a:noFill/>
        </p:spPr>
        <p:txBody>
          <a:bodyPr wrap="none" lIns="0" rIns="0" tIns="0" bIns="0">
            <a:spAutoFit/>
          </a:bodyPr>
          <a:lstStyle/>
          <a:p>
            <a:r>
              <a:rPr sz="1150" b="0">
                <a:solidFill>
                  <a:srgbClr val="2E2E2E"/>
                </a:solidFill>
                <a:latin typeface="Calibri"/>
              </a:rPr>
              <a:t>MT in 2025 and is</a:t>
            </a:r>
          </a:p>
        </p:txBody>
      </p:sp>
      <p:sp>
        <p:nvSpPr>
          <p:cNvPr id="41" name="TextBox 40"/>
          <p:cNvSpPr txBox="1"/>
          <p:nvPr/>
        </p:nvSpPr>
        <p:spPr>
          <a:xfrm>
            <a:off x="8048625" y="2572767"/>
            <a:ext cx="1146757" cy="194310"/>
          </a:xfrm>
          <a:prstGeom prst="rect">
            <a:avLst/>
          </a:prstGeom>
          <a:noFill/>
        </p:spPr>
        <p:txBody>
          <a:bodyPr wrap="none" lIns="0" rIns="0" tIns="0" bIns="0">
            <a:spAutoFit/>
          </a:bodyPr>
          <a:lstStyle/>
          <a:p>
            <a:r>
              <a:rPr sz="1150" b="0">
                <a:solidFill>
                  <a:srgbClr val="2E2E2E"/>
                </a:solidFill>
                <a:latin typeface="Calibri"/>
              </a:rPr>
              <a:t>expected to reach</a:t>
            </a:r>
          </a:p>
        </p:txBody>
      </p:sp>
      <p:pic>
        <p:nvPicPr>
          <p:cNvPr id="42" name="Picture 41" descr="lock.png"/>
          <p:cNvPicPr>
            <a:picLocks noChangeAspect="1"/>
          </p:cNvPicPr>
          <p:nvPr/>
        </p:nvPicPr>
        <p:blipFill>
          <a:blip r:embed="rId6"/>
          <a:stretch>
            <a:fillRect/>
          </a:stretch>
        </p:blipFill>
        <p:spPr>
          <a:xfrm>
            <a:off x="9144536" y="2562543"/>
            <a:ext cx="134549" cy="195707"/>
          </a:xfrm>
          <a:prstGeom prst="rect">
            <a:avLst/>
          </a:prstGeom>
        </p:spPr>
      </p:pic>
      <p:sp>
        <p:nvSpPr>
          <p:cNvPr id="43" name="TextBox 42"/>
          <p:cNvSpPr txBox="1"/>
          <p:nvPr/>
        </p:nvSpPr>
        <p:spPr>
          <a:xfrm>
            <a:off x="9319646" y="2572767"/>
            <a:ext cx="1850461" cy="194310"/>
          </a:xfrm>
          <a:prstGeom prst="rect">
            <a:avLst/>
          </a:prstGeom>
          <a:noFill/>
        </p:spPr>
        <p:txBody>
          <a:bodyPr wrap="none" lIns="0" rIns="0" tIns="0" bIns="0">
            <a:spAutoFit/>
          </a:bodyPr>
          <a:lstStyle/>
          <a:p>
            <a:r>
              <a:rPr sz="1150" b="0">
                <a:solidFill>
                  <a:srgbClr val="2E2E2E"/>
                </a:solidFill>
                <a:latin typeface="Calibri"/>
              </a:rPr>
              <a:t>MT by 2036 end, at a CAGR of</a:t>
            </a:r>
          </a:p>
        </p:txBody>
      </p:sp>
      <p:pic>
        <p:nvPicPr>
          <p:cNvPr id="44" name="Picture 43" descr="lock.png"/>
          <p:cNvPicPr>
            <a:picLocks noChangeAspect="1"/>
          </p:cNvPicPr>
          <p:nvPr/>
        </p:nvPicPr>
        <p:blipFill>
          <a:blip r:embed="rId6"/>
          <a:stretch>
            <a:fillRect/>
          </a:stretch>
        </p:blipFill>
        <p:spPr>
          <a:xfrm>
            <a:off x="11119261" y="2562543"/>
            <a:ext cx="134549" cy="195707"/>
          </a:xfrm>
          <a:prstGeom prst="rect">
            <a:avLst/>
          </a:prstGeom>
        </p:spPr>
      </p:pic>
      <p:sp>
        <p:nvSpPr>
          <p:cNvPr id="45" name="TextBox 44"/>
          <p:cNvSpPr txBox="1"/>
          <p:nvPr/>
        </p:nvSpPr>
        <p:spPr>
          <a:xfrm>
            <a:off x="11294370" y="257276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8048625" y="2800604"/>
            <a:ext cx="3842122" cy="194310"/>
          </a:xfrm>
          <a:prstGeom prst="rect">
            <a:avLst/>
          </a:prstGeom>
          <a:noFill/>
        </p:spPr>
        <p:txBody>
          <a:bodyPr wrap="none" lIns="0" rIns="0" tIns="0" bIns="0">
            <a:spAutoFit/>
          </a:bodyPr>
          <a:lstStyle/>
          <a:p>
            <a:r>
              <a:rPr sz="1150" b="0">
                <a:solidFill>
                  <a:srgbClr val="2E2E2E"/>
                </a:solidFill>
                <a:latin typeface="Calibri"/>
              </a:rPr>
              <a:t>Value is projected to grow faster than volume over the forecast</a:t>
            </a:r>
          </a:p>
        </p:txBody>
      </p:sp>
      <p:sp>
        <p:nvSpPr>
          <p:cNvPr id="47" name="TextBox 46"/>
          <p:cNvSpPr txBox="1"/>
          <p:nvPr/>
        </p:nvSpPr>
        <p:spPr>
          <a:xfrm>
            <a:off x="8048625" y="2975864"/>
            <a:ext cx="3184897" cy="194310"/>
          </a:xfrm>
          <a:prstGeom prst="rect">
            <a:avLst/>
          </a:prstGeom>
          <a:noFill/>
        </p:spPr>
        <p:txBody>
          <a:bodyPr wrap="none" lIns="0" rIns="0" tIns="0" bIns="0">
            <a:spAutoFit/>
          </a:bodyPr>
          <a:lstStyle/>
          <a:p>
            <a:r>
              <a:rPr sz="1150" b="0">
                <a:solidFill>
                  <a:srgbClr val="2E2E2E"/>
                </a:solidFill>
                <a:latin typeface="Calibri"/>
              </a:rPr>
              <a:t>period, owing to an increase in average selling price.</a:t>
            </a:r>
          </a:p>
        </p:txBody>
      </p:sp>
      <p:sp>
        <p:nvSpPr>
          <p:cNvPr id="48" name="TextBox 47"/>
          <p:cNvSpPr txBox="1"/>
          <p:nvPr/>
        </p:nvSpPr>
        <p:spPr>
          <a:xfrm>
            <a:off x="8048625" y="4456475"/>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49" name="Picture 48" descr="lock.png"/>
          <p:cNvPicPr>
            <a:picLocks noChangeAspect="1"/>
          </p:cNvPicPr>
          <p:nvPr/>
        </p:nvPicPr>
        <p:blipFill>
          <a:blip r:embed="rId6"/>
          <a:stretch>
            <a:fillRect/>
          </a:stretch>
        </p:blipFill>
        <p:spPr>
          <a:xfrm>
            <a:off x="10136079" y="4446251"/>
            <a:ext cx="134549" cy="195707"/>
          </a:xfrm>
          <a:prstGeom prst="rect">
            <a:avLst/>
          </a:prstGeom>
        </p:spPr>
      </p:pic>
      <p:sp>
        <p:nvSpPr>
          <p:cNvPr id="50" name="TextBox 49"/>
          <p:cNvSpPr txBox="1"/>
          <p:nvPr/>
        </p:nvSpPr>
        <p:spPr>
          <a:xfrm>
            <a:off x="10311188" y="44564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1" name="TextBox 50"/>
          <p:cNvSpPr txBox="1"/>
          <p:nvPr/>
        </p:nvSpPr>
        <p:spPr>
          <a:xfrm>
            <a:off x="8048625" y="4684312"/>
            <a:ext cx="3063378" cy="194310"/>
          </a:xfrm>
          <a:prstGeom prst="rect">
            <a:avLst/>
          </a:prstGeom>
          <a:noFill/>
        </p:spPr>
        <p:txBody>
          <a:bodyPr wrap="none" lIns="0" rIns="0" tIns="0" bIns="0">
            <a:spAutoFit/>
          </a:bodyPr>
          <a:lstStyle/>
          <a:p>
            <a:r>
              <a:rPr sz="1150" b="0">
                <a:solidFill>
                  <a:srgbClr val="2E2E2E"/>
                </a:solidFill>
                <a:latin typeface="Calibri"/>
              </a:rPr>
              <a:t>▪ Demand concentrates in 'Organic' within Nature.</a:t>
            </a:r>
          </a:p>
        </p:txBody>
      </p:sp>
      <p:sp>
        <p:nvSpPr>
          <p:cNvPr id="52" name="TextBox 51"/>
          <p:cNvSpPr txBox="1"/>
          <p:nvPr/>
        </p:nvSpPr>
        <p:spPr>
          <a:xfrm>
            <a:off x="8048625" y="4912150"/>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53" name="TextBox 52"/>
          <p:cNvSpPr txBox="1"/>
          <p:nvPr/>
        </p:nvSpPr>
        <p:spPr>
          <a:xfrm>
            <a:off x="8048625" y="5139988"/>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54" name="lockshield_16"/>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lockshield_19"/>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Pricing &amp; Regional Price Index</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average price by sub-segment and price variation by country, highlighting where pricing power sits</a:t>
            </a:r>
          </a:p>
        </p:txBody>
      </p:sp>
      <p:sp>
        <p:nvSpPr>
          <p:cNvPr id="10" name="Rounded Rectangle 9"/>
          <p:cNvSpPr/>
          <p:nvPr/>
        </p:nvSpPr>
        <p:spPr>
          <a:xfrm>
            <a:off x="142875" y="1052895"/>
            <a:ext cx="7696200" cy="2665040"/>
          </a:xfrm>
          <a:prstGeom prst="roundRect">
            <a:avLst>
              <a:gd name="adj" fmla="val 28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1004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by Nature  ·  range across 2021–2036 (US$/MT)</a:t>
            </a:r>
          </a:p>
        </p:txBody>
      </p:sp>
      <p:cxnSp>
        <p:nvCxnSpPr>
          <p:cNvPr id="12" name="Connector 11"/>
          <p:cNvCxnSpPr/>
          <p:nvPr/>
        </p:nvCxnSpPr>
        <p:spPr>
          <a:xfrm>
            <a:off x="657225" y="333693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3" name="Connector 12"/>
          <p:cNvCxnSpPr/>
          <p:nvPr/>
        </p:nvCxnSpPr>
        <p:spPr>
          <a:xfrm>
            <a:off x="657225" y="2865938"/>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4" name="Connector 13"/>
          <p:cNvCxnSpPr/>
          <p:nvPr/>
        </p:nvCxnSpPr>
        <p:spPr>
          <a:xfrm>
            <a:off x="657225" y="2394940"/>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657225" y="1923943"/>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657225" y="1452945"/>
            <a:ext cx="70104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7225" y="1452945"/>
            <a:ext cx="0" cy="188399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628650" y="333693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628650" y="286593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628650" y="23949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628650" y="1923943"/>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628650" y="145294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23" name="FMI Scale tick"/>
          <p:cNvSpPr txBox="1"/>
          <p:nvPr/>
        </p:nvSpPr>
        <p:spPr>
          <a:xfrm>
            <a:off x="219075" y="327026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4" name="FMI Scale tick"/>
          <p:cNvSpPr txBox="1"/>
          <p:nvPr/>
        </p:nvSpPr>
        <p:spPr>
          <a:xfrm>
            <a:off x="219075" y="2328265"/>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sp>
        <p:nvSpPr>
          <p:cNvPr id="25" name="FMI Scale tick"/>
          <p:cNvSpPr txBox="1"/>
          <p:nvPr/>
        </p:nvSpPr>
        <p:spPr>
          <a:xfrm>
            <a:off x="219075" y="1386270"/>
            <a:ext cx="381000" cy="133350"/>
          </a:xfrm>
          <a:prstGeom prst="rect">
            <a:avLst/>
          </a:prstGeom>
          <a:noFill/>
        </p:spPr>
        <p:txBody>
          <a:bodyPr wrap="square" lIns="28575" rIns="28575" tIns="9525" bIns="9525" anchor="ctr">
            <a:spAutoFit/>
          </a:bodyPr>
          <a:lstStyle/>
          <a:p>
            <a:pPr algn="r"/>
            <a:r>
              <a:rPr sz="1100" b="0">
                <a:solidFill>
                  <a:srgbClr val="6C7A89"/>
                </a:solidFill>
                <a:latin typeface="Calibri"/>
              </a:rPr>
              <a:t/>
            </a:r>
          </a:p>
        </p:txBody>
      </p:sp>
      <p:cxnSp>
        <p:nvCxnSpPr>
          <p:cNvPr id="26" name="Connector 25"/>
          <p:cNvCxnSpPr/>
          <p:nvPr/>
        </p:nvCxnSpPr>
        <p:spPr>
          <a:xfrm flipV="1">
            <a:off x="2409825" y="2649244"/>
            <a:ext cx="0" cy="470308"/>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2278380" y="3119552"/>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2278380" y="2649244"/>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2190750" y="2776562"/>
            <a:ext cx="438150" cy="234806"/>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0" name="Connector 29"/>
          <p:cNvCxnSpPr/>
          <p:nvPr/>
        </p:nvCxnSpPr>
        <p:spPr>
          <a:xfrm>
            <a:off x="2190750" y="2897152"/>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657225" y="2496844"/>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cxnSp>
        <p:nvCxnSpPr>
          <p:cNvPr id="32" name="Connector 31"/>
          <p:cNvCxnSpPr/>
          <p:nvPr/>
        </p:nvCxnSpPr>
        <p:spPr>
          <a:xfrm flipV="1">
            <a:off x="5915025" y="1670329"/>
            <a:ext cx="0" cy="651944"/>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783580" y="2322273"/>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783580" y="1670329"/>
            <a:ext cx="262890" cy="0"/>
          </a:xfrm>
          <a:prstGeom prst="line">
            <a:avLst/>
          </a:prstGeom>
          <a:ln w="17780">
            <a:solidFill>
              <a:srgbClr val="8FB6CC"/>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5695950" y="1846810"/>
            <a:ext cx="438150" cy="325489"/>
          </a:xfrm>
          <a:prstGeom prst="rect">
            <a:avLst/>
          </a:prstGeom>
          <a:solidFill>
            <a:srgbClr val="CFE7F5"/>
          </a:solidFill>
          <a:ln w="15875">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6" name="Connector 35"/>
          <p:cNvCxnSpPr/>
          <p:nvPr/>
        </p:nvCxnSpPr>
        <p:spPr>
          <a:xfrm>
            <a:off x="5695950" y="2013969"/>
            <a:ext cx="438150" cy="0"/>
          </a:xfrm>
          <a:prstGeom prst="line">
            <a:avLst/>
          </a:prstGeom>
          <a:ln w="2540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4162425" y="1517929"/>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38" name="TextBox 37"/>
          <p:cNvSpPr txBox="1"/>
          <p:nvPr/>
        </p:nvSpPr>
        <p:spPr>
          <a:xfrm>
            <a:off x="6572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Organic</a:t>
            </a:r>
          </a:p>
        </p:txBody>
      </p:sp>
      <p:sp>
        <p:nvSpPr>
          <p:cNvPr id="39" name="TextBox 38"/>
          <p:cNvSpPr txBox="1"/>
          <p:nvPr/>
        </p:nvSpPr>
        <p:spPr>
          <a:xfrm>
            <a:off x="4162425" y="3365510"/>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Conventional</a:t>
            </a:r>
          </a:p>
        </p:txBody>
      </p:sp>
      <p:sp>
        <p:nvSpPr>
          <p:cNvPr id="40" name="Rounded Rectangle 39"/>
          <p:cNvSpPr/>
          <p:nvPr/>
        </p:nvSpPr>
        <p:spPr>
          <a:xfrm>
            <a:off x="142875" y="3772696"/>
            <a:ext cx="7696200" cy="2783689"/>
          </a:xfrm>
          <a:prstGeom prst="roundRect">
            <a:avLst>
              <a:gd name="adj" fmla="val 27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38125" y="3829846"/>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Country vs North America  ·  2026–2036</a:t>
            </a:r>
          </a:p>
        </p:txBody>
      </p:sp>
      <p:cxnSp>
        <p:nvCxnSpPr>
          <p:cNvPr id="42" name="Connector 41"/>
          <p:cNvCxnSpPr/>
          <p:nvPr/>
        </p:nvCxnSpPr>
        <p:spPr>
          <a:xfrm>
            <a:off x="619125" y="432872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3" name="Connector 42"/>
          <p:cNvCxnSpPr/>
          <p:nvPr/>
        </p:nvCxnSpPr>
        <p:spPr>
          <a:xfrm>
            <a:off x="619125" y="476092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4" name="Connector 43"/>
          <p:cNvCxnSpPr/>
          <p:nvPr/>
        </p:nvCxnSpPr>
        <p:spPr>
          <a:xfrm>
            <a:off x="619125" y="5193116"/>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5" name="Connector 44"/>
          <p:cNvCxnSpPr/>
          <p:nvPr/>
        </p:nvCxnSpPr>
        <p:spPr>
          <a:xfrm>
            <a:off x="619125" y="5625311"/>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6" name="Connector 45"/>
          <p:cNvCxnSpPr/>
          <p:nvPr/>
        </p:nvCxnSpPr>
        <p:spPr>
          <a:xfrm>
            <a:off x="619125" y="605750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47" name="Connector 46"/>
          <p:cNvCxnSpPr/>
          <p:nvPr/>
        </p:nvCxnSpPr>
        <p:spPr>
          <a:xfrm>
            <a:off x="619125" y="4328726"/>
            <a:ext cx="0" cy="1728779"/>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590550" y="432872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90550" y="476092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590550" y="5193116"/>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1" name="Connector 50"/>
          <p:cNvCxnSpPr/>
          <p:nvPr/>
        </p:nvCxnSpPr>
        <p:spPr>
          <a:xfrm>
            <a:off x="590550" y="5625311"/>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52" name="Connector 51"/>
          <p:cNvCxnSpPr/>
          <p:nvPr/>
        </p:nvCxnSpPr>
        <p:spPr>
          <a:xfrm>
            <a:off x="590550" y="605750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53" name="FMI Scale tick"/>
          <p:cNvSpPr txBox="1"/>
          <p:nvPr/>
        </p:nvSpPr>
        <p:spPr>
          <a:xfrm>
            <a:off x="138112" y="4262051"/>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+4.9%</a:t>
            </a:r>
          </a:p>
        </p:txBody>
      </p:sp>
      <p:sp>
        <p:nvSpPr>
          <p:cNvPr id="54" name="FMI Scale tick"/>
          <p:cNvSpPr txBox="1"/>
          <p:nvPr/>
        </p:nvSpPr>
        <p:spPr>
          <a:xfrm>
            <a:off x="138112" y="4694246"/>
            <a:ext cx="442912" cy="133350"/>
          </a:xfrm>
          <a:prstGeom prst="rect">
            <a:avLst/>
          </a:prstGeom>
          <a:noFill/>
        </p:spPr>
        <p:txBody>
          <a:bodyPr wrap="square" lIns="28575" rIns="28575" tIns="9525" bIns="9525" anchor="ctr">
            <a:spAutoFit/>
          </a:bodyPr>
          <a:lstStyle/>
          <a:p>
            <a:pPr algn="r"/>
            <a:r>
              <a:rPr sz="1100" b="0">
                <a:solidFill>
                  <a:srgbClr val="6C7A89"/>
                </a:solidFill>
                <a:latin typeface="Calibri"/>
              </a:rPr>
              <a:t>+2.5%</a:t>
            </a:r>
          </a:p>
        </p:txBody>
      </p:sp>
      <p:sp>
        <p:nvSpPr>
          <p:cNvPr id="55" name="FMI Scale tick"/>
          <p:cNvSpPr txBox="1"/>
          <p:nvPr/>
        </p:nvSpPr>
        <p:spPr>
          <a:xfrm>
            <a:off x="219075" y="5126441"/>
            <a:ext cx="361950" cy="133350"/>
          </a:xfrm>
          <a:prstGeom prst="rect">
            <a:avLst/>
          </a:prstGeom>
          <a:noFill/>
        </p:spPr>
        <p:txBody>
          <a:bodyPr wrap="square" lIns="28575" rIns="28575" tIns="9525" bIns="9525" anchor="ctr">
            <a:spAutoFit/>
          </a:bodyPr>
          <a:lstStyle/>
          <a:p>
            <a:pPr algn="r"/>
            <a:r>
              <a:rPr sz="1100" b="1">
                <a:solidFill>
                  <a:srgbClr val="6C7A89"/>
                </a:solidFill>
                <a:latin typeface="Calibri"/>
              </a:rPr>
              <a:t>North America</a:t>
            </a:r>
          </a:p>
        </p:txBody>
      </p:sp>
      <p:sp>
        <p:nvSpPr>
          <p:cNvPr id="56" name="FMI Scale tick"/>
          <p:cNvSpPr txBox="1"/>
          <p:nvPr/>
        </p:nvSpPr>
        <p:spPr>
          <a:xfrm>
            <a:off x="164306" y="5558636"/>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-2.5%</a:t>
            </a:r>
          </a:p>
        </p:txBody>
      </p:sp>
      <p:sp>
        <p:nvSpPr>
          <p:cNvPr id="57" name="FMI Scale tick"/>
          <p:cNvSpPr txBox="1"/>
          <p:nvPr/>
        </p:nvSpPr>
        <p:spPr>
          <a:xfrm>
            <a:off x="164306" y="5990830"/>
            <a:ext cx="416719" cy="133350"/>
          </a:xfrm>
          <a:prstGeom prst="rect">
            <a:avLst/>
          </a:prstGeom>
          <a:noFill/>
        </p:spPr>
        <p:txBody>
          <a:bodyPr wrap="square" lIns="28575" rIns="28575" tIns="9525" bIns="9525" anchor="ctr">
            <a:spAutoFit/>
          </a:bodyPr>
          <a:lstStyle/>
          <a:p>
            <a:pPr algn="r"/>
            <a:r>
              <a:rPr sz="1100" b="0">
                <a:solidFill>
                  <a:srgbClr val="6C7A89"/>
                </a:solidFill>
                <a:latin typeface="Calibri"/>
              </a:rPr>
              <a:t>-4.9%</a:t>
            </a:r>
          </a:p>
        </p:txBody>
      </p:sp>
      <p:cxnSp>
        <p:nvCxnSpPr>
          <p:cNvPr id="58" name="Connector 57"/>
          <p:cNvCxnSpPr/>
          <p:nvPr/>
        </p:nvCxnSpPr>
        <p:spPr>
          <a:xfrm>
            <a:off x="619125" y="5193116"/>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2152650" y="5193116"/>
            <a:ext cx="457200" cy="333191"/>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MI Data Label"/>
          <p:cNvSpPr txBox="1"/>
          <p:nvPr/>
        </p:nvSpPr>
        <p:spPr>
          <a:xfrm>
            <a:off x="619125" y="553583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1" name="Rectangle 60"/>
          <p:cNvSpPr/>
          <p:nvPr/>
        </p:nvSpPr>
        <p:spPr>
          <a:xfrm>
            <a:off x="5676900" y="4437287"/>
            <a:ext cx="457200" cy="75582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MI Data Label"/>
          <p:cNvSpPr txBox="1"/>
          <p:nvPr/>
        </p:nvSpPr>
        <p:spPr>
          <a:xfrm>
            <a:off x="4143375" y="4294412"/>
            <a:ext cx="35242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63" name="TextBox 62"/>
          <p:cNvSpPr txBox="1"/>
          <p:nvPr/>
        </p:nvSpPr>
        <p:spPr>
          <a:xfrm>
            <a:off x="61912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U.S.</a:t>
            </a:r>
          </a:p>
        </p:txBody>
      </p:sp>
      <p:sp>
        <p:nvSpPr>
          <p:cNvPr id="64" name="TextBox 63"/>
          <p:cNvSpPr txBox="1"/>
          <p:nvPr/>
        </p:nvSpPr>
        <p:spPr>
          <a:xfrm>
            <a:off x="4143375" y="6242060"/>
            <a:ext cx="3524250" cy="247650"/>
          </a:xfrm>
          <a:prstGeom prst="rect">
            <a:avLst/>
          </a:prstGeom>
          <a:noFill/>
        </p:spPr>
        <p:txBody>
          <a:bodyPr wrap="square" lIns="28575" rIns="28575" tIns="9525" bIns="9525">
            <a:spAutoFit/>
          </a:bodyPr>
          <a:lstStyle/>
          <a:p>
            <a:pPr algn="ctr"/>
            <a:r>
              <a:rPr sz="1100" b="0">
                <a:solidFill>
                  <a:srgbClr val="2E2E2E"/>
                </a:solidFill>
                <a:latin typeface="Calibri"/>
              </a:rPr>
              <a:t>Canada</a:t>
            </a:r>
          </a:p>
        </p:txBody>
      </p:sp>
      <p:sp>
        <p:nvSpPr>
          <p:cNvPr id="65" name="Rounded Rectangle 64"/>
          <p:cNvSpPr/>
          <p:nvPr/>
        </p:nvSpPr>
        <p:spPr>
          <a:xfrm>
            <a:off x="7915275" y="1052895"/>
            <a:ext cx="4133850" cy="5503490"/>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8048625" y="1138620"/>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7" name="Rectangle 66"/>
          <p:cNvSpPr/>
          <p:nvPr/>
        </p:nvSpPr>
        <p:spPr>
          <a:xfrm>
            <a:off x="8048625" y="1376745"/>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8048625" y="1462470"/>
            <a:ext cx="3867150" cy="501771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69" name="TextBox 6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0" name="Picture 69" descr="lock.png"/>
          <p:cNvPicPr>
            <a:picLocks noChangeAspect="1"/>
          </p:cNvPicPr>
          <p:nvPr/>
        </p:nvPicPr>
        <p:blipFill>
          <a:blip r:embed="rId4"/>
          <a:stretch>
            <a:fillRect/>
          </a:stretch>
        </p:blipFill>
        <p:spPr>
          <a:xfrm>
            <a:off x="2345475" y="2469920"/>
            <a:ext cx="128699" cy="187198"/>
          </a:xfrm>
          <a:prstGeom prst="rect">
            <a:avLst/>
          </a:prstGeom>
        </p:spPr>
      </p:pic>
      <p:pic>
        <p:nvPicPr>
          <p:cNvPr id="71" name="Picture 70" descr="lock.png"/>
          <p:cNvPicPr>
            <a:picLocks noChangeAspect="1"/>
          </p:cNvPicPr>
          <p:nvPr/>
        </p:nvPicPr>
        <p:blipFill>
          <a:blip r:embed="rId4"/>
          <a:stretch>
            <a:fillRect/>
          </a:stretch>
        </p:blipFill>
        <p:spPr>
          <a:xfrm>
            <a:off x="5850675" y="1491005"/>
            <a:ext cx="128699" cy="187198"/>
          </a:xfrm>
          <a:prstGeom prst="rect">
            <a:avLst/>
          </a:prstGeom>
        </p:spPr>
      </p:pic>
      <p:pic>
        <p:nvPicPr>
          <p:cNvPr id="72" name="Picture 71" descr="lock.png"/>
          <p:cNvPicPr>
            <a:picLocks noChangeAspect="1"/>
          </p:cNvPicPr>
          <p:nvPr/>
        </p:nvPicPr>
        <p:blipFill>
          <a:blip r:embed="rId4"/>
          <a:stretch>
            <a:fillRect/>
          </a:stretch>
        </p:blipFill>
        <p:spPr>
          <a:xfrm>
            <a:off x="2316900" y="5508908"/>
            <a:ext cx="128699" cy="187198"/>
          </a:xfrm>
          <a:prstGeom prst="rect">
            <a:avLst/>
          </a:prstGeom>
        </p:spPr>
      </p:pic>
      <p:pic>
        <p:nvPicPr>
          <p:cNvPr id="73" name="Picture 72" descr="lock.png"/>
          <p:cNvPicPr>
            <a:picLocks noChangeAspect="1"/>
          </p:cNvPicPr>
          <p:nvPr/>
        </p:nvPicPr>
        <p:blipFill>
          <a:blip r:embed="rId4"/>
          <a:stretch>
            <a:fillRect/>
          </a:stretch>
        </p:blipFill>
        <p:spPr>
          <a:xfrm>
            <a:off x="5841150" y="4267488"/>
            <a:ext cx="128699" cy="187198"/>
          </a:xfrm>
          <a:prstGeom prst="rect">
            <a:avLst/>
          </a:prstGeom>
        </p:spPr>
      </p:pic>
      <p:sp>
        <p:nvSpPr>
          <p:cNvPr id="74" name="TextBox 73"/>
          <p:cNvSpPr txBox="1"/>
          <p:nvPr/>
        </p:nvSpPr>
        <p:spPr>
          <a:xfrm>
            <a:off x="8048625" y="1471995"/>
            <a:ext cx="3600226" cy="194310"/>
          </a:xfrm>
          <a:prstGeom prst="rect">
            <a:avLst/>
          </a:prstGeom>
          <a:noFill/>
        </p:spPr>
        <p:txBody>
          <a:bodyPr wrap="none" lIns="0" rIns="0" tIns="0" bIns="0">
            <a:spAutoFit/>
          </a:bodyPr>
          <a:lstStyle/>
          <a:p>
            <a:r>
              <a:rPr sz="1150" b="0">
                <a:solidFill>
                  <a:srgbClr val="2E2E2E"/>
                </a:solidFill>
                <a:latin typeface="Calibri"/>
              </a:rPr>
              <a:t>Conventional segment is expected to command the highest</a:t>
            </a:r>
          </a:p>
        </p:txBody>
      </p:sp>
      <p:sp>
        <p:nvSpPr>
          <p:cNvPr id="75" name="TextBox 74"/>
          <p:cNvSpPr txBox="1"/>
          <p:nvPr/>
        </p:nvSpPr>
        <p:spPr>
          <a:xfrm>
            <a:off x="8048625" y="1647255"/>
            <a:ext cx="1299083" cy="194310"/>
          </a:xfrm>
          <a:prstGeom prst="rect">
            <a:avLst/>
          </a:prstGeom>
          <a:noFill/>
        </p:spPr>
        <p:txBody>
          <a:bodyPr wrap="none" lIns="0" rIns="0" tIns="0" bIns="0">
            <a:spAutoFit/>
          </a:bodyPr>
          <a:lstStyle/>
          <a:p>
            <a:r>
              <a:rPr sz="1150" b="0">
                <a:solidFill>
                  <a:srgbClr val="2E2E2E"/>
                </a:solidFill>
                <a:latin typeface="Calibri"/>
              </a:rPr>
              <a:t>average price of US$</a:t>
            </a:r>
          </a:p>
        </p:txBody>
      </p:sp>
      <p:pic>
        <p:nvPicPr>
          <p:cNvPr id="76" name="Picture 75" descr="lock.png"/>
          <p:cNvPicPr>
            <a:picLocks noChangeAspect="1"/>
          </p:cNvPicPr>
          <p:nvPr/>
        </p:nvPicPr>
        <p:blipFill>
          <a:blip r:embed="rId4"/>
          <a:stretch>
            <a:fillRect/>
          </a:stretch>
        </p:blipFill>
        <p:spPr>
          <a:xfrm>
            <a:off x="9296862" y="1637031"/>
            <a:ext cx="134549" cy="195707"/>
          </a:xfrm>
          <a:prstGeom prst="rect">
            <a:avLst/>
          </a:prstGeom>
        </p:spPr>
      </p:pic>
      <p:sp>
        <p:nvSpPr>
          <p:cNvPr id="77" name="TextBox 76"/>
          <p:cNvSpPr txBox="1"/>
          <p:nvPr/>
        </p:nvSpPr>
        <p:spPr>
          <a:xfrm>
            <a:off x="9471971" y="1647255"/>
            <a:ext cx="2273185" cy="194310"/>
          </a:xfrm>
          <a:prstGeom prst="rect">
            <a:avLst/>
          </a:prstGeom>
          <a:noFill/>
        </p:spPr>
        <p:txBody>
          <a:bodyPr wrap="none" lIns="0" rIns="0" tIns="0" bIns="0">
            <a:spAutoFit/>
          </a:bodyPr>
          <a:lstStyle/>
          <a:p>
            <a:r>
              <a:rPr sz="1150" b="0">
                <a:solidFill>
                  <a:srgbClr val="2E2E2E"/>
                </a:solidFill>
                <a:latin typeface="Calibri"/>
              </a:rPr>
              <a:t>per MT in 2036. Average selling price</a:t>
            </a:r>
          </a:p>
        </p:txBody>
      </p:sp>
      <p:sp>
        <p:nvSpPr>
          <p:cNvPr id="78" name="TextBox 77"/>
          <p:cNvSpPr txBox="1"/>
          <p:nvPr/>
        </p:nvSpPr>
        <p:spPr>
          <a:xfrm>
            <a:off x="8048625" y="1822515"/>
            <a:ext cx="1849623" cy="194310"/>
          </a:xfrm>
          <a:prstGeom prst="rect">
            <a:avLst/>
          </a:prstGeom>
          <a:noFill/>
        </p:spPr>
        <p:txBody>
          <a:bodyPr wrap="none" lIns="0" rIns="0" tIns="0" bIns="0">
            <a:spAutoFit/>
          </a:bodyPr>
          <a:lstStyle/>
          <a:p>
            <a:r>
              <a:rPr sz="1150" b="0">
                <a:solidFill>
                  <a:srgbClr val="2E2E2E"/>
                </a:solidFill>
                <a:latin typeface="Calibri"/>
              </a:rPr>
              <a:t>of matcha is estimated at US$</a:t>
            </a:r>
          </a:p>
        </p:txBody>
      </p:sp>
      <p:pic>
        <p:nvPicPr>
          <p:cNvPr id="79" name="Picture 78" descr="lock.png"/>
          <p:cNvPicPr>
            <a:picLocks noChangeAspect="1"/>
          </p:cNvPicPr>
          <p:nvPr/>
        </p:nvPicPr>
        <p:blipFill>
          <a:blip r:embed="rId4"/>
          <a:stretch>
            <a:fillRect/>
          </a:stretch>
        </p:blipFill>
        <p:spPr>
          <a:xfrm>
            <a:off x="9847402" y="1812291"/>
            <a:ext cx="134549" cy="195707"/>
          </a:xfrm>
          <a:prstGeom prst="rect">
            <a:avLst/>
          </a:prstGeom>
        </p:spPr>
      </p:pic>
      <p:sp>
        <p:nvSpPr>
          <p:cNvPr id="80" name="TextBox 79"/>
          <p:cNvSpPr txBox="1"/>
          <p:nvPr/>
        </p:nvSpPr>
        <p:spPr>
          <a:xfrm>
            <a:off x="10022511" y="1822515"/>
            <a:ext cx="1359557" cy="194310"/>
          </a:xfrm>
          <a:prstGeom prst="rect">
            <a:avLst/>
          </a:prstGeom>
          <a:noFill/>
        </p:spPr>
        <p:txBody>
          <a:bodyPr wrap="none" lIns="0" rIns="0" tIns="0" bIns="0">
            <a:spAutoFit/>
          </a:bodyPr>
          <a:lstStyle/>
          <a:p>
            <a:r>
              <a:rPr sz="1150" b="0">
                <a:solidFill>
                  <a:srgbClr val="2E2E2E"/>
                </a:solidFill>
                <a:latin typeface="Calibri"/>
              </a:rPr>
              <a:t>per MT in 2025 and is</a:t>
            </a:r>
          </a:p>
        </p:txBody>
      </p:sp>
      <p:sp>
        <p:nvSpPr>
          <p:cNvPr id="81" name="TextBox 80"/>
          <p:cNvSpPr txBox="1"/>
          <p:nvPr/>
        </p:nvSpPr>
        <p:spPr>
          <a:xfrm>
            <a:off x="8048625" y="1997775"/>
            <a:ext cx="1764617" cy="194310"/>
          </a:xfrm>
          <a:prstGeom prst="rect">
            <a:avLst/>
          </a:prstGeom>
          <a:noFill/>
        </p:spPr>
        <p:txBody>
          <a:bodyPr wrap="none" lIns="0" rIns="0" tIns="0" bIns="0">
            <a:spAutoFit/>
          </a:bodyPr>
          <a:lstStyle/>
          <a:p>
            <a:r>
              <a:rPr sz="1150" b="0">
                <a:solidFill>
                  <a:srgbClr val="2E2E2E"/>
                </a:solidFill>
                <a:latin typeface="Calibri"/>
              </a:rPr>
              <a:t>projected to increase to US$</a:t>
            </a:r>
          </a:p>
        </p:txBody>
      </p:sp>
      <p:pic>
        <p:nvPicPr>
          <p:cNvPr id="82" name="Picture 81" descr="lock.png"/>
          <p:cNvPicPr>
            <a:picLocks noChangeAspect="1"/>
          </p:cNvPicPr>
          <p:nvPr/>
        </p:nvPicPr>
        <p:blipFill>
          <a:blip r:embed="rId4"/>
          <a:stretch>
            <a:fillRect/>
          </a:stretch>
        </p:blipFill>
        <p:spPr>
          <a:xfrm>
            <a:off x="9762396" y="1987551"/>
            <a:ext cx="134549" cy="195707"/>
          </a:xfrm>
          <a:prstGeom prst="rect">
            <a:avLst/>
          </a:prstGeom>
        </p:spPr>
      </p:pic>
      <p:sp>
        <p:nvSpPr>
          <p:cNvPr id="83" name="TextBox 82"/>
          <p:cNvSpPr txBox="1"/>
          <p:nvPr/>
        </p:nvSpPr>
        <p:spPr>
          <a:xfrm>
            <a:off x="9937506" y="1997775"/>
            <a:ext cx="1048630" cy="194310"/>
          </a:xfrm>
          <a:prstGeom prst="rect">
            <a:avLst/>
          </a:prstGeom>
          <a:noFill/>
        </p:spPr>
        <p:txBody>
          <a:bodyPr wrap="none" lIns="0" rIns="0" tIns="0" bIns="0">
            <a:spAutoFit/>
          </a:bodyPr>
          <a:lstStyle/>
          <a:p>
            <a:r>
              <a:rPr sz="1150" b="0">
                <a:solidFill>
                  <a:srgbClr val="2E2E2E"/>
                </a:solidFill>
                <a:latin typeface="Calibri"/>
              </a:rPr>
              <a:t>per MT by 2036.</a:t>
            </a:r>
          </a:p>
        </p:txBody>
      </p:sp>
      <p:sp>
        <p:nvSpPr>
          <p:cNvPr id="84" name="TextBox 83"/>
          <p:cNvSpPr txBox="1"/>
          <p:nvPr/>
        </p:nvSpPr>
        <p:spPr>
          <a:xfrm>
            <a:off x="8048625" y="2225613"/>
            <a:ext cx="3596518" cy="194310"/>
          </a:xfrm>
          <a:prstGeom prst="rect">
            <a:avLst/>
          </a:prstGeom>
          <a:noFill/>
        </p:spPr>
        <p:txBody>
          <a:bodyPr wrap="none" lIns="0" rIns="0" tIns="0" bIns="0">
            <a:spAutoFit/>
          </a:bodyPr>
          <a:lstStyle/>
          <a:p>
            <a:r>
              <a:rPr sz="1150" b="0">
                <a:solidFill>
                  <a:srgbClr val="2E2E2E"/>
                </a:solidFill>
                <a:latin typeface="Calibri"/>
              </a:rPr>
              <a:t>Canada is the highest-priced country, while U.S. is the most</a:t>
            </a:r>
          </a:p>
        </p:txBody>
      </p:sp>
      <p:sp>
        <p:nvSpPr>
          <p:cNvPr id="85" name="TextBox 84"/>
          <p:cNvSpPr txBox="1"/>
          <p:nvPr/>
        </p:nvSpPr>
        <p:spPr>
          <a:xfrm>
            <a:off x="8048625" y="2400873"/>
            <a:ext cx="3714898" cy="194310"/>
          </a:xfrm>
          <a:prstGeom prst="rect">
            <a:avLst/>
          </a:prstGeom>
          <a:noFill/>
        </p:spPr>
        <p:txBody>
          <a:bodyPr wrap="none" lIns="0" rIns="0" tIns="0" bIns="0">
            <a:spAutoFit/>
          </a:bodyPr>
          <a:lstStyle/>
          <a:p>
            <a:r>
              <a:rPr sz="1150" b="0">
                <a:solidFill>
                  <a:srgbClr val="2E2E2E"/>
                </a:solidFill>
                <a:latin typeface="Calibri"/>
              </a:rPr>
              <a:t>price-competitive market. Against the North America price of</a:t>
            </a:r>
          </a:p>
        </p:txBody>
      </p:sp>
      <p:pic>
        <p:nvPicPr>
          <p:cNvPr id="86" name="Picture 85" descr="lock.png"/>
          <p:cNvPicPr>
            <a:picLocks noChangeAspect="1"/>
          </p:cNvPicPr>
          <p:nvPr/>
        </p:nvPicPr>
        <p:blipFill>
          <a:blip r:embed="rId4"/>
          <a:stretch>
            <a:fillRect/>
          </a:stretch>
        </p:blipFill>
        <p:spPr>
          <a:xfrm>
            <a:off x="8034545" y="2565909"/>
            <a:ext cx="134549" cy="195707"/>
          </a:xfrm>
          <a:prstGeom prst="rect">
            <a:avLst/>
          </a:prstGeom>
        </p:spPr>
      </p:pic>
      <p:sp>
        <p:nvSpPr>
          <p:cNvPr id="87" name="TextBox 86"/>
          <p:cNvSpPr txBox="1"/>
          <p:nvPr/>
        </p:nvSpPr>
        <p:spPr>
          <a:xfrm>
            <a:off x="8209654" y="2576133"/>
            <a:ext cx="3081349" cy="194310"/>
          </a:xfrm>
          <a:prstGeom prst="rect">
            <a:avLst/>
          </a:prstGeom>
          <a:noFill/>
        </p:spPr>
        <p:txBody>
          <a:bodyPr wrap="none" lIns="0" rIns="0" tIns="0" bIns="0">
            <a:spAutoFit/>
          </a:bodyPr>
          <a:lstStyle/>
          <a:p>
            <a:r>
              <a:rPr sz="1150" b="0">
                <a:solidFill>
                  <a:srgbClr val="2E2E2E"/>
                </a:solidFill>
                <a:latin typeface="Calibri"/>
              </a:rPr>
              <a:t>US$/MT, 1 of 2 countries price above and 1 below.</a:t>
            </a:r>
          </a:p>
        </p:txBody>
      </p:sp>
      <p:sp>
        <p:nvSpPr>
          <p:cNvPr id="88" name="TextBox 87"/>
          <p:cNvSpPr txBox="1"/>
          <p:nvPr/>
        </p:nvSpPr>
        <p:spPr>
          <a:xfrm>
            <a:off x="8048625" y="2803971"/>
            <a:ext cx="1677330" cy="194310"/>
          </a:xfrm>
          <a:prstGeom prst="rect">
            <a:avLst/>
          </a:prstGeom>
          <a:noFill/>
        </p:spPr>
        <p:txBody>
          <a:bodyPr wrap="none" lIns="0" rIns="0" tIns="0" bIns="0">
            <a:spAutoFit/>
          </a:bodyPr>
          <a:lstStyle/>
          <a:p>
            <a:r>
              <a:rPr sz="1150" b="0">
                <a:solidFill>
                  <a:srgbClr val="2E2E2E"/>
                </a:solidFill>
                <a:latin typeface="Calibri"/>
              </a:rPr>
              <a:t>'Canada' is the dearest at +</a:t>
            </a:r>
          </a:p>
        </p:txBody>
      </p:sp>
      <p:pic>
        <p:nvPicPr>
          <p:cNvPr id="89" name="Picture 88" descr="lock.png"/>
          <p:cNvPicPr>
            <a:picLocks noChangeAspect="1"/>
          </p:cNvPicPr>
          <p:nvPr/>
        </p:nvPicPr>
        <p:blipFill>
          <a:blip r:embed="rId4"/>
          <a:stretch>
            <a:fillRect/>
          </a:stretch>
        </p:blipFill>
        <p:spPr>
          <a:xfrm>
            <a:off x="9675109" y="2793747"/>
            <a:ext cx="134549" cy="195707"/>
          </a:xfrm>
          <a:prstGeom prst="rect">
            <a:avLst/>
          </a:prstGeom>
        </p:spPr>
      </p:pic>
      <p:sp>
        <p:nvSpPr>
          <p:cNvPr id="90" name="TextBox 89"/>
          <p:cNvSpPr txBox="1"/>
          <p:nvPr/>
        </p:nvSpPr>
        <p:spPr>
          <a:xfrm>
            <a:off x="9850218" y="2803971"/>
            <a:ext cx="1961728" cy="194310"/>
          </a:xfrm>
          <a:prstGeom prst="rect">
            <a:avLst/>
          </a:prstGeom>
          <a:noFill/>
        </p:spPr>
        <p:txBody>
          <a:bodyPr wrap="none" lIns="0" rIns="0" tIns="0" bIns="0">
            <a:spAutoFit/>
          </a:bodyPr>
          <a:lstStyle/>
          <a:p>
            <a:r>
              <a:rPr sz="1150" b="0">
                <a:solidFill>
                  <a:srgbClr val="2E2E2E"/>
                </a:solidFill>
                <a:latin typeface="Calibri"/>
              </a:rPr>
              <a:t>versus North America, 'U.S.' the</a:t>
            </a:r>
          </a:p>
        </p:txBody>
      </p:sp>
      <p:sp>
        <p:nvSpPr>
          <p:cNvPr id="91" name="TextBox 90"/>
          <p:cNvSpPr txBox="1"/>
          <p:nvPr/>
        </p:nvSpPr>
        <p:spPr>
          <a:xfrm>
            <a:off x="8048625" y="2979230"/>
            <a:ext cx="842962" cy="194310"/>
          </a:xfrm>
          <a:prstGeom prst="rect">
            <a:avLst/>
          </a:prstGeom>
          <a:noFill/>
        </p:spPr>
        <p:txBody>
          <a:bodyPr wrap="none" lIns="0" rIns="0" tIns="0" bIns="0">
            <a:spAutoFit/>
          </a:bodyPr>
          <a:lstStyle/>
          <a:p>
            <a:r>
              <a:rPr sz="1150" b="0">
                <a:solidFill>
                  <a:srgbClr val="2E2E2E"/>
                </a:solidFill>
                <a:latin typeface="Calibri"/>
              </a:rPr>
              <a:t>cheapest at -</a:t>
            </a:r>
          </a:p>
        </p:txBody>
      </p:sp>
      <p:pic>
        <p:nvPicPr>
          <p:cNvPr id="92" name="Picture 91" descr="lock.png"/>
          <p:cNvPicPr>
            <a:picLocks noChangeAspect="1"/>
          </p:cNvPicPr>
          <p:nvPr/>
        </p:nvPicPr>
        <p:blipFill>
          <a:blip r:embed="rId4"/>
          <a:stretch>
            <a:fillRect/>
          </a:stretch>
        </p:blipFill>
        <p:spPr>
          <a:xfrm>
            <a:off x="8840741" y="2969007"/>
            <a:ext cx="134549" cy="195707"/>
          </a:xfrm>
          <a:prstGeom prst="rect">
            <a:avLst/>
          </a:prstGeom>
        </p:spPr>
      </p:pic>
      <p:sp>
        <p:nvSpPr>
          <p:cNvPr id="93" name="TextBox 92"/>
          <p:cNvSpPr txBox="1"/>
          <p:nvPr/>
        </p:nvSpPr>
        <p:spPr>
          <a:xfrm>
            <a:off x="9015850" y="2979230"/>
            <a:ext cx="2728205" cy="194310"/>
          </a:xfrm>
          <a:prstGeom prst="rect">
            <a:avLst/>
          </a:prstGeom>
          <a:noFill/>
        </p:spPr>
        <p:txBody>
          <a:bodyPr wrap="none" lIns="0" rIns="0" tIns="0" bIns="0">
            <a:spAutoFit/>
          </a:bodyPr>
          <a:lstStyle/>
          <a:p>
            <a:r>
              <a:rPr sz="1150" b="0">
                <a:solidFill>
                  <a:srgbClr val="2E2E2E"/>
                </a:solidFill>
                <a:latin typeface="Calibri"/>
              </a:rPr>
              <a:t>pointing to premiumisation headroom in the</a:t>
            </a:r>
          </a:p>
        </p:txBody>
      </p:sp>
      <p:sp>
        <p:nvSpPr>
          <p:cNvPr id="94" name="TextBox 93"/>
          <p:cNvSpPr txBox="1"/>
          <p:nvPr/>
        </p:nvSpPr>
        <p:spPr>
          <a:xfrm>
            <a:off x="8048625" y="3154490"/>
            <a:ext cx="1458540" cy="194310"/>
          </a:xfrm>
          <a:prstGeom prst="rect">
            <a:avLst/>
          </a:prstGeom>
          <a:noFill/>
        </p:spPr>
        <p:txBody>
          <a:bodyPr wrap="none" lIns="0" rIns="0" tIns="0" bIns="0">
            <a:spAutoFit/>
          </a:bodyPr>
          <a:lstStyle/>
          <a:p>
            <a:r>
              <a:rPr sz="1150" b="0">
                <a:solidFill>
                  <a:srgbClr val="2E2E2E"/>
                </a:solidFill>
                <a:latin typeface="Calibri"/>
              </a:rPr>
              <a:t>lower-priced countries.</a:t>
            </a:r>
          </a:p>
        </p:txBody>
      </p:sp>
    </p:spTree>
  </p:cSld>
  <p:clrMapOvr>
    <a:masterClrMapping/>
  </p:clrMapOvr>
</p:sld>
</file>

<file path=ppt/slides/slide1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Summary, By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North America market value growth, incremental opportunity and the geographies driving it, 2021–2036</a:t>
            </a:r>
          </a:p>
        </p:txBody>
      </p:sp>
      <p:sp>
        <p:nvSpPr>
          <p:cNvPr id="10" name="Rounded Rectangle 9"/>
          <p:cNvSpPr/>
          <p:nvPr/>
        </p:nvSpPr>
        <p:spPr>
          <a:xfrm>
            <a:off x="142875"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MARKET SIZE (US$ MN)</a:t>
            </a:r>
          </a:p>
          <a:p>
            <a:pPr algn="ctr">
              <a:lnSpc>
                <a:spcPct val="95000"/>
              </a:lnSpc>
            </a:pPr>
            <a:r>
              <a:rPr sz="1500" b="1">
                <a:solidFill>
                  <a:srgbClr val="0E72AE"/>
                </a:solidFill>
                <a:latin typeface="Calibri"/>
              </a:rPr>
              <a:t> </a:t>
            </a:r>
          </a:p>
        </p:txBody>
      </p:sp>
      <p:sp>
        <p:nvSpPr>
          <p:cNvPr id="11" name="Rounded Rectangle 10"/>
          <p:cNvSpPr/>
          <p:nvPr/>
        </p:nvSpPr>
        <p:spPr>
          <a:xfrm>
            <a:off x="31432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p:txBody>
      </p:sp>
      <p:sp>
        <p:nvSpPr>
          <p:cNvPr id="12" name="Rounded Rectangle 11"/>
          <p:cNvSpPr/>
          <p:nvPr/>
        </p:nvSpPr>
        <p:spPr>
          <a:xfrm>
            <a:off x="61531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2021–2025</a:t>
            </a:r>
          </a:p>
          <a:p>
            <a:pPr algn="ctr">
              <a:lnSpc>
                <a:spcPct val="95000"/>
              </a:lnSpc>
            </a:pPr>
            <a:r>
              <a:rPr sz="1500" b="1">
                <a:solidFill>
                  <a:srgbClr val="0E72AE"/>
                </a:solidFill>
                <a:latin typeface="Calibri"/>
              </a:rPr>
              <a:t> </a:t>
            </a:r>
          </a:p>
        </p:txBody>
      </p:sp>
      <p:sp>
        <p:nvSpPr>
          <p:cNvPr id="13" name="Rounded Rectangle 12"/>
          <p:cNvSpPr/>
          <p:nvPr/>
        </p:nvSpPr>
        <p:spPr>
          <a:xfrm>
            <a:off x="9163050" y="1025515"/>
            <a:ext cx="2876550" cy="511104"/>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1500" b="1">
                <a:solidFill>
                  <a:srgbClr val="0E72AE"/>
                </a:solidFill>
                <a:latin typeface="Calibri"/>
              </a:rPr>
              <a:t> </a:t>
            </a:r>
          </a:p>
        </p:txBody>
      </p:sp>
      <p:sp>
        <p:nvSpPr>
          <p:cNvPr id="14" name="Rounded Rectangle 13"/>
          <p:cNvSpPr/>
          <p:nvPr/>
        </p:nvSpPr>
        <p:spPr>
          <a:xfrm>
            <a:off x="142875" y="1627887"/>
            <a:ext cx="769620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685037"/>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(2021–2036)</a:t>
            </a:r>
          </a:p>
        </p:txBody>
      </p:sp>
      <p:graphicFrame>
        <p:nvGraphicFramePr>
          <p:cNvPr id="16" name="Chart 15"/>
          <p:cNvGraphicFramePr>
            <a:graphicFrameLocks noGrp="1"/>
          </p:cNvGraphicFramePr>
          <p:nvPr/>
        </p:nvGraphicFramePr>
        <p:xfrm>
          <a:off x="238125" y="1913637"/>
          <a:ext cx="7505700" cy="2011827"/>
        </p:xfrm>
        <a:graphic>
          <a:graphicData uri="http://schemas.openxmlformats.org/drawingml/2006/chart">
            <c:chart xmlns:c="http://schemas.openxmlformats.org/drawingml/2006/chart" r:id="rId3"/>
          </a:graphicData>
        </a:graphic>
      </p:graphicFrame>
      <p:sp>
        <p:nvSpPr>
          <p:cNvPr id="17" name="Rounded Rectangle 16"/>
          <p:cNvSpPr/>
          <p:nvPr/>
        </p:nvSpPr>
        <p:spPr>
          <a:xfrm>
            <a:off x="142875" y="4037375"/>
            <a:ext cx="7696200" cy="2519010"/>
          </a:xfrm>
          <a:prstGeom prst="roundRect">
            <a:avLst>
              <a:gd name="adj" fmla="val 30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4094525"/>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Market Addition (US$ Mn)</a:t>
            </a:r>
          </a:p>
        </p:txBody>
      </p:sp>
      <p:graphicFrame>
        <p:nvGraphicFramePr>
          <p:cNvPr id="19" name="Chart 18"/>
          <p:cNvGraphicFramePr>
            <a:graphicFrameLocks noGrp="1"/>
          </p:cNvGraphicFramePr>
          <p:nvPr/>
        </p:nvGraphicFramePr>
        <p:xfrm>
          <a:off x="238125" y="4323125"/>
          <a:ext cx="7505700" cy="2176110"/>
        </p:xfrm>
        <a:graphic>
          <a:graphicData uri="http://schemas.openxmlformats.org/drawingml/2006/chart">
            <c:chart xmlns:c="http://schemas.openxmlformats.org/drawingml/2006/chart" r:id="rId4"/>
          </a:graphicData>
        </a:graphic>
      </p:graphicFrame>
      <p:sp>
        <p:nvSpPr>
          <p:cNvPr id="20" name="Rounded Rectangle 19"/>
          <p:cNvSpPr/>
          <p:nvPr/>
        </p:nvSpPr>
        <p:spPr>
          <a:xfrm>
            <a:off x="7915275" y="1627887"/>
            <a:ext cx="4133850" cy="3046469"/>
          </a:xfrm>
          <a:prstGeom prst="roundRect">
            <a:avLst>
              <a:gd name="adj" fmla="val 250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048625" y="1713612"/>
            <a:ext cx="3867150"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22" name="Rectangle 21"/>
          <p:cNvSpPr/>
          <p:nvPr/>
        </p:nvSpPr>
        <p:spPr>
          <a:xfrm>
            <a:off x="8048625" y="195173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048625" y="2037462"/>
            <a:ext cx="3867150" cy="256069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24" name="Rounded Rectangle 23"/>
          <p:cNvSpPr/>
          <p:nvPr/>
        </p:nvSpPr>
        <p:spPr>
          <a:xfrm>
            <a:off x="7915275" y="4729117"/>
            <a:ext cx="4133850" cy="1827269"/>
          </a:xfrm>
          <a:prstGeom prst="roundRect">
            <a:avLst>
              <a:gd name="adj" fmla="val 41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048625" y="4814842"/>
            <a:ext cx="3867150" cy="209550"/>
          </a:xfrm>
          <a:prstGeom prst="rect">
            <a:avLst/>
          </a:prstGeom>
          <a:noFill/>
        </p:spPr>
        <p:txBody>
          <a:bodyPr wrap="square" lIns="0" rIns="19050" tIns="9525" bIns="9525">
            <a:spAutoFit/>
          </a:bodyPr>
          <a:lstStyle/>
          <a:p>
            <a:pPr algn="l"/>
            <a:r>
              <a:rPr sz="1300" b="1">
                <a:solidFill>
                  <a:srgbClr val="0B2E4A"/>
                </a:solidFill>
                <a:latin typeface="Calibri"/>
              </a:rPr>
              <a:t>Growth Drivers</a:t>
            </a:r>
          </a:p>
        </p:txBody>
      </p:sp>
      <p:sp>
        <p:nvSpPr>
          <p:cNvPr id="26" name="Rectangle 25"/>
          <p:cNvSpPr/>
          <p:nvPr/>
        </p:nvSpPr>
        <p:spPr>
          <a:xfrm>
            <a:off x="8048625" y="5052967"/>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048625" y="5138692"/>
            <a:ext cx="3867150" cy="134149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8" name="TextBox 2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9" name="Picture 28" descr="lock.png"/>
          <p:cNvPicPr>
            <a:picLocks noChangeAspect="1"/>
          </p:cNvPicPr>
          <p:nvPr/>
        </p:nvPicPr>
        <p:blipFill>
          <a:blip r:embed="rId6"/>
          <a:stretch>
            <a:fillRect/>
          </a:stretch>
        </p:blipFill>
        <p:spPr>
          <a:xfrm>
            <a:off x="1502569" y="1250587"/>
            <a:ext cx="157162" cy="228600"/>
          </a:xfrm>
          <a:prstGeom prst="rect">
            <a:avLst/>
          </a:prstGeom>
        </p:spPr>
      </p:pic>
      <p:pic>
        <p:nvPicPr>
          <p:cNvPr id="30" name="Picture 29" descr="lock.png"/>
          <p:cNvPicPr>
            <a:picLocks noChangeAspect="1"/>
          </p:cNvPicPr>
          <p:nvPr/>
        </p:nvPicPr>
        <p:blipFill>
          <a:blip r:embed="rId6"/>
          <a:stretch>
            <a:fillRect/>
          </a:stretch>
        </p:blipFill>
        <p:spPr>
          <a:xfrm>
            <a:off x="4502944" y="1250587"/>
            <a:ext cx="157162" cy="228600"/>
          </a:xfrm>
          <a:prstGeom prst="rect">
            <a:avLst/>
          </a:prstGeom>
        </p:spPr>
      </p:pic>
      <p:pic>
        <p:nvPicPr>
          <p:cNvPr id="31" name="Picture 30" descr="lock.png"/>
          <p:cNvPicPr>
            <a:picLocks noChangeAspect="1"/>
          </p:cNvPicPr>
          <p:nvPr/>
        </p:nvPicPr>
        <p:blipFill>
          <a:blip r:embed="rId6"/>
          <a:stretch>
            <a:fillRect/>
          </a:stretch>
        </p:blipFill>
        <p:spPr>
          <a:xfrm>
            <a:off x="7512844" y="1250587"/>
            <a:ext cx="157162" cy="228600"/>
          </a:xfrm>
          <a:prstGeom prst="rect">
            <a:avLst/>
          </a:prstGeom>
        </p:spPr>
      </p:pic>
      <p:pic>
        <p:nvPicPr>
          <p:cNvPr id="32" name="Picture 31" descr="lock.png"/>
          <p:cNvPicPr>
            <a:picLocks noChangeAspect="1"/>
          </p:cNvPicPr>
          <p:nvPr/>
        </p:nvPicPr>
        <p:blipFill>
          <a:blip r:embed="rId6"/>
          <a:stretch>
            <a:fillRect/>
          </a:stretch>
        </p:blipFill>
        <p:spPr>
          <a:xfrm>
            <a:off x="10522744" y="1250587"/>
            <a:ext cx="157162" cy="228600"/>
          </a:xfrm>
          <a:prstGeom prst="rect">
            <a:avLst/>
          </a:prstGeom>
        </p:spPr>
      </p:pic>
      <p:pic>
        <p:nvPicPr>
          <p:cNvPr id="33" name="Picture 32" descr="lock.png"/>
          <p:cNvPicPr>
            <a:picLocks noChangeAspect="1"/>
          </p:cNvPicPr>
          <p:nvPr/>
        </p:nvPicPr>
        <p:blipFill>
          <a:blip r:embed="rId6"/>
          <a:stretch>
            <a:fillRect/>
          </a:stretch>
        </p:blipFill>
        <p:spPr>
          <a:xfrm>
            <a:off x="3991062" y="5157531"/>
            <a:ext cx="289830" cy="421571"/>
          </a:xfrm>
          <a:prstGeom prst="rect">
            <a:avLst/>
          </a:prstGeom>
        </p:spPr>
      </p:pic>
      <p:sp>
        <p:nvSpPr>
          <p:cNvPr id="34" name="TextBox 33"/>
          <p:cNvSpPr txBox="1"/>
          <p:nvPr/>
        </p:nvSpPr>
        <p:spPr>
          <a:xfrm>
            <a:off x="8048625" y="2046987"/>
            <a:ext cx="3617813" cy="186689"/>
          </a:xfrm>
          <a:prstGeom prst="rect">
            <a:avLst/>
          </a:prstGeom>
          <a:noFill/>
        </p:spPr>
        <p:txBody>
          <a:bodyPr wrap="none" lIns="0" rIns="0" tIns="0" bIns="0">
            <a:spAutoFit/>
          </a:bodyPr>
          <a:lstStyle/>
          <a:p>
            <a:r>
              <a:rPr sz="1100" b="0">
                <a:solidFill>
                  <a:srgbClr val="2E2E2E"/>
                </a:solidFill>
                <a:latin typeface="Calibri"/>
              </a:rPr>
              <a:t>Matcha market value in North America is expected to increase</a:t>
            </a:r>
          </a:p>
        </p:txBody>
      </p:sp>
      <p:pic>
        <p:nvPicPr>
          <p:cNvPr id="35" name="Picture 34" descr="lock.png"/>
          <p:cNvPicPr>
            <a:picLocks noChangeAspect="1"/>
          </p:cNvPicPr>
          <p:nvPr/>
        </p:nvPicPr>
        <p:blipFill>
          <a:blip r:embed="rId6"/>
          <a:stretch>
            <a:fillRect/>
          </a:stretch>
        </p:blipFill>
        <p:spPr>
          <a:xfrm>
            <a:off x="8035157" y="2204848"/>
            <a:ext cx="128699" cy="187198"/>
          </a:xfrm>
          <a:prstGeom prst="rect">
            <a:avLst/>
          </a:prstGeom>
        </p:spPr>
      </p:pic>
      <p:sp>
        <p:nvSpPr>
          <p:cNvPr id="36" name="TextBox 35"/>
          <p:cNvSpPr txBox="1"/>
          <p:nvPr/>
        </p:nvSpPr>
        <p:spPr>
          <a:xfrm>
            <a:off x="8202653" y="2214627"/>
            <a:ext cx="3338958" cy="186689"/>
          </a:xfrm>
          <a:prstGeom prst="rect">
            <a:avLst/>
          </a:prstGeom>
          <a:noFill/>
        </p:spPr>
        <p:txBody>
          <a:bodyPr wrap="none" lIns="0" rIns="0" tIns="0" bIns="0">
            <a:spAutoFit/>
          </a:bodyPr>
          <a:lstStyle/>
          <a:p>
            <a:r>
              <a:rPr sz="1100" b="0">
                <a:solidFill>
                  <a:srgbClr val="2E2E2E"/>
                </a:solidFill>
                <a:latin typeface="Calibri"/>
              </a:rPr>
              <a:t>X between 2025 and 2036. In 2025, the matcha market in</a:t>
            </a:r>
          </a:p>
        </p:txBody>
      </p:sp>
      <p:sp>
        <p:nvSpPr>
          <p:cNvPr id="37" name="TextBox 36"/>
          <p:cNvSpPr txBox="1"/>
          <p:nvPr/>
        </p:nvSpPr>
        <p:spPr>
          <a:xfrm>
            <a:off x="8048625" y="2382267"/>
            <a:ext cx="1974974" cy="186689"/>
          </a:xfrm>
          <a:prstGeom prst="rect">
            <a:avLst/>
          </a:prstGeom>
          <a:noFill/>
        </p:spPr>
        <p:txBody>
          <a:bodyPr wrap="none" lIns="0" rIns="0" tIns="0" bIns="0">
            <a:spAutoFit/>
          </a:bodyPr>
          <a:lstStyle/>
          <a:p>
            <a:r>
              <a:rPr sz="1100" b="0">
                <a:solidFill>
                  <a:srgbClr val="2E2E2E"/>
                </a:solidFill>
                <a:latin typeface="Calibri"/>
              </a:rPr>
              <a:t>North America was valued at US$</a:t>
            </a:r>
          </a:p>
        </p:txBody>
      </p:sp>
      <p:pic>
        <p:nvPicPr>
          <p:cNvPr id="38" name="Picture 37" descr="lock.png"/>
          <p:cNvPicPr>
            <a:picLocks noChangeAspect="1"/>
          </p:cNvPicPr>
          <p:nvPr/>
        </p:nvPicPr>
        <p:blipFill>
          <a:blip r:embed="rId6"/>
          <a:stretch>
            <a:fillRect/>
          </a:stretch>
        </p:blipFill>
        <p:spPr>
          <a:xfrm>
            <a:off x="9971650" y="2372488"/>
            <a:ext cx="128699" cy="187198"/>
          </a:xfrm>
          <a:prstGeom prst="rect">
            <a:avLst/>
          </a:prstGeom>
        </p:spPr>
      </p:pic>
      <p:sp>
        <p:nvSpPr>
          <p:cNvPr id="39" name="TextBox 38"/>
          <p:cNvSpPr txBox="1"/>
          <p:nvPr/>
        </p:nvSpPr>
        <p:spPr>
          <a:xfrm>
            <a:off x="10139146" y="2382267"/>
            <a:ext cx="1388343" cy="186689"/>
          </a:xfrm>
          <a:prstGeom prst="rect">
            <a:avLst/>
          </a:prstGeom>
          <a:noFill/>
        </p:spPr>
        <p:txBody>
          <a:bodyPr wrap="none" lIns="0" rIns="0" tIns="0" bIns="0">
            <a:spAutoFit/>
          </a:bodyPr>
          <a:lstStyle/>
          <a:p>
            <a:r>
              <a:rPr sz="1100" b="0">
                <a:solidFill>
                  <a:srgbClr val="2E2E2E"/>
                </a:solidFill>
                <a:latin typeface="Calibri"/>
              </a:rPr>
              <a:t>Mn and is estimated to</a:t>
            </a:r>
          </a:p>
        </p:txBody>
      </p:sp>
      <p:sp>
        <p:nvSpPr>
          <p:cNvPr id="40" name="TextBox 39"/>
          <p:cNvSpPr txBox="1"/>
          <p:nvPr/>
        </p:nvSpPr>
        <p:spPr>
          <a:xfrm>
            <a:off x="8048625" y="2549907"/>
            <a:ext cx="982067" cy="186689"/>
          </a:xfrm>
          <a:prstGeom prst="rect">
            <a:avLst/>
          </a:prstGeom>
          <a:noFill/>
        </p:spPr>
        <p:txBody>
          <a:bodyPr wrap="none" lIns="0" rIns="0" tIns="0" bIns="0">
            <a:spAutoFit/>
          </a:bodyPr>
          <a:lstStyle/>
          <a:p>
            <a:r>
              <a:rPr sz="1100" b="0">
                <a:solidFill>
                  <a:srgbClr val="2E2E2E"/>
                </a:solidFill>
                <a:latin typeface="Calibri"/>
              </a:rPr>
              <a:t>account for US$</a:t>
            </a:r>
          </a:p>
        </p:txBody>
      </p:sp>
      <p:pic>
        <p:nvPicPr>
          <p:cNvPr id="41" name="Picture 40" descr="lock.png"/>
          <p:cNvPicPr>
            <a:picLocks noChangeAspect="1"/>
          </p:cNvPicPr>
          <p:nvPr/>
        </p:nvPicPr>
        <p:blipFill>
          <a:blip r:embed="rId6"/>
          <a:stretch>
            <a:fillRect/>
          </a:stretch>
        </p:blipFill>
        <p:spPr>
          <a:xfrm>
            <a:off x="8978743" y="2540128"/>
            <a:ext cx="128699" cy="187198"/>
          </a:xfrm>
          <a:prstGeom prst="rect">
            <a:avLst/>
          </a:prstGeom>
        </p:spPr>
      </p:pic>
      <p:sp>
        <p:nvSpPr>
          <p:cNvPr id="42" name="TextBox 41"/>
          <p:cNvSpPr txBox="1"/>
          <p:nvPr/>
        </p:nvSpPr>
        <p:spPr>
          <a:xfrm>
            <a:off x="9146239" y="2549907"/>
            <a:ext cx="2403078" cy="186689"/>
          </a:xfrm>
          <a:prstGeom prst="rect">
            <a:avLst/>
          </a:prstGeom>
          <a:noFill/>
        </p:spPr>
        <p:txBody>
          <a:bodyPr wrap="none" lIns="0" rIns="0" tIns="0" bIns="0">
            <a:spAutoFit/>
          </a:bodyPr>
          <a:lstStyle/>
          <a:p>
            <a:r>
              <a:rPr sz="1100" b="0">
                <a:solidFill>
                  <a:srgbClr val="2E2E2E"/>
                </a:solidFill>
                <a:latin typeface="Calibri"/>
              </a:rPr>
              <a:t>Mn by the end of 2026, reflecting a Y-o-Y</a:t>
            </a:r>
          </a:p>
        </p:txBody>
      </p:sp>
      <p:sp>
        <p:nvSpPr>
          <p:cNvPr id="43" name="TextBox 42"/>
          <p:cNvSpPr txBox="1"/>
          <p:nvPr/>
        </p:nvSpPr>
        <p:spPr>
          <a:xfrm>
            <a:off x="8048625" y="2717547"/>
            <a:ext cx="896391" cy="186689"/>
          </a:xfrm>
          <a:prstGeom prst="rect">
            <a:avLst/>
          </a:prstGeom>
          <a:noFill/>
        </p:spPr>
        <p:txBody>
          <a:bodyPr wrap="none" lIns="0" rIns="0" tIns="0" bIns="0">
            <a:spAutoFit/>
          </a:bodyPr>
          <a:lstStyle/>
          <a:p>
            <a:r>
              <a:rPr sz="1100" b="0">
                <a:solidFill>
                  <a:srgbClr val="2E2E2E"/>
                </a:solidFill>
                <a:latin typeface="Calibri"/>
              </a:rPr>
              <a:t>growth rate of</a:t>
            </a:r>
          </a:p>
        </p:txBody>
      </p:sp>
      <p:pic>
        <p:nvPicPr>
          <p:cNvPr id="44" name="Picture 43" descr="lock.png"/>
          <p:cNvPicPr>
            <a:picLocks noChangeAspect="1"/>
          </p:cNvPicPr>
          <p:nvPr/>
        </p:nvPicPr>
        <p:blipFill>
          <a:blip r:embed="rId6"/>
          <a:stretch>
            <a:fillRect/>
          </a:stretch>
        </p:blipFill>
        <p:spPr>
          <a:xfrm>
            <a:off x="8893068" y="2707768"/>
            <a:ext cx="128699" cy="187198"/>
          </a:xfrm>
          <a:prstGeom prst="rect">
            <a:avLst/>
          </a:prstGeom>
        </p:spPr>
      </p:pic>
      <p:sp>
        <p:nvSpPr>
          <p:cNvPr id="45" name="TextBox 44"/>
          <p:cNvSpPr txBox="1"/>
          <p:nvPr/>
        </p:nvSpPr>
        <p:spPr>
          <a:xfrm>
            <a:off x="9060564" y="2717547"/>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8048625" y="2935479"/>
            <a:ext cx="3491210" cy="186689"/>
          </a:xfrm>
          <a:prstGeom prst="rect">
            <a:avLst/>
          </a:prstGeom>
          <a:noFill/>
        </p:spPr>
        <p:txBody>
          <a:bodyPr wrap="none" lIns="0" rIns="0" tIns="0" bIns="0">
            <a:spAutoFit/>
          </a:bodyPr>
          <a:lstStyle/>
          <a:p>
            <a:r>
              <a:rPr sz="1100" b="0">
                <a:solidFill>
                  <a:srgbClr val="2E2E2E"/>
                </a:solidFill>
                <a:latin typeface="Calibri"/>
              </a:rPr>
              <a:t>The market in North America is expected to account for US$</a:t>
            </a:r>
          </a:p>
        </p:txBody>
      </p:sp>
      <p:pic>
        <p:nvPicPr>
          <p:cNvPr id="47" name="Picture 46" descr="lock.png"/>
          <p:cNvPicPr>
            <a:picLocks noChangeAspect="1"/>
          </p:cNvPicPr>
          <p:nvPr/>
        </p:nvPicPr>
        <p:blipFill>
          <a:blip r:embed="rId6"/>
          <a:stretch>
            <a:fillRect/>
          </a:stretch>
        </p:blipFill>
        <p:spPr>
          <a:xfrm>
            <a:off x="8035157" y="3093340"/>
            <a:ext cx="128699" cy="187198"/>
          </a:xfrm>
          <a:prstGeom prst="rect">
            <a:avLst/>
          </a:prstGeom>
        </p:spPr>
      </p:pic>
      <p:sp>
        <p:nvSpPr>
          <p:cNvPr id="48" name="TextBox 47"/>
          <p:cNvSpPr txBox="1"/>
          <p:nvPr/>
        </p:nvSpPr>
        <p:spPr>
          <a:xfrm>
            <a:off x="8202653" y="3103119"/>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49" name="Picture 48" descr="lock.png"/>
          <p:cNvPicPr>
            <a:picLocks noChangeAspect="1"/>
          </p:cNvPicPr>
          <p:nvPr/>
        </p:nvPicPr>
        <p:blipFill>
          <a:blip r:embed="rId6"/>
          <a:stretch>
            <a:fillRect/>
          </a:stretch>
        </p:blipFill>
        <p:spPr>
          <a:xfrm>
            <a:off x="9646261" y="3093340"/>
            <a:ext cx="128699" cy="187198"/>
          </a:xfrm>
          <a:prstGeom prst="rect">
            <a:avLst/>
          </a:prstGeom>
        </p:spPr>
      </p:pic>
      <p:sp>
        <p:nvSpPr>
          <p:cNvPr id="50" name="TextBox 49"/>
          <p:cNvSpPr txBox="1"/>
          <p:nvPr/>
        </p:nvSpPr>
        <p:spPr>
          <a:xfrm>
            <a:off x="9813757" y="3103119"/>
            <a:ext cx="1849462" cy="186689"/>
          </a:xfrm>
          <a:prstGeom prst="rect">
            <a:avLst/>
          </a:prstGeom>
          <a:noFill/>
        </p:spPr>
        <p:txBody>
          <a:bodyPr wrap="none" lIns="0" rIns="0" tIns="0" bIns="0">
            <a:spAutoFit/>
          </a:bodyPr>
          <a:lstStyle/>
          <a:p>
            <a:r>
              <a:rPr sz="1100" b="0">
                <a:solidFill>
                  <a:srgbClr val="2E2E2E"/>
                </a:solidFill>
                <a:latin typeface="Calibri"/>
              </a:rPr>
              <a:t>over the forecast period. North</a:t>
            </a:r>
          </a:p>
        </p:txBody>
      </p:sp>
      <p:sp>
        <p:nvSpPr>
          <p:cNvPr id="51" name="TextBox 50"/>
          <p:cNvSpPr txBox="1"/>
          <p:nvPr/>
        </p:nvSpPr>
        <p:spPr>
          <a:xfrm>
            <a:off x="8048625" y="3270759"/>
            <a:ext cx="3764880" cy="186689"/>
          </a:xfrm>
          <a:prstGeom prst="rect">
            <a:avLst/>
          </a:prstGeom>
          <a:noFill/>
        </p:spPr>
        <p:txBody>
          <a:bodyPr wrap="none" lIns="0" rIns="0" tIns="0" bIns="0">
            <a:spAutoFit/>
          </a:bodyPr>
          <a:lstStyle/>
          <a:p>
            <a:r>
              <a:rPr sz="1100" b="0">
                <a:solidFill>
                  <a:srgbClr val="2E2E2E"/>
                </a:solidFill>
                <a:latin typeface="Calibri"/>
              </a:rPr>
              <a:t>America is expected to create an incremental opportunity of US$</a:t>
            </a:r>
          </a:p>
        </p:txBody>
      </p:sp>
      <p:pic>
        <p:nvPicPr>
          <p:cNvPr id="52" name="Picture 51" descr="lock.png"/>
          <p:cNvPicPr>
            <a:picLocks noChangeAspect="1"/>
          </p:cNvPicPr>
          <p:nvPr/>
        </p:nvPicPr>
        <p:blipFill>
          <a:blip r:embed="rId6"/>
          <a:stretch>
            <a:fillRect/>
          </a:stretch>
        </p:blipFill>
        <p:spPr>
          <a:xfrm>
            <a:off x="8035157" y="3428620"/>
            <a:ext cx="128699" cy="187198"/>
          </a:xfrm>
          <a:prstGeom prst="rect">
            <a:avLst/>
          </a:prstGeom>
        </p:spPr>
      </p:pic>
      <p:sp>
        <p:nvSpPr>
          <p:cNvPr id="53" name="TextBox 52"/>
          <p:cNvSpPr txBox="1"/>
          <p:nvPr/>
        </p:nvSpPr>
        <p:spPr>
          <a:xfrm>
            <a:off x="8202653" y="3438399"/>
            <a:ext cx="3127499" cy="186689"/>
          </a:xfrm>
          <a:prstGeom prst="rect">
            <a:avLst/>
          </a:prstGeom>
          <a:noFill/>
        </p:spPr>
        <p:txBody>
          <a:bodyPr wrap="none" lIns="0" rIns="0" tIns="0" bIns="0">
            <a:spAutoFit/>
          </a:bodyPr>
          <a:lstStyle/>
          <a:p>
            <a:r>
              <a:rPr sz="1100" b="0">
                <a:solidFill>
                  <a:srgbClr val="2E2E2E"/>
                </a:solidFill>
                <a:latin typeface="Calibri"/>
              </a:rPr>
              <a:t>Mn for the overall matcha market from 2025 to 2036.</a:t>
            </a:r>
          </a:p>
        </p:txBody>
      </p:sp>
      <p:sp>
        <p:nvSpPr>
          <p:cNvPr id="54" name="TextBox 53"/>
          <p:cNvSpPr txBox="1"/>
          <p:nvPr/>
        </p:nvSpPr>
        <p:spPr>
          <a:xfrm>
            <a:off x="8048625" y="3656331"/>
            <a:ext cx="2837184" cy="186689"/>
          </a:xfrm>
          <a:prstGeom prst="rect">
            <a:avLst/>
          </a:prstGeom>
          <a:noFill/>
        </p:spPr>
        <p:txBody>
          <a:bodyPr wrap="none" lIns="0" rIns="0" tIns="0" bIns="0">
            <a:spAutoFit/>
          </a:bodyPr>
          <a:lstStyle/>
          <a:p>
            <a:r>
              <a:rPr sz="1100" b="0">
                <a:solidFill>
                  <a:srgbClr val="2E2E2E"/>
                </a:solidFill>
                <a:latin typeface="Calibri"/>
              </a:rPr>
              <a:t>Absolute $ value for 2026 is estimated to be US$</a:t>
            </a:r>
          </a:p>
        </p:txBody>
      </p:sp>
      <p:pic>
        <p:nvPicPr>
          <p:cNvPr id="55" name="Picture 54" descr="lock.png"/>
          <p:cNvPicPr>
            <a:picLocks noChangeAspect="1"/>
          </p:cNvPicPr>
          <p:nvPr/>
        </p:nvPicPr>
        <p:blipFill>
          <a:blip r:embed="rId6"/>
          <a:stretch>
            <a:fillRect/>
          </a:stretch>
        </p:blipFill>
        <p:spPr>
          <a:xfrm>
            <a:off x="10833861" y="3646552"/>
            <a:ext cx="128699" cy="187198"/>
          </a:xfrm>
          <a:prstGeom prst="rect">
            <a:avLst/>
          </a:prstGeom>
        </p:spPr>
      </p:pic>
      <p:sp>
        <p:nvSpPr>
          <p:cNvPr id="56" name="TextBox 55"/>
          <p:cNvSpPr txBox="1"/>
          <p:nvPr/>
        </p:nvSpPr>
        <p:spPr>
          <a:xfrm>
            <a:off x="11001357" y="3656331"/>
            <a:ext cx="304303" cy="186689"/>
          </a:xfrm>
          <a:prstGeom prst="rect">
            <a:avLst/>
          </a:prstGeom>
          <a:noFill/>
        </p:spPr>
        <p:txBody>
          <a:bodyPr wrap="none" lIns="0" rIns="0" tIns="0" bIns="0">
            <a:spAutoFit/>
          </a:bodyPr>
          <a:lstStyle/>
          <a:p>
            <a:r>
              <a:rPr sz="1100" b="0">
                <a:solidFill>
                  <a:srgbClr val="2E2E2E"/>
                </a:solidFill>
                <a:latin typeface="Calibri"/>
              </a:rPr>
              <a:t>Mn.</a:t>
            </a:r>
          </a:p>
        </p:txBody>
      </p:sp>
      <p:sp>
        <p:nvSpPr>
          <p:cNvPr id="57" name="TextBox 56"/>
          <p:cNvSpPr txBox="1"/>
          <p:nvPr/>
        </p:nvSpPr>
        <p:spPr>
          <a:xfrm>
            <a:off x="8048625" y="5148217"/>
            <a:ext cx="2138300" cy="194310"/>
          </a:xfrm>
          <a:prstGeom prst="rect">
            <a:avLst/>
          </a:prstGeom>
          <a:noFill/>
        </p:spPr>
        <p:txBody>
          <a:bodyPr wrap="none" lIns="0" rIns="0" tIns="0" bIns="0">
            <a:spAutoFit/>
          </a:bodyPr>
          <a:lstStyle/>
          <a:p>
            <a:r>
              <a:rPr sz="1150" b="0">
                <a:solidFill>
                  <a:srgbClr val="2E2E2E"/>
                </a:solidFill>
                <a:latin typeface="Calibri"/>
              </a:rPr>
              <a:t>▪ 'Canada' leads regional growth at</a:t>
            </a:r>
          </a:p>
        </p:txBody>
      </p:sp>
      <p:pic>
        <p:nvPicPr>
          <p:cNvPr id="58" name="Picture 57" descr="lock.png"/>
          <p:cNvPicPr>
            <a:picLocks noChangeAspect="1"/>
          </p:cNvPicPr>
          <p:nvPr/>
        </p:nvPicPr>
        <p:blipFill>
          <a:blip r:embed="rId6"/>
          <a:stretch>
            <a:fillRect/>
          </a:stretch>
        </p:blipFill>
        <p:spPr>
          <a:xfrm>
            <a:off x="10136079" y="5137993"/>
            <a:ext cx="134549" cy="195707"/>
          </a:xfrm>
          <a:prstGeom prst="rect">
            <a:avLst/>
          </a:prstGeom>
        </p:spPr>
      </p:pic>
      <p:sp>
        <p:nvSpPr>
          <p:cNvPr id="59" name="TextBox 58"/>
          <p:cNvSpPr txBox="1"/>
          <p:nvPr/>
        </p:nvSpPr>
        <p:spPr>
          <a:xfrm>
            <a:off x="10311188" y="5148217"/>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0" name="TextBox 59"/>
          <p:cNvSpPr txBox="1"/>
          <p:nvPr/>
        </p:nvSpPr>
        <p:spPr>
          <a:xfrm>
            <a:off x="8048625" y="5376055"/>
            <a:ext cx="3063378" cy="194310"/>
          </a:xfrm>
          <a:prstGeom prst="rect">
            <a:avLst/>
          </a:prstGeom>
          <a:noFill/>
        </p:spPr>
        <p:txBody>
          <a:bodyPr wrap="none" lIns="0" rIns="0" tIns="0" bIns="0">
            <a:spAutoFit/>
          </a:bodyPr>
          <a:lstStyle/>
          <a:p>
            <a:r>
              <a:rPr sz="1150" b="0">
                <a:solidFill>
                  <a:srgbClr val="2E2E2E"/>
                </a:solidFill>
                <a:latin typeface="Calibri"/>
              </a:rPr>
              <a:t>▪ Demand concentrates in 'Organic' within Nature.</a:t>
            </a:r>
          </a:p>
        </p:txBody>
      </p:sp>
      <p:sp>
        <p:nvSpPr>
          <p:cNvPr id="61" name="TextBox 60"/>
          <p:cNvSpPr txBox="1"/>
          <p:nvPr/>
        </p:nvSpPr>
        <p:spPr>
          <a:xfrm>
            <a:off x="8048625" y="5603893"/>
            <a:ext cx="3291296" cy="194310"/>
          </a:xfrm>
          <a:prstGeom prst="rect">
            <a:avLst/>
          </a:prstGeom>
          <a:noFill/>
        </p:spPr>
        <p:txBody>
          <a:bodyPr wrap="none" lIns="0" rIns="0" tIns="0" bIns="0">
            <a:spAutoFit/>
          </a:bodyPr>
          <a:lstStyle/>
          <a:p>
            <a:r>
              <a:rPr sz="1150" b="0">
                <a:solidFill>
                  <a:srgbClr val="2E2E2E"/>
                </a:solidFill>
                <a:latin typeface="Calibri"/>
              </a:rPr>
              <a:t>▪ Product innovation and premiumisation lifting value.</a:t>
            </a:r>
          </a:p>
        </p:txBody>
      </p:sp>
      <p:sp>
        <p:nvSpPr>
          <p:cNvPr id="62" name="TextBox 61"/>
          <p:cNvSpPr txBox="1"/>
          <p:nvPr/>
        </p:nvSpPr>
        <p:spPr>
          <a:xfrm>
            <a:off x="8048625" y="5831730"/>
            <a:ext cx="2741327" cy="194310"/>
          </a:xfrm>
          <a:prstGeom prst="rect">
            <a:avLst/>
          </a:prstGeom>
          <a:noFill/>
        </p:spPr>
        <p:txBody>
          <a:bodyPr wrap="none" lIns="0" rIns="0" tIns="0" bIns="0">
            <a:spAutoFit/>
          </a:bodyPr>
          <a:lstStyle/>
          <a:p>
            <a:r>
              <a:rPr sz="1150" b="0">
                <a:solidFill>
                  <a:srgbClr val="2E2E2E"/>
                </a:solidFill>
                <a:latin typeface="Calibri"/>
              </a:rPr>
              <a:t>▪ Expanding end-use applications and access.</a:t>
            </a:r>
          </a:p>
        </p:txBody>
      </p:sp>
      <p:sp>
        <p:nvSpPr>
          <p:cNvPr id="63" name="lockshield_16"/>
          <p:cNvSpPr/>
          <p:nvPr/>
        </p:nvSpPr>
        <p:spPr>
          <a:xfrm>
            <a:off x="238125" y="1913637"/>
            <a:ext cx="7505700" cy="2011827"/>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lockshield_19"/>
          <p:cNvSpPr/>
          <p:nvPr/>
        </p:nvSpPr>
        <p:spPr>
          <a:xfrm>
            <a:off x="238125" y="4323125"/>
            <a:ext cx="7505700" cy="217611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Volume &amp; Value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and value growth of the North America market and the incremental $ opportunity it creates, 2021–2036</a:t>
            </a:r>
          </a:p>
        </p:txBody>
      </p:sp>
      <p:sp>
        <p:nvSpPr>
          <p:cNvPr id="10" name="Rounded Rectangle 9"/>
          <p:cNvSpPr/>
          <p:nvPr/>
        </p:nvSpPr>
        <p:spPr>
          <a:xfrm>
            <a:off x="142875" y="981075"/>
            <a:ext cx="4695825"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2021–2025 (Historical)</a:t>
            </a:r>
          </a:p>
        </p:txBody>
      </p:sp>
      <p:graphicFrame>
        <p:nvGraphicFramePr>
          <p:cNvPr id="12" name="Chart 11"/>
          <p:cNvGraphicFramePr>
            <a:graphicFrameLocks noGrp="1"/>
          </p:cNvGraphicFramePr>
          <p:nvPr/>
        </p:nvGraphicFramePr>
        <p:xfrm>
          <a:off x="238125" y="1266825"/>
          <a:ext cx="4505325" cy="2181225"/>
        </p:xfrm>
        <a:graphic>
          <a:graphicData uri="http://schemas.openxmlformats.org/drawingml/2006/chart">
            <c:chart xmlns:c="http://schemas.openxmlformats.org/drawingml/2006/chart" r:id="rId3"/>
          </a:graphicData>
        </a:graphic>
      </p:graphicFrame>
      <p:sp>
        <p:nvSpPr>
          <p:cNvPr id="13" name="Rounded Rectangle 12"/>
          <p:cNvSpPr/>
          <p:nvPr/>
        </p:nvSpPr>
        <p:spPr>
          <a:xfrm>
            <a:off x="4991100" y="981075"/>
            <a:ext cx="7048500" cy="2524125"/>
          </a:xfrm>
          <a:prstGeom prst="roundRect">
            <a:avLst>
              <a:gd name="adj" fmla="val 30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5086350" y="10382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2026–2036 (Forecast)</a:t>
            </a:r>
          </a:p>
        </p:txBody>
      </p:sp>
      <p:graphicFrame>
        <p:nvGraphicFramePr>
          <p:cNvPr id="15" name="Chart 14"/>
          <p:cNvGraphicFramePr>
            <a:graphicFrameLocks noGrp="1"/>
          </p:cNvGraphicFramePr>
          <p:nvPr/>
        </p:nvGraphicFramePr>
        <p:xfrm>
          <a:off x="5086350" y="1266825"/>
          <a:ext cx="6858000" cy="21812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2021–2025</a:t>
            </a:r>
          </a:p>
          <a:p>
            <a:pPr algn="ctr">
              <a:lnSpc>
                <a:spcPct val="95000"/>
              </a:lnSpc>
            </a:pPr>
            <a:r>
              <a:rPr sz="1500" b="1">
                <a:solidFill>
                  <a:srgbClr val="0E72AE"/>
                </a:solidFill>
                <a:latin typeface="Calibri"/>
              </a:rPr>
              <a:t> </a:t>
            </a:r>
          </a:p>
        </p:txBody>
      </p:sp>
      <p:sp>
        <p:nvSpPr>
          <p:cNvPr id="17" name="Rounded Rectangle 16"/>
          <p:cNvSpPr/>
          <p:nvPr/>
        </p:nvSpPr>
        <p:spPr>
          <a:xfrm>
            <a:off x="2809875" y="3638550"/>
            <a:ext cx="25146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VALUE CAGR 2026–2036</a:t>
            </a:r>
          </a:p>
          <a:p>
            <a:pPr algn="ctr">
              <a:lnSpc>
                <a:spcPct val="95000"/>
              </a:lnSpc>
            </a:pPr>
            <a:r>
              <a:rPr sz="1500" b="1">
                <a:solidFill>
                  <a:srgbClr val="0E72AE"/>
                </a:solidFill>
                <a:latin typeface="Calibri"/>
              </a:rPr>
              <a:t> </a:t>
            </a:r>
          </a:p>
        </p:txBody>
      </p:sp>
      <p:sp>
        <p:nvSpPr>
          <p:cNvPr id="18" name="Rounded Rectangle 17"/>
          <p:cNvSpPr/>
          <p:nvPr/>
        </p:nvSpPr>
        <p:spPr>
          <a:xfrm>
            <a:off x="54768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2026–2031</a:t>
            </a:r>
          </a:p>
          <a:p>
            <a:pPr algn="ctr">
              <a:lnSpc>
                <a:spcPct val="95000"/>
              </a:lnSpc>
            </a:pPr>
            <a:r>
              <a:rPr sz="1500" b="1">
                <a:solidFill>
                  <a:srgbClr val="0E72AE"/>
                </a:solidFill>
                <a:latin typeface="Calibri"/>
              </a:rPr>
              <a:t> </a:t>
            </a:r>
          </a:p>
        </p:txBody>
      </p:sp>
      <p:sp>
        <p:nvSpPr>
          <p:cNvPr id="19" name="Rounded Rectangle 18"/>
          <p:cNvSpPr/>
          <p:nvPr/>
        </p:nvSpPr>
        <p:spPr>
          <a:xfrm>
            <a:off x="8829675" y="3638550"/>
            <a:ext cx="3200400" cy="68580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INCREMENTAL $ OPPORTUNITY 2026–2036</a:t>
            </a:r>
          </a:p>
          <a:p>
            <a:pPr algn="ctr">
              <a:lnSpc>
                <a:spcPct val="95000"/>
              </a:lnSpc>
            </a:pPr>
            <a:r>
              <a:rPr sz="1500" b="1">
                <a:solidFill>
                  <a:srgbClr val="0E72AE"/>
                </a:solidFill>
                <a:latin typeface="Calibri"/>
              </a:rPr>
              <a:t> </a:t>
            </a:r>
          </a:p>
        </p:txBody>
      </p:sp>
      <p:sp>
        <p:nvSpPr>
          <p:cNvPr id="20" name="Rounded Rectangle 19"/>
          <p:cNvSpPr/>
          <p:nvPr/>
        </p:nvSpPr>
        <p:spPr>
          <a:xfrm>
            <a:off x="142875" y="4457700"/>
            <a:ext cx="11906250" cy="2152650"/>
          </a:xfrm>
          <a:prstGeom prst="roundRect">
            <a:avLst>
              <a:gd name="adj" fmla="val 353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54342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&amp; Value Analysis</a:t>
            </a:r>
          </a:p>
        </p:txBody>
      </p:sp>
      <p:sp>
        <p:nvSpPr>
          <p:cNvPr id="22" name="Rectangle 21"/>
          <p:cNvSpPr/>
          <p:nvPr/>
        </p:nvSpPr>
        <p:spPr>
          <a:xfrm>
            <a:off x="276225" y="47815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4867275"/>
            <a:ext cx="11639550" cy="1666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2535356" y="2029222"/>
            <a:ext cx="202455" cy="294480"/>
          </a:xfrm>
          <a:prstGeom prst="rect">
            <a:avLst/>
          </a:prstGeom>
        </p:spPr>
      </p:pic>
      <p:pic>
        <p:nvPicPr>
          <p:cNvPr id="26" name="Picture 25" descr="lock.png"/>
          <p:cNvPicPr>
            <a:picLocks noChangeAspect="1"/>
          </p:cNvPicPr>
          <p:nvPr/>
        </p:nvPicPr>
        <p:blipFill>
          <a:blip r:embed="rId6"/>
          <a:stretch>
            <a:fillRect/>
          </a:stretch>
        </p:blipFill>
        <p:spPr>
          <a:xfrm>
            <a:off x="8532694" y="1990329"/>
            <a:ext cx="255933" cy="372266"/>
          </a:xfrm>
          <a:prstGeom prst="rect">
            <a:avLst/>
          </a:prstGeom>
        </p:spPr>
      </p:pic>
      <p:pic>
        <p:nvPicPr>
          <p:cNvPr id="27" name="Picture 26" descr="lock.png"/>
          <p:cNvPicPr>
            <a:picLocks noChangeAspect="1"/>
          </p:cNvPicPr>
          <p:nvPr/>
        </p:nvPicPr>
        <p:blipFill>
          <a:blip r:embed="rId6"/>
          <a:stretch>
            <a:fillRect/>
          </a:stretch>
        </p:blipFill>
        <p:spPr>
          <a:xfrm>
            <a:off x="1321594" y="3950970"/>
            <a:ext cx="157162" cy="228600"/>
          </a:xfrm>
          <a:prstGeom prst="rect">
            <a:avLst/>
          </a:prstGeom>
        </p:spPr>
      </p:pic>
      <p:pic>
        <p:nvPicPr>
          <p:cNvPr id="28" name="Picture 27" descr="lock.png"/>
          <p:cNvPicPr>
            <a:picLocks noChangeAspect="1"/>
          </p:cNvPicPr>
          <p:nvPr/>
        </p:nvPicPr>
        <p:blipFill>
          <a:blip r:embed="rId6"/>
          <a:stretch>
            <a:fillRect/>
          </a:stretch>
        </p:blipFill>
        <p:spPr>
          <a:xfrm>
            <a:off x="3988594" y="3950970"/>
            <a:ext cx="157162" cy="228600"/>
          </a:xfrm>
          <a:prstGeom prst="rect">
            <a:avLst/>
          </a:prstGeom>
        </p:spPr>
      </p:pic>
      <p:pic>
        <p:nvPicPr>
          <p:cNvPr id="29" name="Picture 28" descr="lock.png"/>
          <p:cNvPicPr>
            <a:picLocks noChangeAspect="1"/>
          </p:cNvPicPr>
          <p:nvPr/>
        </p:nvPicPr>
        <p:blipFill>
          <a:blip r:embed="rId6"/>
          <a:stretch>
            <a:fillRect/>
          </a:stretch>
        </p:blipFill>
        <p:spPr>
          <a:xfrm>
            <a:off x="6998494" y="3950970"/>
            <a:ext cx="157162" cy="228600"/>
          </a:xfrm>
          <a:prstGeom prst="rect">
            <a:avLst/>
          </a:prstGeom>
        </p:spPr>
      </p:pic>
      <p:pic>
        <p:nvPicPr>
          <p:cNvPr id="30" name="Picture 29" descr="lock.png"/>
          <p:cNvPicPr>
            <a:picLocks noChangeAspect="1"/>
          </p:cNvPicPr>
          <p:nvPr/>
        </p:nvPicPr>
        <p:blipFill>
          <a:blip r:embed="rId6"/>
          <a:stretch>
            <a:fillRect/>
          </a:stretch>
        </p:blipFill>
        <p:spPr>
          <a:xfrm>
            <a:off x="10351294" y="3950970"/>
            <a:ext cx="157162" cy="228600"/>
          </a:xfrm>
          <a:prstGeom prst="rect">
            <a:avLst/>
          </a:prstGeom>
        </p:spPr>
      </p:pic>
      <p:sp>
        <p:nvSpPr>
          <p:cNvPr id="31" name="TextBox 30"/>
          <p:cNvSpPr txBox="1"/>
          <p:nvPr/>
        </p:nvSpPr>
        <p:spPr>
          <a:xfrm>
            <a:off x="276225" y="4876800"/>
            <a:ext cx="3778795" cy="194310"/>
          </a:xfrm>
          <a:prstGeom prst="rect">
            <a:avLst/>
          </a:prstGeom>
          <a:noFill/>
        </p:spPr>
        <p:txBody>
          <a:bodyPr wrap="none" lIns="0" rIns="0" tIns="0" bIns="0">
            <a:spAutoFit/>
          </a:bodyPr>
          <a:lstStyle/>
          <a:p>
            <a:r>
              <a:rPr sz="1150" b="0">
                <a:solidFill>
                  <a:srgbClr val="2E2E2E"/>
                </a:solidFill>
                <a:latin typeface="Calibri"/>
              </a:rPr>
              <a:t>Matcha market value in North America is expected to increase</a:t>
            </a:r>
          </a:p>
        </p:txBody>
      </p:sp>
      <p:pic>
        <p:nvPicPr>
          <p:cNvPr id="32" name="Picture 31" descr="lock.png"/>
          <p:cNvPicPr>
            <a:picLocks noChangeAspect="1"/>
          </p:cNvPicPr>
          <p:nvPr/>
        </p:nvPicPr>
        <p:blipFill>
          <a:blip r:embed="rId6"/>
          <a:stretch>
            <a:fillRect/>
          </a:stretch>
        </p:blipFill>
        <p:spPr>
          <a:xfrm>
            <a:off x="4004174" y="4866576"/>
            <a:ext cx="134549" cy="195707"/>
          </a:xfrm>
          <a:prstGeom prst="rect">
            <a:avLst/>
          </a:prstGeom>
        </p:spPr>
      </p:pic>
      <p:sp>
        <p:nvSpPr>
          <p:cNvPr id="33" name="TextBox 32"/>
          <p:cNvSpPr txBox="1"/>
          <p:nvPr/>
        </p:nvSpPr>
        <p:spPr>
          <a:xfrm>
            <a:off x="4179283" y="4876800"/>
            <a:ext cx="5505437" cy="194310"/>
          </a:xfrm>
          <a:prstGeom prst="rect">
            <a:avLst/>
          </a:prstGeom>
          <a:noFill/>
        </p:spPr>
        <p:txBody>
          <a:bodyPr wrap="none" lIns="0" rIns="0" tIns="0" bIns="0">
            <a:spAutoFit/>
          </a:bodyPr>
          <a:lstStyle/>
          <a:p>
            <a:r>
              <a:rPr sz="1150" b="0">
                <a:solidFill>
                  <a:srgbClr val="2E2E2E"/>
                </a:solidFill>
                <a:latin typeface="Calibri"/>
              </a:rPr>
              <a:t>X between 2025 and 2036. In 2025, the matcha market in North America was valued at US$</a:t>
            </a:r>
          </a:p>
        </p:txBody>
      </p:sp>
      <p:pic>
        <p:nvPicPr>
          <p:cNvPr id="34" name="Picture 33" descr="lock.png"/>
          <p:cNvPicPr>
            <a:picLocks noChangeAspect="1"/>
          </p:cNvPicPr>
          <p:nvPr/>
        </p:nvPicPr>
        <p:blipFill>
          <a:blip r:embed="rId6"/>
          <a:stretch>
            <a:fillRect/>
          </a:stretch>
        </p:blipFill>
        <p:spPr>
          <a:xfrm>
            <a:off x="9633875" y="4866576"/>
            <a:ext cx="134549" cy="195707"/>
          </a:xfrm>
          <a:prstGeom prst="rect">
            <a:avLst/>
          </a:prstGeom>
        </p:spPr>
      </p:pic>
      <p:sp>
        <p:nvSpPr>
          <p:cNvPr id="35" name="TextBox 34"/>
          <p:cNvSpPr txBox="1"/>
          <p:nvPr/>
        </p:nvSpPr>
        <p:spPr>
          <a:xfrm>
            <a:off x="9808984" y="4876800"/>
            <a:ext cx="1954311" cy="194310"/>
          </a:xfrm>
          <a:prstGeom prst="rect">
            <a:avLst/>
          </a:prstGeom>
          <a:noFill/>
        </p:spPr>
        <p:txBody>
          <a:bodyPr wrap="none" lIns="0" rIns="0" tIns="0" bIns="0">
            <a:spAutoFit/>
          </a:bodyPr>
          <a:lstStyle/>
          <a:p>
            <a:r>
              <a:rPr sz="1150" b="0">
                <a:solidFill>
                  <a:srgbClr val="2E2E2E"/>
                </a:solidFill>
                <a:latin typeface="Calibri"/>
              </a:rPr>
              <a:t>Mn and is estimated to account</a:t>
            </a:r>
          </a:p>
        </p:txBody>
      </p:sp>
      <p:sp>
        <p:nvSpPr>
          <p:cNvPr id="36" name="TextBox 35"/>
          <p:cNvSpPr txBox="1"/>
          <p:nvPr/>
        </p:nvSpPr>
        <p:spPr>
          <a:xfrm>
            <a:off x="276225" y="5052060"/>
            <a:ext cx="516917" cy="194310"/>
          </a:xfrm>
          <a:prstGeom prst="rect">
            <a:avLst/>
          </a:prstGeom>
          <a:noFill/>
        </p:spPr>
        <p:txBody>
          <a:bodyPr wrap="none" lIns="0" rIns="0" tIns="0" bIns="0">
            <a:spAutoFit/>
          </a:bodyPr>
          <a:lstStyle/>
          <a:p>
            <a:r>
              <a:rPr sz="1150" b="0">
                <a:solidFill>
                  <a:srgbClr val="2E2E2E"/>
                </a:solidFill>
                <a:latin typeface="Calibri"/>
              </a:rPr>
              <a:t>for US$</a:t>
            </a:r>
          </a:p>
        </p:txBody>
      </p:sp>
      <p:pic>
        <p:nvPicPr>
          <p:cNvPr id="37" name="Picture 36" descr="lock.png"/>
          <p:cNvPicPr>
            <a:picLocks noChangeAspect="1"/>
          </p:cNvPicPr>
          <p:nvPr/>
        </p:nvPicPr>
        <p:blipFill>
          <a:blip r:embed="rId6"/>
          <a:stretch>
            <a:fillRect/>
          </a:stretch>
        </p:blipFill>
        <p:spPr>
          <a:xfrm>
            <a:off x="742296" y="5041836"/>
            <a:ext cx="134549" cy="195707"/>
          </a:xfrm>
          <a:prstGeom prst="rect">
            <a:avLst/>
          </a:prstGeom>
        </p:spPr>
      </p:pic>
      <p:sp>
        <p:nvSpPr>
          <p:cNvPr id="38" name="TextBox 37"/>
          <p:cNvSpPr txBox="1"/>
          <p:nvPr/>
        </p:nvSpPr>
        <p:spPr>
          <a:xfrm>
            <a:off x="917405" y="5052060"/>
            <a:ext cx="3399408" cy="194310"/>
          </a:xfrm>
          <a:prstGeom prst="rect">
            <a:avLst/>
          </a:prstGeom>
          <a:noFill/>
        </p:spPr>
        <p:txBody>
          <a:bodyPr wrap="none" lIns="0" rIns="0" tIns="0" bIns="0">
            <a:spAutoFit/>
          </a:bodyPr>
          <a:lstStyle/>
          <a:p>
            <a:r>
              <a:rPr sz="1150" b="0">
                <a:solidFill>
                  <a:srgbClr val="2E2E2E"/>
                </a:solidFill>
                <a:latin typeface="Calibri"/>
              </a:rPr>
              <a:t>Mn by the end of 2026, reflecting a Y-o-Y growth rate of</a:t>
            </a:r>
          </a:p>
        </p:txBody>
      </p:sp>
      <p:pic>
        <p:nvPicPr>
          <p:cNvPr id="39" name="Picture 38" descr="lock.png"/>
          <p:cNvPicPr>
            <a:picLocks noChangeAspect="1"/>
          </p:cNvPicPr>
          <p:nvPr/>
        </p:nvPicPr>
        <p:blipFill>
          <a:blip r:embed="rId6"/>
          <a:stretch>
            <a:fillRect/>
          </a:stretch>
        </p:blipFill>
        <p:spPr>
          <a:xfrm>
            <a:off x="4265967" y="5041836"/>
            <a:ext cx="134549" cy="195707"/>
          </a:xfrm>
          <a:prstGeom prst="rect">
            <a:avLst/>
          </a:prstGeom>
        </p:spPr>
      </p:pic>
      <p:sp>
        <p:nvSpPr>
          <p:cNvPr id="40" name="TextBox 39"/>
          <p:cNvSpPr txBox="1"/>
          <p:nvPr/>
        </p:nvSpPr>
        <p:spPr>
          <a:xfrm>
            <a:off x="4441076" y="5052060"/>
            <a:ext cx="3716325" cy="194310"/>
          </a:xfrm>
          <a:prstGeom prst="rect">
            <a:avLst/>
          </a:prstGeom>
          <a:noFill/>
        </p:spPr>
        <p:txBody>
          <a:bodyPr wrap="none" lIns="0" rIns="0" tIns="0" bIns="0">
            <a:spAutoFit/>
          </a:bodyPr>
          <a:lstStyle/>
          <a:p>
            <a:r>
              <a:rPr sz="1150" b="0">
                <a:solidFill>
                  <a:srgbClr val="2E2E2E"/>
                </a:solidFill>
                <a:latin typeface="Calibri"/>
              </a:rPr>
              <a:t>. The market in North America is expected to account for US$</a:t>
            </a:r>
          </a:p>
        </p:txBody>
      </p:sp>
      <p:pic>
        <p:nvPicPr>
          <p:cNvPr id="41" name="Picture 40" descr="lock.png"/>
          <p:cNvPicPr>
            <a:picLocks noChangeAspect="1"/>
          </p:cNvPicPr>
          <p:nvPr/>
        </p:nvPicPr>
        <p:blipFill>
          <a:blip r:embed="rId6"/>
          <a:stretch>
            <a:fillRect/>
          </a:stretch>
        </p:blipFill>
        <p:spPr>
          <a:xfrm>
            <a:off x="8106555" y="5041836"/>
            <a:ext cx="134549" cy="195707"/>
          </a:xfrm>
          <a:prstGeom prst="rect">
            <a:avLst/>
          </a:prstGeom>
        </p:spPr>
      </p:pic>
      <p:sp>
        <p:nvSpPr>
          <p:cNvPr id="42" name="TextBox 41"/>
          <p:cNvSpPr txBox="1"/>
          <p:nvPr/>
        </p:nvSpPr>
        <p:spPr>
          <a:xfrm>
            <a:off x="8281665" y="5052060"/>
            <a:ext cx="1560072" cy="194310"/>
          </a:xfrm>
          <a:prstGeom prst="rect">
            <a:avLst/>
          </a:prstGeom>
          <a:noFill/>
        </p:spPr>
        <p:txBody>
          <a:bodyPr wrap="none" lIns="0" rIns="0" tIns="0" bIns="0">
            <a:spAutoFit/>
          </a:bodyPr>
          <a:lstStyle/>
          <a:p>
            <a:r>
              <a:rPr sz="1150" b="0">
                <a:solidFill>
                  <a:srgbClr val="2E2E2E"/>
                </a:solidFill>
                <a:latin typeface="Calibri"/>
              </a:rPr>
              <a:t>Mn by 2036 at a CAGR of</a:t>
            </a:r>
          </a:p>
        </p:txBody>
      </p:sp>
      <p:pic>
        <p:nvPicPr>
          <p:cNvPr id="43" name="Picture 42" descr="lock.png"/>
          <p:cNvPicPr>
            <a:picLocks noChangeAspect="1"/>
          </p:cNvPicPr>
          <p:nvPr/>
        </p:nvPicPr>
        <p:blipFill>
          <a:blip r:embed="rId6"/>
          <a:stretch>
            <a:fillRect/>
          </a:stretch>
        </p:blipFill>
        <p:spPr>
          <a:xfrm>
            <a:off x="9790891" y="5041836"/>
            <a:ext cx="134549" cy="195707"/>
          </a:xfrm>
          <a:prstGeom prst="rect">
            <a:avLst/>
          </a:prstGeom>
        </p:spPr>
      </p:pic>
      <p:sp>
        <p:nvSpPr>
          <p:cNvPr id="44" name="TextBox 43"/>
          <p:cNvSpPr txBox="1"/>
          <p:nvPr/>
        </p:nvSpPr>
        <p:spPr>
          <a:xfrm>
            <a:off x="9966001" y="505206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5" name="TextBox 44"/>
          <p:cNvSpPr txBox="1"/>
          <p:nvPr/>
        </p:nvSpPr>
        <p:spPr>
          <a:xfrm>
            <a:off x="276225" y="5279897"/>
            <a:ext cx="4313932" cy="194310"/>
          </a:xfrm>
          <a:prstGeom prst="rect">
            <a:avLst/>
          </a:prstGeom>
          <a:noFill/>
        </p:spPr>
        <p:txBody>
          <a:bodyPr wrap="none" lIns="0" rIns="0" tIns="0" bIns="0">
            <a:spAutoFit/>
          </a:bodyPr>
          <a:lstStyle/>
          <a:p>
            <a:r>
              <a:rPr sz="1150" b="0">
                <a:solidFill>
                  <a:srgbClr val="2E2E2E"/>
                </a:solidFill>
                <a:latin typeface="Calibri"/>
              </a:rPr>
              <a:t>North America is expected to create an incremental opportunity of US$</a:t>
            </a:r>
          </a:p>
        </p:txBody>
      </p:sp>
      <p:pic>
        <p:nvPicPr>
          <p:cNvPr id="46" name="Picture 45" descr="lock.png"/>
          <p:cNvPicPr>
            <a:picLocks noChangeAspect="1"/>
          </p:cNvPicPr>
          <p:nvPr/>
        </p:nvPicPr>
        <p:blipFill>
          <a:blip r:embed="rId6"/>
          <a:stretch>
            <a:fillRect/>
          </a:stretch>
        </p:blipFill>
        <p:spPr>
          <a:xfrm>
            <a:off x="4539310" y="5269674"/>
            <a:ext cx="134549" cy="195707"/>
          </a:xfrm>
          <a:prstGeom prst="rect">
            <a:avLst/>
          </a:prstGeom>
        </p:spPr>
      </p:pic>
      <p:sp>
        <p:nvSpPr>
          <p:cNvPr id="47" name="TextBox 46"/>
          <p:cNvSpPr txBox="1"/>
          <p:nvPr/>
        </p:nvSpPr>
        <p:spPr>
          <a:xfrm>
            <a:off x="4714420" y="5279897"/>
            <a:ext cx="6185768" cy="194310"/>
          </a:xfrm>
          <a:prstGeom prst="rect">
            <a:avLst/>
          </a:prstGeom>
          <a:noFill/>
        </p:spPr>
        <p:txBody>
          <a:bodyPr wrap="none" lIns="0" rIns="0" tIns="0" bIns="0">
            <a:spAutoFit/>
          </a:bodyPr>
          <a:lstStyle/>
          <a:p>
            <a:r>
              <a:rPr sz="1150" b="0">
                <a:solidFill>
                  <a:srgbClr val="2E2E2E"/>
                </a:solidFill>
                <a:latin typeface="Calibri"/>
              </a:rPr>
              <a:t>Mn for the overall matcha market from 2025 to 2036. Absolute $ value for 2026 is estimated to be US$</a:t>
            </a:r>
          </a:p>
        </p:txBody>
      </p:sp>
      <p:pic>
        <p:nvPicPr>
          <p:cNvPr id="48" name="Picture 47" descr="lock.png"/>
          <p:cNvPicPr>
            <a:picLocks noChangeAspect="1"/>
          </p:cNvPicPr>
          <p:nvPr/>
        </p:nvPicPr>
        <p:blipFill>
          <a:blip r:embed="rId6"/>
          <a:stretch>
            <a:fillRect/>
          </a:stretch>
        </p:blipFill>
        <p:spPr>
          <a:xfrm>
            <a:off x="10849342" y="5269674"/>
            <a:ext cx="134549" cy="195707"/>
          </a:xfrm>
          <a:prstGeom prst="rect">
            <a:avLst/>
          </a:prstGeom>
        </p:spPr>
      </p:pic>
      <p:sp>
        <p:nvSpPr>
          <p:cNvPr id="49" name="TextBox 48"/>
          <p:cNvSpPr txBox="1"/>
          <p:nvPr/>
        </p:nvSpPr>
        <p:spPr>
          <a:xfrm>
            <a:off x="11024451" y="5279897"/>
            <a:ext cx="696056" cy="194310"/>
          </a:xfrm>
          <a:prstGeom prst="rect">
            <a:avLst/>
          </a:prstGeom>
          <a:noFill/>
        </p:spPr>
        <p:txBody>
          <a:bodyPr wrap="none" lIns="0" rIns="0" tIns="0" bIns="0">
            <a:spAutoFit/>
          </a:bodyPr>
          <a:lstStyle/>
          <a:p>
            <a:r>
              <a:rPr sz="1150" b="0">
                <a:solidFill>
                  <a:srgbClr val="2E2E2E"/>
                </a:solidFill>
                <a:latin typeface="Calibri"/>
              </a:rPr>
              <a:t>Mn. North</a:t>
            </a:r>
          </a:p>
        </p:txBody>
      </p:sp>
      <p:sp>
        <p:nvSpPr>
          <p:cNvPr id="50" name="TextBox 49"/>
          <p:cNvSpPr txBox="1"/>
          <p:nvPr/>
        </p:nvSpPr>
        <p:spPr>
          <a:xfrm>
            <a:off x="276225" y="5455157"/>
            <a:ext cx="2881101" cy="194310"/>
          </a:xfrm>
          <a:prstGeom prst="rect">
            <a:avLst/>
          </a:prstGeom>
          <a:noFill/>
        </p:spPr>
        <p:txBody>
          <a:bodyPr wrap="none" lIns="0" rIns="0" tIns="0" bIns="0">
            <a:spAutoFit/>
          </a:bodyPr>
          <a:lstStyle/>
          <a:p>
            <a:r>
              <a:rPr sz="1150" b="0">
                <a:solidFill>
                  <a:srgbClr val="2E2E2E"/>
                </a:solidFill>
                <a:latin typeface="Calibri"/>
              </a:rPr>
              <a:t>America matcha market is projected to register</a:t>
            </a:r>
          </a:p>
        </p:txBody>
      </p:sp>
      <p:pic>
        <p:nvPicPr>
          <p:cNvPr id="51" name="Picture 50" descr="lock.png"/>
          <p:cNvPicPr>
            <a:picLocks noChangeAspect="1"/>
          </p:cNvPicPr>
          <p:nvPr/>
        </p:nvPicPr>
        <p:blipFill>
          <a:blip r:embed="rId6"/>
          <a:stretch>
            <a:fillRect/>
          </a:stretch>
        </p:blipFill>
        <p:spPr>
          <a:xfrm>
            <a:off x="3106480" y="5444934"/>
            <a:ext cx="134549" cy="195707"/>
          </a:xfrm>
          <a:prstGeom prst="rect">
            <a:avLst/>
          </a:prstGeom>
        </p:spPr>
      </p:pic>
      <p:sp>
        <p:nvSpPr>
          <p:cNvPr id="52" name="TextBox 51"/>
          <p:cNvSpPr txBox="1"/>
          <p:nvPr/>
        </p:nvSpPr>
        <p:spPr>
          <a:xfrm>
            <a:off x="3281589" y="5455157"/>
            <a:ext cx="3462163" cy="194310"/>
          </a:xfrm>
          <a:prstGeom prst="rect">
            <a:avLst/>
          </a:prstGeom>
          <a:noFill/>
        </p:spPr>
        <p:txBody>
          <a:bodyPr wrap="none" lIns="0" rIns="0" tIns="0" bIns="0">
            <a:spAutoFit/>
          </a:bodyPr>
          <a:lstStyle/>
          <a:p>
            <a:r>
              <a:rPr sz="1150" b="0">
                <a:solidFill>
                  <a:srgbClr val="2E2E2E"/>
                </a:solidFill>
                <a:latin typeface="Calibri"/>
              </a:rPr>
              <a:t>X increase in volume by the end of forecast period, 2036.</a:t>
            </a:r>
          </a:p>
        </p:txBody>
      </p:sp>
      <p:sp>
        <p:nvSpPr>
          <p:cNvPr id="53" name="TextBox 52"/>
          <p:cNvSpPr txBox="1"/>
          <p:nvPr/>
        </p:nvSpPr>
        <p:spPr>
          <a:xfrm>
            <a:off x="276225" y="5682995"/>
            <a:ext cx="2881957" cy="194310"/>
          </a:xfrm>
          <a:prstGeom prst="rect">
            <a:avLst/>
          </a:prstGeom>
          <a:noFill/>
        </p:spPr>
        <p:txBody>
          <a:bodyPr wrap="none" lIns="0" rIns="0" tIns="0" bIns="0">
            <a:spAutoFit/>
          </a:bodyPr>
          <a:lstStyle/>
          <a:p>
            <a:r>
              <a:rPr sz="1150" b="0">
                <a:solidFill>
                  <a:srgbClr val="2E2E2E"/>
                </a:solidFill>
                <a:latin typeface="Calibri"/>
              </a:rPr>
              <a:t>North America matcha market volume stood at</a:t>
            </a:r>
          </a:p>
        </p:txBody>
      </p:sp>
      <p:pic>
        <p:nvPicPr>
          <p:cNvPr id="54" name="Picture 53" descr="lock.png"/>
          <p:cNvPicPr>
            <a:picLocks noChangeAspect="1"/>
          </p:cNvPicPr>
          <p:nvPr/>
        </p:nvPicPr>
        <p:blipFill>
          <a:blip r:embed="rId6"/>
          <a:stretch>
            <a:fillRect/>
          </a:stretch>
        </p:blipFill>
        <p:spPr>
          <a:xfrm>
            <a:off x="3107336" y="5672772"/>
            <a:ext cx="134549" cy="195707"/>
          </a:xfrm>
          <a:prstGeom prst="rect">
            <a:avLst/>
          </a:prstGeom>
        </p:spPr>
      </p:pic>
      <p:sp>
        <p:nvSpPr>
          <p:cNvPr id="55" name="TextBox 54"/>
          <p:cNvSpPr txBox="1"/>
          <p:nvPr/>
        </p:nvSpPr>
        <p:spPr>
          <a:xfrm>
            <a:off x="3282445" y="5682995"/>
            <a:ext cx="2229581" cy="194310"/>
          </a:xfrm>
          <a:prstGeom prst="rect">
            <a:avLst/>
          </a:prstGeom>
          <a:noFill/>
        </p:spPr>
        <p:txBody>
          <a:bodyPr wrap="none" lIns="0" rIns="0" tIns="0" bIns="0">
            <a:spAutoFit/>
          </a:bodyPr>
          <a:lstStyle/>
          <a:p>
            <a:r>
              <a:rPr sz="1150" b="0">
                <a:solidFill>
                  <a:srgbClr val="2E2E2E"/>
                </a:solidFill>
                <a:latin typeface="Calibri"/>
              </a:rPr>
              <a:t>MT in 2025 and is expected to reach</a:t>
            </a:r>
          </a:p>
        </p:txBody>
      </p:sp>
      <p:pic>
        <p:nvPicPr>
          <p:cNvPr id="56" name="Picture 55" descr="lock.png"/>
          <p:cNvPicPr>
            <a:picLocks noChangeAspect="1"/>
          </p:cNvPicPr>
          <p:nvPr/>
        </p:nvPicPr>
        <p:blipFill>
          <a:blip r:embed="rId6"/>
          <a:stretch>
            <a:fillRect/>
          </a:stretch>
        </p:blipFill>
        <p:spPr>
          <a:xfrm>
            <a:off x="5461181" y="5672772"/>
            <a:ext cx="134549" cy="195707"/>
          </a:xfrm>
          <a:prstGeom prst="rect">
            <a:avLst/>
          </a:prstGeom>
        </p:spPr>
      </p:pic>
      <p:sp>
        <p:nvSpPr>
          <p:cNvPr id="57" name="TextBox 56"/>
          <p:cNvSpPr txBox="1"/>
          <p:nvPr/>
        </p:nvSpPr>
        <p:spPr>
          <a:xfrm>
            <a:off x="5636290" y="5682995"/>
            <a:ext cx="1850461" cy="194310"/>
          </a:xfrm>
          <a:prstGeom prst="rect">
            <a:avLst/>
          </a:prstGeom>
          <a:noFill/>
        </p:spPr>
        <p:txBody>
          <a:bodyPr wrap="none" lIns="0" rIns="0" tIns="0" bIns="0">
            <a:spAutoFit/>
          </a:bodyPr>
          <a:lstStyle/>
          <a:p>
            <a:r>
              <a:rPr sz="1150" b="0">
                <a:solidFill>
                  <a:srgbClr val="2E2E2E"/>
                </a:solidFill>
                <a:latin typeface="Calibri"/>
              </a:rPr>
              <a:t>MT by 2036 end, at a CAGR of</a:t>
            </a:r>
          </a:p>
        </p:txBody>
      </p:sp>
      <p:pic>
        <p:nvPicPr>
          <p:cNvPr id="58" name="Picture 57" descr="lock.png"/>
          <p:cNvPicPr>
            <a:picLocks noChangeAspect="1"/>
          </p:cNvPicPr>
          <p:nvPr/>
        </p:nvPicPr>
        <p:blipFill>
          <a:blip r:embed="rId6"/>
          <a:stretch>
            <a:fillRect/>
          </a:stretch>
        </p:blipFill>
        <p:spPr>
          <a:xfrm>
            <a:off x="7435905" y="5672772"/>
            <a:ext cx="134549" cy="195707"/>
          </a:xfrm>
          <a:prstGeom prst="rect">
            <a:avLst/>
          </a:prstGeom>
        </p:spPr>
      </p:pic>
      <p:sp>
        <p:nvSpPr>
          <p:cNvPr id="59" name="TextBox 58"/>
          <p:cNvSpPr txBox="1"/>
          <p:nvPr/>
        </p:nvSpPr>
        <p:spPr>
          <a:xfrm>
            <a:off x="7611015" y="5682995"/>
            <a:ext cx="3912009" cy="194310"/>
          </a:xfrm>
          <a:prstGeom prst="rect">
            <a:avLst/>
          </a:prstGeom>
          <a:noFill/>
        </p:spPr>
        <p:txBody>
          <a:bodyPr wrap="none" lIns="0" rIns="0" tIns="0" bIns="0">
            <a:spAutoFit/>
          </a:bodyPr>
          <a:lstStyle/>
          <a:p>
            <a:r>
              <a:rPr sz="1150" b="0">
                <a:solidFill>
                  <a:srgbClr val="2E2E2E"/>
                </a:solidFill>
                <a:latin typeface="Calibri"/>
              </a:rPr>
              <a:t>. Value is projected to grow faster than volume over the forecast</a:t>
            </a:r>
          </a:p>
        </p:txBody>
      </p:sp>
      <p:sp>
        <p:nvSpPr>
          <p:cNvPr id="60" name="TextBox 59"/>
          <p:cNvSpPr txBox="1"/>
          <p:nvPr/>
        </p:nvSpPr>
        <p:spPr>
          <a:xfrm>
            <a:off x="276225" y="5858255"/>
            <a:ext cx="3184897" cy="194310"/>
          </a:xfrm>
          <a:prstGeom prst="rect">
            <a:avLst/>
          </a:prstGeom>
          <a:noFill/>
        </p:spPr>
        <p:txBody>
          <a:bodyPr wrap="none" lIns="0" rIns="0" tIns="0" bIns="0">
            <a:spAutoFit/>
          </a:bodyPr>
          <a:lstStyle/>
          <a:p>
            <a:r>
              <a:rPr sz="1150" b="0">
                <a:solidFill>
                  <a:srgbClr val="2E2E2E"/>
                </a:solidFill>
                <a:latin typeface="Calibri"/>
              </a:rPr>
              <a:t>period, owing to an increase in average selling price.</a:t>
            </a:r>
          </a:p>
        </p:txBody>
      </p:sp>
      <p:sp>
        <p:nvSpPr>
          <p:cNvPr id="61" name="lockshield_12"/>
          <p:cNvSpPr/>
          <p:nvPr/>
        </p:nvSpPr>
        <p:spPr>
          <a:xfrm>
            <a:off x="238125" y="1266825"/>
            <a:ext cx="4505325"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lockshield_15"/>
          <p:cNvSpPr/>
          <p:nvPr/>
        </p:nvSpPr>
        <p:spPr>
          <a:xfrm>
            <a:off x="5086350" y="1266825"/>
            <a:ext cx="6858000" cy="21812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2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Summary Country Indices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outlook ranking 2036 market size, growth and absolute-growth indices to highlight the strongest markets</a:t>
            </a:r>
          </a:p>
        </p:txBody>
      </p:sp>
      <p:sp>
        <p:nvSpPr>
          <p:cNvPr id="10" name="Rounded Rectangle 9"/>
          <p:cNvSpPr/>
          <p:nvPr/>
        </p:nvSpPr>
        <p:spPr>
          <a:xfrm>
            <a:off x="142875" y="1007261"/>
            <a:ext cx="3933825" cy="2445995"/>
          </a:xfrm>
          <a:prstGeom prst="roundRect">
            <a:avLst>
              <a:gd name="adj" fmla="val 311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CAGR Index</a:t>
            </a:r>
          </a:p>
        </p:txBody>
      </p:sp>
      <p:graphicFrame>
        <p:nvGraphicFramePr>
          <p:cNvPr id="12" name="Chart 11"/>
          <p:cNvGraphicFramePr>
            <a:graphicFrameLocks noGrp="1"/>
          </p:cNvGraphicFramePr>
          <p:nvPr/>
        </p:nvGraphicFramePr>
        <p:xfrm>
          <a:off x="238125" y="1293011"/>
          <a:ext cx="3743325" cy="210309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489764"/>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4" name="Table 13"/>
          <p:cNvGraphicFramePr>
            <a:graphicFrameLocks noGrp="1"/>
          </p:cNvGraphicFramePr>
          <p:nvPr/>
        </p:nvGraphicFramePr>
        <p:xfrm>
          <a:off x="152400" y="3565964"/>
          <a:ext cx="3928892" cy="2132068"/>
        </p:xfrm>
        <a:graphic>
          <a:graphicData uri="http://schemas.openxmlformats.org/drawingml/2006/table">
            <a:tbl>
              <a:tblPr>
                <a:tableStyleId>{5C22544A-7EE6-4342-B048-85BDC9FD1C3A}</a:tableStyleId>
              </a:tblPr>
              <a:tblGrid>
                <a:gridCol w="650421"/>
                <a:gridCol w="1088118"/>
                <a:gridCol w="1088118"/>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42971">
                <a:tc>
                  <a:txBody>
                    <a:bodyPr wrap="none"/>
                    <a:lstStyle/>
                    <a:p>
                      <a:pPr algn="l"/>
                      <a:r>
                        <a:rPr sz="1100" b="1">
                          <a:solidFill>
                            <a:srgbClr val="2E2E2E"/>
                          </a:solidFill>
                          <a:latin typeface="Calibri"/>
                        </a:rPr>
                        <a:t>Canada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42971">
                <a:tc>
                  <a:txBody>
                    <a:bodyPr wrap="none"/>
                    <a:lstStyle/>
                    <a:p>
                      <a:pPr algn="l"/>
                      <a:r>
                        <a:rPr sz="1100" b="1">
                          <a:solidFill>
                            <a:srgbClr val="2E2E2E"/>
                          </a:solidFill>
                          <a:latin typeface="Calibri"/>
                        </a:rPr>
                        <a:t>U.S.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5" name="TextBox 14"/>
          <p:cNvSpPr txBox="1"/>
          <p:nvPr/>
        </p:nvSpPr>
        <p:spPr>
          <a:xfrm>
            <a:off x="219075" y="5707558"/>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6" name="Rounded Rectangle 15"/>
          <p:cNvSpPr/>
          <p:nvPr/>
        </p:nvSpPr>
        <p:spPr>
          <a:xfrm>
            <a:off x="4114800" y="1007261"/>
            <a:ext cx="3933825" cy="4928498"/>
          </a:xfrm>
          <a:prstGeom prst="roundRect">
            <a:avLst>
              <a:gd name="adj" fmla="val 193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4210050"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2036 Market By Country (US$ Mn)  ·  Top 10</a:t>
            </a:r>
          </a:p>
        </p:txBody>
      </p:sp>
      <p:sp>
        <p:nvSpPr>
          <p:cNvPr id="18" name="Rectangle 17"/>
          <p:cNvSpPr/>
          <p:nvPr/>
        </p:nvSpPr>
        <p:spPr>
          <a:xfrm>
            <a:off x="4210050" y="1293011"/>
            <a:ext cx="3743325" cy="3091857"/>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9" name="Rectangle 18"/>
          <p:cNvSpPr/>
          <p:nvPr/>
        </p:nvSpPr>
        <p:spPr>
          <a:xfrm>
            <a:off x="4210050" y="4384868"/>
            <a:ext cx="3743325" cy="1493742"/>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20" name="Rounded Rectangle 19"/>
          <p:cNvSpPr/>
          <p:nvPr/>
        </p:nvSpPr>
        <p:spPr>
          <a:xfrm>
            <a:off x="8086725" y="1007261"/>
            <a:ext cx="3933825" cy="2436869"/>
          </a:xfrm>
          <a:prstGeom prst="roundRect">
            <a:avLst>
              <a:gd name="adj" fmla="val 312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81975" y="1064411"/>
            <a:ext cx="3743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Top 10 Countries By Absolute Index</a:t>
            </a:r>
          </a:p>
        </p:txBody>
      </p:sp>
      <p:graphicFrame>
        <p:nvGraphicFramePr>
          <p:cNvPr id="22" name="Chart 21"/>
          <p:cNvGraphicFramePr>
            <a:graphicFrameLocks noGrp="1"/>
          </p:cNvGraphicFramePr>
          <p:nvPr/>
        </p:nvGraphicFramePr>
        <p:xfrm>
          <a:off x="8181975" y="1293011"/>
          <a:ext cx="3743325" cy="2093969"/>
        </p:xfrm>
        <a:graphic>
          <a:graphicData uri="http://schemas.openxmlformats.org/drawingml/2006/chart">
            <c:chart xmlns:c="http://schemas.openxmlformats.org/drawingml/2006/chart" r:id="rId4"/>
          </a:graphicData>
        </a:graphic>
      </p:graphicFrame>
      <p:sp>
        <p:nvSpPr>
          <p:cNvPr id="23" name="Rounded Rectangle 22"/>
          <p:cNvSpPr/>
          <p:nvPr/>
        </p:nvSpPr>
        <p:spPr>
          <a:xfrm>
            <a:off x="8086725" y="3471510"/>
            <a:ext cx="3933825" cy="2464249"/>
          </a:xfrm>
          <a:prstGeom prst="roundRect">
            <a:avLst>
              <a:gd name="adj" fmla="val 30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24" name="Table 23"/>
          <p:cNvGraphicFramePr>
            <a:graphicFrameLocks noGrp="1"/>
          </p:cNvGraphicFramePr>
          <p:nvPr/>
        </p:nvGraphicFramePr>
        <p:xfrm>
          <a:off x="8096250" y="3547710"/>
          <a:ext cx="3928892" cy="2159450"/>
        </p:xfrm>
        <a:graphic>
          <a:graphicData uri="http://schemas.openxmlformats.org/drawingml/2006/table">
            <a:tbl>
              <a:tblPr>
                <a:tableStyleId>{5C22544A-7EE6-4342-B048-85BDC9FD1C3A}</a:tableStyleId>
              </a:tblPr>
              <a:tblGrid>
                <a:gridCol w="650421"/>
                <a:gridCol w="1088118"/>
                <a:gridCol w="1088118"/>
                <a:gridCol w="1102235"/>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Absolute Index</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 Opp (US$ Mn)</a:t>
                      </a:r>
                      <a:endParaRPr sz="1100"/>
                    </a:p>
                  </a:txBody>
                  <a:tcPr marL="47625" marR="38100" marT="19050" marB="19050" anchor="ctr">
                    <a:solidFill>
                      <a:srgbClr val="E0E8EF"/>
                    </a:solidFill>
                  </a:tcPr>
                </a:tc>
              </a:tr>
              <a:tr h="956662">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956662">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5" name="TextBox 24"/>
          <p:cNvSpPr txBox="1"/>
          <p:nvPr/>
        </p:nvSpPr>
        <p:spPr>
          <a:xfrm>
            <a:off x="8162925" y="5716684"/>
            <a:ext cx="37814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6" name="Rounded Rectangle 25"/>
          <p:cNvSpPr/>
          <p:nvPr/>
        </p:nvSpPr>
        <p:spPr>
          <a:xfrm>
            <a:off x="142875" y="6027028"/>
            <a:ext cx="10858500" cy="602372"/>
          </a:xfrm>
          <a:prstGeom prst="roundRect">
            <a:avLst>
              <a:gd name="adj" fmla="val 1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6"/>
          <a:stretch>
            <a:fillRect/>
          </a:stretch>
        </p:blipFill>
        <p:spPr>
          <a:xfrm>
            <a:off x="3188017" y="2125483"/>
            <a:ext cx="183356" cy="266700"/>
          </a:xfrm>
          <a:prstGeom prst="rect">
            <a:avLst/>
          </a:prstGeom>
        </p:spPr>
      </p:pic>
      <p:pic>
        <p:nvPicPr>
          <p:cNvPr id="29" name="Picture 28" descr="lock.png"/>
          <p:cNvPicPr>
            <a:picLocks noChangeAspect="1"/>
          </p:cNvPicPr>
          <p:nvPr/>
        </p:nvPicPr>
        <p:blipFill>
          <a:blip r:embed="rId6"/>
          <a:stretch>
            <a:fillRect/>
          </a:stretch>
        </p:blipFill>
        <p:spPr>
          <a:xfrm>
            <a:off x="2232897" y="4496595"/>
            <a:ext cx="355389" cy="516930"/>
          </a:xfrm>
          <a:prstGeom prst="rect">
            <a:avLst/>
          </a:prstGeom>
        </p:spPr>
      </p:pic>
      <p:pic>
        <p:nvPicPr>
          <p:cNvPr id="30" name="Picture 29" descr="lock.png"/>
          <p:cNvPicPr>
            <a:picLocks noChangeAspect="1"/>
          </p:cNvPicPr>
          <p:nvPr/>
        </p:nvPicPr>
        <p:blipFill>
          <a:blip r:embed="rId6"/>
          <a:stretch>
            <a:fillRect/>
          </a:stretch>
        </p:blipFill>
        <p:spPr>
          <a:xfrm>
            <a:off x="6024086" y="2838939"/>
            <a:ext cx="115252" cy="167639"/>
          </a:xfrm>
          <a:prstGeom prst="rect">
            <a:avLst/>
          </a:prstGeom>
        </p:spPr>
      </p:pic>
      <p:pic>
        <p:nvPicPr>
          <p:cNvPr id="31" name="Picture 30" descr="lock.png"/>
          <p:cNvPicPr>
            <a:picLocks noChangeAspect="1"/>
          </p:cNvPicPr>
          <p:nvPr/>
        </p:nvPicPr>
        <p:blipFill>
          <a:blip r:embed="rId6"/>
          <a:stretch>
            <a:fillRect/>
          </a:stretch>
        </p:blipFill>
        <p:spPr>
          <a:xfrm>
            <a:off x="6024086" y="5131739"/>
            <a:ext cx="115252" cy="167639"/>
          </a:xfrm>
          <a:prstGeom prst="rect">
            <a:avLst/>
          </a:prstGeom>
        </p:spPr>
      </p:pic>
      <p:pic>
        <p:nvPicPr>
          <p:cNvPr id="32" name="Picture 31" descr="lock.png"/>
          <p:cNvPicPr>
            <a:picLocks noChangeAspect="1"/>
          </p:cNvPicPr>
          <p:nvPr/>
        </p:nvPicPr>
        <p:blipFill>
          <a:blip r:embed="rId6"/>
          <a:stretch>
            <a:fillRect/>
          </a:stretch>
        </p:blipFill>
        <p:spPr>
          <a:xfrm>
            <a:off x="11131867" y="2120920"/>
            <a:ext cx="183356" cy="266700"/>
          </a:xfrm>
          <a:prstGeom prst="rect">
            <a:avLst/>
          </a:prstGeom>
        </p:spPr>
      </p:pic>
      <p:pic>
        <p:nvPicPr>
          <p:cNvPr id="33" name="Picture 32" descr="lock.png"/>
          <p:cNvPicPr>
            <a:picLocks noChangeAspect="1"/>
          </p:cNvPicPr>
          <p:nvPr/>
        </p:nvPicPr>
        <p:blipFill>
          <a:blip r:embed="rId6"/>
          <a:stretch>
            <a:fillRect/>
          </a:stretch>
        </p:blipFill>
        <p:spPr>
          <a:xfrm>
            <a:off x="10175439" y="4490163"/>
            <a:ext cx="357960" cy="520669"/>
          </a:xfrm>
          <a:prstGeom prst="rect">
            <a:avLst/>
          </a:prstGeom>
        </p:spPr>
      </p:pic>
      <p:sp>
        <p:nvSpPr>
          <p:cNvPr id="34" name="TextBox 33"/>
          <p:cNvSpPr txBox="1"/>
          <p:nvPr/>
        </p:nvSpPr>
        <p:spPr>
          <a:xfrm>
            <a:off x="257175" y="6160574"/>
            <a:ext cx="2757239" cy="186689"/>
          </a:xfrm>
          <a:prstGeom prst="rect">
            <a:avLst/>
          </a:prstGeom>
          <a:noFill/>
        </p:spPr>
        <p:txBody>
          <a:bodyPr wrap="none" lIns="0" rIns="0" tIns="0" bIns="0">
            <a:spAutoFit/>
          </a:bodyPr>
          <a:lstStyle/>
          <a:p>
            <a:r>
              <a:rPr sz="1100" b="0">
                <a:solidFill>
                  <a:srgbClr val="2E2E2E"/>
                </a:solidFill>
                <a:latin typeface="Calibri"/>
              </a:rPr>
              <a:t>The U.S. matcha market is projected to register</a:t>
            </a:r>
          </a:p>
        </p:txBody>
      </p:sp>
      <p:pic>
        <p:nvPicPr>
          <p:cNvPr id="35" name="Picture 34" descr="lock.png"/>
          <p:cNvPicPr>
            <a:picLocks noChangeAspect="1"/>
          </p:cNvPicPr>
          <p:nvPr/>
        </p:nvPicPr>
        <p:blipFill>
          <a:blip r:embed="rId6"/>
          <a:stretch>
            <a:fillRect/>
          </a:stretch>
        </p:blipFill>
        <p:spPr>
          <a:xfrm>
            <a:off x="2962466" y="6150795"/>
            <a:ext cx="128699" cy="187198"/>
          </a:xfrm>
          <a:prstGeom prst="rect">
            <a:avLst/>
          </a:prstGeom>
        </p:spPr>
      </p:pic>
      <p:sp>
        <p:nvSpPr>
          <p:cNvPr id="36" name="TextBox 35"/>
          <p:cNvSpPr txBox="1"/>
          <p:nvPr/>
        </p:nvSpPr>
        <p:spPr>
          <a:xfrm>
            <a:off x="3129961" y="6160574"/>
            <a:ext cx="4339761" cy="186689"/>
          </a:xfrm>
          <a:prstGeom prst="rect">
            <a:avLst/>
          </a:prstGeom>
          <a:noFill/>
        </p:spPr>
        <p:txBody>
          <a:bodyPr wrap="none" lIns="0" rIns="0" tIns="0" bIns="0">
            <a:spAutoFit/>
          </a:bodyPr>
          <a:lstStyle/>
          <a:p>
            <a:r>
              <a:rPr sz="1100" b="0">
                <a:solidFill>
                  <a:srgbClr val="2E2E2E"/>
                </a:solidFill>
                <a:latin typeface="Calibri"/>
              </a:rPr>
              <a:t>X higher value than Canada in 2036. Canada posts the highest CAGR Index (</a:t>
            </a:r>
          </a:p>
        </p:txBody>
      </p:sp>
      <p:pic>
        <p:nvPicPr>
          <p:cNvPr id="37" name="Picture 36" descr="lock.png"/>
          <p:cNvPicPr>
            <a:picLocks noChangeAspect="1"/>
          </p:cNvPicPr>
          <p:nvPr/>
        </p:nvPicPr>
        <p:blipFill>
          <a:blip r:embed="rId6"/>
          <a:stretch>
            <a:fillRect/>
          </a:stretch>
        </p:blipFill>
        <p:spPr>
          <a:xfrm>
            <a:off x="7417774" y="6150795"/>
            <a:ext cx="128699" cy="187198"/>
          </a:xfrm>
          <a:prstGeom prst="rect">
            <a:avLst/>
          </a:prstGeom>
        </p:spPr>
      </p:pic>
      <p:sp>
        <p:nvSpPr>
          <p:cNvPr id="38" name="TextBox 37"/>
          <p:cNvSpPr txBox="1"/>
          <p:nvPr/>
        </p:nvSpPr>
        <p:spPr>
          <a:xfrm>
            <a:off x="7585270" y="6160574"/>
            <a:ext cx="789979" cy="186689"/>
          </a:xfrm>
          <a:prstGeom prst="rect">
            <a:avLst/>
          </a:prstGeom>
          <a:noFill/>
        </p:spPr>
        <p:txBody>
          <a:bodyPr wrap="none" lIns="0" rIns="0" tIns="0" bIns="0">
            <a:spAutoFit/>
          </a:bodyPr>
          <a:lstStyle/>
          <a:p>
            <a:r>
              <a:rPr sz="1100" b="0">
                <a:solidFill>
                  <a:srgbClr val="2E2E2E"/>
                </a:solidFill>
                <a:latin typeface="Calibri"/>
              </a:rPr>
              <a:t>), growing at</a:t>
            </a:r>
          </a:p>
        </p:txBody>
      </p:sp>
      <p:pic>
        <p:nvPicPr>
          <p:cNvPr id="39" name="Picture 38" descr="lock.png"/>
          <p:cNvPicPr>
            <a:picLocks noChangeAspect="1"/>
          </p:cNvPicPr>
          <p:nvPr/>
        </p:nvPicPr>
        <p:blipFill>
          <a:blip r:embed="rId6"/>
          <a:stretch>
            <a:fillRect/>
          </a:stretch>
        </p:blipFill>
        <p:spPr>
          <a:xfrm>
            <a:off x="8323302" y="6150795"/>
            <a:ext cx="128699" cy="187198"/>
          </a:xfrm>
          <a:prstGeom prst="rect">
            <a:avLst/>
          </a:prstGeom>
        </p:spPr>
      </p:pic>
      <p:sp>
        <p:nvSpPr>
          <p:cNvPr id="40" name="TextBox 39"/>
          <p:cNvSpPr txBox="1"/>
          <p:nvPr/>
        </p:nvSpPr>
        <p:spPr>
          <a:xfrm>
            <a:off x="8490797" y="6160574"/>
            <a:ext cx="1569789" cy="186689"/>
          </a:xfrm>
          <a:prstGeom prst="rect">
            <a:avLst/>
          </a:prstGeom>
          <a:noFill/>
        </p:spPr>
        <p:txBody>
          <a:bodyPr wrap="none" lIns="0" rIns="0" tIns="0" bIns="0">
            <a:spAutoFit/>
          </a:bodyPr>
          <a:lstStyle/>
          <a:p>
            <a:r>
              <a:rPr sz="1100" b="0">
                <a:solidFill>
                  <a:srgbClr val="2E2E2E"/>
                </a:solidFill>
                <a:latin typeface="Calibri"/>
              </a:rPr>
              <a:t>against the North America</a:t>
            </a:r>
          </a:p>
        </p:txBody>
      </p:sp>
      <p:sp>
        <p:nvSpPr>
          <p:cNvPr id="41" name="TextBox 40"/>
          <p:cNvSpPr txBox="1"/>
          <p:nvPr/>
        </p:nvSpPr>
        <p:spPr>
          <a:xfrm>
            <a:off x="257175" y="6328214"/>
            <a:ext cx="3580159" cy="186689"/>
          </a:xfrm>
          <a:prstGeom prst="rect">
            <a:avLst/>
          </a:prstGeom>
          <a:noFill/>
        </p:spPr>
        <p:txBody>
          <a:bodyPr wrap="none" lIns="0" rIns="0" tIns="0" bIns="0">
            <a:spAutoFit/>
          </a:bodyPr>
          <a:lstStyle/>
          <a:p>
            <a:r>
              <a:rPr sz="1100" b="0">
                <a:solidFill>
                  <a:srgbClr val="2E2E2E"/>
                </a:solidFill>
                <a:latin typeface="Calibri"/>
              </a:rPr>
              <a:t>benchmark, while U.S. offers the largest absolute opportunity</a:t>
            </a:r>
          </a:p>
        </p:txBody>
      </p:sp>
      <p:pic>
        <p:nvPicPr>
          <p:cNvPr id="42" name="Picture 41" descr="lock.png"/>
          <p:cNvPicPr>
            <a:picLocks noChangeAspect="1"/>
          </p:cNvPicPr>
          <p:nvPr/>
        </p:nvPicPr>
        <p:blipFill>
          <a:blip r:embed="rId6"/>
          <a:stretch>
            <a:fillRect/>
          </a:stretch>
        </p:blipFill>
        <p:spPr>
          <a:xfrm>
            <a:off x="3785386" y="6318435"/>
            <a:ext cx="128699" cy="187198"/>
          </a:xfrm>
          <a:prstGeom prst="rect">
            <a:avLst/>
          </a:prstGeom>
        </p:spPr>
      </p:pic>
      <p:sp>
        <p:nvSpPr>
          <p:cNvPr id="43" name="TextBox 42"/>
          <p:cNvSpPr txBox="1"/>
          <p:nvPr/>
        </p:nvSpPr>
        <p:spPr>
          <a:xfrm>
            <a:off x="3952882" y="6328214"/>
            <a:ext cx="3311946" cy="186689"/>
          </a:xfrm>
          <a:prstGeom prst="rect">
            <a:avLst/>
          </a:prstGeom>
          <a:noFill/>
        </p:spPr>
        <p:txBody>
          <a:bodyPr wrap="none" lIns="0" rIns="0" tIns="0" bIns="0">
            <a:spAutoFit/>
          </a:bodyPr>
          <a:lstStyle/>
          <a:p>
            <a:r>
              <a:rPr sz="1100" b="0">
                <a:solidFill>
                  <a:srgbClr val="2E2E2E"/>
                </a:solidFill>
                <a:latin typeface="Calibri"/>
              </a:rPr>
              <a:t>US$ Mn of incremental market between 2026 and 2036 (</a:t>
            </a:r>
          </a:p>
        </p:txBody>
      </p:sp>
      <p:pic>
        <p:nvPicPr>
          <p:cNvPr id="44" name="Picture 43" descr="lock.png"/>
          <p:cNvPicPr>
            <a:picLocks noChangeAspect="1"/>
          </p:cNvPicPr>
          <p:nvPr/>
        </p:nvPicPr>
        <p:blipFill>
          <a:blip r:embed="rId6"/>
          <a:stretch>
            <a:fillRect/>
          </a:stretch>
        </p:blipFill>
        <p:spPr>
          <a:xfrm>
            <a:off x="7212880" y="6318435"/>
            <a:ext cx="128699" cy="187198"/>
          </a:xfrm>
          <a:prstGeom prst="rect">
            <a:avLst/>
          </a:prstGeom>
        </p:spPr>
      </p:pic>
      <p:sp>
        <p:nvSpPr>
          <p:cNvPr id="45" name="TextBox 44"/>
          <p:cNvSpPr txBox="1"/>
          <p:nvPr/>
        </p:nvSpPr>
        <p:spPr>
          <a:xfrm>
            <a:off x="7380376" y="6328214"/>
            <a:ext cx="1973336" cy="186689"/>
          </a:xfrm>
          <a:prstGeom prst="rect">
            <a:avLst/>
          </a:prstGeom>
          <a:noFill/>
        </p:spPr>
        <p:txBody>
          <a:bodyPr wrap="none" lIns="0" rIns="0" tIns="0" bIns="0">
            <a:spAutoFit/>
          </a:bodyPr>
          <a:lstStyle/>
          <a:p>
            <a:r>
              <a:rPr sz="1100" b="0">
                <a:solidFill>
                  <a:srgbClr val="2E2E2E"/>
                </a:solidFill>
                <a:latin typeface="Calibri"/>
              </a:rPr>
              <a:t>of the North America increment).</a:t>
            </a:r>
          </a:p>
        </p:txBody>
      </p:sp>
      <p:sp>
        <p:nvSpPr>
          <p:cNvPr id="46" name="lockshield_12"/>
          <p:cNvSpPr/>
          <p:nvPr/>
        </p:nvSpPr>
        <p:spPr>
          <a:xfrm>
            <a:off x="238125" y="1293011"/>
            <a:ext cx="3743325" cy="210309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lockshield_22"/>
          <p:cNvSpPr/>
          <p:nvPr/>
        </p:nvSpPr>
        <p:spPr>
          <a:xfrm>
            <a:off x="8181975" y="1293011"/>
            <a:ext cx="3743325" cy="209396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Market Overview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market size, competitive landscape and the drivers, restraints and trends shaping demand</a:t>
            </a:r>
          </a:p>
        </p:txBody>
      </p:sp>
      <p:sp>
        <p:nvSpPr>
          <p:cNvPr id="10" name="Rounded Rectangle 9"/>
          <p:cNvSpPr/>
          <p:nvPr/>
        </p:nvSpPr>
        <p:spPr>
          <a:xfrm>
            <a:off x="142875" y="981075"/>
            <a:ext cx="11906250"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Market Overview</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4" name="Rounded Rectangle 13"/>
          <p:cNvSpPr/>
          <p:nvPr/>
        </p:nvSpPr>
        <p:spPr>
          <a:xfrm>
            <a:off x="142875" y="2857500"/>
            <a:ext cx="11906250" cy="1628775"/>
          </a:xfrm>
          <a:prstGeom prst="roundRect">
            <a:avLst>
              <a:gd name="adj" fmla="val 46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4322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Competitive Landscape</a:t>
            </a:r>
          </a:p>
        </p:txBody>
      </p:sp>
      <p:sp>
        <p:nvSpPr>
          <p:cNvPr id="16" name="Rectangle 15"/>
          <p:cNvSpPr/>
          <p:nvPr/>
        </p:nvSpPr>
        <p:spPr>
          <a:xfrm>
            <a:off x="276225" y="31813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67075"/>
            <a:ext cx="11639550" cy="11430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142875" y="4619625"/>
            <a:ext cx="3943350"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4705350"/>
            <a:ext cx="3676650" cy="209550"/>
          </a:xfrm>
          <a:prstGeom prst="rect">
            <a:avLst/>
          </a:prstGeom>
          <a:noFill/>
        </p:spPr>
        <p:txBody>
          <a:bodyPr wrap="square" lIns="0" rIns="19050" tIns="9525" bIns="9525">
            <a:spAutoFit/>
          </a:bodyPr>
          <a:lstStyle/>
          <a:p>
            <a:pPr algn="l"/>
            <a:r>
              <a:rPr sz="1300" b="1">
                <a:solidFill>
                  <a:srgbClr val="0B2E4A"/>
                </a:solidFill>
                <a:latin typeface="Calibri"/>
              </a:rPr>
              <a:t>Drivers</a:t>
            </a:r>
          </a:p>
        </p:txBody>
      </p:sp>
      <p:sp>
        <p:nvSpPr>
          <p:cNvPr id="20" name="Rectangle 19"/>
          <p:cNvSpPr/>
          <p:nvPr/>
        </p:nvSpPr>
        <p:spPr>
          <a:xfrm>
            <a:off x="276225" y="4943475"/>
            <a:ext cx="3676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5029200"/>
            <a:ext cx="3676650"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4238625"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4371975"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Restraints</a:t>
            </a:r>
          </a:p>
        </p:txBody>
      </p:sp>
      <p:sp>
        <p:nvSpPr>
          <p:cNvPr id="24" name="Rectangle 23"/>
          <p:cNvSpPr/>
          <p:nvPr/>
        </p:nvSpPr>
        <p:spPr>
          <a:xfrm>
            <a:off x="4371975"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4371975"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8210550" y="4619625"/>
            <a:ext cx="3819525" cy="1990725"/>
          </a:xfrm>
          <a:prstGeom prst="roundRect">
            <a:avLst>
              <a:gd name="adj" fmla="val 382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8343900" y="4705350"/>
            <a:ext cx="3552825" cy="209550"/>
          </a:xfrm>
          <a:prstGeom prst="rect">
            <a:avLst/>
          </a:prstGeom>
          <a:noFill/>
        </p:spPr>
        <p:txBody>
          <a:bodyPr wrap="square" lIns="0" rIns="19050" tIns="9525" bIns="9525">
            <a:spAutoFit/>
          </a:bodyPr>
          <a:lstStyle/>
          <a:p>
            <a:pPr algn="l"/>
            <a:r>
              <a:rPr sz="1300" b="1">
                <a:solidFill>
                  <a:srgbClr val="0B2E4A"/>
                </a:solidFill>
                <a:latin typeface="Calibri"/>
              </a:rPr>
              <a:t>Trends</a:t>
            </a:r>
          </a:p>
        </p:txBody>
      </p:sp>
      <p:sp>
        <p:nvSpPr>
          <p:cNvPr id="28" name="Rectangle 27"/>
          <p:cNvSpPr/>
          <p:nvPr/>
        </p:nvSpPr>
        <p:spPr>
          <a:xfrm>
            <a:off x="8343900" y="4943475"/>
            <a:ext cx="35528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8343900" y="5029200"/>
            <a:ext cx="3552825" cy="15049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Mix shifting toward 'Matcha Powder' and higher-growth tiers.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Canada outpacing the North America average.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Demand broadening across 2 product type categories.</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2741327" cy="194310"/>
          </a:xfrm>
          <a:prstGeom prst="rect">
            <a:avLst/>
          </a:prstGeom>
          <a:noFill/>
        </p:spPr>
        <p:txBody>
          <a:bodyPr wrap="none" lIns="0" rIns="0" tIns="0" bIns="0">
            <a:spAutoFit/>
          </a:bodyPr>
          <a:lstStyle/>
          <a:p>
            <a:r>
              <a:rPr sz="1150" b="0">
                <a:solidFill>
                  <a:srgbClr val="2E2E2E"/>
                </a:solidFill>
                <a:latin typeface="Calibri"/>
              </a:rPr>
              <a:t>Global matcha market is expected to witness</a:t>
            </a:r>
          </a:p>
        </p:txBody>
      </p:sp>
      <p:pic>
        <p:nvPicPr>
          <p:cNvPr id="32" name="Picture 31" descr="lock.png"/>
          <p:cNvPicPr>
            <a:picLocks noChangeAspect="1"/>
          </p:cNvPicPr>
          <p:nvPr/>
        </p:nvPicPr>
        <p:blipFill>
          <a:blip r:embed="rId4"/>
          <a:stretch>
            <a:fillRect/>
          </a:stretch>
        </p:blipFill>
        <p:spPr>
          <a:xfrm>
            <a:off x="2966706" y="1389951"/>
            <a:ext cx="134549" cy="195707"/>
          </a:xfrm>
          <a:prstGeom prst="rect">
            <a:avLst/>
          </a:prstGeom>
        </p:spPr>
      </p:pic>
      <p:sp>
        <p:nvSpPr>
          <p:cNvPr id="33" name="TextBox 32"/>
          <p:cNvSpPr txBox="1"/>
          <p:nvPr/>
        </p:nvSpPr>
        <p:spPr>
          <a:xfrm>
            <a:off x="3141815" y="1400175"/>
            <a:ext cx="4629993" cy="194310"/>
          </a:xfrm>
          <a:prstGeom prst="rect">
            <a:avLst/>
          </a:prstGeom>
          <a:noFill/>
        </p:spPr>
        <p:txBody>
          <a:bodyPr wrap="none" lIns="0" rIns="0" tIns="0" bIns="0">
            <a:spAutoFit/>
          </a:bodyPr>
          <a:lstStyle/>
          <a:p>
            <a:r>
              <a:rPr sz="1150" b="0">
                <a:solidFill>
                  <a:srgbClr val="2E2E2E"/>
                </a:solidFill>
                <a:latin typeface="Calibri"/>
              </a:rPr>
              <a:t>X increase in revenue by 2036 end. Global matcha market accounted for US$</a:t>
            </a:r>
          </a:p>
        </p:txBody>
      </p:sp>
      <p:pic>
        <p:nvPicPr>
          <p:cNvPr id="34" name="Picture 33" descr="lock.png"/>
          <p:cNvPicPr>
            <a:picLocks noChangeAspect="1"/>
          </p:cNvPicPr>
          <p:nvPr/>
        </p:nvPicPr>
        <p:blipFill>
          <a:blip r:embed="rId4"/>
          <a:stretch>
            <a:fillRect/>
          </a:stretch>
        </p:blipFill>
        <p:spPr>
          <a:xfrm>
            <a:off x="7720962" y="1389951"/>
            <a:ext cx="134549" cy="195707"/>
          </a:xfrm>
          <a:prstGeom prst="rect">
            <a:avLst/>
          </a:prstGeom>
        </p:spPr>
      </p:pic>
      <p:sp>
        <p:nvSpPr>
          <p:cNvPr id="35" name="TextBox 34"/>
          <p:cNvSpPr txBox="1"/>
          <p:nvPr/>
        </p:nvSpPr>
        <p:spPr>
          <a:xfrm>
            <a:off x="7896072" y="1400175"/>
            <a:ext cx="2992350" cy="194310"/>
          </a:xfrm>
          <a:prstGeom prst="rect">
            <a:avLst/>
          </a:prstGeom>
          <a:noFill/>
        </p:spPr>
        <p:txBody>
          <a:bodyPr wrap="none" lIns="0" rIns="0" tIns="0" bIns="0">
            <a:spAutoFit/>
          </a:bodyPr>
          <a:lstStyle/>
          <a:p>
            <a:r>
              <a:rPr sz="1150" b="0">
                <a:solidFill>
                  <a:srgbClr val="2E2E2E"/>
                </a:solidFill>
                <a:latin typeface="Calibri"/>
              </a:rPr>
              <a:t>Mn in 2025, which is expected to increase to US$</a:t>
            </a:r>
          </a:p>
        </p:txBody>
      </p:sp>
      <p:pic>
        <p:nvPicPr>
          <p:cNvPr id="36" name="Picture 35" descr="lock.png"/>
          <p:cNvPicPr>
            <a:picLocks noChangeAspect="1"/>
          </p:cNvPicPr>
          <p:nvPr/>
        </p:nvPicPr>
        <p:blipFill>
          <a:blip r:embed="rId4"/>
          <a:stretch>
            <a:fillRect/>
          </a:stretch>
        </p:blipFill>
        <p:spPr>
          <a:xfrm>
            <a:off x="10837576" y="1389951"/>
            <a:ext cx="134549" cy="195707"/>
          </a:xfrm>
          <a:prstGeom prst="rect">
            <a:avLst/>
          </a:prstGeom>
        </p:spPr>
      </p:pic>
      <p:sp>
        <p:nvSpPr>
          <p:cNvPr id="37" name="TextBox 36"/>
          <p:cNvSpPr txBox="1"/>
          <p:nvPr/>
        </p:nvSpPr>
        <p:spPr>
          <a:xfrm>
            <a:off x="11012685" y="1400175"/>
            <a:ext cx="421357" cy="194310"/>
          </a:xfrm>
          <a:prstGeom prst="rect">
            <a:avLst/>
          </a:prstGeom>
          <a:noFill/>
        </p:spPr>
        <p:txBody>
          <a:bodyPr wrap="none" lIns="0" rIns="0" tIns="0" bIns="0">
            <a:spAutoFit/>
          </a:bodyPr>
          <a:lstStyle/>
          <a:p>
            <a:r>
              <a:rPr sz="1150" b="0">
                <a:solidFill>
                  <a:srgbClr val="2E2E2E"/>
                </a:solidFill>
                <a:latin typeface="Calibri"/>
              </a:rPr>
              <a:t>Mn in</a:t>
            </a:r>
          </a:p>
        </p:txBody>
      </p:sp>
      <p:sp>
        <p:nvSpPr>
          <p:cNvPr id="38" name="TextBox 37"/>
          <p:cNvSpPr txBox="1"/>
          <p:nvPr/>
        </p:nvSpPr>
        <p:spPr>
          <a:xfrm>
            <a:off x="276225" y="1575435"/>
            <a:ext cx="1149307" cy="194310"/>
          </a:xfrm>
          <a:prstGeom prst="rect">
            <a:avLst/>
          </a:prstGeom>
          <a:noFill/>
        </p:spPr>
        <p:txBody>
          <a:bodyPr wrap="none" lIns="0" rIns="0" tIns="0" bIns="0">
            <a:spAutoFit/>
          </a:bodyPr>
          <a:lstStyle/>
          <a:p>
            <a:r>
              <a:rPr sz="1150" b="0">
                <a:solidFill>
                  <a:srgbClr val="2E2E2E"/>
                </a:solidFill>
                <a:latin typeface="Calibri"/>
              </a:rPr>
              <a:t>2036 at a CAGR of</a:t>
            </a:r>
          </a:p>
        </p:txBody>
      </p:sp>
      <p:pic>
        <p:nvPicPr>
          <p:cNvPr id="39" name="Picture 38" descr="lock.png"/>
          <p:cNvPicPr>
            <a:picLocks noChangeAspect="1"/>
          </p:cNvPicPr>
          <p:nvPr/>
        </p:nvPicPr>
        <p:blipFill>
          <a:blip r:embed="rId4"/>
          <a:stretch>
            <a:fillRect/>
          </a:stretch>
        </p:blipFill>
        <p:spPr>
          <a:xfrm>
            <a:off x="1374686" y="1565211"/>
            <a:ext cx="134549" cy="195707"/>
          </a:xfrm>
          <a:prstGeom prst="rect">
            <a:avLst/>
          </a:prstGeom>
        </p:spPr>
      </p:pic>
      <p:sp>
        <p:nvSpPr>
          <p:cNvPr id="40" name="TextBox 39"/>
          <p:cNvSpPr txBox="1"/>
          <p:nvPr/>
        </p:nvSpPr>
        <p:spPr>
          <a:xfrm>
            <a:off x="1549795" y="157543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1" name="TextBox 40"/>
          <p:cNvSpPr txBox="1"/>
          <p:nvPr/>
        </p:nvSpPr>
        <p:spPr>
          <a:xfrm>
            <a:off x="276225" y="1803273"/>
            <a:ext cx="11470952" cy="194310"/>
          </a:xfrm>
          <a:prstGeom prst="rect">
            <a:avLst/>
          </a:prstGeom>
          <a:noFill/>
        </p:spPr>
        <p:txBody>
          <a:bodyPr wrap="none" lIns="0" rIns="0" tIns="0" bIns="0">
            <a:spAutoFit/>
          </a:bodyPr>
          <a:lstStyle/>
          <a:p>
            <a:r>
              <a:rPr sz="1150" b="0">
                <a:solidFill>
                  <a:srgbClr val="2E2E2E"/>
                </a:solidFill>
                <a:latin typeface="Calibri"/>
              </a:rPr>
              <a:t>The global matcha market has been analysed on the basis of nature, product type, form and flavour across the globe. U.S. is expected to remain the largest market for matcha, while demand in</a:t>
            </a:r>
          </a:p>
        </p:txBody>
      </p:sp>
      <p:sp>
        <p:nvSpPr>
          <p:cNvPr id="42" name="TextBox 41"/>
          <p:cNvSpPr txBox="1"/>
          <p:nvPr/>
        </p:nvSpPr>
        <p:spPr>
          <a:xfrm>
            <a:off x="276225" y="1978533"/>
            <a:ext cx="3308108" cy="194310"/>
          </a:xfrm>
          <a:prstGeom prst="rect">
            <a:avLst/>
          </a:prstGeom>
          <a:noFill/>
        </p:spPr>
        <p:txBody>
          <a:bodyPr wrap="none" lIns="0" rIns="0" tIns="0" bIns="0">
            <a:spAutoFit/>
          </a:bodyPr>
          <a:lstStyle/>
          <a:p>
            <a:r>
              <a:rPr sz="1150" b="0">
                <a:solidFill>
                  <a:srgbClr val="2E2E2E"/>
                </a:solidFill>
                <a:latin typeface="Calibri"/>
              </a:rPr>
              <a:t>Canada is projected to increase at the highest CAGR of</a:t>
            </a:r>
          </a:p>
        </p:txBody>
      </p:sp>
      <p:pic>
        <p:nvPicPr>
          <p:cNvPr id="43" name="Picture 42" descr="lock.png"/>
          <p:cNvPicPr>
            <a:picLocks noChangeAspect="1"/>
          </p:cNvPicPr>
          <p:nvPr/>
        </p:nvPicPr>
        <p:blipFill>
          <a:blip r:embed="rId4"/>
          <a:stretch>
            <a:fillRect/>
          </a:stretch>
        </p:blipFill>
        <p:spPr>
          <a:xfrm>
            <a:off x="3533487" y="1968309"/>
            <a:ext cx="134549" cy="195707"/>
          </a:xfrm>
          <a:prstGeom prst="rect">
            <a:avLst/>
          </a:prstGeom>
        </p:spPr>
      </p:pic>
      <p:sp>
        <p:nvSpPr>
          <p:cNvPr id="44" name="TextBox 43"/>
          <p:cNvSpPr txBox="1"/>
          <p:nvPr/>
        </p:nvSpPr>
        <p:spPr>
          <a:xfrm>
            <a:off x="3708597" y="1978533"/>
            <a:ext cx="1960872" cy="194310"/>
          </a:xfrm>
          <a:prstGeom prst="rect">
            <a:avLst/>
          </a:prstGeom>
          <a:noFill/>
        </p:spPr>
        <p:txBody>
          <a:bodyPr wrap="none" lIns="0" rIns="0" tIns="0" bIns="0">
            <a:spAutoFit/>
          </a:bodyPr>
          <a:lstStyle/>
          <a:p>
            <a:r>
              <a:rPr sz="1150" b="0">
                <a:solidFill>
                  <a:srgbClr val="2E2E2E"/>
                </a:solidFill>
                <a:latin typeface="Calibri"/>
              </a:rPr>
              <a:t>throughout the forecast period.</a:t>
            </a:r>
          </a:p>
        </p:txBody>
      </p:sp>
      <p:sp>
        <p:nvSpPr>
          <p:cNvPr id="45" name="TextBox 44"/>
          <p:cNvSpPr txBox="1"/>
          <p:nvPr/>
        </p:nvSpPr>
        <p:spPr>
          <a:xfrm>
            <a:off x="276225" y="3276600"/>
            <a:ext cx="4996829" cy="194310"/>
          </a:xfrm>
          <a:prstGeom prst="rect">
            <a:avLst/>
          </a:prstGeom>
          <a:noFill/>
        </p:spPr>
        <p:txBody>
          <a:bodyPr wrap="none" lIns="0" rIns="0" tIns="0" bIns="0">
            <a:spAutoFit/>
          </a:bodyPr>
          <a:lstStyle/>
          <a:p>
            <a:r>
              <a:rPr sz="1150" b="0">
                <a:solidFill>
                  <a:srgbClr val="2E2E2E"/>
                </a:solidFill>
                <a:latin typeface="Calibri"/>
              </a:rPr>
              <a:t>▪ The market is consolidated: the leading product type category 'Matcha Tea' holds</a:t>
            </a:r>
          </a:p>
        </p:txBody>
      </p:sp>
      <p:pic>
        <p:nvPicPr>
          <p:cNvPr id="46" name="Picture 45" descr="lock.png"/>
          <p:cNvPicPr>
            <a:picLocks noChangeAspect="1"/>
          </p:cNvPicPr>
          <p:nvPr/>
        </p:nvPicPr>
        <p:blipFill>
          <a:blip r:embed="rId4"/>
          <a:stretch>
            <a:fillRect/>
          </a:stretch>
        </p:blipFill>
        <p:spPr>
          <a:xfrm>
            <a:off x="5222208" y="3266376"/>
            <a:ext cx="134549" cy="195707"/>
          </a:xfrm>
          <a:prstGeom prst="rect">
            <a:avLst/>
          </a:prstGeom>
        </p:spPr>
      </p:pic>
      <p:sp>
        <p:nvSpPr>
          <p:cNvPr id="47" name="TextBox 46"/>
          <p:cNvSpPr txBox="1"/>
          <p:nvPr/>
        </p:nvSpPr>
        <p:spPr>
          <a:xfrm>
            <a:off x="5397318" y="3276600"/>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48" name="TextBox 47"/>
          <p:cNvSpPr txBox="1"/>
          <p:nvPr/>
        </p:nvSpPr>
        <p:spPr>
          <a:xfrm>
            <a:off x="276225" y="3504437"/>
            <a:ext cx="5104085" cy="194310"/>
          </a:xfrm>
          <a:prstGeom prst="rect">
            <a:avLst/>
          </a:prstGeom>
          <a:noFill/>
        </p:spPr>
        <p:txBody>
          <a:bodyPr wrap="none" lIns="0" rIns="0" tIns="0" bIns="0">
            <a:spAutoFit/>
          </a:bodyPr>
          <a:lstStyle/>
          <a:p>
            <a:r>
              <a:rPr sz="1150" b="0">
                <a:solidFill>
                  <a:srgbClr val="2E2E2E"/>
                </a:solidFill>
                <a:latin typeface="Calibri"/>
              </a:rPr>
              <a:t>▪ Demand spans 2 countries and 11 segmentation lenses (2 product type categories).</a:t>
            </a:r>
          </a:p>
        </p:txBody>
      </p:sp>
      <p:sp>
        <p:nvSpPr>
          <p:cNvPr id="49" name="TextBox 48"/>
          <p:cNvSpPr txBox="1"/>
          <p:nvPr/>
        </p:nvSpPr>
        <p:spPr>
          <a:xfrm>
            <a:off x="276225" y="3732275"/>
            <a:ext cx="2288914" cy="194310"/>
          </a:xfrm>
          <a:prstGeom prst="rect">
            <a:avLst/>
          </a:prstGeom>
          <a:noFill/>
        </p:spPr>
        <p:txBody>
          <a:bodyPr wrap="none" lIns="0" rIns="0" tIns="0" bIns="0">
            <a:spAutoFit/>
          </a:bodyPr>
          <a:lstStyle/>
          <a:p>
            <a:r>
              <a:rPr sz="1150" b="0">
                <a:solidFill>
                  <a:srgbClr val="2E2E2E"/>
                </a:solidFill>
                <a:latin typeface="Calibri"/>
              </a:rPr>
              <a:t>▪ U.S. is the largest country market at</a:t>
            </a:r>
          </a:p>
        </p:txBody>
      </p:sp>
      <p:pic>
        <p:nvPicPr>
          <p:cNvPr id="50" name="Picture 49" descr="lock.png"/>
          <p:cNvPicPr>
            <a:picLocks noChangeAspect="1"/>
          </p:cNvPicPr>
          <p:nvPr/>
        </p:nvPicPr>
        <p:blipFill>
          <a:blip r:embed="rId4"/>
          <a:stretch>
            <a:fillRect/>
          </a:stretch>
        </p:blipFill>
        <p:spPr>
          <a:xfrm>
            <a:off x="2514293" y="3722052"/>
            <a:ext cx="134549" cy="195707"/>
          </a:xfrm>
          <a:prstGeom prst="rect">
            <a:avLst/>
          </a:prstGeom>
        </p:spPr>
      </p:pic>
      <p:sp>
        <p:nvSpPr>
          <p:cNvPr id="51" name="TextBox 50"/>
          <p:cNvSpPr txBox="1"/>
          <p:nvPr/>
        </p:nvSpPr>
        <p:spPr>
          <a:xfrm>
            <a:off x="2689402" y="3732275"/>
            <a:ext cx="916272" cy="194310"/>
          </a:xfrm>
          <a:prstGeom prst="rect">
            <a:avLst/>
          </a:prstGeom>
          <a:noFill/>
        </p:spPr>
        <p:txBody>
          <a:bodyPr wrap="none" lIns="0" rIns="0" tIns="0" bIns="0">
            <a:spAutoFit/>
          </a:bodyPr>
          <a:lstStyle/>
          <a:p>
            <a:r>
              <a:rPr sz="1150" b="0">
                <a:solidFill>
                  <a:srgbClr val="2E2E2E"/>
                </a:solidFill>
                <a:latin typeface="Calibri"/>
              </a:rPr>
              <a:t>of 2036 value.</a:t>
            </a:r>
          </a:p>
        </p:txBody>
      </p:sp>
      <p:sp>
        <p:nvSpPr>
          <p:cNvPr id="52" name="TextBox 51"/>
          <p:cNvSpPr txBox="1"/>
          <p:nvPr/>
        </p:nvSpPr>
        <p:spPr>
          <a:xfrm>
            <a:off x="276225" y="5038725"/>
            <a:ext cx="2614674" cy="194310"/>
          </a:xfrm>
          <a:prstGeom prst="rect">
            <a:avLst/>
          </a:prstGeom>
          <a:noFill/>
        </p:spPr>
        <p:txBody>
          <a:bodyPr wrap="none" lIns="0" rIns="0" tIns="0" bIns="0">
            <a:spAutoFit/>
          </a:bodyPr>
          <a:lstStyle/>
          <a:p>
            <a:r>
              <a:rPr sz="1150" b="0">
                <a:solidFill>
                  <a:srgbClr val="2E2E2E"/>
                </a:solidFill>
                <a:latin typeface="Calibri"/>
              </a:rPr>
              <a:t>▪ Accelerating uptake of 'Matcha Powder' (</a:t>
            </a:r>
          </a:p>
        </p:txBody>
      </p:sp>
      <p:pic>
        <p:nvPicPr>
          <p:cNvPr id="53" name="Picture 52" descr="lock.png"/>
          <p:cNvPicPr>
            <a:picLocks noChangeAspect="1"/>
          </p:cNvPicPr>
          <p:nvPr/>
        </p:nvPicPr>
        <p:blipFill>
          <a:blip r:embed="rId4"/>
          <a:stretch>
            <a:fillRect/>
          </a:stretch>
        </p:blipFill>
        <p:spPr>
          <a:xfrm>
            <a:off x="2840053" y="5028501"/>
            <a:ext cx="134549" cy="195707"/>
          </a:xfrm>
          <a:prstGeom prst="rect">
            <a:avLst/>
          </a:prstGeom>
        </p:spPr>
      </p:pic>
      <p:sp>
        <p:nvSpPr>
          <p:cNvPr id="54" name="TextBox 53"/>
          <p:cNvSpPr txBox="1"/>
          <p:nvPr/>
        </p:nvSpPr>
        <p:spPr>
          <a:xfrm>
            <a:off x="3015162" y="5038725"/>
            <a:ext cx="490941"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55" name="TextBox 54"/>
          <p:cNvSpPr txBox="1"/>
          <p:nvPr/>
        </p:nvSpPr>
        <p:spPr>
          <a:xfrm>
            <a:off x="276225" y="5266563"/>
            <a:ext cx="2146510" cy="194310"/>
          </a:xfrm>
          <a:prstGeom prst="rect">
            <a:avLst/>
          </a:prstGeom>
          <a:noFill/>
        </p:spPr>
        <p:txBody>
          <a:bodyPr wrap="none" lIns="0" rIns="0" tIns="0" bIns="0">
            <a:spAutoFit/>
          </a:bodyPr>
          <a:lstStyle/>
          <a:p>
            <a:r>
              <a:rPr sz="1150" b="0">
                <a:solidFill>
                  <a:srgbClr val="2E2E2E"/>
                </a:solidFill>
                <a:latin typeface="Calibri"/>
              </a:rPr>
              <a:t>▪ Fast-growing demand in Canada (</a:t>
            </a:r>
          </a:p>
        </p:txBody>
      </p:sp>
      <p:pic>
        <p:nvPicPr>
          <p:cNvPr id="56" name="Picture 55" descr="lock.png"/>
          <p:cNvPicPr>
            <a:picLocks noChangeAspect="1"/>
          </p:cNvPicPr>
          <p:nvPr/>
        </p:nvPicPr>
        <p:blipFill>
          <a:blip r:embed="rId4"/>
          <a:stretch>
            <a:fillRect/>
          </a:stretch>
        </p:blipFill>
        <p:spPr>
          <a:xfrm>
            <a:off x="2371889" y="5256339"/>
            <a:ext cx="134549" cy="195707"/>
          </a:xfrm>
          <a:prstGeom prst="rect">
            <a:avLst/>
          </a:prstGeom>
        </p:spPr>
      </p:pic>
      <p:sp>
        <p:nvSpPr>
          <p:cNvPr id="57" name="TextBox 56"/>
          <p:cNvSpPr txBox="1"/>
          <p:nvPr/>
        </p:nvSpPr>
        <p:spPr>
          <a:xfrm>
            <a:off x="2546998" y="5266563"/>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8" name="TextBox 57"/>
          <p:cNvSpPr txBox="1"/>
          <p:nvPr/>
        </p:nvSpPr>
        <p:spPr>
          <a:xfrm>
            <a:off x="276225" y="5494400"/>
            <a:ext cx="3334655" cy="194310"/>
          </a:xfrm>
          <a:prstGeom prst="rect">
            <a:avLst/>
          </a:prstGeom>
          <a:noFill/>
        </p:spPr>
        <p:txBody>
          <a:bodyPr wrap="none" lIns="0" rIns="0" tIns="0" bIns="0">
            <a:spAutoFit/>
          </a:bodyPr>
          <a:lstStyle/>
          <a:p>
            <a:r>
              <a:rPr sz="1150" b="0">
                <a:solidFill>
                  <a:srgbClr val="2E2E2E"/>
                </a:solidFill>
                <a:latin typeface="Calibri"/>
              </a:rPr>
              <a:t>▪ Momentum in Other Applications within application (</a:t>
            </a:r>
          </a:p>
        </p:txBody>
      </p:sp>
      <p:pic>
        <p:nvPicPr>
          <p:cNvPr id="59" name="Picture 58" descr="lock.png"/>
          <p:cNvPicPr>
            <a:picLocks noChangeAspect="1"/>
          </p:cNvPicPr>
          <p:nvPr/>
        </p:nvPicPr>
        <p:blipFill>
          <a:blip r:embed="rId4"/>
          <a:stretch>
            <a:fillRect/>
          </a:stretch>
        </p:blipFill>
        <p:spPr>
          <a:xfrm>
            <a:off x="3560034" y="5484177"/>
            <a:ext cx="134549" cy="195707"/>
          </a:xfrm>
          <a:prstGeom prst="rect">
            <a:avLst/>
          </a:prstGeom>
        </p:spPr>
      </p:pic>
      <p:sp>
        <p:nvSpPr>
          <p:cNvPr id="60" name="TextBox 59"/>
          <p:cNvSpPr txBox="1"/>
          <p:nvPr/>
        </p:nvSpPr>
        <p:spPr>
          <a:xfrm>
            <a:off x="3735143" y="54944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1" name="TextBox 60"/>
          <p:cNvSpPr txBox="1"/>
          <p:nvPr/>
        </p:nvSpPr>
        <p:spPr>
          <a:xfrm>
            <a:off x="4371975" y="5038725"/>
            <a:ext cx="2320007" cy="194310"/>
          </a:xfrm>
          <a:prstGeom prst="rect">
            <a:avLst/>
          </a:prstGeom>
          <a:noFill/>
        </p:spPr>
        <p:txBody>
          <a:bodyPr wrap="none" lIns="0" rIns="0" tIns="0" bIns="0">
            <a:spAutoFit/>
          </a:bodyPr>
          <a:lstStyle/>
          <a:p>
            <a:r>
              <a:rPr sz="1150" b="0">
                <a:solidFill>
                  <a:srgbClr val="2E2E2E"/>
                </a:solidFill>
                <a:latin typeface="Calibri"/>
              </a:rPr>
              <a:t>▪ Slower momentum in 'Matcha Tea' (</a:t>
            </a:r>
          </a:p>
        </p:txBody>
      </p:sp>
      <p:pic>
        <p:nvPicPr>
          <p:cNvPr id="62" name="Picture 61" descr="lock.png"/>
          <p:cNvPicPr>
            <a:picLocks noChangeAspect="1"/>
          </p:cNvPicPr>
          <p:nvPr/>
        </p:nvPicPr>
        <p:blipFill>
          <a:blip r:embed="rId4"/>
          <a:stretch>
            <a:fillRect/>
          </a:stretch>
        </p:blipFill>
        <p:spPr>
          <a:xfrm>
            <a:off x="6641136" y="5028501"/>
            <a:ext cx="134549" cy="195707"/>
          </a:xfrm>
          <a:prstGeom prst="rect">
            <a:avLst/>
          </a:prstGeom>
        </p:spPr>
      </p:pic>
      <p:sp>
        <p:nvSpPr>
          <p:cNvPr id="63" name="TextBox 62"/>
          <p:cNvSpPr txBox="1"/>
          <p:nvPr/>
        </p:nvSpPr>
        <p:spPr>
          <a:xfrm>
            <a:off x="6816245" y="503872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64" name="TextBox 63"/>
          <p:cNvSpPr txBox="1"/>
          <p:nvPr/>
        </p:nvSpPr>
        <p:spPr>
          <a:xfrm>
            <a:off x="4371975" y="5266563"/>
            <a:ext cx="3264197" cy="194310"/>
          </a:xfrm>
          <a:prstGeom prst="rect">
            <a:avLst/>
          </a:prstGeom>
          <a:noFill/>
        </p:spPr>
        <p:txBody>
          <a:bodyPr wrap="none" lIns="0" rIns="0" tIns="0" bIns="0">
            <a:spAutoFit/>
          </a:bodyPr>
          <a:lstStyle/>
          <a:p>
            <a:r>
              <a:rPr sz="1150" b="0">
                <a:solidFill>
                  <a:srgbClr val="2E2E2E"/>
                </a:solidFill>
                <a:latin typeface="Calibri"/>
              </a:rPr>
              <a:t>▪ Maturing demand in established categories caps the</a:t>
            </a:r>
          </a:p>
        </p:txBody>
      </p:sp>
      <p:sp>
        <p:nvSpPr>
          <p:cNvPr id="65" name="TextBox 64"/>
          <p:cNvSpPr txBox="1"/>
          <p:nvPr/>
        </p:nvSpPr>
        <p:spPr>
          <a:xfrm>
            <a:off x="4371975" y="5441822"/>
            <a:ext cx="562272" cy="194310"/>
          </a:xfrm>
          <a:prstGeom prst="rect">
            <a:avLst/>
          </a:prstGeom>
          <a:noFill/>
        </p:spPr>
        <p:txBody>
          <a:bodyPr wrap="none" lIns="0" rIns="0" tIns="0" bIns="0">
            <a:spAutoFit/>
          </a:bodyPr>
          <a:lstStyle/>
          <a:p>
            <a:r>
              <a:rPr sz="1150" b="0">
                <a:solidFill>
                  <a:srgbClr val="2E2E2E"/>
                </a:solidFill>
                <a:latin typeface="Calibri"/>
              </a:rPr>
              <a:t>blended</a:t>
            </a:r>
          </a:p>
        </p:txBody>
      </p:sp>
      <p:pic>
        <p:nvPicPr>
          <p:cNvPr id="66" name="Picture 65" descr="lock.png"/>
          <p:cNvPicPr>
            <a:picLocks noChangeAspect="1"/>
          </p:cNvPicPr>
          <p:nvPr/>
        </p:nvPicPr>
        <p:blipFill>
          <a:blip r:embed="rId4"/>
          <a:stretch>
            <a:fillRect/>
          </a:stretch>
        </p:blipFill>
        <p:spPr>
          <a:xfrm>
            <a:off x="4883401" y="5431599"/>
            <a:ext cx="134549" cy="195707"/>
          </a:xfrm>
          <a:prstGeom prst="rect">
            <a:avLst/>
          </a:prstGeom>
        </p:spPr>
      </p:pic>
      <p:sp>
        <p:nvSpPr>
          <p:cNvPr id="67" name="TextBox 66"/>
          <p:cNvSpPr txBox="1"/>
          <p:nvPr/>
        </p:nvSpPr>
        <p:spPr>
          <a:xfrm>
            <a:off x="5058510" y="5441822"/>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8" name="TextBox 67"/>
          <p:cNvSpPr txBox="1"/>
          <p:nvPr/>
        </p:nvSpPr>
        <p:spPr>
          <a:xfrm>
            <a:off x="4371975" y="5669660"/>
            <a:ext cx="3380581" cy="194310"/>
          </a:xfrm>
          <a:prstGeom prst="rect">
            <a:avLst/>
          </a:prstGeom>
          <a:noFill/>
        </p:spPr>
        <p:txBody>
          <a:bodyPr wrap="none" lIns="0" rIns="0" tIns="0" bIns="0">
            <a:spAutoFit/>
          </a:bodyPr>
          <a:lstStyle/>
          <a:p>
            <a:r>
              <a:rPr sz="1150" b="0">
                <a:solidFill>
                  <a:srgbClr val="2E2E2E"/>
                </a:solidFill>
                <a:latin typeface="Calibri"/>
              </a:rPr>
              <a:t>▪ Value concentration in 'Matcha Tea' raises barriers for</a:t>
            </a:r>
          </a:p>
        </p:txBody>
      </p:sp>
      <p:sp>
        <p:nvSpPr>
          <p:cNvPr id="69" name="TextBox 68"/>
          <p:cNvSpPr txBox="1"/>
          <p:nvPr/>
        </p:nvSpPr>
        <p:spPr>
          <a:xfrm>
            <a:off x="4371975" y="5844920"/>
            <a:ext cx="902295" cy="194310"/>
          </a:xfrm>
          <a:prstGeom prst="rect">
            <a:avLst/>
          </a:prstGeom>
          <a:noFill/>
        </p:spPr>
        <p:txBody>
          <a:bodyPr wrap="none" lIns="0" rIns="0" tIns="0" bIns="0">
            <a:spAutoFit/>
          </a:bodyPr>
          <a:lstStyle/>
          <a:p>
            <a:r>
              <a:rPr sz="1150" b="0">
                <a:solidFill>
                  <a:srgbClr val="2E2E2E"/>
                </a:solidFill>
                <a:latin typeface="Calibri"/>
              </a:rPr>
              <a:t>new entrants.</a:t>
            </a:r>
          </a:p>
        </p:txBody>
      </p:sp>
    </p:spTree>
  </p:cSld>
  <p:clrMapOvr>
    <a:masterClrMapping/>
  </p:clrMapOvr>
</p:sld>
</file>

<file path=ppt/slides/slide1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Supply Side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recent developments, investments and R&amp;D activity shaping the supply side of the market</a:t>
            </a:r>
          </a:p>
        </p:txBody>
      </p:sp>
      <p:sp>
        <p:nvSpPr>
          <p:cNvPr id="10" name="Rounded Rectangle 9"/>
          <p:cNvSpPr/>
          <p:nvPr/>
        </p:nvSpPr>
        <p:spPr>
          <a:xfrm>
            <a:off x="142875"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Recent Developments &amp; Key Industry Activities</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Capacity and product development are concentrating in 'Matcha Powder' and Canada.</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Portfolio expansion tracks the shift toward higher-growth product type categories.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Commercial focus is intensifying across U.S. and Canada.</a:t>
            </a:r>
          </a:p>
        </p:txBody>
      </p:sp>
      <p:sp>
        <p:nvSpPr>
          <p:cNvPr id="14" name="Rounded Rectangle 13"/>
          <p:cNvSpPr/>
          <p:nvPr/>
        </p:nvSpPr>
        <p:spPr>
          <a:xfrm>
            <a:off x="6172200" y="981075"/>
            <a:ext cx="58769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Key Insights</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954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8" name="Rounded Rectangle 17"/>
          <p:cNvSpPr/>
          <p:nvPr/>
        </p:nvSpPr>
        <p:spPr>
          <a:xfrm>
            <a:off x="142875"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Strategic Acquisitions &amp; New Investments</a:t>
            </a:r>
          </a:p>
        </p:txBody>
      </p:sp>
      <p:sp>
        <p:nvSpPr>
          <p:cNvPr id="20" name="Rectangle 19"/>
          <p:cNvSpPr/>
          <p:nvPr/>
        </p:nvSpPr>
        <p:spPr>
          <a:xfrm>
            <a:off x="276225"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95600"/>
            <a:ext cx="5876925" cy="1285875"/>
          </a:xfrm>
          <a:prstGeom prst="roundRect">
            <a:avLst>
              <a:gd name="adj" fmla="val 59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81325"/>
            <a:ext cx="5610225" cy="209550"/>
          </a:xfrm>
          <a:prstGeom prst="rect">
            <a:avLst/>
          </a:prstGeom>
          <a:noFill/>
        </p:spPr>
        <p:txBody>
          <a:bodyPr wrap="square" lIns="0" rIns="19050" tIns="9525" bIns="9525">
            <a:spAutoFit/>
          </a:bodyPr>
          <a:lstStyle/>
          <a:p>
            <a:pPr algn="l"/>
            <a:r>
              <a:rPr sz="1300" b="1">
                <a:solidFill>
                  <a:srgbClr val="0B2E4A"/>
                </a:solidFill>
                <a:latin typeface="Calibri"/>
              </a:rPr>
              <a:t>Substantial Investment in R&amp;D</a:t>
            </a:r>
          </a:p>
        </p:txBody>
      </p:sp>
      <p:sp>
        <p:nvSpPr>
          <p:cNvPr id="24" name="Rectangle 23"/>
          <p:cNvSpPr/>
          <p:nvPr/>
        </p:nvSpPr>
        <p:spPr>
          <a:xfrm>
            <a:off x="6305550" y="32194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305175"/>
            <a:ext cx="5610225" cy="8001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314825"/>
            <a:ext cx="11906250" cy="2295525"/>
          </a:xfrm>
          <a:prstGeom prst="roundRect">
            <a:avLst>
              <a:gd name="adj" fmla="val 33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38125" y="437197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structure product type share (2036)</a:t>
            </a:r>
          </a:p>
        </p:txBody>
      </p:sp>
      <p:graphicFrame>
        <p:nvGraphicFramePr>
          <p:cNvPr id="28" name="Chart 27"/>
          <p:cNvGraphicFramePr>
            <a:graphicFrameLocks noGrp="1"/>
          </p:cNvGraphicFramePr>
          <p:nvPr/>
        </p:nvGraphicFramePr>
        <p:xfrm>
          <a:off x="238125" y="4600575"/>
          <a:ext cx="11715750" cy="1952625"/>
        </p:xfrm>
        <a:graphic>
          <a:graphicData uri="http://schemas.openxmlformats.org/drawingml/2006/chart">
            <c:chart xmlns:c="http://schemas.openxmlformats.org/drawingml/2006/chart" r:id="rId3"/>
          </a:graphicData>
        </a:graphic>
      </p:graphicFrame>
      <p:sp>
        <p:nvSpPr>
          <p:cNvPr id="29" name="TextBox 28"/>
          <p:cNvSpPr txBox="1"/>
          <p:nvPr/>
        </p:nvSpPr>
        <p:spPr>
          <a:xfrm>
            <a:off x="3871570" y="5462588"/>
            <a:ext cx="934136" cy="228600"/>
          </a:xfrm>
          <a:prstGeom prst="rect">
            <a:avLst/>
          </a:prstGeom>
          <a:noFill/>
        </p:spPr>
        <p:txBody>
          <a:bodyPr wrap="square" lIns="28575" rIns="28575" tIns="9525" bIns="9525" anchor="ctr">
            <a:spAutoFit/>
          </a:bodyPr>
          <a:lstStyle/>
          <a:p>
            <a:pPr algn="ctr"/>
            <a:r>
              <a:rPr sz="1300" b="1">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4135025" y="5284520"/>
            <a:ext cx="382860" cy="556888"/>
          </a:xfrm>
          <a:prstGeom prst="rect">
            <a:avLst/>
          </a:prstGeom>
        </p:spPr>
      </p:pic>
      <p:sp>
        <p:nvSpPr>
          <p:cNvPr id="32" name="TextBox 31"/>
          <p:cNvSpPr txBox="1"/>
          <p:nvPr/>
        </p:nvSpPr>
        <p:spPr>
          <a:xfrm>
            <a:off x="6305550" y="1400175"/>
            <a:ext cx="684113" cy="186689"/>
          </a:xfrm>
          <a:prstGeom prst="rect">
            <a:avLst/>
          </a:prstGeom>
          <a:noFill/>
        </p:spPr>
        <p:txBody>
          <a:bodyPr wrap="none" lIns="0" rIns="0" tIns="0" bIns="0">
            <a:spAutoFit/>
          </a:bodyPr>
          <a:lstStyle/>
          <a:p>
            <a:r>
              <a:rPr sz="1100" b="0">
                <a:solidFill>
                  <a:srgbClr val="2E2E2E"/>
                </a:solidFill>
                <a:latin typeface="Calibri"/>
              </a:rPr>
              <a:t>▪ 2026 size</a:t>
            </a:r>
          </a:p>
        </p:txBody>
      </p:sp>
      <p:pic>
        <p:nvPicPr>
          <p:cNvPr id="33" name="Picture 32" descr="lock.png"/>
          <p:cNvPicPr>
            <a:picLocks noChangeAspect="1"/>
          </p:cNvPicPr>
          <p:nvPr/>
        </p:nvPicPr>
        <p:blipFill>
          <a:blip r:embed="rId5"/>
          <a:stretch>
            <a:fillRect/>
          </a:stretch>
        </p:blipFill>
        <p:spPr>
          <a:xfrm>
            <a:off x="6937714" y="1390396"/>
            <a:ext cx="128699" cy="187198"/>
          </a:xfrm>
          <a:prstGeom prst="rect">
            <a:avLst/>
          </a:prstGeom>
        </p:spPr>
      </p:pic>
      <p:sp>
        <p:nvSpPr>
          <p:cNvPr id="34" name="TextBox 33"/>
          <p:cNvSpPr txBox="1"/>
          <p:nvPr/>
        </p:nvSpPr>
        <p:spPr>
          <a:xfrm>
            <a:off x="7105210" y="1400175"/>
            <a:ext cx="878383" cy="186689"/>
          </a:xfrm>
          <a:prstGeom prst="rect">
            <a:avLst/>
          </a:prstGeom>
          <a:noFill/>
        </p:spPr>
        <p:txBody>
          <a:bodyPr wrap="none" lIns="0" rIns="0" tIns="0" bIns="0">
            <a:spAutoFit/>
          </a:bodyPr>
          <a:lstStyle/>
          <a:p>
            <a:r>
              <a:rPr sz="1100" b="0">
                <a:solidFill>
                  <a:srgbClr val="2E2E2E"/>
                </a:solidFill>
                <a:latin typeface="Calibri"/>
              </a:rPr>
              <a:t>US$ Mn; 2036</a:t>
            </a:r>
          </a:p>
        </p:txBody>
      </p:sp>
      <p:pic>
        <p:nvPicPr>
          <p:cNvPr id="35" name="Picture 34" descr="lock.png"/>
          <p:cNvPicPr>
            <a:picLocks noChangeAspect="1"/>
          </p:cNvPicPr>
          <p:nvPr/>
        </p:nvPicPr>
        <p:blipFill>
          <a:blip r:embed="rId5"/>
          <a:stretch>
            <a:fillRect/>
          </a:stretch>
        </p:blipFill>
        <p:spPr>
          <a:xfrm>
            <a:off x="7931645" y="1390396"/>
            <a:ext cx="128699" cy="187198"/>
          </a:xfrm>
          <a:prstGeom prst="rect">
            <a:avLst/>
          </a:prstGeom>
        </p:spPr>
      </p:pic>
      <p:sp>
        <p:nvSpPr>
          <p:cNvPr id="36" name="TextBox 35"/>
          <p:cNvSpPr txBox="1"/>
          <p:nvPr/>
        </p:nvSpPr>
        <p:spPr>
          <a:xfrm>
            <a:off x="8099141" y="1400175"/>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7" name="TextBox 36"/>
          <p:cNvSpPr txBox="1"/>
          <p:nvPr/>
        </p:nvSpPr>
        <p:spPr>
          <a:xfrm>
            <a:off x="6305550" y="1618107"/>
            <a:ext cx="991842" cy="186689"/>
          </a:xfrm>
          <a:prstGeom prst="rect">
            <a:avLst/>
          </a:prstGeom>
          <a:noFill/>
        </p:spPr>
        <p:txBody>
          <a:bodyPr wrap="none" lIns="0" rIns="0" tIns="0" bIns="0">
            <a:spAutoFit/>
          </a:bodyPr>
          <a:lstStyle/>
          <a:p>
            <a:r>
              <a:rPr sz="1100" b="0">
                <a:solidFill>
                  <a:srgbClr val="2E2E2E"/>
                </a:solidFill>
                <a:latin typeface="Calibri"/>
              </a:rPr>
              <a:t>▪ Forecast CAGR</a:t>
            </a:r>
          </a:p>
        </p:txBody>
      </p:sp>
      <p:pic>
        <p:nvPicPr>
          <p:cNvPr id="38" name="Picture 37" descr="lock.png"/>
          <p:cNvPicPr>
            <a:picLocks noChangeAspect="1"/>
          </p:cNvPicPr>
          <p:nvPr/>
        </p:nvPicPr>
        <p:blipFill>
          <a:blip r:embed="rId5"/>
          <a:stretch>
            <a:fillRect/>
          </a:stretch>
        </p:blipFill>
        <p:spPr>
          <a:xfrm>
            <a:off x="7245444" y="1608328"/>
            <a:ext cx="128699" cy="187198"/>
          </a:xfrm>
          <a:prstGeom prst="rect">
            <a:avLst/>
          </a:prstGeom>
        </p:spPr>
      </p:pic>
      <p:sp>
        <p:nvSpPr>
          <p:cNvPr id="39" name="TextBox 38"/>
          <p:cNvSpPr txBox="1"/>
          <p:nvPr/>
        </p:nvSpPr>
        <p:spPr>
          <a:xfrm>
            <a:off x="7412940" y="1618107"/>
            <a:ext cx="833090" cy="186689"/>
          </a:xfrm>
          <a:prstGeom prst="rect">
            <a:avLst/>
          </a:prstGeom>
          <a:noFill/>
        </p:spPr>
        <p:txBody>
          <a:bodyPr wrap="none" lIns="0" rIns="0" tIns="0" bIns="0">
            <a:spAutoFit/>
          </a:bodyPr>
          <a:lstStyle/>
          <a:p>
            <a:r>
              <a:rPr sz="1100" b="0">
                <a:solidFill>
                  <a:srgbClr val="2E2E2E"/>
                </a:solidFill>
                <a:latin typeface="Calibri"/>
              </a:rPr>
              <a:t>(2026–2036).</a:t>
            </a:r>
          </a:p>
        </p:txBody>
      </p:sp>
      <p:sp>
        <p:nvSpPr>
          <p:cNvPr id="40" name="TextBox 39"/>
          <p:cNvSpPr txBox="1"/>
          <p:nvPr/>
        </p:nvSpPr>
        <p:spPr>
          <a:xfrm>
            <a:off x="6305550" y="1836039"/>
            <a:ext cx="1713855" cy="186689"/>
          </a:xfrm>
          <a:prstGeom prst="rect">
            <a:avLst/>
          </a:prstGeom>
          <a:noFill/>
        </p:spPr>
        <p:txBody>
          <a:bodyPr wrap="none" lIns="0" rIns="0" tIns="0" bIns="0">
            <a:spAutoFit/>
          </a:bodyPr>
          <a:lstStyle/>
          <a:p>
            <a:r>
              <a:rPr sz="1100" b="0">
                <a:solidFill>
                  <a:srgbClr val="2E2E2E"/>
                </a:solidFill>
                <a:latin typeface="Calibri"/>
              </a:rPr>
              <a:t>▪ Lead category 'Matcha Tea'</a:t>
            </a:r>
          </a:p>
        </p:txBody>
      </p:sp>
      <p:pic>
        <p:nvPicPr>
          <p:cNvPr id="41" name="Picture 40" descr="lock.png"/>
          <p:cNvPicPr>
            <a:picLocks noChangeAspect="1"/>
          </p:cNvPicPr>
          <p:nvPr/>
        </p:nvPicPr>
        <p:blipFill>
          <a:blip r:embed="rId5"/>
          <a:stretch>
            <a:fillRect/>
          </a:stretch>
        </p:blipFill>
        <p:spPr>
          <a:xfrm>
            <a:off x="7967456" y="1826260"/>
            <a:ext cx="128699" cy="187198"/>
          </a:xfrm>
          <a:prstGeom prst="rect">
            <a:avLst/>
          </a:prstGeom>
        </p:spPr>
      </p:pic>
      <p:sp>
        <p:nvSpPr>
          <p:cNvPr id="42" name="TextBox 41"/>
          <p:cNvSpPr txBox="1"/>
          <p:nvPr/>
        </p:nvSpPr>
        <p:spPr>
          <a:xfrm>
            <a:off x="8134952" y="1836039"/>
            <a:ext cx="543049" cy="186689"/>
          </a:xfrm>
          <a:prstGeom prst="rect">
            <a:avLst/>
          </a:prstGeom>
          <a:noFill/>
        </p:spPr>
        <p:txBody>
          <a:bodyPr wrap="none" lIns="0" rIns="0" tIns="0" bIns="0">
            <a:spAutoFit/>
          </a:bodyPr>
          <a:lstStyle/>
          <a:p>
            <a:r>
              <a:rPr sz="1100" b="0">
                <a:solidFill>
                  <a:srgbClr val="2E2E2E"/>
                </a:solidFill>
                <a:latin typeface="Calibri"/>
              </a:rPr>
              <a:t>of 2036.</a:t>
            </a:r>
          </a:p>
        </p:txBody>
      </p:sp>
      <p:sp>
        <p:nvSpPr>
          <p:cNvPr id="43" name="TextBox 42"/>
          <p:cNvSpPr txBox="1"/>
          <p:nvPr/>
        </p:nvSpPr>
        <p:spPr>
          <a:xfrm>
            <a:off x="6305550" y="2053970"/>
            <a:ext cx="1152053" cy="186689"/>
          </a:xfrm>
          <a:prstGeom prst="rect">
            <a:avLst/>
          </a:prstGeom>
          <a:noFill/>
        </p:spPr>
        <p:txBody>
          <a:bodyPr wrap="none" lIns="0" rIns="0" tIns="0" bIns="0">
            <a:spAutoFit/>
          </a:bodyPr>
          <a:lstStyle/>
          <a:p>
            <a:r>
              <a:rPr sz="1100" b="0">
                <a:solidFill>
                  <a:srgbClr val="2E2E2E"/>
                </a:solidFill>
                <a:latin typeface="Calibri"/>
              </a:rPr>
              <a:t>▪ Lead country U.S.</a:t>
            </a:r>
          </a:p>
        </p:txBody>
      </p:sp>
      <p:pic>
        <p:nvPicPr>
          <p:cNvPr id="44" name="Picture 43" descr="lock.png"/>
          <p:cNvPicPr>
            <a:picLocks noChangeAspect="1"/>
          </p:cNvPicPr>
          <p:nvPr/>
        </p:nvPicPr>
        <p:blipFill>
          <a:blip r:embed="rId5"/>
          <a:stretch>
            <a:fillRect/>
          </a:stretch>
        </p:blipFill>
        <p:spPr>
          <a:xfrm>
            <a:off x="7405655" y="2044192"/>
            <a:ext cx="128699" cy="187198"/>
          </a:xfrm>
          <a:prstGeom prst="rect">
            <a:avLst/>
          </a:prstGeom>
        </p:spPr>
      </p:pic>
      <p:sp>
        <p:nvSpPr>
          <p:cNvPr id="45" name="TextBox 44"/>
          <p:cNvSpPr txBox="1"/>
          <p:nvPr/>
        </p:nvSpPr>
        <p:spPr>
          <a:xfrm>
            <a:off x="7573151" y="205397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46" name="TextBox 45"/>
          <p:cNvSpPr txBox="1"/>
          <p:nvPr/>
        </p:nvSpPr>
        <p:spPr>
          <a:xfrm>
            <a:off x="6305550" y="2271903"/>
            <a:ext cx="1554782" cy="186689"/>
          </a:xfrm>
          <a:prstGeom prst="rect">
            <a:avLst/>
          </a:prstGeom>
          <a:noFill/>
        </p:spPr>
        <p:txBody>
          <a:bodyPr wrap="none" lIns="0" rIns="0" tIns="0" bIns="0">
            <a:spAutoFit/>
          </a:bodyPr>
          <a:lstStyle/>
          <a:p>
            <a:r>
              <a:rPr sz="1100" b="0">
                <a:solidFill>
                  <a:srgbClr val="2E2E2E"/>
                </a:solidFill>
                <a:latin typeface="Calibri"/>
              </a:rPr>
              <a:t>▪ Incremental opportunity</a:t>
            </a:r>
          </a:p>
        </p:txBody>
      </p:sp>
      <p:pic>
        <p:nvPicPr>
          <p:cNvPr id="47" name="Picture 46" descr="lock.png"/>
          <p:cNvPicPr>
            <a:picLocks noChangeAspect="1"/>
          </p:cNvPicPr>
          <p:nvPr/>
        </p:nvPicPr>
        <p:blipFill>
          <a:blip r:embed="rId5"/>
          <a:stretch>
            <a:fillRect/>
          </a:stretch>
        </p:blipFill>
        <p:spPr>
          <a:xfrm>
            <a:off x="7808384" y="2262124"/>
            <a:ext cx="128699" cy="187198"/>
          </a:xfrm>
          <a:prstGeom prst="rect">
            <a:avLst/>
          </a:prstGeom>
        </p:spPr>
      </p:pic>
      <p:sp>
        <p:nvSpPr>
          <p:cNvPr id="48" name="TextBox 47"/>
          <p:cNvSpPr txBox="1"/>
          <p:nvPr/>
        </p:nvSpPr>
        <p:spPr>
          <a:xfrm>
            <a:off x="7975880" y="2271903"/>
            <a:ext cx="560784"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9" name="TextBox 48"/>
          <p:cNvSpPr txBox="1"/>
          <p:nvPr/>
        </p:nvSpPr>
        <p:spPr>
          <a:xfrm>
            <a:off x="276225" y="3314700"/>
            <a:ext cx="4438017" cy="194310"/>
          </a:xfrm>
          <a:prstGeom prst="rect">
            <a:avLst/>
          </a:prstGeom>
          <a:noFill/>
        </p:spPr>
        <p:txBody>
          <a:bodyPr wrap="none" lIns="0" rIns="0" tIns="0" bIns="0">
            <a:spAutoFit/>
          </a:bodyPr>
          <a:lstStyle/>
          <a:p>
            <a:r>
              <a:rPr sz="1150" b="0">
                <a:solidFill>
                  <a:srgbClr val="2E2E2E"/>
                </a:solidFill>
                <a:latin typeface="Calibri"/>
              </a:rPr>
              <a:t>▪ Investment is flowing toward the fastest-growing tier 'Matcha Powder' (</a:t>
            </a:r>
          </a:p>
        </p:txBody>
      </p:sp>
      <p:pic>
        <p:nvPicPr>
          <p:cNvPr id="50" name="Picture 49" descr="lock.png"/>
          <p:cNvPicPr>
            <a:picLocks noChangeAspect="1"/>
          </p:cNvPicPr>
          <p:nvPr/>
        </p:nvPicPr>
        <p:blipFill>
          <a:blip r:embed="rId5"/>
          <a:stretch>
            <a:fillRect/>
          </a:stretch>
        </p:blipFill>
        <p:spPr>
          <a:xfrm>
            <a:off x="4663396" y="3304476"/>
            <a:ext cx="134549" cy="195707"/>
          </a:xfrm>
          <a:prstGeom prst="rect">
            <a:avLst/>
          </a:prstGeom>
        </p:spPr>
      </p:pic>
      <p:sp>
        <p:nvSpPr>
          <p:cNvPr id="51" name="TextBox 50"/>
          <p:cNvSpPr txBox="1"/>
          <p:nvPr/>
        </p:nvSpPr>
        <p:spPr>
          <a:xfrm>
            <a:off x="4838505" y="33147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52" name="TextBox 51"/>
          <p:cNvSpPr txBox="1"/>
          <p:nvPr/>
        </p:nvSpPr>
        <p:spPr>
          <a:xfrm>
            <a:off x="276225" y="3542537"/>
            <a:ext cx="679226" cy="194310"/>
          </a:xfrm>
          <a:prstGeom prst="rect">
            <a:avLst/>
          </a:prstGeom>
          <a:noFill/>
        </p:spPr>
        <p:txBody>
          <a:bodyPr wrap="none" lIns="0" rIns="0" tIns="0" bIns="0">
            <a:spAutoFit/>
          </a:bodyPr>
          <a:lstStyle/>
          <a:p>
            <a:r>
              <a:rPr sz="1150" b="0">
                <a:solidFill>
                  <a:srgbClr val="2E2E2E"/>
                </a:solidFill>
                <a:latin typeface="Calibri"/>
              </a:rPr>
              <a:t>▪ Canada (</a:t>
            </a:r>
          </a:p>
        </p:txBody>
      </p:sp>
      <p:pic>
        <p:nvPicPr>
          <p:cNvPr id="53" name="Picture 52" descr="lock.png"/>
          <p:cNvPicPr>
            <a:picLocks noChangeAspect="1"/>
          </p:cNvPicPr>
          <p:nvPr/>
        </p:nvPicPr>
        <p:blipFill>
          <a:blip r:embed="rId5"/>
          <a:stretch>
            <a:fillRect/>
          </a:stretch>
        </p:blipFill>
        <p:spPr>
          <a:xfrm>
            <a:off x="904605" y="3532314"/>
            <a:ext cx="134549" cy="195707"/>
          </a:xfrm>
          <a:prstGeom prst="rect">
            <a:avLst/>
          </a:prstGeom>
        </p:spPr>
      </p:pic>
      <p:sp>
        <p:nvSpPr>
          <p:cNvPr id="54" name="TextBox 53"/>
          <p:cNvSpPr txBox="1"/>
          <p:nvPr/>
        </p:nvSpPr>
        <p:spPr>
          <a:xfrm>
            <a:off x="1079714" y="3542537"/>
            <a:ext cx="2362224" cy="194310"/>
          </a:xfrm>
          <a:prstGeom prst="rect">
            <a:avLst/>
          </a:prstGeom>
          <a:noFill/>
        </p:spPr>
        <p:txBody>
          <a:bodyPr wrap="none" lIns="0" rIns="0" tIns="0" bIns="0">
            <a:spAutoFit/>
          </a:bodyPr>
          <a:lstStyle/>
          <a:p>
            <a:r>
              <a:rPr sz="1150" b="0">
                <a:solidFill>
                  <a:srgbClr val="2E2E2E"/>
                </a:solidFill>
                <a:latin typeface="Calibri"/>
              </a:rPr>
              <a:t>) is a priority country for new capacity.</a:t>
            </a:r>
          </a:p>
        </p:txBody>
      </p:sp>
      <p:sp>
        <p:nvSpPr>
          <p:cNvPr id="55" name="TextBox 54"/>
          <p:cNvSpPr txBox="1"/>
          <p:nvPr/>
        </p:nvSpPr>
        <p:spPr>
          <a:xfrm>
            <a:off x="276225" y="3770375"/>
            <a:ext cx="2708523" cy="194310"/>
          </a:xfrm>
          <a:prstGeom prst="rect">
            <a:avLst/>
          </a:prstGeom>
          <a:noFill/>
        </p:spPr>
        <p:txBody>
          <a:bodyPr wrap="none" lIns="0" rIns="0" tIns="0" bIns="0">
            <a:spAutoFit/>
          </a:bodyPr>
          <a:lstStyle/>
          <a:p>
            <a:r>
              <a:rPr sz="1150" b="0">
                <a:solidFill>
                  <a:srgbClr val="2E2E2E"/>
                </a:solidFill>
                <a:latin typeface="Calibri"/>
              </a:rPr>
              <a:t>▪ Scale players anchor around 'Matcha Tea' (</a:t>
            </a:r>
          </a:p>
        </p:txBody>
      </p:sp>
      <p:pic>
        <p:nvPicPr>
          <p:cNvPr id="56" name="Picture 55" descr="lock.png"/>
          <p:cNvPicPr>
            <a:picLocks noChangeAspect="1"/>
          </p:cNvPicPr>
          <p:nvPr/>
        </p:nvPicPr>
        <p:blipFill>
          <a:blip r:embed="rId5"/>
          <a:stretch>
            <a:fillRect/>
          </a:stretch>
        </p:blipFill>
        <p:spPr>
          <a:xfrm>
            <a:off x="2933901" y="3760152"/>
            <a:ext cx="134549" cy="195707"/>
          </a:xfrm>
          <a:prstGeom prst="rect">
            <a:avLst/>
          </a:prstGeom>
        </p:spPr>
      </p:pic>
      <p:sp>
        <p:nvSpPr>
          <p:cNvPr id="57" name="TextBox 56"/>
          <p:cNvSpPr txBox="1"/>
          <p:nvPr/>
        </p:nvSpPr>
        <p:spPr>
          <a:xfrm>
            <a:off x="3109011" y="3770375"/>
            <a:ext cx="484683"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58" name="TextBox 57"/>
          <p:cNvSpPr txBox="1"/>
          <p:nvPr/>
        </p:nvSpPr>
        <p:spPr>
          <a:xfrm>
            <a:off x="6305550" y="3314700"/>
            <a:ext cx="4852776" cy="194310"/>
          </a:xfrm>
          <a:prstGeom prst="rect">
            <a:avLst/>
          </a:prstGeom>
          <a:noFill/>
        </p:spPr>
        <p:txBody>
          <a:bodyPr wrap="none" lIns="0" rIns="0" tIns="0" bIns="0">
            <a:spAutoFit/>
          </a:bodyPr>
          <a:lstStyle/>
          <a:p>
            <a:r>
              <a:rPr sz="1150" b="0">
                <a:solidFill>
                  <a:srgbClr val="2E2E2E"/>
                </a:solidFill>
                <a:latin typeface="Calibri"/>
              </a:rPr>
              <a:t>▪ R&amp;D aligns with the migration to 'Matcha Powder' and adjacent premium tiers.</a:t>
            </a:r>
          </a:p>
        </p:txBody>
      </p:sp>
      <p:sp>
        <p:nvSpPr>
          <p:cNvPr id="59" name="TextBox 58"/>
          <p:cNvSpPr txBox="1"/>
          <p:nvPr/>
        </p:nvSpPr>
        <p:spPr>
          <a:xfrm>
            <a:off x="6305550" y="3542537"/>
            <a:ext cx="4603179" cy="194310"/>
          </a:xfrm>
          <a:prstGeom prst="rect">
            <a:avLst/>
          </a:prstGeom>
          <a:noFill/>
        </p:spPr>
        <p:txBody>
          <a:bodyPr wrap="none" lIns="0" rIns="0" tIns="0" bIns="0">
            <a:spAutoFit/>
          </a:bodyPr>
          <a:lstStyle/>
          <a:p>
            <a:r>
              <a:rPr sz="1150" b="0">
                <a:solidFill>
                  <a:srgbClr val="2E2E2E"/>
                </a:solidFill>
                <a:latin typeface="Calibri"/>
              </a:rPr>
              <a:t>▪ Development spend targets product type categories gaining share to 2036.</a:t>
            </a:r>
          </a:p>
        </p:txBody>
      </p:sp>
      <p:sp>
        <p:nvSpPr>
          <p:cNvPr id="60" name="TextBox 59"/>
          <p:cNvSpPr txBox="1"/>
          <p:nvPr/>
        </p:nvSpPr>
        <p:spPr>
          <a:xfrm>
            <a:off x="6305550" y="3770375"/>
            <a:ext cx="1663352" cy="194310"/>
          </a:xfrm>
          <a:prstGeom prst="rect">
            <a:avLst/>
          </a:prstGeom>
          <a:noFill/>
        </p:spPr>
        <p:txBody>
          <a:bodyPr wrap="none" lIns="0" rIns="0" tIns="0" bIns="0">
            <a:spAutoFit/>
          </a:bodyPr>
          <a:lstStyle/>
          <a:p>
            <a:r>
              <a:rPr sz="1150" b="0">
                <a:solidFill>
                  <a:srgbClr val="2E2E2E"/>
                </a:solidFill>
                <a:latin typeface="Calibri"/>
              </a:rPr>
              <a:t>▪ Innovation underpins the</a:t>
            </a:r>
          </a:p>
        </p:txBody>
      </p:sp>
      <p:pic>
        <p:nvPicPr>
          <p:cNvPr id="61" name="Picture 60" descr="lock.png"/>
          <p:cNvPicPr>
            <a:picLocks noChangeAspect="1"/>
          </p:cNvPicPr>
          <p:nvPr/>
        </p:nvPicPr>
        <p:blipFill>
          <a:blip r:embed="rId5"/>
          <a:stretch>
            <a:fillRect/>
          </a:stretch>
        </p:blipFill>
        <p:spPr>
          <a:xfrm>
            <a:off x="7918056" y="3760152"/>
            <a:ext cx="134549" cy="195707"/>
          </a:xfrm>
          <a:prstGeom prst="rect">
            <a:avLst/>
          </a:prstGeom>
        </p:spPr>
      </p:pic>
      <p:sp>
        <p:nvSpPr>
          <p:cNvPr id="62" name="TextBox 61"/>
          <p:cNvSpPr txBox="1"/>
          <p:nvPr/>
        </p:nvSpPr>
        <p:spPr>
          <a:xfrm>
            <a:off x="8093165" y="3770375"/>
            <a:ext cx="963036" cy="194310"/>
          </a:xfrm>
          <a:prstGeom prst="rect">
            <a:avLst/>
          </a:prstGeom>
          <a:noFill/>
        </p:spPr>
        <p:txBody>
          <a:bodyPr wrap="none" lIns="0" rIns="0" tIns="0" bIns="0">
            <a:spAutoFit/>
          </a:bodyPr>
          <a:lstStyle/>
          <a:p>
            <a:r>
              <a:rPr sz="1150" b="0">
                <a:solidFill>
                  <a:srgbClr val="2E2E2E"/>
                </a:solidFill>
                <a:latin typeface="Calibri"/>
              </a:rPr>
              <a:t>forecast CAGR.</a:t>
            </a:r>
          </a:p>
        </p:txBody>
      </p:sp>
      <p:sp>
        <p:nvSpPr>
          <p:cNvPr id="63" name="lockshield_28"/>
          <p:cNvSpPr/>
          <p:nvPr/>
        </p:nvSpPr>
        <p:spPr>
          <a:xfrm>
            <a:off x="238125" y="4600575"/>
            <a:ext cx="11715750" cy="19526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Analysis and Recommendation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Executive summary of the market approach, differentiating strategy and FMI's analysis and recommendation</a:t>
            </a:r>
          </a:p>
        </p:txBody>
      </p:sp>
      <p:sp>
        <p:nvSpPr>
          <p:cNvPr id="10" name="Rounded Rectangle 9"/>
          <p:cNvSpPr/>
          <p:nvPr/>
        </p:nvSpPr>
        <p:spPr>
          <a:xfrm>
            <a:off x="142875"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Overall Market Approach</a:t>
            </a:r>
          </a:p>
        </p:txBody>
      </p:sp>
      <p:sp>
        <p:nvSpPr>
          <p:cNvPr id="12" name="Rectangle 11"/>
          <p:cNvSpPr/>
          <p:nvPr/>
        </p:nvSpPr>
        <p:spPr>
          <a:xfrm>
            <a:off x="276225"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6172200" y="981075"/>
            <a:ext cx="5876925" cy="1743075"/>
          </a:xfrm>
          <a:prstGeom prst="roundRect">
            <a:avLst>
              <a:gd name="adj" fmla="val 4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Differentiating Strategy</a:t>
            </a:r>
          </a:p>
        </p:txBody>
      </p:sp>
      <p:sp>
        <p:nvSpPr>
          <p:cNvPr id="16" name="Rectangle 15"/>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390650"/>
            <a:ext cx="5610225" cy="12573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Differentiate through the high-growth 'Matcha Powder' tier and Other Applications within application.</a:t>
            </a:r>
          </a:p>
        </p:txBody>
      </p:sp>
      <p:sp>
        <p:nvSpPr>
          <p:cNvPr id="18" name="Rounded Rectangle 17"/>
          <p:cNvSpPr/>
          <p:nvPr/>
        </p:nvSpPr>
        <p:spPr>
          <a:xfrm>
            <a:off x="142875"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Segment</a:t>
            </a:r>
          </a:p>
        </p:txBody>
      </p:sp>
      <p:sp>
        <p:nvSpPr>
          <p:cNvPr id="20" name="Rectangle 19"/>
          <p:cNvSpPr/>
          <p:nvPr/>
        </p:nvSpPr>
        <p:spPr>
          <a:xfrm>
            <a:off x="276225"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6172200" y="2857500"/>
            <a:ext cx="5876925" cy="1562100"/>
          </a:xfrm>
          <a:prstGeom prst="roundRect">
            <a:avLst>
              <a:gd name="adj" fmla="val 48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05550" y="2943225"/>
            <a:ext cx="5610225" cy="209550"/>
          </a:xfrm>
          <a:prstGeom prst="rect">
            <a:avLst/>
          </a:prstGeom>
          <a:noFill/>
        </p:spPr>
        <p:txBody>
          <a:bodyPr wrap="square" lIns="0" rIns="19050" tIns="9525" bIns="9525">
            <a:spAutoFit/>
          </a:bodyPr>
          <a:lstStyle/>
          <a:p>
            <a:pPr algn="l"/>
            <a:r>
              <a:rPr sz="1300" b="1">
                <a:solidFill>
                  <a:srgbClr val="0B2E4A"/>
                </a:solidFill>
                <a:latin typeface="Calibri"/>
              </a:rPr>
              <a:t>Market Country</a:t>
            </a:r>
          </a:p>
        </p:txBody>
      </p:sp>
      <p:sp>
        <p:nvSpPr>
          <p:cNvPr id="24" name="Rectangle 23"/>
          <p:cNvSpPr/>
          <p:nvPr/>
        </p:nvSpPr>
        <p:spPr>
          <a:xfrm>
            <a:off x="6305550" y="318135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6305550" y="3267075"/>
            <a:ext cx="5610225" cy="10763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42875" y="4552950"/>
            <a:ext cx="11906250" cy="2057400"/>
          </a:xfrm>
          <a:prstGeom prst="roundRect">
            <a:avLst>
              <a:gd name="adj" fmla="val 370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76225" y="4638675"/>
            <a:ext cx="11639550" cy="209550"/>
          </a:xfrm>
          <a:prstGeom prst="rect">
            <a:avLst/>
          </a:prstGeom>
          <a:noFill/>
        </p:spPr>
        <p:txBody>
          <a:bodyPr wrap="square" lIns="0" rIns="19050" tIns="9525" bIns="9525">
            <a:spAutoFit/>
          </a:bodyPr>
          <a:lstStyle/>
          <a:p>
            <a:pPr algn="l"/>
            <a:r>
              <a:rPr sz="1300" b="1">
                <a:solidFill>
                  <a:srgbClr val="0B2E4A"/>
                </a:solidFill>
                <a:latin typeface="Calibri"/>
              </a:rPr>
              <a:t>Fact.MR Analysis &amp; Recommendation</a:t>
            </a:r>
          </a:p>
        </p:txBody>
      </p:sp>
      <p:sp>
        <p:nvSpPr>
          <p:cNvPr id="28" name="Rectangle 27"/>
          <p:cNvSpPr/>
          <p:nvPr/>
        </p:nvSpPr>
        <p:spPr>
          <a:xfrm>
            <a:off x="276225" y="48768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76225" y="4962525"/>
            <a:ext cx="11639550" cy="1571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1" name="TextBox 30"/>
          <p:cNvSpPr txBox="1"/>
          <p:nvPr/>
        </p:nvSpPr>
        <p:spPr>
          <a:xfrm>
            <a:off x="276225" y="1400175"/>
            <a:ext cx="5197078" cy="194310"/>
          </a:xfrm>
          <a:prstGeom prst="rect">
            <a:avLst/>
          </a:prstGeom>
          <a:noFill/>
        </p:spPr>
        <p:txBody>
          <a:bodyPr wrap="none" lIns="0" rIns="0" tIns="0" bIns="0">
            <a:spAutoFit/>
          </a:bodyPr>
          <a:lstStyle/>
          <a:p>
            <a:r>
              <a:rPr sz="1150" b="0">
                <a:solidFill>
                  <a:srgbClr val="2E2E2E"/>
                </a:solidFill>
                <a:latin typeface="Calibri"/>
              </a:rPr>
              <a:t>▪ Balance scale in 'Matcha Tea' with targeted growth in 'Matcha Powder', pursuing the</a:t>
            </a:r>
          </a:p>
        </p:txBody>
      </p:sp>
      <p:pic>
        <p:nvPicPr>
          <p:cNvPr id="32" name="Picture 31" descr="lock.png"/>
          <p:cNvPicPr>
            <a:picLocks noChangeAspect="1"/>
          </p:cNvPicPr>
          <p:nvPr/>
        </p:nvPicPr>
        <p:blipFill>
          <a:blip r:embed="rId4"/>
          <a:stretch>
            <a:fillRect/>
          </a:stretch>
        </p:blipFill>
        <p:spPr>
          <a:xfrm>
            <a:off x="5422457" y="1389951"/>
            <a:ext cx="134549" cy="195707"/>
          </a:xfrm>
          <a:prstGeom prst="rect">
            <a:avLst/>
          </a:prstGeom>
        </p:spPr>
      </p:pic>
      <p:sp>
        <p:nvSpPr>
          <p:cNvPr id="33" name="TextBox 32"/>
          <p:cNvSpPr txBox="1"/>
          <p:nvPr/>
        </p:nvSpPr>
        <p:spPr>
          <a:xfrm>
            <a:off x="276225" y="1575435"/>
            <a:ext cx="1551800" cy="194310"/>
          </a:xfrm>
          <a:prstGeom prst="rect">
            <a:avLst/>
          </a:prstGeom>
          <a:noFill/>
        </p:spPr>
        <p:txBody>
          <a:bodyPr wrap="none" lIns="0" rIns="0" tIns="0" bIns="0">
            <a:spAutoFit/>
          </a:bodyPr>
          <a:lstStyle/>
          <a:p>
            <a:r>
              <a:rPr sz="1150" b="0">
                <a:solidFill>
                  <a:srgbClr val="2E2E2E"/>
                </a:solidFill>
                <a:latin typeface="Calibri"/>
              </a:rPr>
              <a:t>CAGR trajectory to 2036.</a:t>
            </a:r>
          </a:p>
        </p:txBody>
      </p:sp>
      <p:sp>
        <p:nvSpPr>
          <p:cNvPr id="34" name="TextBox 33"/>
          <p:cNvSpPr txBox="1"/>
          <p:nvPr/>
        </p:nvSpPr>
        <p:spPr>
          <a:xfrm>
            <a:off x="276225" y="3276600"/>
            <a:ext cx="1813396" cy="194310"/>
          </a:xfrm>
          <a:prstGeom prst="rect">
            <a:avLst/>
          </a:prstGeom>
          <a:noFill/>
        </p:spPr>
        <p:txBody>
          <a:bodyPr wrap="none" lIns="0" rIns="0" tIns="0" bIns="0">
            <a:spAutoFit/>
          </a:bodyPr>
          <a:lstStyle/>
          <a:p>
            <a:r>
              <a:rPr sz="1150" b="0">
                <a:solidFill>
                  <a:srgbClr val="2E2E2E"/>
                </a:solidFill>
                <a:latin typeface="Calibri"/>
              </a:rPr>
              <a:t>▪ Prioritise 'Matcha Powder' (</a:t>
            </a:r>
          </a:p>
        </p:txBody>
      </p:sp>
      <p:pic>
        <p:nvPicPr>
          <p:cNvPr id="35" name="Picture 34" descr="lock.png"/>
          <p:cNvPicPr>
            <a:picLocks noChangeAspect="1"/>
          </p:cNvPicPr>
          <p:nvPr/>
        </p:nvPicPr>
        <p:blipFill>
          <a:blip r:embed="rId4"/>
          <a:stretch>
            <a:fillRect/>
          </a:stretch>
        </p:blipFill>
        <p:spPr>
          <a:xfrm>
            <a:off x="2038775" y="3266376"/>
            <a:ext cx="134549" cy="195707"/>
          </a:xfrm>
          <a:prstGeom prst="rect">
            <a:avLst/>
          </a:prstGeom>
        </p:spPr>
      </p:pic>
      <p:sp>
        <p:nvSpPr>
          <p:cNvPr id="36" name="TextBox 35"/>
          <p:cNvSpPr txBox="1"/>
          <p:nvPr/>
        </p:nvSpPr>
        <p:spPr>
          <a:xfrm>
            <a:off x="2213884" y="3276600"/>
            <a:ext cx="1459966" cy="194310"/>
          </a:xfrm>
          <a:prstGeom prst="rect">
            <a:avLst/>
          </a:prstGeom>
          <a:noFill/>
        </p:spPr>
        <p:txBody>
          <a:bodyPr wrap="none" lIns="0" rIns="0" tIns="0" bIns="0">
            <a:spAutoFit/>
          </a:bodyPr>
          <a:lstStyle/>
          <a:p>
            <a:r>
              <a:rPr sz="1150" b="0">
                <a:solidFill>
                  <a:srgbClr val="2E2E2E"/>
                </a:solidFill>
                <a:latin typeface="Calibri"/>
              </a:rPr>
              <a:t>); 'Matcha Tea' anchors</a:t>
            </a:r>
          </a:p>
        </p:txBody>
      </p:sp>
      <p:pic>
        <p:nvPicPr>
          <p:cNvPr id="37" name="Picture 36" descr="lock.png"/>
          <p:cNvPicPr>
            <a:picLocks noChangeAspect="1"/>
          </p:cNvPicPr>
          <p:nvPr/>
        </p:nvPicPr>
        <p:blipFill>
          <a:blip r:embed="rId4"/>
          <a:stretch>
            <a:fillRect/>
          </a:stretch>
        </p:blipFill>
        <p:spPr>
          <a:xfrm>
            <a:off x="3623005" y="3266376"/>
            <a:ext cx="134549" cy="195707"/>
          </a:xfrm>
          <a:prstGeom prst="rect">
            <a:avLst/>
          </a:prstGeom>
        </p:spPr>
      </p:pic>
      <p:sp>
        <p:nvSpPr>
          <p:cNvPr id="38" name="TextBox 37"/>
          <p:cNvSpPr txBox="1"/>
          <p:nvPr/>
        </p:nvSpPr>
        <p:spPr>
          <a:xfrm>
            <a:off x="3798114" y="3276600"/>
            <a:ext cx="586519" cy="194310"/>
          </a:xfrm>
          <a:prstGeom prst="rect">
            <a:avLst/>
          </a:prstGeom>
          <a:noFill/>
        </p:spPr>
        <p:txBody>
          <a:bodyPr wrap="none" lIns="0" rIns="0" tIns="0" bIns="0">
            <a:spAutoFit/>
          </a:bodyPr>
          <a:lstStyle/>
          <a:p>
            <a:r>
              <a:rPr sz="1150" b="0">
                <a:solidFill>
                  <a:srgbClr val="2E2E2E"/>
                </a:solidFill>
                <a:latin typeface="Calibri"/>
              </a:rPr>
              <a:t>of value.</a:t>
            </a:r>
          </a:p>
        </p:txBody>
      </p:sp>
      <p:sp>
        <p:nvSpPr>
          <p:cNvPr id="39" name="TextBox 38"/>
          <p:cNvSpPr txBox="1"/>
          <p:nvPr/>
        </p:nvSpPr>
        <p:spPr>
          <a:xfrm>
            <a:off x="6305550" y="3276600"/>
            <a:ext cx="1083431" cy="194310"/>
          </a:xfrm>
          <a:prstGeom prst="rect">
            <a:avLst/>
          </a:prstGeom>
          <a:noFill/>
        </p:spPr>
        <p:txBody>
          <a:bodyPr wrap="none" lIns="0" rIns="0" tIns="0" bIns="0">
            <a:spAutoFit/>
          </a:bodyPr>
          <a:lstStyle/>
          <a:p>
            <a:r>
              <a:rPr sz="1150" b="0">
                <a:solidFill>
                  <a:srgbClr val="2E2E2E"/>
                </a:solidFill>
                <a:latin typeface="Calibri"/>
              </a:rPr>
              <a:t>▪ Lead with U.S. (</a:t>
            </a:r>
          </a:p>
        </p:txBody>
      </p:sp>
      <p:pic>
        <p:nvPicPr>
          <p:cNvPr id="40" name="Picture 39" descr="lock.png"/>
          <p:cNvPicPr>
            <a:picLocks noChangeAspect="1"/>
          </p:cNvPicPr>
          <p:nvPr/>
        </p:nvPicPr>
        <p:blipFill>
          <a:blip r:embed="rId4"/>
          <a:stretch>
            <a:fillRect/>
          </a:stretch>
        </p:blipFill>
        <p:spPr>
          <a:xfrm>
            <a:off x="7338135" y="3266376"/>
            <a:ext cx="134549" cy="195707"/>
          </a:xfrm>
          <a:prstGeom prst="rect">
            <a:avLst/>
          </a:prstGeom>
        </p:spPr>
      </p:pic>
      <p:sp>
        <p:nvSpPr>
          <p:cNvPr id="41" name="TextBox 40"/>
          <p:cNvSpPr txBox="1"/>
          <p:nvPr/>
        </p:nvSpPr>
        <p:spPr>
          <a:xfrm>
            <a:off x="7513244" y="3276600"/>
            <a:ext cx="1772319" cy="194310"/>
          </a:xfrm>
          <a:prstGeom prst="rect">
            <a:avLst/>
          </a:prstGeom>
          <a:noFill/>
        </p:spPr>
        <p:txBody>
          <a:bodyPr wrap="none" lIns="0" rIns="0" tIns="0" bIns="0">
            <a:spAutoFit/>
          </a:bodyPr>
          <a:lstStyle/>
          <a:p>
            <a:r>
              <a:rPr sz="1150" b="0">
                <a:solidFill>
                  <a:srgbClr val="2E2E2E"/>
                </a:solidFill>
                <a:latin typeface="Calibri"/>
              </a:rPr>
              <a:t>); capture upside in Canada (</a:t>
            </a:r>
          </a:p>
        </p:txBody>
      </p:sp>
      <p:pic>
        <p:nvPicPr>
          <p:cNvPr id="42" name="Picture 41" descr="lock.png"/>
          <p:cNvPicPr>
            <a:picLocks noChangeAspect="1"/>
          </p:cNvPicPr>
          <p:nvPr/>
        </p:nvPicPr>
        <p:blipFill>
          <a:blip r:embed="rId4"/>
          <a:stretch>
            <a:fillRect/>
          </a:stretch>
        </p:blipFill>
        <p:spPr>
          <a:xfrm>
            <a:off x="9234718" y="3266376"/>
            <a:ext cx="134549" cy="195707"/>
          </a:xfrm>
          <a:prstGeom prst="rect">
            <a:avLst/>
          </a:prstGeom>
        </p:spPr>
      </p:pic>
      <p:sp>
        <p:nvSpPr>
          <p:cNvPr id="43" name="TextBox 42"/>
          <p:cNvSpPr txBox="1"/>
          <p:nvPr/>
        </p:nvSpPr>
        <p:spPr>
          <a:xfrm>
            <a:off x="9409827" y="3276600"/>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4" name="TextBox 43"/>
          <p:cNvSpPr txBox="1"/>
          <p:nvPr/>
        </p:nvSpPr>
        <p:spPr>
          <a:xfrm>
            <a:off x="276225" y="4972050"/>
            <a:ext cx="926827" cy="194310"/>
          </a:xfrm>
          <a:prstGeom prst="rect">
            <a:avLst/>
          </a:prstGeom>
          <a:noFill/>
        </p:spPr>
        <p:txBody>
          <a:bodyPr wrap="none" lIns="0" rIns="0" tIns="0" bIns="0">
            <a:spAutoFit/>
          </a:bodyPr>
          <a:lstStyle/>
          <a:p>
            <a:r>
              <a:rPr sz="1150" b="0">
                <a:solidFill>
                  <a:srgbClr val="2E2E2E"/>
                </a:solidFill>
                <a:latin typeface="Calibri"/>
              </a:rPr>
              <a:t>▪ Matcha adds</a:t>
            </a:r>
          </a:p>
        </p:txBody>
      </p:sp>
      <p:pic>
        <p:nvPicPr>
          <p:cNvPr id="45" name="Picture 44" descr="lock.png"/>
          <p:cNvPicPr>
            <a:picLocks noChangeAspect="1"/>
          </p:cNvPicPr>
          <p:nvPr/>
        </p:nvPicPr>
        <p:blipFill>
          <a:blip r:embed="rId4"/>
          <a:stretch>
            <a:fillRect/>
          </a:stretch>
        </p:blipFill>
        <p:spPr>
          <a:xfrm>
            <a:off x="1152206" y="4961826"/>
            <a:ext cx="134549" cy="195707"/>
          </a:xfrm>
          <a:prstGeom prst="rect">
            <a:avLst/>
          </a:prstGeom>
        </p:spPr>
      </p:pic>
      <p:sp>
        <p:nvSpPr>
          <p:cNvPr id="46" name="TextBox 45"/>
          <p:cNvSpPr txBox="1"/>
          <p:nvPr/>
        </p:nvSpPr>
        <p:spPr>
          <a:xfrm>
            <a:off x="1327315" y="4972050"/>
            <a:ext cx="1815107" cy="194310"/>
          </a:xfrm>
          <a:prstGeom prst="rect">
            <a:avLst/>
          </a:prstGeom>
          <a:noFill/>
        </p:spPr>
        <p:txBody>
          <a:bodyPr wrap="none" lIns="0" rIns="0" tIns="0" bIns="0">
            <a:spAutoFit/>
          </a:bodyPr>
          <a:lstStyle/>
          <a:p>
            <a:r>
              <a:rPr sz="1150" b="0">
                <a:solidFill>
                  <a:srgbClr val="2E2E2E"/>
                </a:solidFill>
                <a:latin typeface="Calibri"/>
              </a:rPr>
              <a:t>US$ Mn of demand to 2036 a</a:t>
            </a:r>
          </a:p>
        </p:txBody>
      </p:sp>
      <p:pic>
        <p:nvPicPr>
          <p:cNvPr id="47" name="Picture 46" descr="lock.png"/>
          <p:cNvPicPr>
            <a:picLocks noChangeAspect="1"/>
          </p:cNvPicPr>
          <p:nvPr/>
        </p:nvPicPr>
        <p:blipFill>
          <a:blip r:embed="rId4"/>
          <a:stretch>
            <a:fillRect/>
          </a:stretch>
        </p:blipFill>
        <p:spPr>
          <a:xfrm>
            <a:off x="3091577" y="4961826"/>
            <a:ext cx="134549" cy="195707"/>
          </a:xfrm>
          <a:prstGeom prst="rect">
            <a:avLst/>
          </a:prstGeom>
        </p:spPr>
      </p:pic>
      <p:sp>
        <p:nvSpPr>
          <p:cNvPr id="48" name="TextBox 47"/>
          <p:cNvSpPr txBox="1"/>
          <p:nvPr/>
        </p:nvSpPr>
        <p:spPr>
          <a:xfrm>
            <a:off x="3266686" y="4972050"/>
            <a:ext cx="822709" cy="194310"/>
          </a:xfrm>
          <a:prstGeom prst="rect">
            <a:avLst/>
          </a:prstGeom>
          <a:noFill/>
        </p:spPr>
        <p:txBody>
          <a:bodyPr wrap="none" lIns="0" rIns="0" tIns="0" bIns="0">
            <a:spAutoFit/>
          </a:bodyPr>
          <a:lstStyle/>
          <a:p>
            <a:r>
              <a:rPr sz="1150" b="0">
                <a:solidFill>
                  <a:srgbClr val="2E2E2E"/>
                </a:solidFill>
                <a:latin typeface="Calibri"/>
              </a:rPr>
              <a:t>× expansion.</a:t>
            </a:r>
          </a:p>
        </p:txBody>
      </p:sp>
      <p:sp>
        <p:nvSpPr>
          <p:cNvPr id="49" name="TextBox 48"/>
          <p:cNvSpPr txBox="1"/>
          <p:nvPr/>
        </p:nvSpPr>
        <p:spPr>
          <a:xfrm>
            <a:off x="276225" y="5199888"/>
            <a:ext cx="6344369" cy="194310"/>
          </a:xfrm>
          <a:prstGeom prst="rect">
            <a:avLst/>
          </a:prstGeom>
          <a:noFill/>
        </p:spPr>
        <p:txBody>
          <a:bodyPr wrap="none" lIns="0" rIns="0" tIns="0" bIns="0">
            <a:spAutoFit/>
          </a:bodyPr>
          <a:lstStyle/>
          <a:p>
            <a:r>
              <a:rPr sz="1150" b="0">
                <a:solidFill>
                  <a:srgbClr val="2E2E2E"/>
                </a:solidFill>
                <a:latin typeface="Calibri"/>
              </a:rPr>
              <a:t>▪ Concentrate resources on the leading segment/country while seeding the fastest-growing pockets early.</a:t>
            </a:r>
          </a:p>
        </p:txBody>
      </p:sp>
      <p:sp>
        <p:nvSpPr>
          <p:cNvPr id="50" name="TextBox 49"/>
          <p:cNvSpPr txBox="1"/>
          <p:nvPr/>
        </p:nvSpPr>
        <p:spPr>
          <a:xfrm>
            <a:off x="276225" y="5427725"/>
            <a:ext cx="4061197" cy="194310"/>
          </a:xfrm>
          <a:prstGeom prst="rect">
            <a:avLst/>
          </a:prstGeom>
          <a:noFill/>
        </p:spPr>
        <p:txBody>
          <a:bodyPr wrap="none" lIns="0" rIns="0" tIns="0" bIns="0">
            <a:spAutoFit/>
          </a:bodyPr>
          <a:lstStyle/>
          <a:p>
            <a:r>
              <a:rPr sz="1150" b="0">
                <a:solidFill>
                  <a:srgbClr val="2E2E2E"/>
                </a:solidFill>
                <a:latin typeface="Calibri"/>
              </a:rPr>
              <a:t>▪ Defend share in 'Matcha Tea' as the value anchor of the portfolio.</a:t>
            </a:r>
          </a:p>
        </p:txBody>
      </p:sp>
    </p:spTree>
  </p:cSld>
  <p:clrMapOvr>
    <a:masterClrMapping/>
  </p:clrMapOvr>
</p:sld>
</file>

<file path=ppt/slides/slide1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Scenario Outlook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Scenario outlook comparing optimistic, likely and conservative outcomes for 2036 and the CAGR behind each</a:t>
            </a:r>
          </a:p>
        </p:txBody>
      </p:sp>
      <p:sp>
        <p:nvSpPr>
          <p:cNvPr id="10" name="Rounded Rectangle 9"/>
          <p:cNvSpPr/>
          <p:nvPr/>
        </p:nvSpPr>
        <p:spPr>
          <a:xfrm>
            <a:off x="142875" y="981075"/>
            <a:ext cx="3943350"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1" name="Rounded Rectangle 10"/>
          <p:cNvSpPr/>
          <p:nvPr/>
        </p:nvSpPr>
        <p:spPr>
          <a:xfrm>
            <a:off x="4238625"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2" name="Rounded Rectangle 11"/>
          <p:cNvSpPr/>
          <p:nvPr/>
        </p:nvSpPr>
        <p:spPr>
          <a:xfrm>
            <a:off x="8210550" y="981075"/>
            <a:ext cx="3819525" cy="69532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3" name="Rounded Rectangle 12"/>
          <p:cNvSpPr/>
          <p:nvPr/>
        </p:nvSpPr>
        <p:spPr>
          <a:xfrm>
            <a:off x="142875"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18669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Matcha Market Value (US$ Mn) Scenario Forecast, 2025 &amp; 2036</a:t>
            </a:r>
          </a:p>
        </p:txBody>
      </p:sp>
      <p:cxnSp>
        <p:nvCxnSpPr>
          <p:cNvPr id="15" name="Connector 14"/>
          <p:cNvCxnSpPr/>
          <p:nvPr/>
        </p:nvCxnSpPr>
        <p:spPr>
          <a:xfrm>
            <a:off x="238125" y="4305300"/>
            <a:ext cx="5686425" cy="0"/>
          </a:xfrm>
          <a:prstGeom prst="line">
            <a:avLst/>
          </a:prstGeom>
          <a:ln w="9525">
            <a:solidFill>
              <a:srgbClr val="BFBFBF"/>
            </a:solidFill>
          </a:ln>
        </p:spPr>
        <p:style>
          <a:lnRef idx="2">
            <a:schemeClr val="accent1"/>
          </a:lnRef>
          <a:fillRef idx="0">
            <a:schemeClr val="accent1"/>
          </a:fillRef>
          <a:effectRef idx="1">
            <a:schemeClr val="accent1"/>
          </a:effectRef>
          <a:fontRef idx="minor">
            <a:schemeClr val="tx1"/>
          </a:fontRef>
        </p:style>
      </p:cxnSp>
      <p:sp>
        <p:nvSpPr>
          <p:cNvPr id="16" name="Rectangle 15"/>
          <p:cNvSpPr/>
          <p:nvPr/>
        </p:nvSpPr>
        <p:spPr>
          <a:xfrm>
            <a:off x="706342" y="3490772"/>
            <a:ext cx="635826" cy="814528"/>
          </a:xfrm>
          <a:prstGeom prst="rect">
            <a:avLst/>
          </a:prstGeom>
          <a:solidFill>
            <a:srgbClr val="4031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ectangle 16"/>
          <p:cNvSpPr/>
          <p:nvPr/>
        </p:nvSpPr>
        <p:spPr>
          <a:xfrm>
            <a:off x="3043936" y="2964857"/>
            <a:ext cx="635826" cy="1340443"/>
          </a:xfrm>
          <a:prstGeom prst="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4025725" y="2730451"/>
            <a:ext cx="635826" cy="1574849"/>
          </a:xfrm>
          <a:prstGeom prst="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ectangle 18"/>
          <p:cNvSpPr/>
          <p:nvPr/>
        </p:nvSpPr>
        <p:spPr>
          <a:xfrm>
            <a:off x="5007515" y="2459355"/>
            <a:ext cx="635826" cy="184594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a:off x="1456468" y="2831507"/>
            <a:ext cx="1568418" cy="0"/>
          </a:xfrm>
          <a:prstGeom prst="line">
            <a:avLst/>
          </a:prstGeom>
          <a:ln w="15875">
            <a:solidFill>
              <a:srgbClr val="92D05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1570768" y="2726732"/>
            <a:ext cx="1358868" cy="209550"/>
          </a:xfrm>
          <a:prstGeom prst="roundRect">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2" name="Connector 21"/>
          <p:cNvCxnSpPr/>
          <p:nvPr/>
        </p:nvCxnSpPr>
        <p:spPr>
          <a:xfrm>
            <a:off x="1456468" y="2574332"/>
            <a:ext cx="2550207" cy="0"/>
          </a:xfrm>
          <a:prstGeom prst="line">
            <a:avLst/>
          </a:prstGeom>
          <a:ln w="15875">
            <a:solidFill>
              <a:srgbClr val="0078D4"/>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570768" y="2469557"/>
            <a:ext cx="1358868" cy="209550"/>
          </a:xfrm>
          <a:prstGeom prst="roundRect">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cxnSp>
        <p:nvCxnSpPr>
          <p:cNvPr id="24" name="Connector 23"/>
          <p:cNvCxnSpPr/>
          <p:nvPr/>
        </p:nvCxnSpPr>
        <p:spPr>
          <a:xfrm>
            <a:off x="1456468" y="2317157"/>
            <a:ext cx="3531997" cy="0"/>
          </a:xfrm>
          <a:prstGeom prst="line">
            <a:avLst/>
          </a:prstGeom>
          <a:ln w="15875">
            <a:solidFill>
              <a:srgbClr val="808080"/>
            </a:solidFill>
            <a:headEnd type="triangle" w="med" len="med"/>
            <a:tailEnd type="triangle" w="med" len="med"/>
          </a:ln>
          <a:effectLst/>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570768" y="2212382"/>
            <a:ext cx="1358868" cy="209550"/>
          </a:xfrm>
          <a:prstGeom prst="round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wrap="square" lIns="19050" rIns="19050" tIns="0" bIns="0"/>
          <a:lstStyle/>
          <a:p>
            <a:pPr algn="ctr"/>
            <a:r>
              <a:rPr sz="1100" b="1">
                <a:solidFill>
                  <a:srgbClr val="FFFFFF"/>
                </a:solidFill>
                <a:latin typeface="Calibri"/>
              </a:rPr>
              <a:t/>
            </a:r>
          </a:p>
        </p:txBody>
      </p:sp>
      <p:sp>
        <p:nvSpPr>
          <p:cNvPr id="26" name="TextBox 25"/>
          <p:cNvSpPr txBox="1"/>
          <p:nvPr/>
        </p:nvSpPr>
        <p:spPr>
          <a:xfrm>
            <a:off x="643255"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2025</a:t>
            </a:r>
          </a:p>
        </p:txBody>
      </p:sp>
      <p:sp>
        <p:nvSpPr>
          <p:cNvPr id="27" name="TextBox 26"/>
          <p:cNvSpPr txBox="1"/>
          <p:nvPr/>
        </p:nvSpPr>
        <p:spPr>
          <a:xfrm>
            <a:off x="3962638" y="4333875"/>
            <a:ext cx="762000" cy="180975"/>
          </a:xfrm>
          <a:prstGeom prst="rect">
            <a:avLst/>
          </a:prstGeom>
          <a:noFill/>
        </p:spPr>
        <p:txBody>
          <a:bodyPr wrap="square" lIns="28575" rIns="28575" tIns="9525" bIns="9525" anchor="ctr">
            <a:spAutoFit/>
          </a:bodyPr>
          <a:lstStyle/>
          <a:p>
            <a:pPr algn="ctr"/>
            <a:r>
              <a:rPr sz="1100" b="1">
                <a:solidFill>
                  <a:srgbClr val="2E2E2E"/>
                </a:solidFill>
                <a:latin typeface="Calibri"/>
              </a:rPr>
              <a:t>2036</a:t>
            </a:r>
          </a:p>
        </p:txBody>
      </p:sp>
      <p:sp>
        <p:nvSpPr>
          <p:cNvPr id="28" name="Oval 27"/>
          <p:cNvSpPr/>
          <p:nvPr/>
        </p:nvSpPr>
        <p:spPr>
          <a:xfrm>
            <a:off x="304800" y="4572000"/>
            <a:ext cx="133350" cy="133350"/>
          </a:xfrm>
          <a:prstGeom prst="ellipse">
            <a:avLst/>
          </a:prstGeom>
          <a:solidFill>
            <a:srgbClr val="92D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48577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Conservative Scenario</a:t>
            </a:r>
          </a:p>
        </p:txBody>
      </p:sp>
      <p:sp>
        <p:nvSpPr>
          <p:cNvPr id="30" name="Oval 29"/>
          <p:cNvSpPr/>
          <p:nvPr/>
        </p:nvSpPr>
        <p:spPr>
          <a:xfrm>
            <a:off x="2200275" y="4572000"/>
            <a:ext cx="133350" cy="133350"/>
          </a:xfrm>
          <a:prstGeom prst="ellipse">
            <a:avLst/>
          </a:prstGeom>
          <a:solidFill>
            <a:srgbClr val="0078D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0"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Likely Scenario</a:t>
            </a:r>
          </a:p>
        </p:txBody>
      </p:sp>
      <p:sp>
        <p:nvSpPr>
          <p:cNvPr id="32" name="Oval 31"/>
          <p:cNvSpPr/>
          <p:nvPr/>
        </p:nvSpPr>
        <p:spPr>
          <a:xfrm>
            <a:off x="4095750" y="4572000"/>
            <a:ext cx="133350" cy="133350"/>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276725" y="4543425"/>
            <a:ext cx="1647825" cy="190500"/>
          </a:xfrm>
          <a:prstGeom prst="rect">
            <a:avLst/>
          </a:prstGeom>
          <a:noFill/>
        </p:spPr>
        <p:txBody>
          <a:bodyPr wrap="none" lIns="28575" rIns="28575" tIns="9525" bIns="9525" anchor="ctr">
            <a:spAutoFit/>
          </a:bodyPr>
          <a:lstStyle/>
          <a:p>
            <a:pPr algn="l"/>
            <a:r>
              <a:rPr sz="1100" b="1">
                <a:solidFill>
                  <a:srgbClr val="2E2E2E"/>
                </a:solidFill>
                <a:latin typeface="Calibri"/>
              </a:rPr>
              <a:t>Optimistic Scenario</a:t>
            </a:r>
          </a:p>
        </p:txBody>
      </p:sp>
      <p:sp>
        <p:nvSpPr>
          <p:cNvPr id="34" name="Rounded Rectangle 33"/>
          <p:cNvSpPr/>
          <p:nvPr/>
        </p:nvSpPr>
        <p:spPr>
          <a:xfrm>
            <a:off x="6172200" y="1809750"/>
            <a:ext cx="5876925" cy="3009900"/>
          </a:xfrm>
          <a:prstGeom prst="roundRect">
            <a:avLst>
              <a:gd name="adj" fmla="val 253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267450" y="18669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Matcha Market Attractiveness Analysis By Region, 2026–2036</a:t>
            </a:r>
          </a:p>
        </p:txBody>
      </p:sp>
      <p:graphicFrame>
        <p:nvGraphicFramePr>
          <p:cNvPr id="36" name="Chart 35"/>
          <p:cNvGraphicFramePr>
            <a:graphicFrameLocks noGrp="1"/>
          </p:cNvGraphicFramePr>
          <p:nvPr/>
        </p:nvGraphicFramePr>
        <p:xfrm>
          <a:off x="6267450" y="2095500"/>
          <a:ext cx="5686425" cy="2667000"/>
        </p:xfrm>
        <a:graphic>
          <a:graphicData uri="http://schemas.openxmlformats.org/drawingml/2006/chart">
            <c:chart xmlns:c="http://schemas.openxmlformats.org/drawingml/2006/chart" r:id="rId3"/>
          </a:graphicData>
        </a:graphic>
      </p:graphicFrame>
      <p:sp>
        <p:nvSpPr>
          <p:cNvPr id="37" name="Rounded Rectangle 36"/>
          <p:cNvSpPr/>
          <p:nvPr/>
        </p:nvSpPr>
        <p:spPr>
          <a:xfrm>
            <a:off x="142875" y="4953000"/>
            <a:ext cx="11906250" cy="1676400"/>
          </a:xfrm>
          <a:prstGeom prst="roundRect">
            <a:avLst>
              <a:gd name="adj" fmla="val 454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76225" y="5038725"/>
            <a:ext cx="11639550" cy="209550"/>
          </a:xfrm>
          <a:prstGeom prst="rect">
            <a:avLst/>
          </a:prstGeom>
          <a:noFill/>
        </p:spPr>
        <p:txBody>
          <a:bodyPr wrap="square" lIns="0" rIns="19050" tIns="9525" bIns="9525">
            <a:spAutoFit/>
          </a:bodyPr>
          <a:lstStyle/>
          <a:p>
            <a:pPr algn="l"/>
            <a:r>
              <a:rPr sz="1300" b="1">
                <a:solidFill>
                  <a:srgbClr val="0B2E4A"/>
                </a:solidFill>
                <a:latin typeface="Calibri"/>
              </a:rPr>
              <a:t>Scenario Assumptions &amp; Outlook</a:t>
            </a:r>
          </a:p>
        </p:txBody>
      </p:sp>
      <p:sp>
        <p:nvSpPr>
          <p:cNvPr id="39" name="Rectangle 38"/>
          <p:cNvSpPr/>
          <p:nvPr/>
        </p:nvSpPr>
        <p:spPr>
          <a:xfrm>
            <a:off x="276225" y="527685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362575"/>
            <a:ext cx="11639550" cy="11906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2035969" y="1214437"/>
            <a:ext cx="157162" cy="228600"/>
          </a:xfrm>
          <a:prstGeom prst="rect">
            <a:avLst/>
          </a:prstGeom>
        </p:spPr>
      </p:pic>
      <p:pic>
        <p:nvPicPr>
          <p:cNvPr id="43" name="Picture 42" descr="lock.png"/>
          <p:cNvPicPr>
            <a:picLocks noChangeAspect="1"/>
          </p:cNvPicPr>
          <p:nvPr/>
        </p:nvPicPr>
        <p:blipFill>
          <a:blip r:embed="rId5"/>
          <a:stretch>
            <a:fillRect/>
          </a:stretch>
        </p:blipFill>
        <p:spPr>
          <a:xfrm>
            <a:off x="6069806" y="1214437"/>
            <a:ext cx="157162" cy="228600"/>
          </a:xfrm>
          <a:prstGeom prst="rect">
            <a:avLst/>
          </a:prstGeom>
        </p:spPr>
      </p:pic>
      <p:pic>
        <p:nvPicPr>
          <p:cNvPr id="44" name="Picture 43" descr="lock.png"/>
          <p:cNvPicPr>
            <a:picLocks noChangeAspect="1"/>
          </p:cNvPicPr>
          <p:nvPr/>
        </p:nvPicPr>
        <p:blipFill>
          <a:blip r:embed="rId5"/>
          <a:stretch>
            <a:fillRect/>
          </a:stretch>
        </p:blipFill>
        <p:spPr>
          <a:xfrm>
            <a:off x="10041731" y="1214437"/>
            <a:ext cx="157162" cy="228600"/>
          </a:xfrm>
          <a:prstGeom prst="rect">
            <a:avLst/>
          </a:prstGeom>
        </p:spPr>
      </p:pic>
      <p:sp>
        <p:nvSpPr>
          <p:cNvPr id="45" name="TextBox 44"/>
          <p:cNvSpPr txBox="1"/>
          <p:nvPr/>
        </p:nvSpPr>
        <p:spPr>
          <a:xfrm>
            <a:off x="1637332" y="1028326"/>
            <a:ext cx="1030634" cy="166573"/>
          </a:xfrm>
          <a:prstGeom prst="rect">
            <a:avLst/>
          </a:prstGeom>
          <a:noFill/>
        </p:spPr>
        <p:txBody>
          <a:bodyPr wrap="none" lIns="0" rIns="0" tIns="0" bIns="0">
            <a:spAutoFit/>
          </a:bodyPr>
          <a:lstStyle/>
          <a:p>
            <a:r>
              <a:rPr sz="968" b="1">
                <a:solidFill>
                  <a:srgbClr val="6C7A89"/>
                </a:solidFill>
                <a:latin typeface="Calibri"/>
              </a:rPr>
              <a:t>OPTIMISTIC (2036)</a:t>
            </a:r>
          </a:p>
        </p:txBody>
      </p:sp>
      <p:sp>
        <p:nvSpPr>
          <p:cNvPr id="46" name="TextBox 45"/>
          <p:cNvSpPr txBox="1"/>
          <p:nvPr/>
        </p:nvSpPr>
        <p:spPr>
          <a:xfrm>
            <a:off x="1906321"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47" name="Picture 46" descr="lock.png"/>
          <p:cNvPicPr>
            <a:picLocks noChangeAspect="1"/>
          </p:cNvPicPr>
          <p:nvPr/>
        </p:nvPicPr>
        <p:blipFill>
          <a:blip r:embed="rId5"/>
          <a:stretch>
            <a:fillRect/>
          </a:stretch>
        </p:blipFill>
        <p:spPr>
          <a:xfrm>
            <a:off x="2208575" y="1473019"/>
            <a:ext cx="113255" cy="164734"/>
          </a:xfrm>
          <a:prstGeom prst="rect">
            <a:avLst/>
          </a:prstGeom>
        </p:spPr>
      </p:pic>
      <p:sp>
        <p:nvSpPr>
          <p:cNvPr id="48" name="TextBox 47"/>
          <p:cNvSpPr txBox="1"/>
          <p:nvPr/>
        </p:nvSpPr>
        <p:spPr>
          <a:xfrm>
            <a:off x="5807156" y="1028326"/>
            <a:ext cx="758662" cy="166573"/>
          </a:xfrm>
          <a:prstGeom prst="rect">
            <a:avLst/>
          </a:prstGeom>
          <a:noFill/>
        </p:spPr>
        <p:txBody>
          <a:bodyPr wrap="none" lIns="0" rIns="0" tIns="0" bIns="0">
            <a:spAutoFit/>
          </a:bodyPr>
          <a:lstStyle/>
          <a:p>
            <a:r>
              <a:rPr sz="968" b="1">
                <a:solidFill>
                  <a:srgbClr val="6C7A89"/>
                </a:solidFill>
                <a:latin typeface="Calibri"/>
              </a:rPr>
              <a:t>LIKELY (2036)</a:t>
            </a:r>
          </a:p>
        </p:txBody>
      </p:sp>
      <p:sp>
        <p:nvSpPr>
          <p:cNvPr id="49" name="TextBox 48"/>
          <p:cNvSpPr txBox="1"/>
          <p:nvPr/>
        </p:nvSpPr>
        <p:spPr>
          <a:xfrm>
            <a:off x="5940158"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0" name="Picture 49" descr="lock.png"/>
          <p:cNvPicPr>
            <a:picLocks noChangeAspect="1"/>
          </p:cNvPicPr>
          <p:nvPr/>
        </p:nvPicPr>
        <p:blipFill>
          <a:blip r:embed="rId5"/>
          <a:stretch>
            <a:fillRect/>
          </a:stretch>
        </p:blipFill>
        <p:spPr>
          <a:xfrm>
            <a:off x="6242412" y="1473019"/>
            <a:ext cx="113255" cy="164734"/>
          </a:xfrm>
          <a:prstGeom prst="rect">
            <a:avLst/>
          </a:prstGeom>
        </p:spPr>
      </p:pic>
      <p:sp>
        <p:nvSpPr>
          <p:cNvPr id="51" name="TextBox 50"/>
          <p:cNvSpPr txBox="1"/>
          <p:nvPr/>
        </p:nvSpPr>
        <p:spPr>
          <a:xfrm>
            <a:off x="9548094" y="1028326"/>
            <a:ext cx="1220636" cy="166573"/>
          </a:xfrm>
          <a:prstGeom prst="rect">
            <a:avLst/>
          </a:prstGeom>
          <a:noFill/>
        </p:spPr>
        <p:txBody>
          <a:bodyPr wrap="none" lIns="0" rIns="0" tIns="0" bIns="0">
            <a:spAutoFit/>
          </a:bodyPr>
          <a:lstStyle/>
          <a:p>
            <a:r>
              <a:rPr sz="968" b="1">
                <a:solidFill>
                  <a:srgbClr val="6C7A89"/>
                </a:solidFill>
                <a:latin typeface="Calibri"/>
              </a:rPr>
              <a:t>CONSERVATIVE (2036)</a:t>
            </a:r>
          </a:p>
        </p:txBody>
      </p:sp>
      <p:sp>
        <p:nvSpPr>
          <p:cNvPr id="52" name="TextBox 51"/>
          <p:cNvSpPr txBox="1"/>
          <p:nvPr/>
        </p:nvSpPr>
        <p:spPr>
          <a:xfrm>
            <a:off x="9912083" y="1481625"/>
            <a:ext cx="357112" cy="166573"/>
          </a:xfrm>
          <a:prstGeom prst="rect">
            <a:avLst/>
          </a:prstGeom>
          <a:noFill/>
        </p:spPr>
        <p:txBody>
          <a:bodyPr wrap="none" lIns="0" rIns="0" tIns="0" bIns="0">
            <a:spAutoFit/>
          </a:bodyPr>
          <a:lstStyle/>
          <a:p>
            <a:r>
              <a:rPr sz="968" b="0">
                <a:solidFill>
                  <a:srgbClr val="6C7A89"/>
                </a:solidFill>
                <a:latin typeface="Calibri"/>
              </a:rPr>
              <a:t>CAGR</a:t>
            </a:r>
          </a:p>
        </p:txBody>
      </p:sp>
      <p:pic>
        <p:nvPicPr>
          <p:cNvPr id="53" name="Picture 52" descr="lock.png"/>
          <p:cNvPicPr>
            <a:picLocks noChangeAspect="1"/>
          </p:cNvPicPr>
          <p:nvPr/>
        </p:nvPicPr>
        <p:blipFill>
          <a:blip r:embed="rId5"/>
          <a:stretch>
            <a:fillRect/>
          </a:stretch>
        </p:blipFill>
        <p:spPr>
          <a:xfrm>
            <a:off x="10214337" y="1473019"/>
            <a:ext cx="113255" cy="164734"/>
          </a:xfrm>
          <a:prstGeom prst="rect">
            <a:avLst/>
          </a:prstGeom>
        </p:spPr>
      </p:pic>
      <p:sp>
        <p:nvSpPr>
          <p:cNvPr id="54" name="TextBox 53"/>
          <p:cNvSpPr txBox="1"/>
          <p:nvPr/>
        </p:nvSpPr>
        <p:spPr>
          <a:xfrm>
            <a:off x="2032418" y="2761098"/>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5" name="Picture 54" descr="lock.png"/>
          <p:cNvPicPr>
            <a:picLocks noChangeAspect="1"/>
          </p:cNvPicPr>
          <p:nvPr/>
        </p:nvPicPr>
        <p:blipFill>
          <a:blip r:embed="rId5"/>
          <a:stretch>
            <a:fillRect/>
          </a:stretch>
        </p:blipFill>
        <p:spPr>
          <a:xfrm>
            <a:off x="2358973" y="2752883"/>
            <a:ext cx="108107" cy="157246"/>
          </a:xfrm>
          <a:prstGeom prst="rect">
            <a:avLst/>
          </a:prstGeom>
        </p:spPr>
      </p:pic>
      <p:sp>
        <p:nvSpPr>
          <p:cNvPr id="56" name="TextBox 55"/>
          <p:cNvSpPr txBox="1"/>
          <p:nvPr/>
        </p:nvSpPr>
        <p:spPr>
          <a:xfrm>
            <a:off x="2032418" y="2503923"/>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7" name="Picture 56" descr="lock.png"/>
          <p:cNvPicPr>
            <a:picLocks noChangeAspect="1"/>
          </p:cNvPicPr>
          <p:nvPr/>
        </p:nvPicPr>
        <p:blipFill>
          <a:blip r:embed="rId5"/>
          <a:stretch>
            <a:fillRect/>
          </a:stretch>
        </p:blipFill>
        <p:spPr>
          <a:xfrm>
            <a:off x="2358973" y="2495708"/>
            <a:ext cx="108107" cy="157246"/>
          </a:xfrm>
          <a:prstGeom prst="rect">
            <a:avLst/>
          </a:prstGeom>
        </p:spPr>
      </p:pic>
      <p:sp>
        <p:nvSpPr>
          <p:cNvPr id="58" name="TextBox 57"/>
          <p:cNvSpPr txBox="1"/>
          <p:nvPr/>
        </p:nvSpPr>
        <p:spPr>
          <a:xfrm>
            <a:off x="2032418" y="2246748"/>
            <a:ext cx="382383" cy="159867"/>
          </a:xfrm>
          <a:prstGeom prst="rect">
            <a:avLst/>
          </a:prstGeom>
          <a:noFill/>
        </p:spPr>
        <p:txBody>
          <a:bodyPr wrap="none" lIns="0" rIns="0" tIns="0" bIns="0">
            <a:spAutoFit/>
          </a:bodyPr>
          <a:lstStyle/>
          <a:p>
            <a:r>
              <a:rPr sz="923" b="1">
                <a:solidFill>
                  <a:srgbClr val="FFFFFF"/>
                </a:solidFill>
                <a:latin typeface="Calibri"/>
              </a:rPr>
              <a:t>CAGR:</a:t>
            </a:r>
          </a:p>
        </p:txBody>
      </p:sp>
      <p:pic>
        <p:nvPicPr>
          <p:cNvPr id="59" name="Picture 58" descr="lock.png"/>
          <p:cNvPicPr>
            <a:picLocks noChangeAspect="1"/>
          </p:cNvPicPr>
          <p:nvPr/>
        </p:nvPicPr>
        <p:blipFill>
          <a:blip r:embed="rId5"/>
          <a:stretch>
            <a:fillRect/>
          </a:stretch>
        </p:blipFill>
        <p:spPr>
          <a:xfrm>
            <a:off x="2358973" y="2238533"/>
            <a:ext cx="108107" cy="157246"/>
          </a:xfrm>
          <a:prstGeom prst="rect">
            <a:avLst/>
          </a:prstGeom>
        </p:spPr>
      </p:pic>
      <p:sp>
        <p:nvSpPr>
          <p:cNvPr id="60" name="TextBox 59"/>
          <p:cNvSpPr txBox="1"/>
          <p:nvPr/>
        </p:nvSpPr>
        <p:spPr>
          <a:xfrm>
            <a:off x="276225" y="5372100"/>
            <a:ext cx="808161" cy="194310"/>
          </a:xfrm>
          <a:prstGeom prst="rect">
            <a:avLst/>
          </a:prstGeom>
          <a:noFill/>
        </p:spPr>
        <p:txBody>
          <a:bodyPr wrap="none" lIns="0" rIns="0" tIns="0" bIns="0">
            <a:spAutoFit/>
          </a:bodyPr>
          <a:lstStyle/>
          <a:p>
            <a:r>
              <a:rPr sz="1150" b="0">
                <a:solidFill>
                  <a:srgbClr val="2E2E2E"/>
                </a:solidFill>
                <a:latin typeface="Calibri"/>
              </a:rPr>
              <a:t>▪ Optimistic:</a:t>
            </a:r>
          </a:p>
        </p:txBody>
      </p:sp>
      <p:pic>
        <p:nvPicPr>
          <p:cNvPr id="61" name="Picture 60" descr="lock.png"/>
          <p:cNvPicPr>
            <a:picLocks noChangeAspect="1"/>
          </p:cNvPicPr>
          <p:nvPr/>
        </p:nvPicPr>
        <p:blipFill>
          <a:blip r:embed="rId5"/>
          <a:stretch>
            <a:fillRect/>
          </a:stretch>
        </p:blipFill>
        <p:spPr>
          <a:xfrm>
            <a:off x="1033540" y="5361876"/>
            <a:ext cx="134549" cy="195707"/>
          </a:xfrm>
          <a:prstGeom prst="rect">
            <a:avLst/>
          </a:prstGeom>
        </p:spPr>
      </p:pic>
      <p:sp>
        <p:nvSpPr>
          <p:cNvPr id="62" name="TextBox 61"/>
          <p:cNvSpPr txBox="1"/>
          <p:nvPr/>
        </p:nvSpPr>
        <p:spPr>
          <a:xfrm>
            <a:off x="1208649" y="5372100"/>
            <a:ext cx="1203808" cy="194310"/>
          </a:xfrm>
          <a:prstGeom prst="rect">
            <a:avLst/>
          </a:prstGeom>
          <a:noFill/>
        </p:spPr>
        <p:txBody>
          <a:bodyPr wrap="none" lIns="0" rIns="0" tIns="0" bIns="0">
            <a:spAutoFit/>
          </a:bodyPr>
          <a:lstStyle/>
          <a:p>
            <a:r>
              <a:rPr sz="1150" b="0">
                <a:solidFill>
                  <a:srgbClr val="2E2E2E"/>
                </a:solidFill>
                <a:latin typeface="Calibri"/>
              </a:rPr>
              <a:t>US$ Mn by 2036 at</a:t>
            </a:r>
          </a:p>
        </p:txBody>
      </p:sp>
      <p:pic>
        <p:nvPicPr>
          <p:cNvPr id="63" name="Picture 62" descr="lock.png"/>
          <p:cNvPicPr>
            <a:picLocks noChangeAspect="1"/>
          </p:cNvPicPr>
          <p:nvPr/>
        </p:nvPicPr>
        <p:blipFill>
          <a:blip r:embed="rId5"/>
          <a:stretch>
            <a:fillRect/>
          </a:stretch>
        </p:blipFill>
        <p:spPr>
          <a:xfrm>
            <a:off x="2361612" y="5361876"/>
            <a:ext cx="134549" cy="195707"/>
          </a:xfrm>
          <a:prstGeom prst="rect">
            <a:avLst/>
          </a:prstGeom>
        </p:spPr>
      </p:pic>
      <p:sp>
        <p:nvSpPr>
          <p:cNvPr id="64" name="TextBox 63"/>
          <p:cNvSpPr txBox="1"/>
          <p:nvPr/>
        </p:nvSpPr>
        <p:spPr>
          <a:xfrm>
            <a:off x="2536721" y="5372100"/>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65" name="TextBox 64"/>
          <p:cNvSpPr txBox="1"/>
          <p:nvPr/>
        </p:nvSpPr>
        <p:spPr>
          <a:xfrm>
            <a:off x="276225" y="5599938"/>
            <a:ext cx="1448271" cy="194310"/>
          </a:xfrm>
          <a:prstGeom prst="rect">
            <a:avLst/>
          </a:prstGeom>
          <a:noFill/>
        </p:spPr>
        <p:txBody>
          <a:bodyPr wrap="none" lIns="0" rIns="0" tIns="0" bIns="0">
            <a:spAutoFit/>
          </a:bodyPr>
          <a:lstStyle/>
          <a:p>
            <a:r>
              <a:rPr sz="1150" b="0">
                <a:solidFill>
                  <a:srgbClr val="2E2E2E"/>
                </a:solidFill>
                <a:latin typeface="Calibri"/>
              </a:rPr>
              <a:t>▪ Likely (base forecast):</a:t>
            </a:r>
          </a:p>
        </p:txBody>
      </p:sp>
      <p:pic>
        <p:nvPicPr>
          <p:cNvPr id="66" name="Picture 65" descr="lock.png"/>
          <p:cNvPicPr>
            <a:picLocks noChangeAspect="1"/>
          </p:cNvPicPr>
          <p:nvPr/>
        </p:nvPicPr>
        <p:blipFill>
          <a:blip r:embed="rId5"/>
          <a:stretch>
            <a:fillRect/>
          </a:stretch>
        </p:blipFill>
        <p:spPr>
          <a:xfrm>
            <a:off x="1673650" y="5589714"/>
            <a:ext cx="134549" cy="195707"/>
          </a:xfrm>
          <a:prstGeom prst="rect">
            <a:avLst/>
          </a:prstGeom>
        </p:spPr>
      </p:pic>
      <p:sp>
        <p:nvSpPr>
          <p:cNvPr id="67" name="TextBox 66"/>
          <p:cNvSpPr txBox="1"/>
          <p:nvPr/>
        </p:nvSpPr>
        <p:spPr>
          <a:xfrm>
            <a:off x="1848759" y="5599938"/>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68" name="Picture 67" descr="lock.png"/>
          <p:cNvPicPr>
            <a:picLocks noChangeAspect="1"/>
          </p:cNvPicPr>
          <p:nvPr/>
        </p:nvPicPr>
        <p:blipFill>
          <a:blip r:embed="rId5"/>
          <a:stretch>
            <a:fillRect/>
          </a:stretch>
        </p:blipFill>
        <p:spPr>
          <a:xfrm>
            <a:off x="2495966" y="5589714"/>
            <a:ext cx="134549" cy="195707"/>
          </a:xfrm>
          <a:prstGeom prst="rect">
            <a:avLst/>
          </a:prstGeom>
        </p:spPr>
      </p:pic>
      <p:sp>
        <p:nvSpPr>
          <p:cNvPr id="69" name="TextBox 68"/>
          <p:cNvSpPr txBox="1"/>
          <p:nvPr/>
        </p:nvSpPr>
        <p:spPr>
          <a:xfrm>
            <a:off x="2671076" y="5599938"/>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0" name="TextBox 69"/>
          <p:cNvSpPr txBox="1"/>
          <p:nvPr/>
        </p:nvSpPr>
        <p:spPr>
          <a:xfrm>
            <a:off x="276225" y="5827775"/>
            <a:ext cx="969615" cy="194310"/>
          </a:xfrm>
          <a:prstGeom prst="rect">
            <a:avLst/>
          </a:prstGeom>
          <a:noFill/>
        </p:spPr>
        <p:txBody>
          <a:bodyPr wrap="none" lIns="0" rIns="0" tIns="0" bIns="0">
            <a:spAutoFit/>
          </a:bodyPr>
          <a:lstStyle/>
          <a:p>
            <a:r>
              <a:rPr sz="1150" b="0">
                <a:solidFill>
                  <a:srgbClr val="2E2E2E"/>
                </a:solidFill>
                <a:latin typeface="Calibri"/>
              </a:rPr>
              <a:t>▪ Conservative:</a:t>
            </a:r>
          </a:p>
        </p:txBody>
      </p:sp>
      <p:pic>
        <p:nvPicPr>
          <p:cNvPr id="71" name="Picture 70" descr="lock.png"/>
          <p:cNvPicPr>
            <a:picLocks noChangeAspect="1"/>
          </p:cNvPicPr>
          <p:nvPr/>
        </p:nvPicPr>
        <p:blipFill>
          <a:blip r:embed="rId5"/>
          <a:stretch>
            <a:fillRect/>
          </a:stretch>
        </p:blipFill>
        <p:spPr>
          <a:xfrm>
            <a:off x="1194994" y="5817552"/>
            <a:ext cx="134549" cy="195707"/>
          </a:xfrm>
          <a:prstGeom prst="rect">
            <a:avLst/>
          </a:prstGeom>
        </p:spPr>
      </p:pic>
      <p:sp>
        <p:nvSpPr>
          <p:cNvPr id="72" name="TextBox 71"/>
          <p:cNvSpPr txBox="1"/>
          <p:nvPr/>
        </p:nvSpPr>
        <p:spPr>
          <a:xfrm>
            <a:off x="1370103" y="5827775"/>
            <a:ext cx="698053" cy="194310"/>
          </a:xfrm>
          <a:prstGeom prst="rect">
            <a:avLst/>
          </a:prstGeom>
          <a:noFill/>
        </p:spPr>
        <p:txBody>
          <a:bodyPr wrap="none" lIns="0" rIns="0" tIns="0" bIns="0">
            <a:spAutoFit/>
          </a:bodyPr>
          <a:lstStyle/>
          <a:p>
            <a:r>
              <a:rPr sz="1150" b="0">
                <a:solidFill>
                  <a:srgbClr val="2E2E2E"/>
                </a:solidFill>
                <a:latin typeface="Calibri"/>
              </a:rPr>
              <a:t>US$ Mn at</a:t>
            </a:r>
          </a:p>
        </p:txBody>
      </p:sp>
      <p:pic>
        <p:nvPicPr>
          <p:cNvPr id="73" name="Picture 72" descr="lock.png"/>
          <p:cNvPicPr>
            <a:picLocks noChangeAspect="1"/>
          </p:cNvPicPr>
          <p:nvPr/>
        </p:nvPicPr>
        <p:blipFill>
          <a:blip r:embed="rId5"/>
          <a:stretch>
            <a:fillRect/>
          </a:stretch>
        </p:blipFill>
        <p:spPr>
          <a:xfrm>
            <a:off x="2017310" y="5817552"/>
            <a:ext cx="134549" cy="195707"/>
          </a:xfrm>
          <a:prstGeom prst="rect">
            <a:avLst/>
          </a:prstGeom>
        </p:spPr>
      </p:pic>
      <p:sp>
        <p:nvSpPr>
          <p:cNvPr id="74" name="TextBox 73"/>
          <p:cNvSpPr txBox="1"/>
          <p:nvPr/>
        </p:nvSpPr>
        <p:spPr>
          <a:xfrm>
            <a:off x="2192420" y="582777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75" name="TextBox 74"/>
          <p:cNvSpPr txBox="1"/>
          <p:nvPr/>
        </p:nvSpPr>
        <p:spPr>
          <a:xfrm>
            <a:off x="276225" y="6055613"/>
            <a:ext cx="3660130" cy="194310"/>
          </a:xfrm>
          <a:prstGeom prst="rect">
            <a:avLst/>
          </a:prstGeom>
          <a:noFill/>
        </p:spPr>
        <p:txBody>
          <a:bodyPr wrap="none" lIns="0" rIns="0" tIns="0" bIns="0">
            <a:spAutoFit/>
          </a:bodyPr>
          <a:lstStyle/>
          <a:p>
            <a:r>
              <a:rPr sz="1150" b="0">
                <a:solidFill>
                  <a:srgbClr val="2E2E2E"/>
                </a:solidFill>
                <a:latin typeface="Calibri"/>
              </a:rPr>
              <a:t>▪ Scenarios flex the base forecast's year-on-year growth by ±</a:t>
            </a:r>
          </a:p>
        </p:txBody>
      </p:sp>
      <p:pic>
        <p:nvPicPr>
          <p:cNvPr id="76" name="Picture 75" descr="lock.png"/>
          <p:cNvPicPr>
            <a:picLocks noChangeAspect="1"/>
          </p:cNvPicPr>
          <p:nvPr/>
        </p:nvPicPr>
        <p:blipFill>
          <a:blip r:embed="rId5"/>
          <a:stretch>
            <a:fillRect/>
          </a:stretch>
        </p:blipFill>
        <p:spPr>
          <a:xfrm>
            <a:off x="3885509" y="6045390"/>
            <a:ext cx="134549" cy="195707"/>
          </a:xfrm>
          <a:prstGeom prst="rect">
            <a:avLst/>
          </a:prstGeom>
        </p:spPr>
      </p:pic>
      <p:sp>
        <p:nvSpPr>
          <p:cNvPr id="77" name="TextBox 76"/>
          <p:cNvSpPr txBox="1"/>
          <p:nvPr/>
        </p:nvSpPr>
        <p:spPr>
          <a:xfrm>
            <a:off x="4060618" y="6055613"/>
            <a:ext cx="1900683" cy="194310"/>
          </a:xfrm>
          <a:prstGeom prst="rect">
            <a:avLst/>
          </a:prstGeom>
          <a:noFill/>
        </p:spPr>
        <p:txBody>
          <a:bodyPr wrap="none" lIns="0" rIns="0" tIns="0" bIns="0">
            <a:spAutoFit/>
          </a:bodyPr>
          <a:lstStyle/>
          <a:p>
            <a:r>
              <a:rPr sz="1150" b="0">
                <a:solidFill>
                  <a:srgbClr val="2E2E2E"/>
                </a:solidFill>
                <a:latin typeface="Calibri"/>
              </a:rPr>
              <a:t>across the 2026–2036 horizon.</a:t>
            </a:r>
          </a:p>
        </p:txBody>
      </p:sp>
      <p:sp>
        <p:nvSpPr>
          <p:cNvPr id="78" name="lockshield_36"/>
          <p:cNvSpPr/>
          <p:nvPr/>
        </p:nvSpPr>
        <p:spPr>
          <a:xfrm>
            <a:off x="6267450" y="2095500"/>
            <a:ext cx="5686425" cy="2667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4.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55587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8987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Country</a:t>
            </a:r>
          </a:p>
        </p:txBody>
      </p:sp>
      <p:sp>
        <p:nvSpPr>
          <p:cNvPr id="11" name="TextBox 10"/>
          <p:cNvSpPr txBox="1"/>
          <p:nvPr/>
        </p:nvSpPr>
        <p:spPr>
          <a:xfrm>
            <a:off x="914400" y="3584575"/>
            <a:ext cx="8458200" cy="16700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North America Matcha – Country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Share Analysis By Country</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Share Analysis By Country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3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 Country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analysis of size, growth and share across 2 countries, highlighting where value concentrates,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By Country view breaks the North America market down geographically. Each country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Country</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U.S.</a:t>
            </a:r>
          </a:p>
        </p:txBody>
      </p:sp>
      <p:sp>
        <p:nvSpPr>
          <p:cNvPr id="22" name="Rectangle 21"/>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3" name="Rectangle 22"/>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4" name="Rectangle 23"/>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t>
            </a:r>
          </a:p>
        </p:txBody>
      </p:sp>
      <p:sp>
        <p:nvSpPr>
          <p:cNvPr id="25" name="Oval 24"/>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Canada</a:t>
            </a:r>
          </a:p>
        </p:txBody>
      </p:sp>
      <p:sp>
        <p:nvSpPr>
          <p:cNvPr id="29" name="Rectangle 28"/>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0" name="Rectangle 29"/>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1" name="Rectangle 30"/>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t>
            </a:r>
          </a:p>
        </p:txBody>
      </p:sp>
      <p:sp>
        <p:nvSpPr>
          <p:cNvPr id="32" name="Oval 31"/>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5" name="Rectangle 3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37" name="Rounded Rectangle 3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Country Insights</a:t>
            </a:r>
          </a:p>
        </p:txBody>
      </p:sp>
      <p:sp>
        <p:nvSpPr>
          <p:cNvPr id="39" name="Rectangle 3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1" name="Rounded Rectangle 4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Country Overview</a:t>
            </a:r>
          </a:p>
        </p:txBody>
      </p:sp>
      <p:sp>
        <p:nvSpPr>
          <p:cNvPr id="43" name="Rectangle 4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By Country split shows where market value concentrates and where growth is fastest.</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demand and access dynamics are rebalancing the geographic mix through 2036.</a:t>
            </a:r>
          </a:p>
        </p:txBody>
      </p:sp>
      <p:sp>
        <p:nvSpPr>
          <p:cNvPr id="45" name="Rectangle 4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7" name="TextBox 4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lock.png"/>
          <p:cNvPicPr>
            <a:picLocks noChangeAspect="1"/>
          </p:cNvPicPr>
          <p:nvPr/>
        </p:nvPicPr>
        <p:blipFill>
          <a:blip r:embed="rId4"/>
          <a:stretch>
            <a:fillRect/>
          </a:stretch>
        </p:blipFill>
        <p:spPr>
          <a:xfrm>
            <a:off x="4250888" y="2339922"/>
            <a:ext cx="175498" cy="255270"/>
          </a:xfrm>
          <a:prstGeom prst="rect">
            <a:avLst/>
          </a:prstGeom>
        </p:spPr>
      </p:pic>
      <p:pic>
        <p:nvPicPr>
          <p:cNvPr id="50" name="Picture 49" descr="lock.png"/>
          <p:cNvPicPr>
            <a:picLocks noChangeAspect="1"/>
          </p:cNvPicPr>
          <p:nvPr/>
        </p:nvPicPr>
        <p:blipFill>
          <a:blip r:embed="rId4"/>
          <a:stretch>
            <a:fillRect/>
          </a:stretch>
        </p:blipFill>
        <p:spPr>
          <a:xfrm>
            <a:off x="4250888" y="2832772"/>
            <a:ext cx="175498" cy="255270"/>
          </a:xfrm>
          <a:prstGeom prst="rect">
            <a:avLst/>
          </a:prstGeom>
        </p:spPr>
      </p:pic>
      <p:pic>
        <p:nvPicPr>
          <p:cNvPr id="51" name="Picture 50" descr="lock.png"/>
          <p:cNvPicPr>
            <a:picLocks noChangeAspect="1"/>
          </p:cNvPicPr>
          <p:nvPr/>
        </p:nvPicPr>
        <p:blipFill>
          <a:blip r:embed="rId4"/>
          <a:stretch>
            <a:fillRect/>
          </a:stretch>
        </p:blipFill>
        <p:spPr>
          <a:xfrm>
            <a:off x="4250888" y="3325622"/>
            <a:ext cx="175498" cy="255270"/>
          </a:xfrm>
          <a:prstGeom prst="rect">
            <a:avLst/>
          </a:prstGeom>
        </p:spPr>
      </p:pic>
      <p:pic>
        <p:nvPicPr>
          <p:cNvPr id="52" name="Picture 51" descr="lock.png"/>
          <p:cNvPicPr>
            <a:picLocks noChangeAspect="1"/>
          </p:cNvPicPr>
          <p:nvPr/>
        </p:nvPicPr>
        <p:blipFill>
          <a:blip r:embed="rId4"/>
          <a:stretch>
            <a:fillRect/>
          </a:stretch>
        </p:blipFill>
        <p:spPr>
          <a:xfrm>
            <a:off x="9308663" y="2339922"/>
            <a:ext cx="175498" cy="255270"/>
          </a:xfrm>
          <a:prstGeom prst="rect">
            <a:avLst/>
          </a:prstGeom>
        </p:spPr>
      </p:pic>
      <p:pic>
        <p:nvPicPr>
          <p:cNvPr id="53" name="Picture 52" descr="lock.png"/>
          <p:cNvPicPr>
            <a:picLocks noChangeAspect="1"/>
          </p:cNvPicPr>
          <p:nvPr/>
        </p:nvPicPr>
        <p:blipFill>
          <a:blip r:embed="rId4"/>
          <a:stretch>
            <a:fillRect/>
          </a:stretch>
        </p:blipFill>
        <p:spPr>
          <a:xfrm>
            <a:off x="9308663" y="2832772"/>
            <a:ext cx="175498" cy="255270"/>
          </a:xfrm>
          <a:prstGeom prst="rect">
            <a:avLst/>
          </a:prstGeom>
        </p:spPr>
      </p:pic>
      <p:pic>
        <p:nvPicPr>
          <p:cNvPr id="54" name="Picture 53" descr="lock.png"/>
          <p:cNvPicPr>
            <a:picLocks noChangeAspect="1"/>
          </p:cNvPicPr>
          <p:nvPr/>
        </p:nvPicPr>
        <p:blipFill>
          <a:blip r:embed="rId4"/>
          <a:stretch>
            <a:fillRect/>
          </a:stretch>
        </p:blipFill>
        <p:spPr>
          <a:xfrm>
            <a:off x="9308663" y="3325622"/>
            <a:ext cx="175498" cy="255270"/>
          </a:xfrm>
          <a:prstGeom prst="rect">
            <a:avLst/>
          </a:prstGeom>
        </p:spPr>
      </p:pic>
      <p:sp>
        <p:nvSpPr>
          <p:cNvPr id="55" name="TextBox 54"/>
          <p:cNvSpPr txBox="1"/>
          <p:nvPr/>
        </p:nvSpPr>
        <p:spPr>
          <a:xfrm>
            <a:off x="485775" y="4229437"/>
            <a:ext cx="2757239" cy="186689"/>
          </a:xfrm>
          <a:prstGeom prst="rect">
            <a:avLst/>
          </a:prstGeom>
          <a:noFill/>
        </p:spPr>
        <p:txBody>
          <a:bodyPr wrap="none" lIns="0" rIns="0" tIns="0" bIns="0">
            <a:spAutoFit/>
          </a:bodyPr>
          <a:lstStyle/>
          <a:p>
            <a:r>
              <a:rPr sz="1100" b="0">
                <a:solidFill>
                  <a:srgbClr val="2E2E2E"/>
                </a:solidFill>
                <a:latin typeface="Calibri"/>
              </a:rPr>
              <a:t>The U.S. matcha market is projected to register</a:t>
            </a:r>
          </a:p>
        </p:txBody>
      </p:sp>
      <p:pic>
        <p:nvPicPr>
          <p:cNvPr id="56" name="Picture 55" descr="lock.png"/>
          <p:cNvPicPr>
            <a:picLocks noChangeAspect="1"/>
          </p:cNvPicPr>
          <p:nvPr/>
        </p:nvPicPr>
        <p:blipFill>
          <a:blip r:embed="rId4"/>
          <a:stretch>
            <a:fillRect/>
          </a:stretch>
        </p:blipFill>
        <p:spPr>
          <a:xfrm>
            <a:off x="472307" y="4387298"/>
            <a:ext cx="128699" cy="187198"/>
          </a:xfrm>
          <a:prstGeom prst="rect">
            <a:avLst/>
          </a:prstGeom>
        </p:spPr>
      </p:pic>
      <p:sp>
        <p:nvSpPr>
          <p:cNvPr id="57" name="TextBox 56"/>
          <p:cNvSpPr txBox="1"/>
          <p:nvPr/>
        </p:nvSpPr>
        <p:spPr>
          <a:xfrm>
            <a:off x="639803" y="4397077"/>
            <a:ext cx="2550690" cy="186689"/>
          </a:xfrm>
          <a:prstGeom prst="rect">
            <a:avLst/>
          </a:prstGeom>
          <a:noFill/>
        </p:spPr>
        <p:txBody>
          <a:bodyPr wrap="none" lIns="0" rIns="0" tIns="0" bIns="0">
            <a:spAutoFit/>
          </a:bodyPr>
          <a:lstStyle/>
          <a:p>
            <a:r>
              <a:rPr sz="1100" b="0">
                <a:solidFill>
                  <a:srgbClr val="2E2E2E"/>
                </a:solidFill>
                <a:latin typeface="Calibri"/>
              </a:rPr>
              <a:t>X higher value than Canada in 2036. Among</a:t>
            </a:r>
          </a:p>
        </p:txBody>
      </p:sp>
      <p:sp>
        <p:nvSpPr>
          <p:cNvPr id="58" name="TextBox 57"/>
          <p:cNvSpPr txBox="1"/>
          <p:nvPr/>
        </p:nvSpPr>
        <p:spPr>
          <a:xfrm>
            <a:off x="485775" y="4564717"/>
            <a:ext cx="2914650" cy="186689"/>
          </a:xfrm>
          <a:prstGeom prst="rect">
            <a:avLst/>
          </a:prstGeom>
          <a:noFill/>
        </p:spPr>
        <p:txBody>
          <a:bodyPr wrap="none" lIns="0" rIns="0" tIns="0" bIns="0">
            <a:spAutoFit/>
          </a:bodyPr>
          <a:lstStyle/>
          <a:p>
            <a:r>
              <a:rPr sz="1100" b="0">
                <a:solidFill>
                  <a:srgbClr val="2E2E2E"/>
                </a:solidFill>
                <a:latin typeface="Calibri"/>
              </a:rPr>
              <a:t>matcha by country, Canada is expected to witness</a:t>
            </a:r>
          </a:p>
        </p:txBody>
      </p:sp>
      <p:sp>
        <p:nvSpPr>
          <p:cNvPr id="59" name="TextBox 58"/>
          <p:cNvSpPr txBox="1"/>
          <p:nvPr/>
        </p:nvSpPr>
        <p:spPr>
          <a:xfrm>
            <a:off x="485775" y="4732357"/>
            <a:ext cx="1212336" cy="186689"/>
          </a:xfrm>
          <a:prstGeom prst="rect">
            <a:avLst/>
          </a:prstGeom>
          <a:noFill/>
        </p:spPr>
        <p:txBody>
          <a:bodyPr wrap="none" lIns="0" rIns="0" tIns="0" bIns="0">
            <a:spAutoFit/>
          </a:bodyPr>
          <a:lstStyle/>
          <a:p>
            <a:r>
              <a:rPr sz="1100" b="0">
                <a:solidFill>
                  <a:srgbClr val="2E2E2E"/>
                </a:solidFill>
                <a:latin typeface="Calibri"/>
              </a:rPr>
              <a:t>the highest CAGR of</a:t>
            </a:r>
          </a:p>
        </p:txBody>
      </p:sp>
      <p:pic>
        <p:nvPicPr>
          <p:cNvPr id="60" name="Picture 59" descr="lock.png"/>
          <p:cNvPicPr>
            <a:picLocks noChangeAspect="1"/>
          </p:cNvPicPr>
          <p:nvPr/>
        </p:nvPicPr>
        <p:blipFill>
          <a:blip r:embed="rId4"/>
          <a:stretch>
            <a:fillRect/>
          </a:stretch>
        </p:blipFill>
        <p:spPr>
          <a:xfrm>
            <a:off x="1646163" y="4722578"/>
            <a:ext cx="128699" cy="187198"/>
          </a:xfrm>
          <a:prstGeom prst="rect">
            <a:avLst/>
          </a:prstGeom>
        </p:spPr>
      </p:pic>
      <p:sp>
        <p:nvSpPr>
          <p:cNvPr id="61" name="TextBox 60"/>
          <p:cNvSpPr txBox="1"/>
          <p:nvPr/>
        </p:nvSpPr>
        <p:spPr>
          <a:xfrm>
            <a:off x="1813659" y="4732357"/>
            <a:ext cx="1484659" cy="186689"/>
          </a:xfrm>
          <a:prstGeom prst="rect">
            <a:avLst/>
          </a:prstGeom>
          <a:noFill/>
        </p:spPr>
        <p:txBody>
          <a:bodyPr wrap="none" lIns="0" rIns="0" tIns="0" bIns="0">
            <a:spAutoFit/>
          </a:bodyPr>
          <a:lstStyle/>
          <a:p>
            <a:r>
              <a:rPr sz="1100" b="0">
                <a:solidFill>
                  <a:srgbClr val="2E2E2E"/>
                </a:solidFill>
                <a:latin typeface="Calibri"/>
              </a:rPr>
              <a:t>over the forecast period.</a:t>
            </a:r>
          </a:p>
        </p:txBody>
      </p:sp>
      <p:sp>
        <p:nvSpPr>
          <p:cNvPr id="62" name="TextBox 61"/>
          <p:cNvSpPr txBox="1"/>
          <p:nvPr/>
        </p:nvSpPr>
        <p:spPr>
          <a:xfrm>
            <a:off x="485775" y="4950289"/>
            <a:ext cx="2914650" cy="186689"/>
          </a:xfrm>
          <a:prstGeom prst="rect">
            <a:avLst/>
          </a:prstGeom>
          <a:noFill/>
        </p:spPr>
        <p:txBody>
          <a:bodyPr wrap="none" lIns="0" rIns="0" tIns="0" bIns="0">
            <a:spAutoFit/>
          </a:bodyPr>
          <a:lstStyle/>
          <a:p>
            <a:r>
              <a:rPr sz="1100" b="0">
                <a:solidFill>
                  <a:srgbClr val="2E2E2E"/>
                </a:solidFill>
                <a:latin typeface="Calibri"/>
              </a:rPr>
              <a:t>In terms of value share by country, U.S. is expected</a:t>
            </a:r>
          </a:p>
        </p:txBody>
      </p:sp>
      <p:sp>
        <p:nvSpPr>
          <p:cNvPr id="63" name="TextBox 62"/>
          <p:cNvSpPr txBox="1"/>
          <p:nvPr/>
        </p:nvSpPr>
        <p:spPr>
          <a:xfrm>
            <a:off x="485775" y="5117929"/>
            <a:ext cx="1835001" cy="186689"/>
          </a:xfrm>
          <a:prstGeom prst="rect">
            <a:avLst/>
          </a:prstGeom>
          <a:noFill/>
        </p:spPr>
        <p:txBody>
          <a:bodyPr wrap="none" lIns="0" rIns="0" tIns="0" bIns="0">
            <a:spAutoFit/>
          </a:bodyPr>
          <a:lstStyle/>
          <a:p>
            <a:r>
              <a:rPr sz="1100" b="0">
                <a:solidFill>
                  <a:srgbClr val="2E2E2E"/>
                </a:solidFill>
                <a:latin typeface="Calibri"/>
              </a:rPr>
              <a:t>to dominate the market, losing</a:t>
            </a:r>
          </a:p>
        </p:txBody>
      </p:sp>
      <p:pic>
        <p:nvPicPr>
          <p:cNvPr id="64" name="Picture 63" descr="lock.png"/>
          <p:cNvPicPr>
            <a:picLocks noChangeAspect="1"/>
          </p:cNvPicPr>
          <p:nvPr/>
        </p:nvPicPr>
        <p:blipFill>
          <a:blip r:embed="rId4"/>
          <a:stretch>
            <a:fillRect/>
          </a:stretch>
        </p:blipFill>
        <p:spPr>
          <a:xfrm>
            <a:off x="2268827" y="5108149"/>
            <a:ext cx="128699" cy="187198"/>
          </a:xfrm>
          <a:prstGeom prst="rect">
            <a:avLst/>
          </a:prstGeom>
        </p:spPr>
      </p:pic>
      <p:sp>
        <p:nvSpPr>
          <p:cNvPr id="65" name="TextBox 64"/>
          <p:cNvSpPr txBox="1"/>
          <p:nvPr/>
        </p:nvSpPr>
        <p:spPr>
          <a:xfrm>
            <a:off x="2436323" y="5117929"/>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66" name="TextBox 65"/>
          <p:cNvSpPr txBox="1"/>
          <p:nvPr/>
        </p:nvSpPr>
        <p:spPr>
          <a:xfrm>
            <a:off x="485775" y="5285569"/>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67" name="Picture 66" descr="lock.png"/>
          <p:cNvPicPr>
            <a:picLocks noChangeAspect="1"/>
          </p:cNvPicPr>
          <p:nvPr/>
        </p:nvPicPr>
        <p:blipFill>
          <a:blip r:embed="rId4"/>
          <a:stretch>
            <a:fillRect/>
          </a:stretch>
        </p:blipFill>
        <p:spPr>
          <a:xfrm>
            <a:off x="1330764" y="5275790"/>
            <a:ext cx="128699" cy="187198"/>
          </a:xfrm>
          <a:prstGeom prst="rect">
            <a:avLst/>
          </a:prstGeom>
        </p:spPr>
      </p:pic>
      <p:sp>
        <p:nvSpPr>
          <p:cNvPr id="68" name="TextBox 67"/>
          <p:cNvSpPr txBox="1"/>
          <p:nvPr/>
        </p:nvSpPr>
        <p:spPr>
          <a:xfrm>
            <a:off x="1498259" y="5285569"/>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69" name="TextBox 68"/>
          <p:cNvSpPr txBox="1"/>
          <p:nvPr/>
        </p:nvSpPr>
        <p:spPr>
          <a:xfrm>
            <a:off x="3838575" y="4229437"/>
            <a:ext cx="453826" cy="186689"/>
          </a:xfrm>
          <a:prstGeom prst="rect">
            <a:avLst/>
          </a:prstGeom>
          <a:noFill/>
        </p:spPr>
        <p:txBody>
          <a:bodyPr wrap="none" lIns="0" rIns="0" tIns="0" bIns="0">
            <a:spAutoFit/>
          </a:bodyPr>
          <a:lstStyle/>
          <a:p>
            <a:r>
              <a:rPr sz="1100" b="0">
                <a:solidFill>
                  <a:srgbClr val="2E2E2E"/>
                </a:solidFill>
                <a:latin typeface="Calibri"/>
              </a:rPr>
              <a:t>● U.S.:</a:t>
            </a:r>
          </a:p>
        </p:txBody>
      </p:sp>
      <p:pic>
        <p:nvPicPr>
          <p:cNvPr id="70" name="Picture 69" descr="lock.png"/>
          <p:cNvPicPr>
            <a:picLocks noChangeAspect="1"/>
          </p:cNvPicPr>
          <p:nvPr/>
        </p:nvPicPr>
        <p:blipFill>
          <a:blip r:embed="rId4"/>
          <a:stretch>
            <a:fillRect/>
          </a:stretch>
        </p:blipFill>
        <p:spPr>
          <a:xfrm>
            <a:off x="4240453" y="4219658"/>
            <a:ext cx="128699" cy="187198"/>
          </a:xfrm>
          <a:prstGeom prst="rect">
            <a:avLst/>
          </a:prstGeom>
        </p:spPr>
      </p:pic>
      <p:sp>
        <p:nvSpPr>
          <p:cNvPr id="71" name="TextBox 70"/>
          <p:cNvSpPr txBox="1"/>
          <p:nvPr/>
        </p:nvSpPr>
        <p:spPr>
          <a:xfrm>
            <a:off x="44079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2" name="Picture 71" descr="lock.png"/>
          <p:cNvPicPr>
            <a:picLocks noChangeAspect="1"/>
          </p:cNvPicPr>
          <p:nvPr/>
        </p:nvPicPr>
        <p:blipFill>
          <a:blip r:embed="rId4"/>
          <a:stretch>
            <a:fillRect/>
          </a:stretch>
        </p:blipFill>
        <p:spPr>
          <a:xfrm>
            <a:off x="5267399" y="4219658"/>
            <a:ext cx="128699" cy="187198"/>
          </a:xfrm>
          <a:prstGeom prst="rect">
            <a:avLst/>
          </a:prstGeom>
        </p:spPr>
      </p:pic>
      <p:sp>
        <p:nvSpPr>
          <p:cNvPr id="73" name="TextBox 72"/>
          <p:cNvSpPr txBox="1"/>
          <p:nvPr/>
        </p:nvSpPr>
        <p:spPr>
          <a:xfrm>
            <a:off x="5434895" y="4229437"/>
            <a:ext cx="1419431" cy="186689"/>
          </a:xfrm>
          <a:prstGeom prst="rect">
            <a:avLst/>
          </a:prstGeom>
          <a:noFill/>
        </p:spPr>
        <p:txBody>
          <a:bodyPr wrap="none" lIns="0" rIns="0" tIns="0" bIns="0">
            <a:spAutoFit/>
          </a:bodyPr>
          <a:lstStyle/>
          <a:p>
            <a:r>
              <a:rPr sz="1100" b="0">
                <a:solidFill>
                  <a:srgbClr val="2E2E2E"/>
                </a:solidFill>
                <a:latin typeface="Calibri"/>
              </a:rPr>
              <a:t>CAGR leads the market.</a:t>
            </a:r>
          </a:p>
        </p:txBody>
      </p:sp>
      <p:sp>
        <p:nvSpPr>
          <p:cNvPr id="74" name="TextBox 73"/>
          <p:cNvSpPr txBox="1"/>
          <p:nvPr/>
        </p:nvSpPr>
        <p:spPr>
          <a:xfrm>
            <a:off x="3838575" y="4447369"/>
            <a:ext cx="651371" cy="186689"/>
          </a:xfrm>
          <a:prstGeom prst="rect">
            <a:avLst/>
          </a:prstGeom>
          <a:noFill/>
        </p:spPr>
        <p:txBody>
          <a:bodyPr wrap="none" lIns="0" rIns="0" tIns="0" bIns="0">
            <a:spAutoFit/>
          </a:bodyPr>
          <a:lstStyle/>
          <a:p>
            <a:r>
              <a:rPr sz="1100" b="0">
                <a:solidFill>
                  <a:srgbClr val="2E2E2E"/>
                </a:solidFill>
                <a:latin typeface="Calibri"/>
              </a:rPr>
              <a:t>● Canada:</a:t>
            </a:r>
          </a:p>
        </p:txBody>
      </p:sp>
      <p:pic>
        <p:nvPicPr>
          <p:cNvPr id="75" name="Picture 74" descr="lock.png"/>
          <p:cNvPicPr>
            <a:picLocks noChangeAspect="1"/>
          </p:cNvPicPr>
          <p:nvPr/>
        </p:nvPicPr>
        <p:blipFill>
          <a:blip r:embed="rId4"/>
          <a:stretch>
            <a:fillRect/>
          </a:stretch>
        </p:blipFill>
        <p:spPr>
          <a:xfrm>
            <a:off x="4437997" y="4437590"/>
            <a:ext cx="128699" cy="187198"/>
          </a:xfrm>
          <a:prstGeom prst="rect">
            <a:avLst/>
          </a:prstGeom>
        </p:spPr>
      </p:pic>
      <p:sp>
        <p:nvSpPr>
          <p:cNvPr id="76" name="TextBox 75"/>
          <p:cNvSpPr txBox="1"/>
          <p:nvPr/>
        </p:nvSpPr>
        <p:spPr>
          <a:xfrm>
            <a:off x="4605493"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4"/>
          <a:stretch>
            <a:fillRect/>
          </a:stretch>
        </p:blipFill>
        <p:spPr>
          <a:xfrm>
            <a:off x="5464943" y="4437590"/>
            <a:ext cx="128699" cy="187198"/>
          </a:xfrm>
          <a:prstGeom prst="rect">
            <a:avLst/>
          </a:prstGeom>
        </p:spPr>
      </p:pic>
      <p:sp>
        <p:nvSpPr>
          <p:cNvPr id="78" name="TextBox 77"/>
          <p:cNvSpPr txBox="1"/>
          <p:nvPr/>
        </p:nvSpPr>
        <p:spPr>
          <a:xfrm>
            <a:off x="5632439"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79" name="TextBox 78"/>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North America market is projected to grow at a</a:t>
            </a:r>
          </a:p>
        </p:txBody>
      </p:sp>
      <p:sp>
        <p:nvSpPr>
          <p:cNvPr id="80" name="TextBox 79"/>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1" name="Picture 80" descr="lock.png"/>
          <p:cNvPicPr>
            <a:picLocks noChangeAspect="1"/>
          </p:cNvPicPr>
          <p:nvPr/>
        </p:nvPicPr>
        <p:blipFill>
          <a:blip r:embed="rId4"/>
          <a:stretch>
            <a:fillRect/>
          </a:stretch>
        </p:blipFill>
        <p:spPr>
          <a:xfrm>
            <a:off x="9048826" y="6007677"/>
            <a:ext cx="134549" cy="195707"/>
          </a:xfrm>
          <a:prstGeom prst="rect">
            <a:avLst/>
          </a:prstGeom>
        </p:spPr>
      </p:pic>
      <p:sp>
        <p:nvSpPr>
          <p:cNvPr id="82" name="TextBox 81"/>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volume share by country in 2026 and 2036, highlighting share gains and losses in basis points</a:t>
            </a:r>
          </a:p>
        </p:txBody>
      </p:sp>
      <p:sp>
        <p:nvSpPr>
          <p:cNvPr id="10" name="Rounded Rectangle 9"/>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2" name="Chart 11"/>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3" name="TextBox 12"/>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4" name="FMI Lock Anchor"/>
          <p:cNvSpPr txBox="1"/>
          <p:nvPr/>
        </p:nvSpPr>
        <p:spPr>
          <a:xfrm>
            <a:off x="2489835" y="3352800"/>
            <a:ext cx="38100" cy="38100"/>
          </a:xfrm>
          <a:prstGeom prst="rect">
            <a:avLst/>
          </a:prstGeom>
          <a:noFill/>
        </p:spPr>
        <p:txBody>
          <a:bodyPr wrap="none">
            <a:spAutoFit/>
          </a:bodyPr>
          <a:lstStyle/>
          <a:p/>
        </p:txBody>
      </p:sp>
      <p:sp>
        <p:nvSpPr>
          <p:cNvPr id="15" name="FMI Legend Chip"/>
          <p:cNvSpPr/>
          <p:nvPr/>
        </p:nvSpPr>
        <p:spPr>
          <a:xfrm>
            <a:off x="4551045" y="203258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4712970" y="202782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4855845" y="1951623"/>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8" name="BPS Value 1"/>
          <p:cNvSpPr txBox="1"/>
          <p:nvPr/>
        </p:nvSpPr>
        <p:spPr>
          <a:xfrm>
            <a:off x="6305550" y="201353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551045" y="3866148"/>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4712970" y="3861385"/>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4855845" y="3785185"/>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2" name="BPS Value 2"/>
          <p:cNvSpPr txBox="1"/>
          <p:nvPr/>
        </p:nvSpPr>
        <p:spPr>
          <a:xfrm>
            <a:off x="6305550" y="3847098"/>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Rounded Rectangle 22"/>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5" name="Rectangle 24"/>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7" name="Rounded Rectangle 26"/>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28" name="Rounded Rectangle 27"/>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2000" b="1">
                <a:solidFill>
                  <a:srgbClr val="0E72AE"/>
                </a:solidFill>
                <a:latin typeface="Calibri"/>
              </a:rPr>
              <a:t/>
            </a:r>
          </a:p>
        </p:txBody>
      </p:sp>
      <p:sp>
        <p:nvSpPr>
          <p:cNvPr id="29" name="Rounded Rectangle 28"/>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2368867" y="3171825"/>
            <a:ext cx="275034" cy="400050"/>
          </a:xfrm>
          <a:prstGeom prst="rect">
            <a:avLst/>
          </a:prstGeom>
        </p:spPr>
      </p:pic>
      <p:pic>
        <p:nvPicPr>
          <p:cNvPr id="32" name="Picture 31" descr="lock.png"/>
          <p:cNvPicPr>
            <a:picLocks noChangeAspect="1"/>
          </p:cNvPicPr>
          <p:nvPr/>
        </p:nvPicPr>
        <p:blipFill>
          <a:blip r:embed="rId5"/>
          <a:stretch>
            <a:fillRect/>
          </a:stretch>
        </p:blipFill>
        <p:spPr>
          <a:xfrm>
            <a:off x="10015537" y="6070282"/>
            <a:ext cx="209550" cy="304800"/>
          </a:xfrm>
          <a:prstGeom prst="rect">
            <a:avLst/>
          </a:prstGeom>
        </p:spPr>
      </p:pic>
      <p:sp>
        <p:nvSpPr>
          <p:cNvPr id="33" name="TextBox 32"/>
          <p:cNvSpPr txBox="1"/>
          <p:nvPr/>
        </p:nvSpPr>
        <p:spPr>
          <a:xfrm>
            <a:off x="7239000" y="1400175"/>
            <a:ext cx="2879104" cy="194310"/>
          </a:xfrm>
          <a:prstGeom prst="rect">
            <a:avLst/>
          </a:prstGeom>
          <a:noFill/>
        </p:spPr>
        <p:txBody>
          <a:bodyPr wrap="none" lIns="0" rIns="0" tIns="0" bIns="0">
            <a:spAutoFit/>
          </a:bodyPr>
          <a:lstStyle/>
          <a:p>
            <a:r>
              <a:rPr sz="1150" b="0">
                <a:solidFill>
                  <a:srgbClr val="2E2E2E"/>
                </a:solidFill>
                <a:latin typeface="Calibri"/>
              </a:rPr>
              <a:t>The U.S. matcha market is projected to register</a:t>
            </a:r>
          </a:p>
        </p:txBody>
      </p:sp>
      <p:pic>
        <p:nvPicPr>
          <p:cNvPr id="34" name="Picture 33" descr="lock.png"/>
          <p:cNvPicPr>
            <a:picLocks noChangeAspect="1"/>
          </p:cNvPicPr>
          <p:nvPr/>
        </p:nvPicPr>
        <p:blipFill>
          <a:blip r:embed="rId5"/>
          <a:stretch>
            <a:fillRect/>
          </a:stretch>
        </p:blipFill>
        <p:spPr>
          <a:xfrm>
            <a:off x="10067258" y="1389951"/>
            <a:ext cx="134549" cy="195707"/>
          </a:xfrm>
          <a:prstGeom prst="rect">
            <a:avLst/>
          </a:prstGeom>
        </p:spPr>
      </p:pic>
      <p:sp>
        <p:nvSpPr>
          <p:cNvPr id="35" name="TextBox 34"/>
          <p:cNvSpPr txBox="1"/>
          <p:nvPr/>
        </p:nvSpPr>
        <p:spPr>
          <a:xfrm>
            <a:off x="10242368" y="1400175"/>
            <a:ext cx="1346150" cy="194310"/>
          </a:xfrm>
          <a:prstGeom prst="rect">
            <a:avLst/>
          </a:prstGeom>
          <a:noFill/>
        </p:spPr>
        <p:txBody>
          <a:bodyPr wrap="none" lIns="0" rIns="0" tIns="0" bIns="0">
            <a:spAutoFit/>
          </a:bodyPr>
          <a:lstStyle/>
          <a:p>
            <a:r>
              <a:rPr sz="1150" b="0">
                <a:solidFill>
                  <a:srgbClr val="2E2E2E"/>
                </a:solidFill>
                <a:latin typeface="Calibri"/>
              </a:rPr>
              <a:t>X higher volume than</a:t>
            </a:r>
          </a:p>
        </p:txBody>
      </p:sp>
      <p:sp>
        <p:nvSpPr>
          <p:cNvPr id="36" name="TextBox 35"/>
          <p:cNvSpPr txBox="1"/>
          <p:nvPr/>
        </p:nvSpPr>
        <p:spPr>
          <a:xfrm>
            <a:off x="7239000" y="1575435"/>
            <a:ext cx="4648200" cy="194310"/>
          </a:xfrm>
          <a:prstGeom prst="rect">
            <a:avLst/>
          </a:prstGeom>
          <a:noFill/>
        </p:spPr>
        <p:txBody>
          <a:bodyPr wrap="none" lIns="0" rIns="0" tIns="0" bIns="0">
            <a:spAutoFit/>
          </a:bodyPr>
          <a:lstStyle/>
          <a:p>
            <a:r>
              <a:rPr sz="1150" b="0">
                <a:solidFill>
                  <a:srgbClr val="2E2E2E"/>
                </a:solidFill>
                <a:latin typeface="Calibri"/>
              </a:rPr>
              <a:t>Canada in 2036. Among matcha by country, Canada is expected to witness the</a:t>
            </a:r>
          </a:p>
        </p:txBody>
      </p:sp>
      <p:sp>
        <p:nvSpPr>
          <p:cNvPr id="37" name="TextBox 36"/>
          <p:cNvSpPr txBox="1"/>
          <p:nvPr/>
        </p:nvSpPr>
        <p:spPr>
          <a:xfrm>
            <a:off x="723900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38" name="Picture 37" descr="lock.png"/>
          <p:cNvPicPr>
            <a:picLocks noChangeAspect="1"/>
          </p:cNvPicPr>
          <p:nvPr/>
        </p:nvPicPr>
        <p:blipFill>
          <a:blip r:embed="rId5"/>
          <a:stretch>
            <a:fillRect/>
          </a:stretch>
        </p:blipFill>
        <p:spPr>
          <a:xfrm>
            <a:off x="8220507" y="1740471"/>
            <a:ext cx="134549" cy="195707"/>
          </a:xfrm>
          <a:prstGeom prst="rect">
            <a:avLst/>
          </a:prstGeom>
        </p:spPr>
      </p:pic>
      <p:sp>
        <p:nvSpPr>
          <p:cNvPr id="39" name="TextBox 38"/>
          <p:cNvSpPr txBox="1"/>
          <p:nvPr/>
        </p:nvSpPr>
        <p:spPr>
          <a:xfrm>
            <a:off x="8395616"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0" name="TextBox 39"/>
          <p:cNvSpPr txBox="1"/>
          <p:nvPr/>
        </p:nvSpPr>
        <p:spPr>
          <a:xfrm>
            <a:off x="7239000" y="1978533"/>
            <a:ext cx="4231493"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a:t>
            </a:r>
          </a:p>
        </p:txBody>
      </p:sp>
      <p:sp>
        <p:nvSpPr>
          <p:cNvPr id="41" name="TextBox 40"/>
          <p:cNvSpPr txBox="1"/>
          <p:nvPr/>
        </p:nvSpPr>
        <p:spPr>
          <a:xfrm>
            <a:off x="7239000" y="2153793"/>
            <a:ext cx="918554" cy="194310"/>
          </a:xfrm>
          <a:prstGeom prst="rect">
            <a:avLst/>
          </a:prstGeom>
          <a:noFill/>
        </p:spPr>
        <p:txBody>
          <a:bodyPr wrap="none" lIns="0" rIns="0" tIns="0" bIns="0">
            <a:spAutoFit/>
          </a:bodyPr>
          <a:lstStyle/>
          <a:p>
            <a:r>
              <a:rPr sz="1150" b="0">
                <a:solidFill>
                  <a:srgbClr val="2E2E2E"/>
                </a:solidFill>
                <a:latin typeface="Calibri"/>
              </a:rPr>
              <a:t>market, losing</a:t>
            </a:r>
          </a:p>
        </p:txBody>
      </p:sp>
      <p:pic>
        <p:nvPicPr>
          <p:cNvPr id="42" name="Picture 41" descr="lock.png"/>
          <p:cNvPicPr>
            <a:picLocks noChangeAspect="1"/>
          </p:cNvPicPr>
          <p:nvPr/>
        </p:nvPicPr>
        <p:blipFill>
          <a:blip r:embed="rId5"/>
          <a:stretch>
            <a:fillRect/>
          </a:stretch>
        </p:blipFill>
        <p:spPr>
          <a:xfrm>
            <a:off x="8106708" y="2143569"/>
            <a:ext cx="134549" cy="195707"/>
          </a:xfrm>
          <a:prstGeom prst="rect">
            <a:avLst/>
          </a:prstGeom>
        </p:spPr>
      </p:pic>
      <p:sp>
        <p:nvSpPr>
          <p:cNvPr id="43" name="TextBox 42"/>
          <p:cNvSpPr txBox="1"/>
          <p:nvPr/>
        </p:nvSpPr>
        <p:spPr>
          <a:xfrm>
            <a:off x="8281817" y="215379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4" name="Picture 43" descr="lock.png"/>
          <p:cNvPicPr>
            <a:picLocks noChangeAspect="1"/>
          </p:cNvPicPr>
          <p:nvPr/>
        </p:nvPicPr>
        <p:blipFill>
          <a:blip r:embed="rId5"/>
          <a:stretch>
            <a:fillRect/>
          </a:stretch>
        </p:blipFill>
        <p:spPr>
          <a:xfrm>
            <a:off x="9676961" y="2143569"/>
            <a:ext cx="134549" cy="195707"/>
          </a:xfrm>
          <a:prstGeom prst="rect">
            <a:avLst/>
          </a:prstGeom>
        </p:spPr>
      </p:pic>
      <p:sp>
        <p:nvSpPr>
          <p:cNvPr id="45" name="TextBox 44"/>
          <p:cNvSpPr txBox="1"/>
          <p:nvPr/>
        </p:nvSpPr>
        <p:spPr>
          <a:xfrm>
            <a:off x="9852070"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6" name="TextBox 45"/>
          <p:cNvSpPr txBox="1"/>
          <p:nvPr/>
        </p:nvSpPr>
        <p:spPr>
          <a:xfrm>
            <a:off x="1613208" y="5877496"/>
            <a:ext cx="1078882" cy="186689"/>
          </a:xfrm>
          <a:prstGeom prst="rect">
            <a:avLst/>
          </a:prstGeom>
          <a:noFill/>
        </p:spPr>
        <p:txBody>
          <a:bodyPr wrap="none" lIns="0" rIns="0" tIns="0" bIns="0">
            <a:spAutoFit/>
          </a:bodyPr>
          <a:lstStyle/>
          <a:p>
            <a:r>
              <a:rPr sz="1100" b="1">
                <a:solidFill>
                  <a:srgbClr val="6C7A89"/>
                </a:solidFill>
                <a:latin typeface="Calibri"/>
              </a:rPr>
              <a:t>2026 TOTAL (MT)</a:t>
            </a:r>
          </a:p>
        </p:txBody>
      </p:sp>
      <p:pic>
        <p:nvPicPr>
          <p:cNvPr id="47" name="Picture 46" descr="lock.png"/>
          <p:cNvPicPr>
            <a:picLocks noChangeAspect="1"/>
          </p:cNvPicPr>
          <p:nvPr/>
        </p:nvPicPr>
        <p:blipFill>
          <a:blip r:embed="rId5"/>
          <a:stretch>
            <a:fillRect/>
          </a:stretch>
        </p:blipFill>
        <p:spPr>
          <a:xfrm>
            <a:off x="1984327" y="6077648"/>
            <a:ext cx="233998" cy="340360"/>
          </a:xfrm>
          <a:prstGeom prst="rect">
            <a:avLst/>
          </a:prstGeom>
        </p:spPr>
      </p:pic>
      <p:sp>
        <p:nvSpPr>
          <p:cNvPr id="48" name="TextBox 47"/>
          <p:cNvSpPr txBox="1"/>
          <p:nvPr/>
        </p:nvSpPr>
        <p:spPr>
          <a:xfrm>
            <a:off x="5647046" y="5877496"/>
            <a:ext cx="1078882" cy="186689"/>
          </a:xfrm>
          <a:prstGeom prst="rect">
            <a:avLst/>
          </a:prstGeom>
          <a:noFill/>
        </p:spPr>
        <p:txBody>
          <a:bodyPr wrap="none" lIns="0" rIns="0" tIns="0" bIns="0">
            <a:spAutoFit/>
          </a:bodyPr>
          <a:lstStyle/>
          <a:p>
            <a:r>
              <a:rPr sz="1100" b="1">
                <a:solidFill>
                  <a:srgbClr val="6C7A89"/>
                </a:solidFill>
                <a:latin typeface="Calibri"/>
              </a:rPr>
              <a:t>2036 TOTAL (MT)</a:t>
            </a:r>
          </a:p>
        </p:txBody>
      </p:sp>
      <p:pic>
        <p:nvPicPr>
          <p:cNvPr id="49" name="Picture 48" descr="lock.png"/>
          <p:cNvPicPr>
            <a:picLocks noChangeAspect="1"/>
          </p:cNvPicPr>
          <p:nvPr/>
        </p:nvPicPr>
        <p:blipFill>
          <a:blip r:embed="rId5"/>
          <a:stretch>
            <a:fillRect/>
          </a:stretch>
        </p:blipFill>
        <p:spPr>
          <a:xfrm>
            <a:off x="6018165" y="6077648"/>
            <a:ext cx="233998" cy="340360"/>
          </a:xfrm>
          <a:prstGeom prst="rect">
            <a:avLst/>
          </a:prstGeom>
        </p:spPr>
      </p:pic>
      <p:sp>
        <p:nvSpPr>
          <p:cNvPr id="50" name="lockshield_12"/>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country in 2026 and 2036, highlighting share gains and losses in basis points</a:t>
            </a:r>
          </a:p>
        </p:txBody>
      </p:sp>
      <p:sp>
        <p:nvSpPr>
          <p:cNvPr id="10" name="Rounded Rectangle 9"/>
          <p:cNvSpPr/>
          <p:nvPr/>
        </p:nvSpPr>
        <p:spPr>
          <a:xfrm>
            <a:off x="142875" y="981075"/>
            <a:ext cx="6810375"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6198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Share and BPS Assessment By Country, 2026 &amp; 2036</a:t>
            </a:r>
          </a:p>
        </p:txBody>
      </p:sp>
      <p:graphicFrame>
        <p:nvGraphicFramePr>
          <p:cNvPr id="12" name="Chart 11"/>
          <p:cNvGraphicFramePr>
            <a:graphicFrameLocks noGrp="1"/>
          </p:cNvGraphicFramePr>
          <p:nvPr/>
        </p:nvGraphicFramePr>
        <p:xfrm>
          <a:off x="238125" y="1409700"/>
          <a:ext cx="4236720" cy="4048125"/>
        </p:xfrm>
        <a:graphic>
          <a:graphicData uri="http://schemas.openxmlformats.org/drawingml/2006/chart">
            <c:chart xmlns:c="http://schemas.openxmlformats.org/drawingml/2006/chart" r:id="rId3"/>
          </a:graphicData>
        </a:graphic>
      </p:graphicFrame>
      <p:sp>
        <p:nvSpPr>
          <p:cNvPr id="13" name="TextBox 12"/>
          <p:cNvSpPr txBox="1"/>
          <p:nvPr/>
        </p:nvSpPr>
        <p:spPr>
          <a:xfrm>
            <a:off x="4474845" y="1419225"/>
            <a:ext cx="2383155" cy="133350"/>
          </a:xfrm>
          <a:prstGeom prst="rect">
            <a:avLst/>
          </a:prstGeom>
          <a:noFill/>
        </p:spPr>
        <p:txBody>
          <a:bodyPr wrap="square" lIns="28575" rIns="28575" tIns="9525" bIns="9525" anchor="ctr">
            <a:spAutoFit/>
          </a:bodyPr>
          <a:lstStyle/>
          <a:p>
            <a:pPr algn="ctr"/>
            <a:r>
              <a:rPr sz="1300" b="1">
                <a:solidFill>
                  <a:srgbClr val="0E72AE"/>
                </a:solidFill>
                <a:latin typeface="Calibri"/>
              </a:rPr>
              <a:t>BPS Δ  (2026→2036)</a:t>
            </a:r>
          </a:p>
        </p:txBody>
      </p:sp>
      <p:sp>
        <p:nvSpPr>
          <p:cNvPr id="14" name="FMI Lock Anchor"/>
          <p:cNvSpPr txBox="1"/>
          <p:nvPr/>
        </p:nvSpPr>
        <p:spPr>
          <a:xfrm>
            <a:off x="2489835" y="3352800"/>
            <a:ext cx="38100" cy="38100"/>
          </a:xfrm>
          <a:prstGeom prst="rect">
            <a:avLst/>
          </a:prstGeom>
          <a:noFill/>
        </p:spPr>
        <p:txBody>
          <a:bodyPr wrap="none">
            <a:spAutoFit/>
          </a:bodyPr>
          <a:lstStyle/>
          <a:p/>
        </p:txBody>
      </p:sp>
      <p:sp>
        <p:nvSpPr>
          <p:cNvPr id="15" name="FMI Legend Chip"/>
          <p:cNvSpPr/>
          <p:nvPr/>
        </p:nvSpPr>
        <p:spPr>
          <a:xfrm>
            <a:off x="4551045" y="20593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4712970" y="20546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4855845" y="1978401"/>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Canada</a:t>
            </a:r>
          </a:p>
        </p:txBody>
      </p:sp>
      <p:sp>
        <p:nvSpPr>
          <p:cNvPr id="18" name="BPS Value 1"/>
          <p:cNvSpPr txBox="1"/>
          <p:nvPr/>
        </p:nvSpPr>
        <p:spPr>
          <a:xfrm>
            <a:off x="6305550" y="20403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551045" y="3892926"/>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4712970" y="388816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4855845" y="3811964"/>
            <a:ext cx="1316355" cy="247650"/>
          </a:xfrm>
          <a:prstGeom prst="rect">
            <a:avLst/>
          </a:prstGeom>
          <a:noFill/>
        </p:spPr>
        <p:txBody>
          <a:bodyPr wrap="square" lIns="19050" rIns="19050" tIns="0" bIns="0" anchor="ctr">
            <a:spAutoFit/>
          </a:bodyPr>
          <a:lstStyle/>
          <a:p>
            <a:pPr algn="l"/>
            <a:r>
              <a:rPr sz="900" b="0">
                <a:solidFill>
                  <a:srgbClr val="2E2E2E"/>
                </a:solidFill>
                <a:latin typeface="Calibri"/>
              </a:rPr>
              <a:t>U.S.</a:t>
            </a:r>
          </a:p>
        </p:txBody>
      </p:sp>
      <p:sp>
        <p:nvSpPr>
          <p:cNvPr id="22" name="BPS Value 2"/>
          <p:cNvSpPr txBox="1"/>
          <p:nvPr/>
        </p:nvSpPr>
        <p:spPr>
          <a:xfrm>
            <a:off x="6305550" y="387387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Rounded Rectangle 22"/>
          <p:cNvSpPr/>
          <p:nvPr/>
        </p:nvSpPr>
        <p:spPr>
          <a:xfrm>
            <a:off x="7105650" y="981075"/>
            <a:ext cx="4933950" cy="4533900"/>
          </a:xfrm>
          <a:prstGeom prst="roundRect">
            <a:avLst>
              <a:gd name="adj" fmla="val 16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7239000" y="1066800"/>
            <a:ext cx="4667250" cy="209550"/>
          </a:xfrm>
          <a:prstGeom prst="rect">
            <a:avLst/>
          </a:prstGeom>
          <a:noFill/>
        </p:spPr>
        <p:txBody>
          <a:bodyPr wrap="square" lIns="0" rIns="19050" tIns="9525" bIns="9525">
            <a:spAutoFit/>
          </a:bodyPr>
          <a:lstStyle/>
          <a:p>
            <a:pPr algn="l"/>
            <a:r>
              <a:rPr sz="1300" b="1">
                <a:solidFill>
                  <a:srgbClr val="0B2E4A"/>
                </a:solidFill>
                <a:latin typeface="Calibri"/>
              </a:rPr>
              <a:t>Regional Highlights</a:t>
            </a:r>
          </a:p>
        </p:txBody>
      </p:sp>
      <p:sp>
        <p:nvSpPr>
          <p:cNvPr id="25" name="Rectangle 24"/>
          <p:cNvSpPr/>
          <p:nvPr/>
        </p:nvSpPr>
        <p:spPr>
          <a:xfrm>
            <a:off x="7239000" y="1304925"/>
            <a:ext cx="46672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7239000" y="1390650"/>
            <a:ext cx="4667250" cy="40481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7" name="Rounded Rectangle 26"/>
          <p:cNvSpPr/>
          <p:nvPr/>
        </p:nvSpPr>
        <p:spPr>
          <a:xfrm>
            <a:off x="142875" y="5648325"/>
            <a:ext cx="3943350"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2026 TOTAL (US$ MN)</a:t>
            </a:r>
          </a:p>
          <a:p>
            <a:pPr algn="ctr">
              <a:lnSpc>
                <a:spcPct val="95000"/>
              </a:lnSpc>
            </a:pPr>
            <a:r>
              <a:rPr sz="2000" b="1">
                <a:solidFill>
                  <a:srgbClr val="0E72AE"/>
                </a:solidFill>
                <a:latin typeface="Calibri"/>
              </a:rPr>
              <a:t> </a:t>
            </a:r>
          </a:p>
        </p:txBody>
      </p:sp>
      <p:sp>
        <p:nvSpPr>
          <p:cNvPr id="28" name="Rounded Rectangle 27"/>
          <p:cNvSpPr/>
          <p:nvPr/>
        </p:nvSpPr>
        <p:spPr>
          <a:xfrm>
            <a:off x="4238625"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TOTAL (US$ MN)</a:t>
            </a:r>
          </a:p>
          <a:p>
            <a:pPr algn="ctr">
              <a:lnSpc>
                <a:spcPct val="95000"/>
              </a:lnSpc>
            </a:pPr>
            <a:r>
              <a:rPr sz="2000" b="1">
                <a:solidFill>
                  <a:srgbClr val="0E72AE"/>
                </a:solidFill>
                <a:latin typeface="Calibri"/>
              </a:rPr>
              <a:t> </a:t>
            </a:r>
          </a:p>
        </p:txBody>
      </p:sp>
      <p:sp>
        <p:nvSpPr>
          <p:cNvPr id="29" name="Rounded Rectangle 28"/>
          <p:cNvSpPr/>
          <p:nvPr/>
        </p:nvSpPr>
        <p:spPr>
          <a:xfrm>
            <a:off x="8210550" y="5648325"/>
            <a:ext cx="3819525" cy="981075"/>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CAGR (2026–2036)</a:t>
            </a:r>
          </a:p>
          <a:p>
            <a:pPr algn="ctr">
              <a:lnSpc>
                <a:spcPct val="95000"/>
              </a:lnSpc>
            </a:pPr>
            <a:r>
              <a:rPr sz="2000" b="1">
                <a:solidFill>
                  <a:srgbClr val="0E72AE"/>
                </a:solidFill>
                <a:latin typeface="Calibri"/>
              </a:rPr>
              <a:t>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5"/>
          <a:stretch>
            <a:fillRect/>
          </a:stretch>
        </p:blipFill>
        <p:spPr>
          <a:xfrm>
            <a:off x="2368867" y="3171825"/>
            <a:ext cx="275034" cy="400050"/>
          </a:xfrm>
          <a:prstGeom prst="rect">
            <a:avLst/>
          </a:prstGeom>
        </p:spPr>
      </p:pic>
      <p:pic>
        <p:nvPicPr>
          <p:cNvPr id="32" name="Picture 31" descr="lock.png"/>
          <p:cNvPicPr>
            <a:picLocks noChangeAspect="1"/>
          </p:cNvPicPr>
          <p:nvPr/>
        </p:nvPicPr>
        <p:blipFill>
          <a:blip r:embed="rId5"/>
          <a:stretch>
            <a:fillRect/>
          </a:stretch>
        </p:blipFill>
        <p:spPr>
          <a:xfrm>
            <a:off x="2009775" y="6070282"/>
            <a:ext cx="209550" cy="304800"/>
          </a:xfrm>
          <a:prstGeom prst="rect">
            <a:avLst/>
          </a:prstGeom>
        </p:spPr>
      </p:pic>
      <p:pic>
        <p:nvPicPr>
          <p:cNvPr id="33" name="Picture 32" descr="lock.png"/>
          <p:cNvPicPr>
            <a:picLocks noChangeAspect="1"/>
          </p:cNvPicPr>
          <p:nvPr/>
        </p:nvPicPr>
        <p:blipFill>
          <a:blip r:embed="rId5"/>
          <a:stretch>
            <a:fillRect/>
          </a:stretch>
        </p:blipFill>
        <p:spPr>
          <a:xfrm>
            <a:off x="6043612" y="6070282"/>
            <a:ext cx="209550" cy="304800"/>
          </a:xfrm>
          <a:prstGeom prst="rect">
            <a:avLst/>
          </a:prstGeom>
        </p:spPr>
      </p:pic>
      <p:pic>
        <p:nvPicPr>
          <p:cNvPr id="34" name="Picture 33" descr="lock.png"/>
          <p:cNvPicPr>
            <a:picLocks noChangeAspect="1"/>
          </p:cNvPicPr>
          <p:nvPr/>
        </p:nvPicPr>
        <p:blipFill>
          <a:blip r:embed="rId5"/>
          <a:stretch>
            <a:fillRect/>
          </a:stretch>
        </p:blipFill>
        <p:spPr>
          <a:xfrm>
            <a:off x="10015537" y="6070282"/>
            <a:ext cx="209550" cy="304800"/>
          </a:xfrm>
          <a:prstGeom prst="rect">
            <a:avLst/>
          </a:prstGeom>
        </p:spPr>
      </p:pic>
      <p:sp>
        <p:nvSpPr>
          <p:cNvPr id="35" name="TextBox 34"/>
          <p:cNvSpPr txBox="1"/>
          <p:nvPr/>
        </p:nvSpPr>
        <p:spPr>
          <a:xfrm>
            <a:off x="7239000" y="1400175"/>
            <a:ext cx="2879104" cy="194310"/>
          </a:xfrm>
          <a:prstGeom prst="rect">
            <a:avLst/>
          </a:prstGeom>
          <a:noFill/>
        </p:spPr>
        <p:txBody>
          <a:bodyPr wrap="none" lIns="0" rIns="0" tIns="0" bIns="0">
            <a:spAutoFit/>
          </a:bodyPr>
          <a:lstStyle/>
          <a:p>
            <a:r>
              <a:rPr sz="1150" b="0">
                <a:solidFill>
                  <a:srgbClr val="2E2E2E"/>
                </a:solidFill>
                <a:latin typeface="Calibri"/>
              </a:rPr>
              <a:t>The U.S. matcha market is projected to register</a:t>
            </a:r>
          </a:p>
        </p:txBody>
      </p:sp>
      <p:pic>
        <p:nvPicPr>
          <p:cNvPr id="36" name="Picture 35" descr="lock.png"/>
          <p:cNvPicPr>
            <a:picLocks noChangeAspect="1"/>
          </p:cNvPicPr>
          <p:nvPr/>
        </p:nvPicPr>
        <p:blipFill>
          <a:blip r:embed="rId5"/>
          <a:stretch>
            <a:fillRect/>
          </a:stretch>
        </p:blipFill>
        <p:spPr>
          <a:xfrm>
            <a:off x="10067258" y="1389951"/>
            <a:ext cx="134549" cy="195707"/>
          </a:xfrm>
          <a:prstGeom prst="rect">
            <a:avLst/>
          </a:prstGeom>
        </p:spPr>
      </p:pic>
      <p:sp>
        <p:nvSpPr>
          <p:cNvPr id="37" name="TextBox 36"/>
          <p:cNvSpPr txBox="1"/>
          <p:nvPr/>
        </p:nvSpPr>
        <p:spPr>
          <a:xfrm>
            <a:off x="10242368" y="1400175"/>
            <a:ext cx="1222350" cy="194310"/>
          </a:xfrm>
          <a:prstGeom prst="rect">
            <a:avLst/>
          </a:prstGeom>
          <a:noFill/>
        </p:spPr>
        <p:txBody>
          <a:bodyPr wrap="none" lIns="0" rIns="0" tIns="0" bIns="0">
            <a:spAutoFit/>
          </a:bodyPr>
          <a:lstStyle/>
          <a:p>
            <a:r>
              <a:rPr sz="1150" b="0">
                <a:solidFill>
                  <a:srgbClr val="2E2E2E"/>
                </a:solidFill>
                <a:latin typeface="Calibri"/>
              </a:rPr>
              <a:t>X higher value than</a:t>
            </a:r>
          </a:p>
        </p:txBody>
      </p:sp>
      <p:sp>
        <p:nvSpPr>
          <p:cNvPr id="38" name="TextBox 37"/>
          <p:cNvSpPr txBox="1"/>
          <p:nvPr/>
        </p:nvSpPr>
        <p:spPr>
          <a:xfrm>
            <a:off x="7239000" y="1575435"/>
            <a:ext cx="4648200" cy="194310"/>
          </a:xfrm>
          <a:prstGeom prst="rect">
            <a:avLst/>
          </a:prstGeom>
          <a:noFill/>
        </p:spPr>
        <p:txBody>
          <a:bodyPr wrap="none" lIns="0" rIns="0" tIns="0" bIns="0">
            <a:spAutoFit/>
          </a:bodyPr>
          <a:lstStyle/>
          <a:p>
            <a:r>
              <a:rPr sz="1150" b="0">
                <a:solidFill>
                  <a:srgbClr val="2E2E2E"/>
                </a:solidFill>
                <a:latin typeface="Calibri"/>
              </a:rPr>
              <a:t>Canada in 2036. Among matcha by country, Canada is expected to witness the</a:t>
            </a:r>
          </a:p>
        </p:txBody>
      </p:sp>
      <p:sp>
        <p:nvSpPr>
          <p:cNvPr id="39" name="TextBox 38"/>
          <p:cNvSpPr txBox="1"/>
          <p:nvPr/>
        </p:nvSpPr>
        <p:spPr>
          <a:xfrm>
            <a:off x="7239000" y="175069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0" name="Picture 39" descr="lock.png"/>
          <p:cNvPicPr>
            <a:picLocks noChangeAspect="1"/>
          </p:cNvPicPr>
          <p:nvPr/>
        </p:nvPicPr>
        <p:blipFill>
          <a:blip r:embed="rId5"/>
          <a:stretch>
            <a:fillRect/>
          </a:stretch>
        </p:blipFill>
        <p:spPr>
          <a:xfrm>
            <a:off x="8220507" y="1740471"/>
            <a:ext cx="134549" cy="195707"/>
          </a:xfrm>
          <a:prstGeom prst="rect">
            <a:avLst/>
          </a:prstGeom>
        </p:spPr>
      </p:pic>
      <p:sp>
        <p:nvSpPr>
          <p:cNvPr id="41" name="TextBox 40"/>
          <p:cNvSpPr txBox="1"/>
          <p:nvPr/>
        </p:nvSpPr>
        <p:spPr>
          <a:xfrm>
            <a:off x="8395616" y="175069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42" name="TextBox 41"/>
          <p:cNvSpPr txBox="1"/>
          <p:nvPr/>
        </p:nvSpPr>
        <p:spPr>
          <a:xfrm>
            <a:off x="7239000" y="1978533"/>
            <a:ext cx="4603179"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a:t>
            </a:r>
          </a:p>
        </p:txBody>
      </p:sp>
      <p:sp>
        <p:nvSpPr>
          <p:cNvPr id="43" name="TextBox 42"/>
          <p:cNvSpPr txBox="1"/>
          <p:nvPr/>
        </p:nvSpPr>
        <p:spPr>
          <a:xfrm>
            <a:off x="7239000" y="2153793"/>
            <a:ext cx="423068" cy="194310"/>
          </a:xfrm>
          <a:prstGeom prst="rect">
            <a:avLst/>
          </a:prstGeom>
          <a:noFill/>
        </p:spPr>
        <p:txBody>
          <a:bodyPr wrap="none" lIns="0" rIns="0" tIns="0" bIns="0">
            <a:spAutoFit/>
          </a:bodyPr>
          <a:lstStyle/>
          <a:p>
            <a:r>
              <a:rPr sz="1150" b="0">
                <a:solidFill>
                  <a:srgbClr val="2E2E2E"/>
                </a:solidFill>
                <a:latin typeface="Calibri"/>
              </a:rPr>
              <a:t>losing</a:t>
            </a:r>
          </a:p>
        </p:txBody>
      </p:sp>
      <p:pic>
        <p:nvPicPr>
          <p:cNvPr id="44" name="Picture 43" descr="lock.png"/>
          <p:cNvPicPr>
            <a:picLocks noChangeAspect="1"/>
          </p:cNvPicPr>
          <p:nvPr/>
        </p:nvPicPr>
        <p:blipFill>
          <a:blip r:embed="rId5"/>
          <a:stretch>
            <a:fillRect/>
          </a:stretch>
        </p:blipFill>
        <p:spPr>
          <a:xfrm>
            <a:off x="7611222" y="2143569"/>
            <a:ext cx="134549" cy="195707"/>
          </a:xfrm>
          <a:prstGeom prst="rect">
            <a:avLst/>
          </a:prstGeom>
        </p:spPr>
      </p:pic>
      <p:sp>
        <p:nvSpPr>
          <p:cNvPr id="45" name="TextBox 44"/>
          <p:cNvSpPr txBox="1"/>
          <p:nvPr/>
        </p:nvSpPr>
        <p:spPr>
          <a:xfrm>
            <a:off x="7786331" y="215379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46" name="Picture 45" descr="lock.png"/>
          <p:cNvPicPr>
            <a:picLocks noChangeAspect="1"/>
          </p:cNvPicPr>
          <p:nvPr/>
        </p:nvPicPr>
        <p:blipFill>
          <a:blip r:embed="rId5"/>
          <a:stretch>
            <a:fillRect/>
          </a:stretch>
        </p:blipFill>
        <p:spPr>
          <a:xfrm>
            <a:off x="9181475" y="2143569"/>
            <a:ext cx="134549" cy="195707"/>
          </a:xfrm>
          <a:prstGeom prst="rect">
            <a:avLst/>
          </a:prstGeom>
        </p:spPr>
      </p:pic>
      <p:sp>
        <p:nvSpPr>
          <p:cNvPr id="47" name="TextBox 46"/>
          <p:cNvSpPr txBox="1"/>
          <p:nvPr/>
        </p:nvSpPr>
        <p:spPr>
          <a:xfrm>
            <a:off x="9356584"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8" name="lockshield_12"/>
          <p:cNvSpPr/>
          <p:nvPr/>
        </p:nvSpPr>
        <p:spPr>
          <a:xfrm>
            <a:off x="238125" y="1409700"/>
            <a:ext cx="4236720" cy="40481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Share Analysis, By Country Volume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share by country, 2021–2036, highlighting the geographies gaining and ceding ground</a:t>
            </a:r>
          </a:p>
        </p:txBody>
      </p:sp>
      <p:sp>
        <p:nvSpPr>
          <p:cNvPr id="10" name="Rounded Rectangle 9"/>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(MT)</a:t>
            </a:r>
          </a:p>
        </p:txBody>
      </p:sp>
      <p:graphicFrame>
        <p:nvGraphicFramePr>
          <p:cNvPr id="12" name="Table 11"/>
          <p:cNvGraphicFramePr>
            <a:graphicFrameLocks noGrp="1"/>
          </p:cNvGraphicFramePr>
          <p:nvPr/>
        </p:nvGraphicFramePr>
        <p:xfrm>
          <a:off x="152400" y="1238250"/>
          <a:ext cx="11887205" cy="990600"/>
        </p:xfrm>
        <a:graphic>
          <a:graphicData uri="http://schemas.openxmlformats.org/drawingml/2006/table">
            <a:tbl>
              <a:tblPr>
                <a:tableStyleId>{5C22544A-7EE6-4342-B048-85BDC9FD1C3A}</a:tableStyleId>
              </a:tblPr>
              <a:tblGrid>
                <a:gridCol w="663023"/>
                <a:gridCol w="660246"/>
                <a:gridCol w="660246"/>
                <a:gridCol w="660246"/>
                <a:gridCol w="660246"/>
                <a:gridCol w="660246"/>
                <a:gridCol w="660246"/>
                <a:gridCol w="660246"/>
                <a:gridCol w="660246"/>
                <a:gridCol w="660246"/>
                <a:gridCol w="660246"/>
                <a:gridCol w="660246"/>
                <a:gridCol w="660246"/>
                <a:gridCol w="660246"/>
                <a:gridCol w="660246"/>
                <a:gridCol w="660246"/>
                <a:gridCol w="660246"/>
                <a:gridCol w="660246"/>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Volume Share Read-out, By Country</a:t>
            </a:r>
          </a:p>
        </p:txBody>
      </p:sp>
      <p:sp>
        <p:nvSpPr>
          <p:cNvPr id="16" name="Rectangle 15"/>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240824" y="1589913"/>
            <a:ext cx="366712" cy="533400"/>
          </a:xfrm>
          <a:prstGeom prst="rect">
            <a:avLst/>
          </a:prstGeom>
        </p:spPr>
      </p:pic>
      <p:sp>
        <p:nvSpPr>
          <p:cNvPr id="20" name="TextBox 19"/>
          <p:cNvSpPr txBox="1"/>
          <p:nvPr/>
        </p:nvSpPr>
        <p:spPr>
          <a:xfrm>
            <a:off x="276225" y="2990850"/>
            <a:ext cx="2879104" cy="194310"/>
          </a:xfrm>
          <a:prstGeom prst="rect">
            <a:avLst/>
          </a:prstGeom>
          <a:noFill/>
        </p:spPr>
        <p:txBody>
          <a:bodyPr wrap="none" lIns="0" rIns="0" tIns="0" bIns="0">
            <a:spAutoFit/>
          </a:bodyPr>
          <a:lstStyle/>
          <a:p>
            <a:r>
              <a:rPr sz="1150" b="0">
                <a:solidFill>
                  <a:srgbClr val="2E2E2E"/>
                </a:solidFill>
                <a:latin typeface="Calibri"/>
              </a:rPr>
              <a:t>The U.S. matcha market is projected to register</a:t>
            </a:r>
          </a:p>
        </p:txBody>
      </p:sp>
      <p:pic>
        <p:nvPicPr>
          <p:cNvPr id="21" name="Picture 20" descr="lock.png"/>
          <p:cNvPicPr>
            <a:picLocks noChangeAspect="1"/>
          </p:cNvPicPr>
          <p:nvPr/>
        </p:nvPicPr>
        <p:blipFill>
          <a:blip r:embed="rId4"/>
          <a:stretch>
            <a:fillRect/>
          </a:stretch>
        </p:blipFill>
        <p:spPr>
          <a:xfrm>
            <a:off x="3104483" y="2980626"/>
            <a:ext cx="134549" cy="195707"/>
          </a:xfrm>
          <a:prstGeom prst="rect">
            <a:avLst/>
          </a:prstGeom>
        </p:spPr>
      </p:pic>
      <p:sp>
        <p:nvSpPr>
          <p:cNvPr id="22" name="TextBox 21"/>
          <p:cNvSpPr txBox="1"/>
          <p:nvPr/>
        </p:nvSpPr>
        <p:spPr>
          <a:xfrm>
            <a:off x="3279593" y="2990850"/>
            <a:ext cx="7009278" cy="194310"/>
          </a:xfrm>
          <a:prstGeom prst="rect">
            <a:avLst/>
          </a:prstGeom>
          <a:noFill/>
        </p:spPr>
        <p:txBody>
          <a:bodyPr wrap="none" lIns="0" rIns="0" tIns="0" bIns="0">
            <a:spAutoFit/>
          </a:bodyPr>
          <a:lstStyle/>
          <a:p>
            <a:r>
              <a:rPr sz="1150" b="0">
                <a:solidFill>
                  <a:srgbClr val="2E2E2E"/>
                </a:solidFill>
                <a:latin typeface="Calibri"/>
              </a:rPr>
              <a:t>X higher volume than Canada in 2036. Among matcha by country, Canada is expected to witness the highest CAGR of</a:t>
            </a:r>
          </a:p>
        </p:txBody>
      </p:sp>
      <p:pic>
        <p:nvPicPr>
          <p:cNvPr id="23" name="Picture 22" descr="lock.png"/>
          <p:cNvPicPr>
            <a:picLocks noChangeAspect="1"/>
          </p:cNvPicPr>
          <p:nvPr/>
        </p:nvPicPr>
        <p:blipFill>
          <a:blip r:embed="rId4"/>
          <a:stretch>
            <a:fillRect/>
          </a:stretch>
        </p:blipFill>
        <p:spPr>
          <a:xfrm>
            <a:off x="10238025" y="2980626"/>
            <a:ext cx="134549" cy="195707"/>
          </a:xfrm>
          <a:prstGeom prst="rect">
            <a:avLst/>
          </a:prstGeom>
        </p:spPr>
      </p:pic>
      <p:sp>
        <p:nvSpPr>
          <p:cNvPr id="24" name="TextBox 23"/>
          <p:cNvSpPr txBox="1"/>
          <p:nvPr/>
        </p:nvSpPr>
        <p:spPr>
          <a:xfrm>
            <a:off x="10413134" y="2990850"/>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25" name="TextBox 24"/>
          <p:cNvSpPr txBox="1"/>
          <p:nvPr/>
        </p:nvSpPr>
        <p:spPr>
          <a:xfrm>
            <a:off x="276225" y="3166110"/>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26" name="TextBox 25"/>
          <p:cNvSpPr txBox="1"/>
          <p:nvPr/>
        </p:nvSpPr>
        <p:spPr>
          <a:xfrm>
            <a:off x="276225" y="3393947"/>
            <a:ext cx="5106937" cy="194310"/>
          </a:xfrm>
          <a:prstGeom prst="rect">
            <a:avLst/>
          </a:prstGeom>
          <a:noFill/>
        </p:spPr>
        <p:txBody>
          <a:bodyPr wrap="none" lIns="0" rIns="0" tIns="0" bIns="0">
            <a:spAutoFit/>
          </a:bodyPr>
          <a:lstStyle/>
          <a:p>
            <a:r>
              <a:rPr sz="1150" b="0">
                <a:solidFill>
                  <a:srgbClr val="2E2E2E"/>
                </a:solidFill>
                <a:latin typeface="Calibri"/>
              </a:rPr>
              <a:t>In terms of volume share by country, U.S. is expected to dominate the market, losing</a:t>
            </a:r>
          </a:p>
        </p:txBody>
      </p:sp>
      <p:pic>
        <p:nvPicPr>
          <p:cNvPr id="27" name="Picture 26" descr="lock.png"/>
          <p:cNvPicPr>
            <a:picLocks noChangeAspect="1"/>
          </p:cNvPicPr>
          <p:nvPr/>
        </p:nvPicPr>
        <p:blipFill>
          <a:blip r:embed="rId4"/>
          <a:stretch>
            <a:fillRect/>
          </a:stretch>
        </p:blipFill>
        <p:spPr>
          <a:xfrm>
            <a:off x="5332316" y="3383724"/>
            <a:ext cx="134549" cy="195707"/>
          </a:xfrm>
          <a:prstGeom prst="rect">
            <a:avLst/>
          </a:prstGeom>
        </p:spPr>
      </p:pic>
      <p:sp>
        <p:nvSpPr>
          <p:cNvPr id="28" name="TextBox 27"/>
          <p:cNvSpPr txBox="1"/>
          <p:nvPr/>
        </p:nvSpPr>
        <p:spPr>
          <a:xfrm>
            <a:off x="5507426"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6902569" y="3383724"/>
            <a:ext cx="134549" cy="195707"/>
          </a:xfrm>
          <a:prstGeom prst="rect">
            <a:avLst/>
          </a:prstGeom>
        </p:spPr>
      </p:pic>
      <p:sp>
        <p:nvSpPr>
          <p:cNvPr id="30" name="TextBox 29"/>
          <p:cNvSpPr txBox="1"/>
          <p:nvPr/>
        </p:nvSpPr>
        <p:spPr>
          <a:xfrm>
            <a:off x="70776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3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Share Analysis, By Country Value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and share by country, 2021–2036, highlighting the geographies gaining and ceding ground</a:t>
            </a:r>
          </a:p>
        </p:txBody>
      </p:sp>
      <p:sp>
        <p:nvSpPr>
          <p:cNvPr id="10" name="Rounded Rectangle 9"/>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Size, By Country (US$ Mn)</a:t>
            </a:r>
          </a:p>
        </p:txBody>
      </p:sp>
      <p:graphicFrame>
        <p:nvGraphicFramePr>
          <p:cNvPr id="12" name="Table 11"/>
          <p:cNvGraphicFramePr>
            <a:graphicFrameLocks noGrp="1"/>
          </p:cNvGraphicFramePr>
          <p:nvPr/>
        </p:nvGraphicFramePr>
        <p:xfrm>
          <a:off x="152400" y="1238250"/>
          <a:ext cx="11887200" cy="990600"/>
        </p:xfrm>
        <a:graphic>
          <a:graphicData uri="http://schemas.openxmlformats.org/drawingml/2006/table">
            <a:tbl>
              <a:tblPr>
                <a:tableStyleId>{5C22544A-7EE6-4342-B048-85BDC9FD1C3A}</a:tableStyleId>
              </a:tblPr>
              <a:tblGrid>
                <a:gridCol w="696253"/>
                <a:gridCol w="658291"/>
                <a:gridCol w="658291"/>
                <a:gridCol w="658291"/>
                <a:gridCol w="658291"/>
                <a:gridCol w="658291"/>
                <a:gridCol w="658291"/>
                <a:gridCol w="658291"/>
                <a:gridCol w="658291"/>
                <a:gridCol w="658291"/>
                <a:gridCol w="658291"/>
                <a:gridCol w="658291"/>
                <a:gridCol w="658291"/>
                <a:gridCol w="658291"/>
                <a:gridCol w="658291"/>
                <a:gridCol w="658291"/>
                <a:gridCol w="658291"/>
                <a:gridCol w="658291"/>
              </a:tblGrid>
              <a:tr h="246126">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U.S.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Canada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Share Read-out, By Country</a:t>
            </a:r>
          </a:p>
        </p:txBody>
      </p:sp>
      <p:sp>
        <p:nvSpPr>
          <p:cNvPr id="16" name="Rectangle 15"/>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257436" y="1589913"/>
            <a:ext cx="366712" cy="533400"/>
          </a:xfrm>
          <a:prstGeom prst="rect">
            <a:avLst/>
          </a:prstGeom>
        </p:spPr>
      </p:pic>
      <p:sp>
        <p:nvSpPr>
          <p:cNvPr id="20" name="TextBox 19"/>
          <p:cNvSpPr txBox="1"/>
          <p:nvPr/>
        </p:nvSpPr>
        <p:spPr>
          <a:xfrm>
            <a:off x="276225" y="2990850"/>
            <a:ext cx="2879104" cy="194310"/>
          </a:xfrm>
          <a:prstGeom prst="rect">
            <a:avLst/>
          </a:prstGeom>
          <a:noFill/>
        </p:spPr>
        <p:txBody>
          <a:bodyPr wrap="none" lIns="0" rIns="0" tIns="0" bIns="0">
            <a:spAutoFit/>
          </a:bodyPr>
          <a:lstStyle/>
          <a:p>
            <a:r>
              <a:rPr sz="1150" b="0">
                <a:solidFill>
                  <a:srgbClr val="2E2E2E"/>
                </a:solidFill>
                <a:latin typeface="Calibri"/>
              </a:rPr>
              <a:t>The U.S. matcha market is projected to register</a:t>
            </a:r>
          </a:p>
        </p:txBody>
      </p:sp>
      <p:pic>
        <p:nvPicPr>
          <p:cNvPr id="21" name="Picture 20" descr="lock.png"/>
          <p:cNvPicPr>
            <a:picLocks noChangeAspect="1"/>
          </p:cNvPicPr>
          <p:nvPr/>
        </p:nvPicPr>
        <p:blipFill>
          <a:blip r:embed="rId4"/>
          <a:stretch>
            <a:fillRect/>
          </a:stretch>
        </p:blipFill>
        <p:spPr>
          <a:xfrm>
            <a:off x="3104483" y="2980626"/>
            <a:ext cx="134549" cy="195707"/>
          </a:xfrm>
          <a:prstGeom prst="rect">
            <a:avLst/>
          </a:prstGeom>
        </p:spPr>
      </p:pic>
      <p:sp>
        <p:nvSpPr>
          <p:cNvPr id="22" name="TextBox 21"/>
          <p:cNvSpPr txBox="1"/>
          <p:nvPr/>
        </p:nvSpPr>
        <p:spPr>
          <a:xfrm>
            <a:off x="3279593" y="2990850"/>
            <a:ext cx="6885478" cy="194310"/>
          </a:xfrm>
          <a:prstGeom prst="rect">
            <a:avLst/>
          </a:prstGeom>
          <a:noFill/>
        </p:spPr>
        <p:txBody>
          <a:bodyPr wrap="none" lIns="0" rIns="0" tIns="0" bIns="0">
            <a:spAutoFit/>
          </a:bodyPr>
          <a:lstStyle/>
          <a:p>
            <a:r>
              <a:rPr sz="1150" b="0">
                <a:solidFill>
                  <a:srgbClr val="2E2E2E"/>
                </a:solidFill>
                <a:latin typeface="Calibri"/>
              </a:rPr>
              <a:t>X higher value than Canada in 2036. Among matcha by country, Canada is expected to witness the highest CAGR of</a:t>
            </a:r>
          </a:p>
        </p:txBody>
      </p:sp>
      <p:pic>
        <p:nvPicPr>
          <p:cNvPr id="23" name="Picture 22" descr="lock.png"/>
          <p:cNvPicPr>
            <a:picLocks noChangeAspect="1"/>
          </p:cNvPicPr>
          <p:nvPr/>
        </p:nvPicPr>
        <p:blipFill>
          <a:blip r:embed="rId4"/>
          <a:stretch>
            <a:fillRect/>
          </a:stretch>
        </p:blipFill>
        <p:spPr>
          <a:xfrm>
            <a:off x="10114225" y="2980626"/>
            <a:ext cx="134549" cy="195707"/>
          </a:xfrm>
          <a:prstGeom prst="rect">
            <a:avLst/>
          </a:prstGeom>
        </p:spPr>
      </p:pic>
      <p:sp>
        <p:nvSpPr>
          <p:cNvPr id="24" name="TextBox 23"/>
          <p:cNvSpPr txBox="1"/>
          <p:nvPr/>
        </p:nvSpPr>
        <p:spPr>
          <a:xfrm>
            <a:off x="10289334" y="2990850"/>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25" name="TextBox 24"/>
          <p:cNvSpPr txBox="1"/>
          <p:nvPr/>
        </p:nvSpPr>
        <p:spPr>
          <a:xfrm>
            <a:off x="276225" y="3166110"/>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26" name="TextBox 25"/>
          <p:cNvSpPr txBox="1"/>
          <p:nvPr/>
        </p:nvSpPr>
        <p:spPr>
          <a:xfrm>
            <a:off x="276225" y="3393947"/>
            <a:ext cx="4983137" cy="194310"/>
          </a:xfrm>
          <a:prstGeom prst="rect">
            <a:avLst/>
          </a:prstGeom>
          <a:noFill/>
        </p:spPr>
        <p:txBody>
          <a:bodyPr wrap="none" lIns="0" rIns="0" tIns="0" bIns="0">
            <a:spAutoFit/>
          </a:bodyPr>
          <a:lstStyle/>
          <a:p>
            <a:r>
              <a:rPr sz="1150" b="0">
                <a:solidFill>
                  <a:srgbClr val="2E2E2E"/>
                </a:solidFill>
                <a:latin typeface="Calibri"/>
              </a:rPr>
              <a:t>In terms of value share by country, U.S. is expected to dominate the market, losing</a:t>
            </a:r>
          </a:p>
        </p:txBody>
      </p:sp>
      <p:pic>
        <p:nvPicPr>
          <p:cNvPr id="27" name="Picture 26" descr="lock.png"/>
          <p:cNvPicPr>
            <a:picLocks noChangeAspect="1"/>
          </p:cNvPicPr>
          <p:nvPr/>
        </p:nvPicPr>
        <p:blipFill>
          <a:blip r:embed="rId4"/>
          <a:stretch>
            <a:fillRect/>
          </a:stretch>
        </p:blipFill>
        <p:spPr>
          <a:xfrm>
            <a:off x="5208516" y="3383724"/>
            <a:ext cx="134549" cy="195707"/>
          </a:xfrm>
          <a:prstGeom prst="rect">
            <a:avLst/>
          </a:prstGeom>
        </p:spPr>
      </p:pic>
      <p:sp>
        <p:nvSpPr>
          <p:cNvPr id="28" name="TextBox 27"/>
          <p:cNvSpPr txBox="1"/>
          <p:nvPr/>
        </p:nvSpPr>
        <p:spPr>
          <a:xfrm>
            <a:off x="5383625"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6778769" y="3383724"/>
            <a:ext cx="134549" cy="195707"/>
          </a:xfrm>
          <a:prstGeom prst="rect">
            <a:avLst/>
          </a:prstGeom>
        </p:spPr>
      </p:pic>
      <p:sp>
        <p:nvSpPr>
          <p:cNvPr id="30" name="TextBox 29"/>
          <p:cNvSpPr txBox="1"/>
          <p:nvPr/>
        </p:nvSpPr>
        <p:spPr>
          <a:xfrm>
            <a:off x="6953878"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Trends, By Country</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country volume and value shares shift over 2021–2036, highlighting who gains ground</a:t>
            </a:r>
          </a:p>
        </p:txBody>
      </p:sp>
      <p:sp>
        <p:nvSpPr>
          <p:cNvPr id="10" name="Rounded Rectangle 9"/>
          <p:cNvSpPr/>
          <p:nvPr/>
        </p:nvSpPr>
        <p:spPr>
          <a:xfrm>
            <a:off x="142875" y="981075"/>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Volume By Country (MT)</a:t>
            </a:r>
          </a:p>
        </p:txBody>
      </p:sp>
      <p:graphicFrame>
        <p:nvGraphicFramePr>
          <p:cNvPr id="12" name="Chart 11"/>
          <p:cNvGraphicFramePr>
            <a:graphicFrameLocks noGrp="1"/>
          </p:cNvGraphicFramePr>
          <p:nvPr/>
        </p:nvGraphicFramePr>
        <p:xfrm>
          <a:off x="238125" y="1266825"/>
          <a:ext cx="11715750"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Country (US$ Mn)</a:t>
            </a:r>
          </a:p>
        </p:txBody>
      </p:sp>
      <p:graphicFrame>
        <p:nvGraphicFramePr>
          <p:cNvPr id="15" name="Chart 14"/>
          <p:cNvGraphicFramePr>
            <a:graphicFrameLocks noGrp="1"/>
          </p:cNvGraphicFramePr>
          <p:nvPr/>
        </p:nvGraphicFramePr>
        <p:xfrm>
          <a:off x="238125" y="4152900"/>
          <a:ext cx="11715750" cy="2409825"/>
        </p:xfrm>
        <a:graphic>
          <a:graphicData uri="http://schemas.openxmlformats.org/drawingml/2006/chart">
            <c:chart xmlns:c="http://schemas.openxmlformats.org/drawingml/2006/chart" r:id="rId4"/>
          </a:graphicData>
        </a:graphic>
      </p:graphicFrame>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6"/>
          <a:stretch>
            <a:fillRect/>
          </a:stretch>
        </p:blipFill>
        <p:spPr>
          <a:xfrm>
            <a:off x="6058646" y="2026489"/>
            <a:ext cx="363375" cy="528545"/>
          </a:xfrm>
          <a:prstGeom prst="rect">
            <a:avLst/>
          </a:prstGeom>
        </p:spPr>
      </p:pic>
      <p:pic>
        <p:nvPicPr>
          <p:cNvPr id="18" name="Picture 17" descr="lock.png"/>
          <p:cNvPicPr>
            <a:picLocks noChangeAspect="1"/>
          </p:cNvPicPr>
          <p:nvPr/>
        </p:nvPicPr>
        <p:blipFill>
          <a:blip r:embed="rId6"/>
          <a:stretch>
            <a:fillRect/>
          </a:stretch>
        </p:blipFill>
        <p:spPr>
          <a:xfrm>
            <a:off x="6058646" y="4912564"/>
            <a:ext cx="363375" cy="528545"/>
          </a:xfrm>
          <a:prstGeom prst="rect">
            <a:avLst/>
          </a:prstGeom>
        </p:spPr>
      </p:pic>
      <p:sp>
        <p:nvSpPr>
          <p:cNvPr id="19" name="lockshield_12"/>
          <p:cNvSpPr/>
          <p:nvPr/>
        </p:nvSpPr>
        <p:spPr>
          <a:xfrm>
            <a:off x="238125" y="1266825"/>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lockshield_15"/>
          <p:cNvSpPr/>
          <p:nvPr/>
        </p:nvSpPr>
        <p:spPr>
          <a:xfrm>
            <a:off x="238125" y="4152900"/>
            <a:ext cx="11715750"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Matcha Market Top 2 Countries (2036)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Country hierarchy of the North America market in 2036, highlighting the leading countries within each region by value</a:t>
            </a:r>
          </a:p>
        </p:txBody>
      </p:sp>
      <p:sp>
        <p:nvSpPr>
          <p:cNvPr id="10" name="Rounded Rectangle 9"/>
          <p:cNvSpPr/>
          <p:nvPr/>
        </p:nvSpPr>
        <p:spPr>
          <a:xfrm>
            <a:off x="142875" y="981075"/>
            <a:ext cx="11906250"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by country  ·  2036 (US$ Mn)  ·  tile size = market value</a:t>
            </a:r>
          </a:p>
        </p:txBody>
      </p:sp>
      <p:sp>
        <p:nvSpPr>
          <p:cNvPr id="12" name="Rectangle 11"/>
          <p:cNvSpPr/>
          <p:nvPr/>
        </p:nvSpPr>
        <p:spPr>
          <a:xfrm>
            <a:off x="238125" y="1266825"/>
            <a:ext cx="7899387" cy="5305425"/>
          </a:xfrm>
          <a:prstGeom prst="rect">
            <a:avLst/>
          </a:prstGeom>
          <a:solidFill>
            <a:srgbClr val="3D85C6"/>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U.S.</a:t>
            </a:r>
          </a:p>
          <a:p>
            <a:pPr algn="ctr"/>
            <a:r>
              <a:rPr sz="1100" b="0">
                <a:solidFill>
                  <a:srgbClr val="FFFFFF"/>
                </a:solidFill>
                <a:latin typeface="Calibri"/>
              </a:rPr>
              <a:t> </a:t>
            </a:r>
          </a:p>
        </p:txBody>
      </p:sp>
      <p:sp>
        <p:nvSpPr>
          <p:cNvPr id="13" name="Rectangle 12"/>
          <p:cNvSpPr/>
          <p:nvPr/>
        </p:nvSpPr>
        <p:spPr>
          <a:xfrm>
            <a:off x="8137512" y="1266825"/>
            <a:ext cx="3816363" cy="5305425"/>
          </a:xfrm>
          <a:prstGeom prst="rect">
            <a:avLst/>
          </a:prstGeom>
          <a:solidFill>
            <a:srgbClr val="9E7E0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FFFFFF"/>
                </a:solidFill>
                <a:latin typeface="Calibri"/>
              </a:rPr>
              <a:t>Canada</a:t>
            </a:r>
          </a:p>
          <a:p>
            <a:pPr algn="ctr"/>
            <a:r>
              <a:rPr sz="1100" b="0">
                <a:solidFill>
                  <a:srgbClr val="FFFFFF"/>
                </a:solidFill>
                <a:latin typeface="Calibri"/>
              </a:rPr>
              <a:t> </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4130192" y="3919537"/>
            <a:ext cx="115252" cy="167639"/>
          </a:xfrm>
          <a:prstGeom prst="rect">
            <a:avLst/>
          </a:prstGeom>
        </p:spPr>
      </p:pic>
      <p:pic>
        <p:nvPicPr>
          <p:cNvPr id="16" name="Picture 15" descr="lock.png"/>
          <p:cNvPicPr>
            <a:picLocks noChangeAspect="1"/>
          </p:cNvPicPr>
          <p:nvPr/>
        </p:nvPicPr>
        <p:blipFill>
          <a:blip r:embed="rId4"/>
          <a:stretch>
            <a:fillRect/>
          </a:stretch>
        </p:blipFill>
        <p:spPr>
          <a:xfrm>
            <a:off x="9988067" y="3919537"/>
            <a:ext cx="115252" cy="167639"/>
          </a:xfrm>
          <a:prstGeom prst="rect">
            <a:avLst/>
          </a:prstGeom>
        </p:spPr>
      </p:pic>
    </p:spTree>
  </p:cSld>
  <p:clrMapOvr>
    <a:masterClrMapping/>
  </p:clrMapOvr>
</p:sld>
</file>

<file path=ppt/slides/slide1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76847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111375"/>
            <a:ext cx="8572500" cy="514350"/>
          </a:xfrm>
          <a:prstGeom prst="rect">
            <a:avLst/>
          </a:prstGeom>
          <a:noFill/>
        </p:spPr>
        <p:txBody>
          <a:bodyPr wrap="square" lIns="0" rIns="0" tIns="0">
            <a:spAutoFit/>
          </a:bodyPr>
          <a:lstStyle/>
          <a:p>
            <a:r>
              <a:rPr sz="3000" b="1">
                <a:solidFill>
                  <a:srgbClr val="0B3C8C"/>
                </a:solidFill>
                <a:latin typeface="Calibri"/>
              </a:rPr>
              <a:t>North America Market Analysis By Segments</a:t>
            </a:r>
          </a:p>
        </p:txBody>
      </p:sp>
      <p:sp>
        <p:nvSpPr>
          <p:cNvPr id="11" name="TextBox 10"/>
          <p:cNvSpPr txBox="1"/>
          <p:nvPr/>
        </p:nvSpPr>
        <p:spPr>
          <a:xfrm>
            <a:off x="914400" y="2797175"/>
            <a:ext cx="84582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Nature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Form</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Grade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Nature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Nature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Nature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Nature,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Nature segment categorizes the market by nature.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Organic</a:t>
            </a:r>
          </a:p>
        </p:txBody>
      </p:sp>
      <p:sp>
        <p:nvSpPr>
          <p:cNvPr id="22" name="Rectangle 21"/>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Conventional</a:t>
            </a:r>
          </a:p>
        </p:txBody>
      </p:sp>
      <p:sp>
        <p:nvSpPr>
          <p:cNvPr id="29" name="Rectangle 28"/>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5" name="Rectangle 3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37" name="Rounded Rectangle 3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39" name="Rectangle 3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1" name="Rounded Rectangle 4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3" name="Rectangle 4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Nature split shows how demand is distributed across nature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5" name="Rectangle 4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7" name="TextBox 4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766_5_605E5C.png"/>
          <p:cNvPicPr>
            <a:picLocks noChangeAspect="1"/>
          </p:cNvPicPr>
          <p:nvPr/>
        </p:nvPicPr>
        <p:blipFill>
          <a:blip r:embed="rId4"/>
          <a:stretch>
            <a:fillRect/>
          </a:stretch>
        </p:blipFill>
        <p:spPr>
          <a:xfrm>
            <a:off x="3740773" y="2286582"/>
            <a:ext cx="1195728" cy="361950"/>
          </a:xfrm>
          <a:prstGeom prst="rect">
            <a:avLst/>
          </a:prstGeom>
        </p:spPr>
      </p:pic>
      <p:pic>
        <p:nvPicPr>
          <p:cNvPr id="50" name="Picture 49" descr="1_363_605E5C.png"/>
          <p:cNvPicPr>
            <a:picLocks noChangeAspect="1"/>
          </p:cNvPicPr>
          <p:nvPr/>
        </p:nvPicPr>
        <p:blipFill>
          <a:blip r:embed="rId5"/>
          <a:stretch>
            <a:fillRect/>
          </a:stretch>
        </p:blipFill>
        <p:spPr>
          <a:xfrm>
            <a:off x="3740773" y="2779432"/>
            <a:ext cx="1195728" cy="361950"/>
          </a:xfrm>
          <a:prstGeom prst="rect">
            <a:avLst/>
          </a:prstGeom>
        </p:spPr>
      </p:pic>
      <p:pic>
        <p:nvPicPr>
          <p:cNvPr id="51" name="Picture 50" descr="5_9__605E5C.png"/>
          <p:cNvPicPr>
            <a:picLocks noChangeAspect="1"/>
          </p:cNvPicPr>
          <p:nvPr/>
        </p:nvPicPr>
        <p:blipFill>
          <a:blip r:embed="rId6"/>
          <a:stretch>
            <a:fillRect/>
          </a:stretch>
        </p:blipFill>
        <p:spPr>
          <a:xfrm>
            <a:off x="3847419" y="3272281"/>
            <a:ext cx="982436" cy="361950"/>
          </a:xfrm>
          <a:prstGeom prst="rect">
            <a:avLst/>
          </a:prstGeom>
        </p:spPr>
      </p:pic>
      <p:pic>
        <p:nvPicPr>
          <p:cNvPr id="52" name="Picture 51" descr="346_8_605E5C.png"/>
          <p:cNvPicPr>
            <a:picLocks noChangeAspect="1"/>
          </p:cNvPicPr>
          <p:nvPr/>
        </p:nvPicPr>
        <p:blipFill>
          <a:blip r:embed="rId7"/>
          <a:stretch>
            <a:fillRect/>
          </a:stretch>
        </p:blipFill>
        <p:spPr>
          <a:xfrm>
            <a:off x="8798548" y="2286582"/>
            <a:ext cx="1195728" cy="361950"/>
          </a:xfrm>
          <a:prstGeom prst="rect">
            <a:avLst/>
          </a:prstGeom>
        </p:spPr>
      </p:pic>
      <p:pic>
        <p:nvPicPr>
          <p:cNvPr id="53" name="Picture 52" descr="663_4_605E5C.png"/>
          <p:cNvPicPr>
            <a:picLocks noChangeAspect="1"/>
          </p:cNvPicPr>
          <p:nvPr/>
        </p:nvPicPr>
        <p:blipFill>
          <a:blip r:embed="rId8"/>
          <a:stretch>
            <a:fillRect/>
          </a:stretch>
        </p:blipFill>
        <p:spPr>
          <a:xfrm>
            <a:off x="8798548" y="2779432"/>
            <a:ext cx="1195728" cy="361950"/>
          </a:xfrm>
          <a:prstGeom prst="rect">
            <a:avLst/>
          </a:prstGeom>
        </p:spPr>
      </p:pic>
      <p:pic>
        <p:nvPicPr>
          <p:cNvPr id="54" name="Picture 53" descr="6_7__605E5C.png"/>
          <p:cNvPicPr>
            <a:picLocks noChangeAspect="1"/>
          </p:cNvPicPr>
          <p:nvPr/>
        </p:nvPicPr>
        <p:blipFill>
          <a:blip r:embed="rId9"/>
          <a:stretch>
            <a:fillRect/>
          </a:stretch>
        </p:blipFill>
        <p:spPr>
          <a:xfrm>
            <a:off x="8905194" y="3272281"/>
            <a:ext cx="982436" cy="361950"/>
          </a:xfrm>
          <a:prstGeom prst="rect">
            <a:avLst/>
          </a:prstGeom>
        </p:spPr>
      </p:pic>
      <p:pic>
        <p:nvPicPr>
          <p:cNvPr id="55" name="Picture 54" descr="lock.png"/>
          <p:cNvPicPr>
            <a:picLocks noChangeAspect="1"/>
          </p:cNvPicPr>
          <p:nvPr/>
        </p:nvPicPr>
        <p:blipFill>
          <a:blip r:embed="rId10"/>
          <a:stretch>
            <a:fillRect/>
          </a:stretch>
        </p:blipFill>
        <p:spPr>
          <a:xfrm>
            <a:off x="4230493" y="2805915"/>
            <a:ext cx="212425" cy="308982"/>
          </a:xfrm>
          <a:prstGeom prst="rect">
            <a:avLst/>
          </a:prstGeom>
        </p:spPr>
      </p:pic>
      <p:pic>
        <p:nvPicPr>
          <p:cNvPr id="56" name="Picture 55" descr="lock.png"/>
          <p:cNvPicPr>
            <a:picLocks noChangeAspect="1"/>
          </p:cNvPicPr>
          <p:nvPr/>
        </p:nvPicPr>
        <p:blipFill>
          <a:blip r:embed="rId10"/>
          <a:stretch>
            <a:fillRect/>
          </a:stretch>
        </p:blipFill>
        <p:spPr>
          <a:xfrm>
            <a:off x="9288268" y="2805915"/>
            <a:ext cx="212425" cy="308982"/>
          </a:xfrm>
          <a:prstGeom prst="rect">
            <a:avLst/>
          </a:prstGeom>
        </p:spPr>
      </p:pic>
      <p:sp>
        <p:nvSpPr>
          <p:cNvPr id="57" name="TextBox 56"/>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Among matcha by nature, conventional segment is</a:t>
            </a:r>
          </a:p>
        </p:txBody>
      </p:sp>
      <p:sp>
        <p:nvSpPr>
          <p:cNvPr id="58" name="TextBox 57"/>
          <p:cNvSpPr txBox="1"/>
          <p:nvPr/>
        </p:nvSpPr>
        <p:spPr>
          <a:xfrm>
            <a:off x="485775" y="439707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59" name="Picture 58" descr="lock.png"/>
          <p:cNvPicPr>
            <a:picLocks noChangeAspect="1"/>
          </p:cNvPicPr>
          <p:nvPr/>
        </p:nvPicPr>
        <p:blipFill>
          <a:blip r:embed="rId10"/>
          <a:stretch>
            <a:fillRect/>
          </a:stretch>
        </p:blipFill>
        <p:spPr>
          <a:xfrm>
            <a:off x="2815059" y="4387298"/>
            <a:ext cx="128699" cy="187198"/>
          </a:xfrm>
          <a:prstGeom prst="rect">
            <a:avLst/>
          </a:prstGeom>
        </p:spPr>
      </p:pic>
      <p:sp>
        <p:nvSpPr>
          <p:cNvPr id="60" name="TextBox 59"/>
          <p:cNvSpPr txBox="1"/>
          <p:nvPr/>
        </p:nvSpPr>
        <p:spPr>
          <a:xfrm>
            <a:off x="2982555" y="439707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61" name="TextBox 60"/>
          <p:cNvSpPr txBox="1"/>
          <p:nvPr/>
        </p:nvSpPr>
        <p:spPr>
          <a:xfrm>
            <a:off x="485775" y="456471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62" name="TextBox 61"/>
          <p:cNvSpPr txBox="1"/>
          <p:nvPr/>
        </p:nvSpPr>
        <p:spPr>
          <a:xfrm>
            <a:off x="485775" y="4732357"/>
            <a:ext cx="2510854" cy="186689"/>
          </a:xfrm>
          <a:prstGeom prst="rect">
            <a:avLst/>
          </a:prstGeom>
          <a:noFill/>
        </p:spPr>
        <p:txBody>
          <a:bodyPr wrap="none" lIns="0" rIns="0" tIns="0" bIns="0">
            <a:spAutoFit/>
          </a:bodyPr>
          <a:lstStyle/>
          <a:p>
            <a:r>
              <a:rPr sz="1100" b="0">
                <a:solidFill>
                  <a:srgbClr val="2E2E2E"/>
                </a:solidFill>
                <a:latin typeface="Calibri"/>
              </a:rPr>
              <a:t>nature, the organic segment is expected to</a:t>
            </a:r>
          </a:p>
        </p:txBody>
      </p:sp>
      <p:sp>
        <p:nvSpPr>
          <p:cNvPr id="63" name="TextBox 62"/>
          <p:cNvSpPr txBox="1"/>
          <p:nvPr/>
        </p:nvSpPr>
        <p:spPr>
          <a:xfrm>
            <a:off x="485775" y="4899997"/>
            <a:ext cx="1682750" cy="186689"/>
          </a:xfrm>
          <a:prstGeom prst="rect">
            <a:avLst/>
          </a:prstGeom>
          <a:noFill/>
        </p:spPr>
        <p:txBody>
          <a:bodyPr wrap="none" lIns="0" rIns="0" tIns="0" bIns="0">
            <a:spAutoFit/>
          </a:bodyPr>
          <a:lstStyle/>
          <a:p>
            <a:r>
              <a:rPr sz="1100" b="0">
                <a:solidFill>
                  <a:srgbClr val="2E2E2E"/>
                </a:solidFill>
                <a:latin typeface="Calibri"/>
              </a:rPr>
              <a:t>dominate the market, losing</a:t>
            </a:r>
          </a:p>
        </p:txBody>
      </p:sp>
      <p:pic>
        <p:nvPicPr>
          <p:cNvPr id="64" name="Picture 63" descr="lock.png"/>
          <p:cNvPicPr>
            <a:picLocks noChangeAspect="1"/>
          </p:cNvPicPr>
          <p:nvPr/>
        </p:nvPicPr>
        <p:blipFill>
          <a:blip r:embed="rId10"/>
          <a:stretch>
            <a:fillRect/>
          </a:stretch>
        </p:blipFill>
        <p:spPr>
          <a:xfrm>
            <a:off x="2116576" y="4890217"/>
            <a:ext cx="128699" cy="187198"/>
          </a:xfrm>
          <a:prstGeom prst="rect">
            <a:avLst/>
          </a:prstGeom>
        </p:spPr>
      </p:pic>
      <p:sp>
        <p:nvSpPr>
          <p:cNvPr id="65" name="TextBox 64"/>
          <p:cNvSpPr txBox="1"/>
          <p:nvPr/>
        </p:nvSpPr>
        <p:spPr>
          <a:xfrm>
            <a:off x="2284072" y="489999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66" name="TextBox 65"/>
          <p:cNvSpPr txBox="1"/>
          <p:nvPr/>
        </p:nvSpPr>
        <p:spPr>
          <a:xfrm>
            <a:off x="485775" y="506763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67" name="Picture 66" descr="lock.png"/>
          <p:cNvPicPr>
            <a:picLocks noChangeAspect="1"/>
          </p:cNvPicPr>
          <p:nvPr/>
        </p:nvPicPr>
        <p:blipFill>
          <a:blip r:embed="rId10"/>
          <a:stretch>
            <a:fillRect/>
          </a:stretch>
        </p:blipFill>
        <p:spPr>
          <a:xfrm>
            <a:off x="1330764" y="5057858"/>
            <a:ext cx="128699" cy="187198"/>
          </a:xfrm>
          <a:prstGeom prst="rect">
            <a:avLst/>
          </a:prstGeom>
        </p:spPr>
      </p:pic>
      <p:sp>
        <p:nvSpPr>
          <p:cNvPr id="68" name="TextBox 67"/>
          <p:cNvSpPr txBox="1"/>
          <p:nvPr/>
        </p:nvSpPr>
        <p:spPr>
          <a:xfrm>
            <a:off x="1498259"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69" name="TextBox 68"/>
          <p:cNvSpPr txBox="1"/>
          <p:nvPr/>
        </p:nvSpPr>
        <p:spPr>
          <a:xfrm>
            <a:off x="485775" y="5285569"/>
            <a:ext cx="2356420" cy="186689"/>
          </a:xfrm>
          <a:prstGeom prst="rect">
            <a:avLst/>
          </a:prstGeom>
          <a:noFill/>
        </p:spPr>
        <p:txBody>
          <a:bodyPr wrap="none" lIns="0" rIns="0" tIns="0" bIns="0">
            <a:spAutoFit/>
          </a:bodyPr>
          <a:lstStyle/>
          <a:p>
            <a:r>
              <a:rPr sz="1100" b="0">
                <a:solidFill>
                  <a:srgbClr val="2E2E2E"/>
                </a:solidFill>
                <a:latin typeface="Calibri"/>
              </a:rPr>
              <a:t>Organic segment is projected to register</a:t>
            </a:r>
          </a:p>
        </p:txBody>
      </p:sp>
      <p:pic>
        <p:nvPicPr>
          <p:cNvPr id="70" name="Picture 69" descr="lock.png"/>
          <p:cNvPicPr>
            <a:picLocks noChangeAspect="1"/>
          </p:cNvPicPr>
          <p:nvPr/>
        </p:nvPicPr>
        <p:blipFill>
          <a:blip r:embed="rId10"/>
          <a:stretch>
            <a:fillRect/>
          </a:stretch>
        </p:blipFill>
        <p:spPr>
          <a:xfrm>
            <a:off x="2790247" y="5275790"/>
            <a:ext cx="128699" cy="187198"/>
          </a:xfrm>
          <a:prstGeom prst="rect">
            <a:avLst/>
          </a:prstGeom>
        </p:spPr>
      </p:pic>
      <p:sp>
        <p:nvSpPr>
          <p:cNvPr id="71" name="TextBox 70"/>
          <p:cNvSpPr txBox="1"/>
          <p:nvPr/>
        </p:nvSpPr>
        <p:spPr>
          <a:xfrm>
            <a:off x="2957742"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72" name="TextBox 71"/>
          <p:cNvSpPr txBox="1"/>
          <p:nvPr/>
        </p:nvSpPr>
        <p:spPr>
          <a:xfrm>
            <a:off x="485775" y="5453209"/>
            <a:ext cx="2848371" cy="186689"/>
          </a:xfrm>
          <a:prstGeom prst="rect">
            <a:avLst/>
          </a:prstGeom>
          <a:noFill/>
        </p:spPr>
        <p:txBody>
          <a:bodyPr wrap="none" lIns="0" rIns="0" tIns="0" bIns="0">
            <a:spAutoFit/>
          </a:bodyPr>
          <a:lstStyle/>
          <a:p>
            <a:r>
              <a:rPr sz="1100" b="0">
                <a:solidFill>
                  <a:srgbClr val="2E2E2E"/>
                </a:solidFill>
                <a:latin typeface="Calibri"/>
              </a:rPr>
              <a:t>higher value than conventional segment in 2036.</a:t>
            </a:r>
          </a:p>
        </p:txBody>
      </p:sp>
      <p:sp>
        <p:nvSpPr>
          <p:cNvPr id="73" name="TextBox 72"/>
          <p:cNvSpPr txBox="1"/>
          <p:nvPr/>
        </p:nvSpPr>
        <p:spPr>
          <a:xfrm>
            <a:off x="3838575" y="4229437"/>
            <a:ext cx="668287" cy="186689"/>
          </a:xfrm>
          <a:prstGeom prst="rect">
            <a:avLst/>
          </a:prstGeom>
          <a:noFill/>
        </p:spPr>
        <p:txBody>
          <a:bodyPr wrap="none" lIns="0" rIns="0" tIns="0" bIns="0">
            <a:spAutoFit/>
          </a:bodyPr>
          <a:lstStyle/>
          <a:p>
            <a:r>
              <a:rPr sz="1100" b="0">
                <a:solidFill>
                  <a:srgbClr val="2E2E2E"/>
                </a:solidFill>
                <a:latin typeface="Calibri"/>
              </a:rPr>
              <a:t>● Organic:</a:t>
            </a:r>
          </a:p>
        </p:txBody>
      </p:sp>
      <p:pic>
        <p:nvPicPr>
          <p:cNvPr id="74" name="Picture 73" descr="lock.png"/>
          <p:cNvPicPr>
            <a:picLocks noChangeAspect="1"/>
          </p:cNvPicPr>
          <p:nvPr/>
        </p:nvPicPr>
        <p:blipFill>
          <a:blip r:embed="rId10"/>
          <a:stretch>
            <a:fillRect/>
          </a:stretch>
        </p:blipFill>
        <p:spPr>
          <a:xfrm>
            <a:off x="4454914" y="4219658"/>
            <a:ext cx="128699" cy="187198"/>
          </a:xfrm>
          <a:prstGeom prst="rect">
            <a:avLst/>
          </a:prstGeom>
        </p:spPr>
      </p:pic>
      <p:sp>
        <p:nvSpPr>
          <p:cNvPr id="75" name="TextBox 74"/>
          <p:cNvSpPr txBox="1"/>
          <p:nvPr/>
        </p:nvSpPr>
        <p:spPr>
          <a:xfrm>
            <a:off x="462241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6" name="Picture 75" descr="lock.png"/>
          <p:cNvPicPr>
            <a:picLocks noChangeAspect="1"/>
          </p:cNvPicPr>
          <p:nvPr/>
        </p:nvPicPr>
        <p:blipFill>
          <a:blip r:embed="rId10"/>
          <a:stretch>
            <a:fillRect/>
          </a:stretch>
        </p:blipFill>
        <p:spPr>
          <a:xfrm>
            <a:off x="5481860" y="4219658"/>
            <a:ext cx="128699" cy="187198"/>
          </a:xfrm>
          <a:prstGeom prst="rect">
            <a:avLst/>
          </a:prstGeom>
        </p:spPr>
      </p:pic>
      <p:sp>
        <p:nvSpPr>
          <p:cNvPr id="77" name="TextBox 76"/>
          <p:cNvSpPr txBox="1"/>
          <p:nvPr/>
        </p:nvSpPr>
        <p:spPr>
          <a:xfrm>
            <a:off x="5649356"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8" name="TextBox 77"/>
          <p:cNvSpPr txBox="1"/>
          <p:nvPr/>
        </p:nvSpPr>
        <p:spPr>
          <a:xfrm>
            <a:off x="3838575" y="4447369"/>
            <a:ext cx="982340" cy="186689"/>
          </a:xfrm>
          <a:prstGeom prst="rect">
            <a:avLst/>
          </a:prstGeom>
          <a:noFill/>
        </p:spPr>
        <p:txBody>
          <a:bodyPr wrap="none" lIns="0" rIns="0" tIns="0" bIns="0">
            <a:spAutoFit/>
          </a:bodyPr>
          <a:lstStyle/>
          <a:p>
            <a:r>
              <a:rPr sz="1100" b="0">
                <a:solidFill>
                  <a:srgbClr val="2E2E2E"/>
                </a:solidFill>
                <a:latin typeface="Calibri"/>
              </a:rPr>
              <a:t>● Conventional:</a:t>
            </a:r>
          </a:p>
        </p:txBody>
      </p:sp>
      <p:pic>
        <p:nvPicPr>
          <p:cNvPr id="79" name="Picture 78" descr="lock.png"/>
          <p:cNvPicPr>
            <a:picLocks noChangeAspect="1"/>
          </p:cNvPicPr>
          <p:nvPr/>
        </p:nvPicPr>
        <p:blipFill>
          <a:blip r:embed="rId10"/>
          <a:stretch>
            <a:fillRect/>
          </a:stretch>
        </p:blipFill>
        <p:spPr>
          <a:xfrm>
            <a:off x="4768966" y="4437590"/>
            <a:ext cx="128699" cy="187198"/>
          </a:xfrm>
          <a:prstGeom prst="rect">
            <a:avLst/>
          </a:prstGeom>
        </p:spPr>
      </p:pic>
      <p:sp>
        <p:nvSpPr>
          <p:cNvPr id="80" name="TextBox 79"/>
          <p:cNvSpPr txBox="1"/>
          <p:nvPr/>
        </p:nvSpPr>
        <p:spPr>
          <a:xfrm>
            <a:off x="493646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1" name="Picture 80" descr="lock.png"/>
          <p:cNvPicPr>
            <a:picLocks noChangeAspect="1"/>
          </p:cNvPicPr>
          <p:nvPr/>
        </p:nvPicPr>
        <p:blipFill>
          <a:blip r:embed="rId10"/>
          <a:stretch>
            <a:fillRect/>
          </a:stretch>
        </p:blipFill>
        <p:spPr>
          <a:xfrm>
            <a:off x="5795912" y="4437590"/>
            <a:ext cx="128699" cy="187198"/>
          </a:xfrm>
          <a:prstGeom prst="rect">
            <a:avLst/>
          </a:prstGeom>
        </p:spPr>
      </p:pic>
      <p:sp>
        <p:nvSpPr>
          <p:cNvPr id="82" name="TextBox 81"/>
          <p:cNvSpPr txBox="1"/>
          <p:nvPr/>
        </p:nvSpPr>
        <p:spPr>
          <a:xfrm>
            <a:off x="5963408"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3" name="TextBox 8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Nature segment is projected to grow at a CAGR</a:t>
            </a:r>
          </a:p>
        </p:txBody>
      </p:sp>
      <p:sp>
        <p:nvSpPr>
          <p:cNvPr id="84" name="TextBox 83"/>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85" name="Picture 84" descr="lock.png"/>
          <p:cNvPicPr>
            <a:picLocks noChangeAspect="1"/>
          </p:cNvPicPr>
          <p:nvPr/>
        </p:nvPicPr>
        <p:blipFill>
          <a:blip r:embed="rId10"/>
          <a:stretch>
            <a:fillRect/>
          </a:stretch>
        </p:blipFill>
        <p:spPr>
          <a:xfrm>
            <a:off x="8674884" y="6007677"/>
            <a:ext cx="134549" cy="195707"/>
          </a:xfrm>
          <a:prstGeom prst="rect">
            <a:avLst/>
          </a:prstGeom>
        </p:spPr>
      </p:pic>
      <p:sp>
        <p:nvSpPr>
          <p:cNvPr id="86" name="TextBox 85"/>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Nature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Nature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Nature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Nature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468025" cy="186689"/>
          </a:xfrm>
          <a:prstGeom prst="rect">
            <a:avLst/>
          </a:prstGeom>
          <a:noFill/>
        </p:spPr>
        <p:txBody>
          <a:bodyPr wrap="none" lIns="0" rIns="0" tIns="0" bIns="0">
            <a:spAutoFit/>
          </a:bodyPr>
          <a:lstStyle/>
          <a:p>
            <a:r>
              <a:rPr sz="1100" b="0">
                <a:solidFill>
                  <a:srgbClr val="2E2E2E"/>
                </a:solidFill>
                <a:latin typeface="Calibri"/>
              </a:rPr>
              <a:t>Organic followed by conventional are expected to be the two most attractive nature segments in the North America matcha market in terms of value over the forecast period. Organic and conventional</a:t>
            </a:r>
          </a:p>
        </p:txBody>
      </p:sp>
      <p:sp>
        <p:nvSpPr>
          <p:cNvPr id="20" name="TextBox 19"/>
          <p:cNvSpPr txBox="1"/>
          <p:nvPr/>
        </p:nvSpPr>
        <p:spPr>
          <a:xfrm>
            <a:off x="257175" y="5945505"/>
            <a:ext cx="1402514" cy="186689"/>
          </a:xfrm>
          <a:prstGeom prst="rect">
            <a:avLst/>
          </a:prstGeom>
          <a:noFill/>
        </p:spPr>
        <p:txBody>
          <a:bodyPr wrap="none" lIns="0" rIns="0" tIns="0" bIns="0">
            <a:spAutoFit/>
          </a:bodyPr>
          <a:lstStyle/>
          <a:p>
            <a:r>
              <a:rPr sz="1100" b="0">
                <a:solidFill>
                  <a:srgbClr val="2E2E2E"/>
                </a:solidFill>
                <a:latin typeface="Calibri"/>
              </a:rPr>
              <a:t>exhibit a CAGR index of</a:t>
            </a:r>
          </a:p>
        </p:txBody>
      </p:sp>
      <p:pic>
        <p:nvPicPr>
          <p:cNvPr id="21" name="Picture 20" descr="lock.png"/>
          <p:cNvPicPr>
            <a:picLocks noChangeAspect="1"/>
          </p:cNvPicPr>
          <p:nvPr/>
        </p:nvPicPr>
        <p:blipFill>
          <a:blip r:embed="rId6"/>
          <a:stretch>
            <a:fillRect/>
          </a:stretch>
        </p:blipFill>
        <p:spPr>
          <a:xfrm>
            <a:off x="1607740" y="5935726"/>
            <a:ext cx="128699" cy="187198"/>
          </a:xfrm>
          <a:prstGeom prst="rect">
            <a:avLst/>
          </a:prstGeom>
        </p:spPr>
      </p:pic>
      <p:sp>
        <p:nvSpPr>
          <p:cNvPr id="22" name="TextBox 21"/>
          <p:cNvSpPr txBox="1"/>
          <p:nvPr/>
        </p:nvSpPr>
        <p:spPr>
          <a:xfrm>
            <a:off x="1775236"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2013131" y="5935726"/>
            <a:ext cx="128699" cy="187198"/>
          </a:xfrm>
          <a:prstGeom prst="rect">
            <a:avLst/>
          </a:prstGeom>
        </p:spPr>
      </p:pic>
      <p:sp>
        <p:nvSpPr>
          <p:cNvPr id="24" name="TextBox 23"/>
          <p:cNvSpPr txBox="1"/>
          <p:nvPr/>
        </p:nvSpPr>
        <p:spPr>
          <a:xfrm>
            <a:off x="2180626"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3789600" y="5935726"/>
            <a:ext cx="128699" cy="187198"/>
          </a:xfrm>
          <a:prstGeom prst="rect">
            <a:avLst/>
          </a:prstGeom>
        </p:spPr>
      </p:pic>
      <p:sp>
        <p:nvSpPr>
          <p:cNvPr id="26" name="TextBox 25"/>
          <p:cNvSpPr txBox="1"/>
          <p:nvPr/>
        </p:nvSpPr>
        <p:spPr>
          <a:xfrm>
            <a:off x="3957096"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4194990" y="5935726"/>
            <a:ext cx="128699" cy="187198"/>
          </a:xfrm>
          <a:prstGeom prst="rect">
            <a:avLst/>
          </a:prstGeom>
        </p:spPr>
      </p:pic>
      <p:sp>
        <p:nvSpPr>
          <p:cNvPr id="28" name="TextBox 27"/>
          <p:cNvSpPr txBox="1"/>
          <p:nvPr/>
        </p:nvSpPr>
        <p:spPr>
          <a:xfrm>
            <a:off x="4362486"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6916890" y="5935726"/>
            <a:ext cx="128699" cy="187198"/>
          </a:xfrm>
          <a:prstGeom prst="rect">
            <a:avLst/>
          </a:prstGeom>
        </p:spPr>
      </p:pic>
      <p:sp>
        <p:nvSpPr>
          <p:cNvPr id="30" name="TextBox 29"/>
          <p:cNvSpPr txBox="1"/>
          <p:nvPr/>
        </p:nvSpPr>
        <p:spPr>
          <a:xfrm>
            <a:off x="7084386" y="5945505"/>
            <a:ext cx="3926391"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 segment</a:t>
            </a:r>
          </a:p>
        </p:txBody>
      </p:sp>
      <p:sp>
        <p:nvSpPr>
          <p:cNvPr id="31" name="TextBox 30"/>
          <p:cNvSpPr txBox="1"/>
          <p:nvPr/>
        </p:nvSpPr>
        <p:spPr>
          <a:xfrm>
            <a:off x="257175" y="611314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Nature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Nature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Organic</a:t>
            </a:r>
          </a:p>
        </p:txBody>
      </p:sp>
      <p:graphicFrame>
        <p:nvGraphicFramePr>
          <p:cNvPr id="12" name="Chart 11"/>
          <p:cNvGraphicFramePr>
            <a:graphicFrameLocks noGrp="1"/>
          </p:cNvGraphicFramePr>
          <p:nvPr/>
        </p:nvGraphicFramePr>
        <p:xfrm>
          <a:off x="238125" y="1266825"/>
          <a:ext cx="56864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Conventional</a:t>
            </a:r>
          </a:p>
        </p:txBody>
      </p:sp>
      <p:graphicFrame>
        <p:nvGraphicFramePr>
          <p:cNvPr id="15" name="Chart 14"/>
          <p:cNvGraphicFramePr>
            <a:graphicFrameLocks noGrp="1"/>
          </p:cNvGraphicFramePr>
          <p:nvPr/>
        </p:nvGraphicFramePr>
        <p:xfrm>
          <a:off x="6267450" y="1438275"/>
          <a:ext cx="5686425" cy="5133975"/>
        </p:xfrm>
        <a:graphic>
          <a:graphicData uri="http://schemas.openxmlformats.org/drawingml/2006/chart">
            <c:chart xmlns:c="http://schemas.openxmlformats.org/drawingml/2006/chart" r:id="rId4"/>
          </a:graphicData>
        </a:graphic>
      </p:graphicFrame>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6"/>
          <a:stretch>
            <a:fillRect/>
          </a:stretch>
        </p:blipFill>
        <p:spPr>
          <a:xfrm>
            <a:off x="3024059" y="3583939"/>
            <a:ext cx="402511" cy="585471"/>
          </a:xfrm>
          <a:prstGeom prst="rect">
            <a:avLst/>
          </a:prstGeom>
        </p:spPr>
      </p:pic>
      <p:pic>
        <p:nvPicPr>
          <p:cNvPr id="18" name="Picture 17" descr="lock.png"/>
          <p:cNvPicPr>
            <a:picLocks noChangeAspect="1"/>
          </p:cNvPicPr>
          <p:nvPr/>
        </p:nvPicPr>
        <p:blipFill>
          <a:blip r:embed="rId6"/>
          <a:stretch>
            <a:fillRect/>
          </a:stretch>
        </p:blipFill>
        <p:spPr>
          <a:xfrm>
            <a:off x="9056881" y="3674659"/>
            <a:ext cx="395643" cy="575481"/>
          </a:xfrm>
          <a:prstGeom prst="rect">
            <a:avLst/>
          </a:prstGeom>
        </p:spPr>
      </p:pic>
      <p:sp>
        <p:nvSpPr>
          <p:cNvPr id="19" name="lockshield_12"/>
          <p:cNvSpPr/>
          <p:nvPr/>
        </p:nvSpPr>
        <p:spPr>
          <a:xfrm>
            <a:off x="238125"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lockshield_15"/>
          <p:cNvSpPr/>
          <p:nvPr/>
        </p:nvSpPr>
        <p:spPr>
          <a:xfrm>
            <a:off x="6267450"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Nature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Nature, 2021–2036, highlighting the sub-segments driving growth</a:t>
            </a:r>
          </a:p>
        </p:txBody>
      </p:sp>
      <p:sp>
        <p:nvSpPr>
          <p:cNvPr id="10" name="Rounded Rectangle 9"/>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Nature (US$ Mn)</a:t>
            </a:r>
          </a:p>
        </p:txBody>
      </p:sp>
      <p:graphicFrame>
        <p:nvGraphicFramePr>
          <p:cNvPr id="12" name="Table 11"/>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1042173"/>
                <a:gridCol w="637943"/>
                <a:gridCol w="637943"/>
                <a:gridCol w="637943"/>
                <a:gridCol w="637943"/>
                <a:gridCol w="637943"/>
                <a:gridCol w="637943"/>
                <a:gridCol w="637943"/>
                <a:gridCol w="637943"/>
                <a:gridCol w="637943"/>
                <a:gridCol w="637943"/>
                <a:gridCol w="637943"/>
                <a:gridCol w="637943"/>
                <a:gridCol w="637943"/>
                <a:gridCol w="637943"/>
                <a:gridCol w="637943"/>
                <a:gridCol w="637943"/>
                <a:gridCol w="637943"/>
              </a:tblGrid>
              <a:tr h="246126">
                <a:tc>
                  <a:txBody>
                    <a:bodyPr wrap="none"/>
                    <a:lstStyle/>
                    <a:p>
                      <a:pPr algn="l"/>
                      <a:r>
                        <a:rPr sz="1100" b="1">
                          <a:solidFill>
                            <a:srgbClr val="0B2E4A"/>
                          </a:solidFill>
                          <a:latin typeface="Calibri"/>
                        </a:rPr>
                        <a:t>Nature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571750"/>
            <a:ext cx="1190625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657475"/>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Nature</a:t>
            </a:r>
          </a:p>
        </p:txBody>
      </p:sp>
      <p:sp>
        <p:nvSpPr>
          <p:cNvPr id="16" name="Rectangle 15"/>
          <p:cNvSpPr/>
          <p:nvPr/>
        </p:nvSpPr>
        <p:spPr>
          <a:xfrm>
            <a:off x="276225" y="28956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981325"/>
            <a:ext cx="1163955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430398" y="1589913"/>
            <a:ext cx="366712" cy="533400"/>
          </a:xfrm>
          <a:prstGeom prst="rect">
            <a:avLst/>
          </a:prstGeom>
        </p:spPr>
      </p:pic>
      <p:sp>
        <p:nvSpPr>
          <p:cNvPr id="20" name="TextBox 19"/>
          <p:cNvSpPr txBox="1"/>
          <p:nvPr/>
        </p:nvSpPr>
        <p:spPr>
          <a:xfrm>
            <a:off x="276225" y="2990850"/>
            <a:ext cx="2460066" cy="194310"/>
          </a:xfrm>
          <a:prstGeom prst="rect">
            <a:avLst/>
          </a:prstGeom>
          <a:noFill/>
        </p:spPr>
        <p:txBody>
          <a:bodyPr wrap="none" lIns="0" rIns="0" tIns="0" bIns="0">
            <a:spAutoFit/>
          </a:bodyPr>
          <a:lstStyle/>
          <a:p>
            <a:r>
              <a:rPr sz="1150" b="0">
                <a:solidFill>
                  <a:srgbClr val="2E2E2E"/>
                </a:solidFill>
                <a:latin typeface="Calibri"/>
              </a:rPr>
              <a:t>Organic segment is projected to register</a:t>
            </a:r>
          </a:p>
        </p:txBody>
      </p:sp>
      <p:pic>
        <p:nvPicPr>
          <p:cNvPr id="21" name="Picture 20" descr="lock.png"/>
          <p:cNvPicPr>
            <a:picLocks noChangeAspect="1"/>
          </p:cNvPicPr>
          <p:nvPr/>
        </p:nvPicPr>
        <p:blipFill>
          <a:blip r:embed="rId4"/>
          <a:stretch>
            <a:fillRect/>
          </a:stretch>
        </p:blipFill>
        <p:spPr>
          <a:xfrm>
            <a:off x="2685445" y="2980626"/>
            <a:ext cx="134549" cy="195707"/>
          </a:xfrm>
          <a:prstGeom prst="rect">
            <a:avLst/>
          </a:prstGeom>
        </p:spPr>
      </p:pic>
      <p:sp>
        <p:nvSpPr>
          <p:cNvPr id="22" name="TextBox 21"/>
          <p:cNvSpPr txBox="1"/>
          <p:nvPr/>
        </p:nvSpPr>
        <p:spPr>
          <a:xfrm>
            <a:off x="2860555" y="2990850"/>
            <a:ext cx="8576748" cy="194310"/>
          </a:xfrm>
          <a:prstGeom prst="rect">
            <a:avLst/>
          </a:prstGeom>
          <a:noFill/>
        </p:spPr>
        <p:txBody>
          <a:bodyPr wrap="none" lIns="0" rIns="0" tIns="0" bIns="0">
            <a:spAutoFit/>
          </a:bodyPr>
          <a:lstStyle/>
          <a:p>
            <a:r>
              <a:rPr sz="1150" b="0">
                <a:solidFill>
                  <a:srgbClr val="2E2E2E"/>
                </a:solidFill>
                <a:latin typeface="Calibri"/>
              </a:rPr>
              <a:t>X higher value than conventional segment in 2036. Among matcha by nature, conventional segment is expected to witness the highest CAGR of</a:t>
            </a:r>
          </a:p>
        </p:txBody>
      </p:sp>
      <p:pic>
        <p:nvPicPr>
          <p:cNvPr id="23" name="Picture 22" descr="lock.png"/>
          <p:cNvPicPr>
            <a:picLocks noChangeAspect="1"/>
          </p:cNvPicPr>
          <p:nvPr/>
        </p:nvPicPr>
        <p:blipFill>
          <a:blip r:embed="rId4"/>
          <a:stretch>
            <a:fillRect/>
          </a:stretch>
        </p:blipFill>
        <p:spPr>
          <a:xfrm>
            <a:off x="11386457" y="2980626"/>
            <a:ext cx="134549" cy="195707"/>
          </a:xfrm>
          <a:prstGeom prst="rect">
            <a:avLst/>
          </a:prstGeom>
        </p:spPr>
      </p:pic>
      <p:sp>
        <p:nvSpPr>
          <p:cNvPr id="24" name="TextBox 23"/>
          <p:cNvSpPr txBox="1"/>
          <p:nvPr/>
        </p:nvSpPr>
        <p:spPr>
          <a:xfrm>
            <a:off x="276225" y="3166110"/>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5" name="TextBox 24"/>
          <p:cNvSpPr txBox="1"/>
          <p:nvPr/>
        </p:nvSpPr>
        <p:spPr>
          <a:xfrm>
            <a:off x="276225" y="3393947"/>
            <a:ext cx="5903652" cy="194310"/>
          </a:xfrm>
          <a:prstGeom prst="rect">
            <a:avLst/>
          </a:prstGeom>
          <a:noFill/>
        </p:spPr>
        <p:txBody>
          <a:bodyPr wrap="none" lIns="0" rIns="0" tIns="0" bIns="0">
            <a:spAutoFit/>
          </a:bodyPr>
          <a:lstStyle/>
          <a:p>
            <a:r>
              <a:rPr sz="1150" b="0">
                <a:solidFill>
                  <a:srgbClr val="2E2E2E"/>
                </a:solidFill>
                <a:latin typeface="Calibri"/>
              </a:rPr>
              <a:t>In terms of value share by nature, the organic segment is expected to dominate the market, losing</a:t>
            </a:r>
          </a:p>
        </p:txBody>
      </p:sp>
      <p:pic>
        <p:nvPicPr>
          <p:cNvPr id="26" name="Picture 25" descr="lock.png"/>
          <p:cNvPicPr>
            <a:picLocks noChangeAspect="1"/>
          </p:cNvPicPr>
          <p:nvPr/>
        </p:nvPicPr>
        <p:blipFill>
          <a:blip r:embed="rId4"/>
          <a:stretch>
            <a:fillRect/>
          </a:stretch>
        </p:blipFill>
        <p:spPr>
          <a:xfrm>
            <a:off x="6129030" y="3383724"/>
            <a:ext cx="134549" cy="195707"/>
          </a:xfrm>
          <a:prstGeom prst="rect">
            <a:avLst/>
          </a:prstGeom>
        </p:spPr>
      </p:pic>
      <p:sp>
        <p:nvSpPr>
          <p:cNvPr id="27" name="TextBox 26"/>
          <p:cNvSpPr txBox="1"/>
          <p:nvPr/>
        </p:nvSpPr>
        <p:spPr>
          <a:xfrm>
            <a:off x="6304140" y="3393947"/>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8" name="Picture 27" descr="lock.png"/>
          <p:cNvPicPr>
            <a:picLocks noChangeAspect="1"/>
          </p:cNvPicPr>
          <p:nvPr/>
        </p:nvPicPr>
        <p:blipFill>
          <a:blip r:embed="rId4"/>
          <a:stretch>
            <a:fillRect/>
          </a:stretch>
        </p:blipFill>
        <p:spPr>
          <a:xfrm>
            <a:off x="7699283" y="3383724"/>
            <a:ext cx="134549" cy="195707"/>
          </a:xfrm>
          <a:prstGeom prst="rect">
            <a:avLst/>
          </a:prstGeom>
        </p:spPr>
      </p:pic>
      <p:sp>
        <p:nvSpPr>
          <p:cNvPr id="29" name="TextBox 28"/>
          <p:cNvSpPr txBox="1"/>
          <p:nvPr/>
        </p:nvSpPr>
        <p:spPr>
          <a:xfrm>
            <a:off x="7874392" y="3393947"/>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4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Nature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Nature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Nature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2419664"/>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5090922" y="24149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23387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Conventional</a:t>
            </a:r>
          </a:p>
        </p:txBody>
      </p:sp>
      <p:sp>
        <p:nvSpPr>
          <p:cNvPr id="18" name="BPS Value 1"/>
          <p:cNvSpPr txBox="1"/>
          <p:nvPr/>
        </p:nvSpPr>
        <p:spPr>
          <a:xfrm>
            <a:off x="6896100" y="240061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928997" y="470585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4701092"/>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462489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Organic</a:t>
            </a:r>
          </a:p>
        </p:txBody>
      </p:sp>
      <p:sp>
        <p:nvSpPr>
          <p:cNvPr id="22" name="BPS Value 2"/>
          <p:cNvSpPr txBox="1"/>
          <p:nvPr/>
        </p:nvSpPr>
        <p:spPr>
          <a:xfrm>
            <a:off x="6896100" y="468680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Rounded Rectangle 22"/>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Nature</a:t>
            </a:r>
          </a:p>
        </p:txBody>
      </p:sp>
      <p:sp>
        <p:nvSpPr>
          <p:cNvPr id="25" name="Rectangle 24"/>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5"/>
          <a:stretch>
            <a:fillRect/>
          </a:stretch>
        </p:blipFill>
        <p:spPr>
          <a:xfrm>
            <a:off x="2557843" y="3833622"/>
            <a:ext cx="275034" cy="400050"/>
          </a:xfrm>
          <a:prstGeom prst="rect">
            <a:avLst/>
          </a:prstGeom>
        </p:spPr>
      </p:pic>
      <p:sp>
        <p:nvSpPr>
          <p:cNvPr id="29" name="TextBox 28"/>
          <p:cNvSpPr txBox="1"/>
          <p:nvPr/>
        </p:nvSpPr>
        <p:spPr>
          <a:xfrm>
            <a:off x="7829550" y="1400175"/>
            <a:ext cx="3831852" cy="194310"/>
          </a:xfrm>
          <a:prstGeom prst="rect">
            <a:avLst/>
          </a:prstGeom>
          <a:noFill/>
        </p:spPr>
        <p:txBody>
          <a:bodyPr wrap="none" lIns="0" rIns="0" tIns="0" bIns="0">
            <a:spAutoFit/>
          </a:bodyPr>
          <a:lstStyle/>
          <a:p>
            <a:r>
              <a:rPr sz="1150" b="0">
                <a:solidFill>
                  <a:srgbClr val="2E2E2E"/>
                </a:solidFill>
                <a:latin typeface="Calibri"/>
              </a:rPr>
              <a:t>Among matcha by nature, conventional segment is expected to</a:t>
            </a:r>
          </a:p>
        </p:txBody>
      </p:sp>
      <p:sp>
        <p:nvSpPr>
          <p:cNvPr id="30" name="TextBox 29"/>
          <p:cNvSpPr txBox="1"/>
          <p:nvPr/>
        </p:nvSpPr>
        <p:spPr>
          <a:xfrm>
            <a:off x="7829550" y="157543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31" name="Picture 30" descr="lock.png"/>
          <p:cNvPicPr>
            <a:picLocks noChangeAspect="1"/>
          </p:cNvPicPr>
          <p:nvPr/>
        </p:nvPicPr>
        <p:blipFill>
          <a:blip r:embed="rId5"/>
          <a:stretch>
            <a:fillRect/>
          </a:stretch>
        </p:blipFill>
        <p:spPr>
          <a:xfrm>
            <a:off x="9526474" y="1565211"/>
            <a:ext cx="134549" cy="195707"/>
          </a:xfrm>
          <a:prstGeom prst="rect">
            <a:avLst/>
          </a:prstGeom>
        </p:spPr>
      </p:pic>
      <p:sp>
        <p:nvSpPr>
          <p:cNvPr id="32" name="TextBox 31"/>
          <p:cNvSpPr txBox="1"/>
          <p:nvPr/>
        </p:nvSpPr>
        <p:spPr>
          <a:xfrm>
            <a:off x="9701583" y="15754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33" name="TextBox 32"/>
          <p:cNvSpPr txBox="1"/>
          <p:nvPr/>
        </p:nvSpPr>
        <p:spPr>
          <a:xfrm>
            <a:off x="7829550" y="1803273"/>
            <a:ext cx="4031815" cy="194310"/>
          </a:xfrm>
          <a:prstGeom prst="rect">
            <a:avLst/>
          </a:prstGeom>
          <a:noFill/>
        </p:spPr>
        <p:txBody>
          <a:bodyPr wrap="none" lIns="0" rIns="0" tIns="0" bIns="0">
            <a:spAutoFit/>
          </a:bodyPr>
          <a:lstStyle/>
          <a:p>
            <a:r>
              <a:rPr sz="1150" b="0">
                <a:solidFill>
                  <a:srgbClr val="2E2E2E"/>
                </a:solidFill>
                <a:latin typeface="Calibri"/>
              </a:rPr>
              <a:t>In terms of value share by nature, the organic segment is expected</a:t>
            </a:r>
          </a:p>
        </p:txBody>
      </p:sp>
      <p:sp>
        <p:nvSpPr>
          <p:cNvPr id="34" name="TextBox 33"/>
          <p:cNvSpPr txBox="1"/>
          <p:nvPr/>
        </p:nvSpPr>
        <p:spPr>
          <a:xfrm>
            <a:off x="7829550" y="1978533"/>
            <a:ext cx="1914946" cy="194310"/>
          </a:xfrm>
          <a:prstGeom prst="rect">
            <a:avLst/>
          </a:prstGeom>
          <a:noFill/>
        </p:spPr>
        <p:txBody>
          <a:bodyPr wrap="none" lIns="0" rIns="0" tIns="0" bIns="0">
            <a:spAutoFit/>
          </a:bodyPr>
          <a:lstStyle/>
          <a:p>
            <a:r>
              <a:rPr sz="1150" b="0">
                <a:solidFill>
                  <a:srgbClr val="2E2E2E"/>
                </a:solidFill>
                <a:latin typeface="Calibri"/>
              </a:rPr>
              <a:t>to dominate the market, losing</a:t>
            </a:r>
          </a:p>
        </p:txBody>
      </p:sp>
      <p:pic>
        <p:nvPicPr>
          <p:cNvPr id="35" name="Picture 34" descr="lock.png"/>
          <p:cNvPicPr>
            <a:picLocks noChangeAspect="1"/>
          </p:cNvPicPr>
          <p:nvPr/>
        </p:nvPicPr>
        <p:blipFill>
          <a:blip r:embed="rId5"/>
          <a:stretch>
            <a:fillRect/>
          </a:stretch>
        </p:blipFill>
        <p:spPr>
          <a:xfrm>
            <a:off x="9693650" y="1968309"/>
            <a:ext cx="134549" cy="195707"/>
          </a:xfrm>
          <a:prstGeom prst="rect">
            <a:avLst/>
          </a:prstGeom>
        </p:spPr>
      </p:pic>
      <p:sp>
        <p:nvSpPr>
          <p:cNvPr id="36" name="TextBox 35"/>
          <p:cNvSpPr txBox="1"/>
          <p:nvPr/>
        </p:nvSpPr>
        <p:spPr>
          <a:xfrm>
            <a:off x="9868759" y="1978533"/>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37" name="Picture 36" descr="lock.png"/>
          <p:cNvPicPr>
            <a:picLocks noChangeAspect="1"/>
          </p:cNvPicPr>
          <p:nvPr/>
        </p:nvPicPr>
        <p:blipFill>
          <a:blip r:embed="rId5"/>
          <a:stretch>
            <a:fillRect/>
          </a:stretch>
        </p:blipFill>
        <p:spPr>
          <a:xfrm>
            <a:off x="11263903" y="1968309"/>
            <a:ext cx="134549" cy="195707"/>
          </a:xfrm>
          <a:prstGeom prst="rect">
            <a:avLst/>
          </a:prstGeom>
        </p:spPr>
      </p:pic>
      <p:sp>
        <p:nvSpPr>
          <p:cNvPr id="38" name="TextBox 37"/>
          <p:cNvSpPr txBox="1"/>
          <p:nvPr/>
        </p:nvSpPr>
        <p:spPr>
          <a:xfrm>
            <a:off x="7829550" y="215379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39"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4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Product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Product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2 sub-segments of Product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Product Type segment categorizes the market by product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494347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494347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Tea</a:t>
            </a:r>
          </a:p>
        </p:txBody>
      </p:sp>
      <p:sp>
        <p:nvSpPr>
          <p:cNvPr id="22" name="Rectangle 21"/>
          <p:cNvSpPr/>
          <p:nvPr/>
        </p:nvSpPr>
        <p:spPr>
          <a:xfrm>
            <a:off x="1866900"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4176712"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6924675" y="1773916"/>
            <a:ext cx="494347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6924675" y="1992961"/>
            <a:ext cx="494347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6962775" y="1773916"/>
            <a:ext cx="4867275"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a:t>
            </a:r>
          </a:p>
        </p:txBody>
      </p:sp>
      <p:sp>
        <p:nvSpPr>
          <p:cNvPr id="29" name="Rectangle 28"/>
          <p:cNvSpPr/>
          <p:nvPr/>
        </p:nvSpPr>
        <p:spPr>
          <a:xfrm>
            <a:off x="6924675" y="22302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6924675" y="2723109"/>
            <a:ext cx="494347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6924675" y="3215959"/>
            <a:ext cx="494347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9234488"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35" name="Rectangle 34"/>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37" name="Rounded Rectangle 36"/>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39" name="Rectangle 38"/>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41" name="Rounded Rectangle 40"/>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43" name="Rectangle 42"/>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Product Type split shows how demand is distributed across product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45" name="Rectangle 44"/>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47" name="TextBox 46"/>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48" name="TextBox 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9" name="Picture 48" descr="996_0_605E5C.png"/>
          <p:cNvPicPr>
            <a:picLocks noChangeAspect="1"/>
          </p:cNvPicPr>
          <p:nvPr/>
        </p:nvPicPr>
        <p:blipFill>
          <a:blip r:embed="rId4"/>
          <a:stretch>
            <a:fillRect/>
          </a:stretch>
        </p:blipFill>
        <p:spPr>
          <a:xfrm>
            <a:off x="3740773" y="2286582"/>
            <a:ext cx="1195728" cy="361950"/>
          </a:xfrm>
          <a:prstGeom prst="rect">
            <a:avLst/>
          </a:prstGeom>
        </p:spPr>
      </p:pic>
      <p:pic>
        <p:nvPicPr>
          <p:cNvPr id="50" name="Picture 49" descr="1_793_605E5C.png"/>
          <p:cNvPicPr>
            <a:picLocks noChangeAspect="1"/>
          </p:cNvPicPr>
          <p:nvPr/>
        </p:nvPicPr>
        <p:blipFill>
          <a:blip r:embed="rId5"/>
          <a:stretch>
            <a:fillRect/>
          </a:stretch>
        </p:blipFill>
        <p:spPr>
          <a:xfrm>
            <a:off x="3740773" y="2779432"/>
            <a:ext cx="1195728" cy="361950"/>
          </a:xfrm>
          <a:prstGeom prst="rect">
            <a:avLst/>
          </a:prstGeom>
        </p:spPr>
      </p:pic>
      <p:pic>
        <p:nvPicPr>
          <p:cNvPr id="51" name="Picture 50" descr="6_1__605E5C.png"/>
          <p:cNvPicPr>
            <a:picLocks noChangeAspect="1"/>
          </p:cNvPicPr>
          <p:nvPr/>
        </p:nvPicPr>
        <p:blipFill>
          <a:blip r:embed="rId6"/>
          <a:stretch>
            <a:fillRect/>
          </a:stretch>
        </p:blipFill>
        <p:spPr>
          <a:xfrm>
            <a:off x="3847419" y="3272281"/>
            <a:ext cx="982436" cy="361950"/>
          </a:xfrm>
          <a:prstGeom prst="rect">
            <a:avLst/>
          </a:prstGeom>
        </p:spPr>
      </p:pic>
      <p:pic>
        <p:nvPicPr>
          <p:cNvPr id="52" name="Picture 51" descr="117_3_605E5C.png"/>
          <p:cNvPicPr>
            <a:picLocks noChangeAspect="1"/>
          </p:cNvPicPr>
          <p:nvPr/>
        </p:nvPicPr>
        <p:blipFill>
          <a:blip r:embed="rId7"/>
          <a:stretch>
            <a:fillRect/>
          </a:stretch>
        </p:blipFill>
        <p:spPr>
          <a:xfrm>
            <a:off x="8798548" y="2286582"/>
            <a:ext cx="1195728" cy="361950"/>
          </a:xfrm>
          <a:prstGeom prst="rect">
            <a:avLst/>
          </a:prstGeom>
        </p:spPr>
      </p:pic>
      <p:pic>
        <p:nvPicPr>
          <p:cNvPr id="53" name="Picture 52" descr="233_8_605E5C.png"/>
          <p:cNvPicPr>
            <a:picLocks noChangeAspect="1"/>
          </p:cNvPicPr>
          <p:nvPr/>
        </p:nvPicPr>
        <p:blipFill>
          <a:blip r:embed="rId8"/>
          <a:stretch>
            <a:fillRect/>
          </a:stretch>
        </p:blipFill>
        <p:spPr>
          <a:xfrm>
            <a:off x="8798548" y="2779432"/>
            <a:ext cx="1195728" cy="361950"/>
          </a:xfrm>
          <a:prstGeom prst="rect">
            <a:avLst/>
          </a:prstGeom>
        </p:spPr>
      </p:pic>
      <p:pic>
        <p:nvPicPr>
          <p:cNvPr id="54" name="Picture 53" descr="7_1__605E5C.png"/>
          <p:cNvPicPr>
            <a:picLocks noChangeAspect="1"/>
          </p:cNvPicPr>
          <p:nvPr/>
        </p:nvPicPr>
        <p:blipFill>
          <a:blip r:embed="rId9"/>
          <a:stretch>
            <a:fillRect/>
          </a:stretch>
        </p:blipFill>
        <p:spPr>
          <a:xfrm>
            <a:off x="8905194" y="3272281"/>
            <a:ext cx="982436" cy="361950"/>
          </a:xfrm>
          <a:prstGeom prst="rect">
            <a:avLst/>
          </a:prstGeom>
        </p:spPr>
      </p:pic>
      <p:pic>
        <p:nvPicPr>
          <p:cNvPr id="55" name="Picture 54" descr="lock.png"/>
          <p:cNvPicPr>
            <a:picLocks noChangeAspect="1"/>
          </p:cNvPicPr>
          <p:nvPr/>
        </p:nvPicPr>
        <p:blipFill>
          <a:blip r:embed="rId10"/>
          <a:stretch>
            <a:fillRect/>
          </a:stretch>
        </p:blipFill>
        <p:spPr>
          <a:xfrm>
            <a:off x="4230493" y="2805915"/>
            <a:ext cx="212425" cy="308982"/>
          </a:xfrm>
          <a:prstGeom prst="rect">
            <a:avLst/>
          </a:prstGeom>
        </p:spPr>
      </p:pic>
      <p:pic>
        <p:nvPicPr>
          <p:cNvPr id="56" name="Picture 55" descr="lock.png"/>
          <p:cNvPicPr>
            <a:picLocks noChangeAspect="1"/>
          </p:cNvPicPr>
          <p:nvPr/>
        </p:nvPicPr>
        <p:blipFill>
          <a:blip r:embed="rId10"/>
          <a:stretch>
            <a:fillRect/>
          </a:stretch>
        </p:blipFill>
        <p:spPr>
          <a:xfrm>
            <a:off x="9288268" y="2805915"/>
            <a:ext cx="212425" cy="308982"/>
          </a:xfrm>
          <a:prstGeom prst="rect">
            <a:avLst/>
          </a:prstGeom>
        </p:spPr>
      </p:pic>
      <p:sp>
        <p:nvSpPr>
          <p:cNvPr id="57" name="TextBox 56"/>
          <p:cNvSpPr txBox="1"/>
          <p:nvPr/>
        </p:nvSpPr>
        <p:spPr>
          <a:xfrm>
            <a:off x="485775" y="4229437"/>
            <a:ext cx="2833365" cy="186689"/>
          </a:xfrm>
          <a:prstGeom prst="rect">
            <a:avLst/>
          </a:prstGeom>
          <a:noFill/>
        </p:spPr>
        <p:txBody>
          <a:bodyPr wrap="none" lIns="0" rIns="0" tIns="0" bIns="0">
            <a:spAutoFit/>
          </a:bodyPr>
          <a:lstStyle/>
          <a:p>
            <a:r>
              <a:rPr sz="1100" b="0">
                <a:solidFill>
                  <a:srgbClr val="2E2E2E"/>
                </a:solidFill>
                <a:latin typeface="Calibri"/>
              </a:rPr>
              <a:t>Among matcha by product type, matcha powder</a:t>
            </a:r>
          </a:p>
        </p:txBody>
      </p:sp>
      <p:sp>
        <p:nvSpPr>
          <p:cNvPr id="58" name="TextBox 57"/>
          <p:cNvSpPr txBox="1"/>
          <p:nvPr/>
        </p:nvSpPr>
        <p:spPr>
          <a:xfrm>
            <a:off x="485775" y="439707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59" name="TextBox 58"/>
          <p:cNvSpPr txBox="1"/>
          <p:nvPr/>
        </p:nvSpPr>
        <p:spPr>
          <a:xfrm>
            <a:off x="485775" y="456471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60" name="Picture 59" descr="lock.png"/>
          <p:cNvPicPr>
            <a:picLocks noChangeAspect="1"/>
          </p:cNvPicPr>
          <p:nvPr/>
        </p:nvPicPr>
        <p:blipFill>
          <a:blip r:embed="rId10"/>
          <a:stretch>
            <a:fillRect/>
          </a:stretch>
        </p:blipFill>
        <p:spPr>
          <a:xfrm>
            <a:off x="626261" y="4554938"/>
            <a:ext cx="128699" cy="187198"/>
          </a:xfrm>
          <a:prstGeom prst="rect">
            <a:avLst/>
          </a:prstGeom>
        </p:spPr>
      </p:pic>
      <p:sp>
        <p:nvSpPr>
          <p:cNvPr id="61" name="TextBox 60"/>
          <p:cNvSpPr txBox="1"/>
          <p:nvPr/>
        </p:nvSpPr>
        <p:spPr>
          <a:xfrm>
            <a:off x="793757" y="456471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62" name="TextBox 61"/>
          <p:cNvSpPr txBox="1"/>
          <p:nvPr/>
        </p:nvSpPr>
        <p:spPr>
          <a:xfrm>
            <a:off x="485775" y="4732357"/>
            <a:ext cx="2892573" cy="186689"/>
          </a:xfrm>
          <a:prstGeom prst="rect">
            <a:avLst/>
          </a:prstGeom>
          <a:noFill/>
        </p:spPr>
        <p:txBody>
          <a:bodyPr wrap="none" lIns="0" rIns="0" tIns="0" bIns="0">
            <a:spAutoFit/>
          </a:bodyPr>
          <a:lstStyle/>
          <a:p>
            <a:r>
              <a:rPr sz="1100" b="0">
                <a:solidFill>
                  <a:srgbClr val="2E2E2E"/>
                </a:solidFill>
                <a:latin typeface="Calibri"/>
              </a:rPr>
              <a:t>share by product type, the matcha tea segment is</a:t>
            </a:r>
          </a:p>
        </p:txBody>
      </p:sp>
      <p:sp>
        <p:nvSpPr>
          <p:cNvPr id="63" name="TextBox 62"/>
          <p:cNvSpPr txBox="1"/>
          <p:nvPr/>
        </p:nvSpPr>
        <p:spPr>
          <a:xfrm>
            <a:off x="485775" y="489999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64" name="Picture 63" descr="lock.png"/>
          <p:cNvPicPr>
            <a:picLocks noChangeAspect="1"/>
          </p:cNvPicPr>
          <p:nvPr/>
        </p:nvPicPr>
        <p:blipFill>
          <a:blip r:embed="rId10"/>
          <a:stretch>
            <a:fillRect/>
          </a:stretch>
        </p:blipFill>
        <p:spPr>
          <a:xfrm>
            <a:off x="2822716" y="4890217"/>
            <a:ext cx="128699" cy="187198"/>
          </a:xfrm>
          <a:prstGeom prst="rect">
            <a:avLst/>
          </a:prstGeom>
        </p:spPr>
      </p:pic>
      <p:sp>
        <p:nvSpPr>
          <p:cNvPr id="65" name="TextBox 64"/>
          <p:cNvSpPr txBox="1"/>
          <p:nvPr/>
        </p:nvSpPr>
        <p:spPr>
          <a:xfrm>
            <a:off x="2990212" y="489999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66" name="TextBox 65"/>
          <p:cNvSpPr txBox="1"/>
          <p:nvPr/>
        </p:nvSpPr>
        <p:spPr>
          <a:xfrm>
            <a:off x="485775" y="506763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67" name="Picture 66" descr="lock.png"/>
          <p:cNvPicPr>
            <a:picLocks noChangeAspect="1"/>
          </p:cNvPicPr>
          <p:nvPr/>
        </p:nvPicPr>
        <p:blipFill>
          <a:blip r:embed="rId10"/>
          <a:stretch>
            <a:fillRect/>
          </a:stretch>
        </p:blipFill>
        <p:spPr>
          <a:xfrm>
            <a:off x="1576057" y="5057858"/>
            <a:ext cx="128699" cy="187198"/>
          </a:xfrm>
          <a:prstGeom prst="rect">
            <a:avLst/>
          </a:prstGeom>
        </p:spPr>
      </p:pic>
      <p:sp>
        <p:nvSpPr>
          <p:cNvPr id="68" name="TextBox 67"/>
          <p:cNvSpPr txBox="1"/>
          <p:nvPr/>
        </p:nvSpPr>
        <p:spPr>
          <a:xfrm>
            <a:off x="174355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69" name="TextBox 68"/>
          <p:cNvSpPr txBox="1"/>
          <p:nvPr/>
        </p:nvSpPr>
        <p:spPr>
          <a:xfrm>
            <a:off x="485775" y="5285569"/>
            <a:ext cx="2565424" cy="186689"/>
          </a:xfrm>
          <a:prstGeom prst="rect">
            <a:avLst/>
          </a:prstGeom>
          <a:noFill/>
        </p:spPr>
        <p:txBody>
          <a:bodyPr wrap="none" lIns="0" rIns="0" tIns="0" bIns="0">
            <a:spAutoFit/>
          </a:bodyPr>
          <a:lstStyle/>
          <a:p>
            <a:r>
              <a:rPr sz="1100" b="0">
                <a:solidFill>
                  <a:srgbClr val="2E2E2E"/>
                </a:solidFill>
                <a:latin typeface="Calibri"/>
              </a:rPr>
              <a:t>Matcha tea segment is projected to register</a:t>
            </a:r>
          </a:p>
        </p:txBody>
      </p:sp>
      <p:pic>
        <p:nvPicPr>
          <p:cNvPr id="70" name="Picture 69" descr="lock.png"/>
          <p:cNvPicPr>
            <a:picLocks noChangeAspect="1"/>
          </p:cNvPicPr>
          <p:nvPr/>
        </p:nvPicPr>
        <p:blipFill>
          <a:blip r:embed="rId10"/>
          <a:stretch>
            <a:fillRect/>
          </a:stretch>
        </p:blipFill>
        <p:spPr>
          <a:xfrm>
            <a:off x="2999251" y="5275790"/>
            <a:ext cx="128699" cy="187198"/>
          </a:xfrm>
          <a:prstGeom prst="rect">
            <a:avLst/>
          </a:prstGeom>
        </p:spPr>
      </p:pic>
      <p:sp>
        <p:nvSpPr>
          <p:cNvPr id="71" name="TextBox 70"/>
          <p:cNvSpPr txBox="1"/>
          <p:nvPr/>
        </p:nvSpPr>
        <p:spPr>
          <a:xfrm>
            <a:off x="3166747"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72" name="TextBox 71"/>
          <p:cNvSpPr txBox="1"/>
          <p:nvPr/>
        </p:nvSpPr>
        <p:spPr>
          <a:xfrm>
            <a:off x="485775" y="5453209"/>
            <a:ext cx="2655465" cy="186689"/>
          </a:xfrm>
          <a:prstGeom prst="rect">
            <a:avLst/>
          </a:prstGeom>
          <a:noFill/>
        </p:spPr>
        <p:txBody>
          <a:bodyPr wrap="none" lIns="0" rIns="0" tIns="0" bIns="0">
            <a:spAutoFit/>
          </a:bodyPr>
          <a:lstStyle/>
          <a:p>
            <a:r>
              <a:rPr sz="1100" b="0">
                <a:solidFill>
                  <a:srgbClr val="2E2E2E"/>
                </a:solidFill>
                <a:latin typeface="Calibri"/>
              </a:rPr>
              <a:t>higher value than matcha powder segment in</a:t>
            </a:r>
          </a:p>
        </p:txBody>
      </p:sp>
      <p:sp>
        <p:nvSpPr>
          <p:cNvPr id="73" name="TextBox 72"/>
          <p:cNvSpPr txBox="1"/>
          <p:nvPr/>
        </p:nvSpPr>
        <p:spPr>
          <a:xfrm>
            <a:off x="485775" y="562084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74" name="TextBox 73"/>
          <p:cNvSpPr txBox="1"/>
          <p:nvPr/>
        </p:nvSpPr>
        <p:spPr>
          <a:xfrm>
            <a:off x="3838575" y="4229437"/>
            <a:ext cx="898574" cy="186689"/>
          </a:xfrm>
          <a:prstGeom prst="rect">
            <a:avLst/>
          </a:prstGeom>
          <a:noFill/>
        </p:spPr>
        <p:txBody>
          <a:bodyPr wrap="none" lIns="0" rIns="0" tIns="0" bIns="0">
            <a:spAutoFit/>
          </a:bodyPr>
          <a:lstStyle/>
          <a:p>
            <a:r>
              <a:rPr sz="1100" b="0">
                <a:solidFill>
                  <a:srgbClr val="2E2E2E"/>
                </a:solidFill>
                <a:latin typeface="Calibri"/>
              </a:rPr>
              <a:t>● Matcha Tea:</a:t>
            </a:r>
          </a:p>
        </p:txBody>
      </p:sp>
      <p:pic>
        <p:nvPicPr>
          <p:cNvPr id="75" name="Picture 74" descr="lock.png"/>
          <p:cNvPicPr>
            <a:picLocks noChangeAspect="1"/>
          </p:cNvPicPr>
          <p:nvPr/>
        </p:nvPicPr>
        <p:blipFill>
          <a:blip r:embed="rId10"/>
          <a:stretch>
            <a:fillRect/>
          </a:stretch>
        </p:blipFill>
        <p:spPr>
          <a:xfrm>
            <a:off x="4685201" y="4219658"/>
            <a:ext cx="128699" cy="187198"/>
          </a:xfrm>
          <a:prstGeom prst="rect">
            <a:avLst/>
          </a:prstGeom>
        </p:spPr>
      </p:pic>
      <p:sp>
        <p:nvSpPr>
          <p:cNvPr id="76" name="TextBox 75"/>
          <p:cNvSpPr txBox="1"/>
          <p:nvPr/>
        </p:nvSpPr>
        <p:spPr>
          <a:xfrm>
            <a:off x="485269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0"/>
          <a:stretch>
            <a:fillRect/>
          </a:stretch>
        </p:blipFill>
        <p:spPr>
          <a:xfrm>
            <a:off x="5712147" y="4219658"/>
            <a:ext cx="128699" cy="187198"/>
          </a:xfrm>
          <a:prstGeom prst="rect">
            <a:avLst/>
          </a:prstGeom>
        </p:spPr>
      </p:pic>
      <p:sp>
        <p:nvSpPr>
          <p:cNvPr id="78" name="TextBox 77"/>
          <p:cNvSpPr txBox="1"/>
          <p:nvPr/>
        </p:nvSpPr>
        <p:spPr>
          <a:xfrm>
            <a:off x="5879643"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79" name="TextBox 78"/>
          <p:cNvSpPr txBox="1"/>
          <p:nvPr/>
        </p:nvSpPr>
        <p:spPr>
          <a:xfrm>
            <a:off x="3838575" y="4447369"/>
            <a:ext cx="1131589" cy="186689"/>
          </a:xfrm>
          <a:prstGeom prst="rect">
            <a:avLst/>
          </a:prstGeom>
          <a:noFill/>
        </p:spPr>
        <p:txBody>
          <a:bodyPr wrap="none" lIns="0" rIns="0" tIns="0" bIns="0">
            <a:spAutoFit/>
          </a:bodyPr>
          <a:lstStyle/>
          <a:p>
            <a:r>
              <a:rPr sz="1100" b="0">
                <a:solidFill>
                  <a:srgbClr val="2E2E2E"/>
                </a:solidFill>
                <a:latin typeface="Calibri"/>
              </a:rPr>
              <a:t>● Matcha Powder:</a:t>
            </a:r>
          </a:p>
        </p:txBody>
      </p:sp>
      <p:pic>
        <p:nvPicPr>
          <p:cNvPr id="80" name="Picture 79" descr="lock.png"/>
          <p:cNvPicPr>
            <a:picLocks noChangeAspect="1"/>
          </p:cNvPicPr>
          <p:nvPr/>
        </p:nvPicPr>
        <p:blipFill>
          <a:blip r:embed="rId10"/>
          <a:stretch>
            <a:fillRect/>
          </a:stretch>
        </p:blipFill>
        <p:spPr>
          <a:xfrm>
            <a:off x="4918216" y="4437590"/>
            <a:ext cx="128699" cy="187198"/>
          </a:xfrm>
          <a:prstGeom prst="rect">
            <a:avLst/>
          </a:prstGeom>
        </p:spPr>
      </p:pic>
      <p:sp>
        <p:nvSpPr>
          <p:cNvPr id="81" name="TextBox 80"/>
          <p:cNvSpPr txBox="1"/>
          <p:nvPr/>
        </p:nvSpPr>
        <p:spPr>
          <a:xfrm>
            <a:off x="508571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0"/>
          <a:stretch>
            <a:fillRect/>
          </a:stretch>
        </p:blipFill>
        <p:spPr>
          <a:xfrm>
            <a:off x="5945162" y="4437590"/>
            <a:ext cx="128699" cy="187198"/>
          </a:xfrm>
          <a:prstGeom prst="rect">
            <a:avLst/>
          </a:prstGeom>
        </p:spPr>
      </p:pic>
      <p:sp>
        <p:nvSpPr>
          <p:cNvPr id="83" name="TextBox 82"/>
          <p:cNvSpPr txBox="1"/>
          <p:nvPr/>
        </p:nvSpPr>
        <p:spPr>
          <a:xfrm>
            <a:off x="6112658"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84" name="TextBox 83"/>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Product Type segment is projected to grow at a</a:t>
            </a:r>
          </a:p>
        </p:txBody>
      </p:sp>
      <p:sp>
        <p:nvSpPr>
          <p:cNvPr id="85" name="TextBox 84"/>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86" name="Picture 85" descr="lock.png"/>
          <p:cNvPicPr>
            <a:picLocks noChangeAspect="1"/>
          </p:cNvPicPr>
          <p:nvPr/>
        </p:nvPicPr>
        <p:blipFill>
          <a:blip r:embed="rId10"/>
          <a:stretch>
            <a:fillRect/>
          </a:stretch>
        </p:blipFill>
        <p:spPr>
          <a:xfrm>
            <a:off x="9048826" y="6007677"/>
            <a:ext cx="134549" cy="195707"/>
          </a:xfrm>
          <a:prstGeom prst="rect">
            <a:avLst/>
          </a:prstGeom>
        </p:spPr>
      </p:pic>
      <p:sp>
        <p:nvSpPr>
          <p:cNvPr id="87" name="TextBox 86"/>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Product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Product Type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Product Type · Bubble size represents 2036 value</a:t>
            </a:r>
          </a:p>
        </p:txBody>
      </p:sp>
      <p:graphicFrame>
        <p:nvGraphicFramePr>
          <p:cNvPr id="15" name="Chart 14"/>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629280" cy="186689"/>
          </a:xfrm>
          <a:prstGeom prst="rect">
            <a:avLst/>
          </a:prstGeom>
          <a:noFill/>
        </p:spPr>
        <p:txBody>
          <a:bodyPr wrap="none" lIns="0" rIns="0" tIns="0" bIns="0">
            <a:spAutoFit/>
          </a:bodyPr>
          <a:lstStyle/>
          <a:p>
            <a:r>
              <a:rPr sz="1100" b="0">
                <a:solidFill>
                  <a:srgbClr val="2E2E2E"/>
                </a:solidFill>
                <a:latin typeface="Calibri"/>
              </a:rPr>
              <a:t>Matcha tea followed by matcha powder are expected to be the two most attractive product type segments in the North America matcha market in terms of value over the forecast period. Matcha tea and</a:t>
            </a:r>
          </a:p>
        </p:txBody>
      </p:sp>
      <p:sp>
        <p:nvSpPr>
          <p:cNvPr id="20" name="TextBox 19"/>
          <p:cNvSpPr txBox="1"/>
          <p:nvPr/>
        </p:nvSpPr>
        <p:spPr>
          <a:xfrm>
            <a:off x="257175" y="5945505"/>
            <a:ext cx="2329391" cy="186689"/>
          </a:xfrm>
          <a:prstGeom prst="rect">
            <a:avLst/>
          </a:prstGeom>
          <a:noFill/>
        </p:spPr>
        <p:txBody>
          <a:bodyPr wrap="none" lIns="0" rIns="0" tIns="0" bIns="0">
            <a:spAutoFit/>
          </a:bodyPr>
          <a:lstStyle/>
          <a:p>
            <a:r>
              <a:rPr sz="1100" b="0">
                <a:solidFill>
                  <a:srgbClr val="2E2E2E"/>
                </a:solidFill>
                <a:latin typeface="Calibri"/>
              </a:rPr>
              <a:t>matcha powder exhibit a CAGR index of</a:t>
            </a:r>
          </a:p>
        </p:txBody>
      </p:sp>
      <p:pic>
        <p:nvPicPr>
          <p:cNvPr id="21" name="Picture 20" descr="lock.png"/>
          <p:cNvPicPr>
            <a:picLocks noChangeAspect="1"/>
          </p:cNvPicPr>
          <p:nvPr/>
        </p:nvPicPr>
        <p:blipFill>
          <a:blip r:embed="rId6"/>
          <a:stretch>
            <a:fillRect/>
          </a:stretch>
        </p:blipFill>
        <p:spPr>
          <a:xfrm>
            <a:off x="2534617" y="5935726"/>
            <a:ext cx="128699" cy="187198"/>
          </a:xfrm>
          <a:prstGeom prst="rect">
            <a:avLst/>
          </a:prstGeom>
        </p:spPr>
      </p:pic>
      <p:sp>
        <p:nvSpPr>
          <p:cNvPr id="22" name="TextBox 21"/>
          <p:cNvSpPr txBox="1"/>
          <p:nvPr/>
        </p:nvSpPr>
        <p:spPr>
          <a:xfrm>
            <a:off x="2702113"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2940007" y="5935726"/>
            <a:ext cx="128699" cy="187198"/>
          </a:xfrm>
          <a:prstGeom prst="rect">
            <a:avLst/>
          </a:prstGeom>
        </p:spPr>
      </p:pic>
      <p:sp>
        <p:nvSpPr>
          <p:cNvPr id="24" name="TextBox 23"/>
          <p:cNvSpPr txBox="1"/>
          <p:nvPr/>
        </p:nvSpPr>
        <p:spPr>
          <a:xfrm>
            <a:off x="3107503"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4716477" y="5935726"/>
            <a:ext cx="128699" cy="187198"/>
          </a:xfrm>
          <a:prstGeom prst="rect">
            <a:avLst/>
          </a:prstGeom>
        </p:spPr>
      </p:pic>
      <p:sp>
        <p:nvSpPr>
          <p:cNvPr id="26" name="TextBox 25"/>
          <p:cNvSpPr txBox="1"/>
          <p:nvPr/>
        </p:nvSpPr>
        <p:spPr>
          <a:xfrm>
            <a:off x="4883973"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5121867" y="5935726"/>
            <a:ext cx="128699" cy="187198"/>
          </a:xfrm>
          <a:prstGeom prst="rect">
            <a:avLst/>
          </a:prstGeom>
        </p:spPr>
      </p:pic>
      <p:sp>
        <p:nvSpPr>
          <p:cNvPr id="28" name="TextBox 27"/>
          <p:cNvSpPr txBox="1"/>
          <p:nvPr/>
        </p:nvSpPr>
        <p:spPr>
          <a:xfrm>
            <a:off x="5289363"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7843767" y="5935726"/>
            <a:ext cx="128699" cy="187198"/>
          </a:xfrm>
          <a:prstGeom prst="rect">
            <a:avLst/>
          </a:prstGeom>
        </p:spPr>
      </p:pic>
      <p:sp>
        <p:nvSpPr>
          <p:cNvPr id="30" name="TextBox 29"/>
          <p:cNvSpPr txBox="1"/>
          <p:nvPr/>
        </p:nvSpPr>
        <p:spPr>
          <a:xfrm>
            <a:off x="8011263" y="5945505"/>
            <a:ext cx="3403334" cy="186689"/>
          </a:xfrm>
          <a:prstGeom prst="rect">
            <a:avLst/>
          </a:prstGeom>
          <a:noFill/>
        </p:spPr>
        <p:txBody>
          <a:bodyPr wrap="none" lIns="0" rIns="0" tIns="0" bIns="0">
            <a:spAutoFit/>
          </a:bodyPr>
          <a:lstStyle/>
          <a:p>
            <a:r>
              <a:rPr sz="1100" b="0">
                <a:solidFill>
                  <a:srgbClr val="2E2E2E"/>
                </a:solidFill>
                <a:latin typeface="Calibri"/>
              </a:rPr>
              <a:t>. Bubbles right of the CAGR-Index line grow faster than the</a:t>
            </a:r>
          </a:p>
        </p:txBody>
      </p:sp>
      <p:sp>
        <p:nvSpPr>
          <p:cNvPr id="31" name="TextBox 30"/>
          <p:cNvSpPr txBox="1"/>
          <p:nvPr/>
        </p:nvSpPr>
        <p:spPr>
          <a:xfrm>
            <a:off x="257175" y="6113145"/>
            <a:ext cx="1084932" cy="186689"/>
          </a:xfrm>
          <a:prstGeom prst="rect">
            <a:avLst/>
          </a:prstGeom>
          <a:noFill/>
        </p:spPr>
        <p:txBody>
          <a:bodyPr wrap="none" lIns="0" rIns="0" tIns="0" bIns="0">
            <a:spAutoFit/>
          </a:bodyPr>
          <a:lstStyle/>
          <a:p>
            <a:r>
              <a:rPr sz="1100" b="0">
                <a:solidFill>
                  <a:srgbClr val="2E2E2E"/>
                </a:solidFill>
                <a:latin typeface="Calibri"/>
              </a:rPr>
              <a:t>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Product Type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Matcha Powder</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Matcha Tea</a:t>
            </a:r>
          </a:p>
        </p:txBody>
      </p:sp>
      <p:graphicFrame>
        <p:nvGraphicFramePr>
          <p:cNvPr id="15" name="Chart 14"/>
          <p:cNvGraphicFramePr>
            <a:graphicFrameLocks noGrp="1"/>
          </p:cNvGraphicFramePr>
          <p:nvPr/>
        </p:nvGraphicFramePr>
        <p:xfrm>
          <a:off x="6267450" y="1266825"/>
          <a:ext cx="5686425" cy="5305425"/>
        </p:xfrm>
        <a:graphic>
          <a:graphicData uri="http://schemas.openxmlformats.org/drawingml/2006/chart">
            <c:chart xmlns:c="http://schemas.openxmlformats.org/drawingml/2006/chart" r:id="rId4"/>
          </a:graphicData>
        </a:graphic>
      </p:graphicFrame>
      <p:sp>
        <p:nvSpPr>
          <p:cNvPr id="16" name="TextBox 1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 name="Picture 16" descr="lock.png"/>
          <p:cNvPicPr>
            <a:picLocks noChangeAspect="1"/>
          </p:cNvPicPr>
          <p:nvPr/>
        </p:nvPicPr>
        <p:blipFill>
          <a:blip r:embed="rId6"/>
          <a:stretch>
            <a:fillRect/>
          </a:stretch>
        </p:blipFill>
        <p:spPr>
          <a:xfrm>
            <a:off x="3027556" y="3674659"/>
            <a:ext cx="395643" cy="575481"/>
          </a:xfrm>
          <a:prstGeom prst="rect">
            <a:avLst/>
          </a:prstGeom>
        </p:spPr>
      </p:pic>
      <p:pic>
        <p:nvPicPr>
          <p:cNvPr id="18" name="Picture 17" descr="lock.png"/>
          <p:cNvPicPr>
            <a:picLocks noChangeAspect="1"/>
          </p:cNvPicPr>
          <p:nvPr/>
        </p:nvPicPr>
        <p:blipFill>
          <a:blip r:embed="rId6"/>
          <a:stretch>
            <a:fillRect/>
          </a:stretch>
        </p:blipFill>
        <p:spPr>
          <a:xfrm>
            <a:off x="9053384" y="3583939"/>
            <a:ext cx="402511" cy="585471"/>
          </a:xfrm>
          <a:prstGeom prst="rect">
            <a:avLst/>
          </a:prstGeom>
        </p:spPr>
      </p:pic>
      <p:sp>
        <p:nvSpPr>
          <p:cNvPr id="19" name="lockshield_12"/>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lockshield_15"/>
          <p:cNvSpPr/>
          <p:nvPr/>
        </p:nvSpPr>
        <p:spPr>
          <a:xfrm>
            <a:off x="6267450" y="1266825"/>
            <a:ext cx="56864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Product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Product Type, 2021–2036, highlighting the sub-segments driving growth</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Product Type (US$ Mn)</a:t>
            </a:r>
          </a:p>
        </p:txBody>
      </p:sp>
      <p:graphicFrame>
        <p:nvGraphicFramePr>
          <p:cNvPr id="12" name="Table 11"/>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1766511"/>
                <a:gridCol w="595335"/>
                <a:gridCol w="595335"/>
                <a:gridCol w="595335"/>
                <a:gridCol w="595335"/>
                <a:gridCol w="595335"/>
                <a:gridCol w="595335"/>
                <a:gridCol w="595335"/>
                <a:gridCol w="595335"/>
                <a:gridCol w="595335"/>
                <a:gridCol w="595335"/>
                <a:gridCol w="595335"/>
                <a:gridCol w="595335"/>
                <a:gridCol w="595335"/>
                <a:gridCol w="595335"/>
                <a:gridCol w="595335"/>
                <a:gridCol w="595335"/>
                <a:gridCol w="59533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Caffeine Added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Decaffeinated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High Caffeine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Naturally Caffeinated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Naturally Decaffeinated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Product Type</a:t>
            </a:r>
          </a:p>
        </p:txBody>
      </p:sp>
      <p:sp>
        <p:nvSpPr>
          <p:cNvPr id="16" name="Rectangle 15"/>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792568" y="2204276"/>
            <a:ext cx="366712" cy="533400"/>
          </a:xfrm>
          <a:prstGeom prst="rect">
            <a:avLst/>
          </a:prstGeom>
        </p:spPr>
      </p:pic>
      <p:sp>
        <p:nvSpPr>
          <p:cNvPr id="20" name="TextBox 19"/>
          <p:cNvSpPr txBox="1"/>
          <p:nvPr/>
        </p:nvSpPr>
        <p:spPr>
          <a:xfrm>
            <a:off x="276225" y="4219575"/>
            <a:ext cx="2678571" cy="194310"/>
          </a:xfrm>
          <a:prstGeom prst="rect">
            <a:avLst/>
          </a:prstGeom>
          <a:noFill/>
        </p:spPr>
        <p:txBody>
          <a:bodyPr wrap="none" lIns="0" rIns="0" tIns="0" bIns="0">
            <a:spAutoFit/>
          </a:bodyPr>
          <a:lstStyle/>
          <a:p>
            <a:r>
              <a:rPr sz="1150" b="0">
                <a:solidFill>
                  <a:srgbClr val="2E2E2E"/>
                </a:solidFill>
                <a:latin typeface="Calibri"/>
              </a:rPr>
              <a:t>Matcha tea segment is projected to register</a:t>
            </a:r>
          </a:p>
        </p:txBody>
      </p:sp>
      <p:pic>
        <p:nvPicPr>
          <p:cNvPr id="21" name="Picture 20" descr="lock.png"/>
          <p:cNvPicPr>
            <a:picLocks noChangeAspect="1"/>
          </p:cNvPicPr>
          <p:nvPr/>
        </p:nvPicPr>
        <p:blipFill>
          <a:blip r:embed="rId4"/>
          <a:stretch>
            <a:fillRect/>
          </a:stretch>
        </p:blipFill>
        <p:spPr>
          <a:xfrm>
            <a:off x="2903950" y="4209351"/>
            <a:ext cx="134549" cy="195707"/>
          </a:xfrm>
          <a:prstGeom prst="rect">
            <a:avLst/>
          </a:prstGeom>
        </p:spPr>
      </p:pic>
      <p:sp>
        <p:nvSpPr>
          <p:cNvPr id="22" name="TextBox 21"/>
          <p:cNvSpPr txBox="1"/>
          <p:nvPr/>
        </p:nvSpPr>
        <p:spPr>
          <a:xfrm>
            <a:off x="3079059" y="4219575"/>
            <a:ext cx="8755905" cy="194310"/>
          </a:xfrm>
          <a:prstGeom prst="rect">
            <a:avLst/>
          </a:prstGeom>
          <a:noFill/>
        </p:spPr>
        <p:txBody>
          <a:bodyPr wrap="none" lIns="0" rIns="0" tIns="0" bIns="0">
            <a:spAutoFit/>
          </a:bodyPr>
          <a:lstStyle/>
          <a:p>
            <a:r>
              <a:rPr sz="1150" b="0">
                <a:solidFill>
                  <a:srgbClr val="2E2E2E"/>
                </a:solidFill>
                <a:latin typeface="Calibri"/>
              </a:rPr>
              <a:t>X higher value than matcha powder segment in 2036. Among matcha by product type, matcha powder segment is expected to witness the highest</a:t>
            </a:r>
          </a:p>
        </p:txBody>
      </p:sp>
      <p:sp>
        <p:nvSpPr>
          <p:cNvPr id="23" name="TextBox 22"/>
          <p:cNvSpPr txBox="1"/>
          <p:nvPr/>
        </p:nvSpPr>
        <p:spPr>
          <a:xfrm>
            <a:off x="276225" y="4394835"/>
            <a:ext cx="564536" cy="194310"/>
          </a:xfrm>
          <a:prstGeom prst="rect">
            <a:avLst/>
          </a:prstGeom>
          <a:noFill/>
        </p:spPr>
        <p:txBody>
          <a:bodyPr wrap="none" lIns="0" rIns="0" tIns="0" bIns="0">
            <a:spAutoFit/>
          </a:bodyPr>
          <a:lstStyle/>
          <a:p>
            <a:r>
              <a:rPr sz="1150" b="0">
                <a:solidFill>
                  <a:srgbClr val="2E2E2E"/>
                </a:solidFill>
                <a:latin typeface="Calibri"/>
              </a:rPr>
              <a:t>CAGR of</a:t>
            </a:r>
          </a:p>
        </p:txBody>
      </p:sp>
      <p:pic>
        <p:nvPicPr>
          <p:cNvPr id="24" name="Picture 23" descr="lock.png"/>
          <p:cNvPicPr>
            <a:picLocks noChangeAspect="1"/>
          </p:cNvPicPr>
          <p:nvPr/>
        </p:nvPicPr>
        <p:blipFill>
          <a:blip r:embed="rId4"/>
          <a:stretch>
            <a:fillRect/>
          </a:stretch>
        </p:blipFill>
        <p:spPr>
          <a:xfrm>
            <a:off x="789915" y="4384611"/>
            <a:ext cx="134549" cy="195707"/>
          </a:xfrm>
          <a:prstGeom prst="rect">
            <a:avLst/>
          </a:prstGeom>
        </p:spPr>
      </p:pic>
      <p:sp>
        <p:nvSpPr>
          <p:cNvPr id="25" name="TextBox 24"/>
          <p:cNvSpPr txBox="1"/>
          <p:nvPr/>
        </p:nvSpPr>
        <p:spPr>
          <a:xfrm>
            <a:off x="965025"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622672"/>
            <a:ext cx="6504396"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matcha tea segment is expected to dominate the market, losing</a:t>
            </a:r>
          </a:p>
        </p:txBody>
      </p:sp>
      <p:pic>
        <p:nvPicPr>
          <p:cNvPr id="27" name="Picture 26" descr="lock.png"/>
          <p:cNvPicPr>
            <a:picLocks noChangeAspect="1"/>
          </p:cNvPicPr>
          <p:nvPr/>
        </p:nvPicPr>
        <p:blipFill>
          <a:blip r:embed="rId4"/>
          <a:stretch>
            <a:fillRect/>
          </a:stretch>
        </p:blipFill>
        <p:spPr>
          <a:xfrm>
            <a:off x="6729775" y="4612449"/>
            <a:ext cx="134549" cy="195707"/>
          </a:xfrm>
          <a:prstGeom prst="rect">
            <a:avLst/>
          </a:prstGeom>
        </p:spPr>
      </p:pic>
      <p:sp>
        <p:nvSpPr>
          <p:cNvPr id="28" name="TextBox 27"/>
          <p:cNvSpPr txBox="1"/>
          <p:nvPr/>
        </p:nvSpPr>
        <p:spPr>
          <a:xfrm>
            <a:off x="6904884"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300028" y="4612449"/>
            <a:ext cx="134549" cy="195707"/>
          </a:xfrm>
          <a:prstGeom prst="rect">
            <a:avLst/>
          </a:prstGeom>
        </p:spPr>
      </p:pic>
      <p:sp>
        <p:nvSpPr>
          <p:cNvPr id="30" name="TextBox 29"/>
          <p:cNvSpPr txBox="1"/>
          <p:nvPr/>
        </p:nvSpPr>
        <p:spPr>
          <a:xfrm>
            <a:off x="8475137" y="462267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Product Type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Product Type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93507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5090922" y="19303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8541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a:t>
            </a:r>
          </a:p>
        </p:txBody>
      </p:sp>
      <p:sp>
        <p:nvSpPr>
          <p:cNvPr id="18" name="BPS Value 1"/>
          <p:cNvSpPr txBox="1"/>
          <p:nvPr/>
        </p:nvSpPr>
        <p:spPr>
          <a:xfrm>
            <a:off x="6896100" y="191602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928997" y="422126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42164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41402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Tea</a:t>
            </a:r>
          </a:p>
        </p:txBody>
      </p:sp>
      <p:sp>
        <p:nvSpPr>
          <p:cNvPr id="22" name="BPS Value 2"/>
          <p:cNvSpPr txBox="1"/>
          <p:nvPr/>
        </p:nvSpPr>
        <p:spPr>
          <a:xfrm>
            <a:off x="6896100" y="420221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Rounded Rectangle 22"/>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Product Type</a:t>
            </a:r>
          </a:p>
        </p:txBody>
      </p:sp>
      <p:sp>
        <p:nvSpPr>
          <p:cNvPr id="25" name="Rectangle 24"/>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8" name="Picture 27" descr="lock.png"/>
          <p:cNvPicPr>
            <a:picLocks noChangeAspect="1"/>
          </p:cNvPicPr>
          <p:nvPr/>
        </p:nvPicPr>
        <p:blipFill>
          <a:blip r:embed="rId5"/>
          <a:stretch>
            <a:fillRect/>
          </a:stretch>
        </p:blipFill>
        <p:spPr>
          <a:xfrm>
            <a:off x="2557843" y="3833622"/>
            <a:ext cx="275034" cy="400050"/>
          </a:xfrm>
          <a:prstGeom prst="rect">
            <a:avLst/>
          </a:prstGeom>
        </p:spPr>
      </p:pic>
      <p:sp>
        <p:nvSpPr>
          <p:cNvPr id="29" name="TextBox 28"/>
          <p:cNvSpPr txBox="1"/>
          <p:nvPr/>
        </p:nvSpPr>
        <p:spPr>
          <a:xfrm>
            <a:off x="7829550" y="1400175"/>
            <a:ext cx="3629322" cy="194310"/>
          </a:xfrm>
          <a:prstGeom prst="rect">
            <a:avLst/>
          </a:prstGeom>
          <a:noFill/>
        </p:spPr>
        <p:txBody>
          <a:bodyPr wrap="none" lIns="0" rIns="0" tIns="0" bIns="0">
            <a:spAutoFit/>
          </a:bodyPr>
          <a:lstStyle/>
          <a:p>
            <a:r>
              <a:rPr sz="1150" b="0">
                <a:solidFill>
                  <a:srgbClr val="2E2E2E"/>
                </a:solidFill>
                <a:latin typeface="Calibri"/>
              </a:rPr>
              <a:t>Among matcha by product type, matcha powder segment is</a:t>
            </a:r>
          </a:p>
        </p:txBody>
      </p:sp>
      <p:sp>
        <p:nvSpPr>
          <p:cNvPr id="30" name="TextBox 29"/>
          <p:cNvSpPr txBox="1"/>
          <p:nvPr/>
        </p:nvSpPr>
        <p:spPr>
          <a:xfrm>
            <a:off x="7829550" y="157543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31" name="Picture 30" descr="lock.png"/>
          <p:cNvPicPr>
            <a:picLocks noChangeAspect="1"/>
          </p:cNvPicPr>
          <p:nvPr/>
        </p:nvPicPr>
        <p:blipFill>
          <a:blip r:embed="rId5"/>
          <a:stretch>
            <a:fillRect/>
          </a:stretch>
        </p:blipFill>
        <p:spPr>
          <a:xfrm>
            <a:off x="10264711" y="1565211"/>
            <a:ext cx="134549" cy="195707"/>
          </a:xfrm>
          <a:prstGeom prst="rect">
            <a:avLst/>
          </a:prstGeom>
        </p:spPr>
      </p:pic>
      <p:sp>
        <p:nvSpPr>
          <p:cNvPr id="32" name="TextBox 31"/>
          <p:cNvSpPr txBox="1"/>
          <p:nvPr/>
        </p:nvSpPr>
        <p:spPr>
          <a:xfrm>
            <a:off x="104398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33" name="TextBox 32"/>
          <p:cNvSpPr txBox="1"/>
          <p:nvPr/>
        </p:nvSpPr>
        <p:spPr>
          <a:xfrm>
            <a:off x="7829550" y="1750695"/>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34" name="TextBox 33"/>
          <p:cNvSpPr txBox="1"/>
          <p:nvPr/>
        </p:nvSpPr>
        <p:spPr>
          <a:xfrm>
            <a:off x="7829550" y="1978533"/>
            <a:ext cx="4053495" cy="194310"/>
          </a:xfrm>
          <a:prstGeom prst="rect">
            <a:avLst/>
          </a:prstGeom>
          <a:noFill/>
        </p:spPr>
        <p:txBody>
          <a:bodyPr wrap="none" lIns="0" rIns="0" tIns="0" bIns="0">
            <a:spAutoFit/>
          </a:bodyPr>
          <a:lstStyle/>
          <a:p>
            <a:r>
              <a:rPr sz="1150" b="0">
                <a:solidFill>
                  <a:srgbClr val="2E2E2E"/>
                </a:solidFill>
                <a:latin typeface="Calibri"/>
              </a:rPr>
              <a:t>In terms of value share by product type, the matcha tea segment is</a:t>
            </a:r>
          </a:p>
        </p:txBody>
      </p:sp>
      <p:sp>
        <p:nvSpPr>
          <p:cNvPr id="35" name="TextBox 34"/>
          <p:cNvSpPr txBox="1"/>
          <p:nvPr/>
        </p:nvSpPr>
        <p:spPr>
          <a:xfrm>
            <a:off x="7829550" y="2153793"/>
            <a:ext cx="2494012" cy="194310"/>
          </a:xfrm>
          <a:prstGeom prst="rect">
            <a:avLst/>
          </a:prstGeom>
          <a:noFill/>
        </p:spPr>
        <p:txBody>
          <a:bodyPr wrap="none" lIns="0" rIns="0" tIns="0" bIns="0">
            <a:spAutoFit/>
          </a:bodyPr>
          <a:lstStyle/>
          <a:p>
            <a:r>
              <a:rPr sz="1150" b="0">
                <a:solidFill>
                  <a:srgbClr val="2E2E2E"/>
                </a:solidFill>
                <a:latin typeface="Calibri"/>
              </a:rPr>
              <a:t>expected to dominate the market, losing</a:t>
            </a:r>
          </a:p>
        </p:txBody>
      </p:sp>
      <p:pic>
        <p:nvPicPr>
          <p:cNvPr id="36" name="Picture 35" descr="lock.png"/>
          <p:cNvPicPr>
            <a:picLocks noChangeAspect="1"/>
          </p:cNvPicPr>
          <p:nvPr/>
        </p:nvPicPr>
        <p:blipFill>
          <a:blip r:embed="rId5"/>
          <a:stretch>
            <a:fillRect/>
          </a:stretch>
        </p:blipFill>
        <p:spPr>
          <a:xfrm>
            <a:off x="10272716" y="2143569"/>
            <a:ext cx="134549" cy="195707"/>
          </a:xfrm>
          <a:prstGeom prst="rect">
            <a:avLst/>
          </a:prstGeom>
        </p:spPr>
      </p:pic>
      <p:sp>
        <p:nvSpPr>
          <p:cNvPr id="37" name="TextBox 36"/>
          <p:cNvSpPr txBox="1"/>
          <p:nvPr/>
        </p:nvSpPr>
        <p:spPr>
          <a:xfrm>
            <a:off x="10447825" y="2153793"/>
            <a:ext cx="1240321" cy="194310"/>
          </a:xfrm>
          <a:prstGeom prst="rect">
            <a:avLst/>
          </a:prstGeom>
          <a:noFill/>
        </p:spPr>
        <p:txBody>
          <a:bodyPr wrap="none" lIns="0" rIns="0" tIns="0" bIns="0">
            <a:spAutoFit/>
          </a:bodyPr>
          <a:lstStyle/>
          <a:p>
            <a:r>
              <a:rPr sz="1150" b="0">
                <a:solidFill>
                  <a:srgbClr val="2E2E2E"/>
                </a:solidFill>
                <a:latin typeface="Calibri"/>
              </a:rPr>
              <a:t>BPS and accounting</a:t>
            </a:r>
          </a:p>
        </p:txBody>
      </p:sp>
      <p:sp>
        <p:nvSpPr>
          <p:cNvPr id="38" name="TextBox 37"/>
          <p:cNvSpPr txBox="1"/>
          <p:nvPr/>
        </p:nvSpPr>
        <p:spPr>
          <a:xfrm>
            <a:off x="7829550" y="2329053"/>
            <a:ext cx="248778" cy="194310"/>
          </a:xfrm>
          <a:prstGeom prst="rect">
            <a:avLst/>
          </a:prstGeom>
          <a:noFill/>
        </p:spPr>
        <p:txBody>
          <a:bodyPr wrap="none" lIns="0" rIns="0" tIns="0" bIns="0">
            <a:spAutoFit/>
          </a:bodyPr>
          <a:lstStyle/>
          <a:p>
            <a:r>
              <a:rPr sz="1150" b="0">
                <a:solidFill>
                  <a:srgbClr val="2E2E2E"/>
                </a:solidFill>
                <a:latin typeface="Calibri"/>
              </a:rPr>
              <a:t>for</a:t>
            </a:r>
          </a:p>
        </p:txBody>
      </p:sp>
      <p:pic>
        <p:nvPicPr>
          <p:cNvPr id="39" name="Picture 38" descr="lock.png"/>
          <p:cNvPicPr>
            <a:picLocks noChangeAspect="1"/>
          </p:cNvPicPr>
          <p:nvPr/>
        </p:nvPicPr>
        <p:blipFill>
          <a:blip r:embed="rId5"/>
          <a:stretch>
            <a:fillRect/>
          </a:stretch>
        </p:blipFill>
        <p:spPr>
          <a:xfrm>
            <a:off x="8027482" y="2318829"/>
            <a:ext cx="134549" cy="195707"/>
          </a:xfrm>
          <a:prstGeom prst="rect">
            <a:avLst/>
          </a:prstGeom>
        </p:spPr>
      </p:pic>
      <p:sp>
        <p:nvSpPr>
          <p:cNvPr id="40" name="TextBox 39"/>
          <p:cNvSpPr txBox="1"/>
          <p:nvPr/>
        </p:nvSpPr>
        <p:spPr>
          <a:xfrm>
            <a:off x="8202591"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41"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Form</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Form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Form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Form,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Form segment categorizes the market by form.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Liquid</a:t>
            </a:r>
          </a:p>
        </p:txBody>
      </p:sp>
      <p:sp>
        <p:nvSpPr>
          <p:cNvPr id="22" name="Rectangle 21"/>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Blended</a:t>
            </a:r>
          </a:p>
        </p:txBody>
      </p:sp>
      <p:sp>
        <p:nvSpPr>
          <p:cNvPr id="29" name="Rectangle 28"/>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Ground</a:t>
            </a:r>
          </a:p>
        </p:txBody>
      </p:sp>
      <p:sp>
        <p:nvSpPr>
          <p:cNvPr id="36" name="Rectangle 35"/>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Whole</a:t>
            </a:r>
          </a:p>
        </p:txBody>
      </p:sp>
      <p:sp>
        <p:nvSpPr>
          <p:cNvPr id="43" name="Rectangle 42"/>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Powder</a:t>
            </a:r>
          </a:p>
        </p:txBody>
      </p:sp>
      <p:sp>
        <p:nvSpPr>
          <p:cNvPr id="50" name="Rectangle 49"/>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Granules</a:t>
            </a:r>
          </a:p>
        </p:txBody>
      </p:sp>
      <p:sp>
        <p:nvSpPr>
          <p:cNvPr id="57" name="Rectangle 56"/>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3" name="Rectangle 6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65" name="Rounded Rectangle 6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7" name="Rectangle 6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69" name="Rounded Rectangle 6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1" name="Rectangle 7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Form split shows how demand is distributed across form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3" name="Rectangle 7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5" name="TextBox 7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6" name="TextBox 7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7" name="Picture 76" descr="321_8_605E5C.png"/>
          <p:cNvPicPr>
            <a:picLocks noChangeAspect="1"/>
          </p:cNvPicPr>
          <p:nvPr/>
        </p:nvPicPr>
        <p:blipFill>
          <a:blip r:embed="rId4"/>
          <a:stretch>
            <a:fillRect/>
          </a:stretch>
        </p:blipFill>
        <p:spPr>
          <a:xfrm>
            <a:off x="2054848" y="2286582"/>
            <a:ext cx="1195728" cy="361950"/>
          </a:xfrm>
          <a:prstGeom prst="rect">
            <a:avLst/>
          </a:prstGeom>
        </p:spPr>
      </p:pic>
      <p:pic>
        <p:nvPicPr>
          <p:cNvPr id="78" name="Picture 77" descr="740_3_605E5C.png"/>
          <p:cNvPicPr>
            <a:picLocks noChangeAspect="1"/>
          </p:cNvPicPr>
          <p:nvPr/>
        </p:nvPicPr>
        <p:blipFill>
          <a:blip r:embed="rId5"/>
          <a:stretch>
            <a:fillRect/>
          </a:stretch>
        </p:blipFill>
        <p:spPr>
          <a:xfrm>
            <a:off x="2054848" y="2779432"/>
            <a:ext cx="1195728" cy="361950"/>
          </a:xfrm>
          <a:prstGeom prst="rect">
            <a:avLst/>
          </a:prstGeom>
        </p:spPr>
      </p:pic>
      <p:pic>
        <p:nvPicPr>
          <p:cNvPr id="79" name="Picture 78" descr="8_7__605E5C.png"/>
          <p:cNvPicPr>
            <a:picLocks noChangeAspect="1"/>
          </p:cNvPicPr>
          <p:nvPr/>
        </p:nvPicPr>
        <p:blipFill>
          <a:blip r:embed="rId6"/>
          <a:stretch>
            <a:fillRect/>
          </a:stretch>
        </p:blipFill>
        <p:spPr>
          <a:xfrm>
            <a:off x="2161494" y="3272281"/>
            <a:ext cx="982436" cy="361950"/>
          </a:xfrm>
          <a:prstGeom prst="rect">
            <a:avLst/>
          </a:prstGeom>
        </p:spPr>
      </p:pic>
      <p:pic>
        <p:nvPicPr>
          <p:cNvPr id="80" name="Picture 79" descr="308_1_605E5C.png"/>
          <p:cNvPicPr>
            <a:picLocks noChangeAspect="1"/>
          </p:cNvPicPr>
          <p:nvPr/>
        </p:nvPicPr>
        <p:blipFill>
          <a:blip r:embed="rId7"/>
          <a:stretch>
            <a:fillRect/>
          </a:stretch>
        </p:blipFill>
        <p:spPr>
          <a:xfrm>
            <a:off x="3740773" y="2286582"/>
            <a:ext cx="1195728" cy="361950"/>
          </a:xfrm>
          <a:prstGeom prst="rect">
            <a:avLst/>
          </a:prstGeom>
        </p:spPr>
      </p:pic>
      <p:pic>
        <p:nvPicPr>
          <p:cNvPr id="81" name="Picture 80" descr="467_4_605E5C.png"/>
          <p:cNvPicPr>
            <a:picLocks noChangeAspect="1"/>
          </p:cNvPicPr>
          <p:nvPr/>
        </p:nvPicPr>
        <p:blipFill>
          <a:blip r:embed="rId8"/>
          <a:stretch>
            <a:fillRect/>
          </a:stretch>
        </p:blipFill>
        <p:spPr>
          <a:xfrm>
            <a:off x="3740773" y="2779432"/>
            <a:ext cx="1195728" cy="361950"/>
          </a:xfrm>
          <a:prstGeom prst="rect">
            <a:avLst/>
          </a:prstGeom>
        </p:spPr>
      </p:pic>
      <p:pic>
        <p:nvPicPr>
          <p:cNvPr id="82" name="Picture 81" descr="4_3__605E5C.png"/>
          <p:cNvPicPr>
            <a:picLocks noChangeAspect="1"/>
          </p:cNvPicPr>
          <p:nvPr/>
        </p:nvPicPr>
        <p:blipFill>
          <a:blip r:embed="rId9"/>
          <a:stretch>
            <a:fillRect/>
          </a:stretch>
        </p:blipFill>
        <p:spPr>
          <a:xfrm>
            <a:off x="3847419" y="3272281"/>
            <a:ext cx="982436" cy="361950"/>
          </a:xfrm>
          <a:prstGeom prst="rect">
            <a:avLst/>
          </a:prstGeom>
        </p:spPr>
      </p:pic>
      <p:pic>
        <p:nvPicPr>
          <p:cNvPr id="83" name="Picture 82" descr="207_0_605E5C.png"/>
          <p:cNvPicPr>
            <a:picLocks noChangeAspect="1"/>
          </p:cNvPicPr>
          <p:nvPr/>
        </p:nvPicPr>
        <p:blipFill>
          <a:blip r:embed="rId10"/>
          <a:stretch>
            <a:fillRect/>
          </a:stretch>
        </p:blipFill>
        <p:spPr>
          <a:xfrm>
            <a:off x="5426698" y="2286582"/>
            <a:ext cx="1195728" cy="361950"/>
          </a:xfrm>
          <a:prstGeom prst="rect">
            <a:avLst/>
          </a:prstGeom>
        </p:spPr>
      </p:pic>
      <p:pic>
        <p:nvPicPr>
          <p:cNvPr id="84" name="Picture 83" descr="326_0_605E5C.png"/>
          <p:cNvPicPr>
            <a:picLocks noChangeAspect="1"/>
          </p:cNvPicPr>
          <p:nvPr/>
        </p:nvPicPr>
        <p:blipFill>
          <a:blip r:embed="rId11"/>
          <a:stretch>
            <a:fillRect/>
          </a:stretch>
        </p:blipFill>
        <p:spPr>
          <a:xfrm>
            <a:off x="5426698" y="2779432"/>
            <a:ext cx="1195728" cy="361950"/>
          </a:xfrm>
          <a:prstGeom prst="rect">
            <a:avLst/>
          </a:prstGeom>
        </p:spPr>
      </p:pic>
      <p:pic>
        <p:nvPicPr>
          <p:cNvPr id="85" name="Picture 84" descr="4_6__605E5C.png"/>
          <p:cNvPicPr>
            <a:picLocks noChangeAspect="1"/>
          </p:cNvPicPr>
          <p:nvPr/>
        </p:nvPicPr>
        <p:blipFill>
          <a:blip r:embed="rId12"/>
          <a:stretch>
            <a:fillRect/>
          </a:stretch>
        </p:blipFill>
        <p:spPr>
          <a:xfrm>
            <a:off x="5533344" y="3272281"/>
            <a:ext cx="982436" cy="361950"/>
          </a:xfrm>
          <a:prstGeom prst="rect">
            <a:avLst/>
          </a:prstGeom>
        </p:spPr>
      </p:pic>
      <p:pic>
        <p:nvPicPr>
          <p:cNvPr id="86" name="Picture 85" descr="169_1_605E5C.png"/>
          <p:cNvPicPr>
            <a:picLocks noChangeAspect="1"/>
          </p:cNvPicPr>
          <p:nvPr/>
        </p:nvPicPr>
        <p:blipFill>
          <a:blip r:embed="rId13"/>
          <a:stretch>
            <a:fillRect/>
          </a:stretch>
        </p:blipFill>
        <p:spPr>
          <a:xfrm>
            <a:off x="7112623" y="2286582"/>
            <a:ext cx="1195728" cy="361950"/>
          </a:xfrm>
          <a:prstGeom prst="rect">
            <a:avLst/>
          </a:prstGeom>
        </p:spPr>
      </p:pic>
      <p:pic>
        <p:nvPicPr>
          <p:cNvPr id="87" name="Picture 86" descr="283_9_605E5C.png"/>
          <p:cNvPicPr>
            <a:picLocks noChangeAspect="1"/>
          </p:cNvPicPr>
          <p:nvPr/>
        </p:nvPicPr>
        <p:blipFill>
          <a:blip r:embed="rId14"/>
          <a:stretch>
            <a:fillRect/>
          </a:stretch>
        </p:blipFill>
        <p:spPr>
          <a:xfrm>
            <a:off x="7112623" y="2779432"/>
            <a:ext cx="1195728" cy="361950"/>
          </a:xfrm>
          <a:prstGeom prst="rect">
            <a:avLst/>
          </a:prstGeom>
        </p:spPr>
      </p:pic>
      <p:pic>
        <p:nvPicPr>
          <p:cNvPr id="88" name="Picture 87" descr="5_3__605E5C.png"/>
          <p:cNvPicPr>
            <a:picLocks noChangeAspect="1"/>
          </p:cNvPicPr>
          <p:nvPr/>
        </p:nvPicPr>
        <p:blipFill>
          <a:blip r:embed="rId15"/>
          <a:stretch>
            <a:fillRect/>
          </a:stretch>
        </p:blipFill>
        <p:spPr>
          <a:xfrm>
            <a:off x="7219269" y="3272281"/>
            <a:ext cx="982436" cy="361950"/>
          </a:xfrm>
          <a:prstGeom prst="rect">
            <a:avLst/>
          </a:prstGeom>
        </p:spPr>
      </p:pic>
      <p:pic>
        <p:nvPicPr>
          <p:cNvPr id="89" name="Picture 88" descr="58_6_605E5C.png"/>
          <p:cNvPicPr>
            <a:picLocks noChangeAspect="1"/>
          </p:cNvPicPr>
          <p:nvPr/>
        </p:nvPicPr>
        <p:blipFill>
          <a:blip r:embed="rId16"/>
          <a:stretch>
            <a:fillRect/>
          </a:stretch>
        </p:blipFill>
        <p:spPr>
          <a:xfrm>
            <a:off x="8905194" y="2286582"/>
            <a:ext cx="982436" cy="361950"/>
          </a:xfrm>
          <a:prstGeom prst="rect">
            <a:avLst/>
          </a:prstGeom>
        </p:spPr>
      </p:pic>
      <p:pic>
        <p:nvPicPr>
          <p:cNvPr id="90" name="Picture 89" descr="124_1_605E5C.png"/>
          <p:cNvPicPr>
            <a:picLocks noChangeAspect="1"/>
          </p:cNvPicPr>
          <p:nvPr/>
        </p:nvPicPr>
        <p:blipFill>
          <a:blip r:embed="rId17"/>
          <a:stretch>
            <a:fillRect/>
          </a:stretch>
        </p:blipFill>
        <p:spPr>
          <a:xfrm>
            <a:off x="8798548" y="2779432"/>
            <a:ext cx="1195728" cy="361950"/>
          </a:xfrm>
          <a:prstGeom prst="rect">
            <a:avLst/>
          </a:prstGeom>
        </p:spPr>
      </p:pic>
      <p:pic>
        <p:nvPicPr>
          <p:cNvPr id="91" name="Picture 90" descr="7_8__605E5C.png"/>
          <p:cNvPicPr>
            <a:picLocks noChangeAspect="1"/>
          </p:cNvPicPr>
          <p:nvPr/>
        </p:nvPicPr>
        <p:blipFill>
          <a:blip r:embed="rId18"/>
          <a:stretch>
            <a:fillRect/>
          </a:stretch>
        </p:blipFill>
        <p:spPr>
          <a:xfrm>
            <a:off x="8905194" y="3272281"/>
            <a:ext cx="982436" cy="361950"/>
          </a:xfrm>
          <a:prstGeom prst="rect">
            <a:avLst/>
          </a:prstGeom>
        </p:spPr>
      </p:pic>
      <p:pic>
        <p:nvPicPr>
          <p:cNvPr id="92" name="Picture 91" descr="48_7_605E5C.png"/>
          <p:cNvPicPr>
            <a:picLocks noChangeAspect="1"/>
          </p:cNvPicPr>
          <p:nvPr/>
        </p:nvPicPr>
        <p:blipFill>
          <a:blip r:embed="rId19"/>
          <a:stretch>
            <a:fillRect/>
          </a:stretch>
        </p:blipFill>
        <p:spPr>
          <a:xfrm>
            <a:off x="10591119" y="2286582"/>
            <a:ext cx="982436" cy="361950"/>
          </a:xfrm>
          <a:prstGeom prst="rect">
            <a:avLst/>
          </a:prstGeom>
        </p:spPr>
      </p:pic>
      <p:pic>
        <p:nvPicPr>
          <p:cNvPr id="93" name="Picture 92" descr="84_8_605E5C.png"/>
          <p:cNvPicPr>
            <a:picLocks noChangeAspect="1"/>
          </p:cNvPicPr>
          <p:nvPr/>
        </p:nvPicPr>
        <p:blipFill>
          <a:blip r:embed="rId20"/>
          <a:stretch>
            <a:fillRect/>
          </a:stretch>
        </p:blipFill>
        <p:spPr>
          <a:xfrm>
            <a:off x="10591119" y="2779432"/>
            <a:ext cx="982436" cy="361950"/>
          </a:xfrm>
          <a:prstGeom prst="rect">
            <a:avLst/>
          </a:prstGeom>
        </p:spPr>
      </p:pic>
      <p:pic>
        <p:nvPicPr>
          <p:cNvPr id="94" name="Picture 93" descr="5_7__605E5C.png"/>
          <p:cNvPicPr>
            <a:picLocks noChangeAspect="1"/>
          </p:cNvPicPr>
          <p:nvPr/>
        </p:nvPicPr>
        <p:blipFill>
          <a:blip r:embed="rId21"/>
          <a:stretch>
            <a:fillRect/>
          </a:stretch>
        </p:blipFill>
        <p:spPr>
          <a:xfrm>
            <a:off x="10591119" y="3272281"/>
            <a:ext cx="982436" cy="361950"/>
          </a:xfrm>
          <a:prstGeom prst="rect">
            <a:avLst/>
          </a:prstGeom>
        </p:spPr>
      </p:pic>
      <p:pic>
        <p:nvPicPr>
          <p:cNvPr id="95" name="Picture 94" descr="lock.png"/>
          <p:cNvPicPr>
            <a:picLocks noChangeAspect="1"/>
          </p:cNvPicPr>
          <p:nvPr/>
        </p:nvPicPr>
        <p:blipFill>
          <a:blip r:embed="rId22"/>
          <a:stretch>
            <a:fillRect/>
          </a:stretch>
        </p:blipFill>
        <p:spPr>
          <a:xfrm>
            <a:off x="2559367" y="2827057"/>
            <a:ext cx="183356" cy="266700"/>
          </a:xfrm>
          <a:prstGeom prst="rect">
            <a:avLst/>
          </a:prstGeom>
        </p:spPr>
      </p:pic>
      <p:pic>
        <p:nvPicPr>
          <p:cNvPr id="96" name="Picture 95" descr="lock.png"/>
          <p:cNvPicPr>
            <a:picLocks noChangeAspect="1"/>
          </p:cNvPicPr>
          <p:nvPr/>
        </p:nvPicPr>
        <p:blipFill>
          <a:blip r:embed="rId22"/>
          <a:stretch>
            <a:fillRect/>
          </a:stretch>
        </p:blipFill>
        <p:spPr>
          <a:xfrm>
            <a:off x="4245292"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5931217"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7617142"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9303067"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10988992" y="2827057"/>
            <a:ext cx="183356" cy="266700"/>
          </a:xfrm>
          <a:prstGeom prst="rect">
            <a:avLst/>
          </a:prstGeom>
        </p:spPr>
      </p:pic>
      <p:sp>
        <p:nvSpPr>
          <p:cNvPr id="101" name="TextBox 100"/>
          <p:cNvSpPr txBox="1"/>
          <p:nvPr/>
        </p:nvSpPr>
        <p:spPr>
          <a:xfrm>
            <a:off x="485775" y="4229437"/>
            <a:ext cx="2439367" cy="186689"/>
          </a:xfrm>
          <a:prstGeom prst="rect">
            <a:avLst/>
          </a:prstGeom>
          <a:noFill/>
        </p:spPr>
        <p:txBody>
          <a:bodyPr wrap="none" lIns="0" rIns="0" tIns="0" bIns="0">
            <a:spAutoFit/>
          </a:bodyPr>
          <a:lstStyle/>
          <a:p>
            <a:r>
              <a:rPr sz="1100" b="0">
                <a:solidFill>
                  <a:srgbClr val="2E2E2E"/>
                </a:solidFill>
                <a:latin typeface="Calibri"/>
              </a:rPr>
              <a:t>Among matcha by form, liquid segment is</a:t>
            </a:r>
          </a:p>
        </p:txBody>
      </p:sp>
      <p:sp>
        <p:nvSpPr>
          <p:cNvPr id="102" name="TextBox 101"/>
          <p:cNvSpPr txBox="1"/>
          <p:nvPr/>
        </p:nvSpPr>
        <p:spPr>
          <a:xfrm>
            <a:off x="485775" y="439707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03" name="Picture 102" descr="lock.png"/>
          <p:cNvPicPr>
            <a:picLocks noChangeAspect="1"/>
          </p:cNvPicPr>
          <p:nvPr/>
        </p:nvPicPr>
        <p:blipFill>
          <a:blip r:embed="rId22"/>
          <a:stretch>
            <a:fillRect/>
          </a:stretch>
        </p:blipFill>
        <p:spPr>
          <a:xfrm>
            <a:off x="2815059" y="4387298"/>
            <a:ext cx="128699" cy="187198"/>
          </a:xfrm>
          <a:prstGeom prst="rect">
            <a:avLst/>
          </a:prstGeom>
        </p:spPr>
      </p:pic>
      <p:sp>
        <p:nvSpPr>
          <p:cNvPr id="104" name="TextBox 103"/>
          <p:cNvSpPr txBox="1"/>
          <p:nvPr/>
        </p:nvSpPr>
        <p:spPr>
          <a:xfrm>
            <a:off x="2982555" y="439707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05" name="TextBox 104"/>
          <p:cNvSpPr txBox="1"/>
          <p:nvPr/>
        </p:nvSpPr>
        <p:spPr>
          <a:xfrm>
            <a:off x="485775" y="456471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106" name="TextBox 105"/>
          <p:cNvSpPr txBox="1"/>
          <p:nvPr/>
        </p:nvSpPr>
        <p:spPr>
          <a:xfrm>
            <a:off x="485775" y="4732357"/>
            <a:ext cx="2884661" cy="186689"/>
          </a:xfrm>
          <a:prstGeom prst="rect">
            <a:avLst/>
          </a:prstGeom>
          <a:noFill/>
        </p:spPr>
        <p:txBody>
          <a:bodyPr wrap="none" lIns="0" rIns="0" tIns="0" bIns="0">
            <a:spAutoFit/>
          </a:bodyPr>
          <a:lstStyle/>
          <a:p>
            <a:r>
              <a:rPr sz="1100" b="0">
                <a:solidFill>
                  <a:srgbClr val="2E2E2E"/>
                </a:solidFill>
                <a:latin typeface="Calibri"/>
              </a:rPr>
              <a:t>form, the liquid segment is expected to dominate</a:t>
            </a:r>
          </a:p>
        </p:txBody>
      </p:sp>
      <p:sp>
        <p:nvSpPr>
          <p:cNvPr id="107" name="TextBox 106"/>
          <p:cNvSpPr txBox="1"/>
          <p:nvPr/>
        </p:nvSpPr>
        <p:spPr>
          <a:xfrm>
            <a:off x="485775" y="4899997"/>
            <a:ext cx="1181248" cy="186689"/>
          </a:xfrm>
          <a:prstGeom prst="rect">
            <a:avLst/>
          </a:prstGeom>
          <a:noFill/>
        </p:spPr>
        <p:txBody>
          <a:bodyPr wrap="none" lIns="0" rIns="0" tIns="0" bIns="0">
            <a:spAutoFit/>
          </a:bodyPr>
          <a:lstStyle/>
          <a:p>
            <a:r>
              <a:rPr sz="1100" b="0">
                <a:solidFill>
                  <a:srgbClr val="2E2E2E"/>
                </a:solidFill>
                <a:latin typeface="Calibri"/>
              </a:rPr>
              <a:t>the market, gaining</a:t>
            </a:r>
          </a:p>
        </p:txBody>
      </p:sp>
      <p:pic>
        <p:nvPicPr>
          <p:cNvPr id="108" name="Picture 107" descr="lock.png"/>
          <p:cNvPicPr>
            <a:picLocks noChangeAspect="1"/>
          </p:cNvPicPr>
          <p:nvPr/>
        </p:nvPicPr>
        <p:blipFill>
          <a:blip r:embed="rId22"/>
          <a:stretch>
            <a:fillRect/>
          </a:stretch>
        </p:blipFill>
        <p:spPr>
          <a:xfrm>
            <a:off x="1615075" y="4890217"/>
            <a:ext cx="128699" cy="187198"/>
          </a:xfrm>
          <a:prstGeom prst="rect">
            <a:avLst/>
          </a:prstGeom>
        </p:spPr>
      </p:pic>
      <p:sp>
        <p:nvSpPr>
          <p:cNvPr id="109" name="TextBox 108"/>
          <p:cNvSpPr txBox="1"/>
          <p:nvPr/>
        </p:nvSpPr>
        <p:spPr>
          <a:xfrm>
            <a:off x="1782571" y="489999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10" name="Picture 109" descr="lock.png"/>
          <p:cNvPicPr>
            <a:picLocks noChangeAspect="1"/>
          </p:cNvPicPr>
          <p:nvPr/>
        </p:nvPicPr>
        <p:blipFill>
          <a:blip r:embed="rId22"/>
          <a:stretch>
            <a:fillRect/>
          </a:stretch>
        </p:blipFill>
        <p:spPr>
          <a:xfrm>
            <a:off x="472307" y="5057858"/>
            <a:ext cx="128699" cy="187198"/>
          </a:xfrm>
          <a:prstGeom prst="rect">
            <a:avLst/>
          </a:prstGeom>
        </p:spPr>
      </p:pic>
      <p:sp>
        <p:nvSpPr>
          <p:cNvPr id="111" name="TextBox 110"/>
          <p:cNvSpPr txBox="1"/>
          <p:nvPr/>
        </p:nvSpPr>
        <p:spPr>
          <a:xfrm>
            <a:off x="63980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12" name="TextBox 111"/>
          <p:cNvSpPr txBox="1"/>
          <p:nvPr/>
        </p:nvSpPr>
        <p:spPr>
          <a:xfrm>
            <a:off x="485775" y="5285569"/>
            <a:ext cx="2260922" cy="186689"/>
          </a:xfrm>
          <a:prstGeom prst="rect">
            <a:avLst/>
          </a:prstGeom>
          <a:noFill/>
        </p:spPr>
        <p:txBody>
          <a:bodyPr wrap="none" lIns="0" rIns="0" tIns="0" bIns="0">
            <a:spAutoFit/>
          </a:bodyPr>
          <a:lstStyle/>
          <a:p>
            <a:r>
              <a:rPr sz="1100" b="0">
                <a:solidFill>
                  <a:srgbClr val="2E2E2E"/>
                </a:solidFill>
                <a:latin typeface="Calibri"/>
              </a:rPr>
              <a:t>Liquid segment is projected to register</a:t>
            </a:r>
          </a:p>
        </p:txBody>
      </p:sp>
      <p:pic>
        <p:nvPicPr>
          <p:cNvPr id="113" name="Picture 112" descr="lock.png"/>
          <p:cNvPicPr>
            <a:picLocks noChangeAspect="1"/>
          </p:cNvPicPr>
          <p:nvPr/>
        </p:nvPicPr>
        <p:blipFill>
          <a:blip r:embed="rId22"/>
          <a:stretch>
            <a:fillRect/>
          </a:stretch>
        </p:blipFill>
        <p:spPr>
          <a:xfrm>
            <a:off x="2694749" y="5275790"/>
            <a:ext cx="128699" cy="187198"/>
          </a:xfrm>
          <a:prstGeom prst="rect">
            <a:avLst/>
          </a:prstGeom>
        </p:spPr>
      </p:pic>
      <p:sp>
        <p:nvSpPr>
          <p:cNvPr id="114" name="TextBox 113"/>
          <p:cNvSpPr txBox="1"/>
          <p:nvPr/>
        </p:nvSpPr>
        <p:spPr>
          <a:xfrm>
            <a:off x="2862244"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15" name="TextBox 114"/>
          <p:cNvSpPr txBox="1"/>
          <p:nvPr/>
        </p:nvSpPr>
        <p:spPr>
          <a:xfrm>
            <a:off x="485775" y="5453209"/>
            <a:ext cx="2575793" cy="186689"/>
          </a:xfrm>
          <a:prstGeom prst="rect">
            <a:avLst/>
          </a:prstGeom>
          <a:noFill/>
        </p:spPr>
        <p:txBody>
          <a:bodyPr wrap="none" lIns="0" rIns="0" tIns="0" bIns="0">
            <a:spAutoFit/>
          </a:bodyPr>
          <a:lstStyle/>
          <a:p>
            <a:r>
              <a:rPr sz="1100" b="0">
                <a:solidFill>
                  <a:srgbClr val="2E2E2E"/>
                </a:solidFill>
                <a:latin typeface="Calibri"/>
              </a:rPr>
              <a:t>higher value than blended segment in 2036.</a:t>
            </a:r>
          </a:p>
        </p:txBody>
      </p:sp>
      <p:sp>
        <p:nvSpPr>
          <p:cNvPr id="116" name="TextBox 115"/>
          <p:cNvSpPr txBox="1"/>
          <p:nvPr/>
        </p:nvSpPr>
        <p:spPr>
          <a:xfrm>
            <a:off x="3838575" y="4229437"/>
            <a:ext cx="572789" cy="186689"/>
          </a:xfrm>
          <a:prstGeom prst="rect">
            <a:avLst/>
          </a:prstGeom>
          <a:noFill/>
        </p:spPr>
        <p:txBody>
          <a:bodyPr wrap="none" lIns="0" rIns="0" tIns="0" bIns="0">
            <a:spAutoFit/>
          </a:bodyPr>
          <a:lstStyle/>
          <a:p>
            <a:r>
              <a:rPr sz="1100" b="0">
                <a:solidFill>
                  <a:srgbClr val="2E2E2E"/>
                </a:solidFill>
                <a:latin typeface="Calibri"/>
              </a:rPr>
              <a:t>● Liquid:</a:t>
            </a:r>
          </a:p>
        </p:txBody>
      </p:sp>
      <p:pic>
        <p:nvPicPr>
          <p:cNvPr id="117" name="Picture 116" descr="lock.png"/>
          <p:cNvPicPr>
            <a:picLocks noChangeAspect="1"/>
          </p:cNvPicPr>
          <p:nvPr/>
        </p:nvPicPr>
        <p:blipFill>
          <a:blip r:embed="rId22"/>
          <a:stretch>
            <a:fillRect/>
          </a:stretch>
        </p:blipFill>
        <p:spPr>
          <a:xfrm>
            <a:off x="4359416" y="4219658"/>
            <a:ext cx="128699" cy="187198"/>
          </a:xfrm>
          <a:prstGeom prst="rect">
            <a:avLst/>
          </a:prstGeom>
        </p:spPr>
      </p:pic>
      <p:sp>
        <p:nvSpPr>
          <p:cNvPr id="118" name="TextBox 117"/>
          <p:cNvSpPr txBox="1"/>
          <p:nvPr/>
        </p:nvSpPr>
        <p:spPr>
          <a:xfrm>
            <a:off x="4526912"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9" name="Picture 118" descr="lock.png"/>
          <p:cNvPicPr>
            <a:picLocks noChangeAspect="1"/>
          </p:cNvPicPr>
          <p:nvPr/>
        </p:nvPicPr>
        <p:blipFill>
          <a:blip r:embed="rId22"/>
          <a:stretch>
            <a:fillRect/>
          </a:stretch>
        </p:blipFill>
        <p:spPr>
          <a:xfrm>
            <a:off x="5386362" y="4219658"/>
            <a:ext cx="128699" cy="187198"/>
          </a:xfrm>
          <a:prstGeom prst="rect">
            <a:avLst/>
          </a:prstGeom>
        </p:spPr>
      </p:pic>
      <p:sp>
        <p:nvSpPr>
          <p:cNvPr id="120" name="TextBox 119"/>
          <p:cNvSpPr txBox="1"/>
          <p:nvPr/>
        </p:nvSpPr>
        <p:spPr>
          <a:xfrm>
            <a:off x="5553858"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21" name="TextBox 120"/>
          <p:cNvSpPr txBox="1"/>
          <p:nvPr/>
        </p:nvSpPr>
        <p:spPr>
          <a:xfrm>
            <a:off x="3838575" y="4447369"/>
            <a:ext cx="697210" cy="186689"/>
          </a:xfrm>
          <a:prstGeom prst="rect">
            <a:avLst/>
          </a:prstGeom>
          <a:noFill/>
        </p:spPr>
        <p:txBody>
          <a:bodyPr wrap="none" lIns="0" rIns="0" tIns="0" bIns="0">
            <a:spAutoFit/>
          </a:bodyPr>
          <a:lstStyle/>
          <a:p>
            <a:r>
              <a:rPr sz="1100" b="0">
                <a:solidFill>
                  <a:srgbClr val="2E2E2E"/>
                </a:solidFill>
                <a:latin typeface="Calibri"/>
              </a:rPr>
              <a:t>● Blended:</a:t>
            </a:r>
          </a:p>
        </p:txBody>
      </p:sp>
      <p:pic>
        <p:nvPicPr>
          <p:cNvPr id="122" name="Picture 121" descr="lock.png"/>
          <p:cNvPicPr>
            <a:picLocks noChangeAspect="1"/>
          </p:cNvPicPr>
          <p:nvPr/>
        </p:nvPicPr>
        <p:blipFill>
          <a:blip r:embed="rId22"/>
          <a:stretch>
            <a:fillRect/>
          </a:stretch>
        </p:blipFill>
        <p:spPr>
          <a:xfrm>
            <a:off x="4483836" y="4437590"/>
            <a:ext cx="128699" cy="187198"/>
          </a:xfrm>
          <a:prstGeom prst="rect">
            <a:avLst/>
          </a:prstGeom>
        </p:spPr>
      </p:pic>
      <p:sp>
        <p:nvSpPr>
          <p:cNvPr id="123" name="TextBox 122"/>
          <p:cNvSpPr txBox="1"/>
          <p:nvPr/>
        </p:nvSpPr>
        <p:spPr>
          <a:xfrm>
            <a:off x="4651332"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4" name="Picture 123" descr="lock.png"/>
          <p:cNvPicPr>
            <a:picLocks noChangeAspect="1"/>
          </p:cNvPicPr>
          <p:nvPr/>
        </p:nvPicPr>
        <p:blipFill>
          <a:blip r:embed="rId22"/>
          <a:stretch>
            <a:fillRect/>
          </a:stretch>
        </p:blipFill>
        <p:spPr>
          <a:xfrm>
            <a:off x="5510782" y="4437590"/>
            <a:ext cx="128699" cy="187198"/>
          </a:xfrm>
          <a:prstGeom prst="rect">
            <a:avLst/>
          </a:prstGeom>
        </p:spPr>
      </p:pic>
      <p:sp>
        <p:nvSpPr>
          <p:cNvPr id="125" name="TextBox 124"/>
          <p:cNvSpPr txBox="1"/>
          <p:nvPr/>
        </p:nvSpPr>
        <p:spPr>
          <a:xfrm>
            <a:off x="5678278"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6" name="TextBox 125"/>
          <p:cNvSpPr txBox="1"/>
          <p:nvPr/>
        </p:nvSpPr>
        <p:spPr>
          <a:xfrm>
            <a:off x="3838575" y="4665301"/>
            <a:ext cx="660375" cy="186689"/>
          </a:xfrm>
          <a:prstGeom prst="rect">
            <a:avLst/>
          </a:prstGeom>
          <a:noFill/>
        </p:spPr>
        <p:txBody>
          <a:bodyPr wrap="none" lIns="0" rIns="0" tIns="0" bIns="0">
            <a:spAutoFit/>
          </a:bodyPr>
          <a:lstStyle/>
          <a:p>
            <a:r>
              <a:rPr sz="1100" b="0">
                <a:solidFill>
                  <a:srgbClr val="2E2E2E"/>
                </a:solidFill>
                <a:latin typeface="Calibri"/>
              </a:rPr>
              <a:t>● Ground:</a:t>
            </a:r>
          </a:p>
        </p:txBody>
      </p:sp>
      <p:pic>
        <p:nvPicPr>
          <p:cNvPr id="127" name="Picture 126" descr="lock.png"/>
          <p:cNvPicPr>
            <a:picLocks noChangeAspect="1"/>
          </p:cNvPicPr>
          <p:nvPr/>
        </p:nvPicPr>
        <p:blipFill>
          <a:blip r:embed="rId22"/>
          <a:stretch>
            <a:fillRect/>
          </a:stretch>
        </p:blipFill>
        <p:spPr>
          <a:xfrm>
            <a:off x="4447001" y="4655522"/>
            <a:ext cx="128699" cy="187198"/>
          </a:xfrm>
          <a:prstGeom prst="rect">
            <a:avLst/>
          </a:prstGeom>
        </p:spPr>
      </p:pic>
      <p:sp>
        <p:nvSpPr>
          <p:cNvPr id="128" name="TextBox 127"/>
          <p:cNvSpPr txBox="1"/>
          <p:nvPr/>
        </p:nvSpPr>
        <p:spPr>
          <a:xfrm>
            <a:off x="4614497"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9" name="Picture 128" descr="lock.png"/>
          <p:cNvPicPr>
            <a:picLocks noChangeAspect="1"/>
          </p:cNvPicPr>
          <p:nvPr/>
        </p:nvPicPr>
        <p:blipFill>
          <a:blip r:embed="rId22"/>
          <a:stretch>
            <a:fillRect/>
          </a:stretch>
        </p:blipFill>
        <p:spPr>
          <a:xfrm>
            <a:off x="5473947" y="4655522"/>
            <a:ext cx="128699" cy="187198"/>
          </a:xfrm>
          <a:prstGeom prst="rect">
            <a:avLst/>
          </a:prstGeom>
        </p:spPr>
      </p:pic>
      <p:sp>
        <p:nvSpPr>
          <p:cNvPr id="130" name="TextBox 129"/>
          <p:cNvSpPr txBox="1"/>
          <p:nvPr/>
        </p:nvSpPr>
        <p:spPr>
          <a:xfrm>
            <a:off x="5641443"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1" name="TextBox 130"/>
          <p:cNvSpPr txBox="1"/>
          <p:nvPr/>
        </p:nvSpPr>
        <p:spPr>
          <a:xfrm>
            <a:off x="3838575" y="4883233"/>
            <a:ext cx="602803" cy="186689"/>
          </a:xfrm>
          <a:prstGeom prst="rect">
            <a:avLst/>
          </a:prstGeom>
          <a:noFill/>
        </p:spPr>
        <p:txBody>
          <a:bodyPr wrap="none" lIns="0" rIns="0" tIns="0" bIns="0">
            <a:spAutoFit/>
          </a:bodyPr>
          <a:lstStyle/>
          <a:p>
            <a:r>
              <a:rPr sz="1100" b="0">
                <a:solidFill>
                  <a:srgbClr val="2E2E2E"/>
                </a:solidFill>
                <a:latin typeface="Calibri"/>
              </a:rPr>
              <a:t>● Whole:</a:t>
            </a:r>
          </a:p>
        </p:txBody>
      </p:sp>
      <p:pic>
        <p:nvPicPr>
          <p:cNvPr id="132" name="Picture 131" descr="lock.png"/>
          <p:cNvPicPr>
            <a:picLocks noChangeAspect="1"/>
          </p:cNvPicPr>
          <p:nvPr/>
        </p:nvPicPr>
        <p:blipFill>
          <a:blip r:embed="rId22"/>
          <a:stretch>
            <a:fillRect/>
          </a:stretch>
        </p:blipFill>
        <p:spPr>
          <a:xfrm>
            <a:off x="4389430" y="4873454"/>
            <a:ext cx="128699" cy="187198"/>
          </a:xfrm>
          <a:prstGeom prst="rect">
            <a:avLst/>
          </a:prstGeom>
        </p:spPr>
      </p:pic>
      <p:sp>
        <p:nvSpPr>
          <p:cNvPr id="133" name="TextBox 132"/>
          <p:cNvSpPr txBox="1"/>
          <p:nvPr/>
        </p:nvSpPr>
        <p:spPr>
          <a:xfrm>
            <a:off x="4556925"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4" name="Picture 133" descr="lock.png"/>
          <p:cNvPicPr>
            <a:picLocks noChangeAspect="1"/>
          </p:cNvPicPr>
          <p:nvPr/>
        </p:nvPicPr>
        <p:blipFill>
          <a:blip r:embed="rId22"/>
          <a:stretch>
            <a:fillRect/>
          </a:stretch>
        </p:blipFill>
        <p:spPr>
          <a:xfrm>
            <a:off x="5416376" y="4873454"/>
            <a:ext cx="128699" cy="187198"/>
          </a:xfrm>
          <a:prstGeom prst="rect">
            <a:avLst/>
          </a:prstGeom>
        </p:spPr>
      </p:pic>
      <p:sp>
        <p:nvSpPr>
          <p:cNvPr id="135" name="TextBox 134"/>
          <p:cNvSpPr txBox="1"/>
          <p:nvPr/>
        </p:nvSpPr>
        <p:spPr>
          <a:xfrm>
            <a:off x="5583871"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6" name="TextBox 135"/>
          <p:cNvSpPr txBox="1"/>
          <p:nvPr/>
        </p:nvSpPr>
        <p:spPr>
          <a:xfrm>
            <a:off x="3838575" y="5101165"/>
            <a:ext cx="667196" cy="186689"/>
          </a:xfrm>
          <a:prstGeom prst="rect">
            <a:avLst/>
          </a:prstGeom>
          <a:noFill/>
        </p:spPr>
        <p:txBody>
          <a:bodyPr wrap="none" lIns="0" rIns="0" tIns="0" bIns="0">
            <a:spAutoFit/>
          </a:bodyPr>
          <a:lstStyle/>
          <a:p>
            <a:r>
              <a:rPr sz="1100" b="0">
                <a:solidFill>
                  <a:srgbClr val="2E2E2E"/>
                </a:solidFill>
                <a:latin typeface="Calibri"/>
              </a:rPr>
              <a:t>● Powder:</a:t>
            </a:r>
          </a:p>
        </p:txBody>
      </p:sp>
      <p:pic>
        <p:nvPicPr>
          <p:cNvPr id="137" name="Picture 136" descr="lock.png"/>
          <p:cNvPicPr>
            <a:picLocks noChangeAspect="1"/>
          </p:cNvPicPr>
          <p:nvPr/>
        </p:nvPicPr>
        <p:blipFill>
          <a:blip r:embed="rId22"/>
          <a:stretch>
            <a:fillRect/>
          </a:stretch>
        </p:blipFill>
        <p:spPr>
          <a:xfrm>
            <a:off x="4453823" y="5091385"/>
            <a:ext cx="128699" cy="187198"/>
          </a:xfrm>
          <a:prstGeom prst="rect">
            <a:avLst/>
          </a:prstGeom>
        </p:spPr>
      </p:pic>
      <p:sp>
        <p:nvSpPr>
          <p:cNvPr id="138" name="TextBox 137"/>
          <p:cNvSpPr txBox="1"/>
          <p:nvPr/>
        </p:nvSpPr>
        <p:spPr>
          <a:xfrm>
            <a:off x="4621318"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9" name="Picture 138" descr="lock.png"/>
          <p:cNvPicPr>
            <a:picLocks noChangeAspect="1"/>
          </p:cNvPicPr>
          <p:nvPr/>
        </p:nvPicPr>
        <p:blipFill>
          <a:blip r:embed="rId22"/>
          <a:stretch>
            <a:fillRect/>
          </a:stretch>
        </p:blipFill>
        <p:spPr>
          <a:xfrm>
            <a:off x="5480769" y="5091385"/>
            <a:ext cx="128699" cy="187198"/>
          </a:xfrm>
          <a:prstGeom prst="rect">
            <a:avLst/>
          </a:prstGeom>
        </p:spPr>
      </p:pic>
      <p:sp>
        <p:nvSpPr>
          <p:cNvPr id="140" name="TextBox 139"/>
          <p:cNvSpPr txBox="1"/>
          <p:nvPr/>
        </p:nvSpPr>
        <p:spPr>
          <a:xfrm>
            <a:off x="5648264" y="5101165"/>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1" name="TextBox 140"/>
          <p:cNvSpPr txBox="1"/>
          <p:nvPr/>
        </p:nvSpPr>
        <p:spPr>
          <a:xfrm>
            <a:off x="3838575" y="5319097"/>
            <a:ext cx="736500" cy="186689"/>
          </a:xfrm>
          <a:prstGeom prst="rect">
            <a:avLst/>
          </a:prstGeom>
          <a:noFill/>
        </p:spPr>
        <p:txBody>
          <a:bodyPr wrap="none" lIns="0" rIns="0" tIns="0" bIns="0">
            <a:spAutoFit/>
          </a:bodyPr>
          <a:lstStyle/>
          <a:p>
            <a:r>
              <a:rPr sz="1100" b="0">
                <a:solidFill>
                  <a:srgbClr val="2E2E2E"/>
                </a:solidFill>
                <a:latin typeface="Calibri"/>
              </a:rPr>
              <a:t>● Granules:</a:t>
            </a:r>
          </a:p>
        </p:txBody>
      </p:sp>
      <p:pic>
        <p:nvPicPr>
          <p:cNvPr id="142" name="Picture 141" descr="lock.png"/>
          <p:cNvPicPr>
            <a:picLocks noChangeAspect="1"/>
          </p:cNvPicPr>
          <p:nvPr/>
        </p:nvPicPr>
        <p:blipFill>
          <a:blip r:embed="rId22"/>
          <a:stretch>
            <a:fillRect/>
          </a:stretch>
        </p:blipFill>
        <p:spPr>
          <a:xfrm>
            <a:off x="4523127" y="5309317"/>
            <a:ext cx="128699" cy="187198"/>
          </a:xfrm>
          <a:prstGeom prst="rect">
            <a:avLst/>
          </a:prstGeom>
        </p:spPr>
      </p:pic>
      <p:sp>
        <p:nvSpPr>
          <p:cNvPr id="143" name="TextBox 142"/>
          <p:cNvSpPr txBox="1"/>
          <p:nvPr/>
        </p:nvSpPr>
        <p:spPr>
          <a:xfrm>
            <a:off x="4690623"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4" name="Picture 143" descr="lock.png"/>
          <p:cNvPicPr>
            <a:picLocks noChangeAspect="1"/>
          </p:cNvPicPr>
          <p:nvPr/>
        </p:nvPicPr>
        <p:blipFill>
          <a:blip r:embed="rId22"/>
          <a:stretch>
            <a:fillRect/>
          </a:stretch>
        </p:blipFill>
        <p:spPr>
          <a:xfrm>
            <a:off x="5550073" y="5309317"/>
            <a:ext cx="128699" cy="187198"/>
          </a:xfrm>
          <a:prstGeom prst="rect">
            <a:avLst/>
          </a:prstGeom>
        </p:spPr>
      </p:pic>
      <p:sp>
        <p:nvSpPr>
          <p:cNvPr id="145" name="TextBox 144"/>
          <p:cNvSpPr txBox="1"/>
          <p:nvPr/>
        </p:nvSpPr>
        <p:spPr>
          <a:xfrm>
            <a:off x="5717569" y="531909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6" name="TextBox 145"/>
          <p:cNvSpPr txBox="1"/>
          <p:nvPr/>
        </p:nvSpPr>
        <p:spPr>
          <a:xfrm>
            <a:off x="8524875" y="5842641"/>
            <a:ext cx="3089283" cy="194310"/>
          </a:xfrm>
          <a:prstGeom prst="rect">
            <a:avLst/>
          </a:prstGeom>
          <a:noFill/>
        </p:spPr>
        <p:txBody>
          <a:bodyPr wrap="none" lIns="0" rIns="0" tIns="0" bIns="0">
            <a:spAutoFit/>
          </a:bodyPr>
          <a:lstStyle/>
          <a:p>
            <a:r>
              <a:rPr sz="1150" b="1">
                <a:solidFill>
                  <a:srgbClr val="0B2E4A"/>
                </a:solidFill>
                <a:latin typeface="Calibri"/>
              </a:rPr>
              <a:t>The Form segment is projected to grow at a CAGR</a:t>
            </a:r>
          </a:p>
        </p:txBody>
      </p:sp>
      <p:sp>
        <p:nvSpPr>
          <p:cNvPr id="147" name="TextBox 146"/>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148" name="Picture 147" descr="lock.png"/>
          <p:cNvPicPr>
            <a:picLocks noChangeAspect="1"/>
          </p:cNvPicPr>
          <p:nvPr/>
        </p:nvPicPr>
        <p:blipFill>
          <a:blip r:embed="rId22"/>
          <a:stretch>
            <a:fillRect/>
          </a:stretch>
        </p:blipFill>
        <p:spPr>
          <a:xfrm>
            <a:off x="8674884" y="6007677"/>
            <a:ext cx="134549" cy="195707"/>
          </a:xfrm>
          <a:prstGeom prst="rect">
            <a:avLst/>
          </a:prstGeom>
        </p:spPr>
      </p:pic>
      <p:sp>
        <p:nvSpPr>
          <p:cNvPr id="149" name="TextBox 148"/>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Form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Form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Form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Form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498840" cy="186689"/>
          </a:xfrm>
          <a:prstGeom prst="rect">
            <a:avLst/>
          </a:prstGeom>
          <a:noFill/>
        </p:spPr>
        <p:txBody>
          <a:bodyPr wrap="none" lIns="0" rIns="0" tIns="0" bIns="0">
            <a:spAutoFit/>
          </a:bodyPr>
          <a:lstStyle/>
          <a:p>
            <a:r>
              <a:rPr sz="1100" b="0">
                <a:solidFill>
                  <a:srgbClr val="2E2E2E"/>
                </a:solidFill>
                <a:latin typeface="Calibri"/>
              </a:rPr>
              <a:t>Liquid followed by blended are expected to be the two most attractive form segments in the North America matcha market in terms of value over the forecast period. Liquid and blended exhibit a CAGR</a:t>
            </a:r>
          </a:p>
        </p:txBody>
      </p:sp>
      <p:sp>
        <p:nvSpPr>
          <p:cNvPr id="20" name="TextBox 19"/>
          <p:cNvSpPr txBox="1"/>
          <p:nvPr/>
        </p:nvSpPr>
        <p:spPr>
          <a:xfrm>
            <a:off x="257175" y="5945505"/>
            <a:ext cx="533226" cy="186689"/>
          </a:xfrm>
          <a:prstGeom prst="rect">
            <a:avLst/>
          </a:prstGeom>
          <a:noFill/>
        </p:spPr>
        <p:txBody>
          <a:bodyPr wrap="none" lIns="0" rIns="0" tIns="0" bIns="0">
            <a:spAutoFit/>
          </a:bodyPr>
          <a:lstStyle/>
          <a:p>
            <a:r>
              <a:rPr sz="1100" b="0">
                <a:solidFill>
                  <a:srgbClr val="2E2E2E"/>
                </a:solidFill>
                <a:latin typeface="Calibri"/>
              </a:rPr>
              <a:t>index of</a:t>
            </a:r>
          </a:p>
        </p:txBody>
      </p:sp>
      <p:pic>
        <p:nvPicPr>
          <p:cNvPr id="21" name="Picture 20" descr="lock.png"/>
          <p:cNvPicPr>
            <a:picLocks noChangeAspect="1"/>
          </p:cNvPicPr>
          <p:nvPr/>
        </p:nvPicPr>
        <p:blipFill>
          <a:blip r:embed="rId6"/>
          <a:stretch>
            <a:fillRect/>
          </a:stretch>
        </p:blipFill>
        <p:spPr>
          <a:xfrm>
            <a:off x="738452" y="5935726"/>
            <a:ext cx="128699" cy="187198"/>
          </a:xfrm>
          <a:prstGeom prst="rect">
            <a:avLst/>
          </a:prstGeom>
        </p:spPr>
      </p:pic>
      <p:sp>
        <p:nvSpPr>
          <p:cNvPr id="22" name="TextBox 21"/>
          <p:cNvSpPr txBox="1"/>
          <p:nvPr/>
        </p:nvSpPr>
        <p:spPr>
          <a:xfrm>
            <a:off x="90594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1143843" y="5935726"/>
            <a:ext cx="128699" cy="187198"/>
          </a:xfrm>
          <a:prstGeom prst="rect">
            <a:avLst/>
          </a:prstGeom>
        </p:spPr>
      </p:pic>
      <p:sp>
        <p:nvSpPr>
          <p:cNvPr id="24" name="TextBox 23"/>
          <p:cNvSpPr txBox="1"/>
          <p:nvPr/>
        </p:nvSpPr>
        <p:spPr>
          <a:xfrm>
            <a:off x="1311338"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2920312" y="5935726"/>
            <a:ext cx="128699" cy="187198"/>
          </a:xfrm>
          <a:prstGeom prst="rect">
            <a:avLst/>
          </a:prstGeom>
        </p:spPr>
      </p:pic>
      <p:sp>
        <p:nvSpPr>
          <p:cNvPr id="26" name="TextBox 25"/>
          <p:cNvSpPr txBox="1"/>
          <p:nvPr/>
        </p:nvSpPr>
        <p:spPr>
          <a:xfrm>
            <a:off x="308780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3325702" y="5935726"/>
            <a:ext cx="128699" cy="187198"/>
          </a:xfrm>
          <a:prstGeom prst="rect">
            <a:avLst/>
          </a:prstGeom>
        </p:spPr>
      </p:pic>
      <p:sp>
        <p:nvSpPr>
          <p:cNvPr id="28" name="TextBox 27"/>
          <p:cNvSpPr txBox="1"/>
          <p:nvPr/>
        </p:nvSpPr>
        <p:spPr>
          <a:xfrm>
            <a:off x="3493198"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6047602" y="5935726"/>
            <a:ext cx="128699" cy="187198"/>
          </a:xfrm>
          <a:prstGeom prst="rect">
            <a:avLst/>
          </a:prstGeom>
        </p:spPr>
      </p:pic>
      <p:sp>
        <p:nvSpPr>
          <p:cNvPr id="30" name="TextBox 29"/>
          <p:cNvSpPr txBox="1"/>
          <p:nvPr/>
        </p:nvSpPr>
        <p:spPr>
          <a:xfrm>
            <a:off x="6215098" y="5945505"/>
            <a:ext cx="5049465" cy="186689"/>
          </a:xfrm>
          <a:prstGeom prst="rect">
            <a:avLst/>
          </a:prstGeom>
          <a:noFill/>
        </p:spPr>
        <p:txBody>
          <a:bodyPr wrap="none" lIns="0" rIns="0" tIns="0" bIns="0">
            <a:spAutoFit/>
          </a:bodyPr>
          <a:lstStyle/>
          <a:p>
            <a:r>
              <a:rPr sz="1100" b="0">
                <a:solidFill>
                  <a:srgbClr val="2E2E2E"/>
                </a:solidFill>
                <a:latin typeface="Calibri"/>
              </a:rPr>
              <a:t>. The granules segment is expected to be less attractive as compared to other segments</a:t>
            </a:r>
          </a:p>
        </p:txBody>
      </p:sp>
      <p:sp>
        <p:nvSpPr>
          <p:cNvPr id="31" name="TextBox 30"/>
          <p:cNvSpPr txBox="1"/>
          <p:nvPr/>
        </p:nvSpPr>
        <p:spPr>
          <a:xfrm>
            <a:off x="257175" y="6113145"/>
            <a:ext cx="8924196" cy="186689"/>
          </a:xfrm>
          <a:prstGeom prst="rect">
            <a:avLst/>
          </a:prstGeom>
          <a:noFill/>
        </p:spPr>
        <p:txBody>
          <a:bodyPr wrap="none" lIns="0" rIns="0" tIns="0" bIns="0">
            <a:spAutoFit/>
          </a:bodyPr>
          <a:lstStyle/>
          <a:p>
            <a:r>
              <a:rPr sz="1100" b="0">
                <a:solidFill>
                  <a:srgbClr val="2E2E2E"/>
                </a:solidFill>
                <a:latin typeface="Calibri"/>
              </a:rPr>
              <a:t>over the forecast period, owing to its lower CAGR and incremental opportunity. Bubbles right of the CAGR-Index line grow faster than the 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Form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Form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Powder</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Liquid</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Granules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Blended</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Form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Form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Ground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Whole</a:t>
            </a:r>
          </a:p>
        </p:txBody>
      </p:sp>
      <p:graphicFrame>
        <p:nvGraphicFramePr>
          <p:cNvPr id="15" name="Chart 14"/>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20955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Form</a:t>
            </a:r>
          </a:p>
        </p:txBody>
      </p:sp>
      <p:sp>
        <p:nvSpPr>
          <p:cNvPr id="18" name="Rectangle 17"/>
          <p:cNvSpPr/>
          <p:nvPr/>
        </p:nvSpPr>
        <p:spPr>
          <a:xfrm>
            <a:off x="6305550" y="130492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390650"/>
            <a:ext cx="5610225"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094826" y="2237234"/>
            <a:ext cx="263506" cy="383281"/>
          </a:xfrm>
          <a:prstGeom prst="rect">
            <a:avLst/>
          </a:prstGeom>
        </p:spPr>
      </p:pic>
      <p:pic>
        <p:nvPicPr>
          <p:cNvPr id="22" name="Picture 21" descr="lock.png"/>
          <p:cNvPicPr>
            <a:picLocks noChangeAspect="1"/>
          </p:cNvPicPr>
          <p:nvPr/>
        </p:nvPicPr>
        <p:blipFill>
          <a:blip r:embed="rId6"/>
          <a:stretch>
            <a:fillRect/>
          </a:stretch>
        </p:blipFill>
        <p:spPr>
          <a:xfrm>
            <a:off x="3094826" y="5123309"/>
            <a:ext cx="263506" cy="383281"/>
          </a:xfrm>
          <a:prstGeom prst="rect">
            <a:avLst/>
          </a:prstGeom>
        </p:spPr>
      </p:pic>
      <p:sp>
        <p:nvSpPr>
          <p:cNvPr id="23" name="TextBox 22"/>
          <p:cNvSpPr txBox="1"/>
          <p:nvPr/>
        </p:nvSpPr>
        <p:spPr>
          <a:xfrm>
            <a:off x="6305550" y="1400175"/>
            <a:ext cx="3832401" cy="194310"/>
          </a:xfrm>
          <a:prstGeom prst="rect">
            <a:avLst/>
          </a:prstGeom>
          <a:noFill/>
        </p:spPr>
        <p:txBody>
          <a:bodyPr wrap="none" lIns="0" rIns="0" tIns="0" bIns="0">
            <a:spAutoFit/>
          </a:bodyPr>
          <a:lstStyle/>
          <a:p>
            <a:r>
              <a:rPr sz="1150" b="0">
                <a:solidFill>
                  <a:srgbClr val="2E2E2E"/>
                </a:solidFill>
                <a:latin typeface="Calibri"/>
              </a:rPr>
              <a:t>By 2036, liquid segment is anticipated to witness an increase of</a:t>
            </a:r>
          </a:p>
        </p:txBody>
      </p:sp>
      <p:pic>
        <p:nvPicPr>
          <p:cNvPr id="24" name="Picture 23" descr="lock.png"/>
          <p:cNvPicPr>
            <a:picLocks noChangeAspect="1"/>
          </p:cNvPicPr>
          <p:nvPr/>
        </p:nvPicPr>
        <p:blipFill>
          <a:blip r:embed="rId6"/>
          <a:stretch>
            <a:fillRect/>
          </a:stretch>
        </p:blipFill>
        <p:spPr>
          <a:xfrm>
            <a:off x="10087105" y="1389951"/>
            <a:ext cx="134549" cy="195707"/>
          </a:xfrm>
          <a:prstGeom prst="rect">
            <a:avLst/>
          </a:prstGeom>
        </p:spPr>
      </p:pic>
      <p:sp>
        <p:nvSpPr>
          <p:cNvPr id="25" name="TextBox 24"/>
          <p:cNvSpPr txBox="1"/>
          <p:nvPr/>
        </p:nvSpPr>
        <p:spPr>
          <a:xfrm>
            <a:off x="10262214" y="1400175"/>
            <a:ext cx="1341871" cy="194310"/>
          </a:xfrm>
          <a:prstGeom prst="rect">
            <a:avLst/>
          </a:prstGeom>
          <a:noFill/>
        </p:spPr>
        <p:txBody>
          <a:bodyPr wrap="none" lIns="0" rIns="0" tIns="0" bIns="0">
            <a:spAutoFit/>
          </a:bodyPr>
          <a:lstStyle/>
          <a:p>
            <a:r>
              <a:rPr sz="1150" b="0">
                <a:solidFill>
                  <a:srgbClr val="2E2E2E"/>
                </a:solidFill>
                <a:latin typeface="Calibri"/>
              </a:rPr>
              <a:t>X in terms of value as</a:t>
            </a:r>
          </a:p>
        </p:txBody>
      </p:sp>
      <p:sp>
        <p:nvSpPr>
          <p:cNvPr id="26" name="TextBox 25"/>
          <p:cNvSpPr txBox="1"/>
          <p:nvPr/>
        </p:nvSpPr>
        <p:spPr>
          <a:xfrm>
            <a:off x="6305550" y="1575435"/>
            <a:ext cx="5467498" cy="194310"/>
          </a:xfrm>
          <a:prstGeom prst="rect">
            <a:avLst/>
          </a:prstGeom>
          <a:noFill/>
        </p:spPr>
        <p:txBody>
          <a:bodyPr wrap="none" lIns="0" rIns="0" tIns="0" bIns="0">
            <a:spAutoFit/>
          </a:bodyPr>
          <a:lstStyle/>
          <a:p>
            <a:r>
              <a:rPr sz="1150" b="0">
                <a:solidFill>
                  <a:srgbClr val="2E2E2E"/>
                </a:solidFill>
                <a:latin typeface="Calibri"/>
              </a:rPr>
              <a:t>compared to 2026. The liquid segment is expected to create an incremental opportunity of</a:t>
            </a:r>
          </a:p>
        </p:txBody>
      </p:sp>
      <p:sp>
        <p:nvSpPr>
          <p:cNvPr id="27" name="TextBox 26"/>
          <p:cNvSpPr txBox="1"/>
          <p:nvPr/>
        </p:nvSpPr>
        <p:spPr>
          <a:xfrm>
            <a:off x="6305550" y="1750695"/>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28" name="Picture 27" descr="lock.png"/>
          <p:cNvPicPr>
            <a:picLocks noChangeAspect="1"/>
          </p:cNvPicPr>
          <p:nvPr/>
        </p:nvPicPr>
        <p:blipFill>
          <a:blip r:embed="rId6"/>
          <a:stretch>
            <a:fillRect/>
          </a:stretch>
        </p:blipFill>
        <p:spPr>
          <a:xfrm>
            <a:off x="6565953" y="1740471"/>
            <a:ext cx="134549" cy="195707"/>
          </a:xfrm>
          <a:prstGeom prst="rect">
            <a:avLst/>
          </a:prstGeom>
        </p:spPr>
      </p:pic>
      <p:sp>
        <p:nvSpPr>
          <p:cNvPr id="29" name="TextBox 28"/>
          <p:cNvSpPr txBox="1"/>
          <p:nvPr/>
        </p:nvSpPr>
        <p:spPr>
          <a:xfrm>
            <a:off x="6741062" y="1750695"/>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30" name="TextBox 29"/>
          <p:cNvSpPr txBox="1"/>
          <p:nvPr/>
        </p:nvSpPr>
        <p:spPr>
          <a:xfrm>
            <a:off x="6305550" y="1978533"/>
            <a:ext cx="4728976" cy="194310"/>
          </a:xfrm>
          <a:prstGeom prst="rect">
            <a:avLst/>
          </a:prstGeom>
          <a:noFill/>
        </p:spPr>
        <p:txBody>
          <a:bodyPr wrap="none" lIns="0" rIns="0" tIns="0" bIns="0">
            <a:spAutoFit/>
          </a:bodyPr>
          <a:lstStyle/>
          <a:p>
            <a:r>
              <a:rPr sz="1150" b="0">
                <a:solidFill>
                  <a:srgbClr val="2E2E2E"/>
                </a:solidFill>
                <a:latin typeface="Calibri"/>
              </a:rPr>
              <a:t>The blended segment is expected to create an incremental opportunity of US$</a:t>
            </a:r>
          </a:p>
        </p:txBody>
      </p:sp>
      <p:pic>
        <p:nvPicPr>
          <p:cNvPr id="31" name="Picture 30" descr="lock.png"/>
          <p:cNvPicPr>
            <a:picLocks noChangeAspect="1"/>
          </p:cNvPicPr>
          <p:nvPr/>
        </p:nvPicPr>
        <p:blipFill>
          <a:blip r:embed="rId6"/>
          <a:stretch>
            <a:fillRect/>
          </a:stretch>
        </p:blipFill>
        <p:spPr>
          <a:xfrm>
            <a:off x="10983680" y="1968309"/>
            <a:ext cx="134549" cy="195707"/>
          </a:xfrm>
          <a:prstGeom prst="rect">
            <a:avLst/>
          </a:prstGeom>
        </p:spPr>
      </p:pic>
      <p:sp>
        <p:nvSpPr>
          <p:cNvPr id="32" name="TextBox 31"/>
          <p:cNvSpPr txBox="1"/>
          <p:nvPr/>
        </p:nvSpPr>
        <p:spPr>
          <a:xfrm>
            <a:off x="11158789" y="1978533"/>
            <a:ext cx="715168" cy="194310"/>
          </a:xfrm>
          <a:prstGeom prst="rect">
            <a:avLst/>
          </a:prstGeom>
          <a:noFill/>
        </p:spPr>
        <p:txBody>
          <a:bodyPr wrap="none" lIns="0" rIns="0" tIns="0" bIns="0">
            <a:spAutoFit/>
          </a:bodyPr>
          <a:lstStyle/>
          <a:p>
            <a:r>
              <a:rPr sz="1150" b="0">
                <a:solidFill>
                  <a:srgbClr val="2E2E2E"/>
                </a:solidFill>
                <a:latin typeface="Calibri"/>
              </a:rPr>
              <a:t>Mn for the</a:t>
            </a:r>
          </a:p>
        </p:txBody>
      </p:sp>
      <p:sp>
        <p:nvSpPr>
          <p:cNvPr id="33" name="TextBox 32"/>
          <p:cNvSpPr txBox="1"/>
          <p:nvPr/>
        </p:nvSpPr>
        <p:spPr>
          <a:xfrm>
            <a:off x="6305550" y="2153793"/>
            <a:ext cx="5307186" cy="194310"/>
          </a:xfrm>
          <a:prstGeom prst="rect">
            <a:avLst/>
          </a:prstGeom>
          <a:noFill/>
        </p:spPr>
        <p:txBody>
          <a:bodyPr wrap="none" lIns="0" rIns="0" tIns="0" bIns="0">
            <a:spAutoFit/>
          </a:bodyPr>
          <a:lstStyle/>
          <a:p>
            <a:r>
              <a:rPr sz="1150" b="0">
                <a:solidFill>
                  <a:srgbClr val="2E2E2E"/>
                </a:solidFill>
                <a:latin typeface="Calibri"/>
              </a:rPr>
              <a:t>overall matcha market from 2026 to 2036. The ground segment is expected to create an</a:t>
            </a:r>
          </a:p>
        </p:txBody>
      </p:sp>
      <p:sp>
        <p:nvSpPr>
          <p:cNvPr id="34" name="TextBox 33"/>
          <p:cNvSpPr txBox="1"/>
          <p:nvPr/>
        </p:nvSpPr>
        <p:spPr>
          <a:xfrm>
            <a:off x="6305550" y="2329053"/>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35" name="Picture 34" descr="lock.png"/>
          <p:cNvPicPr>
            <a:picLocks noChangeAspect="1"/>
          </p:cNvPicPr>
          <p:nvPr/>
        </p:nvPicPr>
        <p:blipFill>
          <a:blip r:embed="rId6"/>
          <a:stretch>
            <a:fillRect/>
          </a:stretch>
        </p:blipFill>
        <p:spPr>
          <a:xfrm>
            <a:off x="8211582" y="2318829"/>
            <a:ext cx="134549" cy="195707"/>
          </a:xfrm>
          <a:prstGeom prst="rect">
            <a:avLst/>
          </a:prstGeom>
        </p:spPr>
      </p:pic>
      <p:sp>
        <p:nvSpPr>
          <p:cNvPr id="36" name="TextBox 35"/>
          <p:cNvSpPr txBox="1"/>
          <p:nvPr/>
        </p:nvSpPr>
        <p:spPr>
          <a:xfrm>
            <a:off x="8386692" y="2329053"/>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3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lockshield_15"/>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Form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Form, 2021–2036, highlighting the sub-segments driving growth</a:t>
            </a:r>
          </a:p>
        </p:txBody>
      </p:sp>
      <p:sp>
        <p:nvSpPr>
          <p:cNvPr id="10" name="Rounded Rectangle 9"/>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Form (US$ Mn)</a:t>
            </a:r>
          </a:p>
        </p:txBody>
      </p:sp>
      <p:graphicFrame>
        <p:nvGraphicFramePr>
          <p:cNvPr id="12" name="Table 11"/>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761766"/>
                <a:gridCol w="654437"/>
                <a:gridCol w="654437"/>
                <a:gridCol w="654437"/>
                <a:gridCol w="654437"/>
                <a:gridCol w="654437"/>
                <a:gridCol w="654437"/>
                <a:gridCol w="654437"/>
                <a:gridCol w="654437"/>
                <a:gridCol w="654437"/>
                <a:gridCol w="654437"/>
                <a:gridCol w="654437"/>
                <a:gridCol w="654437"/>
                <a:gridCol w="654437"/>
                <a:gridCol w="654437"/>
                <a:gridCol w="654437"/>
                <a:gridCol w="654437"/>
                <a:gridCol w="654437"/>
              </a:tblGrid>
              <a:tr h="246126">
                <a:tc>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552825"/>
            <a:ext cx="1190625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6385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Form</a:t>
            </a:r>
          </a:p>
        </p:txBody>
      </p:sp>
      <p:sp>
        <p:nvSpPr>
          <p:cNvPr id="16" name="Rectangle 15"/>
          <p:cNvSpPr/>
          <p:nvPr/>
        </p:nvSpPr>
        <p:spPr>
          <a:xfrm>
            <a:off x="276225" y="38766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962400"/>
            <a:ext cx="1163955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290190" y="2080450"/>
            <a:ext cx="366712" cy="533399"/>
          </a:xfrm>
          <a:prstGeom prst="rect">
            <a:avLst/>
          </a:prstGeom>
        </p:spPr>
      </p:pic>
      <p:sp>
        <p:nvSpPr>
          <p:cNvPr id="20" name="TextBox 19"/>
          <p:cNvSpPr txBox="1"/>
          <p:nvPr/>
        </p:nvSpPr>
        <p:spPr>
          <a:xfrm>
            <a:off x="276225" y="3971925"/>
            <a:ext cx="2360228" cy="194310"/>
          </a:xfrm>
          <a:prstGeom prst="rect">
            <a:avLst/>
          </a:prstGeom>
          <a:noFill/>
        </p:spPr>
        <p:txBody>
          <a:bodyPr wrap="none" lIns="0" rIns="0" tIns="0" bIns="0">
            <a:spAutoFit/>
          </a:bodyPr>
          <a:lstStyle/>
          <a:p>
            <a:r>
              <a:rPr sz="1150" b="0">
                <a:solidFill>
                  <a:srgbClr val="2E2E2E"/>
                </a:solidFill>
                <a:latin typeface="Calibri"/>
              </a:rPr>
              <a:t>Liquid segment is projected to register</a:t>
            </a:r>
          </a:p>
        </p:txBody>
      </p:sp>
      <p:pic>
        <p:nvPicPr>
          <p:cNvPr id="21" name="Picture 20" descr="lock.png"/>
          <p:cNvPicPr>
            <a:picLocks noChangeAspect="1"/>
          </p:cNvPicPr>
          <p:nvPr/>
        </p:nvPicPr>
        <p:blipFill>
          <a:blip r:embed="rId4"/>
          <a:stretch>
            <a:fillRect/>
          </a:stretch>
        </p:blipFill>
        <p:spPr>
          <a:xfrm>
            <a:off x="2585606" y="3961701"/>
            <a:ext cx="134549" cy="195707"/>
          </a:xfrm>
          <a:prstGeom prst="rect">
            <a:avLst/>
          </a:prstGeom>
        </p:spPr>
      </p:pic>
      <p:sp>
        <p:nvSpPr>
          <p:cNvPr id="22" name="TextBox 21"/>
          <p:cNvSpPr txBox="1"/>
          <p:nvPr/>
        </p:nvSpPr>
        <p:spPr>
          <a:xfrm>
            <a:off x="2760716" y="3971925"/>
            <a:ext cx="7744948" cy="194310"/>
          </a:xfrm>
          <a:prstGeom prst="rect">
            <a:avLst/>
          </a:prstGeom>
          <a:noFill/>
        </p:spPr>
        <p:txBody>
          <a:bodyPr wrap="none" lIns="0" rIns="0" tIns="0" bIns="0">
            <a:spAutoFit/>
          </a:bodyPr>
          <a:lstStyle/>
          <a:p>
            <a:r>
              <a:rPr sz="1150" b="0">
                <a:solidFill>
                  <a:srgbClr val="2E2E2E"/>
                </a:solidFill>
                <a:latin typeface="Calibri"/>
              </a:rPr>
              <a:t>X higher value than blended segment in 2036. Among matcha by form, liquid segment is expected to witness the highest CAGR of</a:t>
            </a:r>
          </a:p>
        </p:txBody>
      </p:sp>
      <p:pic>
        <p:nvPicPr>
          <p:cNvPr id="23" name="Picture 22" descr="lock.png"/>
          <p:cNvPicPr>
            <a:picLocks noChangeAspect="1"/>
          </p:cNvPicPr>
          <p:nvPr/>
        </p:nvPicPr>
        <p:blipFill>
          <a:blip r:embed="rId4"/>
          <a:stretch>
            <a:fillRect/>
          </a:stretch>
        </p:blipFill>
        <p:spPr>
          <a:xfrm>
            <a:off x="10454818" y="3961701"/>
            <a:ext cx="134549" cy="195707"/>
          </a:xfrm>
          <a:prstGeom prst="rect">
            <a:avLst/>
          </a:prstGeom>
        </p:spPr>
      </p:pic>
      <p:sp>
        <p:nvSpPr>
          <p:cNvPr id="24" name="TextBox 23"/>
          <p:cNvSpPr txBox="1"/>
          <p:nvPr/>
        </p:nvSpPr>
        <p:spPr>
          <a:xfrm>
            <a:off x="10629927" y="397192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25" name="TextBox 24"/>
          <p:cNvSpPr txBox="1"/>
          <p:nvPr/>
        </p:nvSpPr>
        <p:spPr>
          <a:xfrm>
            <a:off x="276225" y="4147185"/>
            <a:ext cx="500943" cy="194310"/>
          </a:xfrm>
          <a:prstGeom prst="rect">
            <a:avLst/>
          </a:prstGeom>
          <a:noFill/>
        </p:spPr>
        <p:txBody>
          <a:bodyPr wrap="none" lIns="0" rIns="0" tIns="0" bIns="0">
            <a:spAutoFit/>
          </a:bodyPr>
          <a:lstStyle/>
          <a:p>
            <a:r>
              <a:rPr sz="1150" b="0">
                <a:solidFill>
                  <a:srgbClr val="2E2E2E"/>
                </a:solidFill>
                <a:latin typeface="Calibri"/>
              </a:rPr>
              <a:t>period.</a:t>
            </a:r>
          </a:p>
        </p:txBody>
      </p:sp>
      <p:sp>
        <p:nvSpPr>
          <p:cNvPr id="26" name="TextBox 25"/>
          <p:cNvSpPr txBox="1"/>
          <p:nvPr/>
        </p:nvSpPr>
        <p:spPr>
          <a:xfrm>
            <a:off x="276225" y="4375022"/>
            <a:ext cx="5770153" cy="194310"/>
          </a:xfrm>
          <a:prstGeom prst="rect">
            <a:avLst/>
          </a:prstGeom>
          <a:noFill/>
        </p:spPr>
        <p:txBody>
          <a:bodyPr wrap="none" lIns="0" rIns="0" tIns="0" bIns="0">
            <a:spAutoFit/>
          </a:bodyPr>
          <a:lstStyle/>
          <a:p>
            <a:r>
              <a:rPr sz="1150" b="0">
                <a:solidFill>
                  <a:srgbClr val="2E2E2E"/>
                </a:solidFill>
                <a:latin typeface="Calibri"/>
              </a:rPr>
              <a:t>In terms of value share by form, the liquid segment is expected to dominate the market, gaining</a:t>
            </a:r>
          </a:p>
        </p:txBody>
      </p:sp>
      <p:pic>
        <p:nvPicPr>
          <p:cNvPr id="27" name="Picture 26" descr="lock.png"/>
          <p:cNvPicPr>
            <a:picLocks noChangeAspect="1"/>
          </p:cNvPicPr>
          <p:nvPr/>
        </p:nvPicPr>
        <p:blipFill>
          <a:blip r:embed="rId4"/>
          <a:stretch>
            <a:fillRect/>
          </a:stretch>
        </p:blipFill>
        <p:spPr>
          <a:xfrm>
            <a:off x="5995532" y="4364799"/>
            <a:ext cx="134549" cy="195707"/>
          </a:xfrm>
          <a:prstGeom prst="rect">
            <a:avLst/>
          </a:prstGeom>
        </p:spPr>
      </p:pic>
      <p:sp>
        <p:nvSpPr>
          <p:cNvPr id="28" name="TextBox 27"/>
          <p:cNvSpPr txBox="1"/>
          <p:nvPr/>
        </p:nvSpPr>
        <p:spPr>
          <a:xfrm>
            <a:off x="6170641" y="43750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7565784" y="4364799"/>
            <a:ext cx="134549" cy="195707"/>
          </a:xfrm>
          <a:prstGeom prst="rect">
            <a:avLst/>
          </a:prstGeom>
        </p:spPr>
      </p:pic>
      <p:sp>
        <p:nvSpPr>
          <p:cNvPr id="30" name="TextBox 29"/>
          <p:cNvSpPr txBox="1"/>
          <p:nvPr/>
        </p:nvSpPr>
        <p:spPr>
          <a:xfrm>
            <a:off x="7740893" y="4375022"/>
            <a:ext cx="3401690" cy="194310"/>
          </a:xfrm>
          <a:prstGeom prst="rect">
            <a:avLst/>
          </a:prstGeom>
          <a:noFill/>
        </p:spPr>
        <p:txBody>
          <a:bodyPr wrap="none" lIns="0" rIns="0" tIns="0" bIns="0">
            <a:spAutoFit/>
          </a:bodyPr>
          <a:lstStyle/>
          <a:p>
            <a:r>
              <a:rPr sz="1150" b="0">
                <a:solidFill>
                  <a:srgbClr val="2E2E2E"/>
                </a:solidFill>
                <a:latin typeface="Calibri"/>
              </a:rPr>
              <a:t>share by 2036. The blended segment is expected to lose</a:t>
            </a:r>
          </a:p>
        </p:txBody>
      </p:sp>
      <p:pic>
        <p:nvPicPr>
          <p:cNvPr id="31" name="Picture 30" descr="lock.png"/>
          <p:cNvPicPr>
            <a:picLocks noChangeAspect="1"/>
          </p:cNvPicPr>
          <p:nvPr/>
        </p:nvPicPr>
        <p:blipFill>
          <a:blip r:embed="rId4"/>
          <a:stretch>
            <a:fillRect/>
          </a:stretch>
        </p:blipFill>
        <p:spPr>
          <a:xfrm>
            <a:off x="11091737" y="4364799"/>
            <a:ext cx="134549" cy="195707"/>
          </a:xfrm>
          <a:prstGeom prst="rect">
            <a:avLst/>
          </a:prstGeom>
        </p:spPr>
      </p:pic>
      <p:sp>
        <p:nvSpPr>
          <p:cNvPr id="32" name="TextBox 31"/>
          <p:cNvSpPr txBox="1"/>
          <p:nvPr/>
        </p:nvSpPr>
        <p:spPr>
          <a:xfrm>
            <a:off x="11266847" y="4375022"/>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3" name="TextBox 32"/>
          <p:cNvSpPr txBox="1"/>
          <p:nvPr/>
        </p:nvSpPr>
        <p:spPr>
          <a:xfrm>
            <a:off x="276225" y="4550282"/>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34" name="Picture 33" descr="lock.png"/>
          <p:cNvPicPr>
            <a:picLocks noChangeAspect="1"/>
          </p:cNvPicPr>
          <p:nvPr/>
        </p:nvPicPr>
        <p:blipFill>
          <a:blip r:embed="rId4"/>
          <a:stretch>
            <a:fillRect/>
          </a:stretch>
        </p:blipFill>
        <p:spPr>
          <a:xfrm>
            <a:off x="2608427" y="4540059"/>
            <a:ext cx="134549" cy="195707"/>
          </a:xfrm>
          <a:prstGeom prst="rect">
            <a:avLst/>
          </a:prstGeom>
        </p:spPr>
      </p:pic>
      <p:sp>
        <p:nvSpPr>
          <p:cNvPr id="35" name="TextBox 34"/>
          <p:cNvSpPr txBox="1"/>
          <p:nvPr/>
        </p:nvSpPr>
        <p:spPr>
          <a:xfrm>
            <a:off x="2783536" y="45502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Form</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Form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Form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766969"/>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762206"/>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686006"/>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Granules</a:t>
            </a:r>
          </a:p>
        </p:txBody>
      </p:sp>
      <p:sp>
        <p:nvSpPr>
          <p:cNvPr id="18" name="BPS Value 1"/>
          <p:cNvSpPr txBox="1"/>
          <p:nvPr/>
        </p:nvSpPr>
        <p:spPr>
          <a:xfrm>
            <a:off x="6896100" y="174791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2002692"/>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1997930"/>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19217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Powder</a:t>
            </a:r>
          </a:p>
        </p:txBody>
      </p:sp>
      <p:sp>
        <p:nvSpPr>
          <p:cNvPr id="22" name="BPS Value 2"/>
          <p:cNvSpPr txBox="1"/>
          <p:nvPr/>
        </p:nvSpPr>
        <p:spPr>
          <a:xfrm>
            <a:off x="6896100" y="1983642"/>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2462987"/>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5090922" y="245822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38202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Whole</a:t>
            </a:r>
          </a:p>
        </p:txBody>
      </p:sp>
      <p:sp>
        <p:nvSpPr>
          <p:cNvPr id="26" name="BPS Value 3"/>
          <p:cNvSpPr txBox="1"/>
          <p:nvPr/>
        </p:nvSpPr>
        <p:spPr>
          <a:xfrm>
            <a:off x="6896100" y="2443937"/>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928997" y="3151003"/>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rot="10800000">
            <a:off x="5090922" y="314624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307004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Ground</a:t>
            </a:r>
          </a:p>
        </p:txBody>
      </p:sp>
      <p:sp>
        <p:nvSpPr>
          <p:cNvPr id="30" name="BPS Value 4"/>
          <p:cNvSpPr txBox="1"/>
          <p:nvPr/>
        </p:nvSpPr>
        <p:spPr>
          <a:xfrm>
            <a:off x="6896100" y="313195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1" name="FMI Legend Chip"/>
          <p:cNvSpPr/>
          <p:nvPr/>
        </p:nvSpPr>
        <p:spPr>
          <a:xfrm>
            <a:off x="4928997" y="4046012"/>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5090922" y="404125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396505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Blended</a:t>
            </a:r>
          </a:p>
        </p:txBody>
      </p:sp>
      <p:sp>
        <p:nvSpPr>
          <p:cNvPr id="34" name="BPS Value 5"/>
          <p:cNvSpPr txBox="1"/>
          <p:nvPr/>
        </p:nvSpPr>
        <p:spPr>
          <a:xfrm>
            <a:off x="6896100" y="402696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FMI Legend Chip"/>
          <p:cNvSpPr/>
          <p:nvPr/>
        </p:nvSpPr>
        <p:spPr>
          <a:xfrm>
            <a:off x="4928997" y="540846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a:off x="5090922" y="540370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53275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Liquid</a:t>
            </a:r>
          </a:p>
        </p:txBody>
      </p:sp>
      <p:sp>
        <p:nvSpPr>
          <p:cNvPr id="38" name="BPS Value 6"/>
          <p:cNvSpPr txBox="1"/>
          <p:nvPr/>
        </p:nvSpPr>
        <p:spPr>
          <a:xfrm>
            <a:off x="6896100" y="5389413"/>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9" name="Rounded Rectangle 38"/>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Form</a:t>
            </a:r>
          </a:p>
        </p:txBody>
      </p:sp>
      <p:sp>
        <p:nvSpPr>
          <p:cNvPr id="41" name="Rectangle 40"/>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3" name="TextBox 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4" name="Picture 43" descr="lock.png"/>
          <p:cNvPicPr>
            <a:picLocks noChangeAspect="1"/>
          </p:cNvPicPr>
          <p:nvPr/>
        </p:nvPicPr>
        <p:blipFill>
          <a:blip r:embed="rId5"/>
          <a:stretch>
            <a:fillRect/>
          </a:stretch>
        </p:blipFill>
        <p:spPr>
          <a:xfrm>
            <a:off x="2557843" y="3833622"/>
            <a:ext cx="275034" cy="400050"/>
          </a:xfrm>
          <a:prstGeom prst="rect">
            <a:avLst/>
          </a:prstGeom>
        </p:spPr>
      </p:pic>
      <p:sp>
        <p:nvSpPr>
          <p:cNvPr id="45" name="TextBox 44"/>
          <p:cNvSpPr txBox="1"/>
          <p:nvPr/>
        </p:nvSpPr>
        <p:spPr>
          <a:xfrm>
            <a:off x="7829550" y="1400175"/>
            <a:ext cx="4000437" cy="194310"/>
          </a:xfrm>
          <a:prstGeom prst="rect">
            <a:avLst/>
          </a:prstGeom>
          <a:noFill/>
        </p:spPr>
        <p:txBody>
          <a:bodyPr wrap="none" lIns="0" rIns="0" tIns="0" bIns="0">
            <a:spAutoFit/>
          </a:bodyPr>
          <a:lstStyle/>
          <a:p>
            <a:r>
              <a:rPr sz="1150" b="0">
                <a:solidFill>
                  <a:srgbClr val="2E2E2E"/>
                </a:solidFill>
                <a:latin typeface="Calibri"/>
              </a:rPr>
              <a:t>Among matcha by form, liquid segment is expected to witness the</a:t>
            </a:r>
          </a:p>
        </p:txBody>
      </p:sp>
      <p:sp>
        <p:nvSpPr>
          <p:cNvPr id="46" name="TextBox 45"/>
          <p:cNvSpPr txBox="1"/>
          <p:nvPr/>
        </p:nvSpPr>
        <p:spPr>
          <a:xfrm>
            <a:off x="7829550" y="157543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47" name="Picture 46" descr="lock.png"/>
          <p:cNvPicPr>
            <a:picLocks noChangeAspect="1"/>
          </p:cNvPicPr>
          <p:nvPr/>
        </p:nvPicPr>
        <p:blipFill>
          <a:blip r:embed="rId5"/>
          <a:stretch>
            <a:fillRect/>
          </a:stretch>
        </p:blipFill>
        <p:spPr>
          <a:xfrm>
            <a:off x="8811057" y="1565211"/>
            <a:ext cx="134549" cy="195707"/>
          </a:xfrm>
          <a:prstGeom prst="rect">
            <a:avLst/>
          </a:prstGeom>
        </p:spPr>
      </p:pic>
      <p:sp>
        <p:nvSpPr>
          <p:cNvPr id="48" name="TextBox 47"/>
          <p:cNvSpPr txBox="1"/>
          <p:nvPr/>
        </p:nvSpPr>
        <p:spPr>
          <a:xfrm>
            <a:off x="8986166" y="1575435"/>
            <a:ext cx="2581585" cy="194310"/>
          </a:xfrm>
          <a:prstGeom prst="rect">
            <a:avLst/>
          </a:prstGeom>
          <a:noFill/>
        </p:spPr>
        <p:txBody>
          <a:bodyPr wrap="none" lIns="0" rIns="0" tIns="0" bIns="0">
            <a:spAutoFit/>
          </a:bodyPr>
          <a:lstStyle/>
          <a:p>
            <a:r>
              <a:rPr sz="1150" b="0">
                <a:solidFill>
                  <a:srgbClr val="2E2E2E"/>
                </a:solidFill>
                <a:latin typeface="Calibri"/>
              </a:rPr>
              <a:t>over the forecast period. In terms of value</a:t>
            </a:r>
          </a:p>
        </p:txBody>
      </p:sp>
      <p:sp>
        <p:nvSpPr>
          <p:cNvPr id="49" name="TextBox 48"/>
          <p:cNvSpPr txBox="1"/>
          <p:nvPr/>
        </p:nvSpPr>
        <p:spPr>
          <a:xfrm>
            <a:off x="7829550" y="1750695"/>
            <a:ext cx="3780507" cy="194310"/>
          </a:xfrm>
          <a:prstGeom prst="rect">
            <a:avLst/>
          </a:prstGeom>
          <a:noFill/>
        </p:spPr>
        <p:txBody>
          <a:bodyPr wrap="none" lIns="0" rIns="0" tIns="0" bIns="0">
            <a:spAutoFit/>
          </a:bodyPr>
          <a:lstStyle/>
          <a:p>
            <a:r>
              <a:rPr sz="1150" b="0">
                <a:solidFill>
                  <a:srgbClr val="2E2E2E"/>
                </a:solidFill>
                <a:latin typeface="Calibri"/>
              </a:rPr>
              <a:t>share by form, the liquid segment is expected to dominate the</a:t>
            </a:r>
          </a:p>
        </p:txBody>
      </p:sp>
      <p:sp>
        <p:nvSpPr>
          <p:cNvPr id="50" name="TextBox 49"/>
          <p:cNvSpPr txBox="1"/>
          <p:nvPr/>
        </p:nvSpPr>
        <p:spPr>
          <a:xfrm>
            <a:off x="7829550" y="1925955"/>
            <a:ext cx="999852" cy="194310"/>
          </a:xfrm>
          <a:prstGeom prst="rect">
            <a:avLst/>
          </a:prstGeom>
          <a:noFill/>
        </p:spPr>
        <p:txBody>
          <a:bodyPr wrap="none" lIns="0" rIns="0" tIns="0" bIns="0">
            <a:spAutoFit/>
          </a:bodyPr>
          <a:lstStyle/>
          <a:p>
            <a:r>
              <a:rPr sz="1150" b="0">
                <a:solidFill>
                  <a:srgbClr val="2E2E2E"/>
                </a:solidFill>
                <a:latin typeface="Calibri"/>
              </a:rPr>
              <a:t>market, gaining</a:t>
            </a:r>
          </a:p>
        </p:txBody>
      </p:sp>
      <p:pic>
        <p:nvPicPr>
          <p:cNvPr id="51" name="Picture 50" descr="lock.png"/>
          <p:cNvPicPr>
            <a:picLocks noChangeAspect="1"/>
          </p:cNvPicPr>
          <p:nvPr/>
        </p:nvPicPr>
        <p:blipFill>
          <a:blip r:embed="rId5"/>
          <a:stretch>
            <a:fillRect/>
          </a:stretch>
        </p:blipFill>
        <p:spPr>
          <a:xfrm>
            <a:off x="8778556" y="1915731"/>
            <a:ext cx="134549" cy="195707"/>
          </a:xfrm>
          <a:prstGeom prst="rect">
            <a:avLst/>
          </a:prstGeom>
        </p:spPr>
      </p:pic>
      <p:sp>
        <p:nvSpPr>
          <p:cNvPr id="52" name="TextBox 51"/>
          <p:cNvSpPr txBox="1"/>
          <p:nvPr/>
        </p:nvSpPr>
        <p:spPr>
          <a:xfrm>
            <a:off x="8953665" y="192595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3" name="Picture 52" descr="lock.png"/>
          <p:cNvPicPr>
            <a:picLocks noChangeAspect="1"/>
          </p:cNvPicPr>
          <p:nvPr/>
        </p:nvPicPr>
        <p:blipFill>
          <a:blip r:embed="rId5"/>
          <a:stretch>
            <a:fillRect/>
          </a:stretch>
        </p:blipFill>
        <p:spPr>
          <a:xfrm>
            <a:off x="10348808" y="1915731"/>
            <a:ext cx="134549" cy="195707"/>
          </a:xfrm>
          <a:prstGeom prst="rect">
            <a:avLst/>
          </a:prstGeom>
        </p:spPr>
      </p:pic>
      <p:sp>
        <p:nvSpPr>
          <p:cNvPr id="54" name="TextBox 53"/>
          <p:cNvSpPr txBox="1"/>
          <p:nvPr/>
        </p:nvSpPr>
        <p:spPr>
          <a:xfrm>
            <a:off x="10523917" y="192595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5" name="TextBox 54"/>
          <p:cNvSpPr txBox="1"/>
          <p:nvPr/>
        </p:nvSpPr>
        <p:spPr>
          <a:xfrm>
            <a:off x="7829550" y="2153793"/>
            <a:ext cx="2498576" cy="194310"/>
          </a:xfrm>
          <a:prstGeom prst="rect">
            <a:avLst/>
          </a:prstGeom>
          <a:noFill/>
        </p:spPr>
        <p:txBody>
          <a:bodyPr wrap="none" lIns="0" rIns="0" tIns="0" bIns="0">
            <a:spAutoFit/>
          </a:bodyPr>
          <a:lstStyle/>
          <a:p>
            <a:r>
              <a:rPr sz="1150" b="0">
                <a:solidFill>
                  <a:srgbClr val="2E2E2E"/>
                </a:solidFill>
                <a:latin typeface="Calibri"/>
              </a:rPr>
              <a:t>The blended segment is expected to lose</a:t>
            </a:r>
          </a:p>
        </p:txBody>
      </p:sp>
      <p:pic>
        <p:nvPicPr>
          <p:cNvPr id="56" name="Picture 55" descr="lock.png"/>
          <p:cNvPicPr>
            <a:picLocks noChangeAspect="1"/>
          </p:cNvPicPr>
          <p:nvPr/>
        </p:nvPicPr>
        <p:blipFill>
          <a:blip r:embed="rId5"/>
          <a:stretch>
            <a:fillRect/>
          </a:stretch>
        </p:blipFill>
        <p:spPr>
          <a:xfrm>
            <a:off x="10277280" y="2143569"/>
            <a:ext cx="134549" cy="195707"/>
          </a:xfrm>
          <a:prstGeom prst="rect">
            <a:avLst/>
          </a:prstGeom>
        </p:spPr>
      </p:pic>
      <p:sp>
        <p:nvSpPr>
          <p:cNvPr id="57" name="TextBox 56"/>
          <p:cNvSpPr txBox="1"/>
          <p:nvPr/>
        </p:nvSpPr>
        <p:spPr>
          <a:xfrm>
            <a:off x="10452389" y="215379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58" name="TextBox 57"/>
          <p:cNvSpPr txBox="1"/>
          <p:nvPr/>
        </p:nvSpPr>
        <p:spPr>
          <a:xfrm>
            <a:off x="7829550" y="232905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59" name="Picture 58" descr="lock.png"/>
          <p:cNvPicPr>
            <a:picLocks noChangeAspect="1"/>
          </p:cNvPicPr>
          <p:nvPr/>
        </p:nvPicPr>
        <p:blipFill>
          <a:blip r:embed="rId5"/>
          <a:stretch>
            <a:fillRect/>
          </a:stretch>
        </p:blipFill>
        <p:spPr>
          <a:xfrm>
            <a:off x="9114014" y="2318829"/>
            <a:ext cx="134549" cy="195707"/>
          </a:xfrm>
          <a:prstGeom prst="rect">
            <a:avLst/>
          </a:prstGeom>
        </p:spPr>
      </p:pic>
      <p:sp>
        <p:nvSpPr>
          <p:cNvPr id="60" name="TextBox 59"/>
          <p:cNvSpPr txBox="1"/>
          <p:nvPr/>
        </p:nvSpPr>
        <p:spPr>
          <a:xfrm>
            <a:off x="9289123" y="232905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1"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Flavour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Flavour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8 sub-segments of Flavour,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Flavour segment categorizes the market by flavour.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150144"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150144"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Vanilla</a:t>
            </a:r>
          </a:p>
        </p:txBody>
      </p:sp>
      <p:sp>
        <p:nvSpPr>
          <p:cNvPr id="22" name="Rectangle 21"/>
          <p:cNvSpPr/>
          <p:nvPr/>
        </p:nvSpPr>
        <p:spPr>
          <a:xfrm>
            <a:off x="1866900"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280047"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131344" y="1773916"/>
            <a:ext cx="1150144"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131344" y="1992961"/>
            <a:ext cx="1150144"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169444"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Lemon</a:t>
            </a:r>
          </a:p>
        </p:txBody>
      </p:sp>
      <p:sp>
        <p:nvSpPr>
          <p:cNvPr id="29" name="Rectangle 28"/>
          <p:cNvSpPr/>
          <p:nvPr/>
        </p:nvSpPr>
        <p:spPr>
          <a:xfrm>
            <a:off x="3131344"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131344"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131344"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3544491"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4395788" y="1773916"/>
            <a:ext cx="1150144"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4395788" y="1992961"/>
            <a:ext cx="1150144"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433888"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Orange</a:t>
            </a:r>
          </a:p>
        </p:txBody>
      </p:sp>
      <p:sp>
        <p:nvSpPr>
          <p:cNvPr id="36" name="Rectangle 35"/>
          <p:cNvSpPr/>
          <p:nvPr/>
        </p:nvSpPr>
        <p:spPr>
          <a:xfrm>
            <a:off x="4395788"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4395788"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4395788"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4808934"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5660231" y="1773916"/>
            <a:ext cx="1150144"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5660231" y="1992961"/>
            <a:ext cx="1150144"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698331"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Unflavoured</a:t>
            </a:r>
          </a:p>
        </p:txBody>
      </p:sp>
      <p:sp>
        <p:nvSpPr>
          <p:cNvPr id="43" name="Rectangle 42"/>
          <p:cNvSpPr/>
          <p:nvPr/>
        </p:nvSpPr>
        <p:spPr>
          <a:xfrm>
            <a:off x="5660231"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5660231"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5660231"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6073378"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6924675" y="1773916"/>
            <a:ext cx="1150144"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6924675" y="1992961"/>
            <a:ext cx="1150144"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6962775"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Pumpkin Spice</a:t>
            </a:r>
          </a:p>
        </p:txBody>
      </p:sp>
      <p:sp>
        <p:nvSpPr>
          <p:cNvPr id="50" name="Rectangle 49"/>
          <p:cNvSpPr/>
          <p:nvPr/>
        </p:nvSpPr>
        <p:spPr>
          <a:xfrm>
            <a:off x="6924675"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6924675"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6924675"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7337822"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8189119" y="1773916"/>
            <a:ext cx="1150144"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8189119" y="1992961"/>
            <a:ext cx="1150144"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227219"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Mocha</a:t>
            </a:r>
          </a:p>
        </p:txBody>
      </p:sp>
      <p:sp>
        <p:nvSpPr>
          <p:cNvPr id="57" name="Rectangle 56"/>
          <p:cNvSpPr/>
          <p:nvPr/>
        </p:nvSpPr>
        <p:spPr>
          <a:xfrm>
            <a:off x="8189119"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8189119"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8189119"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8602266"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9453562" y="1773916"/>
            <a:ext cx="1150144"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9453562" y="1992961"/>
            <a:ext cx="1150144"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9491662"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Cinnamon</a:t>
            </a:r>
          </a:p>
        </p:txBody>
      </p:sp>
      <p:sp>
        <p:nvSpPr>
          <p:cNvPr id="64" name="Rectangle 63"/>
          <p:cNvSpPr/>
          <p:nvPr/>
        </p:nvSpPr>
        <p:spPr>
          <a:xfrm>
            <a:off x="9453562"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5" name="Rectangle 64"/>
          <p:cNvSpPr/>
          <p:nvPr/>
        </p:nvSpPr>
        <p:spPr>
          <a:xfrm>
            <a:off x="9453562"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6" name="Rectangle 65"/>
          <p:cNvSpPr/>
          <p:nvPr/>
        </p:nvSpPr>
        <p:spPr>
          <a:xfrm>
            <a:off x="9453562"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7" name="Oval 66"/>
          <p:cNvSpPr/>
          <p:nvPr/>
        </p:nvSpPr>
        <p:spPr>
          <a:xfrm>
            <a:off x="9866709"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8" name="Rounded Rectangle 67"/>
          <p:cNvSpPr/>
          <p:nvPr/>
        </p:nvSpPr>
        <p:spPr>
          <a:xfrm>
            <a:off x="10718006" y="1773916"/>
            <a:ext cx="1150144"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0718006" y="1992961"/>
            <a:ext cx="1150144"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0756106" y="1773916"/>
            <a:ext cx="1073944"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Flavours</a:t>
            </a:r>
          </a:p>
        </p:txBody>
      </p:sp>
      <p:sp>
        <p:nvSpPr>
          <p:cNvPr id="71" name="Rectangle 70"/>
          <p:cNvSpPr/>
          <p:nvPr/>
        </p:nvSpPr>
        <p:spPr>
          <a:xfrm>
            <a:off x="10718006" y="22302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72" name="Rectangle 71"/>
          <p:cNvSpPr/>
          <p:nvPr/>
        </p:nvSpPr>
        <p:spPr>
          <a:xfrm>
            <a:off x="10718006" y="2723109"/>
            <a:ext cx="1150144"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73" name="Rectangle 72"/>
          <p:cNvSpPr/>
          <p:nvPr/>
        </p:nvSpPr>
        <p:spPr>
          <a:xfrm>
            <a:off x="10718006" y="3215959"/>
            <a:ext cx="1150144"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74" name="Oval 73"/>
          <p:cNvSpPr/>
          <p:nvPr/>
        </p:nvSpPr>
        <p:spPr>
          <a:xfrm>
            <a:off x="11131153"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75" name="Rounded Rectangle 74"/>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7" name="Rectangle 76"/>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79" name="Rounded Rectangle 78"/>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81" name="Rectangle 80"/>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p:txBody>
      </p:sp>
      <p:sp>
        <p:nvSpPr>
          <p:cNvPr id="83" name="Rounded Rectangle 82"/>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85" name="Rectangle 84"/>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Flavour split shows how demand is distributed across flavour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7" name="Rectangle 86"/>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89" name="TextBox 88"/>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90" name="TextBox 8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1" name="Picture 90" descr="242_1_605E5C.png"/>
          <p:cNvPicPr>
            <a:picLocks noChangeAspect="1"/>
          </p:cNvPicPr>
          <p:nvPr/>
        </p:nvPicPr>
        <p:blipFill>
          <a:blip r:embed="rId4"/>
          <a:stretch>
            <a:fillRect/>
          </a:stretch>
        </p:blipFill>
        <p:spPr>
          <a:xfrm>
            <a:off x="1844108" y="2286582"/>
            <a:ext cx="1195728" cy="361950"/>
          </a:xfrm>
          <a:prstGeom prst="rect">
            <a:avLst/>
          </a:prstGeom>
        </p:spPr>
      </p:pic>
      <p:pic>
        <p:nvPicPr>
          <p:cNvPr id="92" name="Picture 91" descr="393_9_605E5C.png"/>
          <p:cNvPicPr>
            <a:picLocks noChangeAspect="1"/>
          </p:cNvPicPr>
          <p:nvPr/>
        </p:nvPicPr>
        <p:blipFill>
          <a:blip r:embed="rId5"/>
          <a:stretch>
            <a:fillRect/>
          </a:stretch>
        </p:blipFill>
        <p:spPr>
          <a:xfrm>
            <a:off x="1844108" y="2779432"/>
            <a:ext cx="1195728" cy="361950"/>
          </a:xfrm>
          <a:prstGeom prst="rect">
            <a:avLst/>
          </a:prstGeom>
        </p:spPr>
      </p:pic>
      <p:pic>
        <p:nvPicPr>
          <p:cNvPr id="93" name="Picture 92" descr="5_0__605E5C.png"/>
          <p:cNvPicPr>
            <a:picLocks noChangeAspect="1"/>
          </p:cNvPicPr>
          <p:nvPr/>
        </p:nvPicPr>
        <p:blipFill>
          <a:blip r:embed="rId6"/>
          <a:stretch>
            <a:fillRect/>
          </a:stretch>
        </p:blipFill>
        <p:spPr>
          <a:xfrm>
            <a:off x="1950754" y="3272281"/>
            <a:ext cx="982436" cy="361950"/>
          </a:xfrm>
          <a:prstGeom prst="rect">
            <a:avLst/>
          </a:prstGeom>
        </p:spPr>
      </p:pic>
      <p:pic>
        <p:nvPicPr>
          <p:cNvPr id="94" name="Picture 93" descr="187_9_605E5C.png"/>
          <p:cNvPicPr>
            <a:picLocks noChangeAspect="1"/>
          </p:cNvPicPr>
          <p:nvPr/>
        </p:nvPicPr>
        <p:blipFill>
          <a:blip r:embed="rId7"/>
          <a:stretch>
            <a:fillRect/>
          </a:stretch>
        </p:blipFill>
        <p:spPr>
          <a:xfrm>
            <a:off x="3108552" y="2286582"/>
            <a:ext cx="1195728" cy="361950"/>
          </a:xfrm>
          <a:prstGeom prst="rect">
            <a:avLst/>
          </a:prstGeom>
        </p:spPr>
      </p:pic>
      <p:pic>
        <p:nvPicPr>
          <p:cNvPr id="95" name="Picture 94" descr="281_1_605E5C.png"/>
          <p:cNvPicPr>
            <a:picLocks noChangeAspect="1"/>
          </p:cNvPicPr>
          <p:nvPr/>
        </p:nvPicPr>
        <p:blipFill>
          <a:blip r:embed="rId8"/>
          <a:stretch>
            <a:fillRect/>
          </a:stretch>
        </p:blipFill>
        <p:spPr>
          <a:xfrm>
            <a:off x="3108552" y="2779432"/>
            <a:ext cx="1195728" cy="361950"/>
          </a:xfrm>
          <a:prstGeom prst="rect">
            <a:avLst/>
          </a:prstGeom>
        </p:spPr>
      </p:pic>
      <p:pic>
        <p:nvPicPr>
          <p:cNvPr id="96" name="Picture 95" descr="4_1__605E5C.png"/>
          <p:cNvPicPr>
            <a:picLocks noChangeAspect="1"/>
          </p:cNvPicPr>
          <p:nvPr/>
        </p:nvPicPr>
        <p:blipFill>
          <a:blip r:embed="rId9"/>
          <a:stretch>
            <a:fillRect/>
          </a:stretch>
        </p:blipFill>
        <p:spPr>
          <a:xfrm>
            <a:off x="3215198" y="3272281"/>
            <a:ext cx="982436" cy="361950"/>
          </a:xfrm>
          <a:prstGeom prst="rect">
            <a:avLst/>
          </a:prstGeom>
        </p:spPr>
      </p:pic>
      <p:pic>
        <p:nvPicPr>
          <p:cNvPr id="97" name="Picture 96" descr="157_0_605E5C.png"/>
          <p:cNvPicPr>
            <a:picLocks noChangeAspect="1"/>
          </p:cNvPicPr>
          <p:nvPr/>
        </p:nvPicPr>
        <p:blipFill>
          <a:blip r:embed="rId10"/>
          <a:stretch>
            <a:fillRect/>
          </a:stretch>
        </p:blipFill>
        <p:spPr>
          <a:xfrm>
            <a:off x="4372996" y="2286582"/>
            <a:ext cx="1195728" cy="361950"/>
          </a:xfrm>
          <a:prstGeom prst="rect">
            <a:avLst/>
          </a:prstGeom>
        </p:spPr>
      </p:pic>
      <p:pic>
        <p:nvPicPr>
          <p:cNvPr id="98" name="Picture 97" descr="303_7_605E5C.png"/>
          <p:cNvPicPr>
            <a:picLocks noChangeAspect="1"/>
          </p:cNvPicPr>
          <p:nvPr/>
        </p:nvPicPr>
        <p:blipFill>
          <a:blip r:embed="rId11"/>
          <a:stretch>
            <a:fillRect/>
          </a:stretch>
        </p:blipFill>
        <p:spPr>
          <a:xfrm>
            <a:off x="4372996" y="2779432"/>
            <a:ext cx="1195728" cy="361950"/>
          </a:xfrm>
          <a:prstGeom prst="rect">
            <a:avLst/>
          </a:prstGeom>
        </p:spPr>
      </p:pic>
      <p:pic>
        <p:nvPicPr>
          <p:cNvPr id="99" name="Picture 98" descr="6_8__605E5C.png"/>
          <p:cNvPicPr>
            <a:picLocks noChangeAspect="1"/>
          </p:cNvPicPr>
          <p:nvPr/>
        </p:nvPicPr>
        <p:blipFill>
          <a:blip r:embed="rId12"/>
          <a:stretch>
            <a:fillRect/>
          </a:stretch>
        </p:blipFill>
        <p:spPr>
          <a:xfrm>
            <a:off x="4479642" y="3272281"/>
            <a:ext cx="982436" cy="361950"/>
          </a:xfrm>
          <a:prstGeom prst="rect">
            <a:avLst/>
          </a:prstGeom>
        </p:spPr>
      </p:pic>
      <p:pic>
        <p:nvPicPr>
          <p:cNvPr id="100" name="Picture 99" descr="150_9_605E5C.png"/>
          <p:cNvPicPr>
            <a:picLocks noChangeAspect="1"/>
          </p:cNvPicPr>
          <p:nvPr/>
        </p:nvPicPr>
        <p:blipFill>
          <a:blip r:embed="rId13"/>
          <a:stretch>
            <a:fillRect/>
          </a:stretch>
        </p:blipFill>
        <p:spPr>
          <a:xfrm>
            <a:off x="5637439" y="2286582"/>
            <a:ext cx="1195728" cy="361950"/>
          </a:xfrm>
          <a:prstGeom prst="rect">
            <a:avLst/>
          </a:prstGeom>
        </p:spPr>
      </p:pic>
      <p:pic>
        <p:nvPicPr>
          <p:cNvPr id="101" name="Picture 100" descr="286_3_605E5C.png"/>
          <p:cNvPicPr>
            <a:picLocks noChangeAspect="1"/>
          </p:cNvPicPr>
          <p:nvPr/>
        </p:nvPicPr>
        <p:blipFill>
          <a:blip r:embed="rId14"/>
          <a:stretch>
            <a:fillRect/>
          </a:stretch>
        </p:blipFill>
        <p:spPr>
          <a:xfrm>
            <a:off x="5637439" y="2779432"/>
            <a:ext cx="1195728" cy="361950"/>
          </a:xfrm>
          <a:prstGeom prst="rect">
            <a:avLst/>
          </a:prstGeom>
        </p:spPr>
      </p:pic>
      <p:pic>
        <p:nvPicPr>
          <p:cNvPr id="102" name="Picture 101" descr="6_6__605E5C.png"/>
          <p:cNvPicPr>
            <a:picLocks noChangeAspect="1"/>
          </p:cNvPicPr>
          <p:nvPr/>
        </p:nvPicPr>
        <p:blipFill>
          <a:blip r:embed="rId15"/>
          <a:stretch>
            <a:fillRect/>
          </a:stretch>
        </p:blipFill>
        <p:spPr>
          <a:xfrm>
            <a:off x="5744085" y="3272281"/>
            <a:ext cx="982436" cy="361950"/>
          </a:xfrm>
          <a:prstGeom prst="rect">
            <a:avLst/>
          </a:prstGeom>
        </p:spPr>
      </p:pic>
      <p:pic>
        <p:nvPicPr>
          <p:cNvPr id="103" name="Picture 102" descr="126_8_605E5C.png"/>
          <p:cNvPicPr>
            <a:picLocks noChangeAspect="1"/>
          </p:cNvPicPr>
          <p:nvPr/>
        </p:nvPicPr>
        <p:blipFill>
          <a:blip r:embed="rId16"/>
          <a:stretch>
            <a:fillRect/>
          </a:stretch>
        </p:blipFill>
        <p:spPr>
          <a:xfrm>
            <a:off x="6901883" y="2286582"/>
            <a:ext cx="1195728" cy="361950"/>
          </a:xfrm>
          <a:prstGeom prst="rect">
            <a:avLst/>
          </a:prstGeom>
        </p:spPr>
      </p:pic>
      <p:pic>
        <p:nvPicPr>
          <p:cNvPr id="104" name="Picture 103" descr="272_7_605E5C.png"/>
          <p:cNvPicPr>
            <a:picLocks noChangeAspect="1"/>
          </p:cNvPicPr>
          <p:nvPr/>
        </p:nvPicPr>
        <p:blipFill>
          <a:blip r:embed="rId17"/>
          <a:stretch>
            <a:fillRect/>
          </a:stretch>
        </p:blipFill>
        <p:spPr>
          <a:xfrm>
            <a:off x="6901883" y="2779432"/>
            <a:ext cx="1195728" cy="361950"/>
          </a:xfrm>
          <a:prstGeom prst="rect">
            <a:avLst/>
          </a:prstGeom>
        </p:spPr>
      </p:pic>
      <p:pic>
        <p:nvPicPr>
          <p:cNvPr id="105" name="Picture 104" descr="8_0__605E5C.png"/>
          <p:cNvPicPr>
            <a:picLocks noChangeAspect="1"/>
          </p:cNvPicPr>
          <p:nvPr/>
        </p:nvPicPr>
        <p:blipFill>
          <a:blip r:embed="rId18"/>
          <a:stretch>
            <a:fillRect/>
          </a:stretch>
        </p:blipFill>
        <p:spPr>
          <a:xfrm>
            <a:off x="7008529" y="3272281"/>
            <a:ext cx="982436" cy="361950"/>
          </a:xfrm>
          <a:prstGeom prst="rect">
            <a:avLst/>
          </a:prstGeom>
        </p:spPr>
      </p:pic>
      <p:pic>
        <p:nvPicPr>
          <p:cNvPr id="106" name="Picture 105" descr="126_7_605E5C.png"/>
          <p:cNvPicPr>
            <a:picLocks noChangeAspect="1"/>
          </p:cNvPicPr>
          <p:nvPr/>
        </p:nvPicPr>
        <p:blipFill>
          <a:blip r:embed="rId19"/>
          <a:stretch>
            <a:fillRect/>
          </a:stretch>
        </p:blipFill>
        <p:spPr>
          <a:xfrm>
            <a:off x="8166327" y="2286582"/>
            <a:ext cx="1195728" cy="361950"/>
          </a:xfrm>
          <a:prstGeom prst="rect">
            <a:avLst/>
          </a:prstGeom>
        </p:spPr>
      </p:pic>
      <p:pic>
        <p:nvPicPr>
          <p:cNvPr id="107" name="Picture 106" descr="264_4_605E5C.png"/>
          <p:cNvPicPr>
            <a:picLocks noChangeAspect="1"/>
          </p:cNvPicPr>
          <p:nvPr/>
        </p:nvPicPr>
        <p:blipFill>
          <a:blip r:embed="rId20"/>
          <a:stretch>
            <a:fillRect/>
          </a:stretch>
        </p:blipFill>
        <p:spPr>
          <a:xfrm>
            <a:off x="8166327" y="2779432"/>
            <a:ext cx="1195728" cy="361950"/>
          </a:xfrm>
          <a:prstGeom prst="rect">
            <a:avLst/>
          </a:prstGeom>
        </p:spPr>
      </p:pic>
      <p:pic>
        <p:nvPicPr>
          <p:cNvPr id="108" name="Picture 107" descr="7_6__605E5C.png"/>
          <p:cNvPicPr>
            <a:picLocks noChangeAspect="1"/>
          </p:cNvPicPr>
          <p:nvPr/>
        </p:nvPicPr>
        <p:blipFill>
          <a:blip r:embed="rId21"/>
          <a:stretch>
            <a:fillRect/>
          </a:stretch>
        </p:blipFill>
        <p:spPr>
          <a:xfrm>
            <a:off x="8272973" y="3272281"/>
            <a:ext cx="982436" cy="361950"/>
          </a:xfrm>
          <a:prstGeom prst="rect">
            <a:avLst/>
          </a:prstGeom>
        </p:spPr>
      </p:pic>
      <p:pic>
        <p:nvPicPr>
          <p:cNvPr id="109" name="Picture 108" descr="62_0_605E5C.png"/>
          <p:cNvPicPr>
            <a:picLocks noChangeAspect="1"/>
          </p:cNvPicPr>
          <p:nvPr/>
        </p:nvPicPr>
        <p:blipFill>
          <a:blip r:embed="rId22"/>
          <a:stretch>
            <a:fillRect/>
          </a:stretch>
        </p:blipFill>
        <p:spPr>
          <a:xfrm>
            <a:off x="9537416" y="2286582"/>
            <a:ext cx="982436" cy="361950"/>
          </a:xfrm>
          <a:prstGeom prst="rect">
            <a:avLst/>
          </a:prstGeom>
        </p:spPr>
      </p:pic>
      <p:pic>
        <p:nvPicPr>
          <p:cNvPr id="110" name="Picture 109" descr="132_4_605E5C.png"/>
          <p:cNvPicPr>
            <a:picLocks noChangeAspect="1"/>
          </p:cNvPicPr>
          <p:nvPr/>
        </p:nvPicPr>
        <p:blipFill>
          <a:blip r:embed="rId23"/>
          <a:stretch>
            <a:fillRect/>
          </a:stretch>
        </p:blipFill>
        <p:spPr>
          <a:xfrm>
            <a:off x="9430770" y="2779432"/>
            <a:ext cx="1195728" cy="361950"/>
          </a:xfrm>
          <a:prstGeom prst="rect">
            <a:avLst/>
          </a:prstGeom>
        </p:spPr>
      </p:pic>
      <p:pic>
        <p:nvPicPr>
          <p:cNvPr id="111" name="Picture 110" descr="7_9__605E5C.png"/>
          <p:cNvPicPr>
            <a:picLocks noChangeAspect="1"/>
          </p:cNvPicPr>
          <p:nvPr/>
        </p:nvPicPr>
        <p:blipFill>
          <a:blip r:embed="rId24"/>
          <a:stretch>
            <a:fillRect/>
          </a:stretch>
        </p:blipFill>
        <p:spPr>
          <a:xfrm>
            <a:off x="9537416" y="3272281"/>
            <a:ext cx="982436" cy="361950"/>
          </a:xfrm>
          <a:prstGeom prst="rect">
            <a:avLst/>
          </a:prstGeom>
        </p:spPr>
      </p:pic>
      <p:pic>
        <p:nvPicPr>
          <p:cNvPr id="112" name="Picture 111" descr="59_9_605E5C.png"/>
          <p:cNvPicPr>
            <a:picLocks noChangeAspect="1"/>
          </p:cNvPicPr>
          <p:nvPr/>
        </p:nvPicPr>
        <p:blipFill>
          <a:blip r:embed="rId25"/>
          <a:stretch>
            <a:fillRect/>
          </a:stretch>
        </p:blipFill>
        <p:spPr>
          <a:xfrm>
            <a:off x="10801860" y="2286582"/>
            <a:ext cx="982436" cy="361950"/>
          </a:xfrm>
          <a:prstGeom prst="rect">
            <a:avLst/>
          </a:prstGeom>
        </p:spPr>
      </p:pic>
      <p:pic>
        <p:nvPicPr>
          <p:cNvPr id="113" name="Picture 112" descr="92_0_605E5C.png"/>
          <p:cNvPicPr>
            <a:picLocks noChangeAspect="1"/>
          </p:cNvPicPr>
          <p:nvPr/>
        </p:nvPicPr>
        <p:blipFill>
          <a:blip r:embed="rId26"/>
          <a:stretch>
            <a:fillRect/>
          </a:stretch>
        </p:blipFill>
        <p:spPr>
          <a:xfrm>
            <a:off x="10801860" y="2779432"/>
            <a:ext cx="982436" cy="361950"/>
          </a:xfrm>
          <a:prstGeom prst="rect">
            <a:avLst/>
          </a:prstGeom>
        </p:spPr>
      </p:pic>
      <p:pic>
        <p:nvPicPr>
          <p:cNvPr id="114" name="Picture 113" descr="4_4__605E5C.png"/>
          <p:cNvPicPr>
            <a:picLocks noChangeAspect="1"/>
          </p:cNvPicPr>
          <p:nvPr/>
        </p:nvPicPr>
        <p:blipFill>
          <a:blip r:embed="rId27"/>
          <a:stretch>
            <a:fillRect/>
          </a:stretch>
        </p:blipFill>
        <p:spPr>
          <a:xfrm>
            <a:off x="10801860" y="3272281"/>
            <a:ext cx="982436" cy="361950"/>
          </a:xfrm>
          <a:prstGeom prst="rect">
            <a:avLst/>
          </a:prstGeom>
        </p:spPr>
      </p:pic>
      <p:pic>
        <p:nvPicPr>
          <p:cNvPr id="115" name="Picture 114" descr="lock.png"/>
          <p:cNvPicPr>
            <a:picLocks noChangeAspect="1"/>
          </p:cNvPicPr>
          <p:nvPr/>
        </p:nvPicPr>
        <p:blipFill>
          <a:blip r:embed="rId28"/>
          <a:stretch>
            <a:fillRect/>
          </a:stretch>
        </p:blipFill>
        <p:spPr>
          <a:xfrm>
            <a:off x="2348626" y="2827057"/>
            <a:ext cx="183356" cy="266700"/>
          </a:xfrm>
          <a:prstGeom prst="rect">
            <a:avLst/>
          </a:prstGeom>
        </p:spPr>
      </p:pic>
      <p:pic>
        <p:nvPicPr>
          <p:cNvPr id="116" name="Picture 115" descr="lock.png"/>
          <p:cNvPicPr>
            <a:picLocks noChangeAspect="1"/>
          </p:cNvPicPr>
          <p:nvPr/>
        </p:nvPicPr>
        <p:blipFill>
          <a:blip r:embed="rId28"/>
          <a:stretch>
            <a:fillRect/>
          </a:stretch>
        </p:blipFill>
        <p:spPr>
          <a:xfrm>
            <a:off x="3613071" y="2827057"/>
            <a:ext cx="183356" cy="266700"/>
          </a:xfrm>
          <a:prstGeom prst="rect">
            <a:avLst/>
          </a:prstGeom>
        </p:spPr>
      </p:pic>
      <p:pic>
        <p:nvPicPr>
          <p:cNvPr id="117" name="Picture 116" descr="lock.png"/>
          <p:cNvPicPr>
            <a:picLocks noChangeAspect="1"/>
          </p:cNvPicPr>
          <p:nvPr/>
        </p:nvPicPr>
        <p:blipFill>
          <a:blip r:embed="rId28"/>
          <a:stretch>
            <a:fillRect/>
          </a:stretch>
        </p:blipFill>
        <p:spPr>
          <a:xfrm>
            <a:off x="4877515" y="2827057"/>
            <a:ext cx="183356" cy="266700"/>
          </a:xfrm>
          <a:prstGeom prst="rect">
            <a:avLst/>
          </a:prstGeom>
        </p:spPr>
      </p:pic>
      <p:pic>
        <p:nvPicPr>
          <p:cNvPr id="118" name="Picture 117" descr="lock.png"/>
          <p:cNvPicPr>
            <a:picLocks noChangeAspect="1"/>
          </p:cNvPicPr>
          <p:nvPr/>
        </p:nvPicPr>
        <p:blipFill>
          <a:blip r:embed="rId28"/>
          <a:stretch>
            <a:fillRect/>
          </a:stretch>
        </p:blipFill>
        <p:spPr>
          <a:xfrm>
            <a:off x="6141958" y="2827057"/>
            <a:ext cx="183356" cy="266700"/>
          </a:xfrm>
          <a:prstGeom prst="rect">
            <a:avLst/>
          </a:prstGeom>
        </p:spPr>
      </p:pic>
      <p:pic>
        <p:nvPicPr>
          <p:cNvPr id="119" name="Picture 118" descr="lock.png"/>
          <p:cNvPicPr>
            <a:picLocks noChangeAspect="1"/>
          </p:cNvPicPr>
          <p:nvPr/>
        </p:nvPicPr>
        <p:blipFill>
          <a:blip r:embed="rId28"/>
          <a:stretch>
            <a:fillRect/>
          </a:stretch>
        </p:blipFill>
        <p:spPr>
          <a:xfrm>
            <a:off x="7406402" y="2827057"/>
            <a:ext cx="183356" cy="266700"/>
          </a:xfrm>
          <a:prstGeom prst="rect">
            <a:avLst/>
          </a:prstGeom>
        </p:spPr>
      </p:pic>
      <p:pic>
        <p:nvPicPr>
          <p:cNvPr id="120" name="Picture 119" descr="lock.png"/>
          <p:cNvPicPr>
            <a:picLocks noChangeAspect="1"/>
          </p:cNvPicPr>
          <p:nvPr/>
        </p:nvPicPr>
        <p:blipFill>
          <a:blip r:embed="rId28"/>
          <a:stretch>
            <a:fillRect/>
          </a:stretch>
        </p:blipFill>
        <p:spPr>
          <a:xfrm>
            <a:off x="8670846" y="2827057"/>
            <a:ext cx="183356" cy="266700"/>
          </a:xfrm>
          <a:prstGeom prst="rect">
            <a:avLst/>
          </a:prstGeom>
        </p:spPr>
      </p:pic>
      <p:pic>
        <p:nvPicPr>
          <p:cNvPr id="121" name="Picture 120" descr="lock.png"/>
          <p:cNvPicPr>
            <a:picLocks noChangeAspect="1"/>
          </p:cNvPicPr>
          <p:nvPr/>
        </p:nvPicPr>
        <p:blipFill>
          <a:blip r:embed="rId28"/>
          <a:stretch>
            <a:fillRect/>
          </a:stretch>
        </p:blipFill>
        <p:spPr>
          <a:xfrm>
            <a:off x="9935289" y="2827057"/>
            <a:ext cx="183356" cy="266700"/>
          </a:xfrm>
          <a:prstGeom prst="rect">
            <a:avLst/>
          </a:prstGeom>
        </p:spPr>
      </p:pic>
      <p:pic>
        <p:nvPicPr>
          <p:cNvPr id="122" name="Picture 121" descr="lock.png"/>
          <p:cNvPicPr>
            <a:picLocks noChangeAspect="1"/>
          </p:cNvPicPr>
          <p:nvPr/>
        </p:nvPicPr>
        <p:blipFill>
          <a:blip r:embed="rId28"/>
          <a:stretch>
            <a:fillRect/>
          </a:stretch>
        </p:blipFill>
        <p:spPr>
          <a:xfrm>
            <a:off x="11199733" y="2827057"/>
            <a:ext cx="183356" cy="266700"/>
          </a:xfrm>
          <a:prstGeom prst="rect">
            <a:avLst/>
          </a:prstGeom>
        </p:spPr>
      </p:pic>
      <p:sp>
        <p:nvSpPr>
          <p:cNvPr id="123" name="TextBox 122"/>
          <p:cNvSpPr txBox="1"/>
          <p:nvPr/>
        </p:nvSpPr>
        <p:spPr>
          <a:xfrm>
            <a:off x="485775" y="4229437"/>
            <a:ext cx="2914650" cy="186689"/>
          </a:xfrm>
          <a:prstGeom prst="rect">
            <a:avLst/>
          </a:prstGeom>
          <a:noFill/>
        </p:spPr>
        <p:txBody>
          <a:bodyPr wrap="none" lIns="0" rIns="0" tIns="0" bIns="0">
            <a:spAutoFit/>
          </a:bodyPr>
          <a:lstStyle/>
          <a:p>
            <a:r>
              <a:rPr sz="1100" b="0">
                <a:solidFill>
                  <a:srgbClr val="2E2E2E"/>
                </a:solidFill>
                <a:latin typeface="Calibri"/>
              </a:rPr>
              <a:t>Among matcha by flavour, pumpkin spice segment</a:t>
            </a:r>
          </a:p>
        </p:txBody>
      </p:sp>
      <p:sp>
        <p:nvSpPr>
          <p:cNvPr id="124" name="TextBox 123"/>
          <p:cNvSpPr txBox="1"/>
          <p:nvPr/>
        </p:nvSpPr>
        <p:spPr>
          <a:xfrm>
            <a:off x="485775" y="4397077"/>
            <a:ext cx="2499650" cy="186689"/>
          </a:xfrm>
          <a:prstGeom prst="rect">
            <a:avLst/>
          </a:prstGeom>
          <a:noFill/>
        </p:spPr>
        <p:txBody>
          <a:bodyPr wrap="none" lIns="0" rIns="0" tIns="0" bIns="0">
            <a:spAutoFit/>
          </a:bodyPr>
          <a:lstStyle/>
          <a:p>
            <a:r>
              <a:rPr sz="1100" b="0">
                <a:solidFill>
                  <a:srgbClr val="2E2E2E"/>
                </a:solidFill>
                <a:latin typeface="Calibri"/>
              </a:rPr>
              <a:t>is expected to witness the highest CAGR of</a:t>
            </a:r>
          </a:p>
        </p:txBody>
      </p:sp>
      <p:pic>
        <p:nvPicPr>
          <p:cNvPr id="125" name="Picture 124" descr="lock.png"/>
          <p:cNvPicPr>
            <a:picLocks noChangeAspect="1"/>
          </p:cNvPicPr>
          <p:nvPr/>
        </p:nvPicPr>
        <p:blipFill>
          <a:blip r:embed="rId28"/>
          <a:stretch>
            <a:fillRect/>
          </a:stretch>
        </p:blipFill>
        <p:spPr>
          <a:xfrm>
            <a:off x="2933477" y="4387298"/>
            <a:ext cx="128699" cy="187198"/>
          </a:xfrm>
          <a:prstGeom prst="rect">
            <a:avLst/>
          </a:prstGeom>
        </p:spPr>
      </p:pic>
      <p:sp>
        <p:nvSpPr>
          <p:cNvPr id="126" name="TextBox 125"/>
          <p:cNvSpPr txBox="1"/>
          <p:nvPr/>
        </p:nvSpPr>
        <p:spPr>
          <a:xfrm>
            <a:off x="485775" y="4564717"/>
            <a:ext cx="2914650" cy="186689"/>
          </a:xfrm>
          <a:prstGeom prst="rect">
            <a:avLst/>
          </a:prstGeom>
          <a:noFill/>
        </p:spPr>
        <p:txBody>
          <a:bodyPr wrap="none" lIns="0" rIns="0" tIns="0" bIns="0">
            <a:spAutoFit/>
          </a:bodyPr>
          <a:lstStyle/>
          <a:p>
            <a:r>
              <a:rPr sz="1100" b="0">
                <a:solidFill>
                  <a:srgbClr val="2E2E2E"/>
                </a:solidFill>
                <a:latin typeface="Calibri"/>
              </a:rPr>
              <a:t>over the forecast period. In terms of value share by</a:t>
            </a:r>
          </a:p>
        </p:txBody>
      </p:sp>
      <p:sp>
        <p:nvSpPr>
          <p:cNvPr id="127" name="TextBox 126"/>
          <p:cNvSpPr txBox="1"/>
          <p:nvPr/>
        </p:nvSpPr>
        <p:spPr>
          <a:xfrm>
            <a:off x="485775" y="4732357"/>
            <a:ext cx="2479203" cy="186689"/>
          </a:xfrm>
          <a:prstGeom prst="rect">
            <a:avLst/>
          </a:prstGeom>
          <a:noFill/>
        </p:spPr>
        <p:txBody>
          <a:bodyPr wrap="none" lIns="0" rIns="0" tIns="0" bIns="0">
            <a:spAutoFit/>
          </a:bodyPr>
          <a:lstStyle/>
          <a:p>
            <a:r>
              <a:rPr sz="1100" b="0">
                <a:solidFill>
                  <a:srgbClr val="2E2E2E"/>
                </a:solidFill>
                <a:latin typeface="Calibri"/>
              </a:rPr>
              <a:t>flavour, the vanilla segment is expected to</a:t>
            </a:r>
          </a:p>
        </p:txBody>
      </p:sp>
      <p:sp>
        <p:nvSpPr>
          <p:cNvPr id="128" name="TextBox 127"/>
          <p:cNvSpPr txBox="1"/>
          <p:nvPr/>
        </p:nvSpPr>
        <p:spPr>
          <a:xfrm>
            <a:off x="485775" y="4899997"/>
            <a:ext cx="1682750" cy="186689"/>
          </a:xfrm>
          <a:prstGeom prst="rect">
            <a:avLst/>
          </a:prstGeom>
          <a:noFill/>
        </p:spPr>
        <p:txBody>
          <a:bodyPr wrap="none" lIns="0" rIns="0" tIns="0" bIns="0">
            <a:spAutoFit/>
          </a:bodyPr>
          <a:lstStyle/>
          <a:p>
            <a:r>
              <a:rPr sz="1100" b="0">
                <a:solidFill>
                  <a:srgbClr val="2E2E2E"/>
                </a:solidFill>
                <a:latin typeface="Calibri"/>
              </a:rPr>
              <a:t>dominate the market, losing</a:t>
            </a:r>
          </a:p>
        </p:txBody>
      </p:sp>
      <p:pic>
        <p:nvPicPr>
          <p:cNvPr id="129" name="Picture 128" descr="lock.png"/>
          <p:cNvPicPr>
            <a:picLocks noChangeAspect="1"/>
          </p:cNvPicPr>
          <p:nvPr/>
        </p:nvPicPr>
        <p:blipFill>
          <a:blip r:embed="rId28"/>
          <a:stretch>
            <a:fillRect/>
          </a:stretch>
        </p:blipFill>
        <p:spPr>
          <a:xfrm>
            <a:off x="2116576" y="4890217"/>
            <a:ext cx="128699" cy="187198"/>
          </a:xfrm>
          <a:prstGeom prst="rect">
            <a:avLst/>
          </a:prstGeom>
        </p:spPr>
      </p:pic>
      <p:sp>
        <p:nvSpPr>
          <p:cNvPr id="130" name="TextBox 129"/>
          <p:cNvSpPr txBox="1"/>
          <p:nvPr/>
        </p:nvSpPr>
        <p:spPr>
          <a:xfrm>
            <a:off x="2284072" y="4899997"/>
            <a:ext cx="534044" cy="186689"/>
          </a:xfrm>
          <a:prstGeom prst="rect">
            <a:avLst/>
          </a:prstGeom>
          <a:noFill/>
        </p:spPr>
        <p:txBody>
          <a:bodyPr wrap="none" lIns="0" rIns="0" tIns="0" bIns="0">
            <a:spAutoFit/>
          </a:bodyPr>
          <a:lstStyle/>
          <a:p>
            <a:r>
              <a:rPr sz="1100" b="0">
                <a:solidFill>
                  <a:srgbClr val="2E2E2E"/>
                </a:solidFill>
                <a:latin typeface="Calibri"/>
              </a:rPr>
              <a:t>BPS and</a:t>
            </a:r>
          </a:p>
        </p:txBody>
      </p:sp>
      <p:sp>
        <p:nvSpPr>
          <p:cNvPr id="131" name="TextBox 130"/>
          <p:cNvSpPr txBox="1"/>
          <p:nvPr/>
        </p:nvSpPr>
        <p:spPr>
          <a:xfrm>
            <a:off x="485775" y="5067637"/>
            <a:ext cx="896937" cy="186689"/>
          </a:xfrm>
          <a:prstGeom prst="rect">
            <a:avLst/>
          </a:prstGeom>
          <a:noFill/>
        </p:spPr>
        <p:txBody>
          <a:bodyPr wrap="none" lIns="0" rIns="0" tIns="0" bIns="0">
            <a:spAutoFit/>
          </a:bodyPr>
          <a:lstStyle/>
          <a:p>
            <a:r>
              <a:rPr sz="1100" b="0">
                <a:solidFill>
                  <a:srgbClr val="2E2E2E"/>
                </a:solidFill>
                <a:latin typeface="Calibri"/>
              </a:rPr>
              <a:t>accounting for</a:t>
            </a:r>
          </a:p>
        </p:txBody>
      </p:sp>
      <p:pic>
        <p:nvPicPr>
          <p:cNvPr id="132" name="Picture 131" descr="lock.png"/>
          <p:cNvPicPr>
            <a:picLocks noChangeAspect="1"/>
          </p:cNvPicPr>
          <p:nvPr/>
        </p:nvPicPr>
        <p:blipFill>
          <a:blip r:embed="rId28"/>
          <a:stretch>
            <a:fillRect/>
          </a:stretch>
        </p:blipFill>
        <p:spPr>
          <a:xfrm>
            <a:off x="1330764" y="5057858"/>
            <a:ext cx="128699" cy="187198"/>
          </a:xfrm>
          <a:prstGeom prst="rect">
            <a:avLst/>
          </a:prstGeom>
        </p:spPr>
      </p:pic>
      <p:sp>
        <p:nvSpPr>
          <p:cNvPr id="133" name="TextBox 132"/>
          <p:cNvSpPr txBox="1"/>
          <p:nvPr/>
        </p:nvSpPr>
        <p:spPr>
          <a:xfrm>
            <a:off x="1498259"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34" name="TextBox 133"/>
          <p:cNvSpPr txBox="1"/>
          <p:nvPr/>
        </p:nvSpPr>
        <p:spPr>
          <a:xfrm>
            <a:off x="485775" y="5285569"/>
            <a:ext cx="2300758" cy="186689"/>
          </a:xfrm>
          <a:prstGeom prst="rect">
            <a:avLst/>
          </a:prstGeom>
          <a:noFill/>
        </p:spPr>
        <p:txBody>
          <a:bodyPr wrap="none" lIns="0" rIns="0" tIns="0" bIns="0">
            <a:spAutoFit/>
          </a:bodyPr>
          <a:lstStyle/>
          <a:p>
            <a:r>
              <a:rPr sz="1100" b="0">
                <a:solidFill>
                  <a:srgbClr val="2E2E2E"/>
                </a:solidFill>
                <a:latin typeface="Calibri"/>
              </a:rPr>
              <a:t>Vanilla segment is projected to register</a:t>
            </a:r>
          </a:p>
        </p:txBody>
      </p:sp>
      <p:pic>
        <p:nvPicPr>
          <p:cNvPr id="135" name="Picture 134" descr="lock.png"/>
          <p:cNvPicPr>
            <a:picLocks noChangeAspect="1"/>
          </p:cNvPicPr>
          <p:nvPr/>
        </p:nvPicPr>
        <p:blipFill>
          <a:blip r:embed="rId28"/>
          <a:stretch>
            <a:fillRect/>
          </a:stretch>
        </p:blipFill>
        <p:spPr>
          <a:xfrm>
            <a:off x="2734585" y="5275790"/>
            <a:ext cx="128699" cy="187198"/>
          </a:xfrm>
          <a:prstGeom prst="rect">
            <a:avLst/>
          </a:prstGeom>
        </p:spPr>
      </p:pic>
      <p:sp>
        <p:nvSpPr>
          <p:cNvPr id="136" name="TextBox 135"/>
          <p:cNvSpPr txBox="1"/>
          <p:nvPr/>
        </p:nvSpPr>
        <p:spPr>
          <a:xfrm>
            <a:off x="2902081"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37" name="TextBox 136"/>
          <p:cNvSpPr txBox="1"/>
          <p:nvPr/>
        </p:nvSpPr>
        <p:spPr>
          <a:xfrm>
            <a:off x="485775" y="5453209"/>
            <a:ext cx="2508944" cy="186689"/>
          </a:xfrm>
          <a:prstGeom prst="rect">
            <a:avLst/>
          </a:prstGeom>
          <a:noFill/>
        </p:spPr>
        <p:txBody>
          <a:bodyPr wrap="none" lIns="0" rIns="0" tIns="0" bIns="0">
            <a:spAutoFit/>
          </a:bodyPr>
          <a:lstStyle/>
          <a:p>
            <a:r>
              <a:rPr sz="1100" b="0">
                <a:solidFill>
                  <a:srgbClr val="2E2E2E"/>
                </a:solidFill>
                <a:latin typeface="Calibri"/>
              </a:rPr>
              <a:t>higher value than orange segment in 2036.</a:t>
            </a:r>
          </a:p>
        </p:txBody>
      </p:sp>
      <p:sp>
        <p:nvSpPr>
          <p:cNvPr id="138" name="TextBox 137"/>
          <p:cNvSpPr txBox="1"/>
          <p:nvPr/>
        </p:nvSpPr>
        <p:spPr>
          <a:xfrm>
            <a:off x="3838575" y="4229437"/>
            <a:ext cx="612626" cy="186689"/>
          </a:xfrm>
          <a:prstGeom prst="rect">
            <a:avLst/>
          </a:prstGeom>
          <a:noFill/>
        </p:spPr>
        <p:txBody>
          <a:bodyPr wrap="none" lIns="0" rIns="0" tIns="0" bIns="0">
            <a:spAutoFit/>
          </a:bodyPr>
          <a:lstStyle/>
          <a:p>
            <a:r>
              <a:rPr sz="1100" b="0">
                <a:solidFill>
                  <a:srgbClr val="2E2E2E"/>
                </a:solidFill>
                <a:latin typeface="Calibri"/>
              </a:rPr>
              <a:t>● Vanilla:</a:t>
            </a:r>
          </a:p>
        </p:txBody>
      </p:sp>
      <p:pic>
        <p:nvPicPr>
          <p:cNvPr id="139" name="Picture 138" descr="lock.png"/>
          <p:cNvPicPr>
            <a:picLocks noChangeAspect="1"/>
          </p:cNvPicPr>
          <p:nvPr/>
        </p:nvPicPr>
        <p:blipFill>
          <a:blip r:embed="rId28"/>
          <a:stretch>
            <a:fillRect/>
          </a:stretch>
        </p:blipFill>
        <p:spPr>
          <a:xfrm>
            <a:off x="4399252" y="4219658"/>
            <a:ext cx="128699" cy="187198"/>
          </a:xfrm>
          <a:prstGeom prst="rect">
            <a:avLst/>
          </a:prstGeom>
        </p:spPr>
      </p:pic>
      <p:sp>
        <p:nvSpPr>
          <p:cNvPr id="140" name="TextBox 139"/>
          <p:cNvSpPr txBox="1"/>
          <p:nvPr/>
        </p:nvSpPr>
        <p:spPr>
          <a:xfrm>
            <a:off x="4566748"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1" name="Picture 140" descr="lock.png"/>
          <p:cNvPicPr>
            <a:picLocks noChangeAspect="1"/>
          </p:cNvPicPr>
          <p:nvPr/>
        </p:nvPicPr>
        <p:blipFill>
          <a:blip r:embed="rId28"/>
          <a:stretch>
            <a:fillRect/>
          </a:stretch>
        </p:blipFill>
        <p:spPr>
          <a:xfrm>
            <a:off x="5426198" y="4219658"/>
            <a:ext cx="128699" cy="187198"/>
          </a:xfrm>
          <a:prstGeom prst="rect">
            <a:avLst/>
          </a:prstGeom>
        </p:spPr>
      </p:pic>
      <p:sp>
        <p:nvSpPr>
          <p:cNvPr id="142" name="TextBox 141"/>
          <p:cNvSpPr txBox="1"/>
          <p:nvPr/>
        </p:nvSpPr>
        <p:spPr>
          <a:xfrm>
            <a:off x="5593694"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43" name="TextBox 142"/>
          <p:cNvSpPr txBox="1"/>
          <p:nvPr/>
        </p:nvSpPr>
        <p:spPr>
          <a:xfrm>
            <a:off x="3838575" y="4447369"/>
            <a:ext cx="616446" cy="186689"/>
          </a:xfrm>
          <a:prstGeom prst="rect">
            <a:avLst/>
          </a:prstGeom>
          <a:noFill/>
        </p:spPr>
        <p:txBody>
          <a:bodyPr wrap="none" lIns="0" rIns="0" tIns="0" bIns="0">
            <a:spAutoFit/>
          </a:bodyPr>
          <a:lstStyle/>
          <a:p>
            <a:r>
              <a:rPr sz="1100" b="0">
                <a:solidFill>
                  <a:srgbClr val="2E2E2E"/>
                </a:solidFill>
                <a:latin typeface="Calibri"/>
              </a:rPr>
              <a:t>● Lemon:</a:t>
            </a:r>
          </a:p>
        </p:txBody>
      </p:sp>
      <p:pic>
        <p:nvPicPr>
          <p:cNvPr id="144" name="Picture 143" descr="lock.png"/>
          <p:cNvPicPr>
            <a:picLocks noChangeAspect="1"/>
          </p:cNvPicPr>
          <p:nvPr/>
        </p:nvPicPr>
        <p:blipFill>
          <a:blip r:embed="rId28"/>
          <a:stretch>
            <a:fillRect/>
          </a:stretch>
        </p:blipFill>
        <p:spPr>
          <a:xfrm>
            <a:off x="4403072" y="4437590"/>
            <a:ext cx="128699" cy="187198"/>
          </a:xfrm>
          <a:prstGeom prst="rect">
            <a:avLst/>
          </a:prstGeom>
        </p:spPr>
      </p:pic>
      <p:sp>
        <p:nvSpPr>
          <p:cNvPr id="145" name="TextBox 144"/>
          <p:cNvSpPr txBox="1"/>
          <p:nvPr/>
        </p:nvSpPr>
        <p:spPr>
          <a:xfrm>
            <a:off x="4570568"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6" name="Picture 145" descr="lock.png"/>
          <p:cNvPicPr>
            <a:picLocks noChangeAspect="1"/>
          </p:cNvPicPr>
          <p:nvPr/>
        </p:nvPicPr>
        <p:blipFill>
          <a:blip r:embed="rId28"/>
          <a:stretch>
            <a:fillRect/>
          </a:stretch>
        </p:blipFill>
        <p:spPr>
          <a:xfrm>
            <a:off x="5430018" y="4437590"/>
            <a:ext cx="128699" cy="187198"/>
          </a:xfrm>
          <a:prstGeom prst="rect">
            <a:avLst/>
          </a:prstGeom>
        </p:spPr>
      </p:pic>
      <p:sp>
        <p:nvSpPr>
          <p:cNvPr id="147" name="TextBox 146"/>
          <p:cNvSpPr txBox="1"/>
          <p:nvPr/>
        </p:nvSpPr>
        <p:spPr>
          <a:xfrm>
            <a:off x="5597514"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48" name="TextBox 147"/>
          <p:cNvSpPr txBox="1"/>
          <p:nvPr/>
        </p:nvSpPr>
        <p:spPr>
          <a:xfrm>
            <a:off x="3838575" y="4665301"/>
            <a:ext cx="646459" cy="186689"/>
          </a:xfrm>
          <a:prstGeom prst="rect">
            <a:avLst/>
          </a:prstGeom>
          <a:noFill/>
        </p:spPr>
        <p:txBody>
          <a:bodyPr wrap="none" lIns="0" rIns="0" tIns="0" bIns="0">
            <a:spAutoFit/>
          </a:bodyPr>
          <a:lstStyle/>
          <a:p>
            <a:r>
              <a:rPr sz="1100" b="0">
                <a:solidFill>
                  <a:srgbClr val="2E2E2E"/>
                </a:solidFill>
                <a:latin typeface="Calibri"/>
              </a:rPr>
              <a:t>● Orange:</a:t>
            </a:r>
          </a:p>
        </p:txBody>
      </p:sp>
      <p:pic>
        <p:nvPicPr>
          <p:cNvPr id="149" name="Picture 148" descr="lock.png"/>
          <p:cNvPicPr>
            <a:picLocks noChangeAspect="1"/>
          </p:cNvPicPr>
          <p:nvPr/>
        </p:nvPicPr>
        <p:blipFill>
          <a:blip r:embed="rId28"/>
          <a:stretch>
            <a:fillRect/>
          </a:stretch>
        </p:blipFill>
        <p:spPr>
          <a:xfrm>
            <a:off x="4433086" y="4655522"/>
            <a:ext cx="128699" cy="187198"/>
          </a:xfrm>
          <a:prstGeom prst="rect">
            <a:avLst/>
          </a:prstGeom>
        </p:spPr>
      </p:pic>
      <p:sp>
        <p:nvSpPr>
          <p:cNvPr id="150" name="TextBox 149"/>
          <p:cNvSpPr txBox="1"/>
          <p:nvPr/>
        </p:nvSpPr>
        <p:spPr>
          <a:xfrm>
            <a:off x="4600582"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51" name="Picture 150" descr="lock.png"/>
          <p:cNvPicPr>
            <a:picLocks noChangeAspect="1"/>
          </p:cNvPicPr>
          <p:nvPr/>
        </p:nvPicPr>
        <p:blipFill>
          <a:blip r:embed="rId28"/>
          <a:stretch>
            <a:fillRect/>
          </a:stretch>
        </p:blipFill>
        <p:spPr>
          <a:xfrm>
            <a:off x="5460032" y="4655522"/>
            <a:ext cx="128699" cy="187198"/>
          </a:xfrm>
          <a:prstGeom prst="rect">
            <a:avLst/>
          </a:prstGeom>
        </p:spPr>
      </p:pic>
      <p:sp>
        <p:nvSpPr>
          <p:cNvPr id="152" name="TextBox 151"/>
          <p:cNvSpPr txBox="1"/>
          <p:nvPr/>
        </p:nvSpPr>
        <p:spPr>
          <a:xfrm>
            <a:off x="5627528"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53" name="TextBox 152"/>
          <p:cNvSpPr txBox="1"/>
          <p:nvPr/>
        </p:nvSpPr>
        <p:spPr>
          <a:xfrm>
            <a:off x="3838575" y="4883233"/>
            <a:ext cx="936228" cy="186689"/>
          </a:xfrm>
          <a:prstGeom prst="rect">
            <a:avLst/>
          </a:prstGeom>
          <a:noFill/>
        </p:spPr>
        <p:txBody>
          <a:bodyPr wrap="none" lIns="0" rIns="0" tIns="0" bIns="0">
            <a:spAutoFit/>
          </a:bodyPr>
          <a:lstStyle/>
          <a:p>
            <a:r>
              <a:rPr sz="1100" b="0">
                <a:solidFill>
                  <a:srgbClr val="2E2E2E"/>
                </a:solidFill>
                <a:latin typeface="Calibri"/>
              </a:rPr>
              <a:t>● Unflavoured:</a:t>
            </a:r>
          </a:p>
        </p:txBody>
      </p:sp>
      <p:pic>
        <p:nvPicPr>
          <p:cNvPr id="154" name="Picture 153" descr="lock.png"/>
          <p:cNvPicPr>
            <a:picLocks noChangeAspect="1"/>
          </p:cNvPicPr>
          <p:nvPr/>
        </p:nvPicPr>
        <p:blipFill>
          <a:blip r:embed="rId28"/>
          <a:stretch>
            <a:fillRect/>
          </a:stretch>
        </p:blipFill>
        <p:spPr>
          <a:xfrm>
            <a:off x="4722854" y="4873454"/>
            <a:ext cx="128699" cy="187198"/>
          </a:xfrm>
          <a:prstGeom prst="rect">
            <a:avLst/>
          </a:prstGeom>
        </p:spPr>
      </p:pic>
      <p:sp>
        <p:nvSpPr>
          <p:cNvPr id="155" name="TextBox 154"/>
          <p:cNvSpPr txBox="1"/>
          <p:nvPr/>
        </p:nvSpPr>
        <p:spPr>
          <a:xfrm>
            <a:off x="4890350"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56" name="Picture 155" descr="lock.png"/>
          <p:cNvPicPr>
            <a:picLocks noChangeAspect="1"/>
          </p:cNvPicPr>
          <p:nvPr/>
        </p:nvPicPr>
        <p:blipFill>
          <a:blip r:embed="rId28"/>
          <a:stretch>
            <a:fillRect/>
          </a:stretch>
        </p:blipFill>
        <p:spPr>
          <a:xfrm>
            <a:off x="5749800" y="4873454"/>
            <a:ext cx="128699" cy="187198"/>
          </a:xfrm>
          <a:prstGeom prst="rect">
            <a:avLst/>
          </a:prstGeom>
        </p:spPr>
      </p:pic>
      <p:sp>
        <p:nvSpPr>
          <p:cNvPr id="157" name="TextBox 156"/>
          <p:cNvSpPr txBox="1"/>
          <p:nvPr/>
        </p:nvSpPr>
        <p:spPr>
          <a:xfrm>
            <a:off x="5917296"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58" name="TextBox 157"/>
          <p:cNvSpPr txBox="1"/>
          <p:nvPr/>
        </p:nvSpPr>
        <p:spPr>
          <a:xfrm>
            <a:off x="3838575" y="5101165"/>
            <a:ext cx="1059557" cy="186689"/>
          </a:xfrm>
          <a:prstGeom prst="rect">
            <a:avLst/>
          </a:prstGeom>
          <a:noFill/>
        </p:spPr>
        <p:txBody>
          <a:bodyPr wrap="none" lIns="0" rIns="0" tIns="0" bIns="0">
            <a:spAutoFit/>
          </a:bodyPr>
          <a:lstStyle/>
          <a:p>
            <a:r>
              <a:rPr sz="1100" b="0">
                <a:solidFill>
                  <a:srgbClr val="2E2E2E"/>
                </a:solidFill>
                <a:latin typeface="Calibri"/>
              </a:rPr>
              <a:t>● Pumpkin Spice:</a:t>
            </a:r>
          </a:p>
        </p:txBody>
      </p:sp>
      <p:pic>
        <p:nvPicPr>
          <p:cNvPr id="159" name="Picture 158" descr="lock.png"/>
          <p:cNvPicPr>
            <a:picLocks noChangeAspect="1"/>
          </p:cNvPicPr>
          <p:nvPr/>
        </p:nvPicPr>
        <p:blipFill>
          <a:blip r:embed="rId28"/>
          <a:stretch>
            <a:fillRect/>
          </a:stretch>
        </p:blipFill>
        <p:spPr>
          <a:xfrm>
            <a:off x="4846183" y="5091385"/>
            <a:ext cx="128699" cy="187198"/>
          </a:xfrm>
          <a:prstGeom prst="rect">
            <a:avLst/>
          </a:prstGeom>
        </p:spPr>
      </p:pic>
      <p:sp>
        <p:nvSpPr>
          <p:cNvPr id="160" name="TextBox 159"/>
          <p:cNvSpPr txBox="1"/>
          <p:nvPr/>
        </p:nvSpPr>
        <p:spPr>
          <a:xfrm>
            <a:off x="5013679" y="510116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61" name="Picture 160" descr="lock.png"/>
          <p:cNvPicPr>
            <a:picLocks noChangeAspect="1"/>
          </p:cNvPicPr>
          <p:nvPr/>
        </p:nvPicPr>
        <p:blipFill>
          <a:blip r:embed="rId28"/>
          <a:stretch>
            <a:fillRect/>
          </a:stretch>
        </p:blipFill>
        <p:spPr>
          <a:xfrm>
            <a:off x="5873129" y="5091385"/>
            <a:ext cx="128699" cy="187198"/>
          </a:xfrm>
          <a:prstGeom prst="rect">
            <a:avLst/>
          </a:prstGeom>
        </p:spPr>
      </p:pic>
      <p:sp>
        <p:nvSpPr>
          <p:cNvPr id="162" name="TextBox 161"/>
          <p:cNvSpPr txBox="1"/>
          <p:nvPr/>
        </p:nvSpPr>
        <p:spPr>
          <a:xfrm>
            <a:off x="6040625" y="5101165"/>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63" name="TextBox 162"/>
          <p:cNvSpPr txBox="1"/>
          <p:nvPr/>
        </p:nvSpPr>
        <p:spPr>
          <a:xfrm>
            <a:off x="3838575" y="5319097"/>
            <a:ext cx="622175" cy="186689"/>
          </a:xfrm>
          <a:prstGeom prst="rect">
            <a:avLst/>
          </a:prstGeom>
          <a:noFill/>
        </p:spPr>
        <p:txBody>
          <a:bodyPr wrap="none" lIns="0" rIns="0" tIns="0" bIns="0">
            <a:spAutoFit/>
          </a:bodyPr>
          <a:lstStyle/>
          <a:p>
            <a:r>
              <a:rPr sz="1100" b="0">
                <a:solidFill>
                  <a:srgbClr val="2E2E2E"/>
                </a:solidFill>
                <a:latin typeface="Calibri"/>
              </a:rPr>
              <a:t>● Mocha:</a:t>
            </a:r>
          </a:p>
        </p:txBody>
      </p:sp>
      <p:pic>
        <p:nvPicPr>
          <p:cNvPr id="164" name="Picture 163" descr="lock.png"/>
          <p:cNvPicPr>
            <a:picLocks noChangeAspect="1"/>
          </p:cNvPicPr>
          <p:nvPr/>
        </p:nvPicPr>
        <p:blipFill>
          <a:blip r:embed="rId28"/>
          <a:stretch>
            <a:fillRect/>
          </a:stretch>
        </p:blipFill>
        <p:spPr>
          <a:xfrm>
            <a:off x="4408802" y="5309317"/>
            <a:ext cx="128699" cy="187198"/>
          </a:xfrm>
          <a:prstGeom prst="rect">
            <a:avLst/>
          </a:prstGeom>
        </p:spPr>
      </p:pic>
      <p:sp>
        <p:nvSpPr>
          <p:cNvPr id="165" name="TextBox 164"/>
          <p:cNvSpPr txBox="1"/>
          <p:nvPr/>
        </p:nvSpPr>
        <p:spPr>
          <a:xfrm>
            <a:off x="4576298" y="531909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66" name="Picture 165" descr="lock.png"/>
          <p:cNvPicPr>
            <a:picLocks noChangeAspect="1"/>
          </p:cNvPicPr>
          <p:nvPr/>
        </p:nvPicPr>
        <p:blipFill>
          <a:blip r:embed="rId28"/>
          <a:stretch>
            <a:fillRect/>
          </a:stretch>
        </p:blipFill>
        <p:spPr>
          <a:xfrm>
            <a:off x="5435748" y="5309317"/>
            <a:ext cx="128699" cy="187198"/>
          </a:xfrm>
          <a:prstGeom prst="rect">
            <a:avLst/>
          </a:prstGeom>
        </p:spPr>
      </p:pic>
      <p:sp>
        <p:nvSpPr>
          <p:cNvPr id="167" name="TextBox 166"/>
          <p:cNvSpPr txBox="1"/>
          <p:nvPr/>
        </p:nvSpPr>
        <p:spPr>
          <a:xfrm>
            <a:off x="5603244" y="531909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68" name="TextBox 167"/>
          <p:cNvSpPr txBox="1"/>
          <p:nvPr/>
        </p:nvSpPr>
        <p:spPr>
          <a:xfrm>
            <a:off x="3838575" y="5537029"/>
            <a:ext cx="808533" cy="186689"/>
          </a:xfrm>
          <a:prstGeom prst="rect">
            <a:avLst/>
          </a:prstGeom>
          <a:noFill/>
        </p:spPr>
        <p:txBody>
          <a:bodyPr wrap="none" lIns="0" rIns="0" tIns="0" bIns="0">
            <a:spAutoFit/>
          </a:bodyPr>
          <a:lstStyle/>
          <a:p>
            <a:r>
              <a:rPr sz="1100" b="0">
                <a:solidFill>
                  <a:srgbClr val="2E2E2E"/>
                </a:solidFill>
                <a:latin typeface="Calibri"/>
              </a:rPr>
              <a:t>● Cinnamon:</a:t>
            </a:r>
          </a:p>
        </p:txBody>
      </p:sp>
      <p:pic>
        <p:nvPicPr>
          <p:cNvPr id="169" name="Picture 168" descr="lock.png"/>
          <p:cNvPicPr>
            <a:picLocks noChangeAspect="1"/>
          </p:cNvPicPr>
          <p:nvPr/>
        </p:nvPicPr>
        <p:blipFill>
          <a:blip r:embed="rId28"/>
          <a:stretch>
            <a:fillRect/>
          </a:stretch>
        </p:blipFill>
        <p:spPr>
          <a:xfrm>
            <a:off x="4595160" y="5527249"/>
            <a:ext cx="128699" cy="187198"/>
          </a:xfrm>
          <a:prstGeom prst="rect">
            <a:avLst/>
          </a:prstGeom>
        </p:spPr>
      </p:pic>
      <p:sp>
        <p:nvSpPr>
          <p:cNvPr id="170" name="TextBox 169"/>
          <p:cNvSpPr txBox="1"/>
          <p:nvPr/>
        </p:nvSpPr>
        <p:spPr>
          <a:xfrm>
            <a:off x="4762656" y="553702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71" name="Picture 170" descr="lock.png"/>
          <p:cNvPicPr>
            <a:picLocks noChangeAspect="1"/>
          </p:cNvPicPr>
          <p:nvPr/>
        </p:nvPicPr>
        <p:blipFill>
          <a:blip r:embed="rId28"/>
          <a:stretch>
            <a:fillRect/>
          </a:stretch>
        </p:blipFill>
        <p:spPr>
          <a:xfrm>
            <a:off x="5622106" y="5527249"/>
            <a:ext cx="128699" cy="187198"/>
          </a:xfrm>
          <a:prstGeom prst="rect">
            <a:avLst/>
          </a:prstGeom>
        </p:spPr>
      </p:pic>
      <p:sp>
        <p:nvSpPr>
          <p:cNvPr id="172" name="TextBox 171"/>
          <p:cNvSpPr txBox="1"/>
          <p:nvPr/>
        </p:nvSpPr>
        <p:spPr>
          <a:xfrm>
            <a:off x="5789602" y="553702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73" name="TextBox 172"/>
          <p:cNvSpPr txBox="1"/>
          <p:nvPr/>
        </p:nvSpPr>
        <p:spPr>
          <a:xfrm>
            <a:off x="3838575" y="5754961"/>
            <a:ext cx="1069106" cy="186689"/>
          </a:xfrm>
          <a:prstGeom prst="rect">
            <a:avLst/>
          </a:prstGeom>
          <a:noFill/>
        </p:spPr>
        <p:txBody>
          <a:bodyPr wrap="none" lIns="0" rIns="0" tIns="0" bIns="0">
            <a:spAutoFit/>
          </a:bodyPr>
          <a:lstStyle/>
          <a:p>
            <a:r>
              <a:rPr sz="1100" b="0">
                <a:solidFill>
                  <a:srgbClr val="2E2E2E"/>
                </a:solidFill>
                <a:latin typeface="Calibri"/>
              </a:rPr>
              <a:t>● Other Flavours:</a:t>
            </a:r>
          </a:p>
        </p:txBody>
      </p:sp>
      <p:pic>
        <p:nvPicPr>
          <p:cNvPr id="174" name="Picture 173" descr="lock.png"/>
          <p:cNvPicPr>
            <a:picLocks noChangeAspect="1"/>
          </p:cNvPicPr>
          <p:nvPr/>
        </p:nvPicPr>
        <p:blipFill>
          <a:blip r:embed="rId28"/>
          <a:stretch>
            <a:fillRect/>
          </a:stretch>
        </p:blipFill>
        <p:spPr>
          <a:xfrm>
            <a:off x="4855733" y="5745181"/>
            <a:ext cx="128699" cy="187198"/>
          </a:xfrm>
          <a:prstGeom prst="rect">
            <a:avLst/>
          </a:prstGeom>
        </p:spPr>
      </p:pic>
      <p:sp>
        <p:nvSpPr>
          <p:cNvPr id="175" name="TextBox 174"/>
          <p:cNvSpPr txBox="1"/>
          <p:nvPr/>
        </p:nvSpPr>
        <p:spPr>
          <a:xfrm>
            <a:off x="5023229" y="575496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76" name="Picture 175" descr="lock.png"/>
          <p:cNvPicPr>
            <a:picLocks noChangeAspect="1"/>
          </p:cNvPicPr>
          <p:nvPr/>
        </p:nvPicPr>
        <p:blipFill>
          <a:blip r:embed="rId28"/>
          <a:stretch>
            <a:fillRect/>
          </a:stretch>
        </p:blipFill>
        <p:spPr>
          <a:xfrm>
            <a:off x="5882679" y="5745181"/>
            <a:ext cx="128699" cy="187198"/>
          </a:xfrm>
          <a:prstGeom prst="rect">
            <a:avLst/>
          </a:prstGeom>
        </p:spPr>
      </p:pic>
      <p:sp>
        <p:nvSpPr>
          <p:cNvPr id="177" name="TextBox 176"/>
          <p:cNvSpPr txBox="1"/>
          <p:nvPr/>
        </p:nvSpPr>
        <p:spPr>
          <a:xfrm>
            <a:off x="6050175" y="575496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78" name="TextBox 177"/>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Flavour segment is projected to grow at a CAGR</a:t>
            </a:r>
          </a:p>
        </p:txBody>
      </p:sp>
      <p:sp>
        <p:nvSpPr>
          <p:cNvPr id="179" name="TextBox 178"/>
          <p:cNvSpPr txBox="1"/>
          <p:nvPr/>
        </p:nvSpPr>
        <p:spPr>
          <a:xfrm>
            <a:off x="8524875" y="6017901"/>
            <a:ext cx="200855" cy="194310"/>
          </a:xfrm>
          <a:prstGeom prst="rect">
            <a:avLst/>
          </a:prstGeom>
          <a:noFill/>
        </p:spPr>
        <p:txBody>
          <a:bodyPr wrap="none" lIns="0" rIns="0" tIns="0" bIns="0">
            <a:spAutoFit/>
          </a:bodyPr>
          <a:lstStyle/>
          <a:p>
            <a:r>
              <a:rPr sz="1150" b="1">
                <a:solidFill>
                  <a:srgbClr val="0B2E4A"/>
                </a:solidFill>
                <a:latin typeface="Calibri"/>
              </a:rPr>
              <a:t>of</a:t>
            </a:r>
          </a:p>
        </p:txBody>
      </p:sp>
      <p:pic>
        <p:nvPicPr>
          <p:cNvPr id="180" name="Picture 179" descr="lock.png"/>
          <p:cNvPicPr>
            <a:picLocks noChangeAspect="1"/>
          </p:cNvPicPr>
          <p:nvPr/>
        </p:nvPicPr>
        <p:blipFill>
          <a:blip r:embed="rId28"/>
          <a:stretch>
            <a:fillRect/>
          </a:stretch>
        </p:blipFill>
        <p:spPr>
          <a:xfrm>
            <a:off x="8674884" y="6007677"/>
            <a:ext cx="134549" cy="195707"/>
          </a:xfrm>
          <a:prstGeom prst="rect">
            <a:avLst/>
          </a:prstGeom>
        </p:spPr>
      </p:pic>
      <p:sp>
        <p:nvSpPr>
          <p:cNvPr id="181" name="TextBox 180"/>
          <p:cNvSpPr txBox="1"/>
          <p:nvPr/>
        </p:nvSpPr>
        <p:spPr>
          <a:xfrm>
            <a:off x="8849994"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6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Flavour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Flavour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Flavour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568690" cy="186689"/>
          </a:xfrm>
          <a:prstGeom prst="rect">
            <a:avLst/>
          </a:prstGeom>
          <a:noFill/>
        </p:spPr>
        <p:txBody>
          <a:bodyPr wrap="none" lIns="0" rIns="0" tIns="0" bIns="0">
            <a:spAutoFit/>
          </a:bodyPr>
          <a:lstStyle/>
          <a:p>
            <a:r>
              <a:rPr sz="1100" b="0">
                <a:solidFill>
                  <a:srgbClr val="2E2E2E"/>
                </a:solidFill>
                <a:latin typeface="Calibri"/>
              </a:rPr>
              <a:t>Vanilla followed by orange are expected to be the two most attractive flavour segments in the North America matcha market in terms of value over the forecast period. Vanilla and orange exhibit a CAGR</a:t>
            </a:r>
          </a:p>
        </p:txBody>
      </p:sp>
      <p:sp>
        <p:nvSpPr>
          <p:cNvPr id="20" name="TextBox 19"/>
          <p:cNvSpPr txBox="1"/>
          <p:nvPr/>
        </p:nvSpPr>
        <p:spPr>
          <a:xfrm>
            <a:off x="257175" y="5945505"/>
            <a:ext cx="533226" cy="186689"/>
          </a:xfrm>
          <a:prstGeom prst="rect">
            <a:avLst/>
          </a:prstGeom>
          <a:noFill/>
        </p:spPr>
        <p:txBody>
          <a:bodyPr wrap="none" lIns="0" rIns="0" tIns="0" bIns="0">
            <a:spAutoFit/>
          </a:bodyPr>
          <a:lstStyle/>
          <a:p>
            <a:r>
              <a:rPr sz="1100" b="0">
                <a:solidFill>
                  <a:srgbClr val="2E2E2E"/>
                </a:solidFill>
                <a:latin typeface="Calibri"/>
              </a:rPr>
              <a:t>index of</a:t>
            </a:r>
          </a:p>
        </p:txBody>
      </p:sp>
      <p:pic>
        <p:nvPicPr>
          <p:cNvPr id="21" name="Picture 20" descr="lock.png"/>
          <p:cNvPicPr>
            <a:picLocks noChangeAspect="1"/>
          </p:cNvPicPr>
          <p:nvPr/>
        </p:nvPicPr>
        <p:blipFill>
          <a:blip r:embed="rId6"/>
          <a:stretch>
            <a:fillRect/>
          </a:stretch>
        </p:blipFill>
        <p:spPr>
          <a:xfrm>
            <a:off x="738452" y="5935726"/>
            <a:ext cx="128699" cy="187198"/>
          </a:xfrm>
          <a:prstGeom prst="rect">
            <a:avLst/>
          </a:prstGeom>
        </p:spPr>
      </p:pic>
      <p:sp>
        <p:nvSpPr>
          <p:cNvPr id="22" name="TextBox 21"/>
          <p:cNvSpPr txBox="1"/>
          <p:nvPr/>
        </p:nvSpPr>
        <p:spPr>
          <a:xfrm>
            <a:off x="90594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1143843" y="5935726"/>
            <a:ext cx="128699" cy="187198"/>
          </a:xfrm>
          <a:prstGeom prst="rect">
            <a:avLst/>
          </a:prstGeom>
        </p:spPr>
      </p:pic>
      <p:sp>
        <p:nvSpPr>
          <p:cNvPr id="24" name="TextBox 23"/>
          <p:cNvSpPr txBox="1"/>
          <p:nvPr/>
        </p:nvSpPr>
        <p:spPr>
          <a:xfrm>
            <a:off x="1311338"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2920312" y="5935726"/>
            <a:ext cx="128699" cy="187198"/>
          </a:xfrm>
          <a:prstGeom prst="rect">
            <a:avLst/>
          </a:prstGeom>
        </p:spPr>
      </p:pic>
      <p:sp>
        <p:nvSpPr>
          <p:cNvPr id="26" name="TextBox 25"/>
          <p:cNvSpPr txBox="1"/>
          <p:nvPr/>
        </p:nvSpPr>
        <p:spPr>
          <a:xfrm>
            <a:off x="3087808"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3325702" y="5935726"/>
            <a:ext cx="128699" cy="187198"/>
          </a:xfrm>
          <a:prstGeom prst="rect">
            <a:avLst/>
          </a:prstGeom>
        </p:spPr>
      </p:pic>
      <p:sp>
        <p:nvSpPr>
          <p:cNvPr id="28" name="TextBox 27"/>
          <p:cNvSpPr txBox="1"/>
          <p:nvPr/>
        </p:nvSpPr>
        <p:spPr>
          <a:xfrm>
            <a:off x="3493198"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6047602" y="5935726"/>
            <a:ext cx="128699" cy="187198"/>
          </a:xfrm>
          <a:prstGeom prst="rect">
            <a:avLst/>
          </a:prstGeom>
        </p:spPr>
      </p:pic>
      <p:sp>
        <p:nvSpPr>
          <p:cNvPr id="30" name="TextBox 29"/>
          <p:cNvSpPr txBox="1"/>
          <p:nvPr/>
        </p:nvSpPr>
        <p:spPr>
          <a:xfrm>
            <a:off x="6215098" y="5945505"/>
            <a:ext cx="4786436" cy="186689"/>
          </a:xfrm>
          <a:prstGeom prst="rect">
            <a:avLst/>
          </a:prstGeom>
          <a:noFill/>
        </p:spPr>
        <p:txBody>
          <a:bodyPr wrap="none" lIns="0" rIns="0" tIns="0" bIns="0">
            <a:spAutoFit/>
          </a:bodyPr>
          <a:lstStyle/>
          <a:p>
            <a:r>
              <a:rPr sz="1100" b="0">
                <a:solidFill>
                  <a:srgbClr val="2E2E2E"/>
                </a:solidFill>
                <a:latin typeface="Calibri"/>
              </a:rPr>
              <a:t>. The other flavours segment is expected to be less attractive as compared to other</a:t>
            </a:r>
          </a:p>
        </p:txBody>
      </p:sp>
      <p:sp>
        <p:nvSpPr>
          <p:cNvPr id="31" name="TextBox 30"/>
          <p:cNvSpPr txBox="1"/>
          <p:nvPr/>
        </p:nvSpPr>
        <p:spPr>
          <a:xfrm>
            <a:off x="257175" y="6113145"/>
            <a:ext cx="9501823" cy="186689"/>
          </a:xfrm>
          <a:prstGeom prst="rect">
            <a:avLst/>
          </a:prstGeom>
          <a:noFill/>
        </p:spPr>
        <p:txBody>
          <a:bodyPr wrap="none" lIns="0" rIns="0" tIns="0" bIns="0">
            <a:spAutoFit/>
          </a:bodyPr>
          <a:lstStyle/>
          <a:p>
            <a:r>
              <a:rPr sz="1100" b="0">
                <a:solidFill>
                  <a:srgbClr val="2E2E2E"/>
                </a:solidFill>
                <a:latin typeface="Calibri"/>
              </a:rPr>
              <a:t>segments over the forecast period, owing to its lower CAGR and incremental opportunity. Bubbles right of the CAGR-Index line grow faster than the 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Flavour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Unflavoured</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Vanilla</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Lemon</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Orange</a:t>
            </a:r>
          </a:p>
        </p:txBody>
      </p:sp>
      <p:graphicFrame>
        <p:nvGraphicFramePr>
          <p:cNvPr id="21" name="Chart 20"/>
          <p:cNvGraphicFramePr>
            <a:graphicFrameLocks noGrp="1"/>
          </p:cNvGraphicFramePr>
          <p:nvPr/>
        </p:nvGraphicFramePr>
        <p:xfrm>
          <a:off x="6267450" y="4152900"/>
          <a:ext cx="5686425" cy="240982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4151" y="5123309"/>
            <a:ext cx="263506" cy="383281"/>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Flavour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Flavour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Mocha</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Cinnamon</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Pumpkin Spice</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Flavours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Flavour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Flavour, 2021–2036, highlighting the sub-segments driving growth</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Flavour (US$ Mn)</a:t>
            </a:r>
          </a:p>
        </p:txBody>
      </p:sp>
      <p:graphicFrame>
        <p:nvGraphicFramePr>
          <p:cNvPr id="12" name="Table 11"/>
          <p:cNvGraphicFramePr>
            <a:graphicFrameLocks noGrp="1"/>
          </p:cNvGraphicFramePr>
          <p:nvPr/>
        </p:nvGraphicFramePr>
        <p:xfrm>
          <a:off x="152400" y="1238250"/>
          <a:ext cx="11887194" cy="2466975"/>
        </p:xfrm>
        <a:graphic>
          <a:graphicData uri="http://schemas.openxmlformats.org/drawingml/2006/table">
            <a:tbl>
              <a:tblPr>
                <a:tableStyleId>{5C22544A-7EE6-4342-B048-85BDC9FD1C3A}</a:tableStyleId>
              </a:tblPr>
              <a:tblGrid>
                <a:gridCol w="1136751"/>
                <a:gridCol w="632379"/>
                <a:gridCol w="632379"/>
                <a:gridCol w="632379"/>
                <a:gridCol w="632379"/>
                <a:gridCol w="632379"/>
                <a:gridCol w="632379"/>
                <a:gridCol w="632379"/>
                <a:gridCol w="632379"/>
                <a:gridCol w="632379"/>
                <a:gridCol w="632379"/>
                <a:gridCol w="632379"/>
                <a:gridCol w="632379"/>
                <a:gridCol w="632379"/>
                <a:gridCol w="632379"/>
                <a:gridCol w="632379"/>
                <a:gridCol w="632379"/>
                <a:gridCol w="632379"/>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Unflavoured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Vanilla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Lemon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Mocha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Cinnamon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Pumpkin Spice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Other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048125"/>
            <a:ext cx="11906250" cy="2581275"/>
          </a:xfrm>
          <a:prstGeom prst="roundRect">
            <a:avLst>
              <a:gd name="adj" fmla="val 295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13385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Flavour</a:t>
            </a:r>
          </a:p>
        </p:txBody>
      </p:sp>
      <p:sp>
        <p:nvSpPr>
          <p:cNvPr id="16" name="Rectangle 15"/>
          <p:cNvSpPr/>
          <p:nvPr/>
        </p:nvSpPr>
        <p:spPr>
          <a:xfrm>
            <a:off x="276225" y="43719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457700"/>
            <a:ext cx="11639550" cy="209550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477682" y="2328100"/>
            <a:ext cx="366712" cy="533400"/>
          </a:xfrm>
          <a:prstGeom prst="rect">
            <a:avLst/>
          </a:prstGeom>
        </p:spPr>
      </p:pic>
      <p:sp>
        <p:nvSpPr>
          <p:cNvPr id="20" name="TextBox 19"/>
          <p:cNvSpPr txBox="1"/>
          <p:nvPr/>
        </p:nvSpPr>
        <p:spPr>
          <a:xfrm>
            <a:off x="276225" y="4467225"/>
            <a:ext cx="2401875" cy="194310"/>
          </a:xfrm>
          <a:prstGeom prst="rect">
            <a:avLst/>
          </a:prstGeom>
          <a:noFill/>
        </p:spPr>
        <p:txBody>
          <a:bodyPr wrap="none" lIns="0" rIns="0" tIns="0" bIns="0">
            <a:spAutoFit/>
          </a:bodyPr>
          <a:lstStyle/>
          <a:p>
            <a:r>
              <a:rPr sz="1150" b="0">
                <a:solidFill>
                  <a:srgbClr val="2E2E2E"/>
                </a:solidFill>
                <a:latin typeface="Calibri"/>
              </a:rPr>
              <a:t>Vanilla segment is projected to register</a:t>
            </a:r>
          </a:p>
        </p:txBody>
      </p:sp>
      <p:pic>
        <p:nvPicPr>
          <p:cNvPr id="21" name="Picture 20" descr="lock.png"/>
          <p:cNvPicPr>
            <a:picLocks noChangeAspect="1"/>
          </p:cNvPicPr>
          <p:nvPr/>
        </p:nvPicPr>
        <p:blipFill>
          <a:blip r:embed="rId4"/>
          <a:stretch>
            <a:fillRect/>
          </a:stretch>
        </p:blipFill>
        <p:spPr>
          <a:xfrm>
            <a:off x="2627254" y="4457001"/>
            <a:ext cx="134549" cy="195707"/>
          </a:xfrm>
          <a:prstGeom prst="rect">
            <a:avLst/>
          </a:prstGeom>
        </p:spPr>
      </p:pic>
      <p:sp>
        <p:nvSpPr>
          <p:cNvPr id="22" name="TextBox 21"/>
          <p:cNvSpPr txBox="1"/>
          <p:nvPr/>
        </p:nvSpPr>
        <p:spPr>
          <a:xfrm>
            <a:off x="2802363" y="4467225"/>
            <a:ext cx="8332285" cy="194310"/>
          </a:xfrm>
          <a:prstGeom prst="rect">
            <a:avLst/>
          </a:prstGeom>
          <a:noFill/>
        </p:spPr>
        <p:txBody>
          <a:bodyPr wrap="none" lIns="0" rIns="0" tIns="0" bIns="0">
            <a:spAutoFit/>
          </a:bodyPr>
          <a:lstStyle/>
          <a:p>
            <a:r>
              <a:rPr sz="1150" b="0">
                <a:solidFill>
                  <a:srgbClr val="2E2E2E"/>
                </a:solidFill>
                <a:latin typeface="Calibri"/>
              </a:rPr>
              <a:t>X higher value than orange segment in 2036. Among matcha by flavour, pumpkin spice segment is expected to witness the highest CAGR of</a:t>
            </a:r>
          </a:p>
        </p:txBody>
      </p:sp>
      <p:pic>
        <p:nvPicPr>
          <p:cNvPr id="23" name="Picture 22" descr="lock.png"/>
          <p:cNvPicPr>
            <a:picLocks noChangeAspect="1"/>
          </p:cNvPicPr>
          <p:nvPr/>
        </p:nvPicPr>
        <p:blipFill>
          <a:blip r:embed="rId4"/>
          <a:stretch>
            <a:fillRect/>
          </a:stretch>
        </p:blipFill>
        <p:spPr>
          <a:xfrm>
            <a:off x="11083803" y="4457001"/>
            <a:ext cx="134549" cy="195707"/>
          </a:xfrm>
          <a:prstGeom prst="rect">
            <a:avLst/>
          </a:prstGeom>
        </p:spPr>
      </p:pic>
      <p:sp>
        <p:nvSpPr>
          <p:cNvPr id="24" name="TextBox 23"/>
          <p:cNvSpPr txBox="1"/>
          <p:nvPr/>
        </p:nvSpPr>
        <p:spPr>
          <a:xfrm>
            <a:off x="11258912" y="446722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25" name="TextBox 24"/>
          <p:cNvSpPr txBox="1"/>
          <p:nvPr/>
        </p:nvSpPr>
        <p:spPr>
          <a:xfrm>
            <a:off x="276225" y="4642485"/>
            <a:ext cx="1248878" cy="194310"/>
          </a:xfrm>
          <a:prstGeom prst="rect">
            <a:avLst/>
          </a:prstGeom>
          <a:noFill/>
        </p:spPr>
        <p:txBody>
          <a:bodyPr wrap="none" lIns="0" rIns="0" tIns="0" bIns="0">
            <a:spAutoFit/>
          </a:bodyPr>
          <a:lstStyle/>
          <a:p>
            <a:r>
              <a:rPr sz="1150" b="0">
                <a:solidFill>
                  <a:srgbClr val="2E2E2E"/>
                </a:solidFill>
                <a:latin typeface="Calibri"/>
              </a:rPr>
              <a:t>the forecast period.</a:t>
            </a:r>
          </a:p>
        </p:txBody>
      </p:sp>
      <p:sp>
        <p:nvSpPr>
          <p:cNvPr id="26" name="TextBox 25"/>
          <p:cNvSpPr txBox="1"/>
          <p:nvPr/>
        </p:nvSpPr>
        <p:spPr>
          <a:xfrm>
            <a:off x="276225" y="4870322"/>
            <a:ext cx="5870562" cy="194310"/>
          </a:xfrm>
          <a:prstGeom prst="rect">
            <a:avLst/>
          </a:prstGeom>
          <a:noFill/>
        </p:spPr>
        <p:txBody>
          <a:bodyPr wrap="none" lIns="0" rIns="0" tIns="0" bIns="0">
            <a:spAutoFit/>
          </a:bodyPr>
          <a:lstStyle/>
          <a:p>
            <a:r>
              <a:rPr sz="1150" b="0">
                <a:solidFill>
                  <a:srgbClr val="2E2E2E"/>
                </a:solidFill>
                <a:latin typeface="Calibri"/>
              </a:rPr>
              <a:t>In terms of value share by flavour, the vanilla segment is expected to dominate the market, losing</a:t>
            </a:r>
          </a:p>
        </p:txBody>
      </p:sp>
      <p:pic>
        <p:nvPicPr>
          <p:cNvPr id="27" name="Picture 26" descr="lock.png"/>
          <p:cNvPicPr>
            <a:picLocks noChangeAspect="1"/>
          </p:cNvPicPr>
          <p:nvPr/>
        </p:nvPicPr>
        <p:blipFill>
          <a:blip r:embed="rId4"/>
          <a:stretch>
            <a:fillRect/>
          </a:stretch>
        </p:blipFill>
        <p:spPr>
          <a:xfrm>
            <a:off x="6095941" y="4860099"/>
            <a:ext cx="134549" cy="195707"/>
          </a:xfrm>
          <a:prstGeom prst="rect">
            <a:avLst/>
          </a:prstGeom>
        </p:spPr>
      </p:pic>
      <p:sp>
        <p:nvSpPr>
          <p:cNvPr id="28" name="TextBox 27"/>
          <p:cNvSpPr txBox="1"/>
          <p:nvPr/>
        </p:nvSpPr>
        <p:spPr>
          <a:xfrm>
            <a:off x="6271050" y="487032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7666194" y="4860099"/>
            <a:ext cx="134549" cy="195707"/>
          </a:xfrm>
          <a:prstGeom prst="rect">
            <a:avLst/>
          </a:prstGeom>
        </p:spPr>
      </p:pic>
      <p:sp>
        <p:nvSpPr>
          <p:cNvPr id="30" name="TextBox 29"/>
          <p:cNvSpPr txBox="1"/>
          <p:nvPr/>
        </p:nvSpPr>
        <p:spPr>
          <a:xfrm>
            <a:off x="7841303" y="4870322"/>
            <a:ext cx="3292437" cy="194310"/>
          </a:xfrm>
          <a:prstGeom prst="rect">
            <a:avLst/>
          </a:prstGeom>
          <a:noFill/>
        </p:spPr>
        <p:txBody>
          <a:bodyPr wrap="none" lIns="0" rIns="0" tIns="0" bIns="0">
            <a:spAutoFit/>
          </a:bodyPr>
          <a:lstStyle/>
          <a:p>
            <a:r>
              <a:rPr sz="1150" b="0">
                <a:solidFill>
                  <a:srgbClr val="2E2E2E"/>
                </a:solidFill>
                <a:latin typeface="Calibri"/>
              </a:rPr>
              <a:t>share by 2036. The lemon segment is expected to lose</a:t>
            </a:r>
          </a:p>
        </p:txBody>
      </p:sp>
      <p:pic>
        <p:nvPicPr>
          <p:cNvPr id="31" name="Picture 30" descr="lock.png"/>
          <p:cNvPicPr>
            <a:picLocks noChangeAspect="1"/>
          </p:cNvPicPr>
          <p:nvPr/>
        </p:nvPicPr>
        <p:blipFill>
          <a:blip r:embed="rId4"/>
          <a:stretch>
            <a:fillRect/>
          </a:stretch>
        </p:blipFill>
        <p:spPr>
          <a:xfrm>
            <a:off x="11082895" y="4860099"/>
            <a:ext cx="134549" cy="195707"/>
          </a:xfrm>
          <a:prstGeom prst="rect">
            <a:avLst/>
          </a:prstGeom>
        </p:spPr>
      </p:pic>
      <p:sp>
        <p:nvSpPr>
          <p:cNvPr id="32" name="TextBox 31"/>
          <p:cNvSpPr txBox="1"/>
          <p:nvPr/>
        </p:nvSpPr>
        <p:spPr>
          <a:xfrm>
            <a:off x="11258004" y="4870322"/>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33" name="TextBox 32"/>
          <p:cNvSpPr txBox="1"/>
          <p:nvPr/>
        </p:nvSpPr>
        <p:spPr>
          <a:xfrm>
            <a:off x="276225" y="5045582"/>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34" name="Picture 33" descr="lock.png"/>
          <p:cNvPicPr>
            <a:picLocks noChangeAspect="1"/>
          </p:cNvPicPr>
          <p:nvPr/>
        </p:nvPicPr>
        <p:blipFill>
          <a:blip r:embed="rId4"/>
          <a:stretch>
            <a:fillRect/>
          </a:stretch>
        </p:blipFill>
        <p:spPr>
          <a:xfrm>
            <a:off x="2608427" y="5035359"/>
            <a:ext cx="134549" cy="195707"/>
          </a:xfrm>
          <a:prstGeom prst="rect">
            <a:avLst/>
          </a:prstGeom>
        </p:spPr>
      </p:pic>
      <p:sp>
        <p:nvSpPr>
          <p:cNvPr id="35" name="TextBox 34"/>
          <p:cNvSpPr txBox="1"/>
          <p:nvPr/>
        </p:nvSpPr>
        <p:spPr>
          <a:xfrm>
            <a:off x="2783536" y="504558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Flavour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Flavour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775074"/>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77031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69411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Flavours</a:t>
            </a:r>
          </a:p>
        </p:txBody>
      </p:sp>
      <p:sp>
        <p:nvSpPr>
          <p:cNvPr id="18" name="BPS Value 1"/>
          <p:cNvSpPr txBox="1"/>
          <p:nvPr/>
        </p:nvSpPr>
        <p:spPr>
          <a:xfrm>
            <a:off x="6896100" y="175602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2028240"/>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202347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194727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Cinnamon</a:t>
            </a:r>
          </a:p>
        </p:txBody>
      </p:sp>
      <p:sp>
        <p:nvSpPr>
          <p:cNvPr id="22" name="BPS Value 2"/>
          <p:cNvSpPr txBox="1"/>
          <p:nvPr/>
        </p:nvSpPr>
        <p:spPr>
          <a:xfrm>
            <a:off x="6896100" y="200919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2475830"/>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a:off x="5090922" y="247106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3948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Mocha</a:t>
            </a:r>
          </a:p>
        </p:txBody>
      </p:sp>
      <p:sp>
        <p:nvSpPr>
          <p:cNvPr id="26" name="BPS Value 3"/>
          <p:cNvSpPr txBox="1"/>
          <p:nvPr/>
        </p:nvSpPr>
        <p:spPr>
          <a:xfrm>
            <a:off x="6896100" y="245678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7" name="FMI Legend Chip"/>
          <p:cNvSpPr/>
          <p:nvPr/>
        </p:nvSpPr>
        <p:spPr>
          <a:xfrm>
            <a:off x="4928997" y="3081697"/>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a:off x="5090922" y="307693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30007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Pumpkin Spice</a:t>
            </a:r>
          </a:p>
        </p:txBody>
      </p:sp>
      <p:sp>
        <p:nvSpPr>
          <p:cNvPr id="30" name="BPS Value 4"/>
          <p:cNvSpPr txBox="1"/>
          <p:nvPr/>
        </p:nvSpPr>
        <p:spPr>
          <a:xfrm>
            <a:off x="6896100" y="306264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1" name="FMI Legend Chip"/>
          <p:cNvSpPr/>
          <p:nvPr/>
        </p:nvSpPr>
        <p:spPr>
          <a:xfrm>
            <a:off x="4928997" y="3706464"/>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5090922" y="370170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362550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Lemon</a:t>
            </a:r>
          </a:p>
        </p:txBody>
      </p:sp>
      <p:sp>
        <p:nvSpPr>
          <p:cNvPr id="34" name="BPS Value 5"/>
          <p:cNvSpPr txBox="1"/>
          <p:nvPr/>
        </p:nvSpPr>
        <p:spPr>
          <a:xfrm>
            <a:off x="6896100" y="368741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FMI Legend Chip"/>
          <p:cNvSpPr/>
          <p:nvPr/>
        </p:nvSpPr>
        <p:spPr>
          <a:xfrm>
            <a:off x="4928997" y="4346578"/>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a:off x="5090922" y="434181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426561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Unflavoured</a:t>
            </a:r>
          </a:p>
        </p:txBody>
      </p:sp>
      <p:sp>
        <p:nvSpPr>
          <p:cNvPr id="38" name="BPS Value 6"/>
          <p:cNvSpPr txBox="1"/>
          <p:nvPr/>
        </p:nvSpPr>
        <p:spPr>
          <a:xfrm>
            <a:off x="6896100" y="43275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9" name="FMI Legend Chip"/>
          <p:cNvSpPr/>
          <p:nvPr/>
        </p:nvSpPr>
        <p:spPr>
          <a:xfrm>
            <a:off x="4928997" y="501215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Isosceles Triangle 39"/>
          <p:cNvSpPr/>
          <p:nvPr/>
        </p:nvSpPr>
        <p:spPr>
          <a:xfrm>
            <a:off x="5090922" y="500738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BPS Name 7"/>
          <p:cNvSpPr txBox="1"/>
          <p:nvPr/>
        </p:nvSpPr>
        <p:spPr>
          <a:xfrm>
            <a:off x="5233797" y="493118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Orange</a:t>
            </a:r>
          </a:p>
        </p:txBody>
      </p:sp>
      <p:sp>
        <p:nvSpPr>
          <p:cNvPr id="42" name="BPS Value 7"/>
          <p:cNvSpPr txBox="1"/>
          <p:nvPr/>
        </p:nvSpPr>
        <p:spPr>
          <a:xfrm>
            <a:off x="6896100" y="499310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3" name="FMI Legend Chip"/>
          <p:cNvSpPr/>
          <p:nvPr/>
        </p:nvSpPr>
        <p:spPr>
          <a:xfrm>
            <a:off x="4928997" y="5799194"/>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Isosceles Triangle 43"/>
          <p:cNvSpPr/>
          <p:nvPr/>
        </p:nvSpPr>
        <p:spPr>
          <a:xfrm rot="10800000">
            <a:off x="5090922" y="57944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BPS Name 8"/>
          <p:cNvSpPr txBox="1"/>
          <p:nvPr/>
        </p:nvSpPr>
        <p:spPr>
          <a:xfrm>
            <a:off x="5233797" y="57182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Vanilla</a:t>
            </a:r>
          </a:p>
        </p:txBody>
      </p:sp>
      <p:sp>
        <p:nvSpPr>
          <p:cNvPr id="46" name="BPS Value 8"/>
          <p:cNvSpPr txBox="1"/>
          <p:nvPr/>
        </p:nvSpPr>
        <p:spPr>
          <a:xfrm>
            <a:off x="6896100" y="5780144"/>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47" name="Rounded Rectangle 46"/>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Flavour</a:t>
            </a:r>
          </a:p>
        </p:txBody>
      </p:sp>
      <p:sp>
        <p:nvSpPr>
          <p:cNvPr id="49" name="Rectangle 48"/>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TextBox 5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2" name="Picture 51" descr="lock.png"/>
          <p:cNvPicPr>
            <a:picLocks noChangeAspect="1"/>
          </p:cNvPicPr>
          <p:nvPr/>
        </p:nvPicPr>
        <p:blipFill>
          <a:blip r:embed="rId5"/>
          <a:stretch>
            <a:fillRect/>
          </a:stretch>
        </p:blipFill>
        <p:spPr>
          <a:xfrm>
            <a:off x="2557843" y="3833622"/>
            <a:ext cx="275034" cy="400050"/>
          </a:xfrm>
          <a:prstGeom prst="rect">
            <a:avLst/>
          </a:prstGeom>
        </p:spPr>
      </p:pic>
      <p:sp>
        <p:nvSpPr>
          <p:cNvPr id="53" name="TextBox 52"/>
          <p:cNvSpPr txBox="1"/>
          <p:nvPr/>
        </p:nvSpPr>
        <p:spPr>
          <a:xfrm>
            <a:off x="7829550" y="1400175"/>
            <a:ext cx="3942246" cy="194310"/>
          </a:xfrm>
          <a:prstGeom prst="rect">
            <a:avLst/>
          </a:prstGeom>
          <a:noFill/>
        </p:spPr>
        <p:txBody>
          <a:bodyPr wrap="none" lIns="0" rIns="0" tIns="0" bIns="0">
            <a:spAutoFit/>
          </a:bodyPr>
          <a:lstStyle/>
          <a:p>
            <a:r>
              <a:rPr sz="1150" b="0">
                <a:solidFill>
                  <a:srgbClr val="2E2E2E"/>
                </a:solidFill>
                <a:latin typeface="Calibri"/>
              </a:rPr>
              <a:t>Among matcha by flavour, pumpkin spice segment is expected to</a:t>
            </a:r>
          </a:p>
        </p:txBody>
      </p:sp>
      <p:sp>
        <p:nvSpPr>
          <p:cNvPr id="54" name="TextBox 53"/>
          <p:cNvSpPr txBox="1"/>
          <p:nvPr/>
        </p:nvSpPr>
        <p:spPr>
          <a:xfrm>
            <a:off x="7829550" y="157543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55" name="Picture 54" descr="lock.png"/>
          <p:cNvPicPr>
            <a:picLocks noChangeAspect="1"/>
          </p:cNvPicPr>
          <p:nvPr/>
        </p:nvPicPr>
        <p:blipFill>
          <a:blip r:embed="rId5"/>
          <a:stretch>
            <a:fillRect/>
          </a:stretch>
        </p:blipFill>
        <p:spPr>
          <a:xfrm>
            <a:off x="9526474" y="1565211"/>
            <a:ext cx="134549" cy="195707"/>
          </a:xfrm>
          <a:prstGeom prst="rect">
            <a:avLst/>
          </a:prstGeom>
        </p:spPr>
      </p:pic>
      <p:sp>
        <p:nvSpPr>
          <p:cNvPr id="56" name="TextBox 55"/>
          <p:cNvSpPr txBox="1"/>
          <p:nvPr/>
        </p:nvSpPr>
        <p:spPr>
          <a:xfrm>
            <a:off x="9701583" y="1575435"/>
            <a:ext cx="2074974" cy="194310"/>
          </a:xfrm>
          <a:prstGeom prst="rect">
            <a:avLst/>
          </a:prstGeom>
          <a:noFill/>
        </p:spPr>
        <p:txBody>
          <a:bodyPr wrap="none" lIns="0" rIns="0" tIns="0" bIns="0">
            <a:spAutoFit/>
          </a:bodyPr>
          <a:lstStyle/>
          <a:p>
            <a:r>
              <a:rPr sz="1150" b="0">
                <a:solidFill>
                  <a:srgbClr val="2E2E2E"/>
                </a:solidFill>
                <a:latin typeface="Calibri"/>
              </a:rPr>
              <a:t>over the forecast period. In terms</a:t>
            </a:r>
          </a:p>
        </p:txBody>
      </p:sp>
      <p:sp>
        <p:nvSpPr>
          <p:cNvPr id="57" name="TextBox 56"/>
          <p:cNvSpPr txBox="1"/>
          <p:nvPr/>
        </p:nvSpPr>
        <p:spPr>
          <a:xfrm>
            <a:off x="7829550" y="1750695"/>
            <a:ext cx="3631604" cy="194310"/>
          </a:xfrm>
          <a:prstGeom prst="rect">
            <a:avLst/>
          </a:prstGeom>
          <a:noFill/>
        </p:spPr>
        <p:txBody>
          <a:bodyPr wrap="none" lIns="0" rIns="0" tIns="0" bIns="0">
            <a:spAutoFit/>
          </a:bodyPr>
          <a:lstStyle/>
          <a:p>
            <a:r>
              <a:rPr sz="1150" b="0">
                <a:solidFill>
                  <a:srgbClr val="2E2E2E"/>
                </a:solidFill>
                <a:latin typeface="Calibri"/>
              </a:rPr>
              <a:t>of value share by flavour, the vanilla segment is expected to</a:t>
            </a:r>
          </a:p>
        </p:txBody>
      </p:sp>
      <p:sp>
        <p:nvSpPr>
          <p:cNvPr id="58" name="TextBox 57"/>
          <p:cNvSpPr txBox="1"/>
          <p:nvPr/>
        </p:nvSpPr>
        <p:spPr>
          <a:xfrm>
            <a:off x="7829550" y="1925955"/>
            <a:ext cx="1755774" cy="194310"/>
          </a:xfrm>
          <a:prstGeom prst="rect">
            <a:avLst/>
          </a:prstGeom>
          <a:noFill/>
        </p:spPr>
        <p:txBody>
          <a:bodyPr wrap="none" lIns="0" rIns="0" tIns="0" bIns="0">
            <a:spAutoFit/>
          </a:bodyPr>
          <a:lstStyle/>
          <a:p>
            <a:r>
              <a:rPr sz="1150" b="0">
                <a:solidFill>
                  <a:srgbClr val="2E2E2E"/>
                </a:solidFill>
                <a:latin typeface="Calibri"/>
              </a:rPr>
              <a:t>dominate the market, losing</a:t>
            </a:r>
          </a:p>
        </p:txBody>
      </p:sp>
      <p:pic>
        <p:nvPicPr>
          <p:cNvPr id="59" name="Picture 58" descr="lock.png"/>
          <p:cNvPicPr>
            <a:picLocks noChangeAspect="1"/>
          </p:cNvPicPr>
          <p:nvPr/>
        </p:nvPicPr>
        <p:blipFill>
          <a:blip r:embed="rId5"/>
          <a:stretch>
            <a:fillRect/>
          </a:stretch>
        </p:blipFill>
        <p:spPr>
          <a:xfrm>
            <a:off x="9534478" y="1915731"/>
            <a:ext cx="134549" cy="195707"/>
          </a:xfrm>
          <a:prstGeom prst="rect">
            <a:avLst/>
          </a:prstGeom>
        </p:spPr>
      </p:pic>
      <p:sp>
        <p:nvSpPr>
          <p:cNvPr id="60" name="TextBox 59"/>
          <p:cNvSpPr txBox="1"/>
          <p:nvPr/>
        </p:nvSpPr>
        <p:spPr>
          <a:xfrm>
            <a:off x="9709588" y="192595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61" name="Picture 60" descr="lock.png"/>
          <p:cNvPicPr>
            <a:picLocks noChangeAspect="1"/>
          </p:cNvPicPr>
          <p:nvPr/>
        </p:nvPicPr>
        <p:blipFill>
          <a:blip r:embed="rId5"/>
          <a:stretch>
            <a:fillRect/>
          </a:stretch>
        </p:blipFill>
        <p:spPr>
          <a:xfrm>
            <a:off x="11104731" y="1915731"/>
            <a:ext cx="134549" cy="195707"/>
          </a:xfrm>
          <a:prstGeom prst="rect">
            <a:avLst/>
          </a:prstGeom>
        </p:spPr>
      </p:pic>
      <p:sp>
        <p:nvSpPr>
          <p:cNvPr id="62" name="TextBox 61"/>
          <p:cNvSpPr txBox="1"/>
          <p:nvPr/>
        </p:nvSpPr>
        <p:spPr>
          <a:xfrm>
            <a:off x="11279840" y="1925955"/>
            <a:ext cx="403671"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63" name="TextBox 62"/>
          <p:cNvSpPr txBox="1"/>
          <p:nvPr/>
        </p:nvSpPr>
        <p:spPr>
          <a:xfrm>
            <a:off x="7829550" y="2101215"/>
            <a:ext cx="585663" cy="194310"/>
          </a:xfrm>
          <a:prstGeom prst="rect">
            <a:avLst/>
          </a:prstGeom>
          <a:noFill/>
        </p:spPr>
        <p:txBody>
          <a:bodyPr wrap="none" lIns="0" rIns="0" tIns="0" bIns="0">
            <a:spAutoFit/>
          </a:bodyPr>
          <a:lstStyle/>
          <a:p>
            <a:r>
              <a:rPr sz="1150" b="0">
                <a:solidFill>
                  <a:srgbClr val="2E2E2E"/>
                </a:solidFill>
                <a:latin typeface="Calibri"/>
              </a:rPr>
              <a:t>by 2036.</a:t>
            </a:r>
          </a:p>
        </p:txBody>
      </p:sp>
      <p:sp>
        <p:nvSpPr>
          <p:cNvPr id="64" name="TextBox 63"/>
          <p:cNvSpPr txBox="1"/>
          <p:nvPr/>
        </p:nvSpPr>
        <p:spPr>
          <a:xfrm>
            <a:off x="7829550" y="2329053"/>
            <a:ext cx="2389323" cy="194310"/>
          </a:xfrm>
          <a:prstGeom prst="rect">
            <a:avLst/>
          </a:prstGeom>
          <a:noFill/>
        </p:spPr>
        <p:txBody>
          <a:bodyPr wrap="none" lIns="0" rIns="0" tIns="0" bIns="0">
            <a:spAutoFit/>
          </a:bodyPr>
          <a:lstStyle/>
          <a:p>
            <a:r>
              <a:rPr sz="1150" b="0">
                <a:solidFill>
                  <a:srgbClr val="2E2E2E"/>
                </a:solidFill>
                <a:latin typeface="Calibri"/>
              </a:rPr>
              <a:t>The lemon segment is expected to lose</a:t>
            </a:r>
          </a:p>
        </p:txBody>
      </p:sp>
      <p:pic>
        <p:nvPicPr>
          <p:cNvPr id="65" name="Picture 64" descr="lock.png"/>
          <p:cNvPicPr>
            <a:picLocks noChangeAspect="1"/>
          </p:cNvPicPr>
          <p:nvPr/>
        </p:nvPicPr>
        <p:blipFill>
          <a:blip r:embed="rId5"/>
          <a:stretch>
            <a:fillRect/>
          </a:stretch>
        </p:blipFill>
        <p:spPr>
          <a:xfrm>
            <a:off x="10168027" y="2318829"/>
            <a:ext cx="134549" cy="195707"/>
          </a:xfrm>
          <a:prstGeom prst="rect">
            <a:avLst/>
          </a:prstGeom>
        </p:spPr>
      </p:pic>
      <p:sp>
        <p:nvSpPr>
          <p:cNvPr id="66" name="TextBox 65"/>
          <p:cNvSpPr txBox="1"/>
          <p:nvPr/>
        </p:nvSpPr>
        <p:spPr>
          <a:xfrm>
            <a:off x="10343137"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67" name="TextBox 66"/>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68" name="Picture 67" descr="lock.png"/>
          <p:cNvPicPr>
            <a:picLocks noChangeAspect="1"/>
          </p:cNvPicPr>
          <p:nvPr/>
        </p:nvPicPr>
        <p:blipFill>
          <a:blip r:embed="rId5"/>
          <a:stretch>
            <a:fillRect/>
          </a:stretch>
        </p:blipFill>
        <p:spPr>
          <a:xfrm>
            <a:off x="9114014" y="2494089"/>
            <a:ext cx="134549" cy="195707"/>
          </a:xfrm>
          <a:prstGeom prst="rect">
            <a:avLst/>
          </a:prstGeom>
        </p:spPr>
      </p:pic>
      <p:sp>
        <p:nvSpPr>
          <p:cNvPr id="69" name="TextBox 68"/>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70"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6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Packaging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Packaging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Type Segment Outlook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9 sub-segments of Packaging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Type segment categorizes the market by packaging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Pouches</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Bulk Industrial Packaging</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Cups</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Bottles</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Sachets and Stick Packs</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6" name="Rectangle 5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58" name="Rounded Rectangle 5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0" name="Rectangle 5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p:txBody>
      </p:sp>
      <p:sp>
        <p:nvSpPr>
          <p:cNvPr id="62" name="Rounded Rectangle 6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4" name="Rectangle 6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Packaging Type split shows how demand is distributed across packaging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6" name="Rectangle 6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8" name="TextBox 6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9" name="TextBox 6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0" name="Picture 69" descr="231_7_605E5C.png"/>
          <p:cNvPicPr>
            <a:picLocks noChangeAspect="1"/>
          </p:cNvPicPr>
          <p:nvPr/>
        </p:nvPicPr>
        <p:blipFill>
          <a:blip r:embed="rId4"/>
          <a:stretch>
            <a:fillRect/>
          </a:stretch>
        </p:blipFill>
        <p:spPr>
          <a:xfrm>
            <a:off x="2223441" y="2286582"/>
            <a:ext cx="1195728" cy="361950"/>
          </a:xfrm>
          <a:prstGeom prst="rect">
            <a:avLst/>
          </a:prstGeom>
        </p:spPr>
      </p:pic>
      <p:pic>
        <p:nvPicPr>
          <p:cNvPr id="71" name="Picture 70" descr="414_2_605E5C.png"/>
          <p:cNvPicPr>
            <a:picLocks noChangeAspect="1"/>
          </p:cNvPicPr>
          <p:nvPr/>
        </p:nvPicPr>
        <p:blipFill>
          <a:blip r:embed="rId5"/>
          <a:stretch>
            <a:fillRect/>
          </a:stretch>
        </p:blipFill>
        <p:spPr>
          <a:xfrm>
            <a:off x="2223441" y="2779432"/>
            <a:ext cx="1195728" cy="361950"/>
          </a:xfrm>
          <a:prstGeom prst="rect">
            <a:avLst/>
          </a:prstGeom>
        </p:spPr>
      </p:pic>
      <p:pic>
        <p:nvPicPr>
          <p:cNvPr id="72" name="Picture 71" descr="6_0__605E5C.png"/>
          <p:cNvPicPr>
            <a:picLocks noChangeAspect="1"/>
          </p:cNvPicPr>
          <p:nvPr/>
        </p:nvPicPr>
        <p:blipFill>
          <a:blip r:embed="rId6"/>
          <a:stretch>
            <a:fillRect/>
          </a:stretch>
        </p:blipFill>
        <p:spPr>
          <a:xfrm>
            <a:off x="2330087" y="3272281"/>
            <a:ext cx="982436" cy="361950"/>
          </a:xfrm>
          <a:prstGeom prst="rect">
            <a:avLst/>
          </a:prstGeom>
        </p:spPr>
      </p:pic>
      <p:pic>
        <p:nvPicPr>
          <p:cNvPr id="73" name="Picture 72" descr="174_8_605E5C.png"/>
          <p:cNvPicPr>
            <a:picLocks noChangeAspect="1"/>
          </p:cNvPicPr>
          <p:nvPr/>
        </p:nvPicPr>
        <p:blipFill>
          <a:blip r:embed="rId7"/>
          <a:stretch>
            <a:fillRect/>
          </a:stretch>
        </p:blipFill>
        <p:spPr>
          <a:xfrm>
            <a:off x="4246551" y="2286582"/>
            <a:ext cx="1195728" cy="361950"/>
          </a:xfrm>
          <a:prstGeom prst="rect">
            <a:avLst/>
          </a:prstGeom>
        </p:spPr>
      </p:pic>
      <p:pic>
        <p:nvPicPr>
          <p:cNvPr id="74" name="Picture 73" descr="357_0_605E5C.png"/>
          <p:cNvPicPr>
            <a:picLocks noChangeAspect="1"/>
          </p:cNvPicPr>
          <p:nvPr/>
        </p:nvPicPr>
        <p:blipFill>
          <a:blip r:embed="rId8"/>
          <a:stretch>
            <a:fillRect/>
          </a:stretch>
        </p:blipFill>
        <p:spPr>
          <a:xfrm>
            <a:off x="4246551" y="2779432"/>
            <a:ext cx="1195728" cy="361950"/>
          </a:xfrm>
          <a:prstGeom prst="rect">
            <a:avLst/>
          </a:prstGeom>
        </p:spPr>
      </p:pic>
      <p:pic>
        <p:nvPicPr>
          <p:cNvPr id="75" name="Picture 74" descr="7_4__605E5C.png"/>
          <p:cNvPicPr>
            <a:picLocks noChangeAspect="1"/>
          </p:cNvPicPr>
          <p:nvPr/>
        </p:nvPicPr>
        <p:blipFill>
          <a:blip r:embed="rId9"/>
          <a:stretch>
            <a:fillRect/>
          </a:stretch>
        </p:blipFill>
        <p:spPr>
          <a:xfrm>
            <a:off x="4353197" y="3272281"/>
            <a:ext cx="982436" cy="361950"/>
          </a:xfrm>
          <a:prstGeom prst="rect">
            <a:avLst/>
          </a:prstGeom>
        </p:spPr>
      </p:pic>
      <p:pic>
        <p:nvPicPr>
          <p:cNvPr id="76" name="Picture 75" descr="174_1_605E5C.png"/>
          <p:cNvPicPr>
            <a:picLocks noChangeAspect="1"/>
          </p:cNvPicPr>
          <p:nvPr/>
        </p:nvPicPr>
        <p:blipFill>
          <a:blip r:embed="rId10"/>
          <a:stretch>
            <a:fillRect/>
          </a:stretch>
        </p:blipFill>
        <p:spPr>
          <a:xfrm>
            <a:off x="6269661" y="2286582"/>
            <a:ext cx="1195728" cy="361950"/>
          </a:xfrm>
          <a:prstGeom prst="rect">
            <a:avLst/>
          </a:prstGeom>
        </p:spPr>
      </p:pic>
      <p:pic>
        <p:nvPicPr>
          <p:cNvPr id="77" name="Picture 76" descr="321_4_605E5C.png"/>
          <p:cNvPicPr>
            <a:picLocks noChangeAspect="1"/>
          </p:cNvPicPr>
          <p:nvPr/>
        </p:nvPicPr>
        <p:blipFill>
          <a:blip r:embed="rId11"/>
          <a:stretch>
            <a:fillRect/>
          </a:stretch>
        </p:blipFill>
        <p:spPr>
          <a:xfrm>
            <a:off x="6269661" y="2779432"/>
            <a:ext cx="1195728" cy="361950"/>
          </a:xfrm>
          <a:prstGeom prst="rect">
            <a:avLst/>
          </a:prstGeom>
        </p:spPr>
      </p:pic>
      <p:pic>
        <p:nvPicPr>
          <p:cNvPr id="78" name="Picture 77" descr="6_3__605E5C.png"/>
          <p:cNvPicPr>
            <a:picLocks noChangeAspect="1"/>
          </p:cNvPicPr>
          <p:nvPr/>
        </p:nvPicPr>
        <p:blipFill>
          <a:blip r:embed="rId12"/>
          <a:stretch>
            <a:fillRect/>
          </a:stretch>
        </p:blipFill>
        <p:spPr>
          <a:xfrm>
            <a:off x="6376307" y="3272281"/>
            <a:ext cx="982436" cy="361950"/>
          </a:xfrm>
          <a:prstGeom prst="rect">
            <a:avLst/>
          </a:prstGeom>
        </p:spPr>
      </p:pic>
      <p:pic>
        <p:nvPicPr>
          <p:cNvPr id="79" name="Picture 78" descr="148_7_605E5C.png"/>
          <p:cNvPicPr>
            <a:picLocks noChangeAspect="1"/>
          </p:cNvPicPr>
          <p:nvPr/>
        </p:nvPicPr>
        <p:blipFill>
          <a:blip r:embed="rId13"/>
          <a:stretch>
            <a:fillRect/>
          </a:stretch>
        </p:blipFill>
        <p:spPr>
          <a:xfrm>
            <a:off x="8292771" y="2286582"/>
            <a:ext cx="1195728" cy="361950"/>
          </a:xfrm>
          <a:prstGeom prst="rect">
            <a:avLst/>
          </a:prstGeom>
        </p:spPr>
      </p:pic>
      <p:pic>
        <p:nvPicPr>
          <p:cNvPr id="80" name="Picture 79" descr="259_5_605E5C.png"/>
          <p:cNvPicPr>
            <a:picLocks noChangeAspect="1"/>
          </p:cNvPicPr>
          <p:nvPr/>
        </p:nvPicPr>
        <p:blipFill>
          <a:blip r:embed="rId14"/>
          <a:stretch>
            <a:fillRect/>
          </a:stretch>
        </p:blipFill>
        <p:spPr>
          <a:xfrm>
            <a:off x="8292771" y="2779432"/>
            <a:ext cx="1195728" cy="361950"/>
          </a:xfrm>
          <a:prstGeom prst="rect">
            <a:avLst/>
          </a:prstGeom>
        </p:spPr>
      </p:pic>
      <p:pic>
        <p:nvPicPr>
          <p:cNvPr id="81" name="Picture 80" descr="5_7__605E5C.png"/>
          <p:cNvPicPr>
            <a:picLocks noChangeAspect="1"/>
          </p:cNvPicPr>
          <p:nvPr/>
        </p:nvPicPr>
        <p:blipFill>
          <a:blip r:embed="rId15"/>
          <a:stretch>
            <a:fillRect/>
          </a:stretch>
        </p:blipFill>
        <p:spPr>
          <a:xfrm>
            <a:off x="8399417" y="3272281"/>
            <a:ext cx="982436" cy="361950"/>
          </a:xfrm>
          <a:prstGeom prst="rect">
            <a:avLst/>
          </a:prstGeom>
        </p:spPr>
      </p:pic>
      <p:pic>
        <p:nvPicPr>
          <p:cNvPr id="82" name="Picture 81" descr="123_3_605E5C.png"/>
          <p:cNvPicPr>
            <a:picLocks noChangeAspect="1"/>
          </p:cNvPicPr>
          <p:nvPr/>
        </p:nvPicPr>
        <p:blipFill>
          <a:blip r:embed="rId16"/>
          <a:stretch>
            <a:fillRect/>
          </a:stretch>
        </p:blipFill>
        <p:spPr>
          <a:xfrm>
            <a:off x="10315881" y="2286582"/>
            <a:ext cx="1195728" cy="361950"/>
          </a:xfrm>
          <a:prstGeom prst="rect">
            <a:avLst/>
          </a:prstGeom>
        </p:spPr>
      </p:pic>
      <p:pic>
        <p:nvPicPr>
          <p:cNvPr id="83" name="Picture 82" descr="256_6_605E5C.png"/>
          <p:cNvPicPr>
            <a:picLocks noChangeAspect="1"/>
          </p:cNvPicPr>
          <p:nvPr/>
        </p:nvPicPr>
        <p:blipFill>
          <a:blip r:embed="rId17"/>
          <a:stretch>
            <a:fillRect/>
          </a:stretch>
        </p:blipFill>
        <p:spPr>
          <a:xfrm>
            <a:off x="10315881" y="2779432"/>
            <a:ext cx="1195728" cy="361950"/>
          </a:xfrm>
          <a:prstGeom prst="rect">
            <a:avLst/>
          </a:prstGeom>
        </p:spPr>
      </p:pic>
      <p:pic>
        <p:nvPicPr>
          <p:cNvPr id="84" name="Picture 83" descr="7_6__605E5C.png"/>
          <p:cNvPicPr>
            <a:picLocks noChangeAspect="1"/>
          </p:cNvPicPr>
          <p:nvPr/>
        </p:nvPicPr>
        <p:blipFill>
          <a:blip r:embed="rId18"/>
          <a:stretch>
            <a:fillRect/>
          </a:stretch>
        </p:blipFill>
        <p:spPr>
          <a:xfrm>
            <a:off x="10422527" y="3272281"/>
            <a:ext cx="982436" cy="361950"/>
          </a:xfrm>
          <a:prstGeom prst="rect">
            <a:avLst/>
          </a:prstGeom>
        </p:spPr>
      </p:pic>
      <p:pic>
        <p:nvPicPr>
          <p:cNvPr id="85" name="Picture 84" descr="lock.png"/>
          <p:cNvPicPr>
            <a:picLocks noChangeAspect="1"/>
          </p:cNvPicPr>
          <p:nvPr/>
        </p:nvPicPr>
        <p:blipFill>
          <a:blip r:embed="rId19"/>
          <a:stretch>
            <a:fillRect/>
          </a:stretch>
        </p:blipFill>
        <p:spPr>
          <a:xfrm>
            <a:off x="2727960" y="2827057"/>
            <a:ext cx="183356" cy="266700"/>
          </a:xfrm>
          <a:prstGeom prst="rect">
            <a:avLst/>
          </a:prstGeom>
        </p:spPr>
      </p:pic>
      <p:pic>
        <p:nvPicPr>
          <p:cNvPr id="86" name="Picture 85" descr="lock.png"/>
          <p:cNvPicPr>
            <a:picLocks noChangeAspect="1"/>
          </p:cNvPicPr>
          <p:nvPr/>
        </p:nvPicPr>
        <p:blipFill>
          <a:blip r:embed="rId19"/>
          <a:stretch>
            <a:fillRect/>
          </a:stretch>
        </p:blipFill>
        <p:spPr>
          <a:xfrm>
            <a:off x="4751070" y="2827057"/>
            <a:ext cx="183356" cy="266700"/>
          </a:xfrm>
          <a:prstGeom prst="rect">
            <a:avLst/>
          </a:prstGeom>
        </p:spPr>
      </p:pic>
      <p:pic>
        <p:nvPicPr>
          <p:cNvPr id="87" name="Picture 86" descr="lock.png"/>
          <p:cNvPicPr>
            <a:picLocks noChangeAspect="1"/>
          </p:cNvPicPr>
          <p:nvPr/>
        </p:nvPicPr>
        <p:blipFill>
          <a:blip r:embed="rId19"/>
          <a:stretch>
            <a:fillRect/>
          </a:stretch>
        </p:blipFill>
        <p:spPr>
          <a:xfrm>
            <a:off x="6774180" y="2827057"/>
            <a:ext cx="183356" cy="266700"/>
          </a:xfrm>
          <a:prstGeom prst="rect">
            <a:avLst/>
          </a:prstGeom>
        </p:spPr>
      </p:pic>
      <p:pic>
        <p:nvPicPr>
          <p:cNvPr id="88" name="Picture 87" descr="lock.png"/>
          <p:cNvPicPr>
            <a:picLocks noChangeAspect="1"/>
          </p:cNvPicPr>
          <p:nvPr/>
        </p:nvPicPr>
        <p:blipFill>
          <a:blip r:embed="rId19"/>
          <a:stretch>
            <a:fillRect/>
          </a:stretch>
        </p:blipFill>
        <p:spPr>
          <a:xfrm>
            <a:off x="8797290" y="2827057"/>
            <a:ext cx="183356" cy="266700"/>
          </a:xfrm>
          <a:prstGeom prst="rect">
            <a:avLst/>
          </a:prstGeom>
        </p:spPr>
      </p:pic>
      <p:pic>
        <p:nvPicPr>
          <p:cNvPr id="89" name="Picture 88" descr="lock.png"/>
          <p:cNvPicPr>
            <a:picLocks noChangeAspect="1"/>
          </p:cNvPicPr>
          <p:nvPr/>
        </p:nvPicPr>
        <p:blipFill>
          <a:blip r:embed="rId19"/>
          <a:stretch>
            <a:fillRect/>
          </a:stretch>
        </p:blipFill>
        <p:spPr>
          <a:xfrm>
            <a:off x="10820400" y="2827057"/>
            <a:ext cx="183356" cy="266700"/>
          </a:xfrm>
          <a:prstGeom prst="rect">
            <a:avLst/>
          </a:prstGeom>
        </p:spPr>
      </p:pic>
      <p:sp>
        <p:nvSpPr>
          <p:cNvPr id="90" name="TextBox 89"/>
          <p:cNvSpPr txBox="1"/>
          <p:nvPr/>
        </p:nvSpPr>
        <p:spPr>
          <a:xfrm>
            <a:off x="485775" y="4229437"/>
            <a:ext cx="2726680" cy="186689"/>
          </a:xfrm>
          <a:prstGeom prst="rect">
            <a:avLst/>
          </a:prstGeom>
          <a:noFill/>
        </p:spPr>
        <p:txBody>
          <a:bodyPr wrap="none" lIns="0" rIns="0" tIns="0" bIns="0">
            <a:spAutoFit/>
          </a:bodyPr>
          <a:lstStyle/>
          <a:p>
            <a:r>
              <a:rPr sz="1100" b="0">
                <a:solidFill>
                  <a:srgbClr val="2E2E2E"/>
                </a:solidFill>
                <a:latin typeface="Calibri"/>
              </a:rPr>
              <a:t>Among matcha by packaging type, sachets and</a:t>
            </a:r>
          </a:p>
        </p:txBody>
      </p:sp>
      <p:sp>
        <p:nvSpPr>
          <p:cNvPr id="91" name="TextBox 90"/>
          <p:cNvSpPr txBox="1"/>
          <p:nvPr/>
        </p:nvSpPr>
        <p:spPr>
          <a:xfrm>
            <a:off x="485775" y="4397077"/>
            <a:ext cx="2713856" cy="186689"/>
          </a:xfrm>
          <a:prstGeom prst="rect">
            <a:avLst/>
          </a:prstGeom>
          <a:noFill/>
        </p:spPr>
        <p:txBody>
          <a:bodyPr wrap="none" lIns="0" rIns="0" tIns="0" bIns="0">
            <a:spAutoFit/>
          </a:bodyPr>
          <a:lstStyle/>
          <a:p>
            <a:r>
              <a:rPr sz="1100" b="0">
                <a:solidFill>
                  <a:srgbClr val="2E2E2E"/>
                </a:solidFill>
                <a:latin typeface="Calibri"/>
              </a:rPr>
              <a:t>stick packs segment is expected to witness the</a:t>
            </a:r>
          </a:p>
        </p:txBody>
      </p:sp>
      <p:sp>
        <p:nvSpPr>
          <p:cNvPr id="92" name="TextBox 91"/>
          <p:cNvSpPr txBox="1"/>
          <p:nvPr/>
        </p:nvSpPr>
        <p:spPr>
          <a:xfrm>
            <a:off x="485775" y="4564717"/>
            <a:ext cx="990781" cy="186689"/>
          </a:xfrm>
          <a:prstGeom prst="rect">
            <a:avLst/>
          </a:prstGeom>
          <a:noFill/>
        </p:spPr>
        <p:txBody>
          <a:bodyPr wrap="none" lIns="0" rIns="0" tIns="0" bIns="0">
            <a:spAutoFit/>
          </a:bodyPr>
          <a:lstStyle/>
          <a:p>
            <a:r>
              <a:rPr sz="1100" b="0">
                <a:solidFill>
                  <a:srgbClr val="2E2E2E"/>
                </a:solidFill>
                <a:latin typeface="Calibri"/>
              </a:rPr>
              <a:t>highest CAGR of</a:t>
            </a:r>
          </a:p>
        </p:txBody>
      </p:sp>
      <p:pic>
        <p:nvPicPr>
          <p:cNvPr id="93" name="Picture 92" descr="lock.png"/>
          <p:cNvPicPr>
            <a:picLocks noChangeAspect="1"/>
          </p:cNvPicPr>
          <p:nvPr/>
        </p:nvPicPr>
        <p:blipFill>
          <a:blip r:embed="rId19"/>
          <a:stretch>
            <a:fillRect/>
          </a:stretch>
        </p:blipFill>
        <p:spPr>
          <a:xfrm>
            <a:off x="1424607" y="4554938"/>
            <a:ext cx="128699" cy="187198"/>
          </a:xfrm>
          <a:prstGeom prst="rect">
            <a:avLst/>
          </a:prstGeom>
        </p:spPr>
      </p:pic>
      <p:sp>
        <p:nvSpPr>
          <p:cNvPr id="94" name="TextBox 93"/>
          <p:cNvSpPr txBox="1"/>
          <p:nvPr/>
        </p:nvSpPr>
        <p:spPr>
          <a:xfrm>
            <a:off x="1592103" y="4564717"/>
            <a:ext cx="1624905" cy="186689"/>
          </a:xfrm>
          <a:prstGeom prst="rect">
            <a:avLst/>
          </a:prstGeom>
          <a:noFill/>
        </p:spPr>
        <p:txBody>
          <a:bodyPr wrap="none" lIns="0" rIns="0" tIns="0" bIns="0">
            <a:spAutoFit/>
          </a:bodyPr>
          <a:lstStyle/>
          <a:p>
            <a:r>
              <a:rPr sz="1100" b="0">
                <a:solidFill>
                  <a:srgbClr val="2E2E2E"/>
                </a:solidFill>
                <a:latin typeface="Calibri"/>
              </a:rPr>
              <a:t>over the forecast period. In</a:t>
            </a:r>
          </a:p>
        </p:txBody>
      </p:sp>
      <p:sp>
        <p:nvSpPr>
          <p:cNvPr id="95" name="TextBox 94"/>
          <p:cNvSpPr txBox="1"/>
          <p:nvPr/>
        </p:nvSpPr>
        <p:spPr>
          <a:xfrm>
            <a:off x="485775" y="4732357"/>
            <a:ext cx="2545506" cy="186689"/>
          </a:xfrm>
          <a:prstGeom prst="rect">
            <a:avLst/>
          </a:prstGeom>
          <a:noFill/>
        </p:spPr>
        <p:txBody>
          <a:bodyPr wrap="none" lIns="0" rIns="0" tIns="0" bIns="0">
            <a:spAutoFit/>
          </a:bodyPr>
          <a:lstStyle/>
          <a:p>
            <a:r>
              <a:rPr sz="1100" b="0">
                <a:solidFill>
                  <a:srgbClr val="2E2E2E"/>
                </a:solidFill>
                <a:latin typeface="Calibri"/>
              </a:rPr>
              <a:t>terms of value share by packaging type, the</a:t>
            </a:r>
          </a:p>
        </p:txBody>
      </p:sp>
      <p:sp>
        <p:nvSpPr>
          <p:cNvPr id="96" name="TextBox 95"/>
          <p:cNvSpPr txBox="1"/>
          <p:nvPr/>
        </p:nvSpPr>
        <p:spPr>
          <a:xfrm>
            <a:off x="485775" y="4899997"/>
            <a:ext cx="2701850" cy="186689"/>
          </a:xfrm>
          <a:prstGeom prst="rect">
            <a:avLst/>
          </a:prstGeom>
          <a:noFill/>
        </p:spPr>
        <p:txBody>
          <a:bodyPr wrap="none" lIns="0" rIns="0" tIns="0" bIns="0">
            <a:spAutoFit/>
          </a:bodyPr>
          <a:lstStyle/>
          <a:p>
            <a:r>
              <a:rPr sz="1100" b="0">
                <a:solidFill>
                  <a:srgbClr val="2E2E2E"/>
                </a:solidFill>
                <a:latin typeface="Calibri"/>
              </a:rPr>
              <a:t>pouches segment is expected to dominate the</a:t>
            </a:r>
          </a:p>
        </p:txBody>
      </p:sp>
      <p:sp>
        <p:nvSpPr>
          <p:cNvPr id="97" name="TextBox 96"/>
          <p:cNvSpPr txBox="1"/>
          <p:nvPr/>
        </p:nvSpPr>
        <p:spPr>
          <a:xfrm>
            <a:off x="485775" y="5067637"/>
            <a:ext cx="881930" cy="186689"/>
          </a:xfrm>
          <a:prstGeom prst="rect">
            <a:avLst/>
          </a:prstGeom>
          <a:noFill/>
        </p:spPr>
        <p:txBody>
          <a:bodyPr wrap="none" lIns="0" rIns="0" tIns="0" bIns="0">
            <a:spAutoFit/>
          </a:bodyPr>
          <a:lstStyle/>
          <a:p>
            <a:r>
              <a:rPr sz="1100" b="0">
                <a:solidFill>
                  <a:srgbClr val="2E2E2E"/>
                </a:solidFill>
                <a:latin typeface="Calibri"/>
              </a:rPr>
              <a:t>market, losing</a:t>
            </a:r>
          </a:p>
        </p:txBody>
      </p:sp>
      <p:pic>
        <p:nvPicPr>
          <p:cNvPr id="98" name="Picture 97" descr="lock.png"/>
          <p:cNvPicPr>
            <a:picLocks noChangeAspect="1"/>
          </p:cNvPicPr>
          <p:nvPr/>
        </p:nvPicPr>
        <p:blipFill>
          <a:blip r:embed="rId19"/>
          <a:stretch>
            <a:fillRect/>
          </a:stretch>
        </p:blipFill>
        <p:spPr>
          <a:xfrm>
            <a:off x="1315757" y="5057858"/>
            <a:ext cx="128699" cy="187198"/>
          </a:xfrm>
          <a:prstGeom prst="rect">
            <a:avLst/>
          </a:prstGeom>
        </p:spPr>
      </p:pic>
      <p:sp>
        <p:nvSpPr>
          <p:cNvPr id="99" name="TextBox 98"/>
          <p:cNvSpPr txBox="1"/>
          <p:nvPr/>
        </p:nvSpPr>
        <p:spPr>
          <a:xfrm>
            <a:off x="1483253" y="506763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00" name="Picture 99" descr="lock.png"/>
          <p:cNvPicPr>
            <a:picLocks noChangeAspect="1"/>
          </p:cNvPicPr>
          <p:nvPr/>
        </p:nvPicPr>
        <p:blipFill>
          <a:blip r:embed="rId19"/>
          <a:stretch>
            <a:fillRect/>
          </a:stretch>
        </p:blipFill>
        <p:spPr>
          <a:xfrm>
            <a:off x="2817737" y="5057858"/>
            <a:ext cx="128699" cy="187198"/>
          </a:xfrm>
          <a:prstGeom prst="rect">
            <a:avLst/>
          </a:prstGeom>
        </p:spPr>
      </p:pic>
      <p:sp>
        <p:nvSpPr>
          <p:cNvPr id="101" name="TextBox 100"/>
          <p:cNvSpPr txBox="1"/>
          <p:nvPr/>
        </p:nvSpPr>
        <p:spPr>
          <a:xfrm>
            <a:off x="485775" y="523527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02" name="TextBox 101"/>
          <p:cNvSpPr txBox="1"/>
          <p:nvPr/>
        </p:nvSpPr>
        <p:spPr>
          <a:xfrm>
            <a:off x="485775" y="5453209"/>
            <a:ext cx="2393801" cy="186689"/>
          </a:xfrm>
          <a:prstGeom prst="rect">
            <a:avLst/>
          </a:prstGeom>
          <a:noFill/>
        </p:spPr>
        <p:txBody>
          <a:bodyPr wrap="none" lIns="0" rIns="0" tIns="0" bIns="0">
            <a:spAutoFit/>
          </a:bodyPr>
          <a:lstStyle/>
          <a:p>
            <a:r>
              <a:rPr sz="1100" b="0">
                <a:solidFill>
                  <a:srgbClr val="2E2E2E"/>
                </a:solidFill>
                <a:latin typeface="Calibri"/>
              </a:rPr>
              <a:t>Pouches segment is projected to register</a:t>
            </a:r>
          </a:p>
        </p:txBody>
      </p:sp>
      <p:pic>
        <p:nvPicPr>
          <p:cNvPr id="103" name="Picture 102" descr="lock.png"/>
          <p:cNvPicPr>
            <a:picLocks noChangeAspect="1"/>
          </p:cNvPicPr>
          <p:nvPr/>
        </p:nvPicPr>
        <p:blipFill>
          <a:blip r:embed="rId19"/>
          <a:stretch>
            <a:fillRect/>
          </a:stretch>
        </p:blipFill>
        <p:spPr>
          <a:xfrm>
            <a:off x="2827627" y="5443430"/>
            <a:ext cx="128699" cy="187198"/>
          </a:xfrm>
          <a:prstGeom prst="rect">
            <a:avLst/>
          </a:prstGeom>
        </p:spPr>
      </p:pic>
      <p:sp>
        <p:nvSpPr>
          <p:cNvPr id="104" name="TextBox 103"/>
          <p:cNvSpPr txBox="1"/>
          <p:nvPr/>
        </p:nvSpPr>
        <p:spPr>
          <a:xfrm>
            <a:off x="2995123" y="545320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05" name="TextBox 104"/>
          <p:cNvSpPr txBox="1"/>
          <p:nvPr/>
        </p:nvSpPr>
        <p:spPr>
          <a:xfrm>
            <a:off x="485775" y="5620849"/>
            <a:ext cx="2506761" cy="186689"/>
          </a:xfrm>
          <a:prstGeom prst="rect">
            <a:avLst/>
          </a:prstGeom>
          <a:noFill/>
        </p:spPr>
        <p:txBody>
          <a:bodyPr wrap="none" lIns="0" rIns="0" tIns="0" bIns="0">
            <a:spAutoFit/>
          </a:bodyPr>
          <a:lstStyle/>
          <a:p>
            <a:r>
              <a:rPr sz="1100" b="0">
                <a:solidFill>
                  <a:srgbClr val="2E2E2E"/>
                </a:solidFill>
                <a:latin typeface="Calibri"/>
              </a:rPr>
              <a:t>higher value than bulk industrial packaging</a:t>
            </a:r>
          </a:p>
        </p:txBody>
      </p:sp>
      <p:sp>
        <p:nvSpPr>
          <p:cNvPr id="106" name="TextBox 105"/>
          <p:cNvSpPr txBox="1"/>
          <p:nvPr/>
        </p:nvSpPr>
        <p:spPr>
          <a:xfrm>
            <a:off x="485775" y="5788489"/>
            <a:ext cx="1055464" cy="186689"/>
          </a:xfrm>
          <a:prstGeom prst="rect">
            <a:avLst/>
          </a:prstGeom>
          <a:noFill/>
        </p:spPr>
        <p:txBody>
          <a:bodyPr wrap="none" lIns="0" rIns="0" tIns="0" bIns="0">
            <a:spAutoFit/>
          </a:bodyPr>
          <a:lstStyle/>
          <a:p>
            <a:r>
              <a:rPr sz="1100" b="0">
                <a:solidFill>
                  <a:srgbClr val="2E2E2E"/>
                </a:solidFill>
                <a:latin typeface="Calibri"/>
              </a:rPr>
              <a:t>segment in 2036.</a:t>
            </a:r>
          </a:p>
        </p:txBody>
      </p:sp>
      <p:sp>
        <p:nvSpPr>
          <p:cNvPr id="107" name="TextBox 106"/>
          <p:cNvSpPr txBox="1"/>
          <p:nvPr/>
        </p:nvSpPr>
        <p:spPr>
          <a:xfrm>
            <a:off x="3838575" y="4229437"/>
            <a:ext cx="705668" cy="186689"/>
          </a:xfrm>
          <a:prstGeom prst="rect">
            <a:avLst/>
          </a:prstGeom>
          <a:noFill/>
        </p:spPr>
        <p:txBody>
          <a:bodyPr wrap="none" lIns="0" rIns="0" tIns="0" bIns="0">
            <a:spAutoFit/>
          </a:bodyPr>
          <a:lstStyle/>
          <a:p>
            <a:r>
              <a:rPr sz="1100" b="0">
                <a:solidFill>
                  <a:srgbClr val="2E2E2E"/>
                </a:solidFill>
                <a:latin typeface="Calibri"/>
              </a:rPr>
              <a:t>● Pouches:</a:t>
            </a:r>
          </a:p>
        </p:txBody>
      </p:sp>
      <p:pic>
        <p:nvPicPr>
          <p:cNvPr id="108" name="Picture 107" descr="lock.png"/>
          <p:cNvPicPr>
            <a:picLocks noChangeAspect="1"/>
          </p:cNvPicPr>
          <p:nvPr/>
        </p:nvPicPr>
        <p:blipFill>
          <a:blip r:embed="rId19"/>
          <a:stretch>
            <a:fillRect/>
          </a:stretch>
        </p:blipFill>
        <p:spPr>
          <a:xfrm>
            <a:off x="4492295" y="4219658"/>
            <a:ext cx="128699" cy="187198"/>
          </a:xfrm>
          <a:prstGeom prst="rect">
            <a:avLst/>
          </a:prstGeom>
        </p:spPr>
      </p:pic>
      <p:sp>
        <p:nvSpPr>
          <p:cNvPr id="109" name="TextBox 108"/>
          <p:cNvSpPr txBox="1"/>
          <p:nvPr/>
        </p:nvSpPr>
        <p:spPr>
          <a:xfrm>
            <a:off x="4659790"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0" name="Picture 109" descr="lock.png"/>
          <p:cNvPicPr>
            <a:picLocks noChangeAspect="1"/>
          </p:cNvPicPr>
          <p:nvPr/>
        </p:nvPicPr>
        <p:blipFill>
          <a:blip r:embed="rId19"/>
          <a:stretch>
            <a:fillRect/>
          </a:stretch>
        </p:blipFill>
        <p:spPr>
          <a:xfrm>
            <a:off x="5519241" y="4219658"/>
            <a:ext cx="128699" cy="187198"/>
          </a:xfrm>
          <a:prstGeom prst="rect">
            <a:avLst/>
          </a:prstGeom>
        </p:spPr>
      </p:pic>
      <p:sp>
        <p:nvSpPr>
          <p:cNvPr id="111" name="TextBox 110"/>
          <p:cNvSpPr txBox="1"/>
          <p:nvPr/>
        </p:nvSpPr>
        <p:spPr>
          <a:xfrm>
            <a:off x="5686737"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12" name="TextBox 111"/>
          <p:cNvSpPr txBox="1"/>
          <p:nvPr/>
        </p:nvSpPr>
        <p:spPr>
          <a:xfrm>
            <a:off x="3838575" y="4447369"/>
            <a:ext cx="1641003" cy="186689"/>
          </a:xfrm>
          <a:prstGeom prst="rect">
            <a:avLst/>
          </a:prstGeom>
          <a:noFill/>
        </p:spPr>
        <p:txBody>
          <a:bodyPr wrap="none" lIns="0" rIns="0" tIns="0" bIns="0">
            <a:spAutoFit/>
          </a:bodyPr>
          <a:lstStyle/>
          <a:p>
            <a:r>
              <a:rPr sz="1100" b="0">
                <a:solidFill>
                  <a:srgbClr val="2E2E2E"/>
                </a:solidFill>
                <a:latin typeface="Calibri"/>
              </a:rPr>
              <a:t>● Bulk Industrial Packaging:</a:t>
            </a:r>
          </a:p>
        </p:txBody>
      </p:sp>
      <p:pic>
        <p:nvPicPr>
          <p:cNvPr id="113" name="Picture 112" descr="lock.png"/>
          <p:cNvPicPr>
            <a:picLocks noChangeAspect="1"/>
          </p:cNvPicPr>
          <p:nvPr/>
        </p:nvPicPr>
        <p:blipFill>
          <a:blip r:embed="rId19"/>
          <a:stretch>
            <a:fillRect/>
          </a:stretch>
        </p:blipFill>
        <p:spPr>
          <a:xfrm>
            <a:off x="5427630" y="4437590"/>
            <a:ext cx="128699" cy="187198"/>
          </a:xfrm>
          <a:prstGeom prst="rect">
            <a:avLst/>
          </a:prstGeom>
        </p:spPr>
      </p:pic>
      <p:sp>
        <p:nvSpPr>
          <p:cNvPr id="114" name="TextBox 113"/>
          <p:cNvSpPr txBox="1"/>
          <p:nvPr/>
        </p:nvSpPr>
        <p:spPr>
          <a:xfrm>
            <a:off x="5595126"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5" name="Picture 114" descr="lock.png"/>
          <p:cNvPicPr>
            <a:picLocks noChangeAspect="1"/>
          </p:cNvPicPr>
          <p:nvPr/>
        </p:nvPicPr>
        <p:blipFill>
          <a:blip r:embed="rId19"/>
          <a:stretch>
            <a:fillRect/>
          </a:stretch>
        </p:blipFill>
        <p:spPr>
          <a:xfrm>
            <a:off x="6454576" y="4437590"/>
            <a:ext cx="128699" cy="187198"/>
          </a:xfrm>
          <a:prstGeom prst="rect">
            <a:avLst/>
          </a:prstGeom>
        </p:spPr>
      </p:pic>
      <p:sp>
        <p:nvSpPr>
          <p:cNvPr id="116" name="TextBox 115"/>
          <p:cNvSpPr txBox="1"/>
          <p:nvPr/>
        </p:nvSpPr>
        <p:spPr>
          <a:xfrm>
            <a:off x="6622072" y="4447369"/>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17" name="TextBox 116"/>
          <p:cNvSpPr txBox="1"/>
          <p:nvPr/>
        </p:nvSpPr>
        <p:spPr>
          <a:xfrm>
            <a:off x="3838575" y="4615009"/>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18" name="TextBox 117"/>
          <p:cNvSpPr txBox="1"/>
          <p:nvPr/>
        </p:nvSpPr>
        <p:spPr>
          <a:xfrm>
            <a:off x="3838575" y="4832941"/>
            <a:ext cx="505395" cy="186689"/>
          </a:xfrm>
          <a:prstGeom prst="rect">
            <a:avLst/>
          </a:prstGeom>
          <a:noFill/>
        </p:spPr>
        <p:txBody>
          <a:bodyPr wrap="none" lIns="0" rIns="0" tIns="0" bIns="0">
            <a:spAutoFit/>
          </a:bodyPr>
          <a:lstStyle/>
          <a:p>
            <a:r>
              <a:rPr sz="1100" b="0">
                <a:solidFill>
                  <a:srgbClr val="2E2E2E"/>
                </a:solidFill>
                <a:latin typeface="Calibri"/>
              </a:rPr>
              <a:t>● Cups:</a:t>
            </a:r>
          </a:p>
        </p:txBody>
      </p:sp>
      <p:pic>
        <p:nvPicPr>
          <p:cNvPr id="119" name="Picture 118" descr="lock.png"/>
          <p:cNvPicPr>
            <a:picLocks noChangeAspect="1"/>
          </p:cNvPicPr>
          <p:nvPr/>
        </p:nvPicPr>
        <p:blipFill>
          <a:blip r:embed="rId19"/>
          <a:stretch>
            <a:fillRect/>
          </a:stretch>
        </p:blipFill>
        <p:spPr>
          <a:xfrm>
            <a:off x="4292022" y="4823162"/>
            <a:ext cx="128699" cy="187198"/>
          </a:xfrm>
          <a:prstGeom prst="rect">
            <a:avLst/>
          </a:prstGeom>
        </p:spPr>
      </p:pic>
      <p:sp>
        <p:nvSpPr>
          <p:cNvPr id="120" name="TextBox 119"/>
          <p:cNvSpPr txBox="1"/>
          <p:nvPr/>
        </p:nvSpPr>
        <p:spPr>
          <a:xfrm>
            <a:off x="4459517" y="483294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19"/>
          <a:stretch>
            <a:fillRect/>
          </a:stretch>
        </p:blipFill>
        <p:spPr>
          <a:xfrm>
            <a:off x="5318968" y="4823162"/>
            <a:ext cx="128699" cy="187198"/>
          </a:xfrm>
          <a:prstGeom prst="rect">
            <a:avLst/>
          </a:prstGeom>
        </p:spPr>
      </p:pic>
      <p:sp>
        <p:nvSpPr>
          <p:cNvPr id="122" name="TextBox 121"/>
          <p:cNvSpPr txBox="1"/>
          <p:nvPr/>
        </p:nvSpPr>
        <p:spPr>
          <a:xfrm>
            <a:off x="5486463" y="483294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3" name="TextBox 122"/>
          <p:cNvSpPr txBox="1"/>
          <p:nvPr/>
        </p:nvSpPr>
        <p:spPr>
          <a:xfrm>
            <a:off x="3838575" y="5050872"/>
            <a:ext cx="629542" cy="186689"/>
          </a:xfrm>
          <a:prstGeom prst="rect">
            <a:avLst/>
          </a:prstGeom>
          <a:noFill/>
        </p:spPr>
        <p:txBody>
          <a:bodyPr wrap="none" lIns="0" rIns="0" tIns="0" bIns="0">
            <a:spAutoFit/>
          </a:bodyPr>
          <a:lstStyle/>
          <a:p>
            <a:r>
              <a:rPr sz="1100" b="0">
                <a:solidFill>
                  <a:srgbClr val="2E2E2E"/>
                </a:solidFill>
                <a:latin typeface="Calibri"/>
              </a:rPr>
              <a:t>● Bottles:</a:t>
            </a:r>
          </a:p>
        </p:txBody>
      </p:sp>
      <p:pic>
        <p:nvPicPr>
          <p:cNvPr id="124" name="Picture 123" descr="lock.png"/>
          <p:cNvPicPr>
            <a:picLocks noChangeAspect="1"/>
          </p:cNvPicPr>
          <p:nvPr/>
        </p:nvPicPr>
        <p:blipFill>
          <a:blip r:embed="rId19"/>
          <a:stretch>
            <a:fillRect/>
          </a:stretch>
        </p:blipFill>
        <p:spPr>
          <a:xfrm>
            <a:off x="4416169" y="5041093"/>
            <a:ext cx="128699" cy="187198"/>
          </a:xfrm>
          <a:prstGeom prst="rect">
            <a:avLst/>
          </a:prstGeom>
        </p:spPr>
      </p:pic>
      <p:sp>
        <p:nvSpPr>
          <p:cNvPr id="125" name="TextBox 124"/>
          <p:cNvSpPr txBox="1"/>
          <p:nvPr/>
        </p:nvSpPr>
        <p:spPr>
          <a:xfrm>
            <a:off x="4583665"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6" name="Picture 125" descr="lock.png"/>
          <p:cNvPicPr>
            <a:picLocks noChangeAspect="1"/>
          </p:cNvPicPr>
          <p:nvPr/>
        </p:nvPicPr>
        <p:blipFill>
          <a:blip r:embed="rId19"/>
          <a:stretch>
            <a:fillRect/>
          </a:stretch>
        </p:blipFill>
        <p:spPr>
          <a:xfrm>
            <a:off x="5443115" y="5041093"/>
            <a:ext cx="128699" cy="187198"/>
          </a:xfrm>
          <a:prstGeom prst="rect">
            <a:avLst/>
          </a:prstGeom>
        </p:spPr>
      </p:pic>
      <p:sp>
        <p:nvSpPr>
          <p:cNvPr id="127" name="TextBox 126"/>
          <p:cNvSpPr txBox="1"/>
          <p:nvPr/>
        </p:nvSpPr>
        <p:spPr>
          <a:xfrm>
            <a:off x="5610611" y="5050872"/>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28" name="TextBox 127"/>
          <p:cNvSpPr txBox="1"/>
          <p:nvPr/>
        </p:nvSpPr>
        <p:spPr>
          <a:xfrm>
            <a:off x="3838575" y="5268804"/>
            <a:ext cx="1555328" cy="186689"/>
          </a:xfrm>
          <a:prstGeom prst="rect">
            <a:avLst/>
          </a:prstGeom>
          <a:noFill/>
        </p:spPr>
        <p:txBody>
          <a:bodyPr wrap="none" lIns="0" rIns="0" tIns="0" bIns="0">
            <a:spAutoFit/>
          </a:bodyPr>
          <a:lstStyle/>
          <a:p>
            <a:r>
              <a:rPr sz="1100" b="0">
                <a:solidFill>
                  <a:srgbClr val="2E2E2E"/>
                </a:solidFill>
                <a:latin typeface="Calibri"/>
              </a:rPr>
              <a:t>● Sachets and Stick Packs:</a:t>
            </a:r>
          </a:p>
        </p:txBody>
      </p:sp>
      <p:pic>
        <p:nvPicPr>
          <p:cNvPr id="129" name="Picture 128" descr="lock.png"/>
          <p:cNvPicPr>
            <a:picLocks noChangeAspect="1"/>
          </p:cNvPicPr>
          <p:nvPr/>
        </p:nvPicPr>
        <p:blipFill>
          <a:blip r:embed="rId19"/>
          <a:stretch>
            <a:fillRect/>
          </a:stretch>
        </p:blipFill>
        <p:spPr>
          <a:xfrm>
            <a:off x="5341954" y="5259025"/>
            <a:ext cx="128699" cy="187198"/>
          </a:xfrm>
          <a:prstGeom prst="rect">
            <a:avLst/>
          </a:prstGeom>
        </p:spPr>
      </p:pic>
      <p:sp>
        <p:nvSpPr>
          <p:cNvPr id="130" name="TextBox 129"/>
          <p:cNvSpPr txBox="1"/>
          <p:nvPr/>
        </p:nvSpPr>
        <p:spPr>
          <a:xfrm>
            <a:off x="5509450" y="5268804"/>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1" name="Picture 130" descr="lock.png"/>
          <p:cNvPicPr>
            <a:picLocks noChangeAspect="1"/>
          </p:cNvPicPr>
          <p:nvPr/>
        </p:nvPicPr>
        <p:blipFill>
          <a:blip r:embed="rId19"/>
          <a:stretch>
            <a:fillRect/>
          </a:stretch>
        </p:blipFill>
        <p:spPr>
          <a:xfrm>
            <a:off x="6368900" y="5259025"/>
            <a:ext cx="128699" cy="187198"/>
          </a:xfrm>
          <a:prstGeom prst="rect">
            <a:avLst/>
          </a:prstGeom>
        </p:spPr>
      </p:pic>
      <p:sp>
        <p:nvSpPr>
          <p:cNvPr id="132" name="TextBox 131"/>
          <p:cNvSpPr txBox="1"/>
          <p:nvPr/>
        </p:nvSpPr>
        <p:spPr>
          <a:xfrm>
            <a:off x="6536396" y="5268804"/>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33" name="TextBox 132"/>
          <p:cNvSpPr txBox="1"/>
          <p:nvPr/>
        </p:nvSpPr>
        <p:spPr>
          <a:xfrm>
            <a:off x="8524875" y="5842641"/>
            <a:ext cx="3162300" cy="194310"/>
          </a:xfrm>
          <a:prstGeom prst="rect">
            <a:avLst/>
          </a:prstGeom>
          <a:noFill/>
        </p:spPr>
        <p:txBody>
          <a:bodyPr wrap="none" lIns="0" rIns="0" tIns="0" bIns="0">
            <a:spAutoFit/>
          </a:bodyPr>
          <a:lstStyle/>
          <a:p>
            <a:r>
              <a:rPr sz="1150" b="1">
                <a:solidFill>
                  <a:srgbClr val="0B2E4A"/>
                </a:solidFill>
                <a:latin typeface="Calibri"/>
              </a:rPr>
              <a:t>The Packaging Type segment is projected to grow at</a:t>
            </a:r>
          </a:p>
        </p:txBody>
      </p:sp>
      <p:sp>
        <p:nvSpPr>
          <p:cNvPr id="134" name="TextBox 133"/>
          <p:cNvSpPr txBox="1"/>
          <p:nvPr/>
        </p:nvSpPr>
        <p:spPr>
          <a:xfrm>
            <a:off x="8524875" y="6017901"/>
            <a:ext cx="680055" cy="194310"/>
          </a:xfrm>
          <a:prstGeom prst="rect">
            <a:avLst/>
          </a:prstGeom>
          <a:noFill/>
        </p:spPr>
        <p:txBody>
          <a:bodyPr wrap="none" lIns="0" rIns="0" tIns="0" bIns="0">
            <a:spAutoFit/>
          </a:bodyPr>
          <a:lstStyle/>
          <a:p>
            <a:r>
              <a:rPr sz="1150" b="1">
                <a:solidFill>
                  <a:srgbClr val="0B2E4A"/>
                </a:solidFill>
                <a:latin typeface="Calibri"/>
              </a:rPr>
              <a:t>a CAGR of</a:t>
            </a:r>
          </a:p>
        </p:txBody>
      </p:sp>
      <p:pic>
        <p:nvPicPr>
          <p:cNvPr id="135" name="Picture 134" descr="lock.png"/>
          <p:cNvPicPr>
            <a:picLocks noChangeAspect="1"/>
          </p:cNvPicPr>
          <p:nvPr/>
        </p:nvPicPr>
        <p:blipFill>
          <a:blip r:embed="rId19"/>
          <a:stretch>
            <a:fillRect/>
          </a:stretch>
        </p:blipFill>
        <p:spPr>
          <a:xfrm>
            <a:off x="9154084" y="6007677"/>
            <a:ext cx="134549" cy="195707"/>
          </a:xfrm>
          <a:prstGeom prst="rect">
            <a:avLst/>
          </a:prstGeom>
        </p:spPr>
      </p:pic>
      <p:sp>
        <p:nvSpPr>
          <p:cNvPr id="136" name="TextBox 135"/>
          <p:cNvSpPr txBox="1"/>
          <p:nvPr/>
        </p:nvSpPr>
        <p:spPr>
          <a:xfrm>
            <a:off x="9329193"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Packaging Type Segment Outlook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9 sub-segments of Packaging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Packaging Type segment categorizes the market by packaging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2414588"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2414588"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Jars</a:t>
            </a:r>
          </a:p>
        </p:txBody>
      </p:sp>
      <p:sp>
        <p:nvSpPr>
          <p:cNvPr id="22" name="Rectangle 21"/>
          <p:cNvSpPr/>
          <p:nvPr/>
        </p:nvSpPr>
        <p:spPr>
          <a:xfrm>
            <a:off x="1866900"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23" name="Rectangle 22"/>
          <p:cNvSpPr/>
          <p:nvPr/>
        </p:nvSpPr>
        <p:spPr>
          <a:xfrm>
            <a:off x="1866900"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24" name="Rectangle 23"/>
          <p:cNvSpPr/>
          <p:nvPr/>
        </p:nvSpPr>
        <p:spPr>
          <a:xfrm>
            <a:off x="1866900"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25" name="Oval 24"/>
          <p:cNvSpPr/>
          <p:nvPr/>
        </p:nvSpPr>
        <p:spPr>
          <a:xfrm>
            <a:off x="2912269"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26" name="Rounded Rectangle 25"/>
          <p:cNvSpPr/>
          <p:nvPr/>
        </p:nvSpPr>
        <p:spPr>
          <a:xfrm>
            <a:off x="4395788" y="1773916"/>
            <a:ext cx="2414588"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4395788" y="1992961"/>
            <a:ext cx="2414588"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4433888"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Boxes and Cartons</a:t>
            </a:r>
          </a:p>
        </p:txBody>
      </p:sp>
      <p:sp>
        <p:nvSpPr>
          <p:cNvPr id="29" name="Rectangle 28"/>
          <p:cNvSpPr/>
          <p:nvPr/>
        </p:nvSpPr>
        <p:spPr>
          <a:xfrm>
            <a:off x="4395788"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0" name="Rectangle 29"/>
          <p:cNvSpPr/>
          <p:nvPr/>
        </p:nvSpPr>
        <p:spPr>
          <a:xfrm>
            <a:off x="4395788"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1" name="Rectangle 30"/>
          <p:cNvSpPr/>
          <p:nvPr/>
        </p:nvSpPr>
        <p:spPr>
          <a:xfrm>
            <a:off x="4395788"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32" name="Oval 31"/>
          <p:cNvSpPr/>
          <p:nvPr/>
        </p:nvSpPr>
        <p:spPr>
          <a:xfrm>
            <a:off x="544115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33" name="Rounded Rectangle 32"/>
          <p:cNvSpPr/>
          <p:nvPr/>
        </p:nvSpPr>
        <p:spPr>
          <a:xfrm>
            <a:off x="6924675" y="1773916"/>
            <a:ext cx="2414588"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6924675" y="1992961"/>
            <a:ext cx="2414588"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6962775"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Tins and Cans</a:t>
            </a:r>
          </a:p>
        </p:txBody>
      </p:sp>
      <p:sp>
        <p:nvSpPr>
          <p:cNvPr id="36" name="Rectangle 35"/>
          <p:cNvSpPr/>
          <p:nvPr/>
        </p:nvSpPr>
        <p:spPr>
          <a:xfrm>
            <a:off x="6924675"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37" name="Rectangle 36"/>
          <p:cNvSpPr/>
          <p:nvPr/>
        </p:nvSpPr>
        <p:spPr>
          <a:xfrm>
            <a:off x="6924675"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38" name="Rectangle 37"/>
          <p:cNvSpPr/>
          <p:nvPr/>
        </p:nvSpPr>
        <p:spPr>
          <a:xfrm>
            <a:off x="6924675"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39" name="Oval 38"/>
          <p:cNvSpPr/>
          <p:nvPr/>
        </p:nvSpPr>
        <p:spPr>
          <a:xfrm>
            <a:off x="797004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8</a:t>
            </a:r>
          </a:p>
        </p:txBody>
      </p:sp>
      <p:sp>
        <p:nvSpPr>
          <p:cNvPr id="40" name="Rounded Rectangle 39"/>
          <p:cNvSpPr/>
          <p:nvPr/>
        </p:nvSpPr>
        <p:spPr>
          <a:xfrm>
            <a:off x="9453562" y="1773916"/>
            <a:ext cx="2414588"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9453562" y="1992961"/>
            <a:ext cx="2414588"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9491662" y="1773916"/>
            <a:ext cx="2338388"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Packaging Types</a:t>
            </a:r>
          </a:p>
        </p:txBody>
      </p:sp>
      <p:sp>
        <p:nvSpPr>
          <p:cNvPr id="43" name="Rectangle 42"/>
          <p:cNvSpPr/>
          <p:nvPr/>
        </p:nvSpPr>
        <p:spPr>
          <a:xfrm>
            <a:off x="9453562" y="22302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44" name="Rectangle 43"/>
          <p:cNvSpPr/>
          <p:nvPr/>
        </p:nvSpPr>
        <p:spPr>
          <a:xfrm>
            <a:off x="9453562" y="2723109"/>
            <a:ext cx="2414588"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45" name="Rectangle 44"/>
          <p:cNvSpPr/>
          <p:nvPr/>
        </p:nvSpPr>
        <p:spPr>
          <a:xfrm>
            <a:off x="9453562" y="3215959"/>
            <a:ext cx="2414588"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46" name="Oval 45"/>
          <p:cNvSpPr/>
          <p:nvPr/>
        </p:nvSpPr>
        <p:spPr>
          <a:xfrm>
            <a:off x="10498931"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9</a:t>
            </a:r>
          </a:p>
        </p:txBody>
      </p:sp>
      <p:sp>
        <p:nvSpPr>
          <p:cNvPr id="47" name="Rounded Rectangle 46"/>
          <p:cNvSpPr/>
          <p:nvPr/>
        </p:nvSpPr>
        <p:spPr>
          <a:xfrm>
            <a:off x="323850" y="3854838"/>
            <a:ext cx="115443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457200" y="3946106"/>
            <a:ext cx="1127760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49" name="Rectangle 48"/>
          <p:cNvSpPr/>
          <p:nvPr/>
        </p:nvSpPr>
        <p:spPr>
          <a:xfrm>
            <a:off x="457200" y="4146897"/>
            <a:ext cx="112776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457200" y="4219912"/>
            <a:ext cx="112776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p:txBody>
      </p:sp>
      <p:sp>
        <p:nvSpPr>
          <p:cNvPr id="51" name="TextBox 50"/>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3" name="Picture 52" descr="107_5_605E5C.png"/>
          <p:cNvPicPr>
            <a:picLocks noChangeAspect="1"/>
          </p:cNvPicPr>
          <p:nvPr/>
        </p:nvPicPr>
        <p:blipFill>
          <a:blip r:embed="rId4"/>
          <a:stretch>
            <a:fillRect/>
          </a:stretch>
        </p:blipFill>
        <p:spPr>
          <a:xfrm>
            <a:off x="2476330" y="2286582"/>
            <a:ext cx="1195728" cy="361950"/>
          </a:xfrm>
          <a:prstGeom prst="rect">
            <a:avLst/>
          </a:prstGeom>
        </p:spPr>
      </p:pic>
      <p:pic>
        <p:nvPicPr>
          <p:cNvPr id="54" name="Picture 53" descr="168_2_605E5C.png"/>
          <p:cNvPicPr>
            <a:picLocks noChangeAspect="1"/>
          </p:cNvPicPr>
          <p:nvPr/>
        </p:nvPicPr>
        <p:blipFill>
          <a:blip r:embed="rId5"/>
          <a:stretch>
            <a:fillRect/>
          </a:stretch>
        </p:blipFill>
        <p:spPr>
          <a:xfrm>
            <a:off x="2476330" y="2779432"/>
            <a:ext cx="1195728" cy="361950"/>
          </a:xfrm>
          <a:prstGeom prst="rect">
            <a:avLst/>
          </a:prstGeom>
        </p:spPr>
      </p:pic>
      <p:pic>
        <p:nvPicPr>
          <p:cNvPr id="55" name="Picture 54" descr="4_6__605E5C.png"/>
          <p:cNvPicPr>
            <a:picLocks noChangeAspect="1"/>
          </p:cNvPicPr>
          <p:nvPr/>
        </p:nvPicPr>
        <p:blipFill>
          <a:blip r:embed="rId6"/>
          <a:stretch>
            <a:fillRect/>
          </a:stretch>
        </p:blipFill>
        <p:spPr>
          <a:xfrm>
            <a:off x="2582976" y="3272281"/>
            <a:ext cx="982436" cy="361950"/>
          </a:xfrm>
          <a:prstGeom prst="rect">
            <a:avLst/>
          </a:prstGeom>
        </p:spPr>
      </p:pic>
      <p:pic>
        <p:nvPicPr>
          <p:cNvPr id="56" name="Picture 55" descr="86_2_605E5C.png"/>
          <p:cNvPicPr>
            <a:picLocks noChangeAspect="1"/>
          </p:cNvPicPr>
          <p:nvPr/>
        </p:nvPicPr>
        <p:blipFill>
          <a:blip r:embed="rId7"/>
          <a:stretch>
            <a:fillRect/>
          </a:stretch>
        </p:blipFill>
        <p:spPr>
          <a:xfrm>
            <a:off x="5111864" y="2286582"/>
            <a:ext cx="982436" cy="361950"/>
          </a:xfrm>
          <a:prstGeom prst="rect">
            <a:avLst/>
          </a:prstGeom>
        </p:spPr>
      </p:pic>
      <p:pic>
        <p:nvPicPr>
          <p:cNvPr id="57" name="Picture 56" descr="135_4_605E5C.png"/>
          <p:cNvPicPr>
            <a:picLocks noChangeAspect="1"/>
          </p:cNvPicPr>
          <p:nvPr/>
        </p:nvPicPr>
        <p:blipFill>
          <a:blip r:embed="rId8"/>
          <a:stretch>
            <a:fillRect/>
          </a:stretch>
        </p:blipFill>
        <p:spPr>
          <a:xfrm>
            <a:off x="5005218" y="2779432"/>
            <a:ext cx="1195728" cy="361950"/>
          </a:xfrm>
          <a:prstGeom prst="rect">
            <a:avLst/>
          </a:prstGeom>
        </p:spPr>
      </p:pic>
      <p:pic>
        <p:nvPicPr>
          <p:cNvPr id="58" name="Picture 57" descr="4_6__605E5C.png"/>
          <p:cNvPicPr>
            <a:picLocks noChangeAspect="1"/>
          </p:cNvPicPr>
          <p:nvPr/>
        </p:nvPicPr>
        <p:blipFill>
          <a:blip r:embed="rId6"/>
          <a:stretch>
            <a:fillRect/>
          </a:stretch>
        </p:blipFill>
        <p:spPr>
          <a:xfrm>
            <a:off x="5111864" y="3272281"/>
            <a:ext cx="982436" cy="361950"/>
          </a:xfrm>
          <a:prstGeom prst="rect">
            <a:avLst/>
          </a:prstGeom>
        </p:spPr>
      </p:pic>
      <p:pic>
        <p:nvPicPr>
          <p:cNvPr id="59" name="Picture 58" descr="37_4_605E5C.png"/>
          <p:cNvPicPr>
            <a:picLocks noChangeAspect="1"/>
          </p:cNvPicPr>
          <p:nvPr/>
        </p:nvPicPr>
        <p:blipFill>
          <a:blip r:embed="rId9"/>
          <a:stretch>
            <a:fillRect/>
          </a:stretch>
        </p:blipFill>
        <p:spPr>
          <a:xfrm>
            <a:off x="7640751" y="2286582"/>
            <a:ext cx="982436" cy="361950"/>
          </a:xfrm>
          <a:prstGeom prst="rect">
            <a:avLst/>
          </a:prstGeom>
        </p:spPr>
      </p:pic>
      <p:pic>
        <p:nvPicPr>
          <p:cNvPr id="60" name="Picture 59" descr="52_9_605E5C.png"/>
          <p:cNvPicPr>
            <a:picLocks noChangeAspect="1"/>
          </p:cNvPicPr>
          <p:nvPr/>
        </p:nvPicPr>
        <p:blipFill>
          <a:blip r:embed="rId10"/>
          <a:stretch>
            <a:fillRect/>
          </a:stretch>
        </p:blipFill>
        <p:spPr>
          <a:xfrm>
            <a:off x="7640751" y="2779432"/>
            <a:ext cx="982436" cy="361950"/>
          </a:xfrm>
          <a:prstGeom prst="rect">
            <a:avLst/>
          </a:prstGeom>
        </p:spPr>
      </p:pic>
      <p:pic>
        <p:nvPicPr>
          <p:cNvPr id="61" name="Picture 60" descr="3_5__605E5C.png"/>
          <p:cNvPicPr>
            <a:picLocks noChangeAspect="1"/>
          </p:cNvPicPr>
          <p:nvPr/>
        </p:nvPicPr>
        <p:blipFill>
          <a:blip r:embed="rId11"/>
          <a:stretch>
            <a:fillRect/>
          </a:stretch>
        </p:blipFill>
        <p:spPr>
          <a:xfrm>
            <a:off x="7640751" y="3272281"/>
            <a:ext cx="982436" cy="361950"/>
          </a:xfrm>
          <a:prstGeom prst="rect">
            <a:avLst/>
          </a:prstGeom>
        </p:spPr>
      </p:pic>
      <p:pic>
        <p:nvPicPr>
          <p:cNvPr id="62" name="Picture 61" descr="29_5_605E5C.png"/>
          <p:cNvPicPr>
            <a:picLocks noChangeAspect="1"/>
          </p:cNvPicPr>
          <p:nvPr/>
        </p:nvPicPr>
        <p:blipFill>
          <a:blip r:embed="rId12"/>
          <a:stretch>
            <a:fillRect/>
          </a:stretch>
        </p:blipFill>
        <p:spPr>
          <a:xfrm>
            <a:off x="10169638" y="2286582"/>
            <a:ext cx="982436" cy="361950"/>
          </a:xfrm>
          <a:prstGeom prst="rect">
            <a:avLst/>
          </a:prstGeom>
        </p:spPr>
      </p:pic>
      <p:pic>
        <p:nvPicPr>
          <p:cNvPr id="63" name="Picture 62" descr="61_3_605E5C.png"/>
          <p:cNvPicPr>
            <a:picLocks noChangeAspect="1"/>
          </p:cNvPicPr>
          <p:nvPr/>
        </p:nvPicPr>
        <p:blipFill>
          <a:blip r:embed="rId13"/>
          <a:stretch>
            <a:fillRect/>
          </a:stretch>
        </p:blipFill>
        <p:spPr>
          <a:xfrm>
            <a:off x="10169638" y="2779432"/>
            <a:ext cx="982436" cy="361950"/>
          </a:xfrm>
          <a:prstGeom prst="rect">
            <a:avLst/>
          </a:prstGeom>
        </p:spPr>
      </p:pic>
      <p:pic>
        <p:nvPicPr>
          <p:cNvPr id="64" name="Picture 63" descr="7_6__605E5C.png"/>
          <p:cNvPicPr>
            <a:picLocks noChangeAspect="1"/>
          </p:cNvPicPr>
          <p:nvPr/>
        </p:nvPicPr>
        <p:blipFill>
          <a:blip r:embed="rId14"/>
          <a:stretch>
            <a:fillRect/>
          </a:stretch>
        </p:blipFill>
        <p:spPr>
          <a:xfrm>
            <a:off x="10169638" y="3272281"/>
            <a:ext cx="982436" cy="361950"/>
          </a:xfrm>
          <a:prstGeom prst="rect">
            <a:avLst/>
          </a:prstGeom>
        </p:spPr>
      </p:pic>
      <p:pic>
        <p:nvPicPr>
          <p:cNvPr id="65" name="Picture 64" descr="lock.png"/>
          <p:cNvPicPr>
            <a:picLocks noChangeAspect="1"/>
          </p:cNvPicPr>
          <p:nvPr/>
        </p:nvPicPr>
        <p:blipFill>
          <a:blip r:embed="rId15"/>
          <a:stretch>
            <a:fillRect/>
          </a:stretch>
        </p:blipFill>
        <p:spPr>
          <a:xfrm>
            <a:off x="2980848" y="2827057"/>
            <a:ext cx="183356" cy="266700"/>
          </a:xfrm>
          <a:prstGeom prst="rect">
            <a:avLst/>
          </a:prstGeom>
        </p:spPr>
      </p:pic>
      <p:pic>
        <p:nvPicPr>
          <p:cNvPr id="66" name="Picture 65" descr="lock.png"/>
          <p:cNvPicPr>
            <a:picLocks noChangeAspect="1"/>
          </p:cNvPicPr>
          <p:nvPr/>
        </p:nvPicPr>
        <p:blipFill>
          <a:blip r:embed="rId15"/>
          <a:stretch>
            <a:fillRect/>
          </a:stretch>
        </p:blipFill>
        <p:spPr>
          <a:xfrm>
            <a:off x="5509737" y="2827057"/>
            <a:ext cx="183356" cy="266700"/>
          </a:xfrm>
          <a:prstGeom prst="rect">
            <a:avLst/>
          </a:prstGeom>
        </p:spPr>
      </p:pic>
      <p:pic>
        <p:nvPicPr>
          <p:cNvPr id="67" name="Picture 66" descr="lock.png"/>
          <p:cNvPicPr>
            <a:picLocks noChangeAspect="1"/>
          </p:cNvPicPr>
          <p:nvPr/>
        </p:nvPicPr>
        <p:blipFill>
          <a:blip r:embed="rId15"/>
          <a:stretch>
            <a:fillRect/>
          </a:stretch>
        </p:blipFill>
        <p:spPr>
          <a:xfrm>
            <a:off x="8038624" y="2827057"/>
            <a:ext cx="183356" cy="266700"/>
          </a:xfrm>
          <a:prstGeom prst="rect">
            <a:avLst/>
          </a:prstGeom>
        </p:spPr>
      </p:pic>
      <p:pic>
        <p:nvPicPr>
          <p:cNvPr id="68" name="Picture 67" descr="lock.png"/>
          <p:cNvPicPr>
            <a:picLocks noChangeAspect="1"/>
          </p:cNvPicPr>
          <p:nvPr/>
        </p:nvPicPr>
        <p:blipFill>
          <a:blip r:embed="rId15"/>
          <a:stretch>
            <a:fillRect/>
          </a:stretch>
        </p:blipFill>
        <p:spPr>
          <a:xfrm>
            <a:off x="10567511" y="2827057"/>
            <a:ext cx="183356" cy="266700"/>
          </a:xfrm>
          <a:prstGeom prst="rect">
            <a:avLst/>
          </a:prstGeom>
        </p:spPr>
      </p:pic>
      <p:sp>
        <p:nvSpPr>
          <p:cNvPr id="69" name="TextBox 68"/>
          <p:cNvSpPr txBox="1"/>
          <p:nvPr/>
        </p:nvSpPr>
        <p:spPr>
          <a:xfrm>
            <a:off x="485775" y="4229437"/>
            <a:ext cx="444276" cy="186689"/>
          </a:xfrm>
          <a:prstGeom prst="rect">
            <a:avLst/>
          </a:prstGeom>
          <a:noFill/>
        </p:spPr>
        <p:txBody>
          <a:bodyPr wrap="none" lIns="0" rIns="0" tIns="0" bIns="0">
            <a:spAutoFit/>
          </a:bodyPr>
          <a:lstStyle/>
          <a:p>
            <a:r>
              <a:rPr sz="1100" b="0">
                <a:solidFill>
                  <a:srgbClr val="2E2E2E"/>
                </a:solidFill>
                <a:latin typeface="Calibri"/>
              </a:rPr>
              <a:t>● Jars:</a:t>
            </a:r>
          </a:p>
        </p:txBody>
      </p:sp>
      <p:pic>
        <p:nvPicPr>
          <p:cNvPr id="70" name="Picture 69" descr="lock.png"/>
          <p:cNvPicPr>
            <a:picLocks noChangeAspect="1"/>
          </p:cNvPicPr>
          <p:nvPr/>
        </p:nvPicPr>
        <p:blipFill>
          <a:blip r:embed="rId15"/>
          <a:stretch>
            <a:fillRect/>
          </a:stretch>
        </p:blipFill>
        <p:spPr>
          <a:xfrm>
            <a:off x="878103" y="4219658"/>
            <a:ext cx="128699" cy="187198"/>
          </a:xfrm>
          <a:prstGeom prst="rect">
            <a:avLst/>
          </a:prstGeom>
        </p:spPr>
      </p:pic>
      <p:sp>
        <p:nvSpPr>
          <p:cNvPr id="71" name="TextBox 70"/>
          <p:cNvSpPr txBox="1"/>
          <p:nvPr/>
        </p:nvSpPr>
        <p:spPr>
          <a:xfrm>
            <a:off x="1045599"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2" name="Picture 71" descr="lock.png"/>
          <p:cNvPicPr>
            <a:picLocks noChangeAspect="1"/>
          </p:cNvPicPr>
          <p:nvPr/>
        </p:nvPicPr>
        <p:blipFill>
          <a:blip r:embed="rId15"/>
          <a:stretch>
            <a:fillRect/>
          </a:stretch>
        </p:blipFill>
        <p:spPr>
          <a:xfrm>
            <a:off x="1905049" y="4219658"/>
            <a:ext cx="128699" cy="187198"/>
          </a:xfrm>
          <a:prstGeom prst="rect">
            <a:avLst/>
          </a:prstGeom>
        </p:spPr>
      </p:pic>
      <p:sp>
        <p:nvSpPr>
          <p:cNvPr id="73" name="TextBox 72"/>
          <p:cNvSpPr txBox="1"/>
          <p:nvPr/>
        </p:nvSpPr>
        <p:spPr>
          <a:xfrm>
            <a:off x="2072545" y="4229437"/>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4" name="TextBox 73"/>
          <p:cNvSpPr txBox="1"/>
          <p:nvPr/>
        </p:nvSpPr>
        <p:spPr>
          <a:xfrm>
            <a:off x="485775" y="4447369"/>
            <a:ext cx="1279748" cy="186689"/>
          </a:xfrm>
          <a:prstGeom prst="rect">
            <a:avLst/>
          </a:prstGeom>
          <a:noFill/>
        </p:spPr>
        <p:txBody>
          <a:bodyPr wrap="none" lIns="0" rIns="0" tIns="0" bIns="0">
            <a:spAutoFit/>
          </a:bodyPr>
          <a:lstStyle/>
          <a:p>
            <a:r>
              <a:rPr sz="1100" b="0">
                <a:solidFill>
                  <a:srgbClr val="2E2E2E"/>
                </a:solidFill>
                <a:latin typeface="Calibri"/>
              </a:rPr>
              <a:t>● Boxes and Cartons:</a:t>
            </a:r>
          </a:p>
        </p:txBody>
      </p:sp>
      <p:pic>
        <p:nvPicPr>
          <p:cNvPr id="75" name="Picture 74" descr="lock.png"/>
          <p:cNvPicPr>
            <a:picLocks noChangeAspect="1"/>
          </p:cNvPicPr>
          <p:nvPr/>
        </p:nvPicPr>
        <p:blipFill>
          <a:blip r:embed="rId15"/>
          <a:stretch>
            <a:fillRect/>
          </a:stretch>
        </p:blipFill>
        <p:spPr>
          <a:xfrm>
            <a:off x="1713574" y="4437590"/>
            <a:ext cx="128699" cy="187198"/>
          </a:xfrm>
          <a:prstGeom prst="rect">
            <a:avLst/>
          </a:prstGeom>
        </p:spPr>
      </p:pic>
      <p:sp>
        <p:nvSpPr>
          <p:cNvPr id="76" name="TextBox 75"/>
          <p:cNvSpPr txBox="1"/>
          <p:nvPr/>
        </p:nvSpPr>
        <p:spPr>
          <a:xfrm>
            <a:off x="188107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77" name="Picture 76" descr="lock.png"/>
          <p:cNvPicPr>
            <a:picLocks noChangeAspect="1"/>
          </p:cNvPicPr>
          <p:nvPr/>
        </p:nvPicPr>
        <p:blipFill>
          <a:blip r:embed="rId15"/>
          <a:stretch>
            <a:fillRect/>
          </a:stretch>
        </p:blipFill>
        <p:spPr>
          <a:xfrm>
            <a:off x="2740520" y="4437590"/>
            <a:ext cx="128699" cy="187198"/>
          </a:xfrm>
          <a:prstGeom prst="rect">
            <a:avLst/>
          </a:prstGeom>
        </p:spPr>
      </p:pic>
      <p:sp>
        <p:nvSpPr>
          <p:cNvPr id="78" name="TextBox 77"/>
          <p:cNvSpPr txBox="1"/>
          <p:nvPr/>
        </p:nvSpPr>
        <p:spPr>
          <a:xfrm>
            <a:off x="2908016"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79" name="TextBox 78"/>
          <p:cNvSpPr txBox="1"/>
          <p:nvPr/>
        </p:nvSpPr>
        <p:spPr>
          <a:xfrm>
            <a:off x="485775" y="4665301"/>
            <a:ext cx="1004168" cy="186689"/>
          </a:xfrm>
          <a:prstGeom prst="rect">
            <a:avLst/>
          </a:prstGeom>
          <a:noFill/>
        </p:spPr>
        <p:txBody>
          <a:bodyPr wrap="none" lIns="0" rIns="0" tIns="0" bIns="0">
            <a:spAutoFit/>
          </a:bodyPr>
          <a:lstStyle/>
          <a:p>
            <a:r>
              <a:rPr sz="1100" b="0">
                <a:solidFill>
                  <a:srgbClr val="2E2E2E"/>
                </a:solidFill>
                <a:latin typeface="Calibri"/>
              </a:rPr>
              <a:t>● Tins and Cans:</a:t>
            </a:r>
          </a:p>
        </p:txBody>
      </p:sp>
      <p:pic>
        <p:nvPicPr>
          <p:cNvPr id="80" name="Picture 79" descr="lock.png"/>
          <p:cNvPicPr>
            <a:picLocks noChangeAspect="1"/>
          </p:cNvPicPr>
          <p:nvPr/>
        </p:nvPicPr>
        <p:blipFill>
          <a:blip r:embed="rId15"/>
          <a:stretch>
            <a:fillRect/>
          </a:stretch>
        </p:blipFill>
        <p:spPr>
          <a:xfrm>
            <a:off x="1437994" y="4655522"/>
            <a:ext cx="128699" cy="187198"/>
          </a:xfrm>
          <a:prstGeom prst="rect">
            <a:avLst/>
          </a:prstGeom>
        </p:spPr>
      </p:pic>
      <p:sp>
        <p:nvSpPr>
          <p:cNvPr id="81" name="TextBox 80"/>
          <p:cNvSpPr txBox="1"/>
          <p:nvPr/>
        </p:nvSpPr>
        <p:spPr>
          <a:xfrm>
            <a:off x="1605490"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2" name="Picture 81" descr="lock.png"/>
          <p:cNvPicPr>
            <a:picLocks noChangeAspect="1"/>
          </p:cNvPicPr>
          <p:nvPr/>
        </p:nvPicPr>
        <p:blipFill>
          <a:blip r:embed="rId15"/>
          <a:stretch>
            <a:fillRect/>
          </a:stretch>
        </p:blipFill>
        <p:spPr>
          <a:xfrm>
            <a:off x="2464940" y="4655522"/>
            <a:ext cx="128699" cy="187198"/>
          </a:xfrm>
          <a:prstGeom prst="rect">
            <a:avLst/>
          </a:prstGeom>
        </p:spPr>
      </p:pic>
      <p:sp>
        <p:nvSpPr>
          <p:cNvPr id="83" name="TextBox 82"/>
          <p:cNvSpPr txBox="1"/>
          <p:nvPr/>
        </p:nvSpPr>
        <p:spPr>
          <a:xfrm>
            <a:off x="2632436" y="4665301"/>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84" name="TextBox 83"/>
          <p:cNvSpPr txBox="1"/>
          <p:nvPr/>
        </p:nvSpPr>
        <p:spPr>
          <a:xfrm>
            <a:off x="485775" y="4883233"/>
            <a:ext cx="1519039" cy="186689"/>
          </a:xfrm>
          <a:prstGeom prst="rect">
            <a:avLst/>
          </a:prstGeom>
          <a:noFill/>
        </p:spPr>
        <p:txBody>
          <a:bodyPr wrap="none" lIns="0" rIns="0" tIns="0" bIns="0">
            <a:spAutoFit/>
          </a:bodyPr>
          <a:lstStyle/>
          <a:p>
            <a:r>
              <a:rPr sz="1100" b="0">
                <a:solidFill>
                  <a:srgbClr val="2E2E2E"/>
                </a:solidFill>
                <a:latin typeface="Calibri"/>
              </a:rPr>
              <a:t>● Other Packaging Types:</a:t>
            </a:r>
          </a:p>
        </p:txBody>
      </p:sp>
      <p:pic>
        <p:nvPicPr>
          <p:cNvPr id="85" name="Picture 84" descr="lock.png"/>
          <p:cNvPicPr>
            <a:picLocks noChangeAspect="1"/>
          </p:cNvPicPr>
          <p:nvPr/>
        </p:nvPicPr>
        <p:blipFill>
          <a:blip r:embed="rId15"/>
          <a:stretch>
            <a:fillRect/>
          </a:stretch>
        </p:blipFill>
        <p:spPr>
          <a:xfrm>
            <a:off x="1952865" y="4873454"/>
            <a:ext cx="128699" cy="187198"/>
          </a:xfrm>
          <a:prstGeom prst="rect">
            <a:avLst/>
          </a:prstGeom>
        </p:spPr>
      </p:pic>
      <p:sp>
        <p:nvSpPr>
          <p:cNvPr id="86" name="TextBox 85"/>
          <p:cNvSpPr txBox="1"/>
          <p:nvPr/>
        </p:nvSpPr>
        <p:spPr>
          <a:xfrm>
            <a:off x="2120361"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87" name="Picture 86" descr="lock.png"/>
          <p:cNvPicPr>
            <a:picLocks noChangeAspect="1"/>
          </p:cNvPicPr>
          <p:nvPr/>
        </p:nvPicPr>
        <p:blipFill>
          <a:blip r:embed="rId15"/>
          <a:stretch>
            <a:fillRect/>
          </a:stretch>
        </p:blipFill>
        <p:spPr>
          <a:xfrm>
            <a:off x="2979811" y="4873454"/>
            <a:ext cx="128699" cy="187198"/>
          </a:xfrm>
          <a:prstGeom prst="rect">
            <a:avLst/>
          </a:prstGeom>
        </p:spPr>
      </p:pic>
      <p:sp>
        <p:nvSpPr>
          <p:cNvPr id="88" name="TextBox 87"/>
          <p:cNvSpPr txBox="1"/>
          <p:nvPr/>
        </p:nvSpPr>
        <p:spPr>
          <a:xfrm>
            <a:off x="3147307" y="4883233"/>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Tree>
  </p:cSld>
  <p:clrMapOvr>
    <a:masterClrMapping/>
  </p:clrMapOvr>
</p:sld>
</file>

<file path=ppt/slides/slide1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Packaging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Packaging Type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Type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Packaging Type · Bubble size represents 2036 value</a:t>
            </a:r>
          </a:p>
        </p:txBody>
      </p:sp>
      <p:graphicFrame>
        <p:nvGraphicFramePr>
          <p:cNvPr id="15" name="Chart 14"/>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670481" cy="186689"/>
          </a:xfrm>
          <a:prstGeom prst="rect">
            <a:avLst/>
          </a:prstGeom>
          <a:noFill/>
        </p:spPr>
        <p:txBody>
          <a:bodyPr wrap="none" lIns="0" rIns="0" tIns="0" bIns="0">
            <a:spAutoFit/>
          </a:bodyPr>
          <a:lstStyle/>
          <a:p>
            <a:r>
              <a:rPr sz="1100" b="0">
                <a:solidFill>
                  <a:srgbClr val="2E2E2E"/>
                </a:solidFill>
                <a:latin typeface="Calibri"/>
              </a:rPr>
              <a:t>Pouches followed by bulk industrial packaging are expected to be the two most attractive packaging type segments in the North America matcha market in terms of value over the forecast period. Pouches</a:t>
            </a:r>
          </a:p>
        </p:txBody>
      </p:sp>
      <p:sp>
        <p:nvSpPr>
          <p:cNvPr id="20" name="TextBox 19"/>
          <p:cNvSpPr txBox="1"/>
          <p:nvPr/>
        </p:nvSpPr>
        <p:spPr>
          <a:xfrm>
            <a:off x="257175" y="5945505"/>
            <a:ext cx="3086281" cy="186689"/>
          </a:xfrm>
          <a:prstGeom prst="rect">
            <a:avLst/>
          </a:prstGeom>
          <a:noFill/>
        </p:spPr>
        <p:txBody>
          <a:bodyPr wrap="none" lIns="0" rIns="0" tIns="0" bIns="0">
            <a:spAutoFit/>
          </a:bodyPr>
          <a:lstStyle/>
          <a:p>
            <a:r>
              <a:rPr sz="1100" b="0">
                <a:solidFill>
                  <a:srgbClr val="2E2E2E"/>
                </a:solidFill>
                <a:latin typeface="Calibri"/>
              </a:rPr>
              <a:t>and bulk industrial packaging exhibit a CAGR index of</a:t>
            </a:r>
          </a:p>
        </p:txBody>
      </p:sp>
      <p:pic>
        <p:nvPicPr>
          <p:cNvPr id="21" name="Picture 20" descr="lock.png"/>
          <p:cNvPicPr>
            <a:picLocks noChangeAspect="1"/>
          </p:cNvPicPr>
          <p:nvPr/>
        </p:nvPicPr>
        <p:blipFill>
          <a:blip r:embed="rId6"/>
          <a:stretch>
            <a:fillRect/>
          </a:stretch>
        </p:blipFill>
        <p:spPr>
          <a:xfrm>
            <a:off x="3291507" y="5935726"/>
            <a:ext cx="128699" cy="187198"/>
          </a:xfrm>
          <a:prstGeom prst="rect">
            <a:avLst/>
          </a:prstGeom>
        </p:spPr>
      </p:pic>
      <p:sp>
        <p:nvSpPr>
          <p:cNvPr id="22" name="TextBox 21"/>
          <p:cNvSpPr txBox="1"/>
          <p:nvPr/>
        </p:nvSpPr>
        <p:spPr>
          <a:xfrm>
            <a:off x="3459003"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3696898" y="5935726"/>
            <a:ext cx="128699" cy="187198"/>
          </a:xfrm>
          <a:prstGeom prst="rect">
            <a:avLst/>
          </a:prstGeom>
        </p:spPr>
      </p:pic>
      <p:sp>
        <p:nvSpPr>
          <p:cNvPr id="24" name="TextBox 23"/>
          <p:cNvSpPr txBox="1"/>
          <p:nvPr/>
        </p:nvSpPr>
        <p:spPr>
          <a:xfrm>
            <a:off x="3864393"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5473367" y="5935726"/>
            <a:ext cx="128699" cy="187198"/>
          </a:xfrm>
          <a:prstGeom prst="rect">
            <a:avLst/>
          </a:prstGeom>
        </p:spPr>
      </p:pic>
      <p:sp>
        <p:nvSpPr>
          <p:cNvPr id="26" name="TextBox 25"/>
          <p:cNvSpPr txBox="1"/>
          <p:nvPr/>
        </p:nvSpPr>
        <p:spPr>
          <a:xfrm>
            <a:off x="5640863"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5878757" y="5935726"/>
            <a:ext cx="128699" cy="187198"/>
          </a:xfrm>
          <a:prstGeom prst="rect">
            <a:avLst/>
          </a:prstGeom>
        </p:spPr>
      </p:pic>
      <p:sp>
        <p:nvSpPr>
          <p:cNvPr id="28" name="TextBox 27"/>
          <p:cNvSpPr txBox="1"/>
          <p:nvPr/>
        </p:nvSpPr>
        <p:spPr>
          <a:xfrm>
            <a:off x="6046253"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8600657" y="5935726"/>
            <a:ext cx="128699" cy="187198"/>
          </a:xfrm>
          <a:prstGeom prst="rect">
            <a:avLst/>
          </a:prstGeom>
        </p:spPr>
      </p:pic>
      <p:sp>
        <p:nvSpPr>
          <p:cNvPr id="30" name="TextBox 29"/>
          <p:cNvSpPr txBox="1"/>
          <p:nvPr/>
        </p:nvSpPr>
        <p:spPr>
          <a:xfrm>
            <a:off x="8768153" y="5945505"/>
            <a:ext cx="2646188" cy="186689"/>
          </a:xfrm>
          <a:prstGeom prst="rect">
            <a:avLst/>
          </a:prstGeom>
          <a:noFill/>
        </p:spPr>
        <p:txBody>
          <a:bodyPr wrap="none" lIns="0" rIns="0" tIns="0" bIns="0">
            <a:spAutoFit/>
          </a:bodyPr>
          <a:lstStyle/>
          <a:p>
            <a:r>
              <a:rPr sz="1100" b="0">
                <a:solidFill>
                  <a:srgbClr val="2E2E2E"/>
                </a:solidFill>
                <a:latin typeface="Calibri"/>
              </a:rPr>
              <a:t>. The tins and cans segment is expected to be</a:t>
            </a:r>
          </a:p>
        </p:txBody>
      </p:sp>
      <p:sp>
        <p:nvSpPr>
          <p:cNvPr id="31" name="TextBox 30"/>
          <p:cNvSpPr txBox="1"/>
          <p:nvPr/>
        </p:nvSpPr>
        <p:spPr>
          <a:xfrm>
            <a:off x="257175" y="6113145"/>
            <a:ext cx="11580952" cy="186689"/>
          </a:xfrm>
          <a:prstGeom prst="rect">
            <a:avLst/>
          </a:prstGeom>
          <a:noFill/>
        </p:spPr>
        <p:txBody>
          <a:bodyPr wrap="none" lIns="0" rIns="0" tIns="0" bIns="0">
            <a:spAutoFit/>
          </a:bodyPr>
          <a:lstStyle/>
          <a:p>
            <a:r>
              <a:rPr sz="1100" b="0">
                <a:solidFill>
                  <a:srgbClr val="2E2E2E"/>
                </a:solidFill>
                <a:latin typeface="Calibri"/>
              </a:rPr>
              <a:t>less attractive as compared to other segments over the forecast period, owing to its lower CAGR and incremental opportunity. Bubbles right of the CAGR-Index line grow faster than the 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Packaging Type (1/3)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Type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Pouches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Tins and Cans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Jars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Boxes and Cartons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Packaging Type (2/3)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Type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Sachets and Stick Packs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Bottles</a:t>
            </a:r>
          </a:p>
        </p:txBody>
      </p:sp>
      <p:graphicFrame>
        <p:nvGraphicFramePr>
          <p:cNvPr id="15" name="Chart 14"/>
          <p:cNvGraphicFramePr>
            <a:graphicFrameLocks noGrp="1"/>
          </p:cNvGraphicFramePr>
          <p:nvPr/>
        </p:nvGraphicFramePr>
        <p:xfrm>
          <a:off x="6267450" y="1266825"/>
          <a:ext cx="5686425" cy="240982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Cups</a:t>
            </a:r>
          </a:p>
        </p:txBody>
      </p:sp>
      <p:graphicFrame>
        <p:nvGraphicFramePr>
          <p:cNvPr id="18" name="Chart 17"/>
          <p:cNvGraphicFramePr>
            <a:graphicFrameLocks noGrp="1"/>
          </p:cNvGraphicFramePr>
          <p:nvPr/>
        </p:nvGraphicFramePr>
        <p:xfrm>
          <a:off x="238125" y="4152900"/>
          <a:ext cx="5686425" cy="240982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Bulk Industrial Packaging</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100230" y="2330679"/>
            <a:ext cx="252890" cy="367840"/>
          </a:xfrm>
          <a:prstGeom prst="rect">
            <a:avLst/>
          </a:prstGeom>
        </p:spPr>
      </p:pic>
      <p:pic>
        <p:nvPicPr>
          <p:cNvPr id="24" name="Picture 23" descr="lock.png"/>
          <p:cNvPicPr>
            <a:picLocks noChangeAspect="1"/>
          </p:cNvPicPr>
          <p:nvPr/>
        </p:nvPicPr>
        <p:blipFill>
          <a:blip r:embed="rId8"/>
          <a:stretch>
            <a:fillRect/>
          </a:stretch>
        </p:blipFill>
        <p:spPr>
          <a:xfrm>
            <a:off x="9124151" y="2237234"/>
            <a:ext cx="263506" cy="383281"/>
          </a:xfrm>
          <a:prstGeom prst="rect">
            <a:avLst/>
          </a:prstGeom>
        </p:spPr>
      </p:pic>
      <p:pic>
        <p:nvPicPr>
          <p:cNvPr id="25" name="Picture 24" descr="lock.png"/>
          <p:cNvPicPr>
            <a:picLocks noChangeAspect="1"/>
          </p:cNvPicPr>
          <p:nvPr/>
        </p:nvPicPr>
        <p:blipFill>
          <a:blip r:embed="rId8"/>
          <a:stretch>
            <a:fillRect/>
          </a:stretch>
        </p:blipFill>
        <p:spPr>
          <a:xfrm>
            <a:off x="3094826" y="5123309"/>
            <a:ext cx="263506" cy="383281"/>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152900"/>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Packaging Type (3/3)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Packaging Type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Packaging Types</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Packaging Type</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27556" y="3674659"/>
            <a:ext cx="395643" cy="575481"/>
          </a:xfrm>
          <a:prstGeom prst="rect">
            <a:avLst/>
          </a:prstGeom>
        </p:spPr>
      </p:pic>
      <p:sp>
        <p:nvSpPr>
          <p:cNvPr id="19" name="TextBox 18"/>
          <p:cNvSpPr txBox="1"/>
          <p:nvPr/>
        </p:nvSpPr>
        <p:spPr>
          <a:xfrm>
            <a:off x="6305550" y="1598245"/>
            <a:ext cx="4000130" cy="194310"/>
          </a:xfrm>
          <a:prstGeom prst="rect">
            <a:avLst/>
          </a:prstGeom>
          <a:noFill/>
        </p:spPr>
        <p:txBody>
          <a:bodyPr wrap="none" lIns="0" rIns="0" tIns="0" bIns="0">
            <a:spAutoFit/>
          </a:bodyPr>
          <a:lstStyle/>
          <a:p>
            <a:r>
              <a:rPr sz="1150" b="0">
                <a:solidFill>
                  <a:srgbClr val="2E2E2E"/>
                </a:solidFill>
                <a:latin typeface="Calibri"/>
              </a:rPr>
              <a:t>By 2036, pouches segment is anticipated to witness an increase of</a:t>
            </a:r>
          </a:p>
        </p:txBody>
      </p:sp>
      <p:pic>
        <p:nvPicPr>
          <p:cNvPr id="20" name="Picture 19" descr="lock.png"/>
          <p:cNvPicPr>
            <a:picLocks noChangeAspect="1"/>
          </p:cNvPicPr>
          <p:nvPr/>
        </p:nvPicPr>
        <p:blipFill>
          <a:blip r:embed="rId5"/>
          <a:stretch>
            <a:fillRect/>
          </a:stretch>
        </p:blipFill>
        <p:spPr>
          <a:xfrm>
            <a:off x="10254834" y="1588021"/>
            <a:ext cx="134549" cy="195707"/>
          </a:xfrm>
          <a:prstGeom prst="rect">
            <a:avLst/>
          </a:prstGeom>
        </p:spPr>
      </p:pic>
      <p:sp>
        <p:nvSpPr>
          <p:cNvPr id="21" name="TextBox 20"/>
          <p:cNvSpPr txBox="1"/>
          <p:nvPr/>
        </p:nvSpPr>
        <p:spPr>
          <a:xfrm>
            <a:off x="10429943" y="1598245"/>
            <a:ext cx="1341871" cy="194310"/>
          </a:xfrm>
          <a:prstGeom prst="rect">
            <a:avLst/>
          </a:prstGeom>
          <a:noFill/>
        </p:spPr>
        <p:txBody>
          <a:bodyPr wrap="none" lIns="0" rIns="0" tIns="0" bIns="0">
            <a:spAutoFit/>
          </a:bodyPr>
          <a:lstStyle/>
          <a:p>
            <a:r>
              <a:rPr sz="1150" b="0">
                <a:solidFill>
                  <a:srgbClr val="2E2E2E"/>
                </a:solidFill>
                <a:latin typeface="Calibri"/>
              </a:rPr>
              <a:t>X in terms of value as</a:t>
            </a:r>
          </a:p>
        </p:txBody>
      </p:sp>
      <p:sp>
        <p:nvSpPr>
          <p:cNvPr id="22" name="TextBox 21"/>
          <p:cNvSpPr txBox="1"/>
          <p:nvPr/>
        </p:nvSpPr>
        <p:spPr>
          <a:xfrm>
            <a:off x="6305550" y="1773505"/>
            <a:ext cx="5591175" cy="194310"/>
          </a:xfrm>
          <a:prstGeom prst="rect">
            <a:avLst/>
          </a:prstGeom>
          <a:noFill/>
        </p:spPr>
        <p:txBody>
          <a:bodyPr wrap="none" lIns="0" rIns="0" tIns="0" bIns="0">
            <a:spAutoFit/>
          </a:bodyPr>
          <a:lstStyle/>
          <a:p>
            <a:r>
              <a:rPr sz="1150" b="0">
                <a:solidFill>
                  <a:srgbClr val="2E2E2E"/>
                </a:solidFill>
                <a:latin typeface="Calibri"/>
              </a:rPr>
              <a:t>compared to 2026. The pouches segment is expected to create an incremental opportunity of</a:t>
            </a:r>
          </a:p>
        </p:txBody>
      </p:sp>
      <p:sp>
        <p:nvSpPr>
          <p:cNvPr id="23" name="TextBox 22"/>
          <p:cNvSpPr txBox="1"/>
          <p:nvPr/>
        </p:nvSpPr>
        <p:spPr>
          <a:xfrm>
            <a:off x="6305550" y="1948765"/>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24" name="Picture 23" descr="lock.png"/>
          <p:cNvPicPr>
            <a:picLocks noChangeAspect="1"/>
          </p:cNvPicPr>
          <p:nvPr/>
        </p:nvPicPr>
        <p:blipFill>
          <a:blip r:embed="rId5"/>
          <a:stretch>
            <a:fillRect/>
          </a:stretch>
        </p:blipFill>
        <p:spPr>
          <a:xfrm>
            <a:off x="6565953" y="1938541"/>
            <a:ext cx="134549" cy="195707"/>
          </a:xfrm>
          <a:prstGeom prst="rect">
            <a:avLst/>
          </a:prstGeom>
        </p:spPr>
      </p:pic>
      <p:sp>
        <p:nvSpPr>
          <p:cNvPr id="25" name="TextBox 24"/>
          <p:cNvSpPr txBox="1"/>
          <p:nvPr/>
        </p:nvSpPr>
        <p:spPr>
          <a:xfrm>
            <a:off x="6741062" y="1948765"/>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26" name="TextBox 25"/>
          <p:cNvSpPr txBox="1"/>
          <p:nvPr/>
        </p:nvSpPr>
        <p:spPr>
          <a:xfrm>
            <a:off x="6305550" y="2176603"/>
            <a:ext cx="5445534" cy="194310"/>
          </a:xfrm>
          <a:prstGeom prst="rect">
            <a:avLst/>
          </a:prstGeom>
          <a:noFill/>
        </p:spPr>
        <p:txBody>
          <a:bodyPr wrap="none" lIns="0" rIns="0" tIns="0" bIns="0">
            <a:spAutoFit/>
          </a:bodyPr>
          <a:lstStyle/>
          <a:p>
            <a:r>
              <a:rPr sz="1150" b="0">
                <a:solidFill>
                  <a:srgbClr val="2E2E2E"/>
                </a:solidFill>
                <a:latin typeface="Calibri"/>
              </a:rPr>
              <a:t>The bulk industrial packaging segment is expected to create an incremental opportunity of</a:t>
            </a:r>
          </a:p>
        </p:txBody>
      </p:sp>
      <p:sp>
        <p:nvSpPr>
          <p:cNvPr id="27" name="TextBox 26"/>
          <p:cNvSpPr txBox="1"/>
          <p:nvPr/>
        </p:nvSpPr>
        <p:spPr>
          <a:xfrm>
            <a:off x="6305550" y="2351863"/>
            <a:ext cx="311249" cy="194310"/>
          </a:xfrm>
          <a:prstGeom prst="rect">
            <a:avLst/>
          </a:prstGeom>
          <a:noFill/>
        </p:spPr>
        <p:txBody>
          <a:bodyPr wrap="none" lIns="0" rIns="0" tIns="0" bIns="0">
            <a:spAutoFit/>
          </a:bodyPr>
          <a:lstStyle/>
          <a:p>
            <a:r>
              <a:rPr sz="1150" b="0">
                <a:solidFill>
                  <a:srgbClr val="2E2E2E"/>
                </a:solidFill>
                <a:latin typeface="Calibri"/>
              </a:rPr>
              <a:t>US$</a:t>
            </a:r>
          </a:p>
        </p:txBody>
      </p:sp>
      <p:pic>
        <p:nvPicPr>
          <p:cNvPr id="28" name="Picture 27" descr="lock.png"/>
          <p:cNvPicPr>
            <a:picLocks noChangeAspect="1"/>
          </p:cNvPicPr>
          <p:nvPr/>
        </p:nvPicPr>
        <p:blipFill>
          <a:blip r:embed="rId5"/>
          <a:stretch>
            <a:fillRect/>
          </a:stretch>
        </p:blipFill>
        <p:spPr>
          <a:xfrm>
            <a:off x="6565953" y="2341639"/>
            <a:ext cx="134549" cy="195707"/>
          </a:xfrm>
          <a:prstGeom prst="rect">
            <a:avLst/>
          </a:prstGeom>
        </p:spPr>
      </p:pic>
      <p:sp>
        <p:nvSpPr>
          <p:cNvPr id="29" name="TextBox 28"/>
          <p:cNvSpPr txBox="1"/>
          <p:nvPr/>
        </p:nvSpPr>
        <p:spPr>
          <a:xfrm>
            <a:off x="6741062" y="2351863"/>
            <a:ext cx="507527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 The cups segment is expected</a:t>
            </a:r>
          </a:p>
        </p:txBody>
      </p:sp>
      <p:sp>
        <p:nvSpPr>
          <p:cNvPr id="30" name="TextBox 29"/>
          <p:cNvSpPr txBox="1"/>
          <p:nvPr/>
        </p:nvSpPr>
        <p:spPr>
          <a:xfrm>
            <a:off x="6305550" y="2527123"/>
            <a:ext cx="2706241" cy="194310"/>
          </a:xfrm>
          <a:prstGeom prst="rect">
            <a:avLst/>
          </a:prstGeom>
          <a:noFill/>
        </p:spPr>
        <p:txBody>
          <a:bodyPr wrap="none" lIns="0" rIns="0" tIns="0" bIns="0">
            <a:spAutoFit/>
          </a:bodyPr>
          <a:lstStyle/>
          <a:p>
            <a:r>
              <a:rPr sz="1150" b="0">
                <a:solidFill>
                  <a:srgbClr val="2E2E2E"/>
                </a:solidFill>
                <a:latin typeface="Calibri"/>
              </a:rPr>
              <a:t>to create an incremental opportunity of US$</a:t>
            </a:r>
          </a:p>
        </p:txBody>
      </p:sp>
      <p:pic>
        <p:nvPicPr>
          <p:cNvPr id="31" name="Picture 30" descr="lock.png"/>
          <p:cNvPicPr>
            <a:picLocks noChangeAspect="1"/>
          </p:cNvPicPr>
          <p:nvPr/>
        </p:nvPicPr>
        <p:blipFill>
          <a:blip r:embed="rId5"/>
          <a:stretch>
            <a:fillRect/>
          </a:stretch>
        </p:blipFill>
        <p:spPr>
          <a:xfrm>
            <a:off x="8960944" y="2516899"/>
            <a:ext cx="134549" cy="195707"/>
          </a:xfrm>
          <a:prstGeom prst="rect">
            <a:avLst/>
          </a:prstGeom>
        </p:spPr>
      </p:pic>
      <p:sp>
        <p:nvSpPr>
          <p:cNvPr id="32" name="TextBox 31"/>
          <p:cNvSpPr txBox="1"/>
          <p:nvPr/>
        </p:nvSpPr>
        <p:spPr>
          <a:xfrm>
            <a:off x="9136054" y="2527123"/>
            <a:ext cx="2740471" cy="194310"/>
          </a:xfrm>
          <a:prstGeom prst="rect">
            <a:avLst/>
          </a:prstGeom>
          <a:noFill/>
        </p:spPr>
        <p:txBody>
          <a:bodyPr wrap="none" lIns="0" rIns="0" tIns="0" bIns="0">
            <a:spAutoFit/>
          </a:bodyPr>
          <a:lstStyle/>
          <a:p>
            <a:r>
              <a:rPr sz="1150" b="0">
                <a:solidFill>
                  <a:srgbClr val="2E2E2E"/>
                </a:solidFill>
                <a:latin typeface="Calibri"/>
              </a:rPr>
              <a:t>Mn for the overall matcha market from 2026</a:t>
            </a:r>
          </a:p>
        </p:txBody>
      </p:sp>
      <p:sp>
        <p:nvSpPr>
          <p:cNvPr id="33" name="TextBox 32"/>
          <p:cNvSpPr txBox="1"/>
          <p:nvPr/>
        </p:nvSpPr>
        <p:spPr>
          <a:xfrm>
            <a:off x="6305550" y="2702383"/>
            <a:ext cx="568833" cy="194310"/>
          </a:xfrm>
          <a:prstGeom prst="rect">
            <a:avLst/>
          </a:prstGeom>
          <a:noFill/>
        </p:spPr>
        <p:txBody>
          <a:bodyPr wrap="none" lIns="0" rIns="0" tIns="0" bIns="0">
            <a:spAutoFit/>
          </a:bodyPr>
          <a:lstStyle/>
          <a:p>
            <a:r>
              <a:rPr sz="1150" b="0">
                <a:solidFill>
                  <a:srgbClr val="2E2E2E"/>
                </a:solidFill>
                <a:latin typeface="Calibri"/>
              </a:rPr>
              <a:t>to 2036.</a:t>
            </a:r>
          </a:p>
        </p:txBody>
      </p:sp>
      <p:sp>
        <p:nvSpPr>
          <p:cNvPr id="34" name="lockshield_12"/>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Packaging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Packaging Type, 2021–2036, highlighting the sub-segments driving growth</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Packaging Type (US$ Mn)</a:t>
            </a:r>
          </a:p>
        </p:txBody>
      </p:sp>
      <p:graphicFrame>
        <p:nvGraphicFramePr>
          <p:cNvPr id="12" name="Table 11"/>
          <p:cNvGraphicFramePr>
            <a:graphicFrameLocks noGrp="1"/>
          </p:cNvGraphicFramePr>
          <p:nvPr/>
        </p:nvGraphicFramePr>
        <p:xfrm>
          <a:off x="152400" y="1238250"/>
          <a:ext cx="11887204" cy="2714626"/>
        </p:xfrm>
        <a:graphic>
          <a:graphicData uri="http://schemas.openxmlformats.org/drawingml/2006/table">
            <a:tbl>
              <a:tblPr>
                <a:tableStyleId>{5C22544A-7EE6-4342-B048-85BDC9FD1C3A}</a:tableStyleId>
              </a:tblPr>
              <a:tblGrid>
                <a:gridCol w="1730452"/>
                <a:gridCol w="597456"/>
                <a:gridCol w="597456"/>
                <a:gridCol w="597456"/>
                <a:gridCol w="597456"/>
                <a:gridCol w="597456"/>
                <a:gridCol w="597456"/>
                <a:gridCol w="597456"/>
                <a:gridCol w="597456"/>
                <a:gridCol w="597456"/>
                <a:gridCol w="597456"/>
                <a:gridCol w="597456"/>
                <a:gridCol w="597456"/>
                <a:gridCol w="597456"/>
                <a:gridCol w="597456"/>
                <a:gridCol w="597456"/>
                <a:gridCol w="597456"/>
                <a:gridCol w="597456"/>
              </a:tblGrid>
              <a:tr h="246126">
                <a:tc>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Packaging Type</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774537" y="2451926"/>
            <a:ext cx="366712" cy="533400"/>
          </a:xfrm>
          <a:prstGeom prst="rect">
            <a:avLst/>
          </a:prstGeom>
        </p:spPr>
      </p:pic>
      <p:sp>
        <p:nvSpPr>
          <p:cNvPr id="20" name="TextBox 19"/>
          <p:cNvSpPr txBox="1"/>
          <p:nvPr/>
        </p:nvSpPr>
        <p:spPr>
          <a:xfrm>
            <a:off x="276225" y="4714875"/>
            <a:ext cx="2499146" cy="194310"/>
          </a:xfrm>
          <a:prstGeom prst="rect">
            <a:avLst/>
          </a:prstGeom>
          <a:noFill/>
        </p:spPr>
        <p:txBody>
          <a:bodyPr wrap="none" lIns="0" rIns="0" tIns="0" bIns="0">
            <a:spAutoFit/>
          </a:bodyPr>
          <a:lstStyle/>
          <a:p>
            <a:r>
              <a:rPr sz="1150" b="0">
                <a:solidFill>
                  <a:srgbClr val="2E2E2E"/>
                </a:solidFill>
                <a:latin typeface="Calibri"/>
              </a:rPr>
              <a:t>Pouches segment is projected to register</a:t>
            </a:r>
          </a:p>
        </p:txBody>
      </p:sp>
      <p:pic>
        <p:nvPicPr>
          <p:cNvPr id="21" name="Picture 20" descr="lock.png"/>
          <p:cNvPicPr>
            <a:picLocks noChangeAspect="1"/>
          </p:cNvPicPr>
          <p:nvPr/>
        </p:nvPicPr>
        <p:blipFill>
          <a:blip r:embed="rId4"/>
          <a:stretch>
            <a:fillRect/>
          </a:stretch>
        </p:blipFill>
        <p:spPr>
          <a:xfrm>
            <a:off x="2724525" y="4704651"/>
            <a:ext cx="134549" cy="195707"/>
          </a:xfrm>
          <a:prstGeom prst="rect">
            <a:avLst/>
          </a:prstGeom>
        </p:spPr>
      </p:pic>
      <p:sp>
        <p:nvSpPr>
          <p:cNvPr id="22" name="TextBox 21"/>
          <p:cNvSpPr txBox="1"/>
          <p:nvPr/>
        </p:nvSpPr>
        <p:spPr>
          <a:xfrm>
            <a:off x="2899634" y="4714875"/>
            <a:ext cx="8662342" cy="194310"/>
          </a:xfrm>
          <a:prstGeom prst="rect">
            <a:avLst/>
          </a:prstGeom>
          <a:noFill/>
        </p:spPr>
        <p:txBody>
          <a:bodyPr wrap="none" lIns="0" rIns="0" tIns="0" bIns="0">
            <a:spAutoFit/>
          </a:bodyPr>
          <a:lstStyle/>
          <a:p>
            <a:r>
              <a:rPr sz="1150" b="0">
                <a:solidFill>
                  <a:srgbClr val="2E2E2E"/>
                </a:solidFill>
                <a:latin typeface="Calibri"/>
              </a:rPr>
              <a:t>X higher value than bulk industrial packaging segment in 2036. Among matcha by packaging type, sachets and stick packs segment is expected to</a:t>
            </a:r>
          </a:p>
        </p:txBody>
      </p:sp>
      <p:sp>
        <p:nvSpPr>
          <p:cNvPr id="23" name="TextBox 22"/>
          <p:cNvSpPr txBox="1"/>
          <p:nvPr/>
        </p:nvSpPr>
        <p:spPr>
          <a:xfrm>
            <a:off x="276225" y="4890135"/>
            <a:ext cx="1747770" cy="194310"/>
          </a:xfrm>
          <a:prstGeom prst="rect">
            <a:avLst/>
          </a:prstGeom>
          <a:noFill/>
        </p:spPr>
        <p:txBody>
          <a:bodyPr wrap="none" lIns="0" rIns="0" tIns="0" bIns="0">
            <a:spAutoFit/>
          </a:bodyPr>
          <a:lstStyle/>
          <a:p>
            <a:r>
              <a:rPr sz="1150" b="0">
                <a:solidFill>
                  <a:srgbClr val="2E2E2E"/>
                </a:solidFill>
                <a:latin typeface="Calibri"/>
              </a:rPr>
              <a:t>witness the highest CAGR of</a:t>
            </a:r>
          </a:p>
        </p:txBody>
      </p:sp>
      <p:pic>
        <p:nvPicPr>
          <p:cNvPr id="24" name="Picture 23" descr="lock.png"/>
          <p:cNvPicPr>
            <a:picLocks noChangeAspect="1"/>
          </p:cNvPicPr>
          <p:nvPr/>
        </p:nvPicPr>
        <p:blipFill>
          <a:blip r:embed="rId4"/>
          <a:stretch>
            <a:fillRect/>
          </a:stretch>
        </p:blipFill>
        <p:spPr>
          <a:xfrm>
            <a:off x="1973149" y="4879911"/>
            <a:ext cx="134549" cy="195707"/>
          </a:xfrm>
          <a:prstGeom prst="rect">
            <a:avLst/>
          </a:prstGeom>
        </p:spPr>
      </p:pic>
      <p:sp>
        <p:nvSpPr>
          <p:cNvPr id="25" name="TextBox 24"/>
          <p:cNvSpPr txBox="1"/>
          <p:nvPr/>
        </p:nvSpPr>
        <p:spPr>
          <a:xfrm>
            <a:off x="2148258" y="4890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117972"/>
            <a:ext cx="6457900" cy="194310"/>
          </a:xfrm>
          <a:prstGeom prst="rect">
            <a:avLst/>
          </a:prstGeom>
          <a:noFill/>
        </p:spPr>
        <p:txBody>
          <a:bodyPr wrap="none" lIns="0" rIns="0" tIns="0" bIns="0">
            <a:spAutoFit/>
          </a:bodyPr>
          <a:lstStyle/>
          <a:p>
            <a:r>
              <a:rPr sz="1150" b="0">
                <a:solidFill>
                  <a:srgbClr val="2E2E2E"/>
                </a:solidFill>
                <a:latin typeface="Calibri"/>
              </a:rPr>
              <a:t>In terms of value share by packaging type, the pouches segment is expected to dominate the market, losing</a:t>
            </a:r>
          </a:p>
        </p:txBody>
      </p:sp>
      <p:pic>
        <p:nvPicPr>
          <p:cNvPr id="27" name="Picture 26" descr="lock.png"/>
          <p:cNvPicPr>
            <a:picLocks noChangeAspect="1"/>
          </p:cNvPicPr>
          <p:nvPr/>
        </p:nvPicPr>
        <p:blipFill>
          <a:blip r:embed="rId4"/>
          <a:stretch>
            <a:fillRect/>
          </a:stretch>
        </p:blipFill>
        <p:spPr>
          <a:xfrm>
            <a:off x="6683279" y="5107749"/>
            <a:ext cx="134549" cy="195707"/>
          </a:xfrm>
          <a:prstGeom prst="rect">
            <a:avLst/>
          </a:prstGeom>
        </p:spPr>
      </p:pic>
      <p:sp>
        <p:nvSpPr>
          <p:cNvPr id="28" name="TextBox 27"/>
          <p:cNvSpPr txBox="1"/>
          <p:nvPr/>
        </p:nvSpPr>
        <p:spPr>
          <a:xfrm>
            <a:off x="6858388" y="5117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253531" y="5107749"/>
            <a:ext cx="134549" cy="195707"/>
          </a:xfrm>
          <a:prstGeom prst="rect">
            <a:avLst/>
          </a:prstGeom>
        </p:spPr>
      </p:pic>
      <p:sp>
        <p:nvSpPr>
          <p:cNvPr id="30" name="TextBox 29"/>
          <p:cNvSpPr txBox="1"/>
          <p:nvPr/>
        </p:nvSpPr>
        <p:spPr>
          <a:xfrm>
            <a:off x="8428641" y="5117972"/>
            <a:ext cx="3128702" cy="194310"/>
          </a:xfrm>
          <a:prstGeom prst="rect">
            <a:avLst/>
          </a:prstGeom>
          <a:noFill/>
        </p:spPr>
        <p:txBody>
          <a:bodyPr wrap="none" lIns="0" rIns="0" tIns="0" bIns="0">
            <a:spAutoFit/>
          </a:bodyPr>
          <a:lstStyle/>
          <a:p>
            <a:r>
              <a:rPr sz="1150" b="0">
                <a:solidFill>
                  <a:srgbClr val="2E2E2E"/>
                </a:solidFill>
                <a:latin typeface="Calibri"/>
              </a:rPr>
              <a:t>share by 2036. The jars segment is expected to lose</a:t>
            </a:r>
          </a:p>
        </p:txBody>
      </p:sp>
      <p:pic>
        <p:nvPicPr>
          <p:cNvPr id="31" name="Picture 30" descr="lock.png"/>
          <p:cNvPicPr>
            <a:picLocks noChangeAspect="1"/>
          </p:cNvPicPr>
          <p:nvPr/>
        </p:nvPicPr>
        <p:blipFill>
          <a:blip r:embed="rId4"/>
          <a:stretch>
            <a:fillRect/>
          </a:stretch>
        </p:blipFill>
        <p:spPr>
          <a:xfrm>
            <a:off x="262145" y="5283009"/>
            <a:ext cx="134549" cy="195707"/>
          </a:xfrm>
          <a:prstGeom prst="rect">
            <a:avLst/>
          </a:prstGeom>
        </p:spPr>
      </p:pic>
      <p:sp>
        <p:nvSpPr>
          <p:cNvPr id="32" name="TextBox 31"/>
          <p:cNvSpPr txBox="1"/>
          <p:nvPr/>
        </p:nvSpPr>
        <p:spPr>
          <a:xfrm>
            <a:off x="437254" y="52932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3" name="Picture 32" descr="lock.png"/>
          <p:cNvPicPr>
            <a:picLocks noChangeAspect="1"/>
          </p:cNvPicPr>
          <p:nvPr/>
        </p:nvPicPr>
        <p:blipFill>
          <a:blip r:embed="rId4"/>
          <a:stretch>
            <a:fillRect/>
          </a:stretch>
        </p:blipFill>
        <p:spPr>
          <a:xfrm>
            <a:off x="3024759" y="5283009"/>
            <a:ext cx="134549" cy="195707"/>
          </a:xfrm>
          <a:prstGeom prst="rect">
            <a:avLst/>
          </a:prstGeom>
        </p:spPr>
      </p:pic>
      <p:sp>
        <p:nvSpPr>
          <p:cNvPr id="34" name="TextBox 33"/>
          <p:cNvSpPr txBox="1"/>
          <p:nvPr/>
        </p:nvSpPr>
        <p:spPr>
          <a:xfrm>
            <a:off x="3199868" y="52932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Packaging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Packaging Type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Packaging Type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730896"/>
            <a:ext cx="85725" cy="85725"/>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72613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64993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Tins and Cans</a:t>
            </a:r>
          </a:p>
        </p:txBody>
      </p:sp>
      <p:sp>
        <p:nvSpPr>
          <p:cNvPr id="18" name="BPS Value 1"/>
          <p:cNvSpPr txBox="1"/>
          <p:nvPr/>
        </p:nvSpPr>
        <p:spPr>
          <a:xfrm>
            <a:off x="6896100" y="171184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1859680"/>
            <a:ext cx="85725" cy="85725"/>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185491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177871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Packaging Types</a:t>
            </a:r>
          </a:p>
        </p:txBody>
      </p:sp>
      <p:sp>
        <p:nvSpPr>
          <p:cNvPr id="22" name="BPS Value 2"/>
          <p:cNvSpPr txBox="1"/>
          <p:nvPr/>
        </p:nvSpPr>
        <p:spPr>
          <a:xfrm>
            <a:off x="6896100" y="184063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2081599"/>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5090922" y="2076837"/>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00063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Boxes and Cartons</a:t>
            </a:r>
          </a:p>
        </p:txBody>
      </p:sp>
      <p:sp>
        <p:nvSpPr>
          <p:cNvPr id="26" name="BPS Value 3"/>
          <p:cNvSpPr txBox="1"/>
          <p:nvPr/>
        </p:nvSpPr>
        <p:spPr>
          <a:xfrm>
            <a:off x="6896100" y="2062549"/>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928997" y="242416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rot="10800000">
            <a:off x="5090922" y="24193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23431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Jars</a:t>
            </a:r>
          </a:p>
        </p:txBody>
      </p:sp>
      <p:sp>
        <p:nvSpPr>
          <p:cNvPr id="30" name="BPS Value 4"/>
          <p:cNvSpPr txBox="1"/>
          <p:nvPr/>
        </p:nvSpPr>
        <p:spPr>
          <a:xfrm>
            <a:off x="6896100" y="240511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1" name="FMI Legend Chip"/>
          <p:cNvSpPr/>
          <p:nvPr/>
        </p:nvSpPr>
        <p:spPr>
          <a:xfrm>
            <a:off x="4928997" y="2903454"/>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a:off x="5090922" y="2898691"/>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282249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Sachets and Stick Packs</a:t>
            </a:r>
          </a:p>
        </p:txBody>
      </p:sp>
      <p:sp>
        <p:nvSpPr>
          <p:cNvPr id="34" name="BPS Value 5"/>
          <p:cNvSpPr txBox="1"/>
          <p:nvPr/>
        </p:nvSpPr>
        <p:spPr>
          <a:xfrm>
            <a:off x="6896100" y="2884404"/>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5" name="FMI Legend Chip"/>
          <p:cNvSpPr/>
          <p:nvPr/>
        </p:nvSpPr>
        <p:spPr>
          <a:xfrm>
            <a:off x="4928997" y="348568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rot="10800000">
            <a:off x="5090922" y="348092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340472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Bottles</a:t>
            </a:r>
          </a:p>
        </p:txBody>
      </p:sp>
      <p:sp>
        <p:nvSpPr>
          <p:cNvPr id="38" name="BPS Value 6"/>
          <p:cNvSpPr txBox="1"/>
          <p:nvPr/>
        </p:nvSpPr>
        <p:spPr>
          <a:xfrm>
            <a:off x="6896100" y="346663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9" name="FMI Legend Chip"/>
          <p:cNvSpPr/>
          <p:nvPr/>
        </p:nvSpPr>
        <p:spPr>
          <a:xfrm>
            <a:off x="4928997" y="4141031"/>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Isosceles Triangle 39"/>
          <p:cNvSpPr/>
          <p:nvPr/>
        </p:nvSpPr>
        <p:spPr>
          <a:xfrm>
            <a:off x="5090922" y="413626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BPS Name 7"/>
          <p:cNvSpPr txBox="1"/>
          <p:nvPr/>
        </p:nvSpPr>
        <p:spPr>
          <a:xfrm>
            <a:off x="5233797" y="40600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Cups</a:t>
            </a:r>
          </a:p>
        </p:txBody>
      </p:sp>
      <p:sp>
        <p:nvSpPr>
          <p:cNvPr id="42" name="BPS Value 7"/>
          <p:cNvSpPr txBox="1"/>
          <p:nvPr/>
        </p:nvSpPr>
        <p:spPr>
          <a:xfrm>
            <a:off x="6896100" y="412198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3" name="FMI Legend Chip"/>
          <p:cNvSpPr/>
          <p:nvPr/>
        </p:nvSpPr>
        <p:spPr>
          <a:xfrm>
            <a:off x="4928997" y="4906371"/>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Isosceles Triangle 43"/>
          <p:cNvSpPr/>
          <p:nvPr/>
        </p:nvSpPr>
        <p:spPr>
          <a:xfrm>
            <a:off x="5090922" y="490160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BPS Name 8"/>
          <p:cNvSpPr txBox="1"/>
          <p:nvPr/>
        </p:nvSpPr>
        <p:spPr>
          <a:xfrm>
            <a:off x="5233797" y="482540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Bulk Industrial Packaging</a:t>
            </a:r>
          </a:p>
        </p:txBody>
      </p:sp>
      <p:sp>
        <p:nvSpPr>
          <p:cNvPr id="46" name="BPS Value 8"/>
          <p:cNvSpPr txBox="1"/>
          <p:nvPr/>
        </p:nvSpPr>
        <p:spPr>
          <a:xfrm>
            <a:off x="6896100" y="488732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7" name="FMI Legend Chip"/>
          <p:cNvSpPr/>
          <p:nvPr/>
        </p:nvSpPr>
        <p:spPr>
          <a:xfrm>
            <a:off x="4928997" y="577636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Isosceles Triangle 47"/>
          <p:cNvSpPr/>
          <p:nvPr/>
        </p:nvSpPr>
        <p:spPr>
          <a:xfrm rot="10800000">
            <a:off x="5090922" y="577159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BPS Name 9"/>
          <p:cNvSpPr txBox="1"/>
          <p:nvPr/>
        </p:nvSpPr>
        <p:spPr>
          <a:xfrm>
            <a:off x="5233797" y="569539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Pouches</a:t>
            </a:r>
          </a:p>
        </p:txBody>
      </p:sp>
      <p:sp>
        <p:nvSpPr>
          <p:cNvPr id="50" name="BPS Value 9"/>
          <p:cNvSpPr txBox="1"/>
          <p:nvPr/>
        </p:nvSpPr>
        <p:spPr>
          <a:xfrm>
            <a:off x="6896100" y="5757310"/>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51" name="Rounded Rectangle 50"/>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Packaging Type</a:t>
            </a:r>
          </a:p>
        </p:txBody>
      </p:sp>
      <p:sp>
        <p:nvSpPr>
          <p:cNvPr id="53" name="Rectangle 52"/>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5" name="TextBox 5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6" name="Picture 55" descr="lock.png"/>
          <p:cNvPicPr>
            <a:picLocks noChangeAspect="1"/>
          </p:cNvPicPr>
          <p:nvPr/>
        </p:nvPicPr>
        <p:blipFill>
          <a:blip r:embed="rId5"/>
          <a:stretch>
            <a:fillRect/>
          </a:stretch>
        </p:blipFill>
        <p:spPr>
          <a:xfrm>
            <a:off x="2557843" y="3833622"/>
            <a:ext cx="275034" cy="400050"/>
          </a:xfrm>
          <a:prstGeom prst="rect">
            <a:avLst/>
          </a:prstGeom>
        </p:spPr>
      </p:pic>
      <p:sp>
        <p:nvSpPr>
          <p:cNvPr id="57" name="TextBox 56"/>
          <p:cNvSpPr txBox="1"/>
          <p:nvPr/>
        </p:nvSpPr>
        <p:spPr>
          <a:xfrm>
            <a:off x="7829550" y="1400175"/>
            <a:ext cx="4057650" cy="194310"/>
          </a:xfrm>
          <a:prstGeom prst="rect">
            <a:avLst/>
          </a:prstGeom>
          <a:noFill/>
        </p:spPr>
        <p:txBody>
          <a:bodyPr wrap="none" lIns="0" rIns="0" tIns="0" bIns="0">
            <a:spAutoFit/>
          </a:bodyPr>
          <a:lstStyle/>
          <a:p>
            <a:r>
              <a:rPr sz="1150" b="0">
                <a:solidFill>
                  <a:srgbClr val="2E2E2E"/>
                </a:solidFill>
                <a:latin typeface="Calibri"/>
              </a:rPr>
              <a:t>Among matcha by packaging type, sachets and stick packs segment</a:t>
            </a:r>
          </a:p>
        </p:txBody>
      </p:sp>
      <p:sp>
        <p:nvSpPr>
          <p:cNvPr id="58" name="TextBox 57"/>
          <p:cNvSpPr txBox="1"/>
          <p:nvPr/>
        </p:nvSpPr>
        <p:spPr>
          <a:xfrm>
            <a:off x="7829550" y="1575435"/>
            <a:ext cx="2609807" cy="194310"/>
          </a:xfrm>
          <a:prstGeom prst="rect">
            <a:avLst/>
          </a:prstGeom>
          <a:noFill/>
        </p:spPr>
        <p:txBody>
          <a:bodyPr wrap="none" lIns="0" rIns="0" tIns="0" bIns="0">
            <a:spAutoFit/>
          </a:bodyPr>
          <a:lstStyle/>
          <a:p>
            <a:r>
              <a:rPr sz="1150" b="0">
                <a:solidFill>
                  <a:srgbClr val="2E2E2E"/>
                </a:solidFill>
                <a:latin typeface="Calibri"/>
              </a:rPr>
              <a:t>is expected to witness the highest CAGR of</a:t>
            </a:r>
          </a:p>
        </p:txBody>
      </p:sp>
      <p:pic>
        <p:nvPicPr>
          <p:cNvPr id="59" name="Picture 58" descr="lock.png"/>
          <p:cNvPicPr>
            <a:picLocks noChangeAspect="1"/>
          </p:cNvPicPr>
          <p:nvPr/>
        </p:nvPicPr>
        <p:blipFill>
          <a:blip r:embed="rId5"/>
          <a:stretch>
            <a:fillRect/>
          </a:stretch>
        </p:blipFill>
        <p:spPr>
          <a:xfrm>
            <a:off x="10388511" y="1565211"/>
            <a:ext cx="134549" cy="195707"/>
          </a:xfrm>
          <a:prstGeom prst="rect">
            <a:avLst/>
          </a:prstGeom>
        </p:spPr>
      </p:pic>
      <p:sp>
        <p:nvSpPr>
          <p:cNvPr id="60" name="TextBox 59"/>
          <p:cNvSpPr txBox="1"/>
          <p:nvPr/>
        </p:nvSpPr>
        <p:spPr>
          <a:xfrm>
            <a:off x="105636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61" name="TextBox 60"/>
          <p:cNvSpPr txBox="1"/>
          <p:nvPr/>
        </p:nvSpPr>
        <p:spPr>
          <a:xfrm>
            <a:off x="7829550" y="1750695"/>
            <a:ext cx="3794199" cy="194310"/>
          </a:xfrm>
          <a:prstGeom prst="rect">
            <a:avLst/>
          </a:prstGeom>
          <a:noFill/>
        </p:spPr>
        <p:txBody>
          <a:bodyPr wrap="none" lIns="0" rIns="0" tIns="0" bIns="0">
            <a:spAutoFit/>
          </a:bodyPr>
          <a:lstStyle/>
          <a:p>
            <a:r>
              <a:rPr sz="1150" b="0">
                <a:solidFill>
                  <a:srgbClr val="2E2E2E"/>
                </a:solidFill>
                <a:latin typeface="Calibri"/>
              </a:rPr>
              <a:t>period. In terms of value share by packaging type, the pouches</a:t>
            </a:r>
          </a:p>
        </p:txBody>
      </p:sp>
      <p:sp>
        <p:nvSpPr>
          <p:cNvPr id="62" name="TextBox 61"/>
          <p:cNvSpPr txBox="1"/>
          <p:nvPr/>
        </p:nvSpPr>
        <p:spPr>
          <a:xfrm>
            <a:off x="7829550" y="1925955"/>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63" name="Picture 62" descr="lock.png"/>
          <p:cNvPicPr>
            <a:picLocks noChangeAspect="1"/>
          </p:cNvPicPr>
          <p:nvPr/>
        </p:nvPicPr>
        <p:blipFill>
          <a:blip r:embed="rId5"/>
          <a:stretch>
            <a:fillRect/>
          </a:stretch>
        </p:blipFill>
        <p:spPr>
          <a:xfrm>
            <a:off x="10943347" y="1915731"/>
            <a:ext cx="134549" cy="195707"/>
          </a:xfrm>
          <a:prstGeom prst="rect">
            <a:avLst/>
          </a:prstGeom>
        </p:spPr>
      </p:pic>
      <p:sp>
        <p:nvSpPr>
          <p:cNvPr id="64" name="TextBox 63"/>
          <p:cNvSpPr txBox="1"/>
          <p:nvPr/>
        </p:nvSpPr>
        <p:spPr>
          <a:xfrm>
            <a:off x="11118457" y="1925955"/>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65" name="TextBox 64"/>
          <p:cNvSpPr txBox="1"/>
          <p:nvPr/>
        </p:nvSpPr>
        <p:spPr>
          <a:xfrm>
            <a:off x="7829550" y="2101215"/>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66" name="Picture 65" descr="lock.png"/>
          <p:cNvPicPr>
            <a:picLocks noChangeAspect="1"/>
          </p:cNvPicPr>
          <p:nvPr/>
        </p:nvPicPr>
        <p:blipFill>
          <a:blip r:embed="rId5"/>
          <a:stretch>
            <a:fillRect/>
          </a:stretch>
        </p:blipFill>
        <p:spPr>
          <a:xfrm>
            <a:off x="8712947" y="2090991"/>
            <a:ext cx="134549" cy="195707"/>
          </a:xfrm>
          <a:prstGeom prst="rect">
            <a:avLst/>
          </a:prstGeom>
        </p:spPr>
      </p:pic>
      <p:sp>
        <p:nvSpPr>
          <p:cNvPr id="67" name="TextBox 66"/>
          <p:cNvSpPr txBox="1"/>
          <p:nvPr/>
        </p:nvSpPr>
        <p:spPr>
          <a:xfrm>
            <a:off x="8888056"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8" name="TextBox 67"/>
          <p:cNvSpPr txBox="1"/>
          <p:nvPr/>
        </p:nvSpPr>
        <p:spPr>
          <a:xfrm>
            <a:off x="7829550" y="2329053"/>
            <a:ext cx="2225588" cy="194310"/>
          </a:xfrm>
          <a:prstGeom prst="rect">
            <a:avLst/>
          </a:prstGeom>
          <a:noFill/>
        </p:spPr>
        <p:txBody>
          <a:bodyPr wrap="none" lIns="0" rIns="0" tIns="0" bIns="0">
            <a:spAutoFit/>
          </a:bodyPr>
          <a:lstStyle/>
          <a:p>
            <a:r>
              <a:rPr sz="1150" b="0">
                <a:solidFill>
                  <a:srgbClr val="2E2E2E"/>
                </a:solidFill>
                <a:latin typeface="Calibri"/>
              </a:rPr>
              <a:t>The jars segment is expected to lose</a:t>
            </a:r>
          </a:p>
        </p:txBody>
      </p:sp>
      <p:pic>
        <p:nvPicPr>
          <p:cNvPr id="69" name="Picture 68" descr="lock.png"/>
          <p:cNvPicPr>
            <a:picLocks noChangeAspect="1"/>
          </p:cNvPicPr>
          <p:nvPr/>
        </p:nvPicPr>
        <p:blipFill>
          <a:blip r:embed="rId5"/>
          <a:stretch>
            <a:fillRect/>
          </a:stretch>
        </p:blipFill>
        <p:spPr>
          <a:xfrm>
            <a:off x="10004292" y="2318829"/>
            <a:ext cx="134549" cy="195707"/>
          </a:xfrm>
          <a:prstGeom prst="rect">
            <a:avLst/>
          </a:prstGeom>
        </p:spPr>
      </p:pic>
      <p:sp>
        <p:nvSpPr>
          <p:cNvPr id="70" name="TextBox 69"/>
          <p:cNvSpPr txBox="1"/>
          <p:nvPr/>
        </p:nvSpPr>
        <p:spPr>
          <a:xfrm>
            <a:off x="10179401" y="2329053"/>
            <a:ext cx="1346150" cy="194310"/>
          </a:xfrm>
          <a:prstGeom prst="rect">
            <a:avLst/>
          </a:prstGeom>
          <a:noFill/>
        </p:spPr>
        <p:txBody>
          <a:bodyPr wrap="none" lIns="0" rIns="0" tIns="0" bIns="0">
            <a:spAutoFit/>
          </a:bodyPr>
          <a:lstStyle/>
          <a:p>
            <a:r>
              <a:rPr sz="1150" b="0">
                <a:solidFill>
                  <a:srgbClr val="2E2E2E"/>
                </a:solidFill>
                <a:latin typeface="Calibri"/>
              </a:rPr>
              <a:t>BPS over the forecast</a:t>
            </a:r>
          </a:p>
        </p:txBody>
      </p:sp>
      <p:sp>
        <p:nvSpPr>
          <p:cNvPr id="71" name="TextBox 70"/>
          <p:cNvSpPr txBox="1"/>
          <p:nvPr/>
        </p:nvSpPr>
        <p:spPr>
          <a:xfrm>
            <a:off x="7829550" y="2504313"/>
            <a:ext cx="1335310" cy="194310"/>
          </a:xfrm>
          <a:prstGeom prst="rect">
            <a:avLst/>
          </a:prstGeom>
          <a:noFill/>
        </p:spPr>
        <p:txBody>
          <a:bodyPr wrap="none" lIns="0" rIns="0" tIns="0" bIns="0">
            <a:spAutoFit/>
          </a:bodyPr>
          <a:lstStyle/>
          <a:p>
            <a:r>
              <a:rPr sz="1150" b="0">
                <a:solidFill>
                  <a:srgbClr val="2E2E2E"/>
                </a:solidFill>
                <a:latin typeface="Calibri"/>
              </a:rPr>
              <a:t>period to account for</a:t>
            </a:r>
          </a:p>
        </p:txBody>
      </p:sp>
      <p:pic>
        <p:nvPicPr>
          <p:cNvPr id="72" name="Picture 71" descr="lock.png"/>
          <p:cNvPicPr>
            <a:picLocks noChangeAspect="1"/>
          </p:cNvPicPr>
          <p:nvPr/>
        </p:nvPicPr>
        <p:blipFill>
          <a:blip r:embed="rId5"/>
          <a:stretch>
            <a:fillRect/>
          </a:stretch>
        </p:blipFill>
        <p:spPr>
          <a:xfrm>
            <a:off x="9114014" y="2494089"/>
            <a:ext cx="134549" cy="195707"/>
          </a:xfrm>
          <a:prstGeom prst="rect">
            <a:avLst/>
          </a:prstGeom>
        </p:spPr>
      </p:pic>
      <p:sp>
        <p:nvSpPr>
          <p:cNvPr id="73" name="TextBox 72"/>
          <p:cNvSpPr txBox="1"/>
          <p:nvPr/>
        </p:nvSpPr>
        <p:spPr>
          <a:xfrm>
            <a:off x="9289123"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74"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7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Grade Type</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Grade Type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7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Grade Type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5 sub-segments of Grade Type,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Grade Type segment categorizes the market by grade type.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908810"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908810"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Culinary Grade</a:t>
            </a:r>
          </a:p>
        </p:txBody>
      </p:sp>
      <p:sp>
        <p:nvSpPr>
          <p:cNvPr id="22" name="Rectangle 21"/>
          <p:cNvSpPr/>
          <p:nvPr/>
        </p:nvSpPr>
        <p:spPr>
          <a:xfrm>
            <a:off x="186690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659380"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890010" y="1773916"/>
            <a:ext cx="1908810"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890010" y="1992961"/>
            <a:ext cx="1908810"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92811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Industrial Grade</a:t>
            </a:r>
          </a:p>
        </p:txBody>
      </p:sp>
      <p:sp>
        <p:nvSpPr>
          <p:cNvPr id="29" name="Rectangle 28"/>
          <p:cNvSpPr/>
          <p:nvPr/>
        </p:nvSpPr>
        <p:spPr>
          <a:xfrm>
            <a:off x="389001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89001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89001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682490"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913120" y="1773916"/>
            <a:ext cx="1908810"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913120" y="1992961"/>
            <a:ext cx="1908810"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95122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Ceremonial Grade</a:t>
            </a:r>
          </a:p>
        </p:txBody>
      </p:sp>
      <p:sp>
        <p:nvSpPr>
          <p:cNvPr id="36" name="Rectangle 35"/>
          <p:cNvSpPr/>
          <p:nvPr/>
        </p:nvSpPr>
        <p:spPr>
          <a:xfrm>
            <a:off x="591312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91312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91312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6705600"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7936230" y="1773916"/>
            <a:ext cx="1908810"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7936230" y="1992961"/>
            <a:ext cx="1908810"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97433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Standard Drinking Grade</a:t>
            </a:r>
          </a:p>
        </p:txBody>
      </p:sp>
      <p:sp>
        <p:nvSpPr>
          <p:cNvPr id="43" name="Rectangle 42"/>
          <p:cNvSpPr/>
          <p:nvPr/>
        </p:nvSpPr>
        <p:spPr>
          <a:xfrm>
            <a:off x="793623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793623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793623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872871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9959340" y="1773916"/>
            <a:ext cx="1908810"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9959340" y="1992961"/>
            <a:ext cx="1908810"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9997440" y="1773916"/>
            <a:ext cx="1832610" cy="438089"/>
          </a:xfrm>
          <a:prstGeom prst="rect">
            <a:avLst/>
          </a:prstGeom>
          <a:noFill/>
        </p:spPr>
        <p:txBody>
          <a:bodyPr wrap="square" lIns="28575" rIns="28575" tIns="9525" bIns="9525" anchor="ctr">
            <a:spAutoFit/>
          </a:bodyPr>
          <a:lstStyle/>
          <a:p>
            <a:pPr algn="ctr"/>
            <a:r>
              <a:rPr sz="1100" b="1">
                <a:solidFill>
                  <a:srgbClr val="FFFFFF"/>
                </a:solidFill>
                <a:latin typeface="Calibri"/>
              </a:rPr>
              <a:t>Premium Grade</a:t>
            </a:r>
          </a:p>
        </p:txBody>
      </p:sp>
      <p:sp>
        <p:nvSpPr>
          <p:cNvPr id="50" name="Rectangle 49"/>
          <p:cNvSpPr/>
          <p:nvPr/>
        </p:nvSpPr>
        <p:spPr>
          <a:xfrm>
            <a:off x="9959340" y="22302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9959340" y="2723109"/>
            <a:ext cx="1908810"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9959340" y="3215959"/>
            <a:ext cx="1908810"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10751820"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56" name="Rectangle 55"/>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58" name="Rounded Rectangle 57"/>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0" name="Rectangle 59"/>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p:txBody>
      </p:sp>
      <p:sp>
        <p:nvSpPr>
          <p:cNvPr id="62" name="Rounded Rectangle 61"/>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64" name="Rectangle 63"/>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Grade Type split shows how demand is distributed across grade type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66" name="Rectangle 65"/>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68" name="TextBox 67"/>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69" name="TextBox 6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0" name="Picture 69" descr="545_3_605E5C.png"/>
          <p:cNvPicPr>
            <a:picLocks noChangeAspect="1"/>
          </p:cNvPicPr>
          <p:nvPr/>
        </p:nvPicPr>
        <p:blipFill>
          <a:blip r:embed="rId4"/>
          <a:stretch>
            <a:fillRect/>
          </a:stretch>
        </p:blipFill>
        <p:spPr>
          <a:xfrm>
            <a:off x="2223441" y="2286582"/>
            <a:ext cx="1195728" cy="361950"/>
          </a:xfrm>
          <a:prstGeom prst="rect">
            <a:avLst/>
          </a:prstGeom>
        </p:spPr>
      </p:pic>
      <p:pic>
        <p:nvPicPr>
          <p:cNvPr id="71" name="Picture 70" descr="970_5_605E5C.png"/>
          <p:cNvPicPr>
            <a:picLocks noChangeAspect="1"/>
          </p:cNvPicPr>
          <p:nvPr/>
        </p:nvPicPr>
        <p:blipFill>
          <a:blip r:embed="rId5"/>
          <a:stretch>
            <a:fillRect/>
          </a:stretch>
        </p:blipFill>
        <p:spPr>
          <a:xfrm>
            <a:off x="2223441" y="2779432"/>
            <a:ext cx="1195728" cy="361950"/>
          </a:xfrm>
          <a:prstGeom prst="rect">
            <a:avLst/>
          </a:prstGeom>
        </p:spPr>
      </p:pic>
      <p:pic>
        <p:nvPicPr>
          <p:cNvPr id="72" name="Picture 71" descr="5_9__605E5C.png"/>
          <p:cNvPicPr>
            <a:picLocks noChangeAspect="1"/>
          </p:cNvPicPr>
          <p:nvPr/>
        </p:nvPicPr>
        <p:blipFill>
          <a:blip r:embed="rId6"/>
          <a:stretch>
            <a:fillRect/>
          </a:stretch>
        </p:blipFill>
        <p:spPr>
          <a:xfrm>
            <a:off x="2330087" y="3272281"/>
            <a:ext cx="982436" cy="361950"/>
          </a:xfrm>
          <a:prstGeom prst="rect">
            <a:avLst/>
          </a:prstGeom>
        </p:spPr>
      </p:pic>
      <p:pic>
        <p:nvPicPr>
          <p:cNvPr id="73" name="Picture 72" descr="167_1_605E5C.png"/>
          <p:cNvPicPr>
            <a:picLocks noChangeAspect="1"/>
          </p:cNvPicPr>
          <p:nvPr/>
        </p:nvPicPr>
        <p:blipFill>
          <a:blip r:embed="rId7"/>
          <a:stretch>
            <a:fillRect/>
          </a:stretch>
        </p:blipFill>
        <p:spPr>
          <a:xfrm>
            <a:off x="4246551" y="2286582"/>
            <a:ext cx="1195728" cy="361950"/>
          </a:xfrm>
          <a:prstGeom prst="rect">
            <a:avLst/>
          </a:prstGeom>
        </p:spPr>
      </p:pic>
      <p:pic>
        <p:nvPicPr>
          <p:cNvPr id="74" name="Picture 73" descr="286_9_605E5C.png"/>
          <p:cNvPicPr>
            <a:picLocks noChangeAspect="1"/>
          </p:cNvPicPr>
          <p:nvPr/>
        </p:nvPicPr>
        <p:blipFill>
          <a:blip r:embed="rId8"/>
          <a:stretch>
            <a:fillRect/>
          </a:stretch>
        </p:blipFill>
        <p:spPr>
          <a:xfrm>
            <a:off x="4246551" y="2779432"/>
            <a:ext cx="1195728" cy="361950"/>
          </a:xfrm>
          <a:prstGeom prst="rect">
            <a:avLst/>
          </a:prstGeom>
        </p:spPr>
      </p:pic>
      <p:pic>
        <p:nvPicPr>
          <p:cNvPr id="75" name="Picture 74" descr="5_6__605E5C.png"/>
          <p:cNvPicPr>
            <a:picLocks noChangeAspect="1"/>
          </p:cNvPicPr>
          <p:nvPr/>
        </p:nvPicPr>
        <p:blipFill>
          <a:blip r:embed="rId9"/>
          <a:stretch>
            <a:fillRect/>
          </a:stretch>
        </p:blipFill>
        <p:spPr>
          <a:xfrm>
            <a:off x="4353197" y="3272281"/>
            <a:ext cx="982436" cy="361950"/>
          </a:xfrm>
          <a:prstGeom prst="rect">
            <a:avLst/>
          </a:prstGeom>
        </p:spPr>
      </p:pic>
      <p:pic>
        <p:nvPicPr>
          <p:cNvPr id="76" name="Picture 75" descr="154_8_605E5C.png"/>
          <p:cNvPicPr>
            <a:picLocks noChangeAspect="1"/>
          </p:cNvPicPr>
          <p:nvPr/>
        </p:nvPicPr>
        <p:blipFill>
          <a:blip r:embed="rId10"/>
          <a:stretch>
            <a:fillRect/>
          </a:stretch>
        </p:blipFill>
        <p:spPr>
          <a:xfrm>
            <a:off x="6269661" y="2286582"/>
            <a:ext cx="1195728" cy="361950"/>
          </a:xfrm>
          <a:prstGeom prst="rect">
            <a:avLst/>
          </a:prstGeom>
        </p:spPr>
      </p:pic>
      <p:pic>
        <p:nvPicPr>
          <p:cNvPr id="77" name="Picture 76" descr="338_0_605E5C.png"/>
          <p:cNvPicPr>
            <a:picLocks noChangeAspect="1"/>
          </p:cNvPicPr>
          <p:nvPr/>
        </p:nvPicPr>
        <p:blipFill>
          <a:blip r:embed="rId11"/>
          <a:stretch>
            <a:fillRect/>
          </a:stretch>
        </p:blipFill>
        <p:spPr>
          <a:xfrm>
            <a:off x="6269661" y="2779432"/>
            <a:ext cx="1195728" cy="361950"/>
          </a:xfrm>
          <a:prstGeom prst="rect">
            <a:avLst/>
          </a:prstGeom>
        </p:spPr>
      </p:pic>
      <p:pic>
        <p:nvPicPr>
          <p:cNvPr id="78" name="Picture 77" descr="8_1__605E5C.png"/>
          <p:cNvPicPr>
            <a:picLocks noChangeAspect="1"/>
          </p:cNvPicPr>
          <p:nvPr/>
        </p:nvPicPr>
        <p:blipFill>
          <a:blip r:embed="rId12"/>
          <a:stretch>
            <a:fillRect/>
          </a:stretch>
        </p:blipFill>
        <p:spPr>
          <a:xfrm>
            <a:off x="6376307" y="3272281"/>
            <a:ext cx="982436" cy="361950"/>
          </a:xfrm>
          <a:prstGeom prst="rect">
            <a:avLst/>
          </a:prstGeom>
        </p:spPr>
      </p:pic>
      <p:pic>
        <p:nvPicPr>
          <p:cNvPr id="79" name="Picture 78" descr="137_0_605E5C.png"/>
          <p:cNvPicPr>
            <a:picLocks noChangeAspect="1"/>
          </p:cNvPicPr>
          <p:nvPr/>
        </p:nvPicPr>
        <p:blipFill>
          <a:blip r:embed="rId13"/>
          <a:stretch>
            <a:fillRect/>
          </a:stretch>
        </p:blipFill>
        <p:spPr>
          <a:xfrm>
            <a:off x="8292771" y="2286582"/>
            <a:ext cx="1195728" cy="361950"/>
          </a:xfrm>
          <a:prstGeom prst="rect">
            <a:avLst/>
          </a:prstGeom>
        </p:spPr>
      </p:pic>
      <p:pic>
        <p:nvPicPr>
          <p:cNvPr id="80" name="Picture 79" descr="219_6_605E5C.png"/>
          <p:cNvPicPr>
            <a:picLocks noChangeAspect="1"/>
          </p:cNvPicPr>
          <p:nvPr/>
        </p:nvPicPr>
        <p:blipFill>
          <a:blip r:embed="rId14"/>
          <a:stretch>
            <a:fillRect/>
          </a:stretch>
        </p:blipFill>
        <p:spPr>
          <a:xfrm>
            <a:off x="8292771" y="2779432"/>
            <a:ext cx="1195728" cy="361950"/>
          </a:xfrm>
          <a:prstGeom prst="rect">
            <a:avLst/>
          </a:prstGeom>
        </p:spPr>
      </p:pic>
      <p:pic>
        <p:nvPicPr>
          <p:cNvPr id="81" name="Picture 80" descr="4_8__605E5C.png"/>
          <p:cNvPicPr>
            <a:picLocks noChangeAspect="1"/>
          </p:cNvPicPr>
          <p:nvPr/>
        </p:nvPicPr>
        <p:blipFill>
          <a:blip r:embed="rId15"/>
          <a:stretch>
            <a:fillRect/>
          </a:stretch>
        </p:blipFill>
        <p:spPr>
          <a:xfrm>
            <a:off x="8399417" y="3272281"/>
            <a:ext cx="982436" cy="361950"/>
          </a:xfrm>
          <a:prstGeom prst="rect">
            <a:avLst/>
          </a:prstGeom>
        </p:spPr>
      </p:pic>
      <p:pic>
        <p:nvPicPr>
          <p:cNvPr id="82" name="Picture 81" descr="109_1_605E5C.png"/>
          <p:cNvPicPr>
            <a:picLocks noChangeAspect="1"/>
          </p:cNvPicPr>
          <p:nvPr/>
        </p:nvPicPr>
        <p:blipFill>
          <a:blip r:embed="rId16"/>
          <a:stretch>
            <a:fillRect/>
          </a:stretch>
        </p:blipFill>
        <p:spPr>
          <a:xfrm>
            <a:off x="10315881" y="2286582"/>
            <a:ext cx="1195728" cy="361950"/>
          </a:xfrm>
          <a:prstGeom prst="rect">
            <a:avLst/>
          </a:prstGeom>
        </p:spPr>
      </p:pic>
      <p:pic>
        <p:nvPicPr>
          <p:cNvPr id="83" name="Picture 82" descr="211_5_605E5C.png"/>
          <p:cNvPicPr>
            <a:picLocks noChangeAspect="1"/>
          </p:cNvPicPr>
          <p:nvPr/>
        </p:nvPicPr>
        <p:blipFill>
          <a:blip r:embed="rId17"/>
          <a:stretch>
            <a:fillRect/>
          </a:stretch>
        </p:blipFill>
        <p:spPr>
          <a:xfrm>
            <a:off x="10315881" y="2779432"/>
            <a:ext cx="1195728" cy="361950"/>
          </a:xfrm>
          <a:prstGeom prst="rect">
            <a:avLst/>
          </a:prstGeom>
        </p:spPr>
      </p:pic>
      <p:pic>
        <p:nvPicPr>
          <p:cNvPr id="84" name="Picture 83" descr="6_8__605E5C.png"/>
          <p:cNvPicPr>
            <a:picLocks noChangeAspect="1"/>
          </p:cNvPicPr>
          <p:nvPr/>
        </p:nvPicPr>
        <p:blipFill>
          <a:blip r:embed="rId18"/>
          <a:stretch>
            <a:fillRect/>
          </a:stretch>
        </p:blipFill>
        <p:spPr>
          <a:xfrm>
            <a:off x="10422527" y="3272281"/>
            <a:ext cx="982436" cy="361950"/>
          </a:xfrm>
          <a:prstGeom prst="rect">
            <a:avLst/>
          </a:prstGeom>
        </p:spPr>
      </p:pic>
      <p:pic>
        <p:nvPicPr>
          <p:cNvPr id="85" name="Picture 84" descr="lock.png"/>
          <p:cNvPicPr>
            <a:picLocks noChangeAspect="1"/>
          </p:cNvPicPr>
          <p:nvPr/>
        </p:nvPicPr>
        <p:blipFill>
          <a:blip r:embed="rId19"/>
          <a:stretch>
            <a:fillRect/>
          </a:stretch>
        </p:blipFill>
        <p:spPr>
          <a:xfrm>
            <a:off x="2727960" y="2827057"/>
            <a:ext cx="183356" cy="266700"/>
          </a:xfrm>
          <a:prstGeom prst="rect">
            <a:avLst/>
          </a:prstGeom>
        </p:spPr>
      </p:pic>
      <p:pic>
        <p:nvPicPr>
          <p:cNvPr id="86" name="Picture 85" descr="lock.png"/>
          <p:cNvPicPr>
            <a:picLocks noChangeAspect="1"/>
          </p:cNvPicPr>
          <p:nvPr/>
        </p:nvPicPr>
        <p:blipFill>
          <a:blip r:embed="rId19"/>
          <a:stretch>
            <a:fillRect/>
          </a:stretch>
        </p:blipFill>
        <p:spPr>
          <a:xfrm>
            <a:off x="4751070" y="2827057"/>
            <a:ext cx="183356" cy="266700"/>
          </a:xfrm>
          <a:prstGeom prst="rect">
            <a:avLst/>
          </a:prstGeom>
        </p:spPr>
      </p:pic>
      <p:pic>
        <p:nvPicPr>
          <p:cNvPr id="87" name="Picture 86" descr="lock.png"/>
          <p:cNvPicPr>
            <a:picLocks noChangeAspect="1"/>
          </p:cNvPicPr>
          <p:nvPr/>
        </p:nvPicPr>
        <p:blipFill>
          <a:blip r:embed="rId19"/>
          <a:stretch>
            <a:fillRect/>
          </a:stretch>
        </p:blipFill>
        <p:spPr>
          <a:xfrm>
            <a:off x="6774180" y="2827057"/>
            <a:ext cx="183356" cy="266700"/>
          </a:xfrm>
          <a:prstGeom prst="rect">
            <a:avLst/>
          </a:prstGeom>
        </p:spPr>
      </p:pic>
      <p:pic>
        <p:nvPicPr>
          <p:cNvPr id="88" name="Picture 87" descr="lock.png"/>
          <p:cNvPicPr>
            <a:picLocks noChangeAspect="1"/>
          </p:cNvPicPr>
          <p:nvPr/>
        </p:nvPicPr>
        <p:blipFill>
          <a:blip r:embed="rId19"/>
          <a:stretch>
            <a:fillRect/>
          </a:stretch>
        </p:blipFill>
        <p:spPr>
          <a:xfrm>
            <a:off x="8797290" y="2827057"/>
            <a:ext cx="183356" cy="266700"/>
          </a:xfrm>
          <a:prstGeom prst="rect">
            <a:avLst/>
          </a:prstGeom>
        </p:spPr>
      </p:pic>
      <p:pic>
        <p:nvPicPr>
          <p:cNvPr id="89" name="Picture 88" descr="lock.png"/>
          <p:cNvPicPr>
            <a:picLocks noChangeAspect="1"/>
          </p:cNvPicPr>
          <p:nvPr/>
        </p:nvPicPr>
        <p:blipFill>
          <a:blip r:embed="rId19"/>
          <a:stretch>
            <a:fillRect/>
          </a:stretch>
        </p:blipFill>
        <p:spPr>
          <a:xfrm>
            <a:off x="10820400" y="2827057"/>
            <a:ext cx="183356" cy="266700"/>
          </a:xfrm>
          <a:prstGeom prst="rect">
            <a:avLst/>
          </a:prstGeom>
        </p:spPr>
      </p:pic>
      <p:sp>
        <p:nvSpPr>
          <p:cNvPr id="90" name="TextBox 89"/>
          <p:cNvSpPr txBox="1"/>
          <p:nvPr/>
        </p:nvSpPr>
        <p:spPr>
          <a:xfrm>
            <a:off x="485775" y="4229437"/>
            <a:ext cx="2806898" cy="186689"/>
          </a:xfrm>
          <a:prstGeom prst="rect">
            <a:avLst/>
          </a:prstGeom>
          <a:noFill/>
        </p:spPr>
        <p:txBody>
          <a:bodyPr wrap="none" lIns="0" rIns="0" tIns="0" bIns="0">
            <a:spAutoFit/>
          </a:bodyPr>
          <a:lstStyle/>
          <a:p>
            <a:r>
              <a:rPr sz="1100" b="0">
                <a:solidFill>
                  <a:srgbClr val="2E2E2E"/>
                </a:solidFill>
                <a:latin typeface="Calibri"/>
              </a:rPr>
              <a:t>Among matcha by grade type, ceremonial grade</a:t>
            </a:r>
          </a:p>
        </p:txBody>
      </p:sp>
      <p:sp>
        <p:nvSpPr>
          <p:cNvPr id="91" name="TextBox 90"/>
          <p:cNvSpPr txBox="1"/>
          <p:nvPr/>
        </p:nvSpPr>
        <p:spPr>
          <a:xfrm>
            <a:off x="485775" y="439707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92" name="TextBox 91"/>
          <p:cNvSpPr txBox="1"/>
          <p:nvPr/>
        </p:nvSpPr>
        <p:spPr>
          <a:xfrm>
            <a:off x="485775" y="456471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93" name="Picture 92" descr="lock.png"/>
          <p:cNvPicPr>
            <a:picLocks noChangeAspect="1"/>
          </p:cNvPicPr>
          <p:nvPr/>
        </p:nvPicPr>
        <p:blipFill>
          <a:blip r:embed="rId19"/>
          <a:stretch>
            <a:fillRect/>
          </a:stretch>
        </p:blipFill>
        <p:spPr>
          <a:xfrm>
            <a:off x="626261" y="4554938"/>
            <a:ext cx="128699" cy="187198"/>
          </a:xfrm>
          <a:prstGeom prst="rect">
            <a:avLst/>
          </a:prstGeom>
        </p:spPr>
      </p:pic>
      <p:sp>
        <p:nvSpPr>
          <p:cNvPr id="94" name="TextBox 93"/>
          <p:cNvSpPr txBox="1"/>
          <p:nvPr/>
        </p:nvSpPr>
        <p:spPr>
          <a:xfrm>
            <a:off x="793757" y="456471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95" name="TextBox 94"/>
          <p:cNvSpPr txBox="1"/>
          <p:nvPr/>
        </p:nvSpPr>
        <p:spPr>
          <a:xfrm>
            <a:off x="485775" y="4732357"/>
            <a:ext cx="2914650" cy="186689"/>
          </a:xfrm>
          <a:prstGeom prst="rect">
            <a:avLst/>
          </a:prstGeom>
          <a:noFill/>
        </p:spPr>
        <p:txBody>
          <a:bodyPr wrap="none" lIns="0" rIns="0" tIns="0" bIns="0">
            <a:spAutoFit/>
          </a:bodyPr>
          <a:lstStyle/>
          <a:p>
            <a:r>
              <a:rPr sz="1100" b="0">
                <a:solidFill>
                  <a:srgbClr val="2E2E2E"/>
                </a:solidFill>
                <a:latin typeface="Calibri"/>
              </a:rPr>
              <a:t>share by grade type, the culinary grade segment is</a:t>
            </a:r>
          </a:p>
        </p:txBody>
      </p:sp>
      <p:sp>
        <p:nvSpPr>
          <p:cNvPr id="96" name="TextBox 95"/>
          <p:cNvSpPr txBox="1"/>
          <p:nvPr/>
        </p:nvSpPr>
        <p:spPr>
          <a:xfrm>
            <a:off x="485775" y="489999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97" name="Picture 96" descr="lock.png"/>
          <p:cNvPicPr>
            <a:picLocks noChangeAspect="1"/>
          </p:cNvPicPr>
          <p:nvPr/>
        </p:nvPicPr>
        <p:blipFill>
          <a:blip r:embed="rId19"/>
          <a:stretch>
            <a:fillRect/>
          </a:stretch>
        </p:blipFill>
        <p:spPr>
          <a:xfrm>
            <a:off x="2822716" y="4890217"/>
            <a:ext cx="128699" cy="187198"/>
          </a:xfrm>
          <a:prstGeom prst="rect">
            <a:avLst/>
          </a:prstGeom>
        </p:spPr>
      </p:pic>
      <p:sp>
        <p:nvSpPr>
          <p:cNvPr id="98" name="TextBox 97"/>
          <p:cNvSpPr txBox="1"/>
          <p:nvPr/>
        </p:nvSpPr>
        <p:spPr>
          <a:xfrm>
            <a:off x="2990212" y="489999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99" name="TextBox 98"/>
          <p:cNvSpPr txBox="1"/>
          <p:nvPr/>
        </p:nvSpPr>
        <p:spPr>
          <a:xfrm>
            <a:off x="485775" y="506763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100" name="Picture 99" descr="lock.png"/>
          <p:cNvPicPr>
            <a:picLocks noChangeAspect="1"/>
          </p:cNvPicPr>
          <p:nvPr/>
        </p:nvPicPr>
        <p:blipFill>
          <a:blip r:embed="rId19"/>
          <a:stretch>
            <a:fillRect/>
          </a:stretch>
        </p:blipFill>
        <p:spPr>
          <a:xfrm>
            <a:off x="1576057" y="5057858"/>
            <a:ext cx="128699" cy="187198"/>
          </a:xfrm>
          <a:prstGeom prst="rect">
            <a:avLst/>
          </a:prstGeom>
        </p:spPr>
      </p:pic>
      <p:sp>
        <p:nvSpPr>
          <p:cNvPr id="101" name="TextBox 100"/>
          <p:cNvSpPr txBox="1"/>
          <p:nvPr/>
        </p:nvSpPr>
        <p:spPr>
          <a:xfrm>
            <a:off x="174355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02" name="TextBox 101"/>
          <p:cNvSpPr txBox="1"/>
          <p:nvPr/>
        </p:nvSpPr>
        <p:spPr>
          <a:xfrm>
            <a:off x="485775" y="5285569"/>
            <a:ext cx="2738412" cy="186689"/>
          </a:xfrm>
          <a:prstGeom prst="rect">
            <a:avLst/>
          </a:prstGeom>
          <a:noFill/>
        </p:spPr>
        <p:txBody>
          <a:bodyPr wrap="none" lIns="0" rIns="0" tIns="0" bIns="0">
            <a:spAutoFit/>
          </a:bodyPr>
          <a:lstStyle/>
          <a:p>
            <a:r>
              <a:rPr sz="1100" b="0">
                <a:solidFill>
                  <a:srgbClr val="2E2E2E"/>
                </a:solidFill>
                <a:latin typeface="Calibri"/>
              </a:rPr>
              <a:t>Culinary grade segment is projected to register</a:t>
            </a:r>
          </a:p>
        </p:txBody>
      </p:sp>
      <p:pic>
        <p:nvPicPr>
          <p:cNvPr id="103" name="Picture 102" descr="lock.png"/>
          <p:cNvPicPr>
            <a:picLocks noChangeAspect="1"/>
          </p:cNvPicPr>
          <p:nvPr/>
        </p:nvPicPr>
        <p:blipFill>
          <a:blip r:embed="rId19"/>
          <a:stretch>
            <a:fillRect/>
          </a:stretch>
        </p:blipFill>
        <p:spPr>
          <a:xfrm>
            <a:off x="472307" y="5443430"/>
            <a:ext cx="128699" cy="187198"/>
          </a:xfrm>
          <a:prstGeom prst="rect">
            <a:avLst/>
          </a:prstGeom>
        </p:spPr>
      </p:pic>
      <p:sp>
        <p:nvSpPr>
          <p:cNvPr id="104" name="TextBox 103"/>
          <p:cNvSpPr txBox="1"/>
          <p:nvPr/>
        </p:nvSpPr>
        <p:spPr>
          <a:xfrm>
            <a:off x="639803" y="5453209"/>
            <a:ext cx="2720404" cy="186689"/>
          </a:xfrm>
          <a:prstGeom prst="rect">
            <a:avLst/>
          </a:prstGeom>
          <a:noFill/>
        </p:spPr>
        <p:txBody>
          <a:bodyPr wrap="none" lIns="0" rIns="0" tIns="0" bIns="0">
            <a:spAutoFit/>
          </a:bodyPr>
          <a:lstStyle/>
          <a:p>
            <a:r>
              <a:rPr sz="1100" b="0">
                <a:solidFill>
                  <a:srgbClr val="2E2E2E"/>
                </a:solidFill>
                <a:latin typeface="Calibri"/>
              </a:rPr>
              <a:t>X higher value than ceremonial grade segment</a:t>
            </a:r>
          </a:p>
        </p:txBody>
      </p:sp>
      <p:sp>
        <p:nvSpPr>
          <p:cNvPr id="105" name="TextBox 104"/>
          <p:cNvSpPr txBox="1"/>
          <p:nvPr/>
        </p:nvSpPr>
        <p:spPr>
          <a:xfrm>
            <a:off x="485775" y="5620849"/>
            <a:ext cx="532407" cy="186689"/>
          </a:xfrm>
          <a:prstGeom prst="rect">
            <a:avLst/>
          </a:prstGeom>
          <a:noFill/>
        </p:spPr>
        <p:txBody>
          <a:bodyPr wrap="none" lIns="0" rIns="0" tIns="0" bIns="0">
            <a:spAutoFit/>
          </a:bodyPr>
          <a:lstStyle/>
          <a:p>
            <a:r>
              <a:rPr sz="1100" b="0">
                <a:solidFill>
                  <a:srgbClr val="2E2E2E"/>
                </a:solidFill>
                <a:latin typeface="Calibri"/>
              </a:rPr>
              <a:t>in 2036.</a:t>
            </a:r>
          </a:p>
        </p:txBody>
      </p:sp>
      <p:sp>
        <p:nvSpPr>
          <p:cNvPr id="106" name="TextBox 105"/>
          <p:cNvSpPr txBox="1"/>
          <p:nvPr/>
        </p:nvSpPr>
        <p:spPr>
          <a:xfrm>
            <a:off x="3838575" y="4229437"/>
            <a:ext cx="1072653" cy="186689"/>
          </a:xfrm>
          <a:prstGeom prst="rect">
            <a:avLst/>
          </a:prstGeom>
          <a:noFill/>
        </p:spPr>
        <p:txBody>
          <a:bodyPr wrap="none" lIns="0" rIns="0" tIns="0" bIns="0">
            <a:spAutoFit/>
          </a:bodyPr>
          <a:lstStyle/>
          <a:p>
            <a:r>
              <a:rPr sz="1100" b="0">
                <a:solidFill>
                  <a:srgbClr val="2E2E2E"/>
                </a:solidFill>
                <a:latin typeface="Calibri"/>
              </a:rPr>
              <a:t>● Culinary Grade:</a:t>
            </a:r>
          </a:p>
        </p:txBody>
      </p:sp>
      <p:pic>
        <p:nvPicPr>
          <p:cNvPr id="107" name="Picture 106" descr="lock.png"/>
          <p:cNvPicPr>
            <a:picLocks noChangeAspect="1"/>
          </p:cNvPicPr>
          <p:nvPr/>
        </p:nvPicPr>
        <p:blipFill>
          <a:blip r:embed="rId19"/>
          <a:stretch>
            <a:fillRect/>
          </a:stretch>
        </p:blipFill>
        <p:spPr>
          <a:xfrm>
            <a:off x="4859280" y="4219658"/>
            <a:ext cx="128699" cy="187198"/>
          </a:xfrm>
          <a:prstGeom prst="rect">
            <a:avLst/>
          </a:prstGeom>
        </p:spPr>
      </p:pic>
      <p:sp>
        <p:nvSpPr>
          <p:cNvPr id="108" name="TextBox 107"/>
          <p:cNvSpPr txBox="1"/>
          <p:nvPr/>
        </p:nvSpPr>
        <p:spPr>
          <a:xfrm>
            <a:off x="5026776"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09" name="Picture 108" descr="lock.png"/>
          <p:cNvPicPr>
            <a:picLocks noChangeAspect="1"/>
          </p:cNvPicPr>
          <p:nvPr/>
        </p:nvPicPr>
        <p:blipFill>
          <a:blip r:embed="rId19"/>
          <a:stretch>
            <a:fillRect/>
          </a:stretch>
        </p:blipFill>
        <p:spPr>
          <a:xfrm>
            <a:off x="5886226" y="4219658"/>
            <a:ext cx="128699" cy="187198"/>
          </a:xfrm>
          <a:prstGeom prst="rect">
            <a:avLst/>
          </a:prstGeom>
        </p:spPr>
      </p:pic>
      <p:sp>
        <p:nvSpPr>
          <p:cNvPr id="110" name="TextBox 109"/>
          <p:cNvSpPr txBox="1"/>
          <p:nvPr/>
        </p:nvSpPr>
        <p:spPr>
          <a:xfrm>
            <a:off x="6053722"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11" name="TextBox 110"/>
          <p:cNvSpPr txBox="1"/>
          <p:nvPr/>
        </p:nvSpPr>
        <p:spPr>
          <a:xfrm>
            <a:off x="3838575" y="4447369"/>
            <a:ext cx="1144959" cy="186689"/>
          </a:xfrm>
          <a:prstGeom prst="rect">
            <a:avLst/>
          </a:prstGeom>
          <a:noFill/>
        </p:spPr>
        <p:txBody>
          <a:bodyPr wrap="none" lIns="0" rIns="0" tIns="0" bIns="0">
            <a:spAutoFit/>
          </a:bodyPr>
          <a:lstStyle/>
          <a:p>
            <a:r>
              <a:rPr sz="1100" b="0">
                <a:solidFill>
                  <a:srgbClr val="2E2E2E"/>
                </a:solidFill>
                <a:latin typeface="Calibri"/>
              </a:rPr>
              <a:t>● Industrial Grade:</a:t>
            </a:r>
          </a:p>
        </p:txBody>
      </p:sp>
      <p:pic>
        <p:nvPicPr>
          <p:cNvPr id="112" name="Picture 111" descr="lock.png"/>
          <p:cNvPicPr>
            <a:picLocks noChangeAspect="1"/>
          </p:cNvPicPr>
          <p:nvPr/>
        </p:nvPicPr>
        <p:blipFill>
          <a:blip r:embed="rId19"/>
          <a:stretch>
            <a:fillRect/>
          </a:stretch>
        </p:blipFill>
        <p:spPr>
          <a:xfrm>
            <a:off x="4931586" y="4437590"/>
            <a:ext cx="128699" cy="187198"/>
          </a:xfrm>
          <a:prstGeom prst="rect">
            <a:avLst/>
          </a:prstGeom>
        </p:spPr>
      </p:pic>
      <p:sp>
        <p:nvSpPr>
          <p:cNvPr id="113" name="TextBox 112"/>
          <p:cNvSpPr txBox="1"/>
          <p:nvPr/>
        </p:nvSpPr>
        <p:spPr>
          <a:xfrm>
            <a:off x="5099081"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4" name="Picture 113" descr="lock.png"/>
          <p:cNvPicPr>
            <a:picLocks noChangeAspect="1"/>
          </p:cNvPicPr>
          <p:nvPr/>
        </p:nvPicPr>
        <p:blipFill>
          <a:blip r:embed="rId19"/>
          <a:stretch>
            <a:fillRect/>
          </a:stretch>
        </p:blipFill>
        <p:spPr>
          <a:xfrm>
            <a:off x="5958532" y="4437590"/>
            <a:ext cx="128699" cy="187198"/>
          </a:xfrm>
          <a:prstGeom prst="rect">
            <a:avLst/>
          </a:prstGeom>
        </p:spPr>
      </p:pic>
      <p:sp>
        <p:nvSpPr>
          <p:cNvPr id="115" name="TextBox 114"/>
          <p:cNvSpPr txBox="1"/>
          <p:nvPr/>
        </p:nvSpPr>
        <p:spPr>
          <a:xfrm>
            <a:off x="6126028" y="4447369"/>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16" name="TextBox 115"/>
          <p:cNvSpPr txBox="1"/>
          <p:nvPr/>
        </p:nvSpPr>
        <p:spPr>
          <a:xfrm>
            <a:off x="3838575" y="4665301"/>
            <a:ext cx="1260375" cy="186689"/>
          </a:xfrm>
          <a:prstGeom prst="rect">
            <a:avLst/>
          </a:prstGeom>
          <a:noFill/>
        </p:spPr>
        <p:txBody>
          <a:bodyPr wrap="none" lIns="0" rIns="0" tIns="0" bIns="0">
            <a:spAutoFit/>
          </a:bodyPr>
          <a:lstStyle/>
          <a:p>
            <a:r>
              <a:rPr sz="1100" b="0">
                <a:solidFill>
                  <a:srgbClr val="2E2E2E"/>
                </a:solidFill>
                <a:latin typeface="Calibri"/>
              </a:rPr>
              <a:t>● Ceremonial Grade:</a:t>
            </a:r>
          </a:p>
        </p:txBody>
      </p:sp>
      <p:pic>
        <p:nvPicPr>
          <p:cNvPr id="117" name="Picture 116" descr="lock.png"/>
          <p:cNvPicPr>
            <a:picLocks noChangeAspect="1"/>
          </p:cNvPicPr>
          <p:nvPr/>
        </p:nvPicPr>
        <p:blipFill>
          <a:blip r:embed="rId19"/>
          <a:stretch>
            <a:fillRect/>
          </a:stretch>
        </p:blipFill>
        <p:spPr>
          <a:xfrm>
            <a:off x="5047002" y="4655522"/>
            <a:ext cx="128699" cy="187198"/>
          </a:xfrm>
          <a:prstGeom prst="rect">
            <a:avLst/>
          </a:prstGeom>
        </p:spPr>
      </p:pic>
      <p:sp>
        <p:nvSpPr>
          <p:cNvPr id="118" name="TextBox 117"/>
          <p:cNvSpPr txBox="1"/>
          <p:nvPr/>
        </p:nvSpPr>
        <p:spPr>
          <a:xfrm>
            <a:off x="5214498"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19" name="Picture 118" descr="lock.png"/>
          <p:cNvPicPr>
            <a:picLocks noChangeAspect="1"/>
          </p:cNvPicPr>
          <p:nvPr/>
        </p:nvPicPr>
        <p:blipFill>
          <a:blip r:embed="rId19"/>
          <a:stretch>
            <a:fillRect/>
          </a:stretch>
        </p:blipFill>
        <p:spPr>
          <a:xfrm>
            <a:off x="6073948" y="4655522"/>
            <a:ext cx="128699" cy="187198"/>
          </a:xfrm>
          <a:prstGeom prst="rect">
            <a:avLst/>
          </a:prstGeom>
        </p:spPr>
      </p:pic>
      <p:sp>
        <p:nvSpPr>
          <p:cNvPr id="120" name="TextBox 119"/>
          <p:cNvSpPr txBox="1"/>
          <p:nvPr/>
        </p:nvSpPr>
        <p:spPr>
          <a:xfrm>
            <a:off x="6241444" y="4665301"/>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21" name="TextBox 120"/>
          <p:cNvSpPr txBox="1"/>
          <p:nvPr/>
        </p:nvSpPr>
        <p:spPr>
          <a:xfrm>
            <a:off x="3838575" y="4883233"/>
            <a:ext cx="1628725" cy="186689"/>
          </a:xfrm>
          <a:prstGeom prst="rect">
            <a:avLst/>
          </a:prstGeom>
          <a:noFill/>
        </p:spPr>
        <p:txBody>
          <a:bodyPr wrap="none" lIns="0" rIns="0" tIns="0" bIns="0">
            <a:spAutoFit/>
          </a:bodyPr>
          <a:lstStyle/>
          <a:p>
            <a:r>
              <a:rPr sz="1100" b="0">
                <a:solidFill>
                  <a:srgbClr val="2E2E2E"/>
                </a:solidFill>
                <a:latin typeface="Calibri"/>
              </a:rPr>
              <a:t>● Standard Drinking Grade:</a:t>
            </a:r>
          </a:p>
        </p:txBody>
      </p:sp>
      <p:pic>
        <p:nvPicPr>
          <p:cNvPr id="122" name="Picture 121" descr="lock.png"/>
          <p:cNvPicPr>
            <a:picLocks noChangeAspect="1"/>
          </p:cNvPicPr>
          <p:nvPr/>
        </p:nvPicPr>
        <p:blipFill>
          <a:blip r:embed="rId19"/>
          <a:stretch>
            <a:fillRect/>
          </a:stretch>
        </p:blipFill>
        <p:spPr>
          <a:xfrm>
            <a:off x="5415351" y="4873454"/>
            <a:ext cx="128699" cy="187198"/>
          </a:xfrm>
          <a:prstGeom prst="rect">
            <a:avLst/>
          </a:prstGeom>
        </p:spPr>
      </p:pic>
      <p:sp>
        <p:nvSpPr>
          <p:cNvPr id="123" name="TextBox 122"/>
          <p:cNvSpPr txBox="1"/>
          <p:nvPr/>
        </p:nvSpPr>
        <p:spPr>
          <a:xfrm>
            <a:off x="5582847" y="4883233"/>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4" name="Picture 123" descr="lock.png"/>
          <p:cNvPicPr>
            <a:picLocks noChangeAspect="1"/>
          </p:cNvPicPr>
          <p:nvPr/>
        </p:nvPicPr>
        <p:blipFill>
          <a:blip r:embed="rId19"/>
          <a:stretch>
            <a:fillRect/>
          </a:stretch>
        </p:blipFill>
        <p:spPr>
          <a:xfrm>
            <a:off x="6442298" y="4873454"/>
            <a:ext cx="128699" cy="187198"/>
          </a:xfrm>
          <a:prstGeom prst="rect">
            <a:avLst/>
          </a:prstGeom>
        </p:spPr>
      </p:pic>
      <p:sp>
        <p:nvSpPr>
          <p:cNvPr id="125" name="TextBox 124"/>
          <p:cNvSpPr txBox="1"/>
          <p:nvPr/>
        </p:nvSpPr>
        <p:spPr>
          <a:xfrm>
            <a:off x="6609793" y="4883233"/>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26" name="TextBox 125"/>
          <p:cNvSpPr txBox="1"/>
          <p:nvPr/>
        </p:nvSpPr>
        <p:spPr>
          <a:xfrm>
            <a:off x="3838575" y="5050873"/>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27" name="TextBox 126"/>
          <p:cNvSpPr txBox="1"/>
          <p:nvPr/>
        </p:nvSpPr>
        <p:spPr>
          <a:xfrm>
            <a:off x="3838575" y="5268805"/>
            <a:ext cx="1127497" cy="186689"/>
          </a:xfrm>
          <a:prstGeom prst="rect">
            <a:avLst/>
          </a:prstGeom>
          <a:noFill/>
        </p:spPr>
        <p:txBody>
          <a:bodyPr wrap="none" lIns="0" rIns="0" tIns="0" bIns="0">
            <a:spAutoFit/>
          </a:bodyPr>
          <a:lstStyle/>
          <a:p>
            <a:r>
              <a:rPr sz="1100" b="0">
                <a:solidFill>
                  <a:srgbClr val="2E2E2E"/>
                </a:solidFill>
                <a:latin typeface="Calibri"/>
              </a:rPr>
              <a:t>● Premium Grade:</a:t>
            </a:r>
          </a:p>
        </p:txBody>
      </p:sp>
      <p:pic>
        <p:nvPicPr>
          <p:cNvPr id="128" name="Picture 127" descr="lock.png"/>
          <p:cNvPicPr>
            <a:picLocks noChangeAspect="1"/>
          </p:cNvPicPr>
          <p:nvPr/>
        </p:nvPicPr>
        <p:blipFill>
          <a:blip r:embed="rId19"/>
          <a:stretch>
            <a:fillRect/>
          </a:stretch>
        </p:blipFill>
        <p:spPr>
          <a:xfrm>
            <a:off x="4914123" y="5259026"/>
            <a:ext cx="128699" cy="187198"/>
          </a:xfrm>
          <a:prstGeom prst="rect">
            <a:avLst/>
          </a:prstGeom>
        </p:spPr>
      </p:pic>
      <p:sp>
        <p:nvSpPr>
          <p:cNvPr id="129" name="TextBox 128"/>
          <p:cNvSpPr txBox="1"/>
          <p:nvPr/>
        </p:nvSpPr>
        <p:spPr>
          <a:xfrm>
            <a:off x="5081619" y="5268805"/>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0" name="Picture 129" descr="lock.png"/>
          <p:cNvPicPr>
            <a:picLocks noChangeAspect="1"/>
          </p:cNvPicPr>
          <p:nvPr/>
        </p:nvPicPr>
        <p:blipFill>
          <a:blip r:embed="rId19"/>
          <a:stretch>
            <a:fillRect/>
          </a:stretch>
        </p:blipFill>
        <p:spPr>
          <a:xfrm>
            <a:off x="5941069" y="5259026"/>
            <a:ext cx="128699" cy="187198"/>
          </a:xfrm>
          <a:prstGeom prst="rect">
            <a:avLst/>
          </a:prstGeom>
        </p:spPr>
      </p:pic>
      <p:sp>
        <p:nvSpPr>
          <p:cNvPr id="131" name="TextBox 130"/>
          <p:cNvSpPr txBox="1"/>
          <p:nvPr/>
        </p:nvSpPr>
        <p:spPr>
          <a:xfrm>
            <a:off x="6108565" y="5268805"/>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2" name="TextBox 131"/>
          <p:cNvSpPr txBox="1"/>
          <p:nvPr/>
        </p:nvSpPr>
        <p:spPr>
          <a:xfrm>
            <a:off x="8524875" y="5842641"/>
            <a:ext cx="3095042" cy="194310"/>
          </a:xfrm>
          <a:prstGeom prst="rect">
            <a:avLst/>
          </a:prstGeom>
          <a:noFill/>
        </p:spPr>
        <p:txBody>
          <a:bodyPr wrap="none" lIns="0" rIns="0" tIns="0" bIns="0">
            <a:spAutoFit/>
          </a:bodyPr>
          <a:lstStyle/>
          <a:p>
            <a:r>
              <a:rPr sz="1150" b="1">
                <a:solidFill>
                  <a:srgbClr val="0B2E4A"/>
                </a:solidFill>
                <a:latin typeface="Calibri"/>
              </a:rPr>
              <a:t>The Grade Type segment is projected to grow at a</a:t>
            </a:r>
          </a:p>
        </p:txBody>
      </p:sp>
      <p:sp>
        <p:nvSpPr>
          <p:cNvPr id="133" name="TextBox 132"/>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34" name="Picture 133" descr="lock.png"/>
          <p:cNvPicPr>
            <a:picLocks noChangeAspect="1"/>
          </p:cNvPicPr>
          <p:nvPr/>
        </p:nvPicPr>
        <p:blipFill>
          <a:blip r:embed="rId19"/>
          <a:stretch>
            <a:fillRect/>
          </a:stretch>
        </p:blipFill>
        <p:spPr>
          <a:xfrm>
            <a:off x="9048826" y="6007677"/>
            <a:ext cx="134549" cy="195707"/>
          </a:xfrm>
          <a:prstGeom prst="rect">
            <a:avLst/>
          </a:prstGeom>
        </p:spPr>
      </p:pic>
      <p:sp>
        <p:nvSpPr>
          <p:cNvPr id="135" name="TextBox 134"/>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Grade Type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Grade Type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Grade Type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Grade Type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694045"/>
            <a:ext cx="11677650" cy="186689"/>
          </a:xfrm>
          <a:prstGeom prst="rect">
            <a:avLst/>
          </a:prstGeom>
          <a:noFill/>
        </p:spPr>
        <p:txBody>
          <a:bodyPr wrap="none" lIns="0" rIns="0" tIns="0" bIns="0">
            <a:spAutoFit/>
          </a:bodyPr>
          <a:lstStyle/>
          <a:p>
            <a:r>
              <a:rPr sz="1100" b="0">
                <a:solidFill>
                  <a:srgbClr val="2E2E2E"/>
                </a:solidFill>
                <a:latin typeface="Calibri"/>
              </a:rPr>
              <a:t>Culinary grade followed by ceremonial grade are expected to be the two most attractive grade type segments in the North America matcha market in terms of value over the forecast period. Culinary grade</a:t>
            </a:r>
          </a:p>
        </p:txBody>
      </p:sp>
      <p:sp>
        <p:nvSpPr>
          <p:cNvPr id="20" name="TextBox 19"/>
          <p:cNvSpPr txBox="1"/>
          <p:nvPr/>
        </p:nvSpPr>
        <p:spPr>
          <a:xfrm>
            <a:off x="257175" y="5861685"/>
            <a:ext cx="2672638" cy="186689"/>
          </a:xfrm>
          <a:prstGeom prst="rect">
            <a:avLst/>
          </a:prstGeom>
          <a:noFill/>
        </p:spPr>
        <p:txBody>
          <a:bodyPr wrap="none" lIns="0" rIns="0" tIns="0" bIns="0">
            <a:spAutoFit/>
          </a:bodyPr>
          <a:lstStyle/>
          <a:p>
            <a:r>
              <a:rPr sz="1100" b="0">
                <a:solidFill>
                  <a:srgbClr val="2E2E2E"/>
                </a:solidFill>
                <a:latin typeface="Calibri"/>
              </a:rPr>
              <a:t>and ceremonial grade exhibit a CAGR index of</a:t>
            </a:r>
          </a:p>
        </p:txBody>
      </p:sp>
      <p:pic>
        <p:nvPicPr>
          <p:cNvPr id="21" name="Picture 20" descr="lock.png"/>
          <p:cNvPicPr>
            <a:picLocks noChangeAspect="1"/>
          </p:cNvPicPr>
          <p:nvPr/>
        </p:nvPicPr>
        <p:blipFill>
          <a:blip r:embed="rId6"/>
          <a:stretch>
            <a:fillRect/>
          </a:stretch>
        </p:blipFill>
        <p:spPr>
          <a:xfrm>
            <a:off x="2877865" y="5851905"/>
            <a:ext cx="128699" cy="187198"/>
          </a:xfrm>
          <a:prstGeom prst="rect">
            <a:avLst/>
          </a:prstGeom>
        </p:spPr>
      </p:pic>
      <p:sp>
        <p:nvSpPr>
          <p:cNvPr id="22" name="TextBox 21"/>
          <p:cNvSpPr txBox="1"/>
          <p:nvPr/>
        </p:nvSpPr>
        <p:spPr>
          <a:xfrm>
            <a:off x="3045360"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3283255" y="5851905"/>
            <a:ext cx="128699" cy="187198"/>
          </a:xfrm>
          <a:prstGeom prst="rect">
            <a:avLst/>
          </a:prstGeom>
        </p:spPr>
      </p:pic>
      <p:sp>
        <p:nvSpPr>
          <p:cNvPr id="24" name="TextBox 23"/>
          <p:cNvSpPr txBox="1"/>
          <p:nvPr/>
        </p:nvSpPr>
        <p:spPr>
          <a:xfrm>
            <a:off x="3450751"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5059724" y="5851905"/>
            <a:ext cx="128699" cy="187198"/>
          </a:xfrm>
          <a:prstGeom prst="rect">
            <a:avLst/>
          </a:prstGeom>
        </p:spPr>
      </p:pic>
      <p:sp>
        <p:nvSpPr>
          <p:cNvPr id="26" name="TextBox 25"/>
          <p:cNvSpPr txBox="1"/>
          <p:nvPr/>
        </p:nvSpPr>
        <p:spPr>
          <a:xfrm>
            <a:off x="5227220"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5465114" y="5851905"/>
            <a:ext cx="128699" cy="187198"/>
          </a:xfrm>
          <a:prstGeom prst="rect">
            <a:avLst/>
          </a:prstGeom>
        </p:spPr>
      </p:pic>
      <p:sp>
        <p:nvSpPr>
          <p:cNvPr id="28" name="TextBox 27"/>
          <p:cNvSpPr txBox="1"/>
          <p:nvPr/>
        </p:nvSpPr>
        <p:spPr>
          <a:xfrm>
            <a:off x="5632610"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8187014" y="5851905"/>
            <a:ext cx="128699" cy="187198"/>
          </a:xfrm>
          <a:prstGeom prst="rect">
            <a:avLst/>
          </a:prstGeom>
        </p:spPr>
      </p:pic>
      <p:sp>
        <p:nvSpPr>
          <p:cNvPr id="30" name="TextBox 29"/>
          <p:cNvSpPr txBox="1"/>
          <p:nvPr/>
        </p:nvSpPr>
        <p:spPr>
          <a:xfrm>
            <a:off x="8354510" y="5861685"/>
            <a:ext cx="3088208" cy="186689"/>
          </a:xfrm>
          <a:prstGeom prst="rect">
            <a:avLst/>
          </a:prstGeom>
          <a:noFill/>
        </p:spPr>
        <p:txBody>
          <a:bodyPr wrap="none" lIns="0" rIns="0" tIns="0" bIns="0">
            <a:spAutoFit/>
          </a:bodyPr>
          <a:lstStyle/>
          <a:p>
            <a:r>
              <a:rPr sz="1100" b="0">
                <a:solidFill>
                  <a:srgbClr val="2E2E2E"/>
                </a:solidFill>
                <a:latin typeface="Calibri"/>
              </a:rPr>
              <a:t>. The standard drinking grade segment is expected to</a:t>
            </a:r>
          </a:p>
        </p:txBody>
      </p:sp>
      <p:sp>
        <p:nvSpPr>
          <p:cNvPr id="31" name="TextBox 30"/>
          <p:cNvSpPr txBox="1"/>
          <p:nvPr/>
        </p:nvSpPr>
        <p:spPr>
          <a:xfrm>
            <a:off x="257175" y="6029325"/>
            <a:ext cx="11238250" cy="186689"/>
          </a:xfrm>
          <a:prstGeom prst="rect">
            <a:avLst/>
          </a:prstGeom>
          <a:noFill/>
        </p:spPr>
        <p:txBody>
          <a:bodyPr wrap="none" lIns="0" rIns="0" tIns="0" bIns="0">
            <a:spAutoFit/>
          </a:bodyPr>
          <a:lstStyle/>
          <a:p>
            <a:r>
              <a:rPr sz="1100" b="0">
                <a:solidFill>
                  <a:srgbClr val="2E2E2E"/>
                </a:solidFill>
                <a:latin typeface="Calibri"/>
              </a:rPr>
              <a:t>be less attractive as compared to other segments over the forecast period, owing to its lower CAGR and incremental opportunity. Bubbles right of the CAGR-Index line grow faster than the segment</a:t>
            </a:r>
          </a:p>
        </p:txBody>
      </p:sp>
      <p:sp>
        <p:nvSpPr>
          <p:cNvPr id="32" name="TextBox 31"/>
          <p:cNvSpPr txBox="1"/>
          <p:nvPr/>
        </p:nvSpPr>
        <p:spPr>
          <a:xfrm>
            <a:off x="257175" y="6196965"/>
            <a:ext cx="561875" cy="186689"/>
          </a:xfrm>
          <a:prstGeom prst="rect">
            <a:avLst/>
          </a:prstGeom>
          <a:noFill/>
        </p:spPr>
        <p:txBody>
          <a:bodyPr wrap="none" lIns="0" rIns="0" tIns="0" bIns="0">
            <a:spAutoFit/>
          </a:bodyPr>
          <a:lstStyle/>
          <a:p>
            <a:r>
              <a:rPr sz="1100" b="0">
                <a:solidFill>
                  <a:srgbClr val="2E2E2E"/>
                </a:solidFill>
                <a:latin typeface="Calibri"/>
              </a:rPr>
              <a:t>average.</a:t>
            </a:r>
          </a:p>
        </p:txBody>
      </p:sp>
      <p:sp>
        <p:nvSpPr>
          <p:cNvPr id="33"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Grade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Grade Type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Ceremonial Grade</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Premium Grade</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Standard Drinking Grade</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Culinary Grade</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100230" y="2330679"/>
            <a:ext cx="252890" cy="367840"/>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Grade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Grade Type and the absolute $ opportunity each sub-segment adds, 2026–2036</a:t>
            </a:r>
          </a:p>
        </p:txBody>
      </p:sp>
      <p:sp>
        <p:nvSpPr>
          <p:cNvPr id="10" name="Rounded Rectangle 9"/>
          <p:cNvSpPr/>
          <p:nvPr/>
        </p:nvSpPr>
        <p:spPr>
          <a:xfrm>
            <a:off x="142875"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Industrial Grade</a:t>
            </a:r>
          </a:p>
        </p:txBody>
      </p:sp>
      <p:graphicFrame>
        <p:nvGraphicFramePr>
          <p:cNvPr id="12" name="Chart 11"/>
          <p:cNvGraphicFramePr>
            <a:graphicFrameLocks noGrp="1"/>
          </p:cNvGraphicFramePr>
          <p:nvPr/>
        </p:nvGraphicFramePr>
        <p:xfrm>
          <a:off x="238125" y="1438275"/>
          <a:ext cx="5686425" cy="51339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Grade Type</a:t>
            </a:r>
          </a:p>
        </p:txBody>
      </p:sp>
      <p:sp>
        <p:nvSpPr>
          <p:cNvPr id="15" name="Rectangle 14"/>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27556" y="3674659"/>
            <a:ext cx="395643" cy="575481"/>
          </a:xfrm>
          <a:prstGeom prst="rect">
            <a:avLst/>
          </a:prstGeom>
        </p:spPr>
      </p:pic>
      <p:sp>
        <p:nvSpPr>
          <p:cNvPr id="19" name="TextBox 18"/>
          <p:cNvSpPr txBox="1"/>
          <p:nvPr/>
        </p:nvSpPr>
        <p:spPr>
          <a:xfrm>
            <a:off x="6305550" y="1598245"/>
            <a:ext cx="4343290" cy="194310"/>
          </a:xfrm>
          <a:prstGeom prst="rect">
            <a:avLst/>
          </a:prstGeom>
          <a:noFill/>
        </p:spPr>
        <p:txBody>
          <a:bodyPr wrap="none" lIns="0" rIns="0" tIns="0" bIns="0">
            <a:spAutoFit/>
          </a:bodyPr>
          <a:lstStyle/>
          <a:p>
            <a:r>
              <a:rPr sz="1150" b="0">
                <a:solidFill>
                  <a:srgbClr val="2E2E2E"/>
                </a:solidFill>
                <a:latin typeface="Calibri"/>
              </a:rPr>
              <a:t>By 2036, culinary grade segment is anticipated to witness an increase of</a:t>
            </a:r>
          </a:p>
        </p:txBody>
      </p:sp>
      <p:pic>
        <p:nvPicPr>
          <p:cNvPr id="20" name="Picture 19" descr="lock.png"/>
          <p:cNvPicPr>
            <a:picLocks noChangeAspect="1"/>
          </p:cNvPicPr>
          <p:nvPr/>
        </p:nvPicPr>
        <p:blipFill>
          <a:blip r:embed="rId5"/>
          <a:stretch>
            <a:fillRect/>
          </a:stretch>
        </p:blipFill>
        <p:spPr>
          <a:xfrm>
            <a:off x="10597994" y="1588021"/>
            <a:ext cx="134549" cy="195707"/>
          </a:xfrm>
          <a:prstGeom prst="rect">
            <a:avLst/>
          </a:prstGeom>
        </p:spPr>
      </p:pic>
      <p:sp>
        <p:nvSpPr>
          <p:cNvPr id="21" name="TextBox 20"/>
          <p:cNvSpPr txBox="1"/>
          <p:nvPr/>
        </p:nvSpPr>
        <p:spPr>
          <a:xfrm>
            <a:off x="10773104" y="1598245"/>
            <a:ext cx="829840" cy="194310"/>
          </a:xfrm>
          <a:prstGeom prst="rect">
            <a:avLst/>
          </a:prstGeom>
          <a:noFill/>
        </p:spPr>
        <p:txBody>
          <a:bodyPr wrap="none" lIns="0" rIns="0" tIns="0" bIns="0">
            <a:spAutoFit/>
          </a:bodyPr>
          <a:lstStyle/>
          <a:p>
            <a:r>
              <a:rPr sz="1150" b="0">
                <a:solidFill>
                  <a:srgbClr val="2E2E2E"/>
                </a:solidFill>
                <a:latin typeface="Calibri"/>
              </a:rPr>
              <a:t>X in terms of</a:t>
            </a:r>
          </a:p>
        </p:txBody>
      </p:sp>
      <p:sp>
        <p:nvSpPr>
          <p:cNvPr id="22" name="TextBox 21"/>
          <p:cNvSpPr txBox="1"/>
          <p:nvPr/>
        </p:nvSpPr>
        <p:spPr>
          <a:xfrm>
            <a:off x="6305550" y="1773505"/>
            <a:ext cx="5591175" cy="194310"/>
          </a:xfrm>
          <a:prstGeom prst="rect">
            <a:avLst/>
          </a:prstGeom>
          <a:noFill/>
        </p:spPr>
        <p:txBody>
          <a:bodyPr wrap="none" lIns="0" rIns="0" tIns="0" bIns="0">
            <a:spAutoFit/>
          </a:bodyPr>
          <a:lstStyle/>
          <a:p>
            <a:r>
              <a:rPr sz="1150" b="0">
                <a:solidFill>
                  <a:srgbClr val="2E2E2E"/>
                </a:solidFill>
                <a:latin typeface="Calibri"/>
              </a:rPr>
              <a:t>value as compared to 2026. The culinary grade segment is expected to create an incremental</a:t>
            </a:r>
          </a:p>
        </p:txBody>
      </p:sp>
      <p:sp>
        <p:nvSpPr>
          <p:cNvPr id="23" name="TextBox 22"/>
          <p:cNvSpPr txBox="1"/>
          <p:nvPr/>
        </p:nvSpPr>
        <p:spPr>
          <a:xfrm>
            <a:off x="6305550" y="1948765"/>
            <a:ext cx="1208943" cy="194310"/>
          </a:xfrm>
          <a:prstGeom prst="rect">
            <a:avLst/>
          </a:prstGeom>
          <a:noFill/>
        </p:spPr>
        <p:txBody>
          <a:bodyPr wrap="none" lIns="0" rIns="0" tIns="0" bIns="0">
            <a:spAutoFit/>
          </a:bodyPr>
          <a:lstStyle/>
          <a:p>
            <a:r>
              <a:rPr sz="1150" b="0">
                <a:solidFill>
                  <a:srgbClr val="2E2E2E"/>
                </a:solidFill>
                <a:latin typeface="Calibri"/>
              </a:rPr>
              <a:t>opportunity of US$</a:t>
            </a:r>
          </a:p>
        </p:txBody>
      </p:sp>
      <p:pic>
        <p:nvPicPr>
          <p:cNvPr id="24" name="Picture 23" descr="lock.png"/>
          <p:cNvPicPr>
            <a:picLocks noChangeAspect="1"/>
          </p:cNvPicPr>
          <p:nvPr/>
        </p:nvPicPr>
        <p:blipFill>
          <a:blip r:embed="rId5"/>
          <a:stretch>
            <a:fillRect/>
          </a:stretch>
        </p:blipFill>
        <p:spPr>
          <a:xfrm>
            <a:off x="7463647" y="1938541"/>
            <a:ext cx="134549" cy="195707"/>
          </a:xfrm>
          <a:prstGeom prst="rect">
            <a:avLst/>
          </a:prstGeom>
        </p:spPr>
      </p:pic>
      <p:sp>
        <p:nvSpPr>
          <p:cNvPr id="25" name="TextBox 24"/>
          <p:cNvSpPr txBox="1"/>
          <p:nvPr/>
        </p:nvSpPr>
        <p:spPr>
          <a:xfrm>
            <a:off x="7638756" y="1948765"/>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26" name="TextBox 25"/>
          <p:cNvSpPr txBox="1"/>
          <p:nvPr/>
        </p:nvSpPr>
        <p:spPr>
          <a:xfrm>
            <a:off x="6305550" y="2176603"/>
            <a:ext cx="5281228" cy="194310"/>
          </a:xfrm>
          <a:prstGeom prst="rect">
            <a:avLst/>
          </a:prstGeom>
          <a:noFill/>
        </p:spPr>
        <p:txBody>
          <a:bodyPr wrap="none" lIns="0" rIns="0" tIns="0" bIns="0">
            <a:spAutoFit/>
          </a:bodyPr>
          <a:lstStyle/>
          <a:p>
            <a:r>
              <a:rPr sz="1150" b="0">
                <a:solidFill>
                  <a:srgbClr val="2E2E2E"/>
                </a:solidFill>
                <a:latin typeface="Calibri"/>
              </a:rPr>
              <a:t>The ceremonial grade segment is expected to create an incremental opportunity of US$</a:t>
            </a:r>
          </a:p>
        </p:txBody>
      </p:sp>
      <p:pic>
        <p:nvPicPr>
          <p:cNvPr id="27" name="Picture 26" descr="lock.png"/>
          <p:cNvPicPr>
            <a:picLocks noChangeAspect="1"/>
          </p:cNvPicPr>
          <p:nvPr/>
        </p:nvPicPr>
        <p:blipFill>
          <a:blip r:embed="rId5"/>
          <a:stretch>
            <a:fillRect/>
          </a:stretch>
        </p:blipFill>
        <p:spPr>
          <a:xfrm>
            <a:off x="6291470" y="2341639"/>
            <a:ext cx="134549" cy="195707"/>
          </a:xfrm>
          <a:prstGeom prst="rect">
            <a:avLst/>
          </a:prstGeom>
        </p:spPr>
      </p:pic>
      <p:sp>
        <p:nvSpPr>
          <p:cNvPr id="28" name="TextBox 27"/>
          <p:cNvSpPr txBox="1"/>
          <p:nvPr/>
        </p:nvSpPr>
        <p:spPr>
          <a:xfrm>
            <a:off x="6466579" y="2351863"/>
            <a:ext cx="5154290"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 The industrial grade segment is</a:t>
            </a:r>
          </a:p>
        </p:txBody>
      </p:sp>
      <p:sp>
        <p:nvSpPr>
          <p:cNvPr id="29" name="TextBox 28"/>
          <p:cNvSpPr txBox="1"/>
          <p:nvPr/>
        </p:nvSpPr>
        <p:spPr>
          <a:xfrm>
            <a:off x="6305550" y="2527123"/>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30" name="Picture 29" descr="lock.png"/>
          <p:cNvPicPr>
            <a:picLocks noChangeAspect="1"/>
          </p:cNvPicPr>
          <p:nvPr/>
        </p:nvPicPr>
        <p:blipFill>
          <a:blip r:embed="rId5"/>
          <a:stretch>
            <a:fillRect/>
          </a:stretch>
        </p:blipFill>
        <p:spPr>
          <a:xfrm>
            <a:off x="9540010" y="2516899"/>
            <a:ext cx="134549" cy="195707"/>
          </a:xfrm>
          <a:prstGeom prst="rect">
            <a:avLst/>
          </a:prstGeom>
        </p:spPr>
      </p:pic>
      <p:sp>
        <p:nvSpPr>
          <p:cNvPr id="31" name="TextBox 30"/>
          <p:cNvSpPr txBox="1"/>
          <p:nvPr/>
        </p:nvSpPr>
        <p:spPr>
          <a:xfrm>
            <a:off x="9715119" y="2527123"/>
            <a:ext cx="2088381" cy="194310"/>
          </a:xfrm>
          <a:prstGeom prst="rect">
            <a:avLst/>
          </a:prstGeom>
          <a:noFill/>
        </p:spPr>
        <p:txBody>
          <a:bodyPr wrap="none" lIns="0" rIns="0" tIns="0" bIns="0">
            <a:spAutoFit/>
          </a:bodyPr>
          <a:lstStyle/>
          <a:p>
            <a:r>
              <a:rPr sz="1150" b="0">
                <a:solidFill>
                  <a:srgbClr val="2E2E2E"/>
                </a:solidFill>
                <a:latin typeface="Calibri"/>
              </a:rPr>
              <a:t>Mn for the overall matcha market</a:t>
            </a:r>
          </a:p>
        </p:txBody>
      </p:sp>
      <p:sp>
        <p:nvSpPr>
          <p:cNvPr id="32" name="TextBox 31"/>
          <p:cNvSpPr txBox="1"/>
          <p:nvPr/>
        </p:nvSpPr>
        <p:spPr>
          <a:xfrm>
            <a:off x="6305550" y="2702383"/>
            <a:ext cx="1220923" cy="194310"/>
          </a:xfrm>
          <a:prstGeom prst="rect">
            <a:avLst/>
          </a:prstGeom>
          <a:noFill/>
        </p:spPr>
        <p:txBody>
          <a:bodyPr wrap="none" lIns="0" rIns="0" tIns="0" bIns="0">
            <a:spAutoFit/>
          </a:bodyPr>
          <a:lstStyle/>
          <a:p>
            <a:r>
              <a:rPr sz="1150" b="0">
                <a:solidFill>
                  <a:srgbClr val="2E2E2E"/>
                </a:solidFill>
                <a:latin typeface="Calibri"/>
              </a:rPr>
              <a:t>from 2026 to 2036.</a:t>
            </a:r>
          </a:p>
        </p:txBody>
      </p:sp>
      <p:sp>
        <p:nvSpPr>
          <p:cNvPr id="33" name="lockshield_12"/>
          <p:cNvSpPr/>
          <p:nvPr/>
        </p:nvSpPr>
        <p:spPr>
          <a:xfrm>
            <a:off x="238125" y="1438275"/>
            <a:ext cx="5686425" cy="5133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Grade Type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Grade Type, 2021–2036, highlighting the sub-segments driving growth</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Grade Type (US$ Mn)</a:t>
            </a:r>
          </a:p>
        </p:txBody>
      </p:sp>
      <p:graphicFrame>
        <p:nvGraphicFramePr>
          <p:cNvPr id="12" name="Table 11"/>
          <p:cNvGraphicFramePr>
            <a:graphicFrameLocks noGrp="1"/>
          </p:cNvGraphicFramePr>
          <p:nvPr/>
        </p:nvGraphicFramePr>
        <p:xfrm>
          <a:off x="152400" y="1238250"/>
          <a:ext cx="11887198" cy="1724022"/>
        </p:xfrm>
        <a:graphic>
          <a:graphicData uri="http://schemas.openxmlformats.org/drawingml/2006/table">
            <a:tbl>
              <a:tblPr>
                <a:tableStyleId>{5C22544A-7EE6-4342-B048-85BDC9FD1C3A}</a:tableStyleId>
              </a:tblPr>
              <a:tblGrid>
                <a:gridCol w="1716863"/>
                <a:gridCol w="598255"/>
                <a:gridCol w="598255"/>
                <a:gridCol w="598255"/>
                <a:gridCol w="598255"/>
                <a:gridCol w="598255"/>
                <a:gridCol w="598255"/>
                <a:gridCol w="598255"/>
                <a:gridCol w="598255"/>
                <a:gridCol w="598255"/>
                <a:gridCol w="598255"/>
                <a:gridCol w="598255"/>
                <a:gridCol w="598255"/>
                <a:gridCol w="598255"/>
                <a:gridCol w="598255"/>
                <a:gridCol w="598255"/>
                <a:gridCol w="598255"/>
                <a:gridCol w="598255"/>
              </a:tblGrid>
              <a:tr h="246126">
                <a:tc>
                  <a:txBody>
                    <a:bodyPr wrap="none"/>
                    <a:lstStyle/>
                    <a:p>
                      <a:pPr algn="l"/>
                      <a:r>
                        <a:rPr sz="1100" b="1">
                          <a:solidFill>
                            <a:srgbClr val="0B2E4A"/>
                          </a:solidFill>
                          <a:latin typeface="Calibri"/>
                        </a:rPr>
                        <a:t>Grade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6">
                <a:tc>
                  <a:txBody>
                    <a:bodyPr wrap="none"/>
                    <a:lstStyle/>
                    <a:p>
                      <a:pPr algn="l"/>
                      <a:r>
                        <a:rPr sz="1100" b="1">
                          <a:solidFill>
                            <a:srgbClr val="2E2E2E"/>
                          </a:solidFill>
                          <a:latin typeface="Calibri"/>
                        </a:rPr>
                        <a:t>Ceremonial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Premium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Standard Drinking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Culinary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Industrial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305175"/>
            <a:ext cx="11906250" cy="3324225"/>
          </a:xfrm>
          <a:prstGeom prst="roundRect">
            <a:avLst>
              <a:gd name="adj" fmla="val 229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3909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Grade Type</a:t>
            </a:r>
          </a:p>
        </p:txBody>
      </p:sp>
      <p:sp>
        <p:nvSpPr>
          <p:cNvPr id="16" name="Rectangle 15"/>
          <p:cNvSpPr/>
          <p:nvPr/>
        </p:nvSpPr>
        <p:spPr>
          <a:xfrm>
            <a:off x="276225" y="36290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714750"/>
            <a:ext cx="11639550" cy="28384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767740" y="1956623"/>
            <a:ext cx="366712" cy="533400"/>
          </a:xfrm>
          <a:prstGeom prst="rect">
            <a:avLst/>
          </a:prstGeom>
        </p:spPr>
      </p:pic>
      <p:sp>
        <p:nvSpPr>
          <p:cNvPr id="20" name="TextBox 19"/>
          <p:cNvSpPr txBox="1"/>
          <p:nvPr/>
        </p:nvSpPr>
        <p:spPr>
          <a:xfrm>
            <a:off x="276225" y="3724275"/>
            <a:ext cx="2859422" cy="194310"/>
          </a:xfrm>
          <a:prstGeom prst="rect">
            <a:avLst/>
          </a:prstGeom>
          <a:noFill/>
        </p:spPr>
        <p:txBody>
          <a:bodyPr wrap="none" lIns="0" rIns="0" tIns="0" bIns="0">
            <a:spAutoFit/>
          </a:bodyPr>
          <a:lstStyle/>
          <a:p>
            <a:r>
              <a:rPr sz="1150" b="0">
                <a:solidFill>
                  <a:srgbClr val="2E2E2E"/>
                </a:solidFill>
                <a:latin typeface="Calibri"/>
              </a:rPr>
              <a:t>Culinary grade segment is projected to register</a:t>
            </a:r>
          </a:p>
        </p:txBody>
      </p:sp>
      <p:pic>
        <p:nvPicPr>
          <p:cNvPr id="21" name="Picture 20" descr="lock.png"/>
          <p:cNvPicPr>
            <a:picLocks noChangeAspect="1"/>
          </p:cNvPicPr>
          <p:nvPr/>
        </p:nvPicPr>
        <p:blipFill>
          <a:blip r:embed="rId4"/>
          <a:stretch>
            <a:fillRect/>
          </a:stretch>
        </p:blipFill>
        <p:spPr>
          <a:xfrm>
            <a:off x="3084801" y="3714051"/>
            <a:ext cx="134549" cy="195707"/>
          </a:xfrm>
          <a:prstGeom prst="rect">
            <a:avLst/>
          </a:prstGeom>
        </p:spPr>
      </p:pic>
      <p:sp>
        <p:nvSpPr>
          <p:cNvPr id="22" name="TextBox 21"/>
          <p:cNvSpPr txBox="1"/>
          <p:nvPr/>
        </p:nvSpPr>
        <p:spPr>
          <a:xfrm>
            <a:off x="3259910" y="3724275"/>
            <a:ext cx="8362825" cy="194310"/>
          </a:xfrm>
          <a:prstGeom prst="rect">
            <a:avLst/>
          </a:prstGeom>
          <a:noFill/>
        </p:spPr>
        <p:txBody>
          <a:bodyPr wrap="none" lIns="0" rIns="0" tIns="0" bIns="0">
            <a:spAutoFit/>
          </a:bodyPr>
          <a:lstStyle/>
          <a:p>
            <a:r>
              <a:rPr sz="1150" b="0">
                <a:solidFill>
                  <a:srgbClr val="2E2E2E"/>
                </a:solidFill>
                <a:latin typeface="Calibri"/>
              </a:rPr>
              <a:t>X higher value than ceremonial grade segment in 2036. Among matcha by grade type, ceremonial grade segment is expected to witness the</a:t>
            </a:r>
          </a:p>
        </p:txBody>
      </p:sp>
      <p:sp>
        <p:nvSpPr>
          <p:cNvPr id="23" name="TextBox 22"/>
          <p:cNvSpPr txBox="1"/>
          <p:nvPr/>
        </p:nvSpPr>
        <p:spPr>
          <a:xfrm>
            <a:off x="276225" y="389953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4" name="Picture 23" descr="lock.png"/>
          <p:cNvPicPr>
            <a:picLocks noChangeAspect="1"/>
          </p:cNvPicPr>
          <p:nvPr/>
        </p:nvPicPr>
        <p:blipFill>
          <a:blip r:embed="rId4"/>
          <a:stretch>
            <a:fillRect/>
          </a:stretch>
        </p:blipFill>
        <p:spPr>
          <a:xfrm>
            <a:off x="1257732" y="3889311"/>
            <a:ext cx="134549" cy="195707"/>
          </a:xfrm>
          <a:prstGeom prst="rect">
            <a:avLst/>
          </a:prstGeom>
        </p:spPr>
      </p:pic>
      <p:sp>
        <p:nvSpPr>
          <p:cNvPr id="25" name="TextBox 24"/>
          <p:cNvSpPr txBox="1"/>
          <p:nvPr/>
        </p:nvSpPr>
        <p:spPr>
          <a:xfrm>
            <a:off x="1432841" y="38995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127372"/>
            <a:ext cx="6547470" cy="194310"/>
          </a:xfrm>
          <a:prstGeom prst="rect">
            <a:avLst/>
          </a:prstGeom>
          <a:noFill/>
        </p:spPr>
        <p:txBody>
          <a:bodyPr wrap="none" lIns="0" rIns="0" tIns="0" bIns="0">
            <a:spAutoFit/>
          </a:bodyPr>
          <a:lstStyle/>
          <a:p>
            <a:r>
              <a:rPr sz="1150" b="0">
                <a:solidFill>
                  <a:srgbClr val="2E2E2E"/>
                </a:solidFill>
                <a:latin typeface="Calibri"/>
              </a:rPr>
              <a:t>In terms of value share by grade type, the culinary grade segment is expected to dominate the market, losing</a:t>
            </a:r>
          </a:p>
        </p:txBody>
      </p:sp>
      <p:pic>
        <p:nvPicPr>
          <p:cNvPr id="27" name="Picture 26" descr="lock.png"/>
          <p:cNvPicPr>
            <a:picLocks noChangeAspect="1"/>
          </p:cNvPicPr>
          <p:nvPr/>
        </p:nvPicPr>
        <p:blipFill>
          <a:blip r:embed="rId4"/>
          <a:stretch>
            <a:fillRect/>
          </a:stretch>
        </p:blipFill>
        <p:spPr>
          <a:xfrm>
            <a:off x="6772849" y="4117149"/>
            <a:ext cx="134549" cy="195707"/>
          </a:xfrm>
          <a:prstGeom prst="rect">
            <a:avLst/>
          </a:prstGeom>
        </p:spPr>
      </p:pic>
      <p:sp>
        <p:nvSpPr>
          <p:cNvPr id="28" name="TextBox 27"/>
          <p:cNvSpPr txBox="1"/>
          <p:nvPr/>
        </p:nvSpPr>
        <p:spPr>
          <a:xfrm>
            <a:off x="6947958" y="41273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343101" y="4117149"/>
            <a:ext cx="134549" cy="195707"/>
          </a:xfrm>
          <a:prstGeom prst="rect">
            <a:avLst/>
          </a:prstGeom>
        </p:spPr>
      </p:pic>
      <p:sp>
        <p:nvSpPr>
          <p:cNvPr id="30" name="TextBox 29"/>
          <p:cNvSpPr txBox="1"/>
          <p:nvPr/>
        </p:nvSpPr>
        <p:spPr>
          <a:xfrm>
            <a:off x="8518210" y="4127372"/>
            <a:ext cx="3196307" cy="194310"/>
          </a:xfrm>
          <a:prstGeom prst="rect">
            <a:avLst/>
          </a:prstGeom>
          <a:noFill/>
        </p:spPr>
        <p:txBody>
          <a:bodyPr wrap="none" lIns="0" rIns="0" tIns="0" bIns="0">
            <a:spAutoFit/>
          </a:bodyPr>
          <a:lstStyle/>
          <a:p>
            <a:r>
              <a:rPr sz="1150" b="0">
                <a:solidFill>
                  <a:srgbClr val="2E2E2E"/>
                </a:solidFill>
                <a:latin typeface="Calibri"/>
              </a:rPr>
              <a:t>share by 2036. The standard drinking grade segment</a:t>
            </a:r>
          </a:p>
        </p:txBody>
      </p:sp>
      <p:sp>
        <p:nvSpPr>
          <p:cNvPr id="31" name="TextBox 30"/>
          <p:cNvSpPr txBox="1"/>
          <p:nvPr/>
        </p:nvSpPr>
        <p:spPr>
          <a:xfrm>
            <a:off x="276225" y="4302632"/>
            <a:ext cx="1178706" cy="194310"/>
          </a:xfrm>
          <a:prstGeom prst="rect">
            <a:avLst/>
          </a:prstGeom>
          <a:noFill/>
        </p:spPr>
        <p:txBody>
          <a:bodyPr wrap="none" lIns="0" rIns="0" tIns="0" bIns="0">
            <a:spAutoFit/>
          </a:bodyPr>
          <a:lstStyle/>
          <a:p>
            <a:r>
              <a:rPr sz="1150" b="0">
                <a:solidFill>
                  <a:srgbClr val="2E2E2E"/>
                </a:solidFill>
                <a:latin typeface="Calibri"/>
              </a:rPr>
              <a:t>is expected to lose</a:t>
            </a:r>
          </a:p>
        </p:txBody>
      </p:sp>
      <p:pic>
        <p:nvPicPr>
          <p:cNvPr id="32" name="Picture 31" descr="lock.png"/>
          <p:cNvPicPr>
            <a:picLocks noChangeAspect="1"/>
          </p:cNvPicPr>
          <p:nvPr/>
        </p:nvPicPr>
        <p:blipFill>
          <a:blip r:embed="rId4"/>
          <a:stretch>
            <a:fillRect/>
          </a:stretch>
        </p:blipFill>
        <p:spPr>
          <a:xfrm>
            <a:off x="1404085" y="4292409"/>
            <a:ext cx="134549" cy="195707"/>
          </a:xfrm>
          <a:prstGeom prst="rect">
            <a:avLst/>
          </a:prstGeom>
        </p:spPr>
      </p:pic>
      <p:sp>
        <p:nvSpPr>
          <p:cNvPr id="33" name="TextBox 32"/>
          <p:cNvSpPr txBox="1"/>
          <p:nvPr/>
        </p:nvSpPr>
        <p:spPr>
          <a:xfrm>
            <a:off x="1579194" y="43026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166699" y="4292409"/>
            <a:ext cx="134549" cy="195707"/>
          </a:xfrm>
          <a:prstGeom prst="rect">
            <a:avLst/>
          </a:prstGeom>
        </p:spPr>
      </p:pic>
      <p:sp>
        <p:nvSpPr>
          <p:cNvPr id="35" name="TextBox 34"/>
          <p:cNvSpPr txBox="1"/>
          <p:nvPr/>
        </p:nvSpPr>
        <p:spPr>
          <a:xfrm>
            <a:off x="4341808" y="43026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Grade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Grade Type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Grade Type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909859"/>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a:off x="5090922" y="19050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8288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Premium Grade</a:t>
            </a:r>
          </a:p>
        </p:txBody>
      </p:sp>
      <p:sp>
        <p:nvSpPr>
          <p:cNvPr id="18" name="BPS Value 1"/>
          <p:cNvSpPr txBox="1"/>
          <p:nvPr/>
        </p:nvSpPr>
        <p:spPr>
          <a:xfrm>
            <a:off x="6896100" y="189080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19" name="FMI Legend Chip"/>
          <p:cNvSpPr/>
          <p:nvPr/>
        </p:nvSpPr>
        <p:spPr>
          <a:xfrm>
            <a:off x="4928997" y="2396192"/>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239143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231523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Standard Drinking Grade</a:t>
            </a:r>
          </a:p>
        </p:txBody>
      </p:sp>
      <p:sp>
        <p:nvSpPr>
          <p:cNvPr id="22" name="BPS Value 2"/>
          <p:cNvSpPr txBox="1"/>
          <p:nvPr/>
        </p:nvSpPr>
        <p:spPr>
          <a:xfrm>
            <a:off x="6896100" y="237714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FMI Legend Chip"/>
          <p:cNvSpPr/>
          <p:nvPr/>
        </p:nvSpPr>
        <p:spPr>
          <a:xfrm>
            <a:off x="4928997" y="296758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rot="10800000">
            <a:off x="5090922" y="296281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88661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Industrial Grade</a:t>
            </a:r>
          </a:p>
        </p:txBody>
      </p:sp>
      <p:sp>
        <p:nvSpPr>
          <p:cNvPr id="26" name="BPS Value 3"/>
          <p:cNvSpPr txBox="1"/>
          <p:nvPr/>
        </p:nvSpPr>
        <p:spPr>
          <a:xfrm>
            <a:off x="6896100" y="294853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7" name="FMI Legend Chip"/>
          <p:cNvSpPr/>
          <p:nvPr/>
        </p:nvSpPr>
        <p:spPr>
          <a:xfrm>
            <a:off x="4928997" y="3672595"/>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a:off x="5090922" y="3667832"/>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3591632"/>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Ceremonial Grade</a:t>
            </a:r>
          </a:p>
        </p:txBody>
      </p:sp>
      <p:sp>
        <p:nvSpPr>
          <p:cNvPr id="30" name="BPS Value 4"/>
          <p:cNvSpPr txBox="1"/>
          <p:nvPr/>
        </p:nvSpPr>
        <p:spPr>
          <a:xfrm>
            <a:off x="6896100" y="365354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1" name="FMI Legend Chip"/>
          <p:cNvSpPr/>
          <p:nvPr/>
        </p:nvSpPr>
        <p:spPr>
          <a:xfrm>
            <a:off x="4928997" y="5148793"/>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5090922" y="5144031"/>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5067831"/>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Culinary Grade</a:t>
            </a:r>
          </a:p>
        </p:txBody>
      </p:sp>
      <p:sp>
        <p:nvSpPr>
          <p:cNvPr id="34" name="BPS Value 5"/>
          <p:cNvSpPr txBox="1"/>
          <p:nvPr/>
        </p:nvSpPr>
        <p:spPr>
          <a:xfrm>
            <a:off x="6896100" y="5129743"/>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Rounded Rectangle 34"/>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Grade Type</a:t>
            </a:r>
          </a:p>
        </p:txBody>
      </p:sp>
      <p:sp>
        <p:nvSpPr>
          <p:cNvPr id="37" name="Rectangle 36"/>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9" name="TextBox 3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0" name="Picture 39" descr="lock.png"/>
          <p:cNvPicPr>
            <a:picLocks noChangeAspect="1"/>
          </p:cNvPicPr>
          <p:nvPr/>
        </p:nvPicPr>
        <p:blipFill>
          <a:blip r:embed="rId5"/>
          <a:stretch>
            <a:fillRect/>
          </a:stretch>
        </p:blipFill>
        <p:spPr>
          <a:xfrm>
            <a:off x="2557843" y="3833622"/>
            <a:ext cx="275034" cy="400050"/>
          </a:xfrm>
          <a:prstGeom prst="rect">
            <a:avLst/>
          </a:prstGeom>
        </p:spPr>
      </p:pic>
      <p:sp>
        <p:nvSpPr>
          <p:cNvPr id="41" name="TextBox 40"/>
          <p:cNvSpPr txBox="1"/>
          <p:nvPr/>
        </p:nvSpPr>
        <p:spPr>
          <a:xfrm>
            <a:off x="7829550" y="1400175"/>
            <a:ext cx="3601653" cy="194310"/>
          </a:xfrm>
          <a:prstGeom prst="rect">
            <a:avLst/>
          </a:prstGeom>
          <a:noFill/>
        </p:spPr>
        <p:txBody>
          <a:bodyPr wrap="none" lIns="0" rIns="0" tIns="0" bIns="0">
            <a:spAutoFit/>
          </a:bodyPr>
          <a:lstStyle/>
          <a:p>
            <a:r>
              <a:rPr sz="1150" b="0">
                <a:solidFill>
                  <a:srgbClr val="2E2E2E"/>
                </a:solidFill>
                <a:latin typeface="Calibri"/>
              </a:rPr>
              <a:t>Among matcha by grade type, ceremonial grade segment is</a:t>
            </a:r>
          </a:p>
        </p:txBody>
      </p:sp>
      <p:sp>
        <p:nvSpPr>
          <p:cNvPr id="42" name="TextBox 41"/>
          <p:cNvSpPr txBox="1"/>
          <p:nvPr/>
        </p:nvSpPr>
        <p:spPr>
          <a:xfrm>
            <a:off x="7829550" y="157543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43" name="Picture 42" descr="lock.png"/>
          <p:cNvPicPr>
            <a:picLocks noChangeAspect="1"/>
          </p:cNvPicPr>
          <p:nvPr/>
        </p:nvPicPr>
        <p:blipFill>
          <a:blip r:embed="rId5"/>
          <a:stretch>
            <a:fillRect/>
          </a:stretch>
        </p:blipFill>
        <p:spPr>
          <a:xfrm>
            <a:off x="10264711" y="1565211"/>
            <a:ext cx="134549" cy="195707"/>
          </a:xfrm>
          <a:prstGeom prst="rect">
            <a:avLst/>
          </a:prstGeom>
        </p:spPr>
      </p:pic>
      <p:sp>
        <p:nvSpPr>
          <p:cNvPr id="44" name="TextBox 43"/>
          <p:cNvSpPr txBox="1"/>
          <p:nvPr/>
        </p:nvSpPr>
        <p:spPr>
          <a:xfrm>
            <a:off x="104398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45" name="TextBox 44"/>
          <p:cNvSpPr txBox="1"/>
          <p:nvPr/>
        </p:nvSpPr>
        <p:spPr>
          <a:xfrm>
            <a:off x="7829550" y="1750695"/>
            <a:ext cx="3883769" cy="194310"/>
          </a:xfrm>
          <a:prstGeom prst="rect">
            <a:avLst/>
          </a:prstGeom>
          <a:noFill/>
        </p:spPr>
        <p:txBody>
          <a:bodyPr wrap="none" lIns="0" rIns="0" tIns="0" bIns="0">
            <a:spAutoFit/>
          </a:bodyPr>
          <a:lstStyle/>
          <a:p>
            <a:r>
              <a:rPr sz="1150" b="0">
                <a:solidFill>
                  <a:srgbClr val="2E2E2E"/>
                </a:solidFill>
                <a:latin typeface="Calibri"/>
              </a:rPr>
              <a:t>period. In terms of value share by grade type, the culinary grade</a:t>
            </a:r>
          </a:p>
        </p:txBody>
      </p:sp>
      <p:sp>
        <p:nvSpPr>
          <p:cNvPr id="46" name="TextBox 45"/>
          <p:cNvSpPr txBox="1"/>
          <p:nvPr/>
        </p:nvSpPr>
        <p:spPr>
          <a:xfrm>
            <a:off x="7829550" y="1925955"/>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47" name="Picture 46" descr="lock.png"/>
          <p:cNvPicPr>
            <a:picLocks noChangeAspect="1"/>
          </p:cNvPicPr>
          <p:nvPr/>
        </p:nvPicPr>
        <p:blipFill>
          <a:blip r:embed="rId5"/>
          <a:stretch>
            <a:fillRect/>
          </a:stretch>
        </p:blipFill>
        <p:spPr>
          <a:xfrm>
            <a:off x="10943347" y="1915731"/>
            <a:ext cx="134549" cy="195707"/>
          </a:xfrm>
          <a:prstGeom prst="rect">
            <a:avLst/>
          </a:prstGeom>
        </p:spPr>
      </p:pic>
      <p:sp>
        <p:nvSpPr>
          <p:cNvPr id="48" name="TextBox 47"/>
          <p:cNvSpPr txBox="1"/>
          <p:nvPr/>
        </p:nvSpPr>
        <p:spPr>
          <a:xfrm>
            <a:off x="11118457" y="1925955"/>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49" name="TextBox 48"/>
          <p:cNvSpPr txBox="1"/>
          <p:nvPr/>
        </p:nvSpPr>
        <p:spPr>
          <a:xfrm>
            <a:off x="7829550" y="2101215"/>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50" name="Picture 49" descr="lock.png"/>
          <p:cNvPicPr>
            <a:picLocks noChangeAspect="1"/>
          </p:cNvPicPr>
          <p:nvPr/>
        </p:nvPicPr>
        <p:blipFill>
          <a:blip r:embed="rId5"/>
          <a:stretch>
            <a:fillRect/>
          </a:stretch>
        </p:blipFill>
        <p:spPr>
          <a:xfrm>
            <a:off x="8712947" y="2090991"/>
            <a:ext cx="134549" cy="195707"/>
          </a:xfrm>
          <a:prstGeom prst="rect">
            <a:avLst/>
          </a:prstGeom>
        </p:spPr>
      </p:pic>
      <p:sp>
        <p:nvSpPr>
          <p:cNvPr id="51" name="TextBox 50"/>
          <p:cNvSpPr txBox="1"/>
          <p:nvPr/>
        </p:nvSpPr>
        <p:spPr>
          <a:xfrm>
            <a:off x="8888056"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2" name="TextBox 51"/>
          <p:cNvSpPr txBox="1"/>
          <p:nvPr/>
        </p:nvSpPr>
        <p:spPr>
          <a:xfrm>
            <a:off x="7829550" y="2329053"/>
            <a:ext cx="3428789" cy="194310"/>
          </a:xfrm>
          <a:prstGeom prst="rect">
            <a:avLst/>
          </a:prstGeom>
          <a:noFill/>
        </p:spPr>
        <p:txBody>
          <a:bodyPr wrap="none" lIns="0" rIns="0" tIns="0" bIns="0">
            <a:spAutoFit/>
          </a:bodyPr>
          <a:lstStyle/>
          <a:p>
            <a:r>
              <a:rPr sz="1150" b="0">
                <a:solidFill>
                  <a:srgbClr val="2E2E2E"/>
                </a:solidFill>
                <a:latin typeface="Calibri"/>
              </a:rPr>
              <a:t>The standard drinking grade segment is expected to lose</a:t>
            </a:r>
          </a:p>
        </p:txBody>
      </p:sp>
      <p:pic>
        <p:nvPicPr>
          <p:cNvPr id="53" name="Picture 52" descr="lock.png"/>
          <p:cNvPicPr>
            <a:picLocks noChangeAspect="1"/>
          </p:cNvPicPr>
          <p:nvPr/>
        </p:nvPicPr>
        <p:blipFill>
          <a:blip r:embed="rId5"/>
          <a:stretch>
            <a:fillRect/>
          </a:stretch>
        </p:blipFill>
        <p:spPr>
          <a:xfrm>
            <a:off x="11207493" y="2318829"/>
            <a:ext cx="134549" cy="195707"/>
          </a:xfrm>
          <a:prstGeom prst="rect">
            <a:avLst/>
          </a:prstGeom>
        </p:spPr>
      </p:pic>
      <p:sp>
        <p:nvSpPr>
          <p:cNvPr id="54" name="TextBox 53"/>
          <p:cNvSpPr txBox="1"/>
          <p:nvPr/>
        </p:nvSpPr>
        <p:spPr>
          <a:xfrm>
            <a:off x="11382602" y="2329053"/>
            <a:ext cx="298412" cy="194310"/>
          </a:xfrm>
          <a:prstGeom prst="rect">
            <a:avLst/>
          </a:prstGeom>
          <a:noFill/>
        </p:spPr>
        <p:txBody>
          <a:bodyPr wrap="none" lIns="0" rIns="0" tIns="0" bIns="0">
            <a:spAutoFit/>
          </a:bodyPr>
          <a:lstStyle/>
          <a:p>
            <a:r>
              <a:rPr sz="1150" b="0">
                <a:solidFill>
                  <a:srgbClr val="2E2E2E"/>
                </a:solidFill>
                <a:latin typeface="Calibri"/>
              </a:rPr>
              <a:t>BPS</a:t>
            </a:r>
          </a:p>
        </p:txBody>
      </p:sp>
      <p:sp>
        <p:nvSpPr>
          <p:cNvPr id="55" name="TextBox 54"/>
          <p:cNvSpPr txBox="1"/>
          <p:nvPr/>
        </p:nvSpPr>
        <p:spPr>
          <a:xfrm>
            <a:off x="7829550" y="2504313"/>
            <a:ext cx="2383048" cy="194310"/>
          </a:xfrm>
          <a:prstGeom prst="rect">
            <a:avLst/>
          </a:prstGeom>
          <a:noFill/>
        </p:spPr>
        <p:txBody>
          <a:bodyPr wrap="none" lIns="0" rIns="0" tIns="0" bIns="0">
            <a:spAutoFit/>
          </a:bodyPr>
          <a:lstStyle/>
          <a:p>
            <a:r>
              <a:rPr sz="1150" b="0">
                <a:solidFill>
                  <a:srgbClr val="2E2E2E"/>
                </a:solidFill>
                <a:latin typeface="Calibri"/>
              </a:rPr>
              <a:t>over the forecast period to account for</a:t>
            </a:r>
          </a:p>
        </p:txBody>
      </p:sp>
      <p:pic>
        <p:nvPicPr>
          <p:cNvPr id="56" name="Picture 55" descr="lock.png"/>
          <p:cNvPicPr>
            <a:picLocks noChangeAspect="1"/>
          </p:cNvPicPr>
          <p:nvPr/>
        </p:nvPicPr>
        <p:blipFill>
          <a:blip r:embed="rId5"/>
          <a:stretch>
            <a:fillRect/>
          </a:stretch>
        </p:blipFill>
        <p:spPr>
          <a:xfrm>
            <a:off x="10161752" y="2494089"/>
            <a:ext cx="134549" cy="195707"/>
          </a:xfrm>
          <a:prstGeom prst="rect">
            <a:avLst/>
          </a:prstGeom>
        </p:spPr>
      </p:pic>
      <p:sp>
        <p:nvSpPr>
          <p:cNvPr id="57" name="TextBox 56"/>
          <p:cNvSpPr txBox="1"/>
          <p:nvPr/>
        </p:nvSpPr>
        <p:spPr>
          <a:xfrm>
            <a:off x="10336861"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8"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Application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Application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6 sub-segments of Application,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Application segment categorizes the market by application.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571625"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571625"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Beverages</a:t>
            </a:r>
          </a:p>
        </p:txBody>
      </p:sp>
      <p:sp>
        <p:nvSpPr>
          <p:cNvPr id="22" name="Rectangle 21"/>
          <p:cNvSpPr/>
          <p:nvPr/>
        </p:nvSpPr>
        <p:spPr>
          <a:xfrm>
            <a:off x="18669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490788"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552825" y="1773916"/>
            <a:ext cx="1571625"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552825" y="1992961"/>
            <a:ext cx="1571625"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5909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Applications</a:t>
            </a:r>
          </a:p>
        </p:txBody>
      </p:sp>
      <p:sp>
        <p:nvSpPr>
          <p:cNvPr id="29" name="Rectangle 28"/>
          <p:cNvSpPr/>
          <p:nvPr/>
        </p:nvSpPr>
        <p:spPr>
          <a:xfrm>
            <a:off x="35528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5528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5528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4176712"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5238750" y="1773916"/>
            <a:ext cx="1571625"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5238750" y="1992961"/>
            <a:ext cx="1571625"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527685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Dairy and Frozen Desserts</a:t>
            </a:r>
          </a:p>
        </p:txBody>
      </p:sp>
      <p:sp>
        <p:nvSpPr>
          <p:cNvPr id="36" name="Rectangle 35"/>
          <p:cNvSpPr/>
          <p:nvPr/>
        </p:nvSpPr>
        <p:spPr>
          <a:xfrm>
            <a:off x="523875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523875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523875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5862638"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6924675" y="1773916"/>
            <a:ext cx="1571625"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924675" y="1992961"/>
            <a:ext cx="1571625"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96277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Food Products</a:t>
            </a:r>
          </a:p>
        </p:txBody>
      </p:sp>
      <p:sp>
        <p:nvSpPr>
          <p:cNvPr id="43" name="Rectangle 42"/>
          <p:cNvSpPr/>
          <p:nvPr/>
        </p:nvSpPr>
        <p:spPr>
          <a:xfrm>
            <a:off x="692467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692467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92467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7548562"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8610600" y="1773916"/>
            <a:ext cx="1571625"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8610600" y="1992961"/>
            <a:ext cx="1571625"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8648700"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Dietary Supplements and Functiona…</a:t>
            </a:r>
          </a:p>
        </p:txBody>
      </p:sp>
      <p:sp>
        <p:nvSpPr>
          <p:cNvPr id="50" name="Rectangle 49"/>
          <p:cNvSpPr/>
          <p:nvPr/>
        </p:nvSpPr>
        <p:spPr>
          <a:xfrm>
            <a:off x="8610600"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8610600"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8610600"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9234488"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10296525" y="1773916"/>
            <a:ext cx="1571625"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10296525" y="1992961"/>
            <a:ext cx="1571625"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10334625" y="1773916"/>
            <a:ext cx="1495425" cy="438089"/>
          </a:xfrm>
          <a:prstGeom prst="rect">
            <a:avLst/>
          </a:prstGeom>
          <a:noFill/>
        </p:spPr>
        <p:txBody>
          <a:bodyPr wrap="square" lIns="28575" rIns="28575" tIns="9525" bIns="9525" anchor="ctr">
            <a:spAutoFit/>
          </a:bodyPr>
          <a:lstStyle/>
          <a:p>
            <a:pPr algn="ctr"/>
            <a:r>
              <a:rPr sz="1100" b="1">
                <a:solidFill>
                  <a:srgbClr val="FFFFFF"/>
                </a:solidFill>
                <a:latin typeface="Calibri"/>
              </a:rPr>
              <a:t>Bakery and Confectionery</a:t>
            </a:r>
          </a:p>
        </p:txBody>
      </p:sp>
      <p:sp>
        <p:nvSpPr>
          <p:cNvPr id="57" name="Rectangle 56"/>
          <p:cNvSpPr/>
          <p:nvPr/>
        </p:nvSpPr>
        <p:spPr>
          <a:xfrm>
            <a:off x="10296525" y="22302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10296525" y="2723109"/>
            <a:ext cx="1571625"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10296525" y="3215959"/>
            <a:ext cx="1571625"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10920412"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63" name="Rectangle 62"/>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65" name="Rounded Rectangle 64"/>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67" name="Rectangle 66"/>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810000" y="4219912"/>
            <a:ext cx="42100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p:txBody>
      </p:sp>
      <p:sp>
        <p:nvSpPr>
          <p:cNvPr id="69" name="Rounded Rectangle 68"/>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1" name="Rectangle 70"/>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Application split shows how demand is distributed across application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73" name="Rectangle 72"/>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TextBox 73"/>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75" name="TextBox 74"/>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76" name="TextBox 7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77" name="Picture 76" descr="259_4_605E5C.png"/>
          <p:cNvPicPr>
            <a:picLocks noChangeAspect="1"/>
          </p:cNvPicPr>
          <p:nvPr/>
        </p:nvPicPr>
        <p:blipFill>
          <a:blip r:embed="rId4"/>
          <a:stretch>
            <a:fillRect/>
          </a:stretch>
        </p:blipFill>
        <p:spPr>
          <a:xfrm>
            <a:off x="2054848" y="2286582"/>
            <a:ext cx="1195728" cy="361950"/>
          </a:xfrm>
          <a:prstGeom prst="rect">
            <a:avLst/>
          </a:prstGeom>
        </p:spPr>
      </p:pic>
      <p:pic>
        <p:nvPicPr>
          <p:cNvPr id="78" name="Picture 77" descr="434_1_605E5C.png"/>
          <p:cNvPicPr>
            <a:picLocks noChangeAspect="1"/>
          </p:cNvPicPr>
          <p:nvPr/>
        </p:nvPicPr>
        <p:blipFill>
          <a:blip r:embed="rId5"/>
          <a:stretch>
            <a:fillRect/>
          </a:stretch>
        </p:blipFill>
        <p:spPr>
          <a:xfrm>
            <a:off x="2054848" y="2779432"/>
            <a:ext cx="1195728" cy="361950"/>
          </a:xfrm>
          <a:prstGeom prst="rect">
            <a:avLst/>
          </a:prstGeom>
        </p:spPr>
      </p:pic>
      <p:pic>
        <p:nvPicPr>
          <p:cNvPr id="79" name="Picture 78" descr="5_3__605E5C.png"/>
          <p:cNvPicPr>
            <a:picLocks noChangeAspect="1"/>
          </p:cNvPicPr>
          <p:nvPr/>
        </p:nvPicPr>
        <p:blipFill>
          <a:blip r:embed="rId6"/>
          <a:stretch>
            <a:fillRect/>
          </a:stretch>
        </p:blipFill>
        <p:spPr>
          <a:xfrm>
            <a:off x="2161494" y="3272281"/>
            <a:ext cx="982436" cy="361950"/>
          </a:xfrm>
          <a:prstGeom prst="rect">
            <a:avLst/>
          </a:prstGeom>
        </p:spPr>
      </p:pic>
      <p:pic>
        <p:nvPicPr>
          <p:cNvPr id="80" name="Picture 79" descr="178_9_605E5C.png"/>
          <p:cNvPicPr>
            <a:picLocks noChangeAspect="1"/>
          </p:cNvPicPr>
          <p:nvPr/>
        </p:nvPicPr>
        <p:blipFill>
          <a:blip r:embed="rId7"/>
          <a:stretch>
            <a:fillRect/>
          </a:stretch>
        </p:blipFill>
        <p:spPr>
          <a:xfrm>
            <a:off x="3740773" y="2286582"/>
            <a:ext cx="1195728" cy="361950"/>
          </a:xfrm>
          <a:prstGeom prst="rect">
            <a:avLst/>
          </a:prstGeom>
        </p:spPr>
      </p:pic>
      <p:pic>
        <p:nvPicPr>
          <p:cNvPr id="81" name="Picture 80" descr="372_1_605E5C.png"/>
          <p:cNvPicPr>
            <a:picLocks noChangeAspect="1"/>
          </p:cNvPicPr>
          <p:nvPr/>
        </p:nvPicPr>
        <p:blipFill>
          <a:blip r:embed="rId8"/>
          <a:stretch>
            <a:fillRect/>
          </a:stretch>
        </p:blipFill>
        <p:spPr>
          <a:xfrm>
            <a:off x="3740773" y="2779432"/>
            <a:ext cx="1195728" cy="361950"/>
          </a:xfrm>
          <a:prstGeom prst="rect">
            <a:avLst/>
          </a:prstGeom>
        </p:spPr>
      </p:pic>
      <p:pic>
        <p:nvPicPr>
          <p:cNvPr id="82" name="Picture 81" descr="7_6__605E5C.png"/>
          <p:cNvPicPr>
            <a:picLocks noChangeAspect="1"/>
          </p:cNvPicPr>
          <p:nvPr/>
        </p:nvPicPr>
        <p:blipFill>
          <a:blip r:embed="rId9"/>
          <a:stretch>
            <a:fillRect/>
          </a:stretch>
        </p:blipFill>
        <p:spPr>
          <a:xfrm>
            <a:off x="3847419" y="3272281"/>
            <a:ext cx="982436" cy="361950"/>
          </a:xfrm>
          <a:prstGeom prst="rect">
            <a:avLst/>
          </a:prstGeom>
        </p:spPr>
      </p:pic>
      <p:pic>
        <p:nvPicPr>
          <p:cNvPr id="83" name="Picture 82" descr="178_0_605E5C.png"/>
          <p:cNvPicPr>
            <a:picLocks noChangeAspect="1"/>
          </p:cNvPicPr>
          <p:nvPr/>
        </p:nvPicPr>
        <p:blipFill>
          <a:blip r:embed="rId10"/>
          <a:stretch>
            <a:fillRect/>
          </a:stretch>
        </p:blipFill>
        <p:spPr>
          <a:xfrm>
            <a:off x="5426698" y="2286582"/>
            <a:ext cx="1195728" cy="361950"/>
          </a:xfrm>
          <a:prstGeom prst="rect">
            <a:avLst/>
          </a:prstGeom>
        </p:spPr>
      </p:pic>
      <p:pic>
        <p:nvPicPr>
          <p:cNvPr id="84" name="Picture 83" descr="327_3_605E5C.png"/>
          <p:cNvPicPr>
            <a:picLocks noChangeAspect="1"/>
          </p:cNvPicPr>
          <p:nvPr/>
        </p:nvPicPr>
        <p:blipFill>
          <a:blip r:embed="rId11"/>
          <a:stretch>
            <a:fillRect/>
          </a:stretch>
        </p:blipFill>
        <p:spPr>
          <a:xfrm>
            <a:off x="5426698" y="2779432"/>
            <a:ext cx="1195728" cy="361950"/>
          </a:xfrm>
          <a:prstGeom prst="rect">
            <a:avLst/>
          </a:prstGeom>
        </p:spPr>
      </p:pic>
      <p:pic>
        <p:nvPicPr>
          <p:cNvPr id="85" name="Picture 84" descr="6_3__605E5C.png"/>
          <p:cNvPicPr>
            <a:picLocks noChangeAspect="1"/>
          </p:cNvPicPr>
          <p:nvPr/>
        </p:nvPicPr>
        <p:blipFill>
          <a:blip r:embed="rId12"/>
          <a:stretch>
            <a:fillRect/>
          </a:stretch>
        </p:blipFill>
        <p:spPr>
          <a:xfrm>
            <a:off x="5533344" y="3272281"/>
            <a:ext cx="982436" cy="361950"/>
          </a:xfrm>
          <a:prstGeom prst="rect">
            <a:avLst/>
          </a:prstGeom>
        </p:spPr>
      </p:pic>
      <p:pic>
        <p:nvPicPr>
          <p:cNvPr id="86" name="Picture 85" descr="174_9_605E5C.png"/>
          <p:cNvPicPr>
            <a:picLocks noChangeAspect="1"/>
          </p:cNvPicPr>
          <p:nvPr/>
        </p:nvPicPr>
        <p:blipFill>
          <a:blip r:embed="rId13"/>
          <a:stretch>
            <a:fillRect/>
          </a:stretch>
        </p:blipFill>
        <p:spPr>
          <a:xfrm>
            <a:off x="7112623" y="2286582"/>
            <a:ext cx="1195728" cy="361950"/>
          </a:xfrm>
          <a:prstGeom prst="rect">
            <a:avLst/>
          </a:prstGeom>
        </p:spPr>
      </p:pic>
      <p:pic>
        <p:nvPicPr>
          <p:cNvPr id="87" name="Picture 86" descr="266_7_605E5C.png"/>
          <p:cNvPicPr>
            <a:picLocks noChangeAspect="1"/>
          </p:cNvPicPr>
          <p:nvPr/>
        </p:nvPicPr>
        <p:blipFill>
          <a:blip r:embed="rId14"/>
          <a:stretch>
            <a:fillRect/>
          </a:stretch>
        </p:blipFill>
        <p:spPr>
          <a:xfrm>
            <a:off x="7112623" y="2779432"/>
            <a:ext cx="1195728" cy="361950"/>
          </a:xfrm>
          <a:prstGeom prst="rect">
            <a:avLst/>
          </a:prstGeom>
        </p:spPr>
      </p:pic>
      <p:pic>
        <p:nvPicPr>
          <p:cNvPr id="88" name="Picture 87" descr="4_3__605E5C.png"/>
          <p:cNvPicPr>
            <a:picLocks noChangeAspect="1"/>
          </p:cNvPicPr>
          <p:nvPr/>
        </p:nvPicPr>
        <p:blipFill>
          <a:blip r:embed="rId15"/>
          <a:stretch>
            <a:fillRect/>
          </a:stretch>
        </p:blipFill>
        <p:spPr>
          <a:xfrm>
            <a:off x="7219269" y="3272281"/>
            <a:ext cx="982436" cy="361950"/>
          </a:xfrm>
          <a:prstGeom prst="rect">
            <a:avLst/>
          </a:prstGeom>
        </p:spPr>
      </p:pic>
      <p:pic>
        <p:nvPicPr>
          <p:cNvPr id="89" name="Picture 88" descr="167_0_605E5C.png"/>
          <p:cNvPicPr>
            <a:picLocks noChangeAspect="1"/>
          </p:cNvPicPr>
          <p:nvPr/>
        </p:nvPicPr>
        <p:blipFill>
          <a:blip r:embed="rId16"/>
          <a:stretch>
            <a:fillRect/>
          </a:stretch>
        </p:blipFill>
        <p:spPr>
          <a:xfrm>
            <a:off x="8798548" y="2286582"/>
            <a:ext cx="1195728" cy="361950"/>
          </a:xfrm>
          <a:prstGeom prst="rect">
            <a:avLst/>
          </a:prstGeom>
        </p:spPr>
      </p:pic>
      <p:pic>
        <p:nvPicPr>
          <p:cNvPr id="90" name="Picture 89" descr="331_1_605E5C.png"/>
          <p:cNvPicPr>
            <a:picLocks noChangeAspect="1"/>
          </p:cNvPicPr>
          <p:nvPr/>
        </p:nvPicPr>
        <p:blipFill>
          <a:blip r:embed="rId17"/>
          <a:stretch>
            <a:fillRect/>
          </a:stretch>
        </p:blipFill>
        <p:spPr>
          <a:xfrm>
            <a:off x="8798548" y="2779432"/>
            <a:ext cx="1195728" cy="361950"/>
          </a:xfrm>
          <a:prstGeom prst="rect">
            <a:avLst/>
          </a:prstGeom>
        </p:spPr>
      </p:pic>
      <p:pic>
        <p:nvPicPr>
          <p:cNvPr id="91" name="Picture 90" descr="7_1__605E5C.png"/>
          <p:cNvPicPr>
            <a:picLocks noChangeAspect="1"/>
          </p:cNvPicPr>
          <p:nvPr/>
        </p:nvPicPr>
        <p:blipFill>
          <a:blip r:embed="rId18"/>
          <a:stretch>
            <a:fillRect/>
          </a:stretch>
        </p:blipFill>
        <p:spPr>
          <a:xfrm>
            <a:off x="8905194" y="3272281"/>
            <a:ext cx="982436" cy="361950"/>
          </a:xfrm>
          <a:prstGeom prst="rect">
            <a:avLst/>
          </a:prstGeom>
        </p:spPr>
      </p:pic>
      <p:pic>
        <p:nvPicPr>
          <p:cNvPr id="92" name="Picture 91" descr="155_1_605E5C.png"/>
          <p:cNvPicPr>
            <a:picLocks noChangeAspect="1"/>
          </p:cNvPicPr>
          <p:nvPr/>
        </p:nvPicPr>
        <p:blipFill>
          <a:blip r:embed="rId19"/>
          <a:stretch>
            <a:fillRect/>
          </a:stretch>
        </p:blipFill>
        <p:spPr>
          <a:xfrm>
            <a:off x="10484473" y="2286582"/>
            <a:ext cx="1195728" cy="361950"/>
          </a:xfrm>
          <a:prstGeom prst="rect">
            <a:avLst/>
          </a:prstGeom>
        </p:spPr>
      </p:pic>
      <p:pic>
        <p:nvPicPr>
          <p:cNvPr id="93" name="Picture 92" descr="295_2_605E5C.png"/>
          <p:cNvPicPr>
            <a:picLocks noChangeAspect="1"/>
          </p:cNvPicPr>
          <p:nvPr/>
        </p:nvPicPr>
        <p:blipFill>
          <a:blip r:embed="rId20"/>
          <a:stretch>
            <a:fillRect/>
          </a:stretch>
        </p:blipFill>
        <p:spPr>
          <a:xfrm>
            <a:off x="10484473" y="2779432"/>
            <a:ext cx="1195728" cy="361950"/>
          </a:xfrm>
          <a:prstGeom prst="rect">
            <a:avLst/>
          </a:prstGeom>
        </p:spPr>
      </p:pic>
      <p:pic>
        <p:nvPicPr>
          <p:cNvPr id="94" name="Picture 93" descr="6_7__605E5C.png"/>
          <p:cNvPicPr>
            <a:picLocks noChangeAspect="1"/>
          </p:cNvPicPr>
          <p:nvPr/>
        </p:nvPicPr>
        <p:blipFill>
          <a:blip r:embed="rId21"/>
          <a:stretch>
            <a:fillRect/>
          </a:stretch>
        </p:blipFill>
        <p:spPr>
          <a:xfrm>
            <a:off x="10591119" y="3272281"/>
            <a:ext cx="982436" cy="361950"/>
          </a:xfrm>
          <a:prstGeom prst="rect">
            <a:avLst/>
          </a:prstGeom>
        </p:spPr>
      </p:pic>
      <p:pic>
        <p:nvPicPr>
          <p:cNvPr id="95" name="Picture 94" descr="lock.png"/>
          <p:cNvPicPr>
            <a:picLocks noChangeAspect="1"/>
          </p:cNvPicPr>
          <p:nvPr/>
        </p:nvPicPr>
        <p:blipFill>
          <a:blip r:embed="rId22"/>
          <a:stretch>
            <a:fillRect/>
          </a:stretch>
        </p:blipFill>
        <p:spPr>
          <a:xfrm>
            <a:off x="2559367" y="2827057"/>
            <a:ext cx="183356" cy="266700"/>
          </a:xfrm>
          <a:prstGeom prst="rect">
            <a:avLst/>
          </a:prstGeom>
        </p:spPr>
      </p:pic>
      <p:pic>
        <p:nvPicPr>
          <p:cNvPr id="96" name="Picture 95" descr="lock.png"/>
          <p:cNvPicPr>
            <a:picLocks noChangeAspect="1"/>
          </p:cNvPicPr>
          <p:nvPr/>
        </p:nvPicPr>
        <p:blipFill>
          <a:blip r:embed="rId22"/>
          <a:stretch>
            <a:fillRect/>
          </a:stretch>
        </p:blipFill>
        <p:spPr>
          <a:xfrm>
            <a:off x="4245292" y="2827057"/>
            <a:ext cx="183356" cy="266700"/>
          </a:xfrm>
          <a:prstGeom prst="rect">
            <a:avLst/>
          </a:prstGeom>
        </p:spPr>
      </p:pic>
      <p:pic>
        <p:nvPicPr>
          <p:cNvPr id="97" name="Picture 96" descr="lock.png"/>
          <p:cNvPicPr>
            <a:picLocks noChangeAspect="1"/>
          </p:cNvPicPr>
          <p:nvPr/>
        </p:nvPicPr>
        <p:blipFill>
          <a:blip r:embed="rId22"/>
          <a:stretch>
            <a:fillRect/>
          </a:stretch>
        </p:blipFill>
        <p:spPr>
          <a:xfrm>
            <a:off x="5931217" y="2827057"/>
            <a:ext cx="183356" cy="266700"/>
          </a:xfrm>
          <a:prstGeom prst="rect">
            <a:avLst/>
          </a:prstGeom>
        </p:spPr>
      </p:pic>
      <p:pic>
        <p:nvPicPr>
          <p:cNvPr id="98" name="Picture 97" descr="lock.png"/>
          <p:cNvPicPr>
            <a:picLocks noChangeAspect="1"/>
          </p:cNvPicPr>
          <p:nvPr/>
        </p:nvPicPr>
        <p:blipFill>
          <a:blip r:embed="rId22"/>
          <a:stretch>
            <a:fillRect/>
          </a:stretch>
        </p:blipFill>
        <p:spPr>
          <a:xfrm>
            <a:off x="7617142" y="2827057"/>
            <a:ext cx="183356" cy="266700"/>
          </a:xfrm>
          <a:prstGeom prst="rect">
            <a:avLst/>
          </a:prstGeom>
        </p:spPr>
      </p:pic>
      <p:pic>
        <p:nvPicPr>
          <p:cNvPr id="99" name="Picture 98" descr="lock.png"/>
          <p:cNvPicPr>
            <a:picLocks noChangeAspect="1"/>
          </p:cNvPicPr>
          <p:nvPr/>
        </p:nvPicPr>
        <p:blipFill>
          <a:blip r:embed="rId22"/>
          <a:stretch>
            <a:fillRect/>
          </a:stretch>
        </p:blipFill>
        <p:spPr>
          <a:xfrm>
            <a:off x="9303067" y="2827057"/>
            <a:ext cx="183356" cy="266700"/>
          </a:xfrm>
          <a:prstGeom prst="rect">
            <a:avLst/>
          </a:prstGeom>
        </p:spPr>
      </p:pic>
      <p:pic>
        <p:nvPicPr>
          <p:cNvPr id="100" name="Picture 99" descr="lock.png"/>
          <p:cNvPicPr>
            <a:picLocks noChangeAspect="1"/>
          </p:cNvPicPr>
          <p:nvPr/>
        </p:nvPicPr>
        <p:blipFill>
          <a:blip r:embed="rId22"/>
          <a:stretch>
            <a:fillRect/>
          </a:stretch>
        </p:blipFill>
        <p:spPr>
          <a:xfrm>
            <a:off x="10988992" y="2827057"/>
            <a:ext cx="183356" cy="266700"/>
          </a:xfrm>
          <a:prstGeom prst="rect">
            <a:avLst/>
          </a:prstGeom>
        </p:spPr>
      </p:pic>
      <p:sp>
        <p:nvSpPr>
          <p:cNvPr id="101" name="TextBox 100"/>
          <p:cNvSpPr txBox="1"/>
          <p:nvPr/>
        </p:nvSpPr>
        <p:spPr>
          <a:xfrm>
            <a:off x="485775" y="4229437"/>
            <a:ext cx="2863651" cy="186689"/>
          </a:xfrm>
          <a:prstGeom prst="rect">
            <a:avLst/>
          </a:prstGeom>
          <a:noFill/>
        </p:spPr>
        <p:txBody>
          <a:bodyPr wrap="none" lIns="0" rIns="0" tIns="0" bIns="0">
            <a:spAutoFit/>
          </a:bodyPr>
          <a:lstStyle/>
          <a:p>
            <a:r>
              <a:rPr sz="1100" b="0">
                <a:solidFill>
                  <a:srgbClr val="2E2E2E"/>
                </a:solidFill>
                <a:latin typeface="Calibri"/>
              </a:rPr>
              <a:t>Among matcha by application, other applications</a:t>
            </a:r>
          </a:p>
        </p:txBody>
      </p:sp>
      <p:sp>
        <p:nvSpPr>
          <p:cNvPr id="102" name="TextBox 101"/>
          <p:cNvSpPr txBox="1"/>
          <p:nvPr/>
        </p:nvSpPr>
        <p:spPr>
          <a:xfrm>
            <a:off x="485775" y="4397077"/>
            <a:ext cx="2874821" cy="186689"/>
          </a:xfrm>
          <a:prstGeom prst="rect">
            <a:avLst/>
          </a:prstGeom>
          <a:noFill/>
        </p:spPr>
        <p:txBody>
          <a:bodyPr wrap="none" lIns="0" rIns="0" tIns="0" bIns="0">
            <a:spAutoFit/>
          </a:bodyPr>
          <a:lstStyle/>
          <a:p>
            <a:r>
              <a:rPr sz="1100" b="0">
                <a:solidFill>
                  <a:srgbClr val="2E2E2E"/>
                </a:solidFill>
                <a:latin typeface="Calibri"/>
              </a:rPr>
              <a:t>segment is expected to witness the highest CAGR</a:t>
            </a:r>
          </a:p>
        </p:txBody>
      </p:sp>
      <p:sp>
        <p:nvSpPr>
          <p:cNvPr id="103" name="TextBox 102"/>
          <p:cNvSpPr txBox="1"/>
          <p:nvPr/>
        </p:nvSpPr>
        <p:spPr>
          <a:xfrm>
            <a:off x="485775" y="4564717"/>
            <a:ext cx="192434" cy="186689"/>
          </a:xfrm>
          <a:prstGeom prst="rect">
            <a:avLst/>
          </a:prstGeom>
          <a:noFill/>
        </p:spPr>
        <p:txBody>
          <a:bodyPr wrap="none" lIns="0" rIns="0" tIns="0" bIns="0">
            <a:spAutoFit/>
          </a:bodyPr>
          <a:lstStyle/>
          <a:p>
            <a:r>
              <a:rPr sz="1100" b="0">
                <a:solidFill>
                  <a:srgbClr val="2E2E2E"/>
                </a:solidFill>
                <a:latin typeface="Calibri"/>
              </a:rPr>
              <a:t>of</a:t>
            </a:r>
          </a:p>
        </p:txBody>
      </p:sp>
      <p:pic>
        <p:nvPicPr>
          <p:cNvPr id="104" name="Picture 103" descr="lock.png"/>
          <p:cNvPicPr>
            <a:picLocks noChangeAspect="1"/>
          </p:cNvPicPr>
          <p:nvPr/>
        </p:nvPicPr>
        <p:blipFill>
          <a:blip r:embed="rId22"/>
          <a:stretch>
            <a:fillRect/>
          </a:stretch>
        </p:blipFill>
        <p:spPr>
          <a:xfrm>
            <a:off x="626261" y="4554938"/>
            <a:ext cx="128699" cy="187198"/>
          </a:xfrm>
          <a:prstGeom prst="rect">
            <a:avLst/>
          </a:prstGeom>
        </p:spPr>
      </p:pic>
      <p:sp>
        <p:nvSpPr>
          <p:cNvPr id="105" name="TextBox 104"/>
          <p:cNvSpPr txBox="1"/>
          <p:nvPr/>
        </p:nvSpPr>
        <p:spPr>
          <a:xfrm>
            <a:off x="793757" y="4564717"/>
            <a:ext cx="2472655" cy="186689"/>
          </a:xfrm>
          <a:prstGeom prst="rect">
            <a:avLst/>
          </a:prstGeom>
          <a:noFill/>
        </p:spPr>
        <p:txBody>
          <a:bodyPr wrap="none" lIns="0" rIns="0" tIns="0" bIns="0">
            <a:spAutoFit/>
          </a:bodyPr>
          <a:lstStyle/>
          <a:p>
            <a:r>
              <a:rPr sz="1100" b="0">
                <a:solidFill>
                  <a:srgbClr val="2E2E2E"/>
                </a:solidFill>
                <a:latin typeface="Calibri"/>
              </a:rPr>
              <a:t>over the forecast period. In terms of value</a:t>
            </a:r>
          </a:p>
        </p:txBody>
      </p:sp>
      <p:sp>
        <p:nvSpPr>
          <p:cNvPr id="106" name="TextBox 105"/>
          <p:cNvSpPr txBox="1"/>
          <p:nvPr/>
        </p:nvSpPr>
        <p:spPr>
          <a:xfrm>
            <a:off x="485775" y="4732357"/>
            <a:ext cx="2730499" cy="186689"/>
          </a:xfrm>
          <a:prstGeom prst="rect">
            <a:avLst/>
          </a:prstGeom>
          <a:noFill/>
        </p:spPr>
        <p:txBody>
          <a:bodyPr wrap="none" lIns="0" rIns="0" tIns="0" bIns="0">
            <a:spAutoFit/>
          </a:bodyPr>
          <a:lstStyle/>
          <a:p>
            <a:r>
              <a:rPr sz="1100" b="0">
                <a:solidFill>
                  <a:srgbClr val="2E2E2E"/>
                </a:solidFill>
                <a:latin typeface="Calibri"/>
              </a:rPr>
              <a:t>share by application, the beverages segment is</a:t>
            </a:r>
          </a:p>
        </p:txBody>
      </p:sp>
      <p:sp>
        <p:nvSpPr>
          <p:cNvPr id="107" name="TextBox 106"/>
          <p:cNvSpPr txBox="1"/>
          <p:nvPr/>
        </p:nvSpPr>
        <p:spPr>
          <a:xfrm>
            <a:off x="485775" y="4899997"/>
            <a:ext cx="2388889" cy="186689"/>
          </a:xfrm>
          <a:prstGeom prst="rect">
            <a:avLst/>
          </a:prstGeom>
          <a:noFill/>
        </p:spPr>
        <p:txBody>
          <a:bodyPr wrap="none" lIns="0" rIns="0" tIns="0" bIns="0">
            <a:spAutoFit/>
          </a:bodyPr>
          <a:lstStyle/>
          <a:p>
            <a:r>
              <a:rPr sz="1100" b="0">
                <a:solidFill>
                  <a:srgbClr val="2E2E2E"/>
                </a:solidFill>
                <a:latin typeface="Calibri"/>
              </a:rPr>
              <a:t>expected to dominate the market, losing</a:t>
            </a:r>
          </a:p>
        </p:txBody>
      </p:sp>
      <p:pic>
        <p:nvPicPr>
          <p:cNvPr id="108" name="Picture 107" descr="lock.png"/>
          <p:cNvPicPr>
            <a:picLocks noChangeAspect="1"/>
          </p:cNvPicPr>
          <p:nvPr/>
        </p:nvPicPr>
        <p:blipFill>
          <a:blip r:embed="rId22"/>
          <a:stretch>
            <a:fillRect/>
          </a:stretch>
        </p:blipFill>
        <p:spPr>
          <a:xfrm>
            <a:off x="2822716" y="4890217"/>
            <a:ext cx="128699" cy="187198"/>
          </a:xfrm>
          <a:prstGeom prst="rect">
            <a:avLst/>
          </a:prstGeom>
        </p:spPr>
      </p:pic>
      <p:sp>
        <p:nvSpPr>
          <p:cNvPr id="109" name="TextBox 108"/>
          <p:cNvSpPr txBox="1"/>
          <p:nvPr/>
        </p:nvSpPr>
        <p:spPr>
          <a:xfrm>
            <a:off x="2990212" y="4899997"/>
            <a:ext cx="288751"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110" name="TextBox 109"/>
          <p:cNvSpPr txBox="1"/>
          <p:nvPr/>
        </p:nvSpPr>
        <p:spPr>
          <a:xfrm>
            <a:off x="485775" y="5067637"/>
            <a:ext cx="1142231" cy="186689"/>
          </a:xfrm>
          <a:prstGeom prst="rect">
            <a:avLst/>
          </a:prstGeom>
          <a:noFill/>
        </p:spPr>
        <p:txBody>
          <a:bodyPr wrap="none" lIns="0" rIns="0" tIns="0" bIns="0">
            <a:spAutoFit/>
          </a:bodyPr>
          <a:lstStyle/>
          <a:p>
            <a:r>
              <a:rPr sz="1100" b="0">
                <a:solidFill>
                  <a:srgbClr val="2E2E2E"/>
                </a:solidFill>
                <a:latin typeface="Calibri"/>
              </a:rPr>
              <a:t>and accounting for</a:t>
            </a:r>
          </a:p>
        </p:txBody>
      </p:sp>
      <p:pic>
        <p:nvPicPr>
          <p:cNvPr id="111" name="Picture 110" descr="lock.png"/>
          <p:cNvPicPr>
            <a:picLocks noChangeAspect="1"/>
          </p:cNvPicPr>
          <p:nvPr/>
        </p:nvPicPr>
        <p:blipFill>
          <a:blip r:embed="rId22"/>
          <a:stretch>
            <a:fillRect/>
          </a:stretch>
        </p:blipFill>
        <p:spPr>
          <a:xfrm>
            <a:off x="1576057" y="5057858"/>
            <a:ext cx="128699" cy="187198"/>
          </a:xfrm>
          <a:prstGeom prst="rect">
            <a:avLst/>
          </a:prstGeom>
        </p:spPr>
      </p:pic>
      <p:sp>
        <p:nvSpPr>
          <p:cNvPr id="112" name="TextBox 111"/>
          <p:cNvSpPr txBox="1"/>
          <p:nvPr/>
        </p:nvSpPr>
        <p:spPr>
          <a:xfrm>
            <a:off x="1743553" y="506763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13" name="TextBox 112"/>
          <p:cNvSpPr txBox="1"/>
          <p:nvPr/>
        </p:nvSpPr>
        <p:spPr>
          <a:xfrm>
            <a:off x="485775" y="5285569"/>
            <a:ext cx="2501577" cy="186689"/>
          </a:xfrm>
          <a:prstGeom prst="rect">
            <a:avLst/>
          </a:prstGeom>
          <a:noFill/>
        </p:spPr>
        <p:txBody>
          <a:bodyPr wrap="none" lIns="0" rIns="0" tIns="0" bIns="0">
            <a:spAutoFit/>
          </a:bodyPr>
          <a:lstStyle/>
          <a:p>
            <a:r>
              <a:rPr sz="1100" b="0">
                <a:solidFill>
                  <a:srgbClr val="2E2E2E"/>
                </a:solidFill>
                <a:latin typeface="Calibri"/>
              </a:rPr>
              <a:t>Beverages segment is projected to register</a:t>
            </a:r>
          </a:p>
        </p:txBody>
      </p:sp>
      <p:pic>
        <p:nvPicPr>
          <p:cNvPr id="114" name="Picture 113" descr="lock.png"/>
          <p:cNvPicPr>
            <a:picLocks noChangeAspect="1"/>
          </p:cNvPicPr>
          <p:nvPr/>
        </p:nvPicPr>
        <p:blipFill>
          <a:blip r:embed="rId22"/>
          <a:stretch>
            <a:fillRect/>
          </a:stretch>
        </p:blipFill>
        <p:spPr>
          <a:xfrm>
            <a:off x="2935404" y="5275790"/>
            <a:ext cx="128699" cy="187198"/>
          </a:xfrm>
          <a:prstGeom prst="rect">
            <a:avLst/>
          </a:prstGeom>
        </p:spPr>
      </p:pic>
      <p:sp>
        <p:nvSpPr>
          <p:cNvPr id="115" name="TextBox 114"/>
          <p:cNvSpPr txBox="1"/>
          <p:nvPr/>
        </p:nvSpPr>
        <p:spPr>
          <a:xfrm>
            <a:off x="3102899" y="5285569"/>
            <a:ext cx="148778" cy="186689"/>
          </a:xfrm>
          <a:prstGeom prst="rect">
            <a:avLst/>
          </a:prstGeom>
          <a:noFill/>
        </p:spPr>
        <p:txBody>
          <a:bodyPr wrap="none" lIns="0" rIns="0" tIns="0" bIns="0">
            <a:spAutoFit/>
          </a:bodyPr>
          <a:lstStyle/>
          <a:p>
            <a:r>
              <a:rPr sz="1100" b="0">
                <a:solidFill>
                  <a:srgbClr val="2E2E2E"/>
                </a:solidFill>
                <a:latin typeface="Calibri"/>
              </a:rPr>
              <a:t>X</a:t>
            </a:r>
          </a:p>
        </p:txBody>
      </p:sp>
      <p:sp>
        <p:nvSpPr>
          <p:cNvPr id="116" name="TextBox 115"/>
          <p:cNvSpPr txBox="1"/>
          <p:nvPr/>
        </p:nvSpPr>
        <p:spPr>
          <a:xfrm>
            <a:off x="485775" y="5453209"/>
            <a:ext cx="2789163" cy="186689"/>
          </a:xfrm>
          <a:prstGeom prst="rect">
            <a:avLst/>
          </a:prstGeom>
          <a:noFill/>
        </p:spPr>
        <p:txBody>
          <a:bodyPr wrap="none" lIns="0" rIns="0" tIns="0" bIns="0">
            <a:spAutoFit/>
          </a:bodyPr>
          <a:lstStyle/>
          <a:p>
            <a:r>
              <a:rPr sz="1100" b="0">
                <a:solidFill>
                  <a:srgbClr val="2E2E2E"/>
                </a:solidFill>
                <a:latin typeface="Calibri"/>
              </a:rPr>
              <a:t>higher value than other applications segment in</a:t>
            </a:r>
          </a:p>
        </p:txBody>
      </p:sp>
      <p:sp>
        <p:nvSpPr>
          <p:cNvPr id="117" name="TextBox 116"/>
          <p:cNvSpPr txBox="1"/>
          <p:nvPr/>
        </p:nvSpPr>
        <p:spPr>
          <a:xfrm>
            <a:off x="485775" y="5620849"/>
            <a:ext cx="395163" cy="186689"/>
          </a:xfrm>
          <a:prstGeom prst="rect">
            <a:avLst/>
          </a:prstGeom>
          <a:noFill/>
        </p:spPr>
        <p:txBody>
          <a:bodyPr wrap="none" lIns="0" rIns="0" tIns="0" bIns="0">
            <a:spAutoFit/>
          </a:bodyPr>
          <a:lstStyle/>
          <a:p>
            <a:r>
              <a:rPr sz="1100" b="0">
                <a:solidFill>
                  <a:srgbClr val="2E2E2E"/>
                </a:solidFill>
                <a:latin typeface="Calibri"/>
              </a:rPr>
              <a:t>2036.</a:t>
            </a:r>
          </a:p>
        </p:txBody>
      </p:sp>
      <p:sp>
        <p:nvSpPr>
          <p:cNvPr id="118" name="TextBox 117"/>
          <p:cNvSpPr txBox="1"/>
          <p:nvPr/>
        </p:nvSpPr>
        <p:spPr>
          <a:xfrm>
            <a:off x="3838575" y="4229437"/>
            <a:ext cx="813444" cy="186689"/>
          </a:xfrm>
          <a:prstGeom prst="rect">
            <a:avLst/>
          </a:prstGeom>
          <a:noFill/>
        </p:spPr>
        <p:txBody>
          <a:bodyPr wrap="none" lIns="0" rIns="0" tIns="0" bIns="0">
            <a:spAutoFit/>
          </a:bodyPr>
          <a:lstStyle/>
          <a:p>
            <a:r>
              <a:rPr sz="1100" b="0">
                <a:solidFill>
                  <a:srgbClr val="2E2E2E"/>
                </a:solidFill>
                <a:latin typeface="Calibri"/>
              </a:rPr>
              <a:t>● Beverages:</a:t>
            </a:r>
          </a:p>
        </p:txBody>
      </p:sp>
      <p:pic>
        <p:nvPicPr>
          <p:cNvPr id="119" name="Picture 118" descr="lock.png"/>
          <p:cNvPicPr>
            <a:picLocks noChangeAspect="1"/>
          </p:cNvPicPr>
          <p:nvPr/>
        </p:nvPicPr>
        <p:blipFill>
          <a:blip r:embed="rId22"/>
          <a:stretch>
            <a:fillRect/>
          </a:stretch>
        </p:blipFill>
        <p:spPr>
          <a:xfrm>
            <a:off x="4600071" y="4219658"/>
            <a:ext cx="128699" cy="187198"/>
          </a:xfrm>
          <a:prstGeom prst="rect">
            <a:avLst/>
          </a:prstGeom>
        </p:spPr>
      </p:pic>
      <p:sp>
        <p:nvSpPr>
          <p:cNvPr id="120" name="TextBox 119"/>
          <p:cNvSpPr txBox="1"/>
          <p:nvPr/>
        </p:nvSpPr>
        <p:spPr>
          <a:xfrm>
            <a:off x="4767567" y="422943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1" name="Picture 120" descr="lock.png"/>
          <p:cNvPicPr>
            <a:picLocks noChangeAspect="1"/>
          </p:cNvPicPr>
          <p:nvPr/>
        </p:nvPicPr>
        <p:blipFill>
          <a:blip r:embed="rId22"/>
          <a:stretch>
            <a:fillRect/>
          </a:stretch>
        </p:blipFill>
        <p:spPr>
          <a:xfrm>
            <a:off x="5627017" y="4219658"/>
            <a:ext cx="128699" cy="187198"/>
          </a:xfrm>
          <a:prstGeom prst="rect">
            <a:avLst/>
          </a:prstGeom>
        </p:spPr>
      </p:pic>
      <p:sp>
        <p:nvSpPr>
          <p:cNvPr id="122" name="TextBox 121"/>
          <p:cNvSpPr txBox="1"/>
          <p:nvPr/>
        </p:nvSpPr>
        <p:spPr>
          <a:xfrm>
            <a:off x="5794513" y="4229437"/>
            <a:ext cx="1503469" cy="186689"/>
          </a:xfrm>
          <a:prstGeom prst="rect">
            <a:avLst/>
          </a:prstGeom>
          <a:noFill/>
        </p:spPr>
        <p:txBody>
          <a:bodyPr wrap="none" lIns="0" rIns="0" tIns="0" bIns="0">
            <a:spAutoFit/>
          </a:bodyPr>
          <a:lstStyle/>
          <a:p>
            <a:r>
              <a:rPr sz="1100" b="0">
                <a:solidFill>
                  <a:srgbClr val="2E2E2E"/>
                </a:solidFill>
                <a:latin typeface="Calibri"/>
              </a:rPr>
              <a:t>CAGR leads the segment.</a:t>
            </a:r>
          </a:p>
        </p:txBody>
      </p:sp>
      <p:sp>
        <p:nvSpPr>
          <p:cNvPr id="123" name="TextBox 122"/>
          <p:cNvSpPr txBox="1"/>
          <p:nvPr/>
        </p:nvSpPr>
        <p:spPr>
          <a:xfrm>
            <a:off x="3838575" y="4447369"/>
            <a:ext cx="1291208" cy="186689"/>
          </a:xfrm>
          <a:prstGeom prst="rect">
            <a:avLst/>
          </a:prstGeom>
          <a:noFill/>
        </p:spPr>
        <p:txBody>
          <a:bodyPr wrap="none" lIns="0" rIns="0" tIns="0" bIns="0">
            <a:spAutoFit/>
          </a:bodyPr>
          <a:lstStyle/>
          <a:p>
            <a:r>
              <a:rPr sz="1100" b="0">
                <a:solidFill>
                  <a:srgbClr val="2E2E2E"/>
                </a:solidFill>
                <a:latin typeface="Calibri"/>
              </a:rPr>
              <a:t>● Other Applications:</a:t>
            </a:r>
          </a:p>
        </p:txBody>
      </p:sp>
      <p:pic>
        <p:nvPicPr>
          <p:cNvPr id="124" name="Picture 123" descr="lock.png"/>
          <p:cNvPicPr>
            <a:picLocks noChangeAspect="1"/>
          </p:cNvPicPr>
          <p:nvPr/>
        </p:nvPicPr>
        <p:blipFill>
          <a:blip r:embed="rId22"/>
          <a:stretch>
            <a:fillRect/>
          </a:stretch>
        </p:blipFill>
        <p:spPr>
          <a:xfrm>
            <a:off x="5077834" y="4437590"/>
            <a:ext cx="128699" cy="187198"/>
          </a:xfrm>
          <a:prstGeom prst="rect">
            <a:avLst/>
          </a:prstGeom>
        </p:spPr>
      </p:pic>
      <p:sp>
        <p:nvSpPr>
          <p:cNvPr id="125" name="TextBox 124"/>
          <p:cNvSpPr txBox="1"/>
          <p:nvPr/>
        </p:nvSpPr>
        <p:spPr>
          <a:xfrm>
            <a:off x="5245330" y="4447369"/>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26" name="Picture 125" descr="lock.png"/>
          <p:cNvPicPr>
            <a:picLocks noChangeAspect="1"/>
          </p:cNvPicPr>
          <p:nvPr/>
        </p:nvPicPr>
        <p:blipFill>
          <a:blip r:embed="rId22"/>
          <a:stretch>
            <a:fillRect/>
          </a:stretch>
        </p:blipFill>
        <p:spPr>
          <a:xfrm>
            <a:off x="6104780" y="4437590"/>
            <a:ext cx="128699" cy="187198"/>
          </a:xfrm>
          <a:prstGeom prst="rect">
            <a:avLst/>
          </a:prstGeom>
        </p:spPr>
      </p:pic>
      <p:sp>
        <p:nvSpPr>
          <p:cNvPr id="127" name="TextBox 126"/>
          <p:cNvSpPr txBox="1"/>
          <p:nvPr/>
        </p:nvSpPr>
        <p:spPr>
          <a:xfrm>
            <a:off x="6272276" y="4447369"/>
            <a:ext cx="1218612" cy="186689"/>
          </a:xfrm>
          <a:prstGeom prst="rect">
            <a:avLst/>
          </a:prstGeom>
          <a:noFill/>
        </p:spPr>
        <p:txBody>
          <a:bodyPr wrap="none" lIns="0" rIns="0" tIns="0" bIns="0">
            <a:spAutoFit/>
          </a:bodyPr>
          <a:lstStyle/>
          <a:p>
            <a:r>
              <a:rPr sz="1100" b="0">
                <a:solidFill>
                  <a:srgbClr val="2E2E2E"/>
                </a:solidFill>
                <a:latin typeface="Calibri"/>
              </a:rPr>
              <a:t>CAGR grows fastest.</a:t>
            </a:r>
          </a:p>
        </p:txBody>
      </p:sp>
      <p:sp>
        <p:nvSpPr>
          <p:cNvPr id="128" name="TextBox 127"/>
          <p:cNvSpPr txBox="1"/>
          <p:nvPr/>
        </p:nvSpPr>
        <p:spPr>
          <a:xfrm>
            <a:off x="3838575" y="4665301"/>
            <a:ext cx="1704578" cy="186689"/>
          </a:xfrm>
          <a:prstGeom prst="rect">
            <a:avLst/>
          </a:prstGeom>
          <a:noFill/>
        </p:spPr>
        <p:txBody>
          <a:bodyPr wrap="none" lIns="0" rIns="0" tIns="0" bIns="0">
            <a:spAutoFit/>
          </a:bodyPr>
          <a:lstStyle/>
          <a:p>
            <a:r>
              <a:rPr sz="1100" b="0">
                <a:solidFill>
                  <a:srgbClr val="2E2E2E"/>
                </a:solidFill>
                <a:latin typeface="Calibri"/>
              </a:rPr>
              <a:t>● Dairy and Frozen Desserts:</a:t>
            </a:r>
          </a:p>
        </p:txBody>
      </p:sp>
      <p:pic>
        <p:nvPicPr>
          <p:cNvPr id="129" name="Picture 128" descr="lock.png"/>
          <p:cNvPicPr>
            <a:picLocks noChangeAspect="1"/>
          </p:cNvPicPr>
          <p:nvPr/>
        </p:nvPicPr>
        <p:blipFill>
          <a:blip r:embed="rId22"/>
          <a:stretch>
            <a:fillRect/>
          </a:stretch>
        </p:blipFill>
        <p:spPr>
          <a:xfrm>
            <a:off x="5491204" y="4655522"/>
            <a:ext cx="128699" cy="187198"/>
          </a:xfrm>
          <a:prstGeom prst="rect">
            <a:avLst/>
          </a:prstGeom>
        </p:spPr>
      </p:pic>
      <p:sp>
        <p:nvSpPr>
          <p:cNvPr id="130" name="TextBox 129"/>
          <p:cNvSpPr txBox="1"/>
          <p:nvPr/>
        </p:nvSpPr>
        <p:spPr>
          <a:xfrm>
            <a:off x="5658700" y="4665301"/>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1" name="Picture 130" descr="lock.png"/>
          <p:cNvPicPr>
            <a:picLocks noChangeAspect="1"/>
          </p:cNvPicPr>
          <p:nvPr/>
        </p:nvPicPr>
        <p:blipFill>
          <a:blip r:embed="rId22"/>
          <a:stretch>
            <a:fillRect/>
          </a:stretch>
        </p:blipFill>
        <p:spPr>
          <a:xfrm>
            <a:off x="6518150" y="4655522"/>
            <a:ext cx="128699" cy="187198"/>
          </a:xfrm>
          <a:prstGeom prst="rect">
            <a:avLst/>
          </a:prstGeom>
        </p:spPr>
      </p:pic>
      <p:sp>
        <p:nvSpPr>
          <p:cNvPr id="132" name="TextBox 131"/>
          <p:cNvSpPr txBox="1"/>
          <p:nvPr/>
        </p:nvSpPr>
        <p:spPr>
          <a:xfrm>
            <a:off x="6685646" y="4665301"/>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33" name="TextBox 132"/>
          <p:cNvSpPr txBox="1"/>
          <p:nvPr/>
        </p:nvSpPr>
        <p:spPr>
          <a:xfrm>
            <a:off x="3838575" y="4832941"/>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34" name="TextBox 133"/>
          <p:cNvSpPr txBox="1"/>
          <p:nvPr/>
        </p:nvSpPr>
        <p:spPr>
          <a:xfrm>
            <a:off x="3838575" y="5050872"/>
            <a:ext cx="1411232" cy="186689"/>
          </a:xfrm>
          <a:prstGeom prst="rect">
            <a:avLst/>
          </a:prstGeom>
          <a:noFill/>
        </p:spPr>
        <p:txBody>
          <a:bodyPr wrap="none" lIns="0" rIns="0" tIns="0" bIns="0">
            <a:spAutoFit/>
          </a:bodyPr>
          <a:lstStyle/>
          <a:p>
            <a:r>
              <a:rPr sz="1100" b="0">
                <a:solidFill>
                  <a:srgbClr val="2E2E2E"/>
                </a:solidFill>
                <a:latin typeface="Calibri"/>
              </a:rPr>
              <a:t>● Other Food Products:</a:t>
            </a:r>
          </a:p>
        </p:txBody>
      </p:sp>
      <p:pic>
        <p:nvPicPr>
          <p:cNvPr id="135" name="Picture 134" descr="lock.png"/>
          <p:cNvPicPr>
            <a:picLocks noChangeAspect="1"/>
          </p:cNvPicPr>
          <p:nvPr/>
        </p:nvPicPr>
        <p:blipFill>
          <a:blip r:embed="rId22"/>
          <a:stretch>
            <a:fillRect/>
          </a:stretch>
        </p:blipFill>
        <p:spPr>
          <a:xfrm>
            <a:off x="5197859" y="5041093"/>
            <a:ext cx="128699" cy="187198"/>
          </a:xfrm>
          <a:prstGeom prst="rect">
            <a:avLst/>
          </a:prstGeom>
        </p:spPr>
      </p:pic>
      <p:sp>
        <p:nvSpPr>
          <p:cNvPr id="136" name="TextBox 135"/>
          <p:cNvSpPr txBox="1"/>
          <p:nvPr/>
        </p:nvSpPr>
        <p:spPr>
          <a:xfrm>
            <a:off x="5365355" y="5050872"/>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37" name="Picture 136" descr="lock.png"/>
          <p:cNvPicPr>
            <a:picLocks noChangeAspect="1"/>
          </p:cNvPicPr>
          <p:nvPr/>
        </p:nvPicPr>
        <p:blipFill>
          <a:blip r:embed="rId22"/>
          <a:stretch>
            <a:fillRect/>
          </a:stretch>
        </p:blipFill>
        <p:spPr>
          <a:xfrm>
            <a:off x="6224805" y="5041093"/>
            <a:ext cx="128699" cy="187198"/>
          </a:xfrm>
          <a:prstGeom prst="rect">
            <a:avLst/>
          </a:prstGeom>
        </p:spPr>
      </p:pic>
      <p:sp>
        <p:nvSpPr>
          <p:cNvPr id="138" name="TextBox 137"/>
          <p:cNvSpPr txBox="1"/>
          <p:nvPr/>
        </p:nvSpPr>
        <p:spPr>
          <a:xfrm>
            <a:off x="6392301" y="5050872"/>
            <a:ext cx="1260358" cy="186689"/>
          </a:xfrm>
          <a:prstGeom prst="rect">
            <a:avLst/>
          </a:prstGeom>
          <a:noFill/>
        </p:spPr>
        <p:txBody>
          <a:bodyPr wrap="none" lIns="0" rIns="0" tIns="0" bIns="0">
            <a:spAutoFit/>
          </a:bodyPr>
          <a:lstStyle/>
          <a:p>
            <a:r>
              <a:rPr sz="1100" b="0">
                <a:solidFill>
                  <a:srgbClr val="2E2E2E"/>
                </a:solidFill>
                <a:latin typeface="Calibri"/>
              </a:rPr>
              <a:t>CAGR serves a niche.</a:t>
            </a:r>
          </a:p>
        </p:txBody>
      </p:sp>
      <p:sp>
        <p:nvSpPr>
          <p:cNvPr id="139" name="TextBox 138"/>
          <p:cNvSpPr txBox="1"/>
          <p:nvPr/>
        </p:nvSpPr>
        <p:spPr>
          <a:xfrm>
            <a:off x="3838575" y="5268804"/>
            <a:ext cx="2903760" cy="186689"/>
          </a:xfrm>
          <a:prstGeom prst="rect">
            <a:avLst/>
          </a:prstGeom>
          <a:noFill/>
        </p:spPr>
        <p:txBody>
          <a:bodyPr wrap="none" lIns="0" rIns="0" tIns="0" bIns="0">
            <a:spAutoFit/>
          </a:bodyPr>
          <a:lstStyle/>
          <a:p>
            <a:r>
              <a:rPr sz="1100" b="1">
                <a:solidFill>
                  <a:srgbClr val="A86F00"/>
                </a:solidFill>
                <a:latin typeface="Calibri"/>
              </a:rPr>
              <a:t>● Dietary Supplements and Functional Nutrition:</a:t>
            </a:r>
          </a:p>
        </p:txBody>
      </p:sp>
      <p:pic>
        <p:nvPicPr>
          <p:cNvPr id="140" name="Picture 139" descr="lock.png"/>
          <p:cNvPicPr>
            <a:picLocks noChangeAspect="1"/>
          </p:cNvPicPr>
          <p:nvPr/>
        </p:nvPicPr>
        <p:blipFill>
          <a:blip r:embed="rId22"/>
          <a:stretch>
            <a:fillRect/>
          </a:stretch>
        </p:blipFill>
        <p:spPr>
          <a:xfrm>
            <a:off x="6690387" y="5259025"/>
            <a:ext cx="128699" cy="187198"/>
          </a:xfrm>
          <a:prstGeom prst="rect">
            <a:avLst/>
          </a:prstGeom>
        </p:spPr>
      </p:pic>
      <p:sp>
        <p:nvSpPr>
          <p:cNvPr id="141" name="TextBox 140"/>
          <p:cNvSpPr txBox="1"/>
          <p:nvPr/>
        </p:nvSpPr>
        <p:spPr>
          <a:xfrm>
            <a:off x="6857883" y="5268804"/>
            <a:ext cx="926405" cy="186689"/>
          </a:xfrm>
          <a:prstGeom prst="rect">
            <a:avLst/>
          </a:prstGeom>
          <a:noFill/>
        </p:spPr>
        <p:txBody>
          <a:bodyPr wrap="none" lIns="0" rIns="0" tIns="0" bIns="0">
            <a:spAutoFit/>
          </a:bodyPr>
          <a:lstStyle/>
          <a:p>
            <a:r>
              <a:rPr sz="1100" b="1">
                <a:solidFill>
                  <a:srgbClr val="A86F00"/>
                </a:solidFill>
                <a:latin typeface="Calibri"/>
              </a:rPr>
              <a:t>of 2026 value ·</a:t>
            </a:r>
          </a:p>
        </p:txBody>
      </p:sp>
      <p:pic>
        <p:nvPicPr>
          <p:cNvPr id="142" name="Picture 141" descr="lock.png"/>
          <p:cNvPicPr>
            <a:picLocks noChangeAspect="1"/>
          </p:cNvPicPr>
          <p:nvPr/>
        </p:nvPicPr>
        <p:blipFill>
          <a:blip r:embed="rId22"/>
          <a:stretch>
            <a:fillRect/>
          </a:stretch>
        </p:blipFill>
        <p:spPr>
          <a:xfrm>
            <a:off x="3825107" y="5426665"/>
            <a:ext cx="128699" cy="187198"/>
          </a:xfrm>
          <a:prstGeom prst="rect">
            <a:avLst/>
          </a:prstGeom>
        </p:spPr>
      </p:pic>
      <p:sp>
        <p:nvSpPr>
          <p:cNvPr id="143" name="TextBox 142"/>
          <p:cNvSpPr txBox="1"/>
          <p:nvPr/>
        </p:nvSpPr>
        <p:spPr>
          <a:xfrm>
            <a:off x="3992603" y="5436445"/>
            <a:ext cx="1284633" cy="186689"/>
          </a:xfrm>
          <a:prstGeom prst="rect">
            <a:avLst/>
          </a:prstGeom>
          <a:noFill/>
        </p:spPr>
        <p:txBody>
          <a:bodyPr wrap="none" lIns="0" rIns="0" tIns="0" bIns="0">
            <a:spAutoFit/>
          </a:bodyPr>
          <a:lstStyle/>
          <a:p>
            <a:r>
              <a:rPr sz="1100" b="1">
                <a:solidFill>
                  <a:srgbClr val="A86F00"/>
                </a:solidFill>
                <a:latin typeface="Calibri"/>
              </a:rPr>
              <a:t>CAGR serves a niche.</a:t>
            </a:r>
          </a:p>
        </p:txBody>
      </p:sp>
      <p:sp>
        <p:nvSpPr>
          <p:cNvPr id="144" name="TextBox 143"/>
          <p:cNvSpPr txBox="1"/>
          <p:nvPr/>
        </p:nvSpPr>
        <p:spPr>
          <a:xfrm>
            <a:off x="3838575" y="5654377"/>
            <a:ext cx="1695574" cy="186689"/>
          </a:xfrm>
          <a:prstGeom prst="rect">
            <a:avLst/>
          </a:prstGeom>
          <a:noFill/>
        </p:spPr>
        <p:txBody>
          <a:bodyPr wrap="none" lIns="0" rIns="0" tIns="0" bIns="0">
            <a:spAutoFit/>
          </a:bodyPr>
          <a:lstStyle/>
          <a:p>
            <a:r>
              <a:rPr sz="1100" b="0">
                <a:solidFill>
                  <a:srgbClr val="2E2E2E"/>
                </a:solidFill>
                <a:latin typeface="Calibri"/>
              </a:rPr>
              <a:t>● Bakery and Confectionery:</a:t>
            </a:r>
          </a:p>
        </p:txBody>
      </p:sp>
      <p:pic>
        <p:nvPicPr>
          <p:cNvPr id="145" name="Picture 144" descr="lock.png"/>
          <p:cNvPicPr>
            <a:picLocks noChangeAspect="1"/>
          </p:cNvPicPr>
          <p:nvPr/>
        </p:nvPicPr>
        <p:blipFill>
          <a:blip r:embed="rId22"/>
          <a:stretch>
            <a:fillRect/>
          </a:stretch>
        </p:blipFill>
        <p:spPr>
          <a:xfrm>
            <a:off x="5482200" y="5644597"/>
            <a:ext cx="128699" cy="187198"/>
          </a:xfrm>
          <a:prstGeom prst="rect">
            <a:avLst/>
          </a:prstGeom>
        </p:spPr>
      </p:pic>
      <p:sp>
        <p:nvSpPr>
          <p:cNvPr id="146" name="TextBox 145"/>
          <p:cNvSpPr txBox="1"/>
          <p:nvPr/>
        </p:nvSpPr>
        <p:spPr>
          <a:xfrm>
            <a:off x="5649696" y="5654377"/>
            <a:ext cx="911398" cy="186689"/>
          </a:xfrm>
          <a:prstGeom prst="rect">
            <a:avLst/>
          </a:prstGeom>
          <a:noFill/>
        </p:spPr>
        <p:txBody>
          <a:bodyPr wrap="none" lIns="0" rIns="0" tIns="0" bIns="0">
            <a:spAutoFit/>
          </a:bodyPr>
          <a:lstStyle/>
          <a:p>
            <a:r>
              <a:rPr sz="1100" b="0">
                <a:solidFill>
                  <a:srgbClr val="2E2E2E"/>
                </a:solidFill>
                <a:latin typeface="Calibri"/>
              </a:rPr>
              <a:t>of 2026 value ·</a:t>
            </a:r>
          </a:p>
        </p:txBody>
      </p:sp>
      <p:pic>
        <p:nvPicPr>
          <p:cNvPr id="147" name="Picture 146" descr="lock.png"/>
          <p:cNvPicPr>
            <a:picLocks noChangeAspect="1"/>
          </p:cNvPicPr>
          <p:nvPr/>
        </p:nvPicPr>
        <p:blipFill>
          <a:blip r:embed="rId22"/>
          <a:stretch>
            <a:fillRect/>
          </a:stretch>
        </p:blipFill>
        <p:spPr>
          <a:xfrm>
            <a:off x="6509146" y="5644597"/>
            <a:ext cx="128699" cy="187198"/>
          </a:xfrm>
          <a:prstGeom prst="rect">
            <a:avLst/>
          </a:prstGeom>
        </p:spPr>
      </p:pic>
      <p:sp>
        <p:nvSpPr>
          <p:cNvPr id="148" name="TextBox 147"/>
          <p:cNvSpPr txBox="1"/>
          <p:nvPr/>
        </p:nvSpPr>
        <p:spPr>
          <a:xfrm>
            <a:off x="6676642" y="5654377"/>
            <a:ext cx="885733" cy="186689"/>
          </a:xfrm>
          <a:prstGeom prst="rect">
            <a:avLst/>
          </a:prstGeom>
          <a:noFill/>
        </p:spPr>
        <p:txBody>
          <a:bodyPr wrap="none" lIns="0" rIns="0" tIns="0" bIns="0">
            <a:spAutoFit/>
          </a:bodyPr>
          <a:lstStyle/>
          <a:p>
            <a:r>
              <a:rPr sz="1100" b="0">
                <a:solidFill>
                  <a:srgbClr val="2E2E2E"/>
                </a:solidFill>
                <a:latin typeface="Calibri"/>
              </a:rPr>
              <a:t>CAGR serves a</a:t>
            </a:r>
          </a:p>
        </p:txBody>
      </p:sp>
      <p:sp>
        <p:nvSpPr>
          <p:cNvPr id="149" name="TextBox 148"/>
          <p:cNvSpPr txBox="1"/>
          <p:nvPr/>
        </p:nvSpPr>
        <p:spPr>
          <a:xfrm>
            <a:off x="3838575" y="5822017"/>
            <a:ext cx="419174" cy="186689"/>
          </a:xfrm>
          <a:prstGeom prst="rect">
            <a:avLst/>
          </a:prstGeom>
          <a:noFill/>
        </p:spPr>
        <p:txBody>
          <a:bodyPr wrap="none" lIns="0" rIns="0" tIns="0" bIns="0">
            <a:spAutoFit/>
          </a:bodyPr>
          <a:lstStyle/>
          <a:p>
            <a:r>
              <a:rPr sz="1100" b="0">
                <a:solidFill>
                  <a:srgbClr val="2E2E2E"/>
                </a:solidFill>
                <a:latin typeface="Calibri"/>
              </a:rPr>
              <a:t>niche.</a:t>
            </a:r>
          </a:p>
        </p:txBody>
      </p:sp>
      <p:sp>
        <p:nvSpPr>
          <p:cNvPr id="150" name="TextBox 149"/>
          <p:cNvSpPr txBox="1"/>
          <p:nvPr/>
        </p:nvSpPr>
        <p:spPr>
          <a:xfrm>
            <a:off x="8524875" y="5842641"/>
            <a:ext cx="3093045" cy="194310"/>
          </a:xfrm>
          <a:prstGeom prst="rect">
            <a:avLst/>
          </a:prstGeom>
          <a:noFill/>
        </p:spPr>
        <p:txBody>
          <a:bodyPr wrap="none" lIns="0" rIns="0" tIns="0" bIns="0">
            <a:spAutoFit/>
          </a:bodyPr>
          <a:lstStyle/>
          <a:p>
            <a:r>
              <a:rPr sz="1150" b="1">
                <a:solidFill>
                  <a:srgbClr val="0B2E4A"/>
                </a:solidFill>
                <a:latin typeface="Calibri"/>
              </a:rPr>
              <a:t>The Application segment is projected to grow at a</a:t>
            </a:r>
          </a:p>
        </p:txBody>
      </p:sp>
      <p:sp>
        <p:nvSpPr>
          <p:cNvPr id="151" name="TextBox 150"/>
          <p:cNvSpPr txBox="1"/>
          <p:nvPr/>
        </p:nvSpPr>
        <p:spPr>
          <a:xfrm>
            <a:off x="8524875" y="6017901"/>
            <a:ext cx="574797" cy="194310"/>
          </a:xfrm>
          <a:prstGeom prst="rect">
            <a:avLst/>
          </a:prstGeom>
          <a:noFill/>
        </p:spPr>
        <p:txBody>
          <a:bodyPr wrap="none" lIns="0" rIns="0" tIns="0" bIns="0">
            <a:spAutoFit/>
          </a:bodyPr>
          <a:lstStyle/>
          <a:p>
            <a:r>
              <a:rPr sz="1150" b="1">
                <a:solidFill>
                  <a:srgbClr val="0B2E4A"/>
                </a:solidFill>
                <a:latin typeface="Calibri"/>
              </a:rPr>
              <a:t>CAGR of</a:t>
            </a:r>
          </a:p>
        </p:txBody>
      </p:sp>
      <p:pic>
        <p:nvPicPr>
          <p:cNvPr id="152" name="Picture 151" descr="lock.png"/>
          <p:cNvPicPr>
            <a:picLocks noChangeAspect="1"/>
          </p:cNvPicPr>
          <p:nvPr/>
        </p:nvPicPr>
        <p:blipFill>
          <a:blip r:embed="rId22"/>
          <a:stretch>
            <a:fillRect/>
          </a:stretch>
        </p:blipFill>
        <p:spPr>
          <a:xfrm>
            <a:off x="9048826" y="6007677"/>
            <a:ext cx="134549" cy="195707"/>
          </a:xfrm>
          <a:prstGeom prst="rect">
            <a:avLst/>
          </a:prstGeom>
        </p:spPr>
      </p:pic>
      <p:sp>
        <p:nvSpPr>
          <p:cNvPr id="153" name="TextBox 152"/>
          <p:cNvSpPr txBox="1"/>
          <p:nvPr/>
        </p:nvSpPr>
        <p:spPr>
          <a:xfrm>
            <a:off x="9223935"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Application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Application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Application · Bubble size represents 2036 value</a:t>
            </a:r>
          </a:p>
        </p:txBody>
      </p:sp>
      <p:graphicFrame>
        <p:nvGraphicFramePr>
          <p:cNvPr id="15" name="Chart 14"/>
          <p:cNvGraphicFramePr>
            <a:graphicFrameLocks noGrp="1"/>
          </p:cNvGraphicFramePr>
          <p:nvPr/>
        </p:nvGraphicFramePr>
        <p:xfrm>
          <a:off x="6734175" y="1266825"/>
          <a:ext cx="5210175" cy="398145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777865"/>
            <a:ext cx="11531872" cy="186689"/>
          </a:xfrm>
          <a:prstGeom prst="rect">
            <a:avLst/>
          </a:prstGeom>
          <a:noFill/>
        </p:spPr>
        <p:txBody>
          <a:bodyPr wrap="none" lIns="0" rIns="0" tIns="0" bIns="0">
            <a:spAutoFit/>
          </a:bodyPr>
          <a:lstStyle/>
          <a:p>
            <a:r>
              <a:rPr sz="1100" b="0">
                <a:solidFill>
                  <a:srgbClr val="2E2E2E"/>
                </a:solidFill>
                <a:latin typeface="Calibri"/>
              </a:rPr>
              <a:t>Beverages followed by other applications are expected to be the two most attractive application segments in the North America matcha market in terms of value over the forecast period. Beverages and</a:t>
            </a:r>
          </a:p>
        </p:txBody>
      </p:sp>
      <p:sp>
        <p:nvSpPr>
          <p:cNvPr id="20" name="TextBox 19"/>
          <p:cNvSpPr txBox="1"/>
          <p:nvPr/>
        </p:nvSpPr>
        <p:spPr>
          <a:xfrm>
            <a:off x="257175" y="5945505"/>
            <a:ext cx="2463088" cy="186689"/>
          </a:xfrm>
          <a:prstGeom prst="rect">
            <a:avLst/>
          </a:prstGeom>
          <a:noFill/>
        </p:spPr>
        <p:txBody>
          <a:bodyPr wrap="none" lIns="0" rIns="0" tIns="0" bIns="0">
            <a:spAutoFit/>
          </a:bodyPr>
          <a:lstStyle/>
          <a:p>
            <a:r>
              <a:rPr sz="1100" b="0">
                <a:solidFill>
                  <a:srgbClr val="2E2E2E"/>
                </a:solidFill>
                <a:latin typeface="Calibri"/>
              </a:rPr>
              <a:t>other applications exhibit a CAGR index of</a:t>
            </a:r>
          </a:p>
        </p:txBody>
      </p:sp>
      <p:pic>
        <p:nvPicPr>
          <p:cNvPr id="21" name="Picture 20" descr="lock.png"/>
          <p:cNvPicPr>
            <a:picLocks noChangeAspect="1"/>
          </p:cNvPicPr>
          <p:nvPr/>
        </p:nvPicPr>
        <p:blipFill>
          <a:blip r:embed="rId6"/>
          <a:stretch>
            <a:fillRect/>
          </a:stretch>
        </p:blipFill>
        <p:spPr>
          <a:xfrm>
            <a:off x="2668315" y="5935726"/>
            <a:ext cx="128699" cy="187198"/>
          </a:xfrm>
          <a:prstGeom prst="rect">
            <a:avLst/>
          </a:prstGeom>
        </p:spPr>
      </p:pic>
      <p:sp>
        <p:nvSpPr>
          <p:cNvPr id="22" name="TextBox 21"/>
          <p:cNvSpPr txBox="1"/>
          <p:nvPr/>
        </p:nvSpPr>
        <p:spPr>
          <a:xfrm>
            <a:off x="2835810"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3073705" y="5935726"/>
            <a:ext cx="128699" cy="187198"/>
          </a:xfrm>
          <a:prstGeom prst="rect">
            <a:avLst/>
          </a:prstGeom>
        </p:spPr>
      </p:pic>
      <p:sp>
        <p:nvSpPr>
          <p:cNvPr id="24" name="TextBox 23"/>
          <p:cNvSpPr txBox="1"/>
          <p:nvPr/>
        </p:nvSpPr>
        <p:spPr>
          <a:xfrm>
            <a:off x="3241201" y="594550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4850174" y="5935726"/>
            <a:ext cx="128699" cy="187198"/>
          </a:xfrm>
          <a:prstGeom prst="rect">
            <a:avLst/>
          </a:prstGeom>
        </p:spPr>
      </p:pic>
      <p:sp>
        <p:nvSpPr>
          <p:cNvPr id="26" name="TextBox 25"/>
          <p:cNvSpPr txBox="1"/>
          <p:nvPr/>
        </p:nvSpPr>
        <p:spPr>
          <a:xfrm>
            <a:off x="5017670" y="594550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5255564" y="5935726"/>
            <a:ext cx="128699" cy="187198"/>
          </a:xfrm>
          <a:prstGeom prst="rect">
            <a:avLst/>
          </a:prstGeom>
        </p:spPr>
      </p:pic>
      <p:sp>
        <p:nvSpPr>
          <p:cNvPr id="28" name="TextBox 27"/>
          <p:cNvSpPr txBox="1"/>
          <p:nvPr/>
        </p:nvSpPr>
        <p:spPr>
          <a:xfrm>
            <a:off x="5423060" y="594550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7977464" y="5935726"/>
            <a:ext cx="128699" cy="187198"/>
          </a:xfrm>
          <a:prstGeom prst="rect">
            <a:avLst/>
          </a:prstGeom>
        </p:spPr>
      </p:pic>
      <p:sp>
        <p:nvSpPr>
          <p:cNvPr id="30" name="TextBox 29"/>
          <p:cNvSpPr txBox="1"/>
          <p:nvPr/>
        </p:nvSpPr>
        <p:spPr>
          <a:xfrm>
            <a:off x="8144960" y="5945505"/>
            <a:ext cx="3293119" cy="186689"/>
          </a:xfrm>
          <a:prstGeom prst="rect">
            <a:avLst/>
          </a:prstGeom>
          <a:noFill/>
        </p:spPr>
        <p:txBody>
          <a:bodyPr wrap="none" lIns="0" rIns="0" tIns="0" bIns="0">
            <a:spAutoFit/>
          </a:bodyPr>
          <a:lstStyle/>
          <a:p>
            <a:r>
              <a:rPr sz="1100" b="0">
                <a:solidFill>
                  <a:srgbClr val="2E2E2E"/>
                </a:solidFill>
                <a:latin typeface="Calibri"/>
              </a:rPr>
              <a:t>. The other food products segment is expected to be less</a:t>
            </a:r>
          </a:p>
        </p:txBody>
      </p:sp>
      <p:sp>
        <p:nvSpPr>
          <p:cNvPr id="31" name="TextBox 30"/>
          <p:cNvSpPr txBox="1"/>
          <p:nvPr/>
        </p:nvSpPr>
        <p:spPr>
          <a:xfrm>
            <a:off x="257175" y="6113145"/>
            <a:ext cx="11338386" cy="186689"/>
          </a:xfrm>
          <a:prstGeom prst="rect">
            <a:avLst/>
          </a:prstGeom>
          <a:noFill/>
        </p:spPr>
        <p:txBody>
          <a:bodyPr wrap="none" lIns="0" rIns="0" tIns="0" bIns="0">
            <a:spAutoFit/>
          </a:bodyPr>
          <a:lstStyle/>
          <a:p>
            <a:r>
              <a:rPr sz="1100" b="0">
                <a:solidFill>
                  <a:srgbClr val="2E2E2E"/>
                </a:solidFill>
                <a:latin typeface="Calibri"/>
              </a:rPr>
              <a:t>attractive as compared to other segments over the forecast period, owing to its lower CAGR and incremental opportunity. Bubbles right of the CAGR-Index line grow faster than the segment average.</a:t>
            </a:r>
          </a:p>
        </p:txBody>
      </p:sp>
      <p:sp>
        <p:nvSpPr>
          <p:cNvPr id="32"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lockshield_15"/>
          <p:cNvSpPr/>
          <p:nvPr/>
        </p:nvSpPr>
        <p:spPr>
          <a:xfrm>
            <a:off x="6734175" y="1266825"/>
            <a:ext cx="5210175" cy="39814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Application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Beverages</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Bakery and Confectionery</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Dairy and Frozen Desserts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Food Products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094826" y="2237234"/>
            <a:ext cx="263506" cy="383281"/>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Application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Application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Dietary Supplements and Functional Nutrition</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Applications</a:t>
            </a:r>
          </a:p>
        </p:txBody>
      </p:sp>
      <p:graphicFrame>
        <p:nvGraphicFramePr>
          <p:cNvPr id="15" name="Chart 14"/>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6172200" y="981075"/>
            <a:ext cx="5876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305550" y="1066800"/>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Application</a:t>
            </a:r>
          </a:p>
        </p:txBody>
      </p:sp>
      <p:sp>
        <p:nvSpPr>
          <p:cNvPr id="18" name="Rectangle 17"/>
          <p:cNvSpPr/>
          <p:nvPr/>
        </p:nvSpPr>
        <p:spPr>
          <a:xfrm>
            <a:off x="6305550" y="1502995"/>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305550" y="1588720"/>
            <a:ext cx="5610225" cy="49644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0" name="TextBox 1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1" name="Picture 20" descr="lock.png"/>
          <p:cNvPicPr>
            <a:picLocks noChangeAspect="1"/>
          </p:cNvPicPr>
          <p:nvPr/>
        </p:nvPicPr>
        <p:blipFill>
          <a:blip r:embed="rId6"/>
          <a:stretch>
            <a:fillRect/>
          </a:stretch>
        </p:blipFill>
        <p:spPr>
          <a:xfrm>
            <a:off x="3100230" y="2330679"/>
            <a:ext cx="252890" cy="367840"/>
          </a:xfrm>
          <a:prstGeom prst="rect">
            <a:avLst/>
          </a:prstGeom>
        </p:spPr>
      </p:pic>
      <p:pic>
        <p:nvPicPr>
          <p:cNvPr id="22" name="Picture 21" descr="lock.png"/>
          <p:cNvPicPr>
            <a:picLocks noChangeAspect="1"/>
          </p:cNvPicPr>
          <p:nvPr/>
        </p:nvPicPr>
        <p:blipFill>
          <a:blip r:embed="rId6"/>
          <a:stretch>
            <a:fillRect/>
          </a:stretch>
        </p:blipFill>
        <p:spPr>
          <a:xfrm>
            <a:off x="3100230" y="5216754"/>
            <a:ext cx="252890" cy="367840"/>
          </a:xfrm>
          <a:prstGeom prst="rect">
            <a:avLst/>
          </a:prstGeom>
        </p:spPr>
      </p:pic>
      <p:sp>
        <p:nvSpPr>
          <p:cNvPr id="23" name="TextBox 22"/>
          <p:cNvSpPr txBox="1"/>
          <p:nvPr/>
        </p:nvSpPr>
        <p:spPr>
          <a:xfrm>
            <a:off x="6305550" y="1598245"/>
            <a:ext cx="4576913" cy="194310"/>
          </a:xfrm>
          <a:prstGeom prst="rect">
            <a:avLst/>
          </a:prstGeom>
          <a:noFill/>
        </p:spPr>
        <p:txBody>
          <a:bodyPr wrap="none" lIns="0" rIns="0" tIns="0" bIns="0">
            <a:spAutoFit/>
          </a:bodyPr>
          <a:lstStyle/>
          <a:p>
            <a:r>
              <a:rPr sz="1150" b="0">
                <a:solidFill>
                  <a:srgbClr val="2E2E2E"/>
                </a:solidFill>
                <a:latin typeface="Calibri"/>
              </a:rPr>
              <a:t>By 2036, other applications segment is anticipated to witness an increase of</a:t>
            </a:r>
          </a:p>
        </p:txBody>
      </p:sp>
      <p:pic>
        <p:nvPicPr>
          <p:cNvPr id="24" name="Picture 23" descr="lock.png"/>
          <p:cNvPicPr>
            <a:picLocks noChangeAspect="1"/>
          </p:cNvPicPr>
          <p:nvPr/>
        </p:nvPicPr>
        <p:blipFill>
          <a:blip r:embed="rId6"/>
          <a:stretch>
            <a:fillRect/>
          </a:stretch>
        </p:blipFill>
        <p:spPr>
          <a:xfrm>
            <a:off x="10831617" y="1588021"/>
            <a:ext cx="134549" cy="195707"/>
          </a:xfrm>
          <a:prstGeom prst="rect">
            <a:avLst/>
          </a:prstGeom>
        </p:spPr>
      </p:pic>
      <p:sp>
        <p:nvSpPr>
          <p:cNvPr id="25" name="TextBox 24"/>
          <p:cNvSpPr txBox="1"/>
          <p:nvPr/>
        </p:nvSpPr>
        <p:spPr>
          <a:xfrm>
            <a:off x="11006727" y="1598245"/>
            <a:ext cx="829840" cy="194310"/>
          </a:xfrm>
          <a:prstGeom prst="rect">
            <a:avLst/>
          </a:prstGeom>
          <a:noFill/>
        </p:spPr>
        <p:txBody>
          <a:bodyPr wrap="none" lIns="0" rIns="0" tIns="0" bIns="0">
            <a:spAutoFit/>
          </a:bodyPr>
          <a:lstStyle/>
          <a:p>
            <a:r>
              <a:rPr sz="1150" b="0">
                <a:solidFill>
                  <a:srgbClr val="2E2E2E"/>
                </a:solidFill>
                <a:latin typeface="Calibri"/>
              </a:rPr>
              <a:t>X in terms of</a:t>
            </a:r>
          </a:p>
        </p:txBody>
      </p:sp>
      <p:sp>
        <p:nvSpPr>
          <p:cNvPr id="26" name="TextBox 25"/>
          <p:cNvSpPr txBox="1"/>
          <p:nvPr/>
        </p:nvSpPr>
        <p:spPr>
          <a:xfrm>
            <a:off x="6305550" y="1773505"/>
            <a:ext cx="5078412" cy="194310"/>
          </a:xfrm>
          <a:prstGeom prst="rect">
            <a:avLst/>
          </a:prstGeom>
          <a:noFill/>
        </p:spPr>
        <p:txBody>
          <a:bodyPr wrap="none" lIns="0" rIns="0" tIns="0" bIns="0">
            <a:spAutoFit/>
          </a:bodyPr>
          <a:lstStyle/>
          <a:p>
            <a:r>
              <a:rPr sz="1150" b="0">
                <a:solidFill>
                  <a:srgbClr val="2E2E2E"/>
                </a:solidFill>
                <a:latin typeface="Calibri"/>
              </a:rPr>
              <a:t>value as compared to 2026. The other applications segment is expected to create an</a:t>
            </a:r>
          </a:p>
        </p:txBody>
      </p:sp>
      <p:sp>
        <p:nvSpPr>
          <p:cNvPr id="27" name="TextBox 26"/>
          <p:cNvSpPr txBox="1"/>
          <p:nvPr/>
        </p:nvSpPr>
        <p:spPr>
          <a:xfrm>
            <a:off x="6305550" y="1948765"/>
            <a:ext cx="1956879" cy="194310"/>
          </a:xfrm>
          <a:prstGeom prst="rect">
            <a:avLst/>
          </a:prstGeom>
          <a:noFill/>
        </p:spPr>
        <p:txBody>
          <a:bodyPr wrap="none" lIns="0" rIns="0" tIns="0" bIns="0">
            <a:spAutoFit/>
          </a:bodyPr>
          <a:lstStyle/>
          <a:p>
            <a:r>
              <a:rPr sz="1150" b="0">
                <a:solidFill>
                  <a:srgbClr val="2E2E2E"/>
                </a:solidFill>
                <a:latin typeface="Calibri"/>
              </a:rPr>
              <a:t>incremental opportunity of US$</a:t>
            </a:r>
          </a:p>
        </p:txBody>
      </p:sp>
      <p:pic>
        <p:nvPicPr>
          <p:cNvPr id="28" name="Picture 27" descr="lock.png"/>
          <p:cNvPicPr>
            <a:picLocks noChangeAspect="1"/>
          </p:cNvPicPr>
          <p:nvPr/>
        </p:nvPicPr>
        <p:blipFill>
          <a:blip r:embed="rId6"/>
          <a:stretch>
            <a:fillRect/>
          </a:stretch>
        </p:blipFill>
        <p:spPr>
          <a:xfrm>
            <a:off x="8211582" y="1938541"/>
            <a:ext cx="134549" cy="195707"/>
          </a:xfrm>
          <a:prstGeom prst="rect">
            <a:avLst/>
          </a:prstGeom>
        </p:spPr>
      </p:pic>
      <p:sp>
        <p:nvSpPr>
          <p:cNvPr id="29" name="TextBox 28"/>
          <p:cNvSpPr txBox="1"/>
          <p:nvPr/>
        </p:nvSpPr>
        <p:spPr>
          <a:xfrm>
            <a:off x="8386692" y="1948765"/>
            <a:ext cx="3266194"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a:t>
            </a:r>
          </a:p>
        </p:txBody>
      </p:sp>
      <p:sp>
        <p:nvSpPr>
          <p:cNvPr id="30" name="TextBox 29"/>
          <p:cNvSpPr txBox="1"/>
          <p:nvPr/>
        </p:nvSpPr>
        <p:spPr>
          <a:xfrm>
            <a:off x="6305550" y="2176603"/>
            <a:ext cx="4850494" cy="194310"/>
          </a:xfrm>
          <a:prstGeom prst="rect">
            <a:avLst/>
          </a:prstGeom>
          <a:noFill/>
        </p:spPr>
        <p:txBody>
          <a:bodyPr wrap="none" lIns="0" rIns="0" tIns="0" bIns="0">
            <a:spAutoFit/>
          </a:bodyPr>
          <a:lstStyle/>
          <a:p>
            <a:r>
              <a:rPr sz="1150" b="0">
                <a:solidFill>
                  <a:srgbClr val="2E2E2E"/>
                </a:solidFill>
                <a:latin typeface="Calibri"/>
              </a:rPr>
              <a:t>The beverages segment is expected to create an incremental opportunity of US$</a:t>
            </a:r>
          </a:p>
        </p:txBody>
      </p:sp>
      <p:pic>
        <p:nvPicPr>
          <p:cNvPr id="31" name="Picture 30" descr="lock.png"/>
          <p:cNvPicPr>
            <a:picLocks noChangeAspect="1"/>
          </p:cNvPicPr>
          <p:nvPr/>
        </p:nvPicPr>
        <p:blipFill>
          <a:blip r:embed="rId6"/>
          <a:stretch>
            <a:fillRect/>
          </a:stretch>
        </p:blipFill>
        <p:spPr>
          <a:xfrm>
            <a:off x="11105198" y="2166379"/>
            <a:ext cx="134549" cy="195707"/>
          </a:xfrm>
          <a:prstGeom prst="rect">
            <a:avLst/>
          </a:prstGeom>
        </p:spPr>
      </p:pic>
      <p:sp>
        <p:nvSpPr>
          <p:cNvPr id="32" name="TextBox 31"/>
          <p:cNvSpPr txBox="1"/>
          <p:nvPr/>
        </p:nvSpPr>
        <p:spPr>
          <a:xfrm>
            <a:off x="11280307" y="2176603"/>
            <a:ext cx="483542" cy="194310"/>
          </a:xfrm>
          <a:prstGeom prst="rect">
            <a:avLst/>
          </a:prstGeom>
          <a:noFill/>
        </p:spPr>
        <p:txBody>
          <a:bodyPr wrap="none" lIns="0" rIns="0" tIns="0" bIns="0">
            <a:spAutoFit/>
          </a:bodyPr>
          <a:lstStyle/>
          <a:p>
            <a:r>
              <a:rPr sz="1150" b="0">
                <a:solidFill>
                  <a:srgbClr val="2E2E2E"/>
                </a:solidFill>
                <a:latin typeface="Calibri"/>
              </a:rPr>
              <a:t>Mn for</a:t>
            </a:r>
          </a:p>
        </p:txBody>
      </p:sp>
      <p:sp>
        <p:nvSpPr>
          <p:cNvPr id="33" name="TextBox 32"/>
          <p:cNvSpPr txBox="1"/>
          <p:nvPr/>
        </p:nvSpPr>
        <p:spPr>
          <a:xfrm>
            <a:off x="6305550" y="2351863"/>
            <a:ext cx="5220468" cy="194310"/>
          </a:xfrm>
          <a:prstGeom prst="rect">
            <a:avLst/>
          </a:prstGeom>
          <a:noFill/>
        </p:spPr>
        <p:txBody>
          <a:bodyPr wrap="none" lIns="0" rIns="0" tIns="0" bIns="0">
            <a:spAutoFit/>
          </a:bodyPr>
          <a:lstStyle/>
          <a:p>
            <a:r>
              <a:rPr sz="1150" b="0">
                <a:solidFill>
                  <a:srgbClr val="2E2E2E"/>
                </a:solidFill>
                <a:latin typeface="Calibri"/>
              </a:rPr>
              <a:t>the overall matcha market from 2026 to 2036. The dietary supplements and functional</a:t>
            </a:r>
          </a:p>
        </p:txBody>
      </p:sp>
      <p:sp>
        <p:nvSpPr>
          <p:cNvPr id="34" name="TextBox 33"/>
          <p:cNvSpPr txBox="1"/>
          <p:nvPr/>
        </p:nvSpPr>
        <p:spPr>
          <a:xfrm>
            <a:off x="6305550" y="2527123"/>
            <a:ext cx="4512754" cy="194310"/>
          </a:xfrm>
          <a:prstGeom prst="rect">
            <a:avLst/>
          </a:prstGeom>
          <a:noFill/>
        </p:spPr>
        <p:txBody>
          <a:bodyPr wrap="none" lIns="0" rIns="0" tIns="0" bIns="0">
            <a:spAutoFit/>
          </a:bodyPr>
          <a:lstStyle/>
          <a:p>
            <a:r>
              <a:rPr sz="1150" b="0">
                <a:solidFill>
                  <a:srgbClr val="2E2E2E"/>
                </a:solidFill>
                <a:latin typeface="Calibri"/>
              </a:rPr>
              <a:t>nutrition segment is expected to create an incremental opportunity of US$</a:t>
            </a:r>
          </a:p>
        </p:txBody>
      </p:sp>
      <p:pic>
        <p:nvPicPr>
          <p:cNvPr id="35" name="Picture 34" descr="lock.png"/>
          <p:cNvPicPr>
            <a:picLocks noChangeAspect="1"/>
          </p:cNvPicPr>
          <p:nvPr/>
        </p:nvPicPr>
        <p:blipFill>
          <a:blip r:embed="rId6"/>
          <a:stretch>
            <a:fillRect/>
          </a:stretch>
        </p:blipFill>
        <p:spPr>
          <a:xfrm>
            <a:off x="10767457" y="2516899"/>
            <a:ext cx="134549" cy="195707"/>
          </a:xfrm>
          <a:prstGeom prst="rect">
            <a:avLst/>
          </a:prstGeom>
        </p:spPr>
      </p:pic>
      <p:sp>
        <p:nvSpPr>
          <p:cNvPr id="36" name="TextBox 35"/>
          <p:cNvSpPr txBox="1"/>
          <p:nvPr/>
        </p:nvSpPr>
        <p:spPr>
          <a:xfrm>
            <a:off x="10942567" y="2527123"/>
            <a:ext cx="715168" cy="194310"/>
          </a:xfrm>
          <a:prstGeom prst="rect">
            <a:avLst/>
          </a:prstGeom>
          <a:noFill/>
        </p:spPr>
        <p:txBody>
          <a:bodyPr wrap="none" lIns="0" rIns="0" tIns="0" bIns="0">
            <a:spAutoFit/>
          </a:bodyPr>
          <a:lstStyle/>
          <a:p>
            <a:r>
              <a:rPr sz="1150" b="0">
                <a:solidFill>
                  <a:srgbClr val="2E2E2E"/>
                </a:solidFill>
                <a:latin typeface="Calibri"/>
              </a:rPr>
              <a:t>Mn for the</a:t>
            </a:r>
          </a:p>
        </p:txBody>
      </p:sp>
      <p:sp>
        <p:nvSpPr>
          <p:cNvPr id="37" name="TextBox 36"/>
          <p:cNvSpPr txBox="1"/>
          <p:nvPr/>
        </p:nvSpPr>
        <p:spPr>
          <a:xfrm>
            <a:off x="6305550" y="2702383"/>
            <a:ext cx="2594136" cy="194310"/>
          </a:xfrm>
          <a:prstGeom prst="rect">
            <a:avLst/>
          </a:prstGeom>
          <a:noFill/>
        </p:spPr>
        <p:txBody>
          <a:bodyPr wrap="none" lIns="0" rIns="0" tIns="0" bIns="0">
            <a:spAutoFit/>
          </a:bodyPr>
          <a:lstStyle/>
          <a:p>
            <a:r>
              <a:rPr sz="1150" b="0">
                <a:solidFill>
                  <a:srgbClr val="2E2E2E"/>
                </a:solidFill>
                <a:latin typeface="Calibri"/>
              </a:rPr>
              <a:t>overall matcha market from 2026 to 2036.</a:t>
            </a:r>
          </a:p>
        </p:txBody>
      </p:sp>
      <p:sp>
        <p:nvSpPr>
          <p:cNvPr id="38"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lockshield_15"/>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Application (US$ Mn)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5638800"/>
          </a:xfrm>
          <a:prstGeom prst="roundRect">
            <a:avLst>
              <a:gd name="adj" fmla="val 13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Application (US$ Mn)</a:t>
            </a:r>
          </a:p>
        </p:txBody>
      </p:sp>
      <p:graphicFrame>
        <p:nvGraphicFramePr>
          <p:cNvPr id="12" name="Table 11"/>
          <p:cNvGraphicFramePr>
            <a:graphicFrameLocks noGrp="1"/>
          </p:cNvGraphicFramePr>
          <p:nvPr/>
        </p:nvGraphicFramePr>
        <p:xfrm>
          <a:off x="152400" y="1238250"/>
          <a:ext cx="11887198" cy="5172066"/>
        </p:xfrm>
        <a:graphic>
          <a:graphicData uri="http://schemas.openxmlformats.org/drawingml/2006/table">
            <a:tbl>
              <a:tblPr>
                <a:tableStyleId>{5C22544A-7EE6-4342-B048-85BDC9FD1C3A}</a:tableStyleId>
              </a:tblPr>
              <a:tblGrid>
                <a:gridCol w="2945418"/>
                <a:gridCol w="537119"/>
                <a:gridCol w="537119"/>
                <a:gridCol w="537119"/>
                <a:gridCol w="537119"/>
                <a:gridCol w="537119"/>
                <a:gridCol w="518199"/>
                <a:gridCol w="512793"/>
                <a:gridCol w="512793"/>
                <a:gridCol w="512793"/>
                <a:gridCol w="512793"/>
                <a:gridCol w="512793"/>
                <a:gridCol w="512793"/>
                <a:gridCol w="512793"/>
                <a:gridCol w="512793"/>
                <a:gridCol w="512793"/>
                <a:gridCol w="512793"/>
                <a:gridCol w="610056"/>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297">
                <a:tc>
                  <a:txBody>
                    <a:bodyPr wrap="none"/>
                    <a:lstStyle/>
                    <a:p>
                      <a:pPr algn="l"/>
                      <a:r>
                        <a:rPr sz="1100" b="1">
                          <a:solidFill>
                            <a:srgbClr val="2E2E2E"/>
                          </a:solidFill>
                          <a:latin typeface="Calibri"/>
                        </a:rPr>
                        <a:t>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Traditional 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Matcha Lattes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Bubble Tea and Milk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Ready-to-Drink 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Smoothies and Functional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Bakery and Confectionery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Cakes and Pastries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Cookies and Biscuits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Bread and Bakery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Chocolate and Candies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Other Confectionery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Dairy and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Ice Cream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Yogurt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Milk-Based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Frozen Yogurt and Other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Other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Snacks and Nutrition Bars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Breakfast Cereals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64198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82018" y="3680645"/>
            <a:ext cx="366712" cy="533400"/>
          </a:xfrm>
          <a:prstGeom prst="rect">
            <a:avLst/>
          </a:prstGeom>
        </p:spPr>
      </p:pic>
    </p:spTree>
  </p:cSld>
  <p:clrMapOvr>
    <a:masterClrMapping/>
  </p:clrMapOvr>
</p:sld>
</file>

<file path=ppt/slides/slide19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Application (US$ Mn)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Application, 2021–2036, highlighting the sub-segments driving growth</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Application (US$ Mn)</a:t>
            </a:r>
          </a:p>
        </p:txBody>
      </p:sp>
      <p:graphicFrame>
        <p:nvGraphicFramePr>
          <p:cNvPr id="12" name="Table 11"/>
          <p:cNvGraphicFramePr>
            <a:graphicFrameLocks noGrp="1"/>
          </p:cNvGraphicFramePr>
          <p:nvPr/>
        </p:nvGraphicFramePr>
        <p:xfrm>
          <a:off x="152400" y="1238250"/>
          <a:ext cx="11887200" cy="2714626"/>
        </p:xfrm>
        <a:graphic>
          <a:graphicData uri="http://schemas.openxmlformats.org/drawingml/2006/table">
            <a:tbl>
              <a:tblPr>
                <a:tableStyleId>{5C22544A-7EE6-4342-B048-85BDC9FD1C3A}</a:tableStyleId>
              </a:tblPr>
              <a:tblGrid>
                <a:gridCol w="3105167"/>
                <a:gridCol w="527523"/>
                <a:gridCol w="527523"/>
                <a:gridCol w="527523"/>
                <a:gridCol w="527523"/>
                <a:gridCol w="527523"/>
                <a:gridCol w="508941"/>
                <a:gridCol w="503632"/>
                <a:gridCol w="503632"/>
                <a:gridCol w="503632"/>
                <a:gridCol w="503632"/>
                <a:gridCol w="503632"/>
                <a:gridCol w="503632"/>
                <a:gridCol w="503632"/>
                <a:gridCol w="503632"/>
                <a:gridCol w="503632"/>
                <a:gridCol w="503632"/>
                <a:gridCol w="599157"/>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 Packaged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Other Matcha-Containing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Dietary Supplements and Functional Nutrition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Matcha-Based Dietary Supplements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Functional Nutrition Powders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Other Matcha-Based Nutritional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Other Applications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 Cosmetics and Personal 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 Other Specialized Applications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Application</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461893" y="2451926"/>
            <a:ext cx="366712" cy="533400"/>
          </a:xfrm>
          <a:prstGeom prst="rect">
            <a:avLst/>
          </a:prstGeom>
        </p:spPr>
      </p:pic>
      <p:sp>
        <p:nvSpPr>
          <p:cNvPr id="20" name="TextBox 19"/>
          <p:cNvSpPr txBox="1"/>
          <p:nvPr/>
        </p:nvSpPr>
        <p:spPr>
          <a:xfrm>
            <a:off x="276225" y="4714875"/>
            <a:ext cx="2611821" cy="194310"/>
          </a:xfrm>
          <a:prstGeom prst="rect">
            <a:avLst/>
          </a:prstGeom>
          <a:noFill/>
        </p:spPr>
        <p:txBody>
          <a:bodyPr wrap="none" lIns="0" rIns="0" tIns="0" bIns="0">
            <a:spAutoFit/>
          </a:bodyPr>
          <a:lstStyle/>
          <a:p>
            <a:r>
              <a:rPr sz="1150" b="0">
                <a:solidFill>
                  <a:srgbClr val="2E2E2E"/>
                </a:solidFill>
                <a:latin typeface="Calibri"/>
              </a:rPr>
              <a:t>Beverages segment is projected to register</a:t>
            </a:r>
          </a:p>
        </p:txBody>
      </p:sp>
      <p:pic>
        <p:nvPicPr>
          <p:cNvPr id="21" name="Picture 20" descr="lock.png"/>
          <p:cNvPicPr>
            <a:picLocks noChangeAspect="1"/>
          </p:cNvPicPr>
          <p:nvPr/>
        </p:nvPicPr>
        <p:blipFill>
          <a:blip r:embed="rId4"/>
          <a:stretch>
            <a:fillRect/>
          </a:stretch>
        </p:blipFill>
        <p:spPr>
          <a:xfrm>
            <a:off x="2837200" y="4704651"/>
            <a:ext cx="134549" cy="195707"/>
          </a:xfrm>
          <a:prstGeom prst="rect">
            <a:avLst/>
          </a:prstGeom>
        </p:spPr>
      </p:pic>
      <p:sp>
        <p:nvSpPr>
          <p:cNvPr id="22" name="TextBox 21"/>
          <p:cNvSpPr txBox="1"/>
          <p:nvPr/>
        </p:nvSpPr>
        <p:spPr>
          <a:xfrm>
            <a:off x="3012310" y="4714875"/>
            <a:ext cx="8459527" cy="194310"/>
          </a:xfrm>
          <a:prstGeom prst="rect">
            <a:avLst/>
          </a:prstGeom>
          <a:noFill/>
        </p:spPr>
        <p:txBody>
          <a:bodyPr wrap="none" lIns="0" rIns="0" tIns="0" bIns="0">
            <a:spAutoFit/>
          </a:bodyPr>
          <a:lstStyle/>
          <a:p>
            <a:r>
              <a:rPr sz="1150" b="0">
                <a:solidFill>
                  <a:srgbClr val="2E2E2E"/>
                </a:solidFill>
                <a:latin typeface="Calibri"/>
              </a:rPr>
              <a:t>X higher value than other applications segment in 2036. Among matcha by application, other applications segment is expected to witness the</a:t>
            </a:r>
          </a:p>
        </p:txBody>
      </p:sp>
      <p:sp>
        <p:nvSpPr>
          <p:cNvPr id="23" name="TextBox 22"/>
          <p:cNvSpPr txBox="1"/>
          <p:nvPr/>
        </p:nvSpPr>
        <p:spPr>
          <a:xfrm>
            <a:off x="276225" y="4890135"/>
            <a:ext cx="1032353" cy="194310"/>
          </a:xfrm>
          <a:prstGeom prst="rect">
            <a:avLst/>
          </a:prstGeom>
          <a:noFill/>
        </p:spPr>
        <p:txBody>
          <a:bodyPr wrap="none" lIns="0" rIns="0" tIns="0" bIns="0">
            <a:spAutoFit/>
          </a:bodyPr>
          <a:lstStyle/>
          <a:p>
            <a:r>
              <a:rPr sz="1150" b="0">
                <a:solidFill>
                  <a:srgbClr val="2E2E2E"/>
                </a:solidFill>
                <a:latin typeface="Calibri"/>
              </a:rPr>
              <a:t>highest CAGR of</a:t>
            </a:r>
          </a:p>
        </p:txBody>
      </p:sp>
      <p:pic>
        <p:nvPicPr>
          <p:cNvPr id="24" name="Picture 23" descr="lock.png"/>
          <p:cNvPicPr>
            <a:picLocks noChangeAspect="1"/>
          </p:cNvPicPr>
          <p:nvPr/>
        </p:nvPicPr>
        <p:blipFill>
          <a:blip r:embed="rId4"/>
          <a:stretch>
            <a:fillRect/>
          </a:stretch>
        </p:blipFill>
        <p:spPr>
          <a:xfrm>
            <a:off x="1257732" y="4879911"/>
            <a:ext cx="134549" cy="195707"/>
          </a:xfrm>
          <a:prstGeom prst="rect">
            <a:avLst/>
          </a:prstGeom>
        </p:spPr>
      </p:pic>
      <p:sp>
        <p:nvSpPr>
          <p:cNvPr id="25" name="TextBox 24"/>
          <p:cNvSpPr txBox="1"/>
          <p:nvPr/>
        </p:nvSpPr>
        <p:spPr>
          <a:xfrm>
            <a:off x="1432841" y="48901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5117972"/>
            <a:ext cx="6334955" cy="194310"/>
          </a:xfrm>
          <a:prstGeom prst="rect">
            <a:avLst/>
          </a:prstGeom>
          <a:noFill/>
        </p:spPr>
        <p:txBody>
          <a:bodyPr wrap="none" lIns="0" rIns="0" tIns="0" bIns="0">
            <a:spAutoFit/>
          </a:bodyPr>
          <a:lstStyle/>
          <a:p>
            <a:r>
              <a:rPr sz="1150" b="0">
                <a:solidFill>
                  <a:srgbClr val="2E2E2E"/>
                </a:solidFill>
                <a:latin typeface="Calibri"/>
              </a:rPr>
              <a:t>In terms of value share by application, the beverages segment is expected to dominate the market, losing</a:t>
            </a:r>
          </a:p>
        </p:txBody>
      </p:sp>
      <p:pic>
        <p:nvPicPr>
          <p:cNvPr id="27" name="Picture 26" descr="lock.png"/>
          <p:cNvPicPr>
            <a:picLocks noChangeAspect="1"/>
          </p:cNvPicPr>
          <p:nvPr/>
        </p:nvPicPr>
        <p:blipFill>
          <a:blip r:embed="rId4"/>
          <a:stretch>
            <a:fillRect/>
          </a:stretch>
        </p:blipFill>
        <p:spPr>
          <a:xfrm>
            <a:off x="6560334" y="5107749"/>
            <a:ext cx="134549" cy="195707"/>
          </a:xfrm>
          <a:prstGeom prst="rect">
            <a:avLst/>
          </a:prstGeom>
        </p:spPr>
      </p:pic>
      <p:sp>
        <p:nvSpPr>
          <p:cNvPr id="28" name="TextBox 27"/>
          <p:cNvSpPr txBox="1"/>
          <p:nvPr/>
        </p:nvSpPr>
        <p:spPr>
          <a:xfrm>
            <a:off x="6735444" y="51179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8130587" y="5107749"/>
            <a:ext cx="134549" cy="195707"/>
          </a:xfrm>
          <a:prstGeom prst="rect">
            <a:avLst/>
          </a:prstGeom>
        </p:spPr>
      </p:pic>
      <p:sp>
        <p:nvSpPr>
          <p:cNvPr id="30" name="TextBox 29"/>
          <p:cNvSpPr txBox="1"/>
          <p:nvPr/>
        </p:nvSpPr>
        <p:spPr>
          <a:xfrm>
            <a:off x="8305696" y="5117972"/>
            <a:ext cx="3098179" cy="194310"/>
          </a:xfrm>
          <a:prstGeom prst="rect">
            <a:avLst/>
          </a:prstGeom>
          <a:noFill/>
        </p:spPr>
        <p:txBody>
          <a:bodyPr wrap="none" lIns="0" rIns="0" tIns="0" bIns="0">
            <a:spAutoFit/>
          </a:bodyPr>
          <a:lstStyle/>
          <a:p>
            <a:r>
              <a:rPr sz="1150" b="0">
                <a:solidFill>
                  <a:srgbClr val="2E2E2E"/>
                </a:solidFill>
                <a:latin typeface="Calibri"/>
              </a:rPr>
              <a:t>share by 2036. The other food products segment is</a:t>
            </a:r>
          </a:p>
        </p:txBody>
      </p:sp>
      <p:sp>
        <p:nvSpPr>
          <p:cNvPr id="31" name="TextBox 30"/>
          <p:cNvSpPr txBox="1"/>
          <p:nvPr/>
        </p:nvSpPr>
        <p:spPr>
          <a:xfrm>
            <a:off x="276225" y="5293232"/>
            <a:ext cx="1054906" cy="194310"/>
          </a:xfrm>
          <a:prstGeom prst="rect">
            <a:avLst/>
          </a:prstGeom>
          <a:noFill/>
        </p:spPr>
        <p:txBody>
          <a:bodyPr wrap="none" lIns="0" rIns="0" tIns="0" bIns="0">
            <a:spAutoFit/>
          </a:bodyPr>
          <a:lstStyle/>
          <a:p>
            <a:r>
              <a:rPr sz="1150" b="0">
                <a:solidFill>
                  <a:srgbClr val="2E2E2E"/>
                </a:solidFill>
                <a:latin typeface="Calibri"/>
              </a:rPr>
              <a:t>expected to lose</a:t>
            </a:r>
          </a:p>
        </p:txBody>
      </p:sp>
      <p:pic>
        <p:nvPicPr>
          <p:cNvPr id="32" name="Picture 31" descr="lock.png"/>
          <p:cNvPicPr>
            <a:picLocks noChangeAspect="1"/>
          </p:cNvPicPr>
          <p:nvPr/>
        </p:nvPicPr>
        <p:blipFill>
          <a:blip r:embed="rId4"/>
          <a:stretch>
            <a:fillRect/>
          </a:stretch>
        </p:blipFill>
        <p:spPr>
          <a:xfrm>
            <a:off x="1280285" y="5283009"/>
            <a:ext cx="134549" cy="195707"/>
          </a:xfrm>
          <a:prstGeom prst="rect">
            <a:avLst/>
          </a:prstGeom>
        </p:spPr>
      </p:pic>
      <p:sp>
        <p:nvSpPr>
          <p:cNvPr id="33" name="TextBox 32"/>
          <p:cNvSpPr txBox="1"/>
          <p:nvPr/>
        </p:nvSpPr>
        <p:spPr>
          <a:xfrm>
            <a:off x="1455394" y="52932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4042898" y="5283009"/>
            <a:ext cx="134549" cy="195707"/>
          </a:xfrm>
          <a:prstGeom prst="rect">
            <a:avLst/>
          </a:prstGeom>
        </p:spPr>
      </p:pic>
      <p:sp>
        <p:nvSpPr>
          <p:cNvPr id="35" name="TextBox 34"/>
          <p:cNvSpPr txBox="1"/>
          <p:nvPr/>
        </p:nvSpPr>
        <p:spPr>
          <a:xfrm>
            <a:off x="4218008" y="52932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Application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Application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972131"/>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967368"/>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8911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 Products</a:t>
            </a:r>
          </a:p>
        </p:txBody>
      </p:sp>
      <p:sp>
        <p:nvSpPr>
          <p:cNvPr id="18" name="BPS Value 1"/>
          <p:cNvSpPr txBox="1"/>
          <p:nvPr/>
        </p:nvSpPr>
        <p:spPr>
          <a:xfrm>
            <a:off x="6896100" y="195308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2606031"/>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a:off x="5090922" y="2601268"/>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2525068"/>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Bakery and Confectionery</a:t>
            </a:r>
          </a:p>
        </p:txBody>
      </p:sp>
      <p:sp>
        <p:nvSpPr>
          <p:cNvPr id="22" name="BPS Value 2"/>
          <p:cNvSpPr txBox="1"/>
          <p:nvPr/>
        </p:nvSpPr>
        <p:spPr>
          <a:xfrm>
            <a:off x="6896100" y="2586981"/>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3" name="FMI Legend Chip"/>
          <p:cNvSpPr/>
          <p:nvPr/>
        </p:nvSpPr>
        <p:spPr>
          <a:xfrm>
            <a:off x="4928997" y="3308329"/>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a:off x="5090922" y="330356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322736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Dairy and Frozen Desserts</a:t>
            </a:r>
          </a:p>
        </p:txBody>
      </p:sp>
      <p:sp>
        <p:nvSpPr>
          <p:cNvPr id="26" name="BPS Value 3"/>
          <p:cNvSpPr txBox="1"/>
          <p:nvPr/>
        </p:nvSpPr>
        <p:spPr>
          <a:xfrm>
            <a:off x="6896100" y="3289279"/>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7" name="FMI Legend Chip"/>
          <p:cNvSpPr/>
          <p:nvPr/>
        </p:nvSpPr>
        <p:spPr>
          <a:xfrm>
            <a:off x="4928997" y="4051147"/>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a:off x="5090922" y="4046384"/>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397018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Dietary Supplements and Functional Nutrition</a:t>
            </a:r>
          </a:p>
        </p:txBody>
      </p:sp>
      <p:sp>
        <p:nvSpPr>
          <p:cNvPr id="30" name="BPS Value 4"/>
          <p:cNvSpPr txBox="1"/>
          <p:nvPr/>
        </p:nvSpPr>
        <p:spPr>
          <a:xfrm>
            <a:off x="6896100" y="4032097"/>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1" name="FMI Legend Chip"/>
          <p:cNvSpPr/>
          <p:nvPr/>
        </p:nvSpPr>
        <p:spPr>
          <a:xfrm>
            <a:off x="4928997" y="4844478"/>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a:off x="5090922" y="4839715"/>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4763515"/>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Applications</a:t>
            </a:r>
          </a:p>
        </p:txBody>
      </p:sp>
      <p:sp>
        <p:nvSpPr>
          <p:cNvPr id="34" name="BPS Value 5"/>
          <p:cNvSpPr txBox="1"/>
          <p:nvPr/>
        </p:nvSpPr>
        <p:spPr>
          <a:xfrm>
            <a:off x="6896100" y="4825428"/>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5" name="FMI Legend Chip"/>
          <p:cNvSpPr/>
          <p:nvPr/>
        </p:nvSpPr>
        <p:spPr>
          <a:xfrm>
            <a:off x="4928997" y="5753951"/>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rot="10800000">
            <a:off x="5090922" y="5749189"/>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5672989"/>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Beverages</a:t>
            </a:r>
          </a:p>
        </p:txBody>
      </p:sp>
      <p:sp>
        <p:nvSpPr>
          <p:cNvPr id="38" name="BPS Value 6"/>
          <p:cNvSpPr txBox="1"/>
          <p:nvPr/>
        </p:nvSpPr>
        <p:spPr>
          <a:xfrm>
            <a:off x="6896100" y="5734901"/>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9" name="Rounded Rectangle 38"/>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Application</a:t>
            </a:r>
          </a:p>
        </p:txBody>
      </p:sp>
      <p:sp>
        <p:nvSpPr>
          <p:cNvPr id="41" name="Rectangle 40"/>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3" name="TextBox 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4" name="Picture 43" descr="lock.png"/>
          <p:cNvPicPr>
            <a:picLocks noChangeAspect="1"/>
          </p:cNvPicPr>
          <p:nvPr/>
        </p:nvPicPr>
        <p:blipFill>
          <a:blip r:embed="rId5"/>
          <a:stretch>
            <a:fillRect/>
          </a:stretch>
        </p:blipFill>
        <p:spPr>
          <a:xfrm>
            <a:off x="2557843" y="3833622"/>
            <a:ext cx="275034" cy="400050"/>
          </a:xfrm>
          <a:prstGeom prst="rect">
            <a:avLst/>
          </a:prstGeom>
        </p:spPr>
      </p:pic>
      <p:sp>
        <p:nvSpPr>
          <p:cNvPr id="45" name="TextBox 44"/>
          <p:cNvSpPr txBox="1"/>
          <p:nvPr/>
        </p:nvSpPr>
        <p:spPr>
          <a:xfrm>
            <a:off x="7829550" y="1400175"/>
            <a:ext cx="3660985" cy="194310"/>
          </a:xfrm>
          <a:prstGeom prst="rect">
            <a:avLst/>
          </a:prstGeom>
          <a:noFill/>
        </p:spPr>
        <p:txBody>
          <a:bodyPr wrap="none" lIns="0" rIns="0" tIns="0" bIns="0">
            <a:spAutoFit/>
          </a:bodyPr>
          <a:lstStyle/>
          <a:p>
            <a:r>
              <a:rPr sz="1150" b="0">
                <a:solidFill>
                  <a:srgbClr val="2E2E2E"/>
                </a:solidFill>
                <a:latin typeface="Calibri"/>
              </a:rPr>
              <a:t>Among matcha by application, other applications segment is</a:t>
            </a:r>
          </a:p>
        </p:txBody>
      </p:sp>
      <p:sp>
        <p:nvSpPr>
          <p:cNvPr id="46" name="TextBox 45"/>
          <p:cNvSpPr txBox="1"/>
          <p:nvPr/>
        </p:nvSpPr>
        <p:spPr>
          <a:xfrm>
            <a:off x="7829550" y="1575435"/>
            <a:ext cx="2486007" cy="194310"/>
          </a:xfrm>
          <a:prstGeom prst="rect">
            <a:avLst/>
          </a:prstGeom>
          <a:noFill/>
        </p:spPr>
        <p:txBody>
          <a:bodyPr wrap="none" lIns="0" rIns="0" tIns="0" bIns="0">
            <a:spAutoFit/>
          </a:bodyPr>
          <a:lstStyle/>
          <a:p>
            <a:r>
              <a:rPr sz="1150" b="0">
                <a:solidFill>
                  <a:srgbClr val="2E2E2E"/>
                </a:solidFill>
                <a:latin typeface="Calibri"/>
              </a:rPr>
              <a:t>expected to witness the highest CAGR of</a:t>
            </a:r>
          </a:p>
        </p:txBody>
      </p:sp>
      <p:pic>
        <p:nvPicPr>
          <p:cNvPr id="47" name="Picture 46" descr="lock.png"/>
          <p:cNvPicPr>
            <a:picLocks noChangeAspect="1"/>
          </p:cNvPicPr>
          <p:nvPr/>
        </p:nvPicPr>
        <p:blipFill>
          <a:blip r:embed="rId5"/>
          <a:stretch>
            <a:fillRect/>
          </a:stretch>
        </p:blipFill>
        <p:spPr>
          <a:xfrm>
            <a:off x="10264711" y="1565211"/>
            <a:ext cx="134549" cy="195707"/>
          </a:xfrm>
          <a:prstGeom prst="rect">
            <a:avLst/>
          </a:prstGeom>
        </p:spPr>
      </p:pic>
      <p:sp>
        <p:nvSpPr>
          <p:cNvPr id="48" name="TextBox 47"/>
          <p:cNvSpPr txBox="1"/>
          <p:nvPr/>
        </p:nvSpPr>
        <p:spPr>
          <a:xfrm>
            <a:off x="10439820" y="1575435"/>
            <a:ext cx="1090848" cy="194310"/>
          </a:xfrm>
          <a:prstGeom prst="rect">
            <a:avLst/>
          </a:prstGeom>
          <a:noFill/>
        </p:spPr>
        <p:txBody>
          <a:bodyPr wrap="none" lIns="0" rIns="0" tIns="0" bIns="0">
            <a:spAutoFit/>
          </a:bodyPr>
          <a:lstStyle/>
          <a:p>
            <a:r>
              <a:rPr sz="1150" b="0">
                <a:solidFill>
                  <a:srgbClr val="2E2E2E"/>
                </a:solidFill>
                <a:latin typeface="Calibri"/>
              </a:rPr>
              <a:t>over the forecast</a:t>
            </a:r>
          </a:p>
        </p:txBody>
      </p:sp>
      <p:sp>
        <p:nvSpPr>
          <p:cNvPr id="49" name="TextBox 48"/>
          <p:cNvSpPr txBox="1"/>
          <p:nvPr/>
        </p:nvSpPr>
        <p:spPr>
          <a:xfrm>
            <a:off x="7829550" y="1750695"/>
            <a:ext cx="3671254" cy="194310"/>
          </a:xfrm>
          <a:prstGeom prst="rect">
            <a:avLst/>
          </a:prstGeom>
          <a:noFill/>
        </p:spPr>
        <p:txBody>
          <a:bodyPr wrap="none" lIns="0" rIns="0" tIns="0" bIns="0">
            <a:spAutoFit/>
          </a:bodyPr>
          <a:lstStyle/>
          <a:p>
            <a:r>
              <a:rPr sz="1150" b="0">
                <a:solidFill>
                  <a:srgbClr val="2E2E2E"/>
                </a:solidFill>
                <a:latin typeface="Calibri"/>
              </a:rPr>
              <a:t>period. In terms of value share by application, the beverages</a:t>
            </a:r>
          </a:p>
        </p:txBody>
      </p:sp>
      <p:sp>
        <p:nvSpPr>
          <p:cNvPr id="50" name="TextBox 49"/>
          <p:cNvSpPr txBox="1"/>
          <p:nvPr/>
        </p:nvSpPr>
        <p:spPr>
          <a:xfrm>
            <a:off x="7829550" y="1925955"/>
            <a:ext cx="3164644" cy="194310"/>
          </a:xfrm>
          <a:prstGeom prst="rect">
            <a:avLst/>
          </a:prstGeom>
          <a:noFill/>
        </p:spPr>
        <p:txBody>
          <a:bodyPr wrap="none" lIns="0" rIns="0" tIns="0" bIns="0">
            <a:spAutoFit/>
          </a:bodyPr>
          <a:lstStyle/>
          <a:p>
            <a:r>
              <a:rPr sz="1150" b="0">
                <a:solidFill>
                  <a:srgbClr val="2E2E2E"/>
                </a:solidFill>
                <a:latin typeface="Calibri"/>
              </a:rPr>
              <a:t>segment is expected to dominate the market, losing</a:t>
            </a:r>
          </a:p>
        </p:txBody>
      </p:sp>
      <p:pic>
        <p:nvPicPr>
          <p:cNvPr id="51" name="Picture 50" descr="lock.png"/>
          <p:cNvPicPr>
            <a:picLocks noChangeAspect="1"/>
          </p:cNvPicPr>
          <p:nvPr/>
        </p:nvPicPr>
        <p:blipFill>
          <a:blip r:embed="rId5"/>
          <a:stretch>
            <a:fillRect/>
          </a:stretch>
        </p:blipFill>
        <p:spPr>
          <a:xfrm>
            <a:off x="10943347" y="1915731"/>
            <a:ext cx="134549" cy="195707"/>
          </a:xfrm>
          <a:prstGeom prst="rect">
            <a:avLst/>
          </a:prstGeom>
        </p:spPr>
      </p:pic>
      <p:sp>
        <p:nvSpPr>
          <p:cNvPr id="52" name="TextBox 51"/>
          <p:cNvSpPr txBox="1"/>
          <p:nvPr/>
        </p:nvSpPr>
        <p:spPr>
          <a:xfrm>
            <a:off x="11118457" y="1925955"/>
            <a:ext cx="554856" cy="194310"/>
          </a:xfrm>
          <a:prstGeom prst="rect">
            <a:avLst/>
          </a:prstGeom>
          <a:noFill/>
        </p:spPr>
        <p:txBody>
          <a:bodyPr wrap="none" lIns="0" rIns="0" tIns="0" bIns="0">
            <a:spAutoFit/>
          </a:bodyPr>
          <a:lstStyle/>
          <a:p>
            <a:r>
              <a:rPr sz="1150" b="0">
                <a:solidFill>
                  <a:srgbClr val="2E2E2E"/>
                </a:solidFill>
                <a:latin typeface="Calibri"/>
              </a:rPr>
              <a:t>BPS and</a:t>
            </a:r>
          </a:p>
        </p:txBody>
      </p:sp>
      <p:sp>
        <p:nvSpPr>
          <p:cNvPr id="53" name="TextBox 52"/>
          <p:cNvSpPr txBox="1"/>
          <p:nvPr/>
        </p:nvSpPr>
        <p:spPr>
          <a:xfrm>
            <a:off x="7829550" y="2101215"/>
            <a:ext cx="934243" cy="194310"/>
          </a:xfrm>
          <a:prstGeom prst="rect">
            <a:avLst/>
          </a:prstGeom>
          <a:noFill/>
        </p:spPr>
        <p:txBody>
          <a:bodyPr wrap="none" lIns="0" rIns="0" tIns="0" bIns="0">
            <a:spAutoFit/>
          </a:bodyPr>
          <a:lstStyle/>
          <a:p>
            <a:r>
              <a:rPr sz="1150" b="0">
                <a:solidFill>
                  <a:srgbClr val="2E2E2E"/>
                </a:solidFill>
                <a:latin typeface="Calibri"/>
              </a:rPr>
              <a:t>accounting for</a:t>
            </a:r>
          </a:p>
        </p:txBody>
      </p:sp>
      <p:pic>
        <p:nvPicPr>
          <p:cNvPr id="54" name="Picture 53" descr="lock.png"/>
          <p:cNvPicPr>
            <a:picLocks noChangeAspect="1"/>
          </p:cNvPicPr>
          <p:nvPr/>
        </p:nvPicPr>
        <p:blipFill>
          <a:blip r:embed="rId5"/>
          <a:stretch>
            <a:fillRect/>
          </a:stretch>
        </p:blipFill>
        <p:spPr>
          <a:xfrm>
            <a:off x="8712947" y="2090991"/>
            <a:ext cx="134549" cy="195707"/>
          </a:xfrm>
          <a:prstGeom prst="rect">
            <a:avLst/>
          </a:prstGeom>
        </p:spPr>
      </p:pic>
      <p:sp>
        <p:nvSpPr>
          <p:cNvPr id="55" name="TextBox 54"/>
          <p:cNvSpPr txBox="1"/>
          <p:nvPr/>
        </p:nvSpPr>
        <p:spPr>
          <a:xfrm>
            <a:off x="8888056" y="210121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6" name="TextBox 55"/>
          <p:cNvSpPr txBox="1"/>
          <p:nvPr/>
        </p:nvSpPr>
        <p:spPr>
          <a:xfrm>
            <a:off x="7829550" y="2329053"/>
            <a:ext cx="3206861" cy="194310"/>
          </a:xfrm>
          <a:prstGeom prst="rect">
            <a:avLst/>
          </a:prstGeom>
          <a:noFill/>
        </p:spPr>
        <p:txBody>
          <a:bodyPr wrap="none" lIns="0" rIns="0" tIns="0" bIns="0">
            <a:spAutoFit/>
          </a:bodyPr>
          <a:lstStyle/>
          <a:p>
            <a:r>
              <a:rPr sz="1150" b="0">
                <a:solidFill>
                  <a:srgbClr val="2E2E2E"/>
                </a:solidFill>
                <a:latin typeface="Calibri"/>
              </a:rPr>
              <a:t>The other food products segment is expected to lose</a:t>
            </a:r>
          </a:p>
        </p:txBody>
      </p:sp>
      <p:pic>
        <p:nvPicPr>
          <p:cNvPr id="57" name="Picture 56" descr="lock.png"/>
          <p:cNvPicPr>
            <a:picLocks noChangeAspect="1"/>
          </p:cNvPicPr>
          <p:nvPr/>
        </p:nvPicPr>
        <p:blipFill>
          <a:blip r:embed="rId5"/>
          <a:stretch>
            <a:fillRect/>
          </a:stretch>
        </p:blipFill>
        <p:spPr>
          <a:xfrm>
            <a:off x="10985565" y="2318829"/>
            <a:ext cx="134549" cy="195707"/>
          </a:xfrm>
          <a:prstGeom prst="rect">
            <a:avLst/>
          </a:prstGeom>
        </p:spPr>
      </p:pic>
      <p:sp>
        <p:nvSpPr>
          <p:cNvPr id="58" name="TextBox 57"/>
          <p:cNvSpPr txBox="1"/>
          <p:nvPr/>
        </p:nvSpPr>
        <p:spPr>
          <a:xfrm>
            <a:off x="11160674" y="2329053"/>
            <a:ext cx="598214" cy="194310"/>
          </a:xfrm>
          <a:prstGeom prst="rect">
            <a:avLst/>
          </a:prstGeom>
          <a:noFill/>
        </p:spPr>
        <p:txBody>
          <a:bodyPr wrap="none" lIns="0" rIns="0" tIns="0" bIns="0">
            <a:spAutoFit/>
          </a:bodyPr>
          <a:lstStyle/>
          <a:p>
            <a:r>
              <a:rPr sz="1150" b="0">
                <a:solidFill>
                  <a:srgbClr val="2E2E2E"/>
                </a:solidFill>
                <a:latin typeface="Calibri"/>
              </a:rPr>
              <a:t>BPS over</a:t>
            </a:r>
          </a:p>
        </p:txBody>
      </p:sp>
      <p:sp>
        <p:nvSpPr>
          <p:cNvPr id="59" name="TextBox 58"/>
          <p:cNvSpPr txBox="1"/>
          <p:nvPr/>
        </p:nvSpPr>
        <p:spPr>
          <a:xfrm>
            <a:off x="7829550" y="2504313"/>
            <a:ext cx="2083246" cy="194310"/>
          </a:xfrm>
          <a:prstGeom prst="rect">
            <a:avLst/>
          </a:prstGeom>
          <a:noFill/>
        </p:spPr>
        <p:txBody>
          <a:bodyPr wrap="none" lIns="0" rIns="0" tIns="0" bIns="0">
            <a:spAutoFit/>
          </a:bodyPr>
          <a:lstStyle/>
          <a:p>
            <a:r>
              <a:rPr sz="1150" b="0">
                <a:solidFill>
                  <a:srgbClr val="2E2E2E"/>
                </a:solidFill>
                <a:latin typeface="Calibri"/>
              </a:rPr>
              <a:t>the forecast period to account for</a:t>
            </a:r>
          </a:p>
        </p:txBody>
      </p:sp>
      <p:pic>
        <p:nvPicPr>
          <p:cNvPr id="60" name="Picture 59" descr="lock.png"/>
          <p:cNvPicPr>
            <a:picLocks noChangeAspect="1"/>
          </p:cNvPicPr>
          <p:nvPr/>
        </p:nvPicPr>
        <p:blipFill>
          <a:blip r:embed="rId5"/>
          <a:stretch>
            <a:fillRect/>
          </a:stretch>
        </p:blipFill>
        <p:spPr>
          <a:xfrm>
            <a:off x="9861950" y="2494089"/>
            <a:ext cx="134549" cy="195707"/>
          </a:xfrm>
          <a:prstGeom prst="rect">
            <a:avLst/>
          </a:prstGeom>
        </p:spPr>
      </p:pic>
      <p:sp>
        <p:nvSpPr>
          <p:cNvPr id="61" name="TextBox 60"/>
          <p:cNvSpPr txBox="1"/>
          <p:nvPr/>
        </p:nvSpPr>
        <p:spPr>
          <a:xfrm>
            <a:off x="10037059" y="250431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2"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By Distribution Channel Segment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Structure &amp; Attractiveness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Value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1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By Distribution Channel Segment Outlook</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Segment analysis of market size, growth and share across 7 sub-segments of Distribution Channel, 2026–2036</a:t>
            </a:r>
          </a:p>
        </p:txBody>
      </p:sp>
      <p:sp>
        <p:nvSpPr>
          <p:cNvPr id="10" name="TextBox 9"/>
          <p:cNvSpPr txBox="1"/>
          <p:nvPr/>
        </p:nvSpPr>
        <p:spPr>
          <a:xfrm>
            <a:off x="323850" y="1007261"/>
            <a:ext cx="11544300" cy="310313"/>
          </a:xfrm>
          <a:prstGeom prst="rect">
            <a:avLst/>
          </a:prstGeom>
          <a:noFill/>
        </p:spPr>
        <p:txBody>
          <a:bodyPr wrap="square" lIns="28575" rIns="28575" tIns="9525" bIns="9525">
            <a:spAutoFit/>
          </a:bodyPr>
          <a:lstStyle/>
          <a:p>
            <a:pPr algn="l"/>
            <a:r>
              <a:rPr sz="1150" b="0">
                <a:solidFill>
                  <a:srgbClr val="2E2E2E"/>
                </a:solidFill>
                <a:latin typeface="Calibri"/>
              </a:rPr>
              <a:t>The Distribution Channel segment categorizes the market by distribution channel. Each sub-category is evaluated on market size, growth outlook and adoption trends across the forecast period.</a:t>
            </a:r>
          </a:p>
        </p:txBody>
      </p:sp>
      <p:sp>
        <p:nvSpPr>
          <p:cNvPr id="11" name="Rectangle 10"/>
          <p:cNvSpPr/>
          <p:nvPr/>
        </p:nvSpPr>
        <p:spPr>
          <a:xfrm>
            <a:off x="323850" y="1773916"/>
            <a:ext cx="1428750" cy="438089"/>
          </a:xfrm>
          <a:prstGeom prst="rect">
            <a:avLst/>
          </a:prstGeom>
          <a:solidFill>
            <a:srgbClr val="EEF3F7"/>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409575" y="1773916"/>
            <a:ext cx="1295400" cy="438089"/>
          </a:xfrm>
          <a:prstGeom prst="rect">
            <a:avLst/>
          </a:prstGeom>
          <a:noFill/>
        </p:spPr>
        <p:txBody>
          <a:bodyPr wrap="square" lIns="28575" rIns="28575" tIns="9525" bIns="9525" anchor="ctr">
            <a:spAutoFit/>
          </a:bodyPr>
          <a:lstStyle/>
          <a:p>
            <a:pPr algn="l"/>
            <a:r>
              <a:rPr sz="1100" b="1">
                <a:solidFill>
                  <a:srgbClr val="0B2E4A"/>
                </a:solidFill>
                <a:latin typeface="Calibri"/>
              </a:rPr>
              <a:t>Sub-Segment</a:t>
            </a:r>
          </a:p>
        </p:txBody>
      </p:sp>
      <p:sp>
        <p:nvSpPr>
          <p:cNvPr id="13" name="Rectangle 12"/>
          <p:cNvSpPr/>
          <p:nvPr/>
        </p:nvSpPr>
        <p:spPr>
          <a:xfrm>
            <a:off x="323850" y="22302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09575" y="22302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2026 Value (US$ Mn)</a:t>
            </a:r>
          </a:p>
        </p:txBody>
      </p:sp>
      <p:sp>
        <p:nvSpPr>
          <p:cNvPr id="15" name="Rectangle 14"/>
          <p:cNvSpPr/>
          <p:nvPr/>
        </p:nvSpPr>
        <p:spPr>
          <a:xfrm>
            <a:off x="323850" y="272310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409575" y="272310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2036 Value (US$ Mn)</a:t>
            </a:r>
          </a:p>
        </p:txBody>
      </p:sp>
      <p:sp>
        <p:nvSpPr>
          <p:cNvPr id="17" name="Rectangle 16"/>
          <p:cNvSpPr/>
          <p:nvPr/>
        </p:nvSpPr>
        <p:spPr>
          <a:xfrm>
            <a:off x="323850" y="3215959"/>
            <a:ext cx="1428750" cy="474596"/>
          </a:xfrm>
          <a:prstGeom prst="rect">
            <a:avLst/>
          </a:prstGeom>
          <a:solidFill>
            <a:srgbClr val="F7FAFC"/>
          </a:solidFill>
          <a:ln w="6350">
            <a:solidFill>
              <a:srgbClr val="E1E8E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409575" y="3215959"/>
            <a:ext cx="1295400" cy="474596"/>
          </a:xfrm>
          <a:prstGeom prst="rect">
            <a:avLst/>
          </a:prstGeom>
          <a:noFill/>
        </p:spPr>
        <p:txBody>
          <a:bodyPr wrap="square" lIns="28575" rIns="28575" tIns="9525" bIns="9525" anchor="ctr">
            <a:spAutoFit/>
          </a:bodyPr>
          <a:lstStyle/>
          <a:p>
            <a:pPr algn="l"/>
            <a:r>
              <a:rPr sz="1100" b="0">
                <a:solidFill>
                  <a:srgbClr val="6C7A89"/>
                </a:solidFill>
                <a:latin typeface="Calibri"/>
              </a:rPr>
              <a:t>CAGR (2026–2036)</a:t>
            </a:r>
          </a:p>
        </p:txBody>
      </p:sp>
      <p:sp>
        <p:nvSpPr>
          <p:cNvPr id="19" name="Rounded Rectangle 18"/>
          <p:cNvSpPr/>
          <p:nvPr/>
        </p:nvSpPr>
        <p:spPr>
          <a:xfrm>
            <a:off x="1866900" y="1773916"/>
            <a:ext cx="1330779" cy="438089"/>
          </a:xfrm>
          <a:prstGeom prst="roundRect">
            <a:avLst>
              <a:gd name="adj" fmla="val 18000"/>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866900" y="1992961"/>
            <a:ext cx="1330779" cy="21904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905000"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Supermarkets and Hypermarkets</a:t>
            </a:r>
          </a:p>
        </p:txBody>
      </p:sp>
      <p:sp>
        <p:nvSpPr>
          <p:cNvPr id="22" name="Rectangle 21"/>
          <p:cNvSpPr/>
          <p:nvPr/>
        </p:nvSpPr>
        <p:spPr>
          <a:xfrm>
            <a:off x="1866900"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3" name="Rectangle 22"/>
          <p:cNvSpPr/>
          <p:nvPr/>
        </p:nvSpPr>
        <p:spPr>
          <a:xfrm>
            <a:off x="1866900"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4" name="Rectangle 23"/>
          <p:cNvSpPr/>
          <p:nvPr/>
        </p:nvSpPr>
        <p:spPr>
          <a:xfrm>
            <a:off x="1866900"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B2E4A"/>
                </a:solidFill>
                <a:latin typeface="Calibri"/>
              </a:rPr>
              <a:t/>
            </a:r>
          </a:p>
        </p:txBody>
      </p:sp>
      <p:sp>
        <p:nvSpPr>
          <p:cNvPr id="25" name="Oval 24"/>
          <p:cNvSpPr/>
          <p:nvPr/>
        </p:nvSpPr>
        <p:spPr>
          <a:xfrm>
            <a:off x="2370364" y="1445350"/>
            <a:ext cx="323850" cy="310313"/>
          </a:xfrm>
          <a:prstGeom prst="ellipse">
            <a:avLst/>
          </a:prstGeom>
          <a:solidFill>
            <a:srgbClr val="0B2E4A"/>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1</a:t>
            </a:r>
          </a:p>
        </p:txBody>
      </p:sp>
      <p:sp>
        <p:nvSpPr>
          <p:cNvPr id="26" name="Rounded Rectangle 25"/>
          <p:cNvSpPr/>
          <p:nvPr/>
        </p:nvSpPr>
        <p:spPr>
          <a:xfrm>
            <a:off x="3311979" y="1773916"/>
            <a:ext cx="1330779" cy="438089"/>
          </a:xfrm>
          <a:prstGeom prst="roundRect">
            <a:avLst>
              <a:gd name="adj" fmla="val 18000"/>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Rectangle 26"/>
          <p:cNvSpPr/>
          <p:nvPr/>
        </p:nvSpPr>
        <p:spPr>
          <a:xfrm>
            <a:off x="3311979" y="1992961"/>
            <a:ext cx="1330779" cy="21904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3350079"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Convenience Stores</a:t>
            </a:r>
          </a:p>
        </p:txBody>
      </p:sp>
      <p:sp>
        <p:nvSpPr>
          <p:cNvPr id="29" name="Rectangle 28"/>
          <p:cNvSpPr/>
          <p:nvPr/>
        </p:nvSpPr>
        <p:spPr>
          <a:xfrm>
            <a:off x="3311979"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0" name="Rectangle 29"/>
          <p:cNvSpPr/>
          <p:nvPr/>
        </p:nvSpPr>
        <p:spPr>
          <a:xfrm>
            <a:off x="3311979"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1" name="Rectangle 30"/>
          <p:cNvSpPr/>
          <p:nvPr/>
        </p:nvSpPr>
        <p:spPr>
          <a:xfrm>
            <a:off x="3311979"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E72AE"/>
                </a:solidFill>
                <a:latin typeface="Calibri"/>
              </a:rPr>
              <a:t/>
            </a:r>
          </a:p>
        </p:txBody>
      </p:sp>
      <p:sp>
        <p:nvSpPr>
          <p:cNvPr id="32" name="Oval 31"/>
          <p:cNvSpPr/>
          <p:nvPr/>
        </p:nvSpPr>
        <p:spPr>
          <a:xfrm>
            <a:off x="3815443" y="1445350"/>
            <a:ext cx="323850" cy="310313"/>
          </a:xfrm>
          <a:prstGeom prst="ellipse">
            <a:avLst/>
          </a:prstGeom>
          <a:solidFill>
            <a:srgbClr val="0E72AE"/>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2</a:t>
            </a:r>
          </a:p>
        </p:txBody>
      </p:sp>
      <p:sp>
        <p:nvSpPr>
          <p:cNvPr id="33" name="Rounded Rectangle 32"/>
          <p:cNvSpPr/>
          <p:nvPr/>
        </p:nvSpPr>
        <p:spPr>
          <a:xfrm>
            <a:off x="4757057" y="1773916"/>
            <a:ext cx="1330779" cy="438089"/>
          </a:xfrm>
          <a:prstGeom prst="roundRect">
            <a:avLst>
              <a:gd name="adj" fmla="val 18000"/>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ectangle 33"/>
          <p:cNvSpPr/>
          <p:nvPr/>
        </p:nvSpPr>
        <p:spPr>
          <a:xfrm>
            <a:off x="4757057" y="1992961"/>
            <a:ext cx="1330779" cy="21904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795157"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Specialty Tea and Health Food Sto…</a:t>
            </a:r>
          </a:p>
        </p:txBody>
      </p:sp>
      <p:sp>
        <p:nvSpPr>
          <p:cNvPr id="36" name="Rectangle 35"/>
          <p:cNvSpPr/>
          <p:nvPr/>
        </p:nvSpPr>
        <p:spPr>
          <a:xfrm>
            <a:off x="4757057"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7" name="Rectangle 36"/>
          <p:cNvSpPr/>
          <p:nvPr/>
        </p:nvSpPr>
        <p:spPr>
          <a:xfrm>
            <a:off x="4757057"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8" name="Rectangle 37"/>
          <p:cNvSpPr/>
          <p:nvPr/>
        </p:nvSpPr>
        <p:spPr>
          <a:xfrm>
            <a:off x="4757057"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008189"/>
                </a:solidFill>
                <a:latin typeface="Calibri"/>
              </a:rPr>
              <a:t/>
            </a:r>
          </a:p>
        </p:txBody>
      </p:sp>
      <p:sp>
        <p:nvSpPr>
          <p:cNvPr id="39" name="Oval 38"/>
          <p:cNvSpPr/>
          <p:nvPr/>
        </p:nvSpPr>
        <p:spPr>
          <a:xfrm>
            <a:off x="5260521" y="1445350"/>
            <a:ext cx="323850" cy="310313"/>
          </a:xfrm>
          <a:prstGeom prst="ellipse">
            <a:avLst/>
          </a:prstGeom>
          <a:solidFill>
            <a:srgbClr val="0081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3</a:t>
            </a:r>
          </a:p>
        </p:txBody>
      </p:sp>
      <p:sp>
        <p:nvSpPr>
          <p:cNvPr id="40" name="Rounded Rectangle 39"/>
          <p:cNvSpPr/>
          <p:nvPr/>
        </p:nvSpPr>
        <p:spPr>
          <a:xfrm>
            <a:off x="6202136" y="1773916"/>
            <a:ext cx="1330779" cy="438089"/>
          </a:xfrm>
          <a:prstGeom prst="roundRect">
            <a:avLst>
              <a:gd name="adj" fmla="val 18000"/>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Rectangle 40"/>
          <p:cNvSpPr/>
          <p:nvPr/>
        </p:nvSpPr>
        <p:spPr>
          <a:xfrm>
            <a:off x="6202136" y="1992961"/>
            <a:ext cx="1330779" cy="21904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6240236"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Online Retail</a:t>
            </a:r>
          </a:p>
        </p:txBody>
      </p:sp>
      <p:sp>
        <p:nvSpPr>
          <p:cNvPr id="43" name="Rectangle 42"/>
          <p:cNvSpPr/>
          <p:nvPr/>
        </p:nvSpPr>
        <p:spPr>
          <a:xfrm>
            <a:off x="6202136"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4" name="Rectangle 43"/>
          <p:cNvSpPr/>
          <p:nvPr/>
        </p:nvSpPr>
        <p:spPr>
          <a:xfrm>
            <a:off x="6202136"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5" name="Rectangle 44"/>
          <p:cNvSpPr/>
          <p:nvPr/>
        </p:nvSpPr>
        <p:spPr>
          <a:xfrm>
            <a:off x="6202136"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F3CC2"/>
                </a:solidFill>
                <a:latin typeface="Calibri"/>
              </a:rPr>
              <a:t/>
            </a:r>
          </a:p>
        </p:txBody>
      </p:sp>
      <p:sp>
        <p:nvSpPr>
          <p:cNvPr id="46" name="Oval 45"/>
          <p:cNvSpPr/>
          <p:nvPr/>
        </p:nvSpPr>
        <p:spPr>
          <a:xfrm>
            <a:off x="6705600" y="1445350"/>
            <a:ext cx="323850" cy="310313"/>
          </a:xfrm>
          <a:prstGeom prst="ellipse">
            <a:avLst/>
          </a:prstGeom>
          <a:solidFill>
            <a:srgbClr val="6F3CC2"/>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4</a:t>
            </a:r>
          </a:p>
        </p:txBody>
      </p:sp>
      <p:sp>
        <p:nvSpPr>
          <p:cNvPr id="47" name="Rounded Rectangle 46"/>
          <p:cNvSpPr/>
          <p:nvPr/>
        </p:nvSpPr>
        <p:spPr>
          <a:xfrm>
            <a:off x="7647214" y="1773916"/>
            <a:ext cx="1330779" cy="438089"/>
          </a:xfrm>
          <a:prstGeom prst="roundRect">
            <a:avLst>
              <a:gd name="adj" fmla="val 18000"/>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7647214" y="1992961"/>
            <a:ext cx="1330779" cy="21904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7685314"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B2B / Institutional and Ingredien…</a:t>
            </a:r>
          </a:p>
        </p:txBody>
      </p:sp>
      <p:sp>
        <p:nvSpPr>
          <p:cNvPr id="50" name="Rectangle 49"/>
          <p:cNvSpPr/>
          <p:nvPr/>
        </p:nvSpPr>
        <p:spPr>
          <a:xfrm>
            <a:off x="7647214"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1" name="Rectangle 50"/>
          <p:cNvSpPr/>
          <p:nvPr/>
        </p:nvSpPr>
        <p:spPr>
          <a:xfrm>
            <a:off x="7647214"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2" name="Rectangle 51"/>
          <p:cNvSpPr/>
          <p:nvPr/>
        </p:nvSpPr>
        <p:spPr>
          <a:xfrm>
            <a:off x="7647214"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86F00"/>
                </a:solidFill>
                <a:latin typeface="Calibri"/>
              </a:rPr>
              <a:t/>
            </a:r>
          </a:p>
        </p:txBody>
      </p:sp>
      <p:sp>
        <p:nvSpPr>
          <p:cNvPr id="53" name="Oval 52"/>
          <p:cNvSpPr/>
          <p:nvPr/>
        </p:nvSpPr>
        <p:spPr>
          <a:xfrm>
            <a:off x="8150679" y="1445350"/>
            <a:ext cx="323850" cy="310313"/>
          </a:xfrm>
          <a:prstGeom prst="ellipse">
            <a:avLst/>
          </a:prstGeom>
          <a:solidFill>
            <a:srgbClr val="A86F00"/>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5</a:t>
            </a:r>
          </a:p>
        </p:txBody>
      </p:sp>
      <p:sp>
        <p:nvSpPr>
          <p:cNvPr id="54" name="Rounded Rectangle 53"/>
          <p:cNvSpPr/>
          <p:nvPr/>
        </p:nvSpPr>
        <p:spPr>
          <a:xfrm>
            <a:off x="9092293" y="1773916"/>
            <a:ext cx="1330779" cy="438089"/>
          </a:xfrm>
          <a:prstGeom prst="roundRect">
            <a:avLst>
              <a:gd name="adj" fmla="val 18000"/>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Rectangle 54"/>
          <p:cNvSpPr/>
          <p:nvPr/>
        </p:nvSpPr>
        <p:spPr>
          <a:xfrm>
            <a:off x="9092293" y="1992961"/>
            <a:ext cx="1330779" cy="21904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9130393"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Foodservice and HoReCa</a:t>
            </a:r>
          </a:p>
        </p:txBody>
      </p:sp>
      <p:sp>
        <p:nvSpPr>
          <p:cNvPr id="57" name="Rectangle 56"/>
          <p:cNvSpPr/>
          <p:nvPr/>
        </p:nvSpPr>
        <p:spPr>
          <a:xfrm>
            <a:off x="9092293"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8" name="Rectangle 57"/>
          <p:cNvSpPr/>
          <p:nvPr/>
        </p:nvSpPr>
        <p:spPr>
          <a:xfrm>
            <a:off x="9092293"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59" name="Rectangle 58"/>
          <p:cNvSpPr/>
          <p:nvPr/>
        </p:nvSpPr>
        <p:spPr>
          <a:xfrm>
            <a:off x="9092293"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A35313"/>
                </a:solidFill>
                <a:latin typeface="Calibri"/>
              </a:rPr>
              <a:t/>
            </a:r>
          </a:p>
        </p:txBody>
      </p:sp>
      <p:sp>
        <p:nvSpPr>
          <p:cNvPr id="60" name="Oval 59"/>
          <p:cNvSpPr/>
          <p:nvPr/>
        </p:nvSpPr>
        <p:spPr>
          <a:xfrm>
            <a:off x="9595757" y="1445350"/>
            <a:ext cx="323850" cy="310313"/>
          </a:xfrm>
          <a:prstGeom prst="ellipse">
            <a:avLst/>
          </a:prstGeom>
          <a:solidFill>
            <a:srgbClr val="A35313"/>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6</a:t>
            </a:r>
          </a:p>
        </p:txBody>
      </p:sp>
      <p:sp>
        <p:nvSpPr>
          <p:cNvPr id="61" name="Rounded Rectangle 60"/>
          <p:cNvSpPr/>
          <p:nvPr/>
        </p:nvSpPr>
        <p:spPr>
          <a:xfrm>
            <a:off x="10537371" y="1773916"/>
            <a:ext cx="1330779" cy="438089"/>
          </a:xfrm>
          <a:prstGeom prst="roundRect">
            <a:avLst>
              <a:gd name="adj" fmla="val 18000"/>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10537371" y="1992961"/>
            <a:ext cx="1330779" cy="219044"/>
          </a:xfrm>
          <a:prstGeom prst="rect">
            <a:avLst/>
          </a:prstGeom>
          <a:solidFill>
            <a:srgbClr val="6C7A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10575471" y="1773916"/>
            <a:ext cx="1254579" cy="438089"/>
          </a:xfrm>
          <a:prstGeom prst="rect">
            <a:avLst/>
          </a:prstGeom>
          <a:noFill/>
        </p:spPr>
        <p:txBody>
          <a:bodyPr wrap="square" lIns="28575" rIns="28575" tIns="9525" bIns="9525" anchor="ctr">
            <a:spAutoFit/>
          </a:bodyPr>
          <a:lstStyle/>
          <a:p>
            <a:pPr algn="ctr"/>
            <a:r>
              <a:rPr sz="1100" b="1">
                <a:solidFill>
                  <a:srgbClr val="FFFFFF"/>
                </a:solidFill>
                <a:latin typeface="Calibri"/>
              </a:rPr>
              <a:t>Other Retail Channels</a:t>
            </a:r>
          </a:p>
        </p:txBody>
      </p:sp>
      <p:sp>
        <p:nvSpPr>
          <p:cNvPr id="64" name="Rectangle 63"/>
          <p:cNvSpPr/>
          <p:nvPr/>
        </p:nvSpPr>
        <p:spPr>
          <a:xfrm>
            <a:off x="10537371" y="22302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5" name="Rectangle 64"/>
          <p:cNvSpPr/>
          <p:nvPr/>
        </p:nvSpPr>
        <p:spPr>
          <a:xfrm>
            <a:off x="10537371" y="2723109"/>
            <a:ext cx="1330779" cy="474596"/>
          </a:xfrm>
          <a:prstGeom prst="rect">
            <a:avLst/>
          </a:prstGeom>
          <a:solidFill>
            <a:srgbClr val="F5F8FB"/>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6" name="Rectangle 65"/>
          <p:cNvSpPr/>
          <p:nvPr/>
        </p:nvSpPr>
        <p:spPr>
          <a:xfrm>
            <a:off x="10537371" y="3215959"/>
            <a:ext cx="1330779" cy="474596"/>
          </a:xfrm>
          <a:prstGeom prst="rect">
            <a:avLst/>
          </a:prstGeom>
          <a:solidFill>
            <a:srgbClr val="FFFFFF"/>
          </a:solidFill>
          <a:ln w="6350">
            <a:solidFill>
              <a:srgbClr val="E6ECF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500" b="1">
                <a:solidFill>
                  <a:srgbClr val="6C7A89"/>
                </a:solidFill>
                <a:latin typeface="Calibri"/>
              </a:rPr>
              <a:t/>
            </a:r>
          </a:p>
        </p:txBody>
      </p:sp>
      <p:sp>
        <p:nvSpPr>
          <p:cNvPr id="67" name="Oval 66"/>
          <p:cNvSpPr/>
          <p:nvPr/>
        </p:nvSpPr>
        <p:spPr>
          <a:xfrm>
            <a:off x="11040836" y="1445350"/>
            <a:ext cx="323850" cy="310313"/>
          </a:xfrm>
          <a:prstGeom prst="ellipse">
            <a:avLst/>
          </a:prstGeom>
          <a:solidFill>
            <a:srgbClr val="6C7A89"/>
          </a:solidFill>
          <a:ln w="31750">
            <a:solidFill>
              <a:srgbClr val="EAF2F8"/>
            </a:solidFill>
          </a:ln>
          <a:effectLst/>
        </p:spPr>
        <p:style>
          <a:lnRef idx="1">
            <a:schemeClr val="accent1"/>
          </a:lnRef>
          <a:fillRef idx="3">
            <a:schemeClr val="accent1"/>
          </a:fillRef>
          <a:effectRef idx="2">
            <a:schemeClr val="accent1"/>
          </a:effectRef>
          <a:fontRef idx="minor">
            <a:schemeClr val="lt1"/>
          </a:fontRef>
        </p:style>
        <p:txBody>
          <a:bodyPr rtlCol="0" anchor="ctr" wrap="none" lIns="0" rIns="0" tIns="0" bIns="0"/>
          <a:lstStyle/>
          <a:p>
            <a:pPr algn="ctr"/>
            <a:r>
              <a:rPr sz="1500" b="1">
                <a:solidFill>
                  <a:srgbClr val="FFFFFF"/>
                </a:solidFill>
                <a:latin typeface="Calibri"/>
              </a:rPr>
              <a:t>7</a:t>
            </a:r>
          </a:p>
        </p:txBody>
      </p:sp>
      <p:sp>
        <p:nvSpPr>
          <p:cNvPr id="68" name="Rounded Rectangle 67"/>
          <p:cNvSpPr/>
          <p:nvPr/>
        </p:nvSpPr>
        <p:spPr>
          <a:xfrm>
            <a:off x="323850" y="3854838"/>
            <a:ext cx="323850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57200" y="3946106"/>
            <a:ext cx="2971800" cy="182537"/>
          </a:xfrm>
          <a:prstGeom prst="rect">
            <a:avLst/>
          </a:prstGeom>
          <a:noFill/>
        </p:spPr>
        <p:txBody>
          <a:bodyPr wrap="square" lIns="28575" rIns="28575" tIns="9525" bIns="9525">
            <a:spAutoFit/>
          </a:bodyPr>
          <a:lstStyle/>
          <a:p>
            <a:pPr algn="l"/>
            <a:r>
              <a:rPr sz="1250" b="1">
                <a:solidFill>
                  <a:srgbClr val="0B2E4A"/>
                </a:solidFill>
                <a:latin typeface="Calibri"/>
              </a:rPr>
              <a:t>Key Highlights</a:t>
            </a:r>
          </a:p>
        </p:txBody>
      </p:sp>
      <p:sp>
        <p:nvSpPr>
          <p:cNvPr id="70" name="Rectangle 69"/>
          <p:cNvSpPr/>
          <p:nvPr/>
        </p:nvSpPr>
        <p:spPr>
          <a:xfrm>
            <a:off x="457200" y="4146897"/>
            <a:ext cx="29718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57200" y="4219912"/>
            <a:ext cx="297180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0">
                <a:solidFill>
                  <a:srgbClr val="2E2E2E"/>
                </a:solidFill>
                <a:latin typeface="Calibri"/>
              </a:rPr>
              <a:t/>
            </a:r>
          </a:p>
          <a:p>
            <a:pPr algn="l">
              <a:lnSpc>
                <a:spcPct val="110000"/>
              </a:lnSpc>
              <a:spcBef>
                <a:spcPts val="0"/>
              </a:spcBef>
              <a:spcAft>
                <a:spcPts val="500"/>
              </a:spcAft>
            </a:pPr>
            <a:r>
              <a:rPr sz="1100" b="0">
                <a:solidFill>
                  <a:srgbClr val="2E2E2E"/>
                </a:solidFill>
                <a:latin typeface="Calibri"/>
              </a:rPr>
              <a:t/>
            </a:r>
          </a:p>
        </p:txBody>
      </p:sp>
      <p:sp>
        <p:nvSpPr>
          <p:cNvPr id="72" name="Rounded Rectangle 71"/>
          <p:cNvSpPr/>
          <p:nvPr/>
        </p:nvSpPr>
        <p:spPr>
          <a:xfrm>
            <a:off x="3676650" y="3854838"/>
            <a:ext cx="4476750" cy="2573771"/>
          </a:xfrm>
          <a:prstGeom prst="roundRect">
            <a:avLst>
              <a:gd name="adj" fmla="val 3000"/>
            </a:avLst>
          </a:prstGeom>
          <a:solidFill>
            <a:srgbClr val="FFFFFF"/>
          </a:solidFill>
          <a:ln w="9525">
            <a:solidFill>
              <a:srgbClr val="DCE6E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3810000" y="3946106"/>
            <a:ext cx="4210050" cy="182537"/>
          </a:xfrm>
          <a:prstGeom prst="rect">
            <a:avLst/>
          </a:prstGeom>
          <a:noFill/>
        </p:spPr>
        <p:txBody>
          <a:bodyPr wrap="square" lIns="28575" rIns="28575" tIns="9525" bIns="9525">
            <a:spAutoFit/>
          </a:bodyPr>
          <a:lstStyle/>
          <a:p>
            <a:pPr algn="l"/>
            <a:r>
              <a:rPr sz="1250" b="1">
                <a:solidFill>
                  <a:srgbClr val="0B2E4A"/>
                </a:solidFill>
                <a:latin typeface="Calibri"/>
              </a:rPr>
              <a:t>Sub-Segment Insights</a:t>
            </a:r>
          </a:p>
        </p:txBody>
      </p:sp>
      <p:sp>
        <p:nvSpPr>
          <p:cNvPr id="74" name="Rectangle 73"/>
          <p:cNvSpPr/>
          <p:nvPr/>
        </p:nvSpPr>
        <p:spPr>
          <a:xfrm>
            <a:off x="3810000" y="4146897"/>
            <a:ext cx="42100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810000" y="4219912"/>
            <a:ext cx="4210050" cy="2117429"/>
          </a:xfrm>
          <a:prstGeom prst="rect">
            <a:avLst/>
          </a:prstGeom>
          <a:noFill/>
        </p:spPr>
        <p:txBody>
          <a:bodyPr wrap="square" lIns="28575" rIns="28575" tIns="9525" bIns="9525">
            <a:spAutoFit/>
          </a:bodyPr>
          <a:lstStyle/>
          <a:p>
            <a:pPr algn="l">
              <a:lnSpc>
                <a:spcPct val="105000"/>
              </a:lnSpc>
              <a:spcBef>
                <a:spcPts val="0"/>
              </a:spcBef>
              <a:spcAft>
                <a:spcPts val="300"/>
              </a:spcAft>
            </a:pPr>
            <a:r>
              <a:rPr sz="1100" b="0">
                <a:solidFill>
                  <a:srgbClr val="0B2E4A"/>
                </a:solidFill>
                <a:latin typeface="Calibri"/>
              </a:rPr>
              <a:t/>
            </a:r>
            <a:r>
              <a:rPr sz="1100" b="1">
                <a:solidFill>
                  <a:srgbClr val="0B2E4A"/>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E72AE"/>
                </a:solidFill>
                <a:latin typeface="Calibri"/>
              </a:rPr>
              <a:t/>
            </a:r>
            <a:r>
              <a:rPr sz="1100" b="1">
                <a:solidFill>
                  <a:srgbClr val="0E72AE"/>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008189"/>
                </a:solidFill>
                <a:latin typeface="Calibri"/>
              </a:rPr>
              <a:t/>
            </a:r>
            <a:r>
              <a:rPr sz="1100" b="1">
                <a:solidFill>
                  <a:srgbClr val="008189"/>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6F3CC2"/>
                </a:solidFill>
                <a:latin typeface="Calibri"/>
              </a:rPr>
              <a:t/>
            </a:r>
            <a:r>
              <a:rPr sz="1100" b="1">
                <a:solidFill>
                  <a:srgbClr val="6F3CC2"/>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A86F00"/>
                </a:solidFill>
                <a:latin typeface="Calibri"/>
              </a:rPr>
              <a:t/>
            </a:r>
            <a:r>
              <a:rPr sz="1100" b="1">
                <a:solidFill>
                  <a:srgbClr val="A86F00"/>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A35313"/>
                </a:solidFill>
                <a:latin typeface="Calibri"/>
              </a:rPr>
              <a:t/>
            </a:r>
            <a:r>
              <a:rPr sz="1100" b="1">
                <a:solidFill>
                  <a:srgbClr val="A35313"/>
                </a:solidFill>
                <a:latin typeface="Calibri"/>
              </a:rPr>
              <a:t/>
            </a:r>
            <a:r>
              <a:rPr sz="1100" b="0">
                <a:solidFill>
                  <a:srgbClr val="2E2E2E"/>
                </a:solidFill>
                <a:latin typeface="Calibri"/>
              </a:rPr>
              <a:t/>
            </a:r>
          </a:p>
          <a:p>
            <a:pPr algn="l">
              <a:lnSpc>
                <a:spcPct val="105000"/>
              </a:lnSpc>
              <a:spcBef>
                <a:spcPts val="0"/>
              </a:spcBef>
              <a:spcAft>
                <a:spcPts val="300"/>
              </a:spcAft>
            </a:pPr>
            <a:r>
              <a:rPr sz="1100" b="0">
                <a:solidFill>
                  <a:srgbClr val="6C7A89"/>
                </a:solidFill>
                <a:latin typeface="Calibri"/>
              </a:rPr>
              <a:t/>
            </a:r>
            <a:r>
              <a:rPr sz="1100" b="1">
                <a:solidFill>
                  <a:srgbClr val="6C7A89"/>
                </a:solidFill>
                <a:latin typeface="Calibri"/>
              </a:rPr>
              <a:t/>
            </a:r>
            <a:r>
              <a:rPr sz="1100" b="0">
                <a:solidFill>
                  <a:srgbClr val="2E2E2E"/>
                </a:solidFill>
                <a:latin typeface="Calibri"/>
              </a:rPr>
              <a:t/>
            </a:r>
          </a:p>
        </p:txBody>
      </p:sp>
      <p:sp>
        <p:nvSpPr>
          <p:cNvPr id="76" name="Rounded Rectangle 75"/>
          <p:cNvSpPr/>
          <p:nvPr/>
        </p:nvSpPr>
        <p:spPr>
          <a:xfrm>
            <a:off x="8267700" y="3854838"/>
            <a:ext cx="3600450" cy="2573771"/>
          </a:xfrm>
          <a:prstGeom prst="roundRect">
            <a:avLst>
              <a:gd name="adj" fmla="val 3000"/>
            </a:avLst>
          </a:prstGeom>
          <a:solidFill>
            <a:srgbClr val="EAF3FB"/>
          </a:solidFill>
          <a:ln w="9525">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8401050" y="3946106"/>
            <a:ext cx="3333750" cy="182537"/>
          </a:xfrm>
          <a:prstGeom prst="rect">
            <a:avLst/>
          </a:prstGeom>
          <a:noFill/>
        </p:spPr>
        <p:txBody>
          <a:bodyPr wrap="square" lIns="28575" rIns="28575" tIns="9525" bIns="9525">
            <a:spAutoFit/>
          </a:bodyPr>
          <a:lstStyle/>
          <a:p>
            <a:pPr algn="l"/>
            <a:r>
              <a:rPr sz="1250" b="1">
                <a:solidFill>
                  <a:srgbClr val="0B2E4A"/>
                </a:solidFill>
                <a:latin typeface="Calibri"/>
              </a:rPr>
              <a:t>Segment Overview</a:t>
            </a:r>
          </a:p>
        </p:txBody>
      </p:sp>
      <p:sp>
        <p:nvSpPr>
          <p:cNvPr id="78" name="Rectangle 77"/>
          <p:cNvSpPr/>
          <p:nvPr/>
        </p:nvSpPr>
        <p:spPr>
          <a:xfrm>
            <a:off x="8401050" y="4146897"/>
            <a:ext cx="333375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401050" y="4219912"/>
            <a:ext cx="3333750" cy="2117429"/>
          </a:xfrm>
          <a:prstGeom prst="rect">
            <a:avLst/>
          </a:prstGeom>
          <a:noFill/>
        </p:spPr>
        <p:txBody>
          <a:bodyPr wrap="square" lIns="28575" rIns="28575" tIns="9525" bIns="9525">
            <a:spAutoFit/>
          </a:bodyPr>
          <a:lstStyle/>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The Distribution Channel split shows how demand is distributed across distribution channel types and where growth concentrates.</a:t>
            </a:r>
          </a:p>
          <a:p>
            <a:pPr algn="l">
              <a:lnSpc>
                <a:spcPct val="110000"/>
              </a:lnSpc>
              <a:spcBef>
                <a:spcPts val="0"/>
              </a:spcBef>
              <a:spcAft>
                <a:spcPts val="500"/>
              </a:spcAft>
            </a:pPr>
            <a:r>
              <a:rPr sz="1100" b="1">
                <a:solidFill>
                  <a:srgbClr val="008189"/>
                </a:solidFill>
                <a:latin typeface="Calibri"/>
              </a:rPr>
              <a:t>✓  </a:t>
            </a:r>
            <a:r>
              <a:rPr sz="1100" b="0">
                <a:solidFill>
                  <a:srgbClr val="2E2E2E"/>
                </a:solidFill>
                <a:latin typeface="Calibri"/>
              </a:rPr>
              <a:t>Shifting preferences and product innovation are reshaping the mix through 2036.</a:t>
            </a:r>
          </a:p>
        </p:txBody>
      </p:sp>
      <p:sp>
        <p:nvSpPr>
          <p:cNvPr id="80" name="Rectangle 79"/>
          <p:cNvSpPr/>
          <p:nvPr/>
        </p:nvSpPr>
        <p:spPr>
          <a:xfrm>
            <a:off x="8401050" y="5753223"/>
            <a:ext cx="3333750" cy="529357"/>
          </a:xfrm>
          <a:prstGeom prst="rect">
            <a:avLst/>
          </a:prstGeom>
          <a:solidFill>
            <a:srgbClr val="FFFFFF"/>
          </a:solidFill>
          <a:ln w="6350">
            <a:solidFill>
              <a:srgbClr val="CFE2F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8496300" y="5789730"/>
            <a:ext cx="3219450" cy="456342"/>
          </a:xfrm>
          <a:prstGeom prst="rect">
            <a:avLst/>
          </a:prstGeom>
          <a:noFill/>
        </p:spPr>
        <p:txBody>
          <a:bodyPr wrap="square" lIns="28575" rIns="28575" tIns="9525" bIns="9525" anchor="ctr">
            <a:spAutoFit/>
          </a:bodyPr>
          <a:lstStyle/>
          <a:p>
            <a:pPr algn="l"/>
            <a:r>
              <a:rPr sz="1150" b="1">
                <a:solidFill>
                  <a:srgbClr val="0B2E4A"/>
                </a:solidFill>
                <a:latin typeface="Calibri"/>
              </a:rPr>
              <a:t/>
            </a:r>
          </a:p>
        </p:txBody>
      </p:sp>
      <p:sp>
        <p:nvSpPr>
          <p:cNvPr id="82" name="TextBox 81"/>
          <p:cNvSpPr txBox="1"/>
          <p:nvPr/>
        </p:nvSpPr>
        <p:spPr>
          <a:xfrm>
            <a:off x="323850" y="6446863"/>
            <a:ext cx="3429000" cy="164283"/>
          </a:xfrm>
          <a:prstGeom prst="rect">
            <a:avLst/>
          </a:prstGeom>
          <a:noFill/>
        </p:spPr>
        <p:txBody>
          <a:bodyPr wrap="none">
            <a:spAutoFit/>
          </a:bodyPr>
          <a:lstStyle/>
          <a:p>
            <a:r>
              <a:rPr sz="1100" i="1">
                <a:solidFill>
                  <a:srgbClr val="6C7A89"/>
                </a:solidFill>
                <a:latin typeface="Calibri"/>
              </a:rPr>
              <a:t>Source: FMI Analysis, 2026</a:t>
            </a:r>
          </a:p>
        </p:txBody>
      </p:sp>
      <p:sp>
        <p:nvSpPr>
          <p:cNvPr id="83" name="TextBox 8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4" name="Picture 83" descr="253_4_605E5C.png"/>
          <p:cNvPicPr>
            <a:picLocks noChangeAspect="1"/>
          </p:cNvPicPr>
          <p:nvPr/>
        </p:nvPicPr>
        <p:blipFill>
          <a:blip r:embed="rId4"/>
          <a:stretch>
            <a:fillRect/>
          </a:stretch>
        </p:blipFill>
        <p:spPr>
          <a:xfrm>
            <a:off x="1934425" y="2286582"/>
            <a:ext cx="1195728" cy="361950"/>
          </a:xfrm>
          <a:prstGeom prst="rect">
            <a:avLst/>
          </a:prstGeom>
        </p:spPr>
      </p:pic>
      <p:pic>
        <p:nvPicPr>
          <p:cNvPr id="85" name="Picture 84" descr="478_8_605E5C.png"/>
          <p:cNvPicPr>
            <a:picLocks noChangeAspect="1"/>
          </p:cNvPicPr>
          <p:nvPr/>
        </p:nvPicPr>
        <p:blipFill>
          <a:blip r:embed="rId5"/>
          <a:stretch>
            <a:fillRect/>
          </a:stretch>
        </p:blipFill>
        <p:spPr>
          <a:xfrm>
            <a:off x="1934425" y="2779432"/>
            <a:ext cx="1195728" cy="361950"/>
          </a:xfrm>
          <a:prstGeom prst="rect">
            <a:avLst/>
          </a:prstGeom>
        </p:spPr>
      </p:pic>
      <p:pic>
        <p:nvPicPr>
          <p:cNvPr id="86" name="Picture 85" descr="6_6__605E5C.png"/>
          <p:cNvPicPr>
            <a:picLocks noChangeAspect="1"/>
          </p:cNvPicPr>
          <p:nvPr/>
        </p:nvPicPr>
        <p:blipFill>
          <a:blip r:embed="rId6"/>
          <a:stretch>
            <a:fillRect/>
          </a:stretch>
        </p:blipFill>
        <p:spPr>
          <a:xfrm>
            <a:off x="2041071" y="3272281"/>
            <a:ext cx="982436" cy="361950"/>
          </a:xfrm>
          <a:prstGeom prst="rect">
            <a:avLst/>
          </a:prstGeom>
        </p:spPr>
      </p:pic>
      <p:pic>
        <p:nvPicPr>
          <p:cNvPr id="87" name="Picture 86" descr="229_1_605E5C.png"/>
          <p:cNvPicPr>
            <a:picLocks noChangeAspect="1"/>
          </p:cNvPicPr>
          <p:nvPr/>
        </p:nvPicPr>
        <p:blipFill>
          <a:blip r:embed="rId7"/>
          <a:stretch>
            <a:fillRect/>
          </a:stretch>
        </p:blipFill>
        <p:spPr>
          <a:xfrm>
            <a:off x="3379504" y="2286582"/>
            <a:ext cx="1195728" cy="361950"/>
          </a:xfrm>
          <a:prstGeom prst="rect">
            <a:avLst/>
          </a:prstGeom>
        </p:spPr>
      </p:pic>
      <p:pic>
        <p:nvPicPr>
          <p:cNvPr id="88" name="Picture 87" descr="441_0_605E5C.png"/>
          <p:cNvPicPr>
            <a:picLocks noChangeAspect="1"/>
          </p:cNvPicPr>
          <p:nvPr/>
        </p:nvPicPr>
        <p:blipFill>
          <a:blip r:embed="rId8"/>
          <a:stretch>
            <a:fillRect/>
          </a:stretch>
        </p:blipFill>
        <p:spPr>
          <a:xfrm>
            <a:off x="3379504" y="2779432"/>
            <a:ext cx="1195728" cy="361950"/>
          </a:xfrm>
          <a:prstGeom prst="rect">
            <a:avLst/>
          </a:prstGeom>
        </p:spPr>
      </p:pic>
      <p:pic>
        <p:nvPicPr>
          <p:cNvPr id="89" name="Picture 88" descr="6_8__605E5C.png"/>
          <p:cNvPicPr>
            <a:picLocks noChangeAspect="1"/>
          </p:cNvPicPr>
          <p:nvPr/>
        </p:nvPicPr>
        <p:blipFill>
          <a:blip r:embed="rId9"/>
          <a:stretch>
            <a:fillRect/>
          </a:stretch>
        </p:blipFill>
        <p:spPr>
          <a:xfrm>
            <a:off x="3486150" y="3272281"/>
            <a:ext cx="982436" cy="361950"/>
          </a:xfrm>
          <a:prstGeom prst="rect">
            <a:avLst/>
          </a:prstGeom>
        </p:spPr>
      </p:pic>
      <p:pic>
        <p:nvPicPr>
          <p:cNvPr id="90" name="Picture 89" descr="220_8_605E5C.png"/>
          <p:cNvPicPr>
            <a:picLocks noChangeAspect="1"/>
          </p:cNvPicPr>
          <p:nvPr/>
        </p:nvPicPr>
        <p:blipFill>
          <a:blip r:embed="rId10"/>
          <a:stretch>
            <a:fillRect/>
          </a:stretch>
        </p:blipFill>
        <p:spPr>
          <a:xfrm>
            <a:off x="4824582" y="2286582"/>
            <a:ext cx="1195728" cy="361950"/>
          </a:xfrm>
          <a:prstGeom prst="rect">
            <a:avLst/>
          </a:prstGeom>
        </p:spPr>
      </p:pic>
      <p:pic>
        <p:nvPicPr>
          <p:cNvPr id="91" name="Picture 90" descr="368_8_605E5C.png"/>
          <p:cNvPicPr>
            <a:picLocks noChangeAspect="1"/>
          </p:cNvPicPr>
          <p:nvPr/>
        </p:nvPicPr>
        <p:blipFill>
          <a:blip r:embed="rId11"/>
          <a:stretch>
            <a:fillRect/>
          </a:stretch>
        </p:blipFill>
        <p:spPr>
          <a:xfrm>
            <a:off x="4824582" y="2779432"/>
            <a:ext cx="1195728" cy="361950"/>
          </a:xfrm>
          <a:prstGeom prst="rect">
            <a:avLst/>
          </a:prstGeom>
        </p:spPr>
      </p:pic>
      <p:pic>
        <p:nvPicPr>
          <p:cNvPr id="92" name="Picture 91" descr="5_3__605E5C.png"/>
          <p:cNvPicPr>
            <a:picLocks noChangeAspect="1"/>
          </p:cNvPicPr>
          <p:nvPr/>
        </p:nvPicPr>
        <p:blipFill>
          <a:blip r:embed="rId12"/>
          <a:stretch>
            <a:fillRect/>
          </a:stretch>
        </p:blipFill>
        <p:spPr>
          <a:xfrm>
            <a:off x="4931228" y="3272281"/>
            <a:ext cx="982436" cy="361950"/>
          </a:xfrm>
          <a:prstGeom prst="rect">
            <a:avLst/>
          </a:prstGeom>
        </p:spPr>
      </p:pic>
      <p:pic>
        <p:nvPicPr>
          <p:cNvPr id="93" name="Picture 92" descr="187_4_605E5C.png"/>
          <p:cNvPicPr>
            <a:picLocks noChangeAspect="1"/>
          </p:cNvPicPr>
          <p:nvPr/>
        </p:nvPicPr>
        <p:blipFill>
          <a:blip r:embed="rId13"/>
          <a:stretch>
            <a:fillRect/>
          </a:stretch>
        </p:blipFill>
        <p:spPr>
          <a:xfrm>
            <a:off x="6269661" y="2286582"/>
            <a:ext cx="1195728" cy="361950"/>
          </a:xfrm>
          <a:prstGeom prst="rect">
            <a:avLst/>
          </a:prstGeom>
        </p:spPr>
      </p:pic>
      <p:pic>
        <p:nvPicPr>
          <p:cNvPr id="94" name="Picture 93" descr="319_8_605E5C.png"/>
          <p:cNvPicPr>
            <a:picLocks noChangeAspect="1"/>
          </p:cNvPicPr>
          <p:nvPr/>
        </p:nvPicPr>
        <p:blipFill>
          <a:blip r:embed="rId14"/>
          <a:stretch>
            <a:fillRect/>
          </a:stretch>
        </p:blipFill>
        <p:spPr>
          <a:xfrm>
            <a:off x="6269661" y="2779432"/>
            <a:ext cx="1195728" cy="361950"/>
          </a:xfrm>
          <a:prstGeom prst="rect">
            <a:avLst/>
          </a:prstGeom>
        </p:spPr>
      </p:pic>
      <p:pic>
        <p:nvPicPr>
          <p:cNvPr id="95" name="Picture 94" descr="5_5__605E5C.png"/>
          <p:cNvPicPr>
            <a:picLocks noChangeAspect="1"/>
          </p:cNvPicPr>
          <p:nvPr/>
        </p:nvPicPr>
        <p:blipFill>
          <a:blip r:embed="rId15"/>
          <a:stretch>
            <a:fillRect/>
          </a:stretch>
        </p:blipFill>
        <p:spPr>
          <a:xfrm>
            <a:off x="6376307" y="3272281"/>
            <a:ext cx="982436" cy="361950"/>
          </a:xfrm>
          <a:prstGeom prst="rect">
            <a:avLst/>
          </a:prstGeom>
        </p:spPr>
      </p:pic>
      <p:pic>
        <p:nvPicPr>
          <p:cNvPr id="96" name="Picture 95" descr="83_2_605E5C.png"/>
          <p:cNvPicPr>
            <a:picLocks noChangeAspect="1"/>
          </p:cNvPicPr>
          <p:nvPr/>
        </p:nvPicPr>
        <p:blipFill>
          <a:blip r:embed="rId16"/>
          <a:stretch>
            <a:fillRect/>
          </a:stretch>
        </p:blipFill>
        <p:spPr>
          <a:xfrm>
            <a:off x="7821385" y="2286582"/>
            <a:ext cx="982436" cy="361950"/>
          </a:xfrm>
          <a:prstGeom prst="rect">
            <a:avLst/>
          </a:prstGeom>
        </p:spPr>
      </p:pic>
      <p:pic>
        <p:nvPicPr>
          <p:cNvPr id="97" name="Picture 96" descr="169_5_605E5C.png"/>
          <p:cNvPicPr>
            <a:picLocks noChangeAspect="1"/>
          </p:cNvPicPr>
          <p:nvPr/>
        </p:nvPicPr>
        <p:blipFill>
          <a:blip r:embed="rId17"/>
          <a:stretch>
            <a:fillRect/>
          </a:stretch>
        </p:blipFill>
        <p:spPr>
          <a:xfrm>
            <a:off x="7714739" y="2779432"/>
            <a:ext cx="1195728" cy="361950"/>
          </a:xfrm>
          <a:prstGeom prst="rect">
            <a:avLst/>
          </a:prstGeom>
        </p:spPr>
      </p:pic>
      <p:pic>
        <p:nvPicPr>
          <p:cNvPr id="98" name="Picture 97" descr="7_4__605E5C.png"/>
          <p:cNvPicPr>
            <a:picLocks noChangeAspect="1"/>
          </p:cNvPicPr>
          <p:nvPr/>
        </p:nvPicPr>
        <p:blipFill>
          <a:blip r:embed="rId18"/>
          <a:stretch>
            <a:fillRect/>
          </a:stretch>
        </p:blipFill>
        <p:spPr>
          <a:xfrm>
            <a:off x="7821385" y="3272281"/>
            <a:ext cx="982436" cy="361950"/>
          </a:xfrm>
          <a:prstGeom prst="rect">
            <a:avLst/>
          </a:prstGeom>
        </p:spPr>
      </p:pic>
      <p:pic>
        <p:nvPicPr>
          <p:cNvPr id="99" name="Picture 98" descr="81_3_605E5C.png"/>
          <p:cNvPicPr>
            <a:picLocks noChangeAspect="1"/>
          </p:cNvPicPr>
          <p:nvPr/>
        </p:nvPicPr>
        <p:blipFill>
          <a:blip r:embed="rId19"/>
          <a:stretch>
            <a:fillRect/>
          </a:stretch>
        </p:blipFill>
        <p:spPr>
          <a:xfrm>
            <a:off x="9266464" y="2286582"/>
            <a:ext cx="982436" cy="361950"/>
          </a:xfrm>
          <a:prstGeom prst="rect">
            <a:avLst/>
          </a:prstGeom>
        </p:spPr>
      </p:pic>
      <p:pic>
        <p:nvPicPr>
          <p:cNvPr id="100" name="Picture 99" descr="143_9_605E5C.png"/>
          <p:cNvPicPr>
            <a:picLocks noChangeAspect="1"/>
          </p:cNvPicPr>
          <p:nvPr/>
        </p:nvPicPr>
        <p:blipFill>
          <a:blip r:embed="rId20"/>
          <a:stretch>
            <a:fillRect/>
          </a:stretch>
        </p:blipFill>
        <p:spPr>
          <a:xfrm>
            <a:off x="9159818" y="2779432"/>
            <a:ext cx="1195728" cy="361950"/>
          </a:xfrm>
          <a:prstGeom prst="rect">
            <a:avLst/>
          </a:prstGeom>
        </p:spPr>
      </p:pic>
      <p:pic>
        <p:nvPicPr>
          <p:cNvPr id="101" name="Picture 100" descr="5_9__605E5C.png"/>
          <p:cNvPicPr>
            <a:picLocks noChangeAspect="1"/>
          </p:cNvPicPr>
          <p:nvPr/>
        </p:nvPicPr>
        <p:blipFill>
          <a:blip r:embed="rId21"/>
          <a:stretch>
            <a:fillRect/>
          </a:stretch>
        </p:blipFill>
        <p:spPr>
          <a:xfrm>
            <a:off x="9266464" y="3272281"/>
            <a:ext cx="982436" cy="361950"/>
          </a:xfrm>
          <a:prstGeom prst="rect">
            <a:avLst/>
          </a:prstGeom>
        </p:spPr>
      </p:pic>
      <p:pic>
        <p:nvPicPr>
          <p:cNvPr id="102" name="Picture 101" descr="58_0_605E5C.png"/>
          <p:cNvPicPr>
            <a:picLocks noChangeAspect="1"/>
          </p:cNvPicPr>
          <p:nvPr/>
        </p:nvPicPr>
        <p:blipFill>
          <a:blip r:embed="rId22"/>
          <a:stretch>
            <a:fillRect/>
          </a:stretch>
        </p:blipFill>
        <p:spPr>
          <a:xfrm>
            <a:off x="10711542" y="2286582"/>
            <a:ext cx="982436" cy="361950"/>
          </a:xfrm>
          <a:prstGeom prst="rect">
            <a:avLst/>
          </a:prstGeom>
        </p:spPr>
      </p:pic>
      <p:pic>
        <p:nvPicPr>
          <p:cNvPr id="103" name="Picture 102" descr="104_7_605E5C.png"/>
          <p:cNvPicPr>
            <a:picLocks noChangeAspect="1"/>
          </p:cNvPicPr>
          <p:nvPr/>
        </p:nvPicPr>
        <p:blipFill>
          <a:blip r:embed="rId23"/>
          <a:stretch>
            <a:fillRect/>
          </a:stretch>
        </p:blipFill>
        <p:spPr>
          <a:xfrm>
            <a:off x="10604896" y="2779432"/>
            <a:ext cx="1195728" cy="361950"/>
          </a:xfrm>
          <a:prstGeom prst="rect">
            <a:avLst/>
          </a:prstGeom>
        </p:spPr>
      </p:pic>
      <p:pic>
        <p:nvPicPr>
          <p:cNvPr id="104" name="Picture 103" descr="6_1__605E5C.png"/>
          <p:cNvPicPr>
            <a:picLocks noChangeAspect="1"/>
          </p:cNvPicPr>
          <p:nvPr/>
        </p:nvPicPr>
        <p:blipFill>
          <a:blip r:embed="rId24"/>
          <a:stretch>
            <a:fillRect/>
          </a:stretch>
        </p:blipFill>
        <p:spPr>
          <a:xfrm>
            <a:off x="10711542" y="3272281"/>
            <a:ext cx="982436" cy="361950"/>
          </a:xfrm>
          <a:prstGeom prst="rect">
            <a:avLst/>
          </a:prstGeom>
        </p:spPr>
      </p:pic>
      <p:pic>
        <p:nvPicPr>
          <p:cNvPr id="105" name="Picture 104" descr="lock.png"/>
          <p:cNvPicPr>
            <a:picLocks noChangeAspect="1"/>
          </p:cNvPicPr>
          <p:nvPr/>
        </p:nvPicPr>
        <p:blipFill>
          <a:blip r:embed="rId25"/>
          <a:stretch>
            <a:fillRect/>
          </a:stretch>
        </p:blipFill>
        <p:spPr>
          <a:xfrm>
            <a:off x="2438944" y="2827057"/>
            <a:ext cx="183356" cy="266700"/>
          </a:xfrm>
          <a:prstGeom prst="rect">
            <a:avLst/>
          </a:prstGeom>
        </p:spPr>
      </p:pic>
      <p:pic>
        <p:nvPicPr>
          <p:cNvPr id="106" name="Picture 105" descr="lock.png"/>
          <p:cNvPicPr>
            <a:picLocks noChangeAspect="1"/>
          </p:cNvPicPr>
          <p:nvPr/>
        </p:nvPicPr>
        <p:blipFill>
          <a:blip r:embed="rId25"/>
          <a:stretch>
            <a:fillRect/>
          </a:stretch>
        </p:blipFill>
        <p:spPr>
          <a:xfrm>
            <a:off x="3884023" y="2827057"/>
            <a:ext cx="183356" cy="266700"/>
          </a:xfrm>
          <a:prstGeom prst="rect">
            <a:avLst/>
          </a:prstGeom>
        </p:spPr>
      </p:pic>
      <p:pic>
        <p:nvPicPr>
          <p:cNvPr id="107" name="Picture 106" descr="lock.png"/>
          <p:cNvPicPr>
            <a:picLocks noChangeAspect="1"/>
          </p:cNvPicPr>
          <p:nvPr/>
        </p:nvPicPr>
        <p:blipFill>
          <a:blip r:embed="rId25"/>
          <a:stretch>
            <a:fillRect/>
          </a:stretch>
        </p:blipFill>
        <p:spPr>
          <a:xfrm>
            <a:off x="5329101" y="2827057"/>
            <a:ext cx="183356" cy="266700"/>
          </a:xfrm>
          <a:prstGeom prst="rect">
            <a:avLst/>
          </a:prstGeom>
        </p:spPr>
      </p:pic>
      <p:pic>
        <p:nvPicPr>
          <p:cNvPr id="108" name="Picture 107" descr="lock.png"/>
          <p:cNvPicPr>
            <a:picLocks noChangeAspect="1"/>
          </p:cNvPicPr>
          <p:nvPr/>
        </p:nvPicPr>
        <p:blipFill>
          <a:blip r:embed="rId25"/>
          <a:stretch>
            <a:fillRect/>
          </a:stretch>
        </p:blipFill>
        <p:spPr>
          <a:xfrm>
            <a:off x="6774180" y="2827057"/>
            <a:ext cx="183356" cy="266700"/>
          </a:xfrm>
          <a:prstGeom prst="rect">
            <a:avLst/>
          </a:prstGeom>
        </p:spPr>
      </p:pic>
      <p:pic>
        <p:nvPicPr>
          <p:cNvPr id="109" name="Picture 108" descr="lock.png"/>
          <p:cNvPicPr>
            <a:picLocks noChangeAspect="1"/>
          </p:cNvPicPr>
          <p:nvPr/>
        </p:nvPicPr>
        <p:blipFill>
          <a:blip r:embed="rId25"/>
          <a:stretch>
            <a:fillRect/>
          </a:stretch>
        </p:blipFill>
        <p:spPr>
          <a:xfrm>
            <a:off x="8219258" y="2827057"/>
            <a:ext cx="183356" cy="266700"/>
          </a:xfrm>
          <a:prstGeom prst="rect">
            <a:avLst/>
          </a:prstGeom>
        </p:spPr>
      </p:pic>
      <p:pic>
        <p:nvPicPr>
          <p:cNvPr id="110" name="Picture 109" descr="lock.png"/>
          <p:cNvPicPr>
            <a:picLocks noChangeAspect="1"/>
          </p:cNvPicPr>
          <p:nvPr/>
        </p:nvPicPr>
        <p:blipFill>
          <a:blip r:embed="rId25"/>
          <a:stretch>
            <a:fillRect/>
          </a:stretch>
        </p:blipFill>
        <p:spPr>
          <a:xfrm>
            <a:off x="9664337" y="2827057"/>
            <a:ext cx="183356" cy="266700"/>
          </a:xfrm>
          <a:prstGeom prst="rect">
            <a:avLst/>
          </a:prstGeom>
        </p:spPr>
      </p:pic>
      <p:pic>
        <p:nvPicPr>
          <p:cNvPr id="111" name="Picture 110" descr="lock.png"/>
          <p:cNvPicPr>
            <a:picLocks noChangeAspect="1"/>
          </p:cNvPicPr>
          <p:nvPr/>
        </p:nvPicPr>
        <p:blipFill>
          <a:blip r:embed="rId25"/>
          <a:stretch>
            <a:fillRect/>
          </a:stretch>
        </p:blipFill>
        <p:spPr>
          <a:xfrm>
            <a:off x="11109415" y="2827057"/>
            <a:ext cx="183356" cy="266700"/>
          </a:xfrm>
          <a:prstGeom prst="rect">
            <a:avLst/>
          </a:prstGeom>
        </p:spPr>
      </p:pic>
      <p:sp>
        <p:nvSpPr>
          <p:cNvPr id="112" name="TextBox 111"/>
          <p:cNvSpPr txBox="1"/>
          <p:nvPr/>
        </p:nvSpPr>
        <p:spPr>
          <a:xfrm>
            <a:off x="485775" y="4229437"/>
            <a:ext cx="2654101" cy="186689"/>
          </a:xfrm>
          <a:prstGeom prst="rect">
            <a:avLst/>
          </a:prstGeom>
          <a:noFill/>
        </p:spPr>
        <p:txBody>
          <a:bodyPr wrap="none" lIns="0" rIns="0" tIns="0" bIns="0">
            <a:spAutoFit/>
          </a:bodyPr>
          <a:lstStyle/>
          <a:p>
            <a:r>
              <a:rPr sz="1100" b="0">
                <a:solidFill>
                  <a:srgbClr val="2E2E2E"/>
                </a:solidFill>
                <a:latin typeface="Calibri"/>
              </a:rPr>
              <a:t>Among matcha by distribution channel, B2B /</a:t>
            </a:r>
          </a:p>
        </p:txBody>
      </p:sp>
      <p:sp>
        <p:nvSpPr>
          <p:cNvPr id="113" name="TextBox 112"/>
          <p:cNvSpPr txBox="1"/>
          <p:nvPr/>
        </p:nvSpPr>
        <p:spPr>
          <a:xfrm>
            <a:off x="485775" y="4397077"/>
            <a:ext cx="2574156" cy="186689"/>
          </a:xfrm>
          <a:prstGeom prst="rect">
            <a:avLst/>
          </a:prstGeom>
          <a:noFill/>
        </p:spPr>
        <p:txBody>
          <a:bodyPr wrap="none" lIns="0" rIns="0" tIns="0" bIns="0">
            <a:spAutoFit/>
          </a:bodyPr>
          <a:lstStyle/>
          <a:p>
            <a:r>
              <a:rPr sz="1100" b="0">
                <a:solidFill>
                  <a:srgbClr val="2E2E2E"/>
                </a:solidFill>
                <a:latin typeface="Calibri"/>
              </a:rPr>
              <a:t>institutional and ingredient sales segment is</a:t>
            </a:r>
          </a:p>
        </p:txBody>
      </p:sp>
      <p:sp>
        <p:nvSpPr>
          <p:cNvPr id="114" name="TextBox 113"/>
          <p:cNvSpPr txBox="1"/>
          <p:nvPr/>
        </p:nvSpPr>
        <p:spPr>
          <a:xfrm>
            <a:off x="485775" y="4564717"/>
            <a:ext cx="2381232" cy="186689"/>
          </a:xfrm>
          <a:prstGeom prst="rect">
            <a:avLst/>
          </a:prstGeom>
          <a:noFill/>
        </p:spPr>
        <p:txBody>
          <a:bodyPr wrap="none" lIns="0" rIns="0" tIns="0" bIns="0">
            <a:spAutoFit/>
          </a:bodyPr>
          <a:lstStyle/>
          <a:p>
            <a:r>
              <a:rPr sz="1100" b="0">
                <a:solidFill>
                  <a:srgbClr val="2E2E2E"/>
                </a:solidFill>
                <a:latin typeface="Calibri"/>
              </a:rPr>
              <a:t>expected to witness the highest CAGR of</a:t>
            </a:r>
          </a:p>
        </p:txBody>
      </p:sp>
      <p:pic>
        <p:nvPicPr>
          <p:cNvPr id="115" name="Picture 114" descr="lock.png"/>
          <p:cNvPicPr>
            <a:picLocks noChangeAspect="1"/>
          </p:cNvPicPr>
          <p:nvPr/>
        </p:nvPicPr>
        <p:blipFill>
          <a:blip r:embed="rId25"/>
          <a:stretch>
            <a:fillRect/>
          </a:stretch>
        </p:blipFill>
        <p:spPr>
          <a:xfrm>
            <a:off x="2815059" y="4554938"/>
            <a:ext cx="128699" cy="187198"/>
          </a:xfrm>
          <a:prstGeom prst="rect">
            <a:avLst/>
          </a:prstGeom>
        </p:spPr>
      </p:pic>
      <p:sp>
        <p:nvSpPr>
          <p:cNvPr id="116" name="TextBox 115"/>
          <p:cNvSpPr txBox="1"/>
          <p:nvPr/>
        </p:nvSpPr>
        <p:spPr>
          <a:xfrm>
            <a:off x="2982555" y="4564717"/>
            <a:ext cx="331316" cy="186689"/>
          </a:xfrm>
          <a:prstGeom prst="rect">
            <a:avLst/>
          </a:prstGeom>
          <a:noFill/>
        </p:spPr>
        <p:txBody>
          <a:bodyPr wrap="none" lIns="0" rIns="0" tIns="0" bIns="0">
            <a:spAutoFit/>
          </a:bodyPr>
          <a:lstStyle/>
          <a:p>
            <a:r>
              <a:rPr sz="1100" b="0">
                <a:solidFill>
                  <a:srgbClr val="2E2E2E"/>
                </a:solidFill>
                <a:latin typeface="Calibri"/>
              </a:rPr>
              <a:t>over</a:t>
            </a:r>
          </a:p>
        </p:txBody>
      </p:sp>
      <p:sp>
        <p:nvSpPr>
          <p:cNvPr id="117" name="TextBox 116"/>
          <p:cNvSpPr txBox="1"/>
          <p:nvPr/>
        </p:nvSpPr>
        <p:spPr>
          <a:xfrm>
            <a:off x="485775" y="4732357"/>
            <a:ext cx="2699122" cy="186689"/>
          </a:xfrm>
          <a:prstGeom prst="rect">
            <a:avLst/>
          </a:prstGeom>
          <a:noFill/>
        </p:spPr>
        <p:txBody>
          <a:bodyPr wrap="none" lIns="0" rIns="0" tIns="0" bIns="0">
            <a:spAutoFit/>
          </a:bodyPr>
          <a:lstStyle/>
          <a:p>
            <a:r>
              <a:rPr sz="1100" b="0">
                <a:solidFill>
                  <a:srgbClr val="2E2E2E"/>
                </a:solidFill>
                <a:latin typeface="Calibri"/>
              </a:rPr>
              <a:t>the forecast period. In terms of value share by</a:t>
            </a:r>
          </a:p>
        </p:txBody>
      </p:sp>
      <p:sp>
        <p:nvSpPr>
          <p:cNvPr id="118" name="TextBox 117"/>
          <p:cNvSpPr txBox="1"/>
          <p:nvPr/>
        </p:nvSpPr>
        <p:spPr>
          <a:xfrm>
            <a:off x="485775" y="4899997"/>
            <a:ext cx="2532136" cy="186689"/>
          </a:xfrm>
          <a:prstGeom prst="rect">
            <a:avLst/>
          </a:prstGeom>
          <a:noFill/>
        </p:spPr>
        <p:txBody>
          <a:bodyPr wrap="none" lIns="0" rIns="0" tIns="0" bIns="0">
            <a:spAutoFit/>
          </a:bodyPr>
          <a:lstStyle/>
          <a:p>
            <a:r>
              <a:rPr sz="1100" b="0">
                <a:solidFill>
                  <a:srgbClr val="2E2E2E"/>
                </a:solidFill>
                <a:latin typeface="Calibri"/>
              </a:rPr>
              <a:t>distribution channel, the supermarkets and</a:t>
            </a:r>
          </a:p>
        </p:txBody>
      </p:sp>
      <p:sp>
        <p:nvSpPr>
          <p:cNvPr id="119" name="TextBox 118"/>
          <p:cNvSpPr txBox="1"/>
          <p:nvPr/>
        </p:nvSpPr>
        <p:spPr>
          <a:xfrm>
            <a:off x="485775" y="5067637"/>
            <a:ext cx="2793528" cy="186689"/>
          </a:xfrm>
          <a:prstGeom prst="rect">
            <a:avLst/>
          </a:prstGeom>
          <a:noFill/>
        </p:spPr>
        <p:txBody>
          <a:bodyPr wrap="none" lIns="0" rIns="0" tIns="0" bIns="0">
            <a:spAutoFit/>
          </a:bodyPr>
          <a:lstStyle/>
          <a:p>
            <a:r>
              <a:rPr sz="1100" b="0">
                <a:solidFill>
                  <a:srgbClr val="2E2E2E"/>
                </a:solidFill>
                <a:latin typeface="Calibri"/>
              </a:rPr>
              <a:t>hypermarkets segment is expected to dominate</a:t>
            </a:r>
          </a:p>
        </p:txBody>
      </p:sp>
      <p:sp>
        <p:nvSpPr>
          <p:cNvPr id="120" name="TextBox 119"/>
          <p:cNvSpPr txBox="1"/>
          <p:nvPr/>
        </p:nvSpPr>
        <p:spPr>
          <a:xfrm>
            <a:off x="485775" y="5235277"/>
            <a:ext cx="1181248" cy="186689"/>
          </a:xfrm>
          <a:prstGeom prst="rect">
            <a:avLst/>
          </a:prstGeom>
          <a:noFill/>
        </p:spPr>
        <p:txBody>
          <a:bodyPr wrap="none" lIns="0" rIns="0" tIns="0" bIns="0">
            <a:spAutoFit/>
          </a:bodyPr>
          <a:lstStyle/>
          <a:p>
            <a:r>
              <a:rPr sz="1100" b="0">
                <a:solidFill>
                  <a:srgbClr val="2E2E2E"/>
                </a:solidFill>
                <a:latin typeface="Calibri"/>
              </a:rPr>
              <a:t>the market, gaining</a:t>
            </a:r>
          </a:p>
        </p:txBody>
      </p:sp>
      <p:pic>
        <p:nvPicPr>
          <p:cNvPr id="121" name="Picture 120" descr="lock.png"/>
          <p:cNvPicPr>
            <a:picLocks noChangeAspect="1"/>
          </p:cNvPicPr>
          <p:nvPr/>
        </p:nvPicPr>
        <p:blipFill>
          <a:blip r:embed="rId25"/>
          <a:stretch>
            <a:fillRect/>
          </a:stretch>
        </p:blipFill>
        <p:spPr>
          <a:xfrm>
            <a:off x="1615075" y="5225498"/>
            <a:ext cx="128699" cy="187198"/>
          </a:xfrm>
          <a:prstGeom prst="rect">
            <a:avLst/>
          </a:prstGeom>
        </p:spPr>
      </p:pic>
      <p:sp>
        <p:nvSpPr>
          <p:cNvPr id="122" name="TextBox 121"/>
          <p:cNvSpPr txBox="1"/>
          <p:nvPr/>
        </p:nvSpPr>
        <p:spPr>
          <a:xfrm>
            <a:off x="1782571" y="5235277"/>
            <a:ext cx="1386433" cy="186689"/>
          </a:xfrm>
          <a:prstGeom prst="rect">
            <a:avLst/>
          </a:prstGeom>
          <a:noFill/>
        </p:spPr>
        <p:txBody>
          <a:bodyPr wrap="none" lIns="0" rIns="0" tIns="0" bIns="0">
            <a:spAutoFit/>
          </a:bodyPr>
          <a:lstStyle/>
          <a:p>
            <a:r>
              <a:rPr sz="1100" b="0">
                <a:solidFill>
                  <a:srgbClr val="2E2E2E"/>
                </a:solidFill>
                <a:latin typeface="Calibri"/>
              </a:rPr>
              <a:t>BPS and accounting for</a:t>
            </a:r>
          </a:p>
        </p:txBody>
      </p:sp>
      <p:pic>
        <p:nvPicPr>
          <p:cNvPr id="123" name="Picture 122" descr="lock.png"/>
          <p:cNvPicPr>
            <a:picLocks noChangeAspect="1"/>
          </p:cNvPicPr>
          <p:nvPr/>
        </p:nvPicPr>
        <p:blipFill>
          <a:blip r:embed="rId25"/>
          <a:stretch>
            <a:fillRect/>
          </a:stretch>
        </p:blipFill>
        <p:spPr>
          <a:xfrm>
            <a:off x="472307" y="5393138"/>
            <a:ext cx="128699" cy="187198"/>
          </a:xfrm>
          <a:prstGeom prst="rect">
            <a:avLst/>
          </a:prstGeom>
        </p:spPr>
      </p:pic>
      <p:sp>
        <p:nvSpPr>
          <p:cNvPr id="124" name="TextBox 123"/>
          <p:cNvSpPr txBox="1"/>
          <p:nvPr/>
        </p:nvSpPr>
        <p:spPr>
          <a:xfrm>
            <a:off x="639803" y="5402917"/>
            <a:ext cx="908397" cy="186689"/>
          </a:xfrm>
          <a:prstGeom prst="rect">
            <a:avLst/>
          </a:prstGeom>
          <a:noFill/>
        </p:spPr>
        <p:txBody>
          <a:bodyPr wrap="none" lIns="0" rIns="0" tIns="0" bIns="0">
            <a:spAutoFit/>
          </a:bodyPr>
          <a:lstStyle/>
          <a:p>
            <a:r>
              <a:rPr sz="1100" b="0">
                <a:solidFill>
                  <a:srgbClr val="2E2E2E"/>
                </a:solidFill>
                <a:latin typeface="Calibri"/>
              </a:rPr>
              <a:t>share by 2036.</a:t>
            </a:r>
          </a:p>
        </p:txBody>
      </p:sp>
      <p:sp>
        <p:nvSpPr>
          <p:cNvPr id="125" name="TextBox 124"/>
          <p:cNvSpPr txBox="1"/>
          <p:nvPr/>
        </p:nvSpPr>
        <p:spPr>
          <a:xfrm>
            <a:off x="485775" y="5620849"/>
            <a:ext cx="2576338" cy="186689"/>
          </a:xfrm>
          <a:prstGeom prst="rect">
            <a:avLst/>
          </a:prstGeom>
          <a:noFill/>
        </p:spPr>
        <p:txBody>
          <a:bodyPr wrap="none" lIns="0" rIns="0" tIns="0" bIns="0">
            <a:spAutoFit/>
          </a:bodyPr>
          <a:lstStyle/>
          <a:p>
            <a:r>
              <a:rPr sz="1100" b="0">
                <a:solidFill>
                  <a:srgbClr val="2E2E2E"/>
                </a:solidFill>
                <a:latin typeface="Calibri"/>
              </a:rPr>
              <a:t>Supermarkets and hypermarkets segment is</a:t>
            </a:r>
          </a:p>
        </p:txBody>
      </p:sp>
      <p:sp>
        <p:nvSpPr>
          <p:cNvPr id="126" name="TextBox 125"/>
          <p:cNvSpPr txBox="1"/>
          <p:nvPr/>
        </p:nvSpPr>
        <p:spPr>
          <a:xfrm>
            <a:off x="485775" y="5788489"/>
            <a:ext cx="1244550" cy="186689"/>
          </a:xfrm>
          <a:prstGeom prst="rect">
            <a:avLst/>
          </a:prstGeom>
          <a:noFill/>
        </p:spPr>
        <p:txBody>
          <a:bodyPr wrap="none" lIns="0" rIns="0" tIns="0" bIns="0">
            <a:spAutoFit/>
          </a:bodyPr>
          <a:lstStyle/>
          <a:p>
            <a:r>
              <a:rPr sz="1100" b="0">
                <a:solidFill>
                  <a:srgbClr val="2E2E2E"/>
                </a:solidFill>
                <a:latin typeface="Calibri"/>
              </a:rPr>
              <a:t>projected to register</a:t>
            </a:r>
          </a:p>
        </p:txBody>
      </p:sp>
      <p:pic>
        <p:nvPicPr>
          <p:cNvPr id="127" name="Picture 126" descr="lock.png"/>
          <p:cNvPicPr>
            <a:picLocks noChangeAspect="1"/>
          </p:cNvPicPr>
          <p:nvPr/>
        </p:nvPicPr>
        <p:blipFill>
          <a:blip r:embed="rId25"/>
          <a:stretch>
            <a:fillRect/>
          </a:stretch>
        </p:blipFill>
        <p:spPr>
          <a:xfrm>
            <a:off x="1678376" y="5778710"/>
            <a:ext cx="128699" cy="187198"/>
          </a:xfrm>
          <a:prstGeom prst="rect">
            <a:avLst/>
          </a:prstGeom>
        </p:spPr>
      </p:pic>
      <p:sp>
        <p:nvSpPr>
          <p:cNvPr id="128" name="TextBox 127"/>
          <p:cNvSpPr txBox="1"/>
          <p:nvPr/>
        </p:nvSpPr>
        <p:spPr>
          <a:xfrm>
            <a:off x="1845872" y="5788489"/>
            <a:ext cx="1172517" cy="186689"/>
          </a:xfrm>
          <a:prstGeom prst="rect">
            <a:avLst/>
          </a:prstGeom>
          <a:noFill/>
        </p:spPr>
        <p:txBody>
          <a:bodyPr wrap="none" lIns="0" rIns="0" tIns="0" bIns="0">
            <a:spAutoFit/>
          </a:bodyPr>
          <a:lstStyle/>
          <a:p>
            <a:r>
              <a:rPr sz="1100" b="0">
                <a:solidFill>
                  <a:srgbClr val="2E2E2E"/>
                </a:solidFill>
                <a:latin typeface="Calibri"/>
              </a:rPr>
              <a:t>X higher value than</a:t>
            </a:r>
          </a:p>
        </p:txBody>
      </p:sp>
      <p:sp>
        <p:nvSpPr>
          <p:cNvPr id="129" name="TextBox 128"/>
          <p:cNvSpPr txBox="1"/>
          <p:nvPr/>
        </p:nvSpPr>
        <p:spPr>
          <a:xfrm>
            <a:off x="485775" y="5956129"/>
            <a:ext cx="2183159" cy="186689"/>
          </a:xfrm>
          <a:prstGeom prst="rect">
            <a:avLst/>
          </a:prstGeom>
          <a:noFill/>
        </p:spPr>
        <p:txBody>
          <a:bodyPr wrap="none" lIns="0" rIns="0" tIns="0" bIns="0">
            <a:spAutoFit/>
          </a:bodyPr>
          <a:lstStyle/>
          <a:p>
            <a:r>
              <a:rPr sz="1100" b="0">
                <a:solidFill>
                  <a:srgbClr val="2E2E2E"/>
                </a:solidFill>
                <a:latin typeface="Calibri"/>
              </a:rPr>
              <a:t>convenience stores segment in 2036.</a:t>
            </a:r>
          </a:p>
        </p:txBody>
      </p:sp>
      <p:sp>
        <p:nvSpPr>
          <p:cNvPr id="130" name="TextBox 129"/>
          <p:cNvSpPr txBox="1"/>
          <p:nvPr/>
        </p:nvSpPr>
        <p:spPr>
          <a:xfrm>
            <a:off x="3838575" y="4229437"/>
            <a:ext cx="2020823" cy="179984"/>
          </a:xfrm>
          <a:prstGeom prst="rect">
            <a:avLst/>
          </a:prstGeom>
          <a:noFill/>
        </p:spPr>
        <p:txBody>
          <a:bodyPr wrap="none" lIns="0" rIns="0" tIns="0" bIns="0">
            <a:spAutoFit/>
          </a:bodyPr>
          <a:lstStyle/>
          <a:p>
            <a:r>
              <a:rPr sz="1055" b="0">
                <a:solidFill>
                  <a:srgbClr val="2E2E2E"/>
                </a:solidFill>
                <a:latin typeface="Calibri"/>
              </a:rPr>
              <a:t>● Supermarkets and Hypermarkets:</a:t>
            </a:r>
          </a:p>
        </p:txBody>
      </p:sp>
      <p:pic>
        <p:nvPicPr>
          <p:cNvPr id="131" name="Picture 130" descr="lock.png"/>
          <p:cNvPicPr>
            <a:picLocks noChangeAspect="1"/>
          </p:cNvPicPr>
          <p:nvPr/>
        </p:nvPicPr>
        <p:blipFill>
          <a:blip r:embed="rId25"/>
          <a:stretch>
            <a:fillRect/>
          </a:stretch>
        </p:blipFill>
        <p:spPr>
          <a:xfrm>
            <a:off x="5806480" y="4220049"/>
            <a:ext cx="123551" cy="179710"/>
          </a:xfrm>
          <a:prstGeom prst="rect">
            <a:avLst/>
          </a:prstGeom>
        </p:spPr>
      </p:pic>
      <p:sp>
        <p:nvSpPr>
          <p:cNvPr id="132" name="TextBox 131"/>
          <p:cNvSpPr txBox="1"/>
          <p:nvPr/>
        </p:nvSpPr>
        <p:spPr>
          <a:xfrm>
            <a:off x="5967276" y="4229437"/>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33" name="Picture 132" descr="lock.png"/>
          <p:cNvPicPr>
            <a:picLocks noChangeAspect="1"/>
          </p:cNvPicPr>
          <p:nvPr/>
        </p:nvPicPr>
        <p:blipFill>
          <a:blip r:embed="rId25"/>
          <a:stretch>
            <a:fillRect/>
          </a:stretch>
        </p:blipFill>
        <p:spPr>
          <a:xfrm>
            <a:off x="6792348" y="4220049"/>
            <a:ext cx="123551" cy="179710"/>
          </a:xfrm>
          <a:prstGeom prst="rect">
            <a:avLst/>
          </a:prstGeom>
        </p:spPr>
      </p:pic>
      <p:sp>
        <p:nvSpPr>
          <p:cNvPr id="134" name="TextBox 133"/>
          <p:cNvSpPr txBox="1"/>
          <p:nvPr/>
        </p:nvSpPr>
        <p:spPr>
          <a:xfrm>
            <a:off x="6953144" y="4229437"/>
            <a:ext cx="697761" cy="179984"/>
          </a:xfrm>
          <a:prstGeom prst="rect">
            <a:avLst/>
          </a:prstGeom>
          <a:noFill/>
        </p:spPr>
        <p:txBody>
          <a:bodyPr wrap="none" lIns="0" rIns="0" tIns="0" bIns="0">
            <a:spAutoFit/>
          </a:bodyPr>
          <a:lstStyle/>
          <a:p>
            <a:r>
              <a:rPr sz="1055" b="0">
                <a:solidFill>
                  <a:srgbClr val="2E2E2E"/>
                </a:solidFill>
                <a:latin typeface="Calibri"/>
              </a:rPr>
              <a:t>CAGR leads</a:t>
            </a:r>
          </a:p>
        </p:txBody>
      </p:sp>
      <p:sp>
        <p:nvSpPr>
          <p:cNvPr id="135" name="TextBox 134"/>
          <p:cNvSpPr txBox="1"/>
          <p:nvPr/>
        </p:nvSpPr>
        <p:spPr>
          <a:xfrm>
            <a:off x="3838575" y="4390371"/>
            <a:ext cx="794432" cy="179984"/>
          </a:xfrm>
          <a:prstGeom prst="rect">
            <a:avLst/>
          </a:prstGeom>
          <a:noFill/>
        </p:spPr>
        <p:txBody>
          <a:bodyPr wrap="none" lIns="0" rIns="0" tIns="0" bIns="0">
            <a:spAutoFit/>
          </a:bodyPr>
          <a:lstStyle/>
          <a:p>
            <a:r>
              <a:rPr sz="1055" b="0">
                <a:solidFill>
                  <a:srgbClr val="2E2E2E"/>
                </a:solidFill>
                <a:latin typeface="Calibri"/>
              </a:rPr>
              <a:t>the segment.</a:t>
            </a:r>
          </a:p>
        </p:txBody>
      </p:sp>
      <p:sp>
        <p:nvSpPr>
          <p:cNvPr id="136" name="TextBox 135"/>
          <p:cNvSpPr txBox="1"/>
          <p:nvPr/>
        </p:nvSpPr>
        <p:spPr>
          <a:xfrm>
            <a:off x="3838575" y="4599586"/>
            <a:ext cx="1299448" cy="179984"/>
          </a:xfrm>
          <a:prstGeom prst="rect">
            <a:avLst/>
          </a:prstGeom>
          <a:noFill/>
        </p:spPr>
        <p:txBody>
          <a:bodyPr wrap="none" lIns="0" rIns="0" tIns="0" bIns="0">
            <a:spAutoFit/>
          </a:bodyPr>
          <a:lstStyle/>
          <a:p>
            <a:r>
              <a:rPr sz="1055" b="0">
                <a:solidFill>
                  <a:srgbClr val="2E2E2E"/>
                </a:solidFill>
                <a:latin typeface="Calibri"/>
              </a:rPr>
              <a:t>● Convenience Stores:</a:t>
            </a:r>
          </a:p>
        </p:txBody>
      </p:sp>
      <p:pic>
        <p:nvPicPr>
          <p:cNvPr id="137" name="Picture 136" descr="lock.png"/>
          <p:cNvPicPr>
            <a:picLocks noChangeAspect="1"/>
          </p:cNvPicPr>
          <p:nvPr/>
        </p:nvPicPr>
        <p:blipFill>
          <a:blip r:embed="rId25"/>
          <a:stretch>
            <a:fillRect/>
          </a:stretch>
        </p:blipFill>
        <p:spPr>
          <a:xfrm>
            <a:off x="5085104" y="4590198"/>
            <a:ext cx="123551" cy="179710"/>
          </a:xfrm>
          <a:prstGeom prst="rect">
            <a:avLst/>
          </a:prstGeom>
        </p:spPr>
      </p:pic>
      <p:sp>
        <p:nvSpPr>
          <p:cNvPr id="138" name="TextBox 137"/>
          <p:cNvSpPr txBox="1"/>
          <p:nvPr/>
        </p:nvSpPr>
        <p:spPr>
          <a:xfrm>
            <a:off x="5245900" y="4599586"/>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39" name="Picture 138" descr="lock.png"/>
          <p:cNvPicPr>
            <a:picLocks noChangeAspect="1"/>
          </p:cNvPicPr>
          <p:nvPr/>
        </p:nvPicPr>
        <p:blipFill>
          <a:blip r:embed="rId25"/>
          <a:stretch>
            <a:fillRect/>
          </a:stretch>
        </p:blipFill>
        <p:spPr>
          <a:xfrm>
            <a:off x="6070972" y="4590198"/>
            <a:ext cx="123551" cy="179710"/>
          </a:xfrm>
          <a:prstGeom prst="rect">
            <a:avLst/>
          </a:prstGeom>
        </p:spPr>
      </p:pic>
      <p:sp>
        <p:nvSpPr>
          <p:cNvPr id="140" name="TextBox 139"/>
          <p:cNvSpPr txBox="1"/>
          <p:nvPr/>
        </p:nvSpPr>
        <p:spPr>
          <a:xfrm>
            <a:off x="6231768" y="4599586"/>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41" name="TextBox 140"/>
          <p:cNvSpPr txBox="1"/>
          <p:nvPr/>
        </p:nvSpPr>
        <p:spPr>
          <a:xfrm>
            <a:off x="3838575" y="4808800"/>
            <a:ext cx="2242132" cy="179984"/>
          </a:xfrm>
          <a:prstGeom prst="rect">
            <a:avLst/>
          </a:prstGeom>
          <a:noFill/>
        </p:spPr>
        <p:txBody>
          <a:bodyPr wrap="none" lIns="0" rIns="0" tIns="0" bIns="0">
            <a:spAutoFit/>
          </a:bodyPr>
          <a:lstStyle/>
          <a:p>
            <a:r>
              <a:rPr sz="1055" b="0">
                <a:solidFill>
                  <a:srgbClr val="2E2E2E"/>
                </a:solidFill>
                <a:latin typeface="Calibri"/>
              </a:rPr>
              <a:t>● Specialty Tea and Health Food Stores:</a:t>
            </a:r>
          </a:p>
        </p:txBody>
      </p:sp>
      <p:pic>
        <p:nvPicPr>
          <p:cNvPr id="142" name="Picture 141" descr="lock.png"/>
          <p:cNvPicPr>
            <a:picLocks noChangeAspect="1"/>
          </p:cNvPicPr>
          <p:nvPr/>
        </p:nvPicPr>
        <p:blipFill>
          <a:blip r:embed="rId25"/>
          <a:stretch>
            <a:fillRect/>
          </a:stretch>
        </p:blipFill>
        <p:spPr>
          <a:xfrm>
            <a:off x="6027789" y="4799413"/>
            <a:ext cx="123551" cy="179710"/>
          </a:xfrm>
          <a:prstGeom prst="rect">
            <a:avLst/>
          </a:prstGeom>
        </p:spPr>
      </p:pic>
      <p:sp>
        <p:nvSpPr>
          <p:cNvPr id="143" name="TextBox 142"/>
          <p:cNvSpPr txBox="1"/>
          <p:nvPr/>
        </p:nvSpPr>
        <p:spPr>
          <a:xfrm>
            <a:off x="6188585" y="4808800"/>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44" name="Picture 143" descr="lock.png"/>
          <p:cNvPicPr>
            <a:picLocks noChangeAspect="1"/>
          </p:cNvPicPr>
          <p:nvPr/>
        </p:nvPicPr>
        <p:blipFill>
          <a:blip r:embed="rId25"/>
          <a:stretch>
            <a:fillRect/>
          </a:stretch>
        </p:blipFill>
        <p:spPr>
          <a:xfrm>
            <a:off x="7013657" y="4799413"/>
            <a:ext cx="123551" cy="179710"/>
          </a:xfrm>
          <a:prstGeom prst="rect">
            <a:avLst/>
          </a:prstGeom>
        </p:spPr>
      </p:pic>
      <p:sp>
        <p:nvSpPr>
          <p:cNvPr id="145" name="TextBox 144"/>
          <p:cNvSpPr txBox="1"/>
          <p:nvPr/>
        </p:nvSpPr>
        <p:spPr>
          <a:xfrm>
            <a:off x="7174453" y="4808800"/>
            <a:ext cx="382650" cy="179984"/>
          </a:xfrm>
          <a:prstGeom prst="rect">
            <a:avLst/>
          </a:prstGeom>
          <a:noFill/>
        </p:spPr>
        <p:txBody>
          <a:bodyPr wrap="none" lIns="0" rIns="0" tIns="0" bIns="0">
            <a:spAutoFit/>
          </a:bodyPr>
          <a:lstStyle/>
          <a:p>
            <a:r>
              <a:rPr sz="1055" b="0">
                <a:solidFill>
                  <a:srgbClr val="2E2E2E"/>
                </a:solidFill>
                <a:latin typeface="Calibri"/>
              </a:rPr>
              <a:t>CAGR</a:t>
            </a:r>
          </a:p>
        </p:txBody>
      </p:sp>
      <p:sp>
        <p:nvSpPr>
          <p:cNvPr id="146" name="TextBox 145"/>
          <p:cNvSpPr txBox="1"/>
          <p:nvPr/>
        </p:nvSpPr>
        <p:spPr>
          <a:xfrm>
            <a:off x="3838575" y="4969735"/>
            <a:ext cx="876157" cy="179984"/>
          </a:xfrm>
          <a:prstGeom prst="rect">
            <a:avLst/>
          </a:prstGeom>
          <a:noFill/>
        </p:spPr>
        <p:txBody>
          <a:bodyPr wrap="none" lIns="0" rIns="0" tIns="0" bIns="0">
            <a:spAutoFit/>
          </a:bodyPr>
          <a:lstStyle/>
          <a:p>
            <a:r>
              <a:rPr sz="1055" b="0">
                <a:solidFill>
                  <a:srgbClr val="2E2E2E"/>
                </a:solidFill>
                <a:latin typeface="Calibri"/>
              </a:rPr>
              <a:t>serves a niche.</a:t>
            </a:r>
          </a:p>
        </p:txBody>
      </p:sp>
      <p:sp>
        <p:nvSpPr>
          <p:cNvPr id="147" name="TextBox 146"/>
          <p:cNvSpPr txBox="1"/>
          <p:nvPr/>
        </p:nvSpPr>
        <p:spPr>
          <a:xfrm>
            <a:off x="3838575" y="5178949"/>
            <a:ext cx="922782" cy="179984"/>
          </a:xfrm>
          <a:prstGeom prst="rect">
            <a:avLst/>
          </a:prstGeom>
          <a:noFill/>
        </p:spPr>
        <p:txBody>
          <a:bodyPr wrap="none" lIns="0" rIns="0" tIns="0" bIns="0">
            <a:spAutoFit/>
          </a:bodyPr>
          <a:lstStyle/>
          <a:p>
            <a:r>
              <a:rPr sz="1055" b="0">
                <a:solidFill>
                  <a:srgbClr val="2E2E2E"/>
                </a:solidFill>
                <a:latin typeface="Calibri"/>
              </a:rPr>
              <a:t>● Online Retail:</a:t>
            </a:r>
          </a:p>
        </p:txBody>
      </p:sp>
      <p:pic>
        <p:nvPicPr>
          <p:cNvPr id="148" name="Picture 147" descr="lock.png"/>
          <p:cNvPicPr>
            <a:picLocks noChangeAspect="1"/>
          </p:cNvPicPr>
          <p:nvPr/>
        </p:nvPicPr>
        <p:blipFill>
          <a:blip r:embed="rId25"/>
          <a:stretch>
            <a:fillRect/>
          </a:stretch>
        </p:blipFill>
        <p:spPr>
          <a:xfrm>
            <a:off x="4708438" y="5169562"/>
            <a:ext cx="123551" cy="179710"/>
          </a:xfrm>
          <a:prstGeom prst="rect">
            <a:avLst/>
          </a:prstGeom>
        </p:spPr>
      </p:pic>
      <p:sp>
        <p:nvSpPr>
          <p:cNvPr id="149" name="TextBox 148"/>
          <p:cNvSpPr txBox="1"/>
          <p:nvPr/>
        </p:nvSpPr>
        <p:spPr>
          <a:xfrm>
            <a:off x="4869234" y="5178949"/>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50" name="Picture 149" descr="lock.png"/>
          <p:cNvPicPr>
            <a:picLocks noChangeAspect="1"/>
          </p:cNvPicPr>
          <p:nvPr/>
        </p:nvPicPr>
        <p:blipFill>
          <a:blip r:embed="rId25"/>
          <a:stretch>
            <a:fillRect/>
          </a:stretch>
        </p:blipFill>
        <p:spPr>
          <a:xfrm>
            <a:off x="5694306" y="5169562"/>
            <a:ext cx="123551" cy="179710"/>
          </a:xfrm>
          <a:prstGeom prst="rect">
            <a:avLst/>
          </a:prstGeom>
        </p:spPr>
      </p:pic>
      <p:sp>
        <p:nvSpPr>
          <p:cNvPr id="151" name="TextBox 150"/>
          <p:cNvSpPr txBox="1"/>
          <p:nvPr/>
        </p:nvSpPr>
        <p:spPr>
          <a:xfrm>
            <a:off x="5855102" y="5178949"/>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52" name="TextBox 151"/>
          <p:cNvSpPr txBox="1"/>
          <p:nvPr/>
        </p:nvSpPr>
        <p:spPr>
          <a:xfrm>
            <a:off x="3838575" y="5388164"/>
            <a:ext cx="2347460" cy="179984"/>
          </a:xfrm>
          <a:prstGeom prst="rect">
            <a:avLst/>
          </a:prstGeom>
          <a:noFill/>
        </p:spPr>
        <p:txBody>
          <a:bodyPr wrap="none" lIns="0" rIns="0" tIns="0" bIns="0">
            <a:spAutoFit/>
          </a:bodyPr>
          <a:lstStyle/>
          <a:p>
            <a:r>
              <a:rPr sz="1055" b="0">
                <a:solidFill>
                  <a:srgbClr val="2E2E2E"/>
                </a:solidFill>
                <a:latin typeface="Calibri"/>
              </a:rPr>
              <a:t>● B2B / Institutional and Ingredient Sales:</a:t>
            </a:r>
          </a:p>
        </p:txBody>
      </p:sp>
      <p:pic>
        <p:nvPicPr>
          <p:cNvPr id="153" name="Picture 152" descr="lock.png"/>
          <p:cNvPicPr>
            <a:picLocks noChangeAspect="1"/>
          </p:cNvPicPr>
          <p:nvPr/>
        </p:nvPicPr>
        <p:blipFill>
          <a:blip r:embed="rId25"/>
          <a:stretch>
            <a:fillRect/>
          </a:stretch>
        </p:blipFill>
        <p:spPr>
          <a:xfrm>
            <a:off x="6133116" y="5378776"/>
            <a:ext cx="123551" cy="179710"/>
          </a:xfrm>
          <a:prstGeom prst="rect">
            <a:avLst/>
          </a:prstGeom>
        </p:spPr>
      </p:pic>
      <p:sp>
        <p:nvSpPr>
          <p:cNvPr id="154" name="TextBox 153"/>
          <p:cNvSpPr txBox="1"/>
          <p:nvPr/>
        </p:nvSpPr>
        <p:spPr>
          <a:xfrm>
            <a:off x="6293912" y="5388164"/>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55" name="Picture 154" descr="lock.png"/>
          <p:cNvPicPr>
            <a:picLocks noChangeAspect="1"/>
          </p:cNvPicPr>
          <p:nvPr/>
        </p:nvPicPr>
        <p:blipFill>
          <a:blip r:embed="rId25"/>
          <a:stretch>
            <a:fillRect/>
          </a:stretch>
        </p:blipFill>
        <p:spPr>
          <a:xfrm>
            <a:off x="7118984" y="5378776"/>
            <a:ext cx="123551" cy="179710"/>
          </a:xfrm>
          <a:prstGeom prst="rect">
            <a:avLst/>
          </a:prstGeom>
        </p:spPr>
      </p:pic>
      <p:sp>
        <p:nvSpPr>
          <p:cNvPr id="156" name="TextBox 155"/>
          <p:cNvSpPr txBox="1"/>
          <p:nvPr/>
        </p:nvSpPr>
        <p:spPr>
          <a:xfrm>
            <a:off x="7279780" y="5388164"/>
            <a:ext cx="382650" cy="179984"/>
          </a:xfrm>
          <a:prstGeom prst="rect">
            <a:avLst/>
          </a:prstGeom>
          <a:noFill/>
        </p:spPr>
        <p:txBody>
          <a:bodyPr wrap="none" lIns="0" rIns="0" tIns="0" bIns="0">
            <a:spAutoFit/>
          </a:bodyPr>
          <a:lstStyle/>
          <a:p>
            <a:r>
              <a:rPr sz="1055" b="0">
                <a:solidFill>
                  <a:srgbClr val="2E2E2E"/>
                </a:solidFill>
                <a:latin typeface="Calibri"/>
              </a:rPr>
              <a:t>CAGR</a:t>
            </a:r>
          </a:p>
        </p:txBody>
      </p:sp>
      <p:sp>
        <p:nvSpPr>
          <p:cNvPr id="157" name="TextBox 156"/>
          <p:cNvSpPr txBox="1"/>
          <p:nvPr/>
        </p:nvSpPr>
        <p:spPr>
          <a:xfrm>
            <a:off x="3838575" y="5549099"/>
            <a:ext cx="836080" cy="179984"/>
          </a:xfrm>
          <a:prstGeom prst="rect">
            <a:avLst/>
          </a:prstGeom>
          <a:noFill/>
        </p:spPr>
        <p:txBody>
          <a:bodyPr wrap="none" lIns="0" rIns="0" tIns="0" bIns="0">
            <a:spAutoFit/>
          </a:bodyPr>
          <a:lstStyle/>
          <a:p>
            <a:r>
              <a:rPr sz="1055" b="0">
                <a:solidFill>
                  <a:srgbClr val="2E2E2E"/>
                </a:solidFill>
                <a:latin typeface="Calibri"/>
              </a:rPr>
              <a:t>grows fastest.</a:t>
            </a:r>
          </a:p>
        </p:txBody>
      </p:sp>
      <p:sp>
        <p:nvSpPr>
          <p:cNvPr id="158" name="TextBox 157"/>
          <p:cNvSpPr txBox="1"/>
          <p:nvPr/>
        </p:nvSpPr>
        <p:spPr>
          <a:xfrm>
            <a:off x="3838575" y="5758313"/>
            <a:ext cx="1573406" cy="179984"/>
          </a:xfrm>
          <a:prstGeom prst="rect">
            <a:avLst/>
          </a:prstGeom>
          <a:noFill/>
        </p:spPr>
        <p:txBody>
          <a:bodyPr wrap="none" lIns="0" rIns="0" tIns="0" bIns="0">
            <a:spAutoFit/>
          </a:bodyPr>
          <a:lstStyle/>
          <a:p>
            <a:r>
              <a:rPr sz="1055" b="0">
                <a:solidFill>
                  <a:srgbClr val="2E2E2E"/>
                </a:solidFill>
                <a:latin typeface="Calibri"/>
              </a:rPr>
              <a:t>● Foodservice and HoReCa:</a:t>
            </a:r>
          </a:p>
        </p:txBody>
      </p:sp>
      <p:pic>
        <p:nvPicPr>
          <p:cNvPr id="159" name="Picture 158" descr="lock.png"/>
          <p:cNvPicPr>
            <a:picLocks noChangeAspect="1"/>
          </p:cNvPicPr>
          <p:nvPr/>
        </p:nvPicPr>
        <p:blipFill>
          <a:blip r:embed="rId25"/>
          <a:stretch>
            <a:fillRect/>
          </a:stretch>
        </p:blipFill>
        <p:spPr>
          <a:xfrm>
            <a:off x="5359062" y="5748925"/>
            <a:ext cx="123551" cy="179710"/>
          </a:xfrm>
          <a:prstGeom prst="rect">
            <a:avLst/>
          </a:prstGeom>
        </p:spPr>
      </p:pic>
      <p:sp>
        <p:nvSpPr>
          <p:cNvPr id="160" name="TextBox 159"/>
          <p:cNvSpPr txBox="1"/>
          <p:nvPr/>
        </p:nvSpPr>
        <p:spPr>
          <a:xfrm>
            <a:off x="5519858" y="5758313"/>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61" name="Picture 160" descr="lock.png"/>
          <p:cNvPicPr>
            <a:picLocks noChangeAspect="1"/>
          </p:cNvPicPr>
          <p:nvPr/>
        </p:nvPicPr>
        <p:blipFill>
          <a:blip r:embed="rId25"/>
          <a:stretch>
            <a:fillRect/>
          </a:stretch>
        </p:blipFill>
        <p:spPr>
          <a:xfrm>
            <a:off x="6344930" y="5748925"/>
            <a:ext cx="123551" cy="179710"/>
          </a:xfrm>
          <a:prstGeom prst="rect">
            <a:avLst/>
          </a:prstGeom>
        </p:spPr>
      </p:pic>
      <p:sp>
        <p:nvSpPr>
          <p:cNvPr id="162" name="TextBox 161"/>
          <p:cNvSpPr txBox="1"/>
          <p:nvPr/>
        </p:nvSpPr>
        <p:spPr>
          <a:xfrm>
            <a:off x="6505726" y="5758313"/>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63" name="TextBox 162"/>
          <p:cNvSpPr txBox="1"/>
          <p:nvPr/>
        </p:nvSpPr>
        <p:spPr>
          <a:xfrm>
            <a:off x="3838575" y="5967528"/>
            <a:ext cx="1409985" cy="179984"/>
          </a:xfrm>
          <a:prstGeom prst="rect">
            <a:avLst/>
          </a:prstGeom>
          <a:noFill/>
        </p:spPr>
        <p:txBody>
          <a:bodyPr wrap="none" lIns="0" rIns="0" tIns="0" bIns="0">
            <a:spAutoFit/>
          </a:bodyPr>
          <a:lstStyle/>
          <a:p>
            <a:r>
              <a:rPr sz="1055" b="0">
                <a:solidFill>
                  <a:srgbClr val="2E2E2E"/>
                </a:solidFill>
                <a:latin typeface="Calibri"/>
              </a:rPr>
              <a:t>● Other Retail Channels:</a:t>
            </a:r>
          </a:p>
        </p:txBody>
      </p:sp>
      <p:pic>
        <p:nvPicPr>
          <p:cNvPr id="164" name="Picture 163" descr="lock.png"/>
          <p:cNvPicPr>
            <a:picLocks noChangeAspect="1"/>
          </p:cNvPicPr>
          <p:nvPr/>
        </p:nvPicPr>
        <p:blipFill>
          <a:blip r:embed="rId25"/>
          <a:stretch>
            <a:fillRect/>
          </a:stretch>
        </p:blipFill>
        <p:spPr>
          <a:xfrm>
            <a:off x="5195642" y="5958140"/>
            <a:ext cx="123551" cy="179710"/>
          </a:xfrm>
          <a:prstGeom prst="rect">
            <a:avLst/>
          </a:prstGeom>
        </p:spPr>
      </p:pic>
      <p:sp>
        <p:nvSpPr>
          <p:cNvPr id="165" name="TextBox 164"/>
          <p:cNvSpPr txBox="1"/>
          <p:nvPr/>
        </p:nvSpPr>
        <p:spPr>
          <a:xfrm>
            <a:off x="5356438" y="5967528"/>
            <a:ext cx="877990" cy="179984"/>
          </a:xfrm>
          <a:prstGeom prst="rect">
            <a:avLst/>
          </a:prstGeom>
          <a:noFill/>
        </p:spPr>
        <p:txBody>
          <a:bodyPr wrap="none" lIns="0" rIns="0" tIns="0" bIns="0">
            <a:spAutoFit/>
          </a:bodyPr>
          <a:lstStyle/>
          <a:p>
            <a:r>
              <a:rPr sz="1055" b="0">
                <a:solidFill>
                  <a:srgbClr val="2E2E2E"/>
                </a:solidFill>
                <a:latin typeface="Calibri"/>
              </a:rPr>
              <a:t>of 2026 value ·</a:t>
            </a:r>
          </a:p>
        </p:txBody>
      </p:sp>
      <p:pic>
        <p:nvPicPr>
          <p:cNvPr id="166" name="Picture 165" descr="lock.png"/>
          <p:cNvPicPr>
            <a:picLocks noChangeAspect="1"/>
          </p:cNvPicPr>
          <p:nvPr/>
        </p:nvPicPr>
        <p:blipFill>
          <a:blip r:embed="rId25"/>
          <a:stretch>
            <a:fillRect/>
          </a:stretch>
        </p:blipFill>
        <p:spPr>
          <a:xfrm>
            <a:off x="6181510" y="5958140"/>
            <a:ext cx="123551" cy="179710"/>
          </a:xfrm>
          <a:prstGeom prst="rect">
            <a:avLst/>
          </a:prstGeom>
        </p:spPr>
      </p:pic>
      <p:sp>
        <p:nvSpPr>
          <p:cNvPr id="167" name="TextBox 166"/>
          <p:cNvSpPr txBox="1"/>
          <p:nvPr/>
        </p:nvSpPr>
        <p:spPr>
          <a:xfrm>
            <a:off x="6342306" y="5967528"/>
            <a:ext cx="1212992" cy="179984"/>
          </a:xfrm>
          <a:prstGeom prst="rect">
            <a:avLst/>
          </a:prstGeom>
          <a:noFill/>
        </p:spPr>
        <p:txBody>
          <a:bodyPr wrap="none" lIns="0" rIns="0" tIns="0" bIns="0">
            <a:spAutoFit/>
          </a:bodyPr>
          <a:lstStyle/>
          <a:p>
            <a:r>
              <a:rPr sz="1055" b="0">
                <a:solidFill>
                  <a:srgbClr val="2E2E2E"/>
                </a:solidFill>
                <a:latin typeface="Calibri"/>
              </a:rPr>
              <a:t>CAGR serves a niche.</a:t>
            </a:r>
          </a:p>
        </p:txBody>
      </p:sp>
      <p:sp>
        <p:nvSpPr>
          <p:cNvPr id="168" name="TextBox 167"/>
          <p:cNvSpPr txBox="1"/>
          <p:nvPr/>
        </p:nvSpPr>
        <p:spPr>
          <a:xfrm>
            <a:off x="8524875" y="5842641"/>
            <a:ext cx="3048830" cy="194310"/>
          </a:xfrm>
          <a:prstGeom prst="rect">
            <a:avLst/>
          </a:prstGeom>
          <a:noFill/>
        </p:spPr>
        <p:txBody>
          <a:bodyPr wrap="none" lIns="0" rIns="0" tIns="0" bIns="0">
            <a:spAutoFit/>
          </a:bodyPr>
          <a:lstStyle/>
          <a:p>
            <a:r>
              <a:rPr sz="1150" b="1">
                <a:solidFill>
                  <a:srgbClr val="0B2E4A"/>
                </a:solidFill>
                <a:latin typeface="Calibri"/>
              </a:rPr>
              <a:t>The Distribution Channel segment is projected to</a:t>
            </a:r>
          </a:p>
        </p:txBody>
      </p:sp>
      <p:sp>
        <p:nvSpPr>
          <p:cNvPr id="169" name="TextBox 168"/>
          <p:cNvSpPr txBox="1"/>
          <p:nvPr/>
        </p:nvSpPr>
        <p:spPr>
          <a:xfrm>
            <a:off x="8524875" y="6017901"/>
            <a:ext cx="1177823" cy="194310"/>
          </a:xfrm>
          <a:prstGeom prst="rect">
            <a:avLst/>
          </a:prstGeom>
          <a:noFill/>
        </p:spPr>
        <p:txBody>
          <a:bodyPr wrap="none" lIns="0" rIns="0" tIns="0" bIns="0">
            <a:spAutoFit/>
          </a:bodyPr>
          <a:lstStyle/>
          <a:p>
            <a:r>
              <a:rPr sz="1150" b="1">
                <a:solidFill>
                  <a:srgbClr val="0B2E4A"/>
                </a:solidFill>
                <a:latin typeface="Calibri"/>
              </a:rPr>
              <a:t>grow at a CAGR of</a:t>
            </a:r>
          </a:p>
        </p:txBody>
      </p:sp>
      <p:pic>
        <p:nvPicPr>
          <p:cNvPr id="170" name="Picture 169" descr="lock.png"/>
          <p:cNvPicPr>
            <a:picLocks noChangeAspect="1"/>
          </p:cNvPicPr>
          <p:nvPr/>
        </p:nvPicPr>
        <p:blipFill>
          <a:blip r:embed="rId25"/>
          <a:stretch>
            <a:fillRect/>
          </a:stretch>
        </p:blipFill>
        <p:spPr>
          <a:xfrm>
            <a:off x="9651852" y="6007677"/>
            <a:ext cx="134549" cy="195707"/>
          </a:xfrm>
          <a:prstGeom prst="rect">
            <a:avLst/>
          </a:prstGeom>
        </p:spPr>
      </p:pic>
      <p:sp>
        <p:nvSpPr>
          <p:cNvPr id="171" name="TextBox 170"/>
          <p:cNvSpPr txBox="1"/>
          <p:nvPr/>
        </p:nvSpPr>
        <p:spPr>
          <a:xfrm>
            <a:off x="9826962" y="6017901"/>
            <a:ext cx="1232619" cy="194310"/>
          </a:xfrm>
          <a:prstGeom prst="rect">
            <a:avLst/>
          </a:prstGeom>
          <a:noFill/>
        </p:spPr>
        <p:txBody>
          <a:bodyPr wrap="none" lIns="0" rIns="0" tIns="0" bIns="0">
            <a:spAutoFit/>
          </a:bodyPr>
          <a:lstStyle/>
          <a:p>
            <a:r>
              <a:rPr sz="1150" b="1">
                <a:solidFill>
                  <a:srgbClr val="0B2E4A"/>
                </a:solidFill>
                <a:latin typeface="Calibri"/>
              </a:rPr>
              <a:t>from 2026 to 2036.</a:t>
            </a:r>
          </a:p>
        </p:txBody>
      </p:sp>
    </p:spTree>
  </p:cSld>
  <p:clrMapOvr>
    <a:masterClrMapping/>
  </p:clrMapOvr>
</p:sld>
</file>

<file path=ppt/slides/slide1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Structure &amp; Attractiveness, By Distribution Channel (Value)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Distribution Channel mix within each country and the attractiveness of each sub-segment on growth and size</a:t>
            </a:r>
          </a:p>
        </p:txBody>
      </p:sp>
      <p:sp>
        <p:nvSpPr>
          <p:cNvPr id="10" name="Rounded Rectangle 9"/>
          <p:cNvSpPr/>
          <p:nvPr/>
        </p:nvSpPr>
        <p:spPr>
          <a:xfrm>
            <a:off x="142875" y="981075"/>
            <a:ext cx="6343650"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6153150"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mix within each country (share of 2036 value) · row label = country size (US$ Mn), largest first</a:t>
            </a:r>
          </a:p>
        </p:txBody>
      </p:sp>
      <p:graphicFrame>
        <p:nvGraphicFramePr>
          <p:cNvPr id="12" name="Chart 11"/>
          <p:cNvGraphicFramePr>
            <a:graphicFrameLocks noGrp="1"/>
          </p:cNvGraphicFramePr>
          <p:nvPr/>
        </p:nvGraphicFramePr>
        <p:xfrm>
          <a:off x="238125" y="1438275"/>
          <a:ext cx="6153150" cy="3810000"/>
        </p:xfrm>
        <a:graphic>
          <a:graphicData uri="http://schemas.openxmlformats.org/drawingml/2006/chart">
            <c:chart xmlns:c="http://schemas.openxmlformats.org/drawingml/2006/chart" r:id="rId3"/>
          </a:graphicData>
        </a:graphic>
      </p:graphicFrame>
      <p:sp>
        <p:nvSpPr>
          <p:cNvPr id="13" name="Rounded Rectangle 12"/>
          <p:cNvSpPr/>
          <p:nvPr/>
        </p:nvSpPr>
        <p:spPr>
          <a:xfrm>
            <a:off x="6638925" y="981075"/>
            <a:ext cx="5400675" cy="4324350"/>
          </a:xfrm>
          <a:prstGeom prst="roundRect">
            <a:avLst>
              <a:gd name="adj" fmla="val 176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734175" y="1038225"/>
            <a:ext cx="521017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Market Attractiveness, By Distribution Channel · Bubble size represents 2036 value</a:t>
            </a:r>
          </a:p>
        </p:txBody>
      </p:sp>
      <p:graphicFrame>
        <p:nvGraphicFramePr>
          <p:cNvPr id="15" name="Chart 14"/>
          <p:cNvGraphicFramePr>
            <a:graphicFrameLocks noGrp="1"/>
          </p:cNvGraphicFramePr>
          <p:nvPr/>
        </p:nvGraphicFramePr>
        <p:xfrm>
          <a:off x="6734175" y="1438275"/>
          <a:ext cx="5210175" cy="3810000"/>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5438775"/>
            <a:ext cx="11906250" cy="1181100"/>
          </a:xfrm>
          <a:prstGeom prst="roundRect">
            <a:avLst>
              <a:gd name="adj" fmla="val 64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6"/>
          <a:stretch>
            <a:fillRect/>
          </a:stretch>
        </p:blipFill>
        <p:spPr>
          <a:xfrm>
            <a:off x="3484684" y="3024134"/>
            <a:ext cx="320946" cy="466830"/>
          </a:xfrm>
          <a:prstGeom prst="rect">
            <a:avLst/>
          </a:prstGeom>
        </p:spPr>
      </p:pic>
      <p:sp>
        <p:nvSpPr>
          <p:cNvPr id="19" name="TextBox 18"/>
          <p:cNvSpPr txBox="1"/>
          <p:nvPr/>
        </p:nvSpPr>
        <p:spPr>
          <a:xfrm>
            <a:off x="257175" y="5694045"/>
            <a:ext cx="11591627" cy="186689"/>
          </a:xfrm>
          <a:prstGeom prst="rect">
            <a:avLst/>
          </a:prstGeom>
          <a:noFill/>
        </p:spPr>
        <p:txBody>
          <a:bodyPr wrap="none" lIns="0" rIns="0" tIns="0" bIns="0">
            <a:spAutoFit/>
          </a:bodyPr>
          <a:lstStyle/>
          <a:p>
            <a:r>
              <a:rPr sz="1100" b="0">
                <a:solidFill>
                  <a:srgbClr val="2E2E2E"/>
                </a:solidFill>
                <a:latin typeface="Calibri"/>
              </a:rPr>
              <a:t>Supermarkets and hypermarkets followed by convenience stores are expected to be the two most attractive distribution channel segments in the North America matcha market in terms of value over the</a:t>
            </a:r>
          </a:p>
        </p:txBody>
      </p:sp>
      <p:sp>
        <p:nvSpPr>
          <p:cNvPr id="20" name="TextBox 19"/>
          <p:cNvSpPr txBox="1"/>
          <p:nvPr/>
        </p:nvSpPr>
        <p:spPr>
          <a:xfrm>
            <a:off x="257175" y="5861685"/>
            <a:ext cx="5597607" cy="186689"/>
          </a:xfrm>
          <a:prstGeom prst="rect">
            <a:avLst/>
          </a:prstGeom>
          <a:noFill/>
        </p:spPr>
        <p:txBody>
          <a:bodyPr wrap="none" lIns="0" rIns="0" tIns="0" bIns="0">
            <a:spAutoFit/>
          </a:bodyPr>
          <a:lstStyle/>
          <a:p>
            <a:r>
              <a:rPr sz="1100" b="0">
                <a:solidFill>
                  <a:srgbClr val="2E2E2E"/>
                </a:solidFill>
                <a:latin typeface="Calibri"/>
              </a:rPr>
              <a:t>forecast period. Supermarkets and hypermarkets and convenience stores exhibit a CAGR index of</a:t>
            </a:r>
          </a:p>
        </p:txBody>
      </p:sp>
      <p:pic>
        <p:nvPicPr>
          <p:cNvPr id="21" name="Picture 20" descr="lock.png"/>
          <p:cNvPicPr>
            <a:picLocks noChangeAspect="1"/>
          </p:cNvPicPr>
          <p:nvPr/>
        </p:nvPicPr>
        <p:blipFill>
          <a:blip r:embed="rId6"/>
          <a:stretch>
            <a:fillRect/>
          </a:stretch>
        </p:blipFill>
        <p:spPr>
          <a:xfrm>
            <a:off x="5802833" y="5851905"/>
            <a:ext cx="128699" cy="187198"/>
          </a:xfrm>
          <a:prstGeom prst="rect">
            <a:avLst/>
          </a:prstGeom>
        </p:spPr>
      </p:pic>
      <p:sp>
        <p:nvSpPr>
          <p:cNvPr id="22" name="TextBox 21"/>
          <p:cNvSpPr txBox="1"/>
          <p:nvPr/>
        </p:nvSpPr>
        <p:spPr>
          <a:xfrm>
            <a:off x="5970329"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3" name="Picture 22" descr="lock.png"/>
          <p:cNvPicPr>
            <a:picLocks noChangeAspect="1"/>
          </p:cNvPicPr>
          <p:nvPr/>
        </p:nvPicPr>
        <p:blipFill>
          <a:blip r:embed="rId6"/>
          <a:stretch>
            <a:fillRect/>
          </a:stretch>
        </p:blipFill>
        <p:spPr>
          <a:xfrm>
            <a:off x="6208223" y="5851905"/>
            <a:ext cx="128699" cy="187198"/>
          </a:xfrm>
          <a:prstGeom prst="rect">
            <a:avLst/>
          </a:prstGeom>
        </p:spPr>
      </p:pic>
      <p:sp>
        <p:nvSpPr>
          <p:cNvPr id="24" name="TextBox 23"/>
          <p:cNvSpPr txBox="1"/>
          <p:nvPr/>
        </p:nvSpPr>
        <p:spPr>
          <a:xfrm>
            <a:off x="6375719" y="5861685"/>
            <a:ext cx="1660921" cy="186689"/>
          </a:xfrm>
          <a:prstGeom prst="rect">
            <a:avLst/>
          </a:prstGeom>
          <a:noFill/>
        </p:spPr>
        <p:txBody>
          <a:bodyPr wrap="none" lIns="0" rIns="0" tIns="0" bIns="0">
            <a:spAutoFit/>
          </a:bodyPr>
          <a:lstStyle/>
          <a:p>
            <a:r>
              <a:rPr sz="1100" b="0">
                <a:solidFill>
                  <a:srgbClr val="2E2E2E"/>
                </a:solidFill>
                <a:latin typeface="Calibri"/>
              </a:rPr>
              <a:t>and a market share index of</a:t>
            </a:r>
          </a:p>
        </p:txBody>
      </p:sp>
      <p:pic>
        <p:nvPicPr>
          <p:cNvPr id="25" name="Picture 24" descr="lock.png"/>
          <p:cNvPicPr>
            <a:picLocks noChangeAspect="1"/>
          </p:cNvPicPr>
          <p:nvPr/>
        </p:nvPicPr>
        <p:blipFill>
          <a:blip r:embed="rId6"/>
          <a:stretch>
            <a:fillRect/>
          </a:stretch>
        </p:blipFill>
        <p:spPr>
          <a:xfrm>
            <a:off x="7984693" y="5851905"/>
            <a:ext cx="128699" cy="187198"/>
          </a:xfrm>
          <a:prstGeom prst="rect">
            <a:avLst/>
          </a:prstGeom>
        </p:spPr>
      </p:pic>
      <p:sp>
        <p:nvSpPr>
          <p:cNvPr id="26" name="TextBox 25"/>
          <p:cNvSpPr txBox="1"/>
          <p:nvPr/>
        </p:nvSpPr>
        <p:spPr>
          <a:xfrm>
            <a:off x="8152189" y="5861685"/>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27" name="Picture 26" descr="lock.png"/>
          <p:cNvPicPr>
            <a:picLocks noChangeAspect="1"/>
          </p:cNvPicPr>
          <p:nvPr/>
        </p:nvPicPr>
        <p:blipFill>
          <a:blip r:embed="rId6"/>
          <a:stretch>
            <a:fillRect/>
          </a:stretch>
        </p:blipFill>
        <p:spPr>
          <a:xfrm>
            <a:off x="8390083" y="5851905"/>
            <a:ext cx="128699" cy="187198"/>
          </a:xfrm>
          <a:prstGeom prst="rect">
            <a:avLst/>
          </a:prstGeom>
        </p:spPr>
      </p:pic>
      <p:sp>
        <p:nvSpPr>
          <p:cNvPr id="28" name="TextBox 27"/>
          <p:cNvSpPr txBox="1"/>
          <p:nvPr/>
        </p:nvSpPr>
        <p:spPr>
          <a:xfrm>
            <a:off x="8557579" y="5861685"/>
            <a:ext cx="2606352" cy="186689"/>
          </a:xfrm>
          <a:prstGeom prst="rect">
            <a:avLst/>
          </a:prstGeom>
          <a:noFill/>
        </p:spPr>
        <p:txBody>
          <a:bodyPr wrap="none" lIns="0" rIns="0" tIns="0" bIns="0">
            <a:spAutoFit/>
          </a:bodyPr>
          <a:lstStyle/>
          <a:p>
            <a:r>
              <a:rPr sz="1100" b="0">
                <a:solidFill>
                  <a:srgbClr val="2E2E2E"/>
                </a:solidFill>
                <a:latin typeface="Calibri"/>
              </a:rPr>
              <a:t>respectively, against the segment average of</a:t>
            </a:r>
          </a:p>
        </p:txBody>
      </p:sp>
      <p:pic>
        <p:nvPicPr>
          <p:cNvPr id="29" name="Picture 28" descr="lock.png"/>
          <p:cNvPicPr>
            <a:picLocks noChangeAspect="1"/>
          </p:cNvPicPr>
          <p:nvPr/>
        </p:nvPicPr>
        <p:blipFill>
          <a:blip r:embed="rId6"/>
          <a:stretch>
            <a:fillRect/>
          </a:stretch>
        </p:blipFill>
        <p:spPr>
          <a:xfrm>
            <a:off x="11111983" y="5851905"/>
            <a:ext cx="128699" cy="187198"/>
          </a:xfrm>
          <a:prstGeom prst="rect">
            <a:avLst/>
          </a:prstGeom>
        </p:spPr>
      </p:pic>
      <p:sp>
        <p:nvSpPr>
          <p:cNvPr id="30" name="TextBox 29"/>
          <p:cNvSpPr txBox="1"/>
          <p:nvPr/>
        </p:nvSpPr>
        <p:spPr>
          <a:xfrm>
            <a:off x="11279479" y="586168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31" name="TextBox 30"/>
          <p:cNvSpPr txBox="1"/>
          <p:nvPr/>
        </p:nvSpPr>
        <p:spPr>
          <a:xfrm>
            <a:off x="257175" y="6029325"/>
            <a:ext cx="11372783" cy="186689"/>
          </a:xfrm>
          <a:prstGeom prst="rect">
            <a:avLst/>
          </a:prstGeom>
          <a:noFill/>
        </p:spPr>
        <p:txBody>
          <a:bodyPr wrap="none" lIns="0" rIns="0" tIns="0" bIns="0">
            <a:spAutoFit/>
          </a:bodyPr>
          <a:lstStyle/>
          <a:p>
            <a:r>
              <a:rPr sz="1100" b="0">
                <a:solidFill>
                  <a:srgbClr val="2E2E2E"/>
                </a:solidFill>
                <a:latin typeface="Calibri"/>
              </a:rPr>
              <a:t>The other retail channels segment is expected to be less attractive as compared to other segments over the forecast period, owing to its lower CAGR and incremental opportunity. Bubbles right of the</a:t>
            </a:r>
          </a:p>
        </p:txBody>
      </p:sp>
      <p:sp>
        <p:nvSpPr>
          <p:cNvPr id="32" name="TextBox 31"/>
          <p:cNvSpPr txBox="1"/>
          <p:nvPr/>
        </p:nvSpPr>
        <p:spPr>
          <a:xfrm>
            <a:off x="257175" y="6196965"/>
            <a:ext cx="3224344" cy="186689"/>
          </a:xfrm>
          <a:prstGeom prst="rect">
            <a:avLst/>
          </a:prstGeom>
          <a:noFill/>
        </p:spPr>
        <p:txBody>
          <a:bodyPr wrap="none" lIns="0" rIns="0" tIns="0" bIns="0">
            <a:spAutoFit/>
          </a:bodyPr>
          <a:lstStyle/>
          <a:p>
            <a:r>
              <a:rPr sz="1100" b="0">
                <a:solidFill>
                  <a:srgbClr val="2E2E2E"/>
                </a:solidFill>
                <a:latin typeface="Calibri"/>
              </a:rPr>
              <a:t>CAGR-Index line grow faster than the segment average.</a:t>
            </a:r>
          </a:p>
        </p:txBody>
      </p:sp>
      <p:sp>
        <p:nvSpPr>
          <p:cNvPr id="33" name="lockshield_12"/>
          <p:cNvSpPr/>
          <p:nvPr/>
        </p:nvSpPr>
        <p:spPr>
          <a:xfrm>
            <a:off x="238125" y="1438275"/>
            <a:ext cx="6153150"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lockshield_15"/>
          <p:cNvSpPr/>
          <p:nvPr/>
        </p:nvSpPr>
        <p:spPr>
          <a:xfrm>
            <a:off x="6734175" y="1438275"/>
            <a:ext cx="5210175" cy="38100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B2B / Institutional and Ingredient Sales</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Supermarkets and Hypermarkets</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Convenience Stores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67450"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Specialty Tea and Health Food Stores</a:t>
            </a:r>
          </a:p>
        </p:txBody>
      </p:sp>
      <p:graphicFrame>
        <p:nvGraphicFramePr>
          <p:cNvPr id="21" name="Chart 20"/>
          <p:cNvGraphicFramePr>
            <a:graphicFrameLocks noGrp="1"/>
          </p:cNvGraphicFramePr>
          <p:nvPr/>
        </p:nvGraphicFramePr>
        <p:xfrm>
          <a:off x="6267450" y="4324350"/>
          <a:ext cx="5686425" cy="2238375"/>
        </p:xfrm>
        <a:graphic>
          <a:graphicData uri="http://schemas.openxmlformats.org/drawingml/2006/chart">
            <c:chart xmlns:c="http://schemas.openxmlformats.org/drawingml/2006/chart" r:id="rId6"/>
          </a:graphicData>
        </a:graphic>
      </p:graphicFrame>
      <p:sp>
        <p:nvSpPr>
          <p:cNvPr id="22" name="TextBox 2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 name="Picture 22" descr="lock.png"/>
          <p:cNvPicPr>
            <a:picLocks noChangeAspect="1"/>
          </p:cNvPicPr>
          <p:nvPr/>
        </p:nvPicPr>
        <p:blipFill>
          <a:blip r:embed="rId8"/>
          <a:stretch>
            <a:fillRect/>
          </a:stretch>
        </p:blipFill>
        <p:spPr>
          <a:xfrm>
            <a:off x="3100230" y="2330679"/>
            <a:ext cx="252890" cy="367840"/>
          </a:xfrm>
          <a:prstGeom prst="rect">
            <a:avLst/>
          </a:prstGeom>
        </p:spPr>
      </p:pic>
      <p:pic>
        <p:nvPicPr>
          <p:cNvPr id="24" name="Picture 23" descr="lock.png"/>
          <p:cNvPicPr>
            <a:picLocks noChangeAspect="1"/>
          </p:cNvPicPr>
          <p:nvPr/>
        </p:nvPicPr>
        <p:blipFill>
          <a:blip r:embed="rId8"/>
          <a:stretch>
            <a:fillRect/>
          </a:stretch>
        </p:blipFill>
        <p:spPr>
          <a:xfrm>
            <a:off x="9129555" y="2330679"/>
            <a:ext cx="252890" cy="367840"/>
          </a:xfrm>
          <a:prstGeom prst="rect">
            <a:avLst/>
          </a:prstGeom>
        </p:spPr>
      </p:pic>
      <p:pic>
        <p:nvPicPr>
          <p:cNvPr id="25" name="Picture 24" descr="lock.png"/>
          <p:cNvPicPr>
            <a:picLocks noChangeAspect="1"/>
          </p:cNvPicPr>
          <p:nvPr/>
        </p:nvPicPr>
        <p:blipFill>
          <a:blip r:embed="rId8"/>
          <a:stretch>
            <a:fillRect/>
          </a:stretch>
        </p:blipFill>
        <p:spPr>
          <a:xfrm>
            <a:off x="3100230" y="5216754"/>
            <a:ext cx="252890" cy="367840"/>
          </a:xfrm>
          <a:prstGeom prst="rect">
            <a:avLst/>
          </a:prstGeom>
        </p:spPr>
      </p:pic>
      <p:pic>
        <p:nvPicPr>
          <p:cNvPr id="26" name="Picture 25" descr="lock.png"/>
          <p:cNvPicPr>
            <a:picLocks noChangeAspect="1"/>
          </p:cNvPicPr>
          <p:nvPr/>
        </p:nvPicPr>
        <p:blipFill>
          <a:blip r:embed="rId8"/>
          <a:stretch>
            <a:fillRect/>
          </a:stretch>
        </p:blipFill>
        <p:spPr>
          <a:xfrm>
            <a:off x="9129555" y="5216754"/>
            <a:ext cx="252890" cy="367840"/>
          </a:xfrm>
          <a:prstGeom prst="rect">
            <a:avLst/>
          </a:prstGeom>
        </p:spPr>
      </p:pic>
      <p:sp>
        <p:nvSpPr>
          <p:cNvPr id="27"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21"/>
          <p:cNvSpPr/>
          <p:nvPr/>
        </p:nvSpPr>
        <p:spPr>
          <a:xfrm>
            <a:off x="6267450"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Analysis, By Distribution Channel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build-up by Distribution Channel and the absolute $ opportunity each sub-segment adds, 2026–2036</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Online Retail</a:t>
            </a:r>
          </a:p>
        </p:txBody>
      </p:sp>
      <p:graphicFrame>
        <p:nvGraphicFramePr>
          <p:cNvPr id="12" name="Chart 11"/>
          <p:cNvGraphicFramePr>
            <a:graphicFrameLocks noGrp="1"/>
          </p:cNvGraphicFramePr>
          <p:nvPr/>
        </p:nvGraphicFramePr>
        <p:xfrm>
          <a:off x="238125" y="1438275"/>
          <a:ext cx="5686425" cy="223837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Foodservice and HoReCa</a:t>
            </a:r>
          </a:p>
        </p:txBody>
      </p:sp>
      <p:graphicFrame>
        <p:nvGraphicFramePr>
          <p:cNvPr id="15" name="Chart 14"/>
          <p:cNvGraphicFramePr>
            <a:graphicFrameLocks noGrp="1"/>
          </p:cNvGraphicFramePr>
          <p:nvPr/>
        </p:nvGraphicFramePr>
        <p:xfrm>
          <a:off x="6267450" y="1438275"/>
          <a:ext cx="5686425" cy="2238375"/>
        </p:xfrm>
        <a:graphic>
          <a:graphicData uri="http://schemas.openxmlformats.org/drawingml/2006/chart">
            <c:chart xmlns:c="http://schemas.openxmlformats.org/drawingml/2006/chart" r:id="rId4"/>
          </a:graphicData>
        </a:graphic>
      </p:graphicFrame>
      <p:sp>
        <p:nvSpPr>
          <p:cNvPr id="16" name="Rounded Rectangle 15"/>
          <p:cNvSpPr/>
          <p:nvPr/>
        </p:nvSpPr>
        <p:spPr>
          <a:xfrm>
            <a:off x="142875"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3924300"/>
            <a:ext cx="5686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Incremental $ Opportunity (US$ Mn), 2026-2036, By Other Retail Channels</a:t>
            </a:r>
          </a:p>
        </p:txBody>
      </p:sp>
      <p:graphicFrame>
        <p:nvGraphicFramePr>
          <p:cNvPr id="18" name="Chart 17"/>
          <p:cNvGraphicFramePr>
            <a:graphicFrameLocks noGrp="1"/>
          </p:cNvGraphicFramePr>
          <p:nvPr/>
        </p:nvGraphicFramePr>
        <p:xfrm>
          <a:off x="238125" y="4324350"/>
          <a:ext cx="5686425" cy="2238375"/>
        </p:xfrm>
        <a:graphic>
          <a:graphicData uri="http://schemas.openxmlformats.org/drawingml/2006/chart">
            <c:chart xmlns:c="http://schemas.openxmlformats.org/drawingml/2006/chart" r:id="rId5"/>
          </a:graphicData>
        </a:graphic>
      </p:graphicFrame>
      <p:sp>
        <p:nvSpPr>
          <p:cNvPr id="19" name="Rounded Rectangle 18"/>
          <p:cNvSpPr/>
          <p:nvPr/>
        </p:nvSpPr>
        <p:spPr>
          <a:xfrm>
            <a:off x="6172200" y="3867150"/>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05550" y="3952875"/>
            <a:ext cx="5610225" cy="407620"/>
          </a:xfrm>
          <a:prstGeom prst="rect">
            <a:avLst/>
          </a:prstGeom>
          <a:noFill/>
        </p:spPr>
        <p:txBody>
          <a:bodyPr wrap="square" lIns="0" rIns="19050" tIns="9525" bIns="9525">
            <a:spAutoFit/>
          </a:bodyPr>
          <a:lstStyle/>
          <a:p>
            <a:pPr algn="l"/>
            <a:r>
              <a:rPr sz="1300" b="1">
                <a:solidFill>
                  <a:srgbClr val="0B2E4A"/>
                </a:solidFill>
                <a:latin typeface="Calibri"/>
              </a:rPr>
              <a:t>Summary of North America Absolute $ Opportunity Analysis, By Distribution Channel</a:t>
            </a:r>
          </a:p>
        </p:txBody>
      </p:sp>
      <p:sp>
        <p:nvSpPr>
          <p:cNvPr id="21" name="Rectangle 20"/>
          <p:cNvSpPr/>
          <p:nvPr/>
        </p:nvSpPr>
        <p:spPr>
          <a:xfrm>
            <a:off x="6305550" y="4389070"/>
            <a:ext cx="561022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05550" y="4474795"/>
            <a:ext cx="5610225" cy="206888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7"/>
          <a:stretch>
            <a:fillRect/>
          </a:stretch>
        </p:blipFill>
        <p:spPr>
          <a:xfrm>
            <a:off x="3100230" y="2330679"/>
            <a:ext cx="252890" cy="367840"/>
          </a:xfrm>
          <a:prstGeom prst="rect">
            <a:avLst/>
          </a:prstGeom>
        </p:spPr>
      </p:pic>
      <p:pic>
        <p:nvPicPr>
          <p:cNvPr id="25" name="Picture 24" descr="lock.png"/>
          <p:cNvPicPr>
            <a:picLocks noChangeAspect="1"/>
          </p:cNvPicPr>
          <p:nvPr/>
        </p:nvPicPr>
        <p:blipFill>
          <a:blip r:embed="rId7"/>
          <a:stretch>
            <a:fillRect/>
          </a:stretch>
        </p:blipFill>
        <p:spPr>
          <a:xfrm>
            <a:off x="9129555" y="2330679"/>
            <a:ext cx="252890" cy="367840"/>
          </a:xfrm>
          <a:prstGeom prst="rect">
            <a:avLst/>
          </a:prstGeom>
        </p:spPr>
      </p:pic>
      <p:pic>
        <p:nvPicPr>
          <p:cNvPr id="26" name="Picture 25" descr="lock.png"/>
          <p:cNvPicPr>
            <a:picLocks noChangeAspect="1"/>
          </p:cNvPicPr>
          <p:nvPr/>
        </p:nvPicPr>
        <p:blipFill>
          <a:blip r:embed="rId7"/>
          <a:stretch>
            <a:fillRect/>
          </a:stretch>
        </p:blipFill>
        <p:spPr>
          <a:xfrm>
            <a:off x="3100230" y="5216754"/>
            <a:ext cx="252890" cy="367840"/>
          </a:xfrm>
          <a:prstGeom prst="rect">
            <a:avLst/>
          </a:prstGeom>
        </p:spPr>
      </p:pic>
      <p:sp>
        <p:nvSpPr>
          <p:cNvPr id="27" name="TextBox 26"/>
          <p:cNvSpPr txBox="1"/>
          <p:nvPr/>
        </p:nvSpPr>
        <p:spPr>
          <a:xfrm>
            <a:off x="6305550" y="4484320"/>
            <a:ext cx="5434387" cy="194310"/>
          </a:xfrm>
          <a:prstGeom prst="rect">
            <a:avLst/>
          </a:prstGeom>
          <a:noFill/>
        </p:spPr>
        <p:txBody>
          <a:bodyPr wrap="none" lIns="0" rIns="0" tIns="0" bIns="0">
            <a:spAutoFit/>
          </a:bodyPr>
          <a:lstStyle/>
          <a:p>
            <a:r>
              <a:rPr sz="1150" b="0">
                <a:solidFill>
                  <a:srgbClr val="2E2E2E"/>
                </a:solidFill>
                <a:latin typeface="Calibri"/>
              </a:rPr>
              <a:t>By 2036, supermarkets and hypermarkets segment is anticipated to witness an increase of</a:t>
            </a:r>
          </a:p>
        </p:txBody>
      </p:sp>
      <p:pic>
        <p:nvPicPr>
          <p:cNvPr id="28" name="Picture 27" descr="lock.png"/>
          <p:cNvPicPr>
            <a:picLocks noChangeAspect="1"/>
          </p:cNvPicPr>
          <p:nvPr/>
        </p:nvPicPr>
        <p:blipFill>
          <a:blip r:embed="rId7"/>
          <a:stretch>
            <a:fillRect/>
          </a:stretch>
        </p:blipFill>
        <p:spPr>
          <a:xfrm>
            <a:off x="6291470" y="4649356"/>
            <a:ext cx="134549" cy="195707"/>
          </a:xfrm>
          <a:prstGeom prst="rect">
            <a:avLst/>
          </a:prstGeom>
        </p:spPr>
      </p:pic>
      <p:sp>
        <p:nvSpPr>
          <p:cNvPr id="29" name="TextBox 28"/>
          <p:cNvSpPr txBox="1"/>
          <p:nvPr/>
        </p:nvSpPr>
        <p:spPr>
          <a:xfrm>
            <a:off x="6466579" y="4659580"/>
            <a:ext cx="5394188" cy="194310"/>
          </a:xfrm>
          <a:prstGeom prst="rect">
            <a:avLst/>
          </a:prstGeom>
          <a:noFill/>
        </p:spPr>
        <p:txBody>
          <a:bodyPr wrap="none" lIns="0" rIns="0" tIns="0" bIns="0">
            <a:spAutoFit/>
          </a:bodyPr>
          <a:lstStyle/>
          <a:p>
            <a:r>
              <a:rPr sz="1150" b="0">
                <a:solidFill>
                  <a:srgbClr val="2E2E2E"/>
                </a:solidFill>
                <a:latin typeface="Calibri"/>
              </a:rPr>
              <a:t>X in terms of value as compared to 2026. The supermarkets and hypermarkets segment is</a:t>
            </a:r>
          </a:p>
        </p:txBody>
      </p:sp>
      <p:sp>
        <p:nvSpPr>
          <p:cNvPr id="30" name="TextBox 29"/>
          <p:cNvSpPr txBox="1"/>
          <p:nvPr/>
        </p:nvSpPr>
        <p:spPr>
          <a:xfrm>
            <a:off x="6305550" y="4834840"/>
            <a:ext cx="3285306" cy="194310"/>
          </a:xfrm>
          <a:prstGeom prst="rect">
            <a:avLst/>
          </a:prstGeom>
          <a:noFill/>
        </p:spPr>
        <p:txBody>
          <a:bodyPr wrap="none" lIns="0" rIns="0" tIns="0" bIns="0">
            <a:spAutoFit/>
          </a:bodyPr>
          <a:lstStyle/>
          <a:p>
            <a:r>
              <a:rPr sz="1150" b="0">
                <a:solidFill>
                  <a:srgbClr val="2E2E2E"/>
                </a:solidFill>
                <a:latin typeface="Calibri"/>
              </a:rPr>
              <a:t>expected to create an incremental opportunity of US$</a:t>
            </a:r>
          </a:p>
        </p:txBody>
      </p:sp>
      <p:pic>
        <p:nvPicPr>
          <p:cNvPr id="31" name="Picture 30" descr="lock.png"/>
          <p:cNvPicPr>
            <a:picLocks noChangeAspect="1"/>
          </p:cNvPicPr>
          <p:nvPr/>
        </p:nvPicPr>
        <p:blipFill>
          <a:blip r:embed="rId7"/>
          <a:stretch>
            <a:fillRect/>
          </a:stretch>
        </p:blipFill>
        <p:spPr>
          <a:xfrm>
            <a:off x="9540010" y="4824616"/>
            <a:ext cx="134549" cy="195707"/>
          </a:xfrm>
          <a:prstGeom prst="rect">
            <a:avLst/>
          </a:prstGeom>
        </p:spPr>
      </p:pic>
      <p:sp>
        <p:nvSpPr>
          <p:cNvPr id="32" name="TextBox 31"/>
          <p:cNvSpPr txBox="1"/>
          <p:nvPr/>
        </p:nvSpPr>
        <p:spPr>
          <a:xfrm>
            <a:off x="9715119" y="4834840"/>
            <a:ext cx="2088381" cy="194310"/>
          </a:xfrm>
          <a:prstGeom prst="rect">
            <a:avLst/>
          </a:prstGeom>
          <a:noFill/>
        </p:spPr>
        <p:txBody>
          <a:bodyPr wrap="none" lIns="0" rIns="0" tIns="0" bIns="0">
            <a:spAutoFit/>
          </a:bodyPr>
          <a:lstStyle/>
          <a:p>
            <a:r>
              <a:rPr sz="1150" b="0">
                <a:solidFill>
                  <a:srgbClr val="2E2E2E"/>
                </a:solidFill>
                <a:latin typeface="Calibri"/>
              </a:rPr>
              <a:t>Mn for the overall matcha market</a:t>
            </a:r>
          </a:p>
        </p:txBody>
      </p:sp>
      <p:sp>
        <p:nvSpPr>
          <p:cNvPr id="33" name="TextBox 32"/>
          <p:cNvSpPr txBox="1"/>
          <p:nvPr/>
        </p:nvSpPr>
        <p:spPr>
          <a:xfrm>
            <a:off x="6305550" y="5010100"/>
            <a:ext cx="1220923" cy="194310"/>
          </a:xfrm>
          <a:prstGeom prst="rect">
            <a:avLst/>
          </a:prstGeom>
          <a:noFill/>
        </p:spPr>
        <p:txBody>
          <a:bodyPr wrap="none" lIns="0" rIns="0" tIns="0" bIns="0">
            <a:spAutoFit/>
          </a:bodyPr>
          <a:lstStyle/>
          <a:p>
            <a:r>
              <a:rPr sz="1150" b="0">
                <a:solidFill>
                  <a:srgbClr val="2E2E2E"/>
                </a:solidFill>
                <a:latin typeface="Calibri"/>
              </a:rPr>
              <a:t>from 2026 to 2036.</a:t>
            </a:r>
          </a:p>
        </p:txBody>
      </p:sp>
      <p:sp>
        <p:nvSpPr>
          <p:cNvPr id="34" name="TextBox 33"/>
          <p:cNvSpPr txBox="1"/>
          <p:nvPr/>
        </p:nvSpPr>
        <p:spPr>
          <a:xfrm>
            <a:off x="6305550" y="5237938"/>
            <a:ext cx="5388768" cy="194310"/>
          </a:xfrm>
          <a:prstGeom prst="rect">
            <a:avLst/>
          </a:prstGeom>
          <a:noFill/>
        </p:spPr>
        <p:txBody>
          <a:bodyPr wrap="none" lIns="0" rIns="0" tIns="0" bIns="0">
            <a:spAutoFit/>
          </a:bodyPr>
          <a:lstStyle/>
          <a:p>
            <a:r>
              <a:rPr sz="1150" b="0">
                <a:solidFill>
                  <a:srgbClr val="2E2E2E"/>
                </a:solidFill>
                <a:latin typeface="Calibri"/>
              </a:rPr>
              <a:t>The convenience stores segment is expected to create an incremental opportunity of US$</a:t>
            </a:r>
          </a:p>
        </p:txBody>
      </p:sp>
      <p:pic>
        <p:nvPicPr>
          <p:cNvPr id="35" name="Picture 34" descr="lock.png"/>
          <p:cNvPicPr>
            <a:picLocks noChangeAspect="1"/>
          </p:cNvPicPr>
          <p:nvPr/>
        </p:nvPicPr>
        <p:blipFill>
          <a:blip r:embed="rId7"/>
          <a:stretch>
            <a:fillRect/>
          </a:stretch>
        </p:blipFill>
        <p:spPr>
          <a:xfrm>
            <a:off x="6291470" y="5402974"/>
            <a:ext cx="134549" cy="195707"/>
          </a:xfrm>
          <a:prstGeom prst="rect">
            <a:avLst/>
          </a:prstGeom>
        </p:spPr>
      </p:pic>
      <p:sp>
        <p:nvSpPr>
          <p:cNvPr id="36" name="TextBox 35"/>
          <p:cNvSpPr txBox="1"/>
          <p:nvPr/>
        </p:nvSpPr>
        <p:spPr>
          <a:xfrm>
            <a:off x="6466579" y="5413197"/>
            <a:ext cx="5275522" cy="194310"/>
          </a:xfrm>
          <a:prstGeom prst="rect">
            <a:avLst/>
          </a:prstGeom>
          <a:noFill/>
        </p:spPr>
        <p:txBody>
          <a:bodyPr wrap="none" lIns="0" rIns="0" tIns="0" bIns="0">
            <a:spAutoFit/>
          </a:bodyPr>
          <a:lstStyle/>
          <a:p>
            <a:r>
              <a:rPr sz="1150" b="0">
                <a:solidFill>
                  <a:srgbClr val="2E2E2E"/>
                </a:solidFill>
                <a:latin typeface="Calibri"/>
              </a:rPr>
              <a:t>Mn for the overall matcha market from 2026 to 2036. The specialty tea and health food</a:t>
            </a:r>
          </a:p>
        </p:txBody>
      </p:sp>
      <p:sp>
        <p:nvSpPr>
          <p:cNvPr id="37" name="TextBox 36"/>
          <p:cNvSpPr txBox="1"/>
          <p:nvPr/>
        </p:nvSpPr>
        <p:spPr>
          <a:xfrm>
            <a:off x="6305550" y="5588457"/>
            <a:ext cx="4353011" cy="194310"/>
          </a:xfrm>
          <a:prstGeom prst="rect">
            <a:avLst/>
          </a:prstGeom>
          <a:noFill/>
        </p:spPr>
        <p:txBody>
          <a:bodyPr wrap="none" lIns="0" rIns="0" tIns="0" bIns="0">
            <a:spAutoFit/>
          </a:bodyPr>
          <a:lstStyle/>
          <a:p>
            <a:r>
              <a:rPr sz="1150" b="0">
                <a:solidFill>
                  <a:srgbClr val="2E2E2E"/>
                </a:solidFill>
                <a:latin typeface="Calibri"/>
              </a:rPr>
              <a:t>stores segment is expected to create an incremental opportunity of US$</a:t>
            </a:r>
          </a:p>
        </p:txBody>
      </p:sp>
      <p:pic>
        <p:nvPicPr>
          <p:cNvPr id="38" name="Picture 37" descr="lock.png"/>
          <p:cNvPicPr>
            <a:picLocks noChangeAspect="1"/>
          </p:cNvPicPr>
          <p:nvPr/>
        </p:nvPicPr>
        <p:blipFill>
          <a:blip r:embed="rId7"/>
          <a:stretch>
            <a:fillRect/>
          </a:stretch>
        </p:blipFill>
        <p:spPr>
          <a:xfrm>
            <a:off x="10607715" y="5578234"/>
            <a:ext cx="134549" cy="195707"/>
          </a:xfrm>
          <a:prstGeom prst="rect">
            <a:avLst/>
          </a:prstGeom>
        </p:spPr>
      </p:pic>
      <p:sp>
        <p:nvSpPr>
          <p:cNvPr id="39" name="TextBox 38"/>
          <p:cNvSpPr txBox="1"/>
          <p:nvPr/>
        </p:nvSpPr>
        <p:spPr>
          <a:xfrm>
            <a:off x="10782825" y="5588457"/>
            <a:ext cx="715168" cy="194310"/>
          </a:xfrm>
          <a:prstGeom prst="rect">
            <a:avLst/>
          </a:prstGeom>
          <a:noFill/>
        </p:spPr>
        <p:txBody>
          <a:bodyPr wrap="none" lIns="0" rIns="0" tIns="0" bIns="0">
            <a:spAutoFit/>
          </a:bodyPr>
          <a:lstStyle/>
          <a:p>
            <a:r>
              <a:rPr sz="1150" b="0">
                <a:solidFill>
                  <a:srgbClr val="2E2E2E"/>
                </a:solidFill>
                <a:latin typeface="Calibri"/>
              </a:rPr>
              <a:t>Mn for the</a:t>
            </a:r>
          </a:p>
        </p:txBody>
      </p:sp>
      <p:sp>
        <p:nvSpPr>
          <p:cNvPr id="40" name="TextBox 39"/>
          <p:cNvSpPr txBox="1"/>
          <p:nvPr/>
        </p:nvSpPr>
        <p:spPr>
          <a:xfrm>
            <a:off x="6305550" y="5763717"/>
            <a:ext cx="2594136" cy="194310"/>
          </a:xfrm>
          <a:prstGeom prst="rect">
            <a:avLst/>
          </a:prstGeom>
          <a:noFill/>
        </p:spPr>
        <p:txBody>
          <a:bodyPr wrap="none" lIns="0" rIns="0" tIns="0" bIns="0">
            <a:spAutoFit/>
          </a:bodyPr>
          <a:lstStyle/>
          <a:p>
            <a:r>
              <a:rPr sz="1150" b="0">
                <a:solidFill>
                  <a:srgbClr val="2E2E2E"/>
                </a:solidFill>
                <a:latin typeface="Calibri"/>
              </a:rPr>
              <a:t>overall matcha market from 2026 to 2036.</a:t>
            </a:r>
          </a:p>
        </p:txBody>
      </p:sp>
      <p:sp>
        <p:nvSpPr>
          <p:cNvPr id="41" name="lockshield_12"/>
          <p:cNvSpPr/>
          <p:nvPr/>
        </p:nvSpPr>
        <p:spPr>
          <a:xfrm>
            <a:off x="238125"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lockshield_15"/>
          <p:cNvSpPr/>
          <p:nvPr/>
        </p:nvSpPr>
        <p:spPr>
          <a:xfrm>
            <a:off x="6267450" y="1438275"/>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lockshield_18"/>
          <p:cNvSpPr/>
          <p:nvPr/>
        </p:nvSpPr>
        <p:spPr>
          <a:xfrm>
            <a:off x="238125" y="4324350"/>
            <a:ext cx="5686425" cy="22383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1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Analysis, By Distribution Channel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by Distribution Channel, 2021–2036, highlighting the sub-segments driving growth</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By Distribution Channel (US$ Mn)</a:t>
            </a:r>
          </a:p>
        </p:txBody>
      </p:sp>
      <p:graphicFrame>
        <p:nvGraphicFramePr>
          <p:cNvPr id="12" name="Table 11"/>
          <p:cNvGraphicFramePr>
            <a:graphicFrameLocks noGrp="1"/>
          </p:cNvGraphicFramePr>
          <p:nvPr/>
        </p:nvGraphicFramePr>
        <p:xfrm>
          <a:off x="152400" y="1238250"/>
          <a:ext cx="11888824" cy="2219326"/>
        </p:xfrm>
        <a:graphic>
          <a:graphicData uri="http://schemas.openxmlformats.org/drawingml/2006/table">
            <a:tbl>
              <a:tblPr>
                <a:tableStyleId>{5C22544A-7EE6-4342-B048-85BDC9FD1C3A}</a:tableStyleId>
              </a:tblPr>
              <a:tblGrid>
                <a:gridCol w="2486479"/>
                <a:gridCol w="552984"/>
                <a:gridCol w="552984"/>
                <a:gridCol w="552984"/>
                <a:gridCol w="552984"/>
                <a:gridCol w="552984"/>
                <a:gridCol w="552984"/>
                <a:gridCol w="552984"/>
                <a:gridCol w="552984"/>
                <a:gridCol w="552984"/>
                <a:gridCol w="552984"/>
                <a:gridCol w="552984"/>
                <a:gridCol w="552984"/>
                <a:gridCol w="552984"/>
                <a:gridCol w="552984"/>
                <a:gridCol w="552984"/>
                <a:gridCol w="552984"/>
                <a:gridCol w="554601"/>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B2B / Institutional and Ingredient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Supermarkets and Hypermarkets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Convenience Stores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Specialty Tea and Health Food Stores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Online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Foodservice and HoReCa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Retail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1190625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886200"/>
            <a:ext cx="11639550" cy="209550"/>
          </a:xfrm>
          <a:prstGeom prst="rect">
            <a:avLst/>
          </a:prstGeom>
          <a:noFill/>
        </p:spPr>
        <p:txBody>
          <a:bodyPr wrap="square" lIns="0" rIns="19050" tIns="9525" bIns="9525">
            <a:spAutoFit/>
          </a:bodyPr>
          <a:lstStyle/>
          <a:p>
            <a:pPr algn="l"/>
            <a:r>
              <a:rPr sz="1300" b="1">
                <a:solidFill>
                  <a:srgbClr val="0B2E4A"/>
                </a:solidFill>
                <a:latin typeface="Calibri"/>
              </a:rPr>
              <a:t>North America Value Analysis, By Distribution Channel</a:t>
            </a:r>
          </a:p>
        </p:txBody>
      </p:sp>
      <p:sp>
        <p:nvSpPr>
          <p:cNvPr id="16" name="Rectangle 15"/>
          <p:cNvSpPr/>
          <p:nvPr/>
        </p:nvSpPr>
        <p:spPr>
          <a:xfrm>
            <a:off x="276225" y="41243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210050"/>
            <a:ext cx="1163955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138801" y="2204276"/>
            <a:ext cx="366712" cy="533400"/>
          </a:xfrm>
          <a:prstGeom prst="rect">
            <a:avLst/>
          </a:prstGeom>
        </p:spPr>
      </p:pic>
      <p:sp>
        <p:nvSpPr>
          <p:cNvPr id="20" name="TextBox 19"/>
          <p:cNvSpPr txBox="1"/>
          <p:nvPr/>
        </p:nvSpPr>
        <p:spPr>
          <a:xfrm>
            <a:off x="276225" y="4219575"/>
            <a:ext cx="3944528" cy="194310"/>
          </a:xfrm>
          <a:prstGeom prst="rect">
            <a:avLst/>
          </a:prstGeom>
          <a:noFill/>
        </p:spPr>
        <p:txBody>
          <a:bodyPr wrap="none" lIns="0" rIns="0" tIns="0" bIns="0">
            <a:spAutoFit/>
          </a:bodyPr>
          <a:lstStyle/>
          <a:p>
            <a:r>
              <a:rPr sz="1150" b="0">
                <a:solidFill>
                  <a:srgbClr val="2E2E2E"/>
                </a:solidFill>
                <a:latin typeface="Calibri"/>
              </a:rPr>
              <a:t>Supermarkets and hypermarkets segment is projected to register</a:t>
            </a:r>
          </a:p>
        </p:txBody>
      </p:sp>
      <p:pic>
        <p:nvPicPr>
          <p:cNvPr id="21" name="Picture 20" descr="lock.png"/>
          <p:cNvPicPr>
            <a:picLocks noChangeAspect="1"/>
          </p:cNvPicPr>
          <p:nvPr/>
        </p:nvPicPr>
        <p:blipFill>
          <a:blip r:embed="rId4"/>
          <a:stretch>
            <a:fillRect/>
          </a:stretch>
        </p:blipFill>
        <p:spPr>
          <a:xfrm>
            <a:off x="4169907" y="4209351"/>
            <a:ext cx="134549" cy="195707"/>
          </a:xfrm>
          <a:prstGeom prst="rect">
            <a:avLst/>
          </a:prstGeom>
        </p:spPr>
      </p:pic>
      <p:sp>
        <p:nvSpPr>
          <p:cNvPr id="22" name="TextBox 21"/>
          <p:cNvSpPr txBox="1"/>
          <p:nvPr/>
        </p:nvSpPr>
        <p:spPr>
          <a:xfrm>
            <a:off x="4345016" y="4219575"/>
            <a:ext cx="7191858" cy="194310"/>
          </a:xfrm>
          <a:prstGeom prst="rect">
            <a:avLst/>
          </a:prstGeom>
          <a:noFill/>
        </p:spPr>
        <p:txBody>
          <a:bodyPr wrap="none" lIns="0" rIns="0" tIns="0" bIns="0">
            <a:spAutoFit/>
          </a:bodyPr>
          <a:lstStyle/>
          <a:p>
            <a:r>
              <a:rPr sz="1150" b="0">
                <a:solidFill>
                  <a:srgbClr val="2E2E2E"/>
                </a:solidFill>
                <a:latin typeface="Calibri"/>
              </a:rPr>
              <a:t>X higher value than convenience stores segment in 2036. Among matcha by distribution channel, B2B / institutional and</a:t>
            </a:r>
          </a:p>
        </p:txBody>
      </p:sp>
      <p:sp>
        <p:nvSpPr>
          <p:cNvPr id="23" name="TextBox 22"/>
          <p:cNvSpPr txBox="1"/>
          <p:nvPr/>
        </p:nvSpPr>
        <p:spPr>
          <a:xfrm>
            <a:off x="276225" y="4394835"/>
            <a:ext cx="4125076" cy="194310"/>
          </a:xfrm>
          <a:prstGeom prst="rect">
            <a:avLst/>
          </a:prstGeom>
          <a:noFill/>
        </p:spPr>
        <p:txBody>
          <a:bodyPr wrap="none" lIns="0" rIns="0" tIns="0" bIns="0">
            <a:spAutoFit/>
          </a:bodyPr>
          <a:lstStyle/>
          <a:p>
            <a:r>
              <a:rPr sz="1150" b="0">
                <a:solidFill>
                  <a:srgbClr val="2E2E2E"/>
                </a:solidFill>
                <a:latin typeface="Calibri"/>
              </a:rPr>
              <a:t>ingredient sales segment is expected to witness the highest CAGR of</a:t>
            </a:r>
          </a:p>
        </p:txBody>
      </p:sp>
      <p:pic>
        <p:nvPicPr>
          <p:cNvPr id="24" name="Picture 23" descr="lock.png"/>
          <p:cNvPicPr>
            <a:picLocks noChangeAspect="1"/>
          </p:cNvPicPr>
          <p:nvPr/>
        </p:nvPicPr>
        <p:blipFill>
          <a:blip r:embed="rId4"/>
          <a:stretch>
            <a:fillRect/>
          </a:stretch>
        </p:blipFill>
        <p:spPr>
          <a:xfrm>
            <a:off x="4350455" y="4384611"/>
            <a:ext cx="134549" cy="195707"/>
          </a:xfrm>
          <a:prstGeom prst="rect">
            <a:avLst/>
          </a:prstGeom>
        </p:spPr>
      </p:pic>
      <p:sp>
        <p:nvSpPr>
          <p:cNvPr id="25" name="TextBox 24"/>
          <p:cNvSpPr txBox="1"/>
          <p:nvPr/>
        </p:nvSpPr>
        <p:spPr>
          <a:xfrm>
            <a:off x="4525564" y="4394835"/>
            <a:ext cx="1548680" cy="194310"/>
          </a:xfrm>
          <a:prstGeom prst="rect">
            <a:avLst/>
          </a:prstGeom>
          <a:noFill/>
        </p:spPr>
        <p:txBody>
          <a:bodyPr wrap="none" lIns="0" rIns="0" tIns="0" bIns="0">
            <a:spAutoFit/>
          </a:bodyPr>
          <a:lstStyle/>
          <a:p>
            <a:r>
              <a:rPr sz="1150" b="0">
                <a:solidFill>
                  <a:srgbClr val="2E2E2E"/>
                </a:solidFill>
                <a:latin typeface="Calibri"/>
              </a:rPr>
              <a:t>over the forecast period.</a:t>
            </a:r>
          </a:p>
        </p:txBody>
      </p:sp>
      <p:sp>
        <p:nvSpPr>
          <p:cNvPr id="26" name="TextBox 25"/>
          <p:cNvSpPr txBox="1"/>
          <p:nvPr/>
        </p:nvSpPr>
        <p:spPr>
          <a:xfrm>
            <a:off x="276225" y="4622672"/>
            <a:ext cx="8275538" cy="194310"/>
          </a:xfrm>
          <a:prstGeom prst="rect">
            <a:avLst/>
          </a:prstGeom>
          <a:noFill/>
        </p:spPr>
        <p:txBody>
          <a:bodyPr wrap="none" lIns="0" rIns="0" tIns="0" bIns="0">
            <a:spAutoFit/>
          </a:bodyPr>
          <a:lstStyle/>
          <a:p>
            <a:r>
              <a:rPr sz="1150" b="0">
                <a:solidFill>
                  <a:srgbClr val="2E2E2E"/>
                </a:solidFill>
                <a:latin typeface="Calibri"/>
              </a:rPr>
              <a:t>In terms of value share by distribution channel, the supermarkets and hypermarkets segment is expected to dominate the market, gaining</a:t>
            </a:r>
          </a:p>
        </p:txBody>
      </p:sp>
      <p:pic>
        <p:nvPicPr>
          <p:cNvPr id="27" name="Picture 26" descr="lock.png"/>
          <p:cNvPicPr>
            <a:picLocks noChangeAspect="1"/>
          </p:cNvPicPr>
          <p:nvPr/>
        </p:nvPicPr>
        <p:blipFill>
          <a:blip r:embed="rId4"/>
          <a:stretch>
            <a:fillRect/>
          </a:stretch>
        </p:blipFill>
        <p:spPr>
          <a:xfrm>
            <a:off x="8500917" y="4612449"/>
            <a:ext cx="134549" cy="195707"/>
          </a:xfrm>
          <a:prstGeom prst="rect">
            <a:avLst/>
          </a:prstGeom>
        </p:spPr>
      </p:pic>
      <p:sp>
        <p:nvSpPr>
          <p:cNvPr id="28" name="TextBox 27"/>
          <p:cNvSpPr txBox="1"/>
          <p:nvPr/>
        </p:nvSpPr>
        <p:spPr>
          <a:xfrm>
            <a:off x="8676026" y="4622672"/>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29" name="Picture 28" descr="lock.png"/>
          <p:cNvPicPr>
            <a:picLocks noChangeAspect="1"/>
          </p:cNvPicPr>
          <p:nvPr/>
        </p:nvPicPr>
        <p:blipFill>
          <a:blip r:embed="rId4"/>
          <a:stretch>
            <a:fillRect/>
          </a:stretch>
        </p:blipFill>
        <p:spPr>
          <a:xfrm>
            <a:off x="10071169" y="4612449"/>
            <a:ext cx="134549" cy="195707"/>
          </a:xfrm>
          <a:prstGeom prst="rect">
            <a:avLst/>
          </a:prstGeom>
        </p:spPr>
      </p:pic>
      <p:sp>
        <p:nvSpPr>
          <p:cNvPr id="30" name="TextBox 29"/>
          <p:cNvSpPr txBox="1"/>
          <p:nvPr/>
        </p:nvSpPr>
        <p:spPr>
          <a:xfrm>
            <a:off x="10246278" y="4622672"/>
            <a:ext cx="1200100" cy="194310"/>
          </a:xfrm>
          <a:prstGeom prst="rect">
            <a:avLst/>
          </a:prstGeom>
          <a:noFill/>
        </p:spPr>
        <p:txBody>
          <a:bodyPr wrap="none" lIns="0" rIns="0" tIns="0" bIns="0">
            <a:spAutoFit/>
          </a:bodyPr>
          <a:lstStyle/>
          <a:p>
            <a:r>
              <a:rPr sz="1150" b="0">
                <a:solidFill>
                  <a:srgbClr val="2E2E2E"/>
                </a:solidFill>
                <a:latin typeface="Calibri"/>
              </a:rPr>
              <a:t>share by 2036. The</a:t>
            </a:r>
          </a:p>
        </p:txBody>
      </p:sp>
      <p:sp>
        <p:nvSpPr>
          <p:cNvPr id="31" name="TextBox 30"/>
          <p:cNvSpPr txBox="1"/>
          <p:nvPr/>
        </p:nvSpPr>
        <p:spPr>
          <a:xfrm>
            <a:off x="276225" y="4797932"/>
            <a:ext cx="3878064" cy="194310"/>
          </a:xfrm>
          <a:prstGeom prst="rect">
            <a:avLst/>
          </a:prstGeom>
          <a:noFill/>
        </p:spPr>
        <p:txBody>
          <a:bodyPr wrap="none" lIns="0" rIns="0" tIns="0" bIns="0">
            <a:spAutoFit/>
          </a:bodyPr>
          <a:lstStyle/>
          <a:p>
            <a:r>
              <a:rPr sz="1150" b="0">
                <a:solidFill>
                  <a:srgbClr val="2E2E2E"/>
                </a:solidFill>
                <a:latin typeface="Calibri"/>
              </a:rPr>
              <a:t>specialty tea and health food stores segment is expected to lose</a:t>
            </a:r>
          </a:p>
        </p:txBody>
      </p:sp>
      <p:pic>
        <p:nvPicPr>
          <p:cNvPr id="32" name="Picture 31" descr="lock.png"/>
          <p:cNvPicPr>
            <a:picLocks noChangeAspect="1"/>
          </p:cNvPicPr>
          <p:nvPr/>
        </p:nvPicPr>
        <p:blipFill>
          <a:blip r:embed="rId4"/>
          <a:stretch>
            <a:fillRect/>
          </a:stretch>
        </p:blipFill>
        <p:spPr>
          <a:xfrm>
            <a:off x="4103443" y="4787709"/>
            <a:ext cx="134549" cy="195707"/>
          </a:xfrm>
          <a:prstGeom prst="rect">
            <a:avLst/>
          </a:prstGeom>
        </p:spPr>
      </p:pic>
      <p:sp>
        <p:nvSpPr>
          <p:cNvPr id="33" name="TextBox 32"/>
          <p:cNvSpPr txBox="1"/>
          <p:nvPr/>
        </p:nvSpPr>
        <p:spPr>
          <a:xfrm>
            <a:off x="4278552" y="4797932"/>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34" name="Picture 33" descr="lock.png"/>
          <p:cNvPicPr>
            <a:picLocks noChangeAspect="1"/>
          </p:cNvPicPr>
          <p:nvPr/>
        </p:nvPicPr>
        <p:blipFill>
          <a:blip r:embed="rId4"/>
          <a:stretch>
            <a:fillRect/>
          </a:stretch>
        </p:blipFill>
        <p:spPr>
          <a:xfrm>
            <a:off x="6866056" y="4787709"/>
            <a:ext cx="134549" cy="195707"/>
          </a:xfrm>
          <a:prstGeom prst="rect">
            <a:avLst/>
          </a:prstGeom>
        </p:spPr>
      </p:pic>
      <p:sp>
        <p:nvSpPr>
          <p:cNvPr id="35" name="TextBox 34"/>
          <p:cNvSpPr txBox="1"/>
          <p:nvPr/>
        </p:nvSpPr>
        <p:spPr>
          <a:xfrm>
            <a:off x="7041166" y="4797932"/>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Tree>
  </p:cSld>
  <p:clrMapOvr>
    <a:masterClrMapping/>
  </p:clrMapOvr>
</p:sld>
</file>

<file path=ppt/slides/slide1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Value &amp; Share Shift, By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Value composition by Distribution Channel in 2021, 2026 and 2036, highlighting share shifts in basis points</a:t>
            </a:r>
          </a:p>
        </p:txBody>
      </p:sp>
      <p:sp>
        <p:nvSpPr>
          <p:cNvPr id="10" name="Rounded Rectangle 9"/>
          <p:cNvSpPr/>
          <p:nvPr/>
        </p:nvSpPr>
        <p:spPr>
          <a:xfrm>
            <a:off x="142875" y="981075"/>
            <a:ext cx="74009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210425" cy="38100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Composition, By Distribution Channel ·  2021 / 2026 / 2036 (US$ Mn)  ·  right axis = BPS share shift</a:t>
            </a:r>
          </a:p>
        </p:txBody>
      </p:sp>
      <p:graphicFrame>
        <p:nvGraphicFramePr>
          <p:cNvPr id="12" name="Chart 11"/>
          <p:cNvGraphicFramePr>
            <a:graphicFrameLocks noGrp="1"/>
          </p:cNvGraphicFramePr>
          <p:nvPr/>
        </p:nvGraphicFramePr>
        <p:xfrm>
          <a:off x="238125" y="1581150"/>
          <a:ext cx="4614672" cy="4991100"/>
        </p:xfrm>
        <a:graphic>
          <a:graphicData uri="http://schemas.openxmlformats.org/drawingml/2006/chart">
            <c:chart xmlns:c="http://schemas.openxmlformats.org/drawingml/2006/chart" r:id="rId3"/>
          </a:graphicData>
        </a:graphic>
      </p:graphicFrame>
      <p:sp>
        <p:nvSpPr>
          <p:cNvPr id="13" name="TextBox 12"/>
          <p:cNvSpPr txBox="1"/>
          <p:nvPr/>
        </p:nvSpPr>
        <p:spPr>
          <a:xfrm>
            <a:off x="4852797" y="1590675"/>
            <a:ext cx="2595753" cy="171069"/>
          </a:xfrm>
          <a:prstGeom prst="rect">
            <a:avLst/>
          </a:prstGeom>
          <a:noFill/>
        </p:spPr>
        <p:txBody>
          <a:bodyPr wrap="square" lIns="28575" rIns="28575" tIns="9525" bIns="9525" anchor="ctr">
            <a:spAutoFit/>
          </a:bodyPr>
          <a:lstStyle/>
          <a:p>
            <a:pPr algn="ctr"/>
            <a:r>
              <a:rPr sz="1300" b="1">
                <a:solidFill>
                  <a:srgbClr val="0E72AE"/>
                </a:solidFill>
                <a:latin typeface="Calibri"/>
              </a:rPr>
              <a:t>BPS Δ  (2021→2036)</a:t>
            </a:r>
          </a:p>
        </p:txBody>
      </p:sp>
      <p:sp>
        <p:nvSpPr>
          <p:cNvPr id="14" name="FMI Lock Anchor"/>
          <p:cNvSpPr txBox="1"/>
          <p:nvPr/>
        </p:nvSpPr>
        <p:spPr>
          <a:xfrm>
            <a:off x="2678811" y="4014597"/>
            <a:ext cx="38100" cy="38100"/>
          </a:xfrm>
          <a:prstGeom prst="rect">
            <a:avLst/>
          </a:prstGeom>
          <a:noFill/>
        </p:spPr>
        <p:txBody>
          <a:bodyPr wrap="none">
            <a:spAutoFit/>
          </a:bodyPr>
          <a:lstStyle/>
          <a:p/>
        </p:txBody>
      </p:sp>
      <p:sp>
        <p:nvSpPr>
          <p:cNvPr id="15" name="FMI Legend Chip"/>
          <p:cNvSpPr/>
          <p:nvPr/>
        </p:nvSpPr>
        <p:spPr>
          <a:xfrm>
            <a:off x="4928997" y="1789366"/>
            <a:ext cx="85725" cy="85725"/>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Isosceles Triangle 15"/>
          <p:cNvSpPr/>
          <p:nvPr/>
        </p:nvSpPr>
        <p:spPr>
          <a:xfrm rot="10800000">
            <a:off x="5090922" y="1784604"/>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BPS Name 1"/>
          <p:cNvSpPr txBox="1"/>
          <p:nvPr/>
        </p:nvSpPr>
        <p:spPr>
          <a:xfrm>
            <a:off x="5233797" y="1708404"/>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Other Retail Channels</a:t>
            </a:r>
          </a:p>
        </p:txBody>
      </p:sp>
      <p:sp>
        <p:nvSpPr>
          <p:cNvPr id="18" name="BPS Value 1"/>
          <p:cNvSpPr txBox="1"/>
          <p:nvPr/>
        </p:nvSpPr>
        <p:spPr>
          <a:xfrm>
            <a:off x="6896100" y="1770316"/>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19" name="FMI Legend Chip"/>
          <p:cNvSpPr/>
          <p:nvPr/>
        </p:nvSpPr>
        <p:spPr>
          <a:xfrm>
            <a:off x="4928997" y="2069832"/>
            <a:ext cx="85725" cy="85725"/>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Isosceles Triangle 19"/>
          <p:cNvSpPr/>
          <p:nvPr/>
        </p:nvSpPr>
        <p:spPr>
          <a:xfrm rot="10800000">
            <a:off x="5090922" y="206507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BPS Name 2"/>
          <p:cNvSpPr txBox="1"/>
          <p:nvPr/>
        </p:nvSpPr>
        <p:spPr>
          <a:xfrm>
            <a:off x="5233797" y="198887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Foodservice and HoReCa</a:t>
            </a:r>
          </a:p>
        </p:txBody>
      </p:sp>
      <p:sp>
        <p:nvSpPr>
          <p:cNvPr id="22" name="BPS Value 2"/>
          <p:cNvSpPr txBox="1"/>
          <p:nvPr/>
        </p:nvSpPr>
        <p:spPr>
          <a:xfrm>
            <a:off x="6896100" y="205078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23" name="FMI Legend Chip"/>
          <p:cNvSpPr/>
          <p:nvPr/>
        </p:nvSpPr>
        <p:spPr>
          <a:xfrm>
            <a:off x="4928997" y="2423435"/>
            <a:ext cx="85725" cy="8572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Isosceles Triangle 23"/>
          <p:cNvSpPr/>
          <p:nvPr/>
        </p:nvSpPr>
        <p:spPr>
          <a:xfrm>
            <a:off x="5090922" y="2418673"/>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BPS Name 3"/>
          <p:cNvSpPr txBox="1"/>
          <p:nvPr/>
        </p:nvSpPr>
        <p:spPr>
          <a:xfrm>
            <a:off x="5233797" y="234247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B2B / Institutional and Ingredient Sales</a:t>
            </a:r>
          </a:p>
        </p:txBody>
      </p:sp>
      <p:sp>
        <p:nvSpPr>
          <p:cNvPr id="26" name="BPS Value 3"/>
          <p:cNvSpPr txBox="1"/>
          <p:nvPr/>
        </p:nvSpPr>
        <p:spPr>
          <a:xfrm>
            <a:off x="6896100" y="2404385"/>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27" name="FMI Legend Chip"/>
          <p:cNvSpPr/>
          <p:nvPr/>
        </p:nvSpPr>
        <p:spPr>
          <a:xfrm>
            <a:off x="4928997" y="2975445"/>
            <a:ext cx="85725" cy="8572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Isosceles Triangle 27"/>
          <p:cNvSpPr/>
          <p:nvPr/>
        </p:nvSpPr>
        <p:spPr>
          <a:xfrm rot="10800000">
            <a:off x="5090922" y="2970683"/>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BPS Name 4"/>
          <p:cNvSpPr txBox="1"/>
          <p:nvPr/>
        </p:nvSpPr>
        <p:spPr>
          <a:xfrm>
            <a:off x="5233797" y="2894483"/>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Online Retail</a:t>
            </a:r>
          </a:p>
        </p:txBody>
      </p:sp>
      <p:sp>
        <p:nvSpPr>
          <p:cNvPr id="30" name="BPS Value 4"/>
          <p:cNvSpPr txBox="1"/>
          <p:nvPr/>
        </p:nvSpPr>
        <p:spPr>
          <a:xfrm>
            <a:off x="6896100" y="2956395"/>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1" name="FMI Legend Chip"/>
          <p:cNvSpPr/>
          <p:nvPr/>
        </p:nvSpPr>
        <p:spPr>
          <a:xfrm>
            <a:off x="4928997" y="3752272"/>
            <a:ext cx="85725" cy="8572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Isosceles Triangle 31"/>
          <p:cNvSpPr/>
          <p:nvPr/>
        </p:nvSpPr>
        <p:spPr>
          <a:xfrm rot="10800000">
            <a:off x="5090922" y="3747510"/>
            <a:ext cx="95250" cy="95250"/>
          </a:xfrm>
          <a:prstGeom prst="triangle">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BPS Name 5"/>
          <p:cNvSpPr txBox="1"/>
          <p:nvPr/>
        </p:nvSpPr>
        <p:spPr>
          <a:xfrm>
            <a:off x="5233797" y="3671310"/>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Specialty Tea and Health Food Stores</a:t>
            </a:r>
          </a:p>
        </p:txBody>
      </p:sp>
      <p:sp>
        <p:nvSpPr>
          <p:cNvPr id="34" name="BPS Value 5"/>
          <p:cNvSpPr txBox="1"/>
          <p:nvPr/>
        </p:nvSpPr>
        <p:spPr>
          <a:xfrm>
            <a:off x="6896100" y="3733222"/>
            <a:ext cx="514350" cy="123825"/>
          </a:xfrm>
          <a:prstGeom prst="rect">
            <a:avLst/>
          </a:prstGeom>
          <a:noFill/>
        </p:spPr>
        <p:txBody>
          <a:bodyPr wrap="none" lIns="0" rIns="0" tIns="0" bIns="0" anchor="ctr">
            <a:spAutoFit/>
          </a:bodyPr>
          <a:lstStyle/>
          <a:p>
            <a:pPr algn="r"/>
            <a:r>
              <a:rPr sz="900" b="1">
                <a:solidFill>
                  <a:srgbClr val="E44D3A"/>
                </a:solidFill>
                <a:latin typeface="Calibri"/>
              </a:rPr>
              <a:t>XX</a:t>
            </a:r>
          </a:p>
        </p:txBody>
      </p:sp>
      <p:sp>
        <p:nvSpPr>
          <p:cNvPr id="35" name="FMI Legend Chip"/>
          <p:cNvSpPr/>
          <p:nvPr/>
        </p:nvSpPr>
        <p:spPr>
          <a:xfrm>
            <a:off x="4928997" y="4665810"/>
            <a:ext cx="85725" cy="8572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Isosceles Triangle 35"/>
          <p:cNvSpPr/>
          <p:nvPr/>
        </p:nvSpPr>
        <p:spPr>
          <a:xfrm>
            <a:off x="5090922" y="466104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BPS Name 6"/>
          <p:cNvSpPr txBox="1"/>
          <p:nvPr/>
        </p:nvSpPr>
        <p:spPr>
          <a:xfrm>
            <a:off x="5233797" y="458484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Convenience Stores</a:t>
            </a:r>
          </a:p>
        </p:txBody>
      </p:sp>
      <p:sp>
        <p:nvSpPr>
          <p:cNvPr id="38" name="BPS Value 6"/>
          <p:cNvSpPr txBox="1"/>
          <p:nvPr/>
        </p:nvSpPr>
        <p:spPr>
          <a:xfrm>
            <a:off x="6896100" y="464676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39" name="FMI Legend Chip"/>
          <p:cNvSpPr/>
          <p:nvPr/>
        </p:nvSpPr>
        <p:spPr>
          <a:xfrm>
            <a:off x="4928997" y="5703460"/>
            <a:ext cx="85725" cy="85725"/>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Isosceles Triangle 39"/>
          <p:cNvSpPr/>
          <p:nvPr/>
        </p:nvSpPr>
        <p:spPr>
          <a:xfrm>
            <a:off x="5090922" y="5698697"/>
            <a:ext cx="95250" cy="95250"/>
          </a:xfrm>
          <a:prstGeom prst="triangle">
            <a:avLst/>
          </a:prstGeom>
          <a:solidFill>
            <a:srgbClr val="2E7D3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BPS Name 7"/>
          <p:cNvSpPr txBox="1"/>
          <p:nvPr/>
        </p:nvSpPr>
        <p:spPr>
          <a:xfrm>
            <a:off x="5233797" y="5622497"/>
            <a:ext cx="1528953" cy="247650"/>
          </a:xfrm>
          <a:prstGeom prst="rect">
            <a:avLst/>
          </a:prstGeom>
          <a:noFill/>
        </p:spPr>
        <p:txBody>
          <a:bodyPr wrap="square" lIns="19050" rIns="19050" tIns="0" bIns="0" anchor="ctr">
            <a:spAutoFit/>
          </a:bodyPr>
          <a:lstStyle/>
          <a:p>
            <a:pPr algn="l"/>
            <a:r>
              <a:rPr sz="900" b="0">
                <a:solidFill>
                  <a:srgbClr val="2E2E2E"/>
                </a:solidFill>
                <a:latin typeface="Calibri"/>
              </a:rPr>
              <a:t>Supermarkets and Hypermarkets</a:t>
            </a:r>
          </a:p>
        </p:txBody>
      </p:sp>
      <p:sp>
        <p:nvSpPr>
          <p:cNvPr id="42" name="BPS Value 7"/>
          <p:cNvSpPr txBox="1"/>
          <p:nvPr/>
        </p:nvSpPr>
        <p:spPr>
          <a:xfrm>
            <a:off x="6896100" y="5684410"/>
            <a:ext cx="514350" cy="123825"/>
          </a:xfrm>
          <a:prstGeom prst="rect">
            <a:avLst/>
          </a:prstGeom>
          <a:noFill/>
        </p:spPr>
        <p:txBody>
          <a:bodyPr wrap="none" lIns="0" rIns="0" tIns="0" bIns="0" anchor="ctr">
            <a:spAutoFit/>
          </a:bodyPr>
          <a:lstStyle/>
          <a:p>
            <a:pPr algn="r"/>
            <a:r>
              <a:rPr sz="900" b="1">
                <a:solidFill>
                  <a:srgbClr val="2E7D32"/>
                </a:solidFill>
                <a:latin typeface="Calibri"/>
              </a:rPr>
              <a:t>XX</a:t>
            </a:r>
          </a:p>
        </p:txBody>
      </p:sp>
      <p:sp>
        <p:nvSpPr>
          <p:cNvPr id="43" name="Rounded Rectangle 42"/>
          <p:cNvSpPr/>
          <p:nvPr/>
        </p:nvSpPr>
        <p:spPr>
          <a:xfrm>
            <a:off x="7696200" y="981075"/>
            <a:ext cx="4343400" cy="5648325"/>
          </a:xfrm>
          <a:prstGeom prst="roundRect">
            <a:avLst>
              <a:gd name="adj" fmla="val 17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7829550" y="1066800"/>
            <a:ext cx="4076700" cy="209550"/>
          </a:xfrm>
          <a:prstGeom prst="rect">
            <a:avLst/>
          </a:prstGeom>
          <a:noFill/>
        </p:spPr>
        <p:txBody>
          <a:bodyPr wrap="square" lIns="0" rIns="19050" tIns="9525" bIns="9525">
            <a:spAutoFit/>
          </a:bodyPr>
          <a:lstStyle/>
          <a:p>
            <a:pPr algn="l"/>
            <a:r>
              <a:rPr sz="1300" b="1">
                <a:solidFill>
                  <a:srgbClr val="0B2E4A"/>
                </a:solidFill>
                <a:latin typeface="Calibri"/>
              </a:rPr>
              <a:t>North America Read-out, By Distribution Channel</a:t>
            </a:r>
          </a:p>
        </p:txBody>
      </p:sp>
      <p:sp>
        <p:nvSpPr>
          <p:cNvPr id="45" name="Rectangle 44"/>
          <p:cNvSpPr/>
          <p:nvPr/>
        </p:nvSpPr>
        <p:spPr>
          <a:xfrm>
            <a:off x="7829550" y="1304925"/>
            <a:ext cx="40767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7829550" y="1390650"/>
            <a:ext cx="40767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47" name="TextBox 4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8" name="Picture 47" descr="lock.png"/>
          <p:cNvPicPr>
            <a:picLocks noChangeAspect="1"/>
          </p:cNvPicPr>
          <p:nvPr/>
        </p:nvPicPr>
        <p:blipFill>
          <a:blip r:embed="rId5"/>
          <a:stretch>
            <a:fillRect/>
          </a:stretch>
        </p:blipFill>
        <p:spPr>
          <a:xfrm>
            <a:off x="2557843" y="3833622"/>
            <a:ext cx="275034" cy="400050"/>
          </a:xfrm>
          <a:prstGeom prst="rect">
            <a:avLst/>
          </a:prstGeom>
        </p:spPr>
      </p:pic>
      <p:sp>
        <p:nvSpPr>
          <p:cNvPr id="49" name="TextBox 48"/>
          <p:cNvSpPr txBox="1"/>
          <p:nvPr/>
        </p:nvSpPr>
        <p:spPr>
          <a:xfrm>
            <a:off x="7829550" y="1400175"/>
            <a:ext cx="3776798" cy="194310"/>
          </a:xfrm>
          <a:prstGeom prst="rect">
            <a:avLst/>
          </a:prstGeom>
          <a:noFill/>
        </p:spPr>
        <p:txBody>
          <a:bodyPr wrap="none" lIns="0" rIns="0" tIns="0" bIns="0">
            <a:spAutoFit/>
          </a:bodyPr>
          <a:lstStyle/>
          <a:p>
            <a:r>
              <a:rPr sz="1150" b="0">
                <a:solidFill>
                  <a:srgbClr val="2E2E2E"/>
                </a:solidFill>
                <a:latin typeface="Calibri"/>
              </a:rPr>
              <a:t>Among matcha by distribution channel, B2B / institutional and</a:t>
            </a:r>
          </a:p>
        </p:txBody>
      </p:sp>
      <p:sp>
        <p:nvSpPr>
          <p:cNvPr id="50" name="TextBox 49"/>
          <p:cNvSpPr txBox="1"/>
          <p:nvPr/>
        </p:nvSpPr>
        <p:spPr>
          <a:xfrm>
            <a:off x="7829550" y="1575435"/>
            <a:ext cx="4057650" cy="194310"/>
          </a:xfrm>
          <a:prstGeom prst="rect">
            <a:avLst/>
          </a:prstGeom>
          <a:noFill/>
        </p:spPr>
        <p:txBody>
          <a:bodyPr wrap="none" lIns="0" rIns="0" tIns="0" bIns="0">
            <a:spAutoFit/>
          </a:bodyPr>
          <a:lstStyle/>
          <a:p>
            <a:r>
              <a:rPr sz="1150" b="0">
                <a:solidFill>
                  <a:srgbClr val="2E2E2E"/>
                </a:solidFill>
                <a:latin typeface="Calibri"/>
              </a:rPr>
              <a:t>ingredient sales segment is expected to witness the highest CAGR of</a:t>
            </a:r>
          </a:p>
        </p:txBody>
      </p:sp>
      <p:pic>
        <p:nvPicPr>
          <p:cNvPr id="51" name="Picture 50" descr="lock.png"/>
          <p:cNvPicPr>
            <a:picLocks noChangeAspect="1"/>
          </p:cNvPicPr>
          <p:nvPr/>
        </p:nvPicPr>
        <p:blipFill>
          <a:blip r:embed="rId5"/>
          <a:stretch>
            <a:fillRect/>
          </a:stretch>
        </p:blipFill>
        <p:spPr>
          <a:xfrm>
            <a:off x="7815470" y="1740471"/>
            <a:ext cx="134549" cy="195707"/>
          </a:xfrm>
          <a:prstGeom prst="rect">
            <a:avLst/>
          </a:prstGeom>
        </p:spPr>
      </p:pic>
      <p:sp>
        <p:nvSpPr>
          <p:cNvPr id="52" name="TextBox 51"/>
          <p:cNvSpPr txBox="1"/>
          <p:nvPr/>
        </p:nvSpPr>
        <p:spPr>
          <a:xfrm>
            <a:off x="7990579" y="1750695"/>
            <a:ext cx="3842407" cy="194310"/>
          </a:xfrm>
          <a:prstGeom prst="rect">
            <a:avLst/>
          </a:prstGeom>
          <a:noFill/>
        </p:spPr>
        <p:txBody>
          <a:bodyPr wrap="none" lIns="0" rIns="0" tIns="0" bIns="0">
            <a:spAutoFit/>
          </a:bodyPr>
          <a:lstStyle/>
          <a:p>
            <a:r>
              <a:rPr sz="1150" b="0">
                <a:solidFill>
                  <a:srgbClr val="2E2E2E"/>
                </a:solidFill>
                <a:latin typeface="Calibri"/>
              </a:rPr>
              <a:t>over the forecast period. In terms of value share by distribution</a:t>
            </a:r>
          </a:p>
        </p:txBody>
      </p:sp>
      <p:sp>
        <p:nvSpPr>
          <p:cNvPr id="53" name="TextBox 52"/>
          <p:cNvSpPr txBox="1"/>
          <p:nvPr/>
        </p:nvSpPr>
        <p:spPr>
          <a:xfrm>
            <a:off x="7829550" y="1925955"/>
            <a:ext cx="4028678" cy="194310"/>
          </a:xfrm>
          <a:prstGeom prst="rect">
            <a:avLst/>
          </a:prstGeom>
          <a:noFill/>
        </p:spPr>
        <p:txBody>
          <a:bodyPr wrap="none" lIns="0" rIns="0" tIns="0" bIns="0">
            <a:spAutoFit/>
          </a:bodyPr>
          <a:lstStyle/>
          <a:p>
            <a:r>
              <a:rPr sz="1150" b="0">
                <a:solidFill>
                  <a:srgbClr val="2E2E2E"/>
                </a:solidFill>
                <a:latin typeface="Calibri"/>
              </a:rPr>
              <a:t>channel, the supermarkets and hypermarkets segment is expected</a:t>
            </a:r>
          </a:p>
        </p:txBody>
      </p:sp>
      <p:sp>
        <p:nvSpPr>
          <p:cNvPr id="54" name="TextBox 53"/>
          <p:cNvSpPr txBox="1"/>
          <p:nvPr/>
        </p:nvSpPr>
        <p:spPr>
          <a:xfrm>
            <a:off x="7829550" y="2101215"/>
            <a:ext cx="1996244" cy="194310"/>
          </a:xfrm>
          <a:prstGeom prst="rect">
            <a:avLst/>
          </a:prstGeom>
          <a:noFill/>
        </p:spPr>
        <p:txBody>
          <a:bodyPr wrap="none" lIns="0" rIns="0" tIns="0" bIns="0">
            <a:spAutoFit/>
          </a:bodyPr>
          <a:lstStyle/>
          <a:p>
            <a:r>
              <a:rPr sz="1150" b="0">
                <a:solidFill>
                  <a:srgbClr val="2E2E2E"/>
                </a:solidFill>
                <a:latin typeface="Calibri"/>
              </a:rPr>
              <a:t>to dominate the market, gaining</a:t>
            </a:r>
          </a:p>
        </p:txBody>
      </p:sp>
      <p:pic>
        <p:nvPicPr>
          <p:cNvPr id="55" name="Picture 54" descr="lock.png"/>
          <p:cNvPicPr>
            <a:picLocks noChangeAspect="1"/>
          </p:cNvPicPr>
          <p:nvPr/>
        </p:nvPicPr>
        <p:blipFill>
          <a:blip r:embed="rId5"/>
          <a:stretch>
            <a:fillRect/>
          </a:stretch>
        </p:blipFill>
        <p:spPr>
          <a:xfrm>
            <a:off x="9774947" y="2090991"/>
            <a:ext cx="134549" cy="195707"/>
          </a:xfrm>
          <a:prstGeom prst="rect">
            <a:avLst/>
          </a:prstGeom>
        </p:spPr>
      </p:pic>
      <p:sp>
        <p:nvSpPr>
          <p:cNvPr id="56" name="TextBox 55"/>
          <p:cNvSpPr txBox="1"/>
          <p:nvPr/>
        </p:nvSpPr>
        <p:spPr>
          <a:xfrm>
            <a:off x="9950057" y="2101215"/>
            <a:ext cx="1445989" cy="194310"/>
          </a:xfrm>
          <a:prstGeom prst="rect">
            <a:avLst/>
          </a:prstGeom>
          <a:noFill/>
        </p:spPr>
        <p:txBody>
          <a:bodyPr wrap="none" lIns="0" rIns="0" tIns="0" bIns="0">
            <a:spAutoFit/>
          </a:bodyPr>
          <a:lstStyle/>
          <a:p>
            <a:r>
              <a:rPr sz="1150" b="0">
                <a:solidFill>
                  <a:srgbClr val="2E2E2E"/>
                </a:solidFill>
                <a:latin typeface="Calibri"/>
              </a:rPr>
              <a:t>BPS and accounting for</a:t>
            </a:r>
          </a:p>
        </p:txBody>
      </p:sp>
      <p:pic>
        <p:nvPicPr>
          <p:cNvPr id="57" name="Picture 56" descr="lock.png"/>
          <p:cNvPicPr>
            <a:picLocks noChangeAspect="1"/>
          </p:cNvPicPr>
          <p:nvPr/>
        </p:nvPicPr>
        <p:blipFill>
          <a:blip r:embed="rId5"/>
          <a:stretch>
            <a:fillRect/>
          </a:stretch>
        </p:blipFill>
        <p:spPr>
          <a:xfrm>
            <a:off x="11345200" y="2090991"/>
            <a:ext cx="134549" cy="195707"/>
          </a:xfrm>
          <a:prstGeom prst="rect">
            <a:avLst/>
          </a:prstGeom>
        </p:spPr>
      </p:pic>
      <p:sp>
        <p:nvSpPr>
          <p:cNvPr id="58" name="TextBox 57"/>
          <p:cNvSpPr txBox="1"/>
          <p:nvPr/>
        </p:nvSpPr>
        <p:spPr>
          <a:xfrm>
            <a:off x="7829550" y="2276475"/>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59" name="TextBox 58"/>
          <p:cNvSpPr txBox="1"/>
          <p:nvPr/>
        </p:nvSpPr>
        <p:spPr>
          <a:xfrm>
            <a:off x="7829550" y="2504313"/>
            <a:ext cx="4057650" cy="194310"/>
          </a:xfrm>
          <a:prstGeom prst="rect">
            <a:avLst/>
          </a:prstGeom>
          <a:noFill/>
        </p:spPr>
        <p:txBody>
          <a:bodyPr wrap="none" lIns="0" rIns="0" tIns="0" bIns="0">
            <a:spAutoFit/>
          </a:bodyPr>
          <a:lstStyle/>
          <a:p>
            <a:r>
              <a:rPr sz="1150" b="0">
                <a:solidFill>
                  <a:srgbClr val="2E2E2E"/>
                </a:solidFill>
                <a:latin typeface="Calibri"/>
              </a:rPr>
              <a:t>The specialty tea and health food stores segment is expected to lose</a:t>
            </a:r>
          </a:p>
        </p:txBody>
      </p:sp>
      <p:pic>
        <p:nvPicPr>
          <p:cNvPr id="60" name="Picture 59" descr="lock.png"/>
          <p:cNvPicPr>
            <a:picLocks noChangeAspect="1"/>
          </p:cNvPicPr>
          <p:nvPr/>
        </p:nvPicPr>
        <p:blipFill>
          <a:blip r:embed="rId5"/>
          <a:stretch>
            <a:fillRect/>
          </a:stretch>
        </p:blipFill>
        <p:spPr>
          <a:xfrm>
            <a:off x="7815470" y="2669349"/>
            <a:ext cx="134549" cy="195707"/>
          </a:xfrm>
          <a:prstGeom prst="rect">
            <a:avLst/>
          </a:prstGeom>
        </p:spPr>
      </p:pic>
      <p:sp>
        <p:nvSpPr>
          <p:cNvPr id="61" name="TextBox 60"/>
          <p:cNvSpPr txBox="1"/>
          <p:nvPr/>
        </p:nvSpPr>
        <p:spPr>
          <a:xfrm>
            <a:off x="7990579" y="2679573"/>
            <a:ext cx="2638350" cy="194310"/>
          </a:xfrm>
          <a:prstGeom prst="rect">
            <a:avLst/>
          </a:prstGeom>
          <a:noFill/>
        </p:spPr>
        <p:txBody>
          <a:bodyPr wrap="none" lIns="0" rIns="0" tIns="0" bIns="0">
            <a:spAutoFit/>
          </a:bodyPr>
          <a:lstStyle/>
          <a:p>
            <a:r>
              <a:rPr sz="1150" b="0">
                <a:solidFill>
                  <a:srgbClr val="2E2E2E"/>
                </a:solidFill>
                <a:latin typeface="Calibri"/>
              </a:rPr>
              <a:t>BPS over the forecast period to account for</a:t>
            </a:r>
          </a:p>
        </p:txBody>
      </p:sp>
      <p:pic>
        <p:nvPicPr>
          <p:cNvPr id="62" name="Picture 61" descr="lock.png"/>
          <p:cNvPicPr>
            <a:picLocks noChangeAspect="1"/>
          </p:cNvPicPr>
          <p:nvPr/>
        </p:nvPicPr>
        <p:blipFill>
          <a:blip r:embed="rId5"/>
          <a:stretch>
            <a:fillRect/>
          </a:stretch>
        </p:blipFill>
        <p:spPr>
          <a:xfrm>
            <a:off x="10578084" y="2669349"/>
            <a:ext cx="134549" cy="195707"/>
          </a:xfrm>
          <a:prstGeom prst="rect">
            <a:avLst/>
          </a:prstGeom>
        </p:spPr>
      </p:pic>
      <p:sp>
        <p:nvSpPr>
          <p:cNvPr id="63" name="TextBox 62"/>
          <p:cNvSpPr txBox="1"/>
          <p:nvPr/>
        </p:nvSpPr>
        <p:spPr>
          <a:xfrm>
            <a:off x="10753193" y="2679573"/>
            <a:ext cx="946224" cy="194310"/>
          </a:xfrm>
          <a:prstGeom prst="rect">
            <a:avLst/>
          </a:prstGeom>
          <a:noFill/>
        </p:spPr>
        <p:txBody>
          <a:bodyPr wrap="none" lIns="0" rIns="0" tIns="0" bIns="0">
            <a:spAutoFit/>
          </a:bodyPr>
          <a:lstStyle/>
          <a:p>
            <a:r>
              <a:rPr sz="1150" b="0">
                <a:solidFill>
                  <a:srgbClr val="2E2E2E"/>
                </a:solidFill>
                <a:latin typeface="Calibri"/>
              </a:rPr>
              <a:t>share by 2036.</a:t>
            </a:r>
          </a:p>
        </p:txBody>
      </p:sp>
      <p:sp>
        <p:nvSpPr>
          <p:cNvPr id="64" name="lockshield_12"/>
          <p:cNvSpPr/>
          <p:nvPr/>
        </p:nvSpPr>
        <p:spPr>
          <a:xfrm>
            <a:off x="238125" y="1581150"/>
            <a:ext cx="4614672" cy="49911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Cross-sectional Assessment</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 × Nature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Form × 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Packaging Type × Distribution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 × Nature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Product Type × Nature,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product type sub-segment across nature sub-segments</a:t>
            </a:r>
          </a:p>
        </p:txBody>
      </p:sp>
      <p:sp>
        <p:nvSpPr>
          <p:cNvPr id="10" name="Rounded Rectangle 9"/>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Product Type × Nature, 2026E and 2036F (US$ Mn)</a:t>
            </a:r>
          </a:p>
        </p:txBody>
      </p:sp>
      <p:graphicFrame>
        <p:nvGraphicFramePr>
          <p:cNvPr id="12" name="Table 11"/>
          <p:cNvGraphicFramePr>
            <a:graphicFrameLocks noGrp="1"/>
          </p:cNvGraphicFramePr>
          <p:nvPr/>
        </p:nvGraphicFramePr>
        <p:xfrm>
          <a:off x="152400" y="1238250"/>
          <a:ext cx="11887199" cy="1238250"/>
        </p:xfrm>
        <a:graphic>
          <a:graphicData uri="http://schemas.openxmlformats.org/drawingml/2006/table">
            <a:tbl>
              <a:tblPr>
                <a:tableStyleId>{5C22544A-7EE6-4342-B048-85BDC9FD1C3A}</a:tableStyleId>
              </a:tblPr>
              <a:tblGrid>
                <a:gridCol w="3249347"/>
                <a:gridCol w="1439642"/>
                <a:gridCol w="1439642"/>
                <a:gridCol w="1439642"/>
                <a:gridCol w="1439642"/>
                <a:gridCol w="1439642"/>
                <a:gridCol w="1439642"/>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Organic</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819400"/>
            <a:ext cx="7286625"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287655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Flow, Product Type → Nature, 2036F (US$ Mn)</a:t>
            </a:r>
          </a:p>
        </p:txBody>
      </p:sp>
      <p:sp>
        <p:nvSpPr>
          <p:cNvPr id="16" name="Freeform 15"/>
          <p:cNvSpPr/>
          <p:nvPr/>
        </p:nvSpPr>
        <p:spPr>
          <a:xfrm>
            <a:off x="2057400" y="3143250"/>
            <a:ext cx="3743325" cy="1962150"/>
          </a:xfrm>
          <a:custGeom>
            <a:avLst/>
            <a:gdLst/>
            <a:ahLst/>
            <a:cxnLst/>
            <a:rect l="l" t="t" r="r" b="b"/>
            <a:pathLst>
              <a:path w="393" h="206">
                <a:moveTo>
                  <a:pt x="0" y="0"/>
                </a:moveTo>
                <a:lnTo>
                  <a:pt x="16" y="0"/>
                </a:lnTo>
                <a:lnTo>
                  <a:pt x="33" y="0"/>
                </a:lnTo>
                <a:lnTo>
                  <a:pt x="49" y="0"/>
                </a:lnTo>
                <a:lnTo>
                  <a:pt x="65" y="0"/>
                </a:lnTo>
                <a:lnTo>
                  <a:pt x="82" y="0"/>
                </a:lnTo>
                <a:lnTo>
                  <a:pt x="98" y="0"/>
                </a:lnTo>
                <a:lnTo>
                  <a:pt x="114" y="0"/>
                </a:lnTo>
                <a:lnTo>
                  <a:pt x="131" y="0"/>
                </a:lnTo>
                <a:lnTo>
                  <a:pt x="147" y="0"/>
                </a:lnTo>
                <a:lnTo>
                  <a:pt x="164" y="0"/>
                </a:lnTo>
                <a:lnTo>
                  <a:pt x="180" y="0"/>
                </a:lnTo>
                <a:lnTo>
                  <a:pt x="196" y="0"/>
                </a:lnTo>
                <a:lnTo>
                  <a:pt x="213" y="0"/>
                </a:lnTo>
                <a:lnTo>
                  <a:pt x="229" y="0"/>
                </a:lnTo>
                <a:lnTo>
                  <a:pt x="246" y="0"/>
                </a:lnTo>
                <a:lnTo>
                  <a:pt x="262" y="0"/>
                </a:lnTo>
                <a:lnTo>
                  <a:pt x="278" y="0"/>
                </a:lnTo>
                <a:lnTo>
                  <a:pt x="295" y="0"/>
                </a:lnTo>
                <a:lnTo>
                  <a:pt x="311" y="0"/>
                </a:lnTo>
                <a:lnTo>
                  <a:pt x="327" y="0"/>
                </a:lnTo>
                <a:lnTo>
                  <a:pt x="344" y="0"/>
                </a:lnTo>
                <a:lnTo>
                  <a:pt x="360" y="0"/>
                </a:lnTo>
                <a:lnTo>
                  <a:pt x="377" y="0"/>
                </a:lnTo>
                <a:lnTo>
                  <a:pt x="393" y="0"/>
                </a:lnTo>
                <a:lnTo>
                  <a:pt x="393" y="206"/>
                </a:lnTo>
                <a:lnTo>
                  <a:pt x="377" y="206"/>
                </a:lnTo>
                <a:lnTo>
                  <a:pt x="360" y="206"/>
                </a:lnTo>
                <a:lnTo>
                  <a:pt x="344" y="206"/>
                </a:lnTo>
                <a:lnTo>
                  <a:pt x="327" y="206"/>
                </a:lnTo>
                <a:lnTo>
                  <a:pt x="311" y="206"/>
                </a:lnTo>
                <a:lnTo>
                  <a:pt x="295" y="206"/>
                </a:lnTo>
                <a:lnTo>
                  <a:pt x="278" y="206"/>
                </a:lnTo>
                <a:lnTo>
                  <a:pt x="262" y="206"/>
                </a:lnTo>
                <a:lnTo>
                  <a:pt x="246" y="206"/>
                </a:lnTo>
                <a:lnTo>
                  <a:pt x="229" y="206"/>
                </a:lnTo>
                <a:lnTo>
                  <a:pt x="213" y="206"/>
                </a:lnTo>
                <a:lnTo>
                  <a:pt x="196" y="206"/>
                </a:lnTo>
                <a:lnTo>
                  <a:pt x="180" y="206"/>
                </a:lnTo>
                <a:lnTo>
                  <a:pt x="164" y="206"/>
                </a:lnTo>
                <a:lnTo>
                  <a:pt x="147" y="206"/>
                </a:lnTo>
                <a:lnTo>
                  <a:pt x="131" y="206"/>
                </a:lnTo>
                <a:lnTo>
                  <a:pt x="114" y="206"/>
                </a:lnTo>
                <a:lnTo>
                  <a:pt x="98" y="206"/>
                </a:lnTo>
                <a:lnTo>
                  <a:pt x="82" y="206"/>
                </a:lnTo>
                <a:lnTo>
                  <a:pt x="65" y="206"/>
                </a:lnTo>
                <a:lnTo>
                  <a:pt x="49" y="206"/>
                </a:lnTo>
                <a:lnTo>
                  <a:pt x="33" y="206"/>
                </a:lnTo>
                <a:lnTo>
                  <a:pt x="16" y="206"/>
                </a:lnTo>
                <a:lnTo>
                  <a:pt x="0" y="206"/>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5105400"/>
            <a:ext cx="3743325" cy="1323975"/>
          </a:xfrm>
          <a:custGeom>
            <a:avLst/>
            <a:gdLst/>
            <a:ahLst/>
            <a:cxnLst/>
            <a:rect l="l" t="t" r="r" b="b"/>
            <a:pathLst>
              <a:path w="393" h="139">
                <a:moveTo>
                  <a:pt x="0" y="0"/>
                </a:moveTo>
                <a:lnTo>
                  <a:pt x="16" y="0"/>
                </a:lnTo>
                <a:lnTo>
                  <a:pt x="33" y="1"/>
                </a:lnTo>
                <a:lnTo>
                  <a:pt x="49" y="2"/>
                </a:lnTo>
                <a:lnTo>
                  <a:pt x="65" y="3"/>
                </a:lnTo>
                <a:lnTo>
                  <a:pt x="82" y="4"/>
                </a:lnTo>
                <a:lnTo>
                  <a:pt x="98" y="6"/>
                </a:lnTo>
                <a:lnTo>
                  <a:pt x="114" y="7"/>
                </a:lnTo>
                <a:lnTo>
                  <a:pt x="131" y="9"/>
                </a:lnTo>
                <a:lnTo>
                  <a:pt x="147" y="11"/>
                </a:lnTo>
                <a:lnTo>
                  <a:pt x="164" y="13"/>
                </a:lnTo>
                <a:lnTo>
                  <a:pt x="180" y="16"/>
                </a:lnTo>
                <a:lnTo>
                  <a:pt x="196" y="18"/>
                </a:lnTo>
                <a:lnTo>
                  <a:pt x="213" y="20"/>
                </a:lnTo>
                <a:lnTo>
                  <a:pt x="229" y="22"/>
                </a:lnTo>
                <a:lnTo>
                  <a:pt x="246" y="24"/>
                </a:lnTo>
                <a:lnTo>
                  <a:pt x="262" y="26"/>
                </a:lnTo>
                <a:lnTo>
                  <a:pt x="278" y="28"/>
                </a:lnTo>
                <a:lnTo>
                  <a:pt x="295" y="30"/>
                </a:lnTo>
                <a:lnTo>
                  <a:pt x="311" y="31"/>
                </a:lnTo>
                <a:lnTo>
                  <a:pt x="327" y="33"/>
                </a:lnTo>
                <a:lnTo>
                  <a:pt x="344" y="34"/>
                </a:lnTo>
                <a:lnTo>
                  <a:pt x="360" y="35"/>
                </a:lnTo>
                <a:lnTo>
                  <a:pt x="377" y="35"/>
                </a:lnTo>
                <a:lnTo>
                  <a:pt x="393" y="35"/>
                </a:lnTo>
                <a:lnTo>
                  <a:pt x="393" y="139"/>
                </a:lnTo>
                <a:lnTo>
                  <a:pt x="377" y="139"/>
                </a:lnTo>
                <a:lnTo>
                  <a:pt x="360" y="138"/>
                </a:lnTo>
                <a:lnTo>
                  <a:pt x="344" y="137"/>
                </a:lnTo>
                <a:lnTo>
                  <a:pt x="327" y="136"/>
                </a:lnTo>
                <a:lnTo>
                  <a:pt x="311" y="135"/>
                </a:lnTo>
                <a:lnTo>
                  <a:pt x="295" y="133"/>
                </a:lnTo>
                <a:lnTo>
                  <a:pt x="278" y="132"/>
                </a:lnTo>
                <a:lnTo>
                  <a:pt x="262" y="130"/>
                </a:lnTo>
                <a:lnTo>
                  <a:pt x="246" y="128"/>
                </a:lnTo>
                <a:lnTo>
                  <a:pt x="229" y="126"/>
                </a:lnTo>
                <a:lnTo>
                  <a:pt x="213" y="123"/>
                </a:lnTo>
                <a:lnTo>
                  <a:pt x="196" y="121"/>
                </a:lnTo>
                <a:lnTo>
                  <a:pt x="180" y="119"/>
                </a:lnTo>
                <a:lnTo>
                  <a:pt x="164" y="117"/>
                </a:lnTo>
                <a:lnTo>
                  <a:pt x="147" y="115"/>
                </a:lnTo>
                <a:lnTo>
                  <a:pt x="131" y="113"/>
                </a:lnTo>
                <a:lnTo>
                  <a:pt x="114" y="111"/>
                </a:lnTo>
                <a:lnTo>
                  <a:pt x="98" y="109"/>
                </a:lnTo>
                <a:lnTo>
                  <a:pt x="82" y="108"/>
                </a:lnTo>
                <a:lnTo>
                  <a:pt x="65" y="106"/>
                </a:lnTo>
                <a:lnTo>
                  <a:pt x="49" y="105"/>
                </a:lnTo>
                <a:lnTo>
                  <a:pt x="33" y="104"/>
                </a:lnTo>
                <a:lnTo>
                  <a:pt x="16" y="104"/>
                </a:lnTo>
                <a:lnTo>
                  <a:pt x="0" y="104"/>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5105400"/>
            <a:ext cx="3743325" cy="1323975"/>
          </a:xfrm>
          <a:custGeom>
            <a:avLst/>
            <a:gdLst/>
            <a:ahLst/>
            <a:cxnLst/>
            <a:rect l="l" t="t" r="r" b="b"/>
            <a:pathLst>
              <a:path w="393" h="139">
                <a:moveTo>
                  <a:pt x="0" y="110"/>
                </a:moveTo>
                <a:lnTo>
                  <a:pt x="16" y="109"/>
                </a:lnTo>
                <a:lnTo>
                  <a:pt x="33" y="107"/>
                </a:lnTo>
                <a:lnTo>
                  <a:pt x="49" y="105"/>
                </a:lnTo>
                <a:lnTo>
                  <a:pt x="65" y="102"/>
                </a:lnTo>
                <a:lnTo>
                  <a:pt x="82" y="97"/>
                </a:lnTo>
                <a:lnTo>
                  <a:pt x="98" y="93"/>
                </a:lnTo>
                <a:lnTo>
                  <a:pt x="114" y="87"/>
                </a:lnTo>
                <a:lnTo>
                  <a:pt x="131" y="81"/>
                </a:lnTo>
                <a:lnTo>
                  <a:pt x="147" y="75"/>
                </a:lnTo>
                <a:lnTo>
                  <a:pt x="164" y="68"/>
                </a:lnTo>
                <a:lnTo>
                  <a:pt x="180" y="62"/>
                </a:lnTo>
                <a:lnTo>
                  <a:pt x="196" y="55"/>
                </a:lnTo>
                <a:lnTo>
                  <a:pt x="213" y="48"/>
                </a:lnTo>
                <a:lnTo>
                  <a:pt x="229" y="41"/>
                </a:lnTo>
                <a:lnTo>
                  <a:pt x="246" y="35"/>
                </a:lnTo>
                <a:lnTo>
                  <a:pt x="262" y="29"/>
                </a:lnTo>
                <a:lnTo>
                  <a:pt x="278" y="23"/>
                </a:lnTo>
                <a:lnTo>
                  <a:pt x="295" y="17"/>
                </a:lnTo>
                <a:lnTo>
                  <a:pt x="311" y="13"/>
                </a:lnTo>
                <a:lnTo>
                  <a:pt x="327" y="8"/>
                </a:lnTo>
                <a:lnTo>
                  <a:pt x="344" y="5"/>
                </a:lnTo>
                <a:lnTo>
                  <a:pt x="360" y="2"/>
                </a:lnTo>
                <a:lnTo>
                  <a:pt x="377" y="1"/>
                </a:lnTo>
                <a:lnTo>
                  <a:pt x="393" y="0"/>
                </a:lnTo>
                <a:lnTo>
                  <a:pt x="393" y="29"/>
                </a:lnTo>
                <a:lnTo>
                  <a:pt x="377" y="30"/>
                </a:lnTo>
                <a:lnTo>
                  <a:pt x="360" y="32"/>
                </a:lnTo>
                <a:lnTo>
                  <a:pt x="344" y="34"/>
                </a:lnTo>
                <a:lnTo>
                  <a:pt x="327" y="38"/>
                </a:lnTo>
                <a:lnTo>
                  <a:pt x="311" y="42"/>
                </a:lnTo>
                <a:lnTo>
                  <a:pt x="295" y="47"/>
                </a:lnTo>
                <a:lnTo>
                  <a:pt x="278" y="52"/>
                </a:lnTo>
                <a:lnTo>
                  <a:pt x="262" y="58"/>
                </a:lnTo>
                <a:lnTo>
                  <a:pt x="246" y="64"/>
                </a:lnTo>
                <a:lnTo>
                  <a:pt x="229" y="71"/>
                </a:lnTo>
                <a:lnTo>
                  <a:pt x="213" y="77"/>
                </a:lnTo>
                <a:lnTo>
                  <a:pt x="196" y="84"/>
                </a:lnTo>
                <a:lnTo>
                  <a:pt x="180" y="91"/>
                </a:lnTo>
                <a:lnTo>
                  <a:pt x="164" y="98"/>
                </a:lnTo>
                <a:lnTo>
                  <a:pt x="147" y="104"/>
                </a:lnTo>
                <a:lnTo>
                  <a:pt x="131" y="110"/>
                </a:lnTo>
                <a:lnTo>
                  <a:pt x="114" y="116"/>
                </a:lnTo>
                <a:lnTo>
                  <a:pt x="98" y="122"/>
                </a:lnTo>
                <a:lnTo>
                  <a:pt x="82" y="127"/>
                </a:lnTo>
                <a:lnTo>
                  <a:pt x="65" y="131"/>
                </a:lnTo>
                <a:lnTo>
                  <a:pt x="49" y="134"/>
                </a:lnTo>
                <a:lnTo>
                  <a:pt x="33" y="137"/>
                </a:lnTo>
                <a:lnTo>
                  <a:pt x="16" y="138"/>
                </a:lnTo>
                <a:lnTo>
                  <a:pt x="0" y="139"/>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6429375"/>
            <a:ext cx="3743325" cy="104775"/>
          </a:xfrm>
          <a:custGeom>
            <a:avLst/>
            <a:gdLst/>
            <a:ahLst/>
            <a:cxnLst/>
            <a:rect l="l" t="t" r="r" b="b"/>
            <a:pathLst>
              <a:path w="393" h="11">
                <a:moveTo>
                  <a:pt x="0" y="0"/>
                </a:moveTo>
                <a:lnTo>
                  <a:pt x="16" y="0"/>
                </a:lnTo>
                <a:lnTo>
                  <a:pt x="33" y="0"/>
                </a:lnTo>
                <a:lnTo>
                  <a:pt x="49" y="0"/>
                </a:lnTo>
                <a:lnTo>
                  <a:pt x="65" y="0"/>
                </a:lnTo>
                <a:lnTo>
                  <a:pt x="82" y="0"/>
                </a:lnTo>
                <a:lnTo>
                  <a:pt x="98" y="0"/>
                </a:lnTo>
                <a:lnTo>
                  <a:pt x="114" y="0"/>
                </a:lnTo>
                <a:lnTo>
                  <a:pt x="131" y="0"/>
                </a:lnTo>
                <a:lnTo>
                  <a:pt x="147" y="0"/>
                </a:lnTo>
                <a:lnTo>
                  <a:pt x="164" y="0"/>
                </a:lnTo>
                <a:lnTo>
                  <a:pt x="180" y="0"/>
                </a:lnTo>
                <a:lnTo>
                  <a:pt x="196" y="0"/>
                </a:lnTo>
                <a:lnTo>
                  <a:pt x="213" y="0"/>
                </a:lnTo>
                <a:lnTo>
                  <a:pt x="229" y="0"/>
                </a:lnTo>
                <a:lnTo>
                  <a:pt x="246" y="0"/>
                </a:lnTo>
                <a:lnTo>
                  <a:pt x="262" y="0"/>
                </a:lnTo>
                <a:lnTo>
                  <a:pt x="278" y="0"/>
                </a:lnTo>
                <a:lnTo>
                  <a:pt x="295" y="0"/>
                </a:lnTo>
                <a:lnTo>
                  <a:pt x="311" y="0"/>
                </a:lnTo>
                <a:lnTo>
                  <a:pt x="327" y="0"/>
                </a:lnTo>
                <a:lnTo>
                  <a:pt x="344" y="0"/>
                </a:lnTo>
                <a:lnTo>
                  <a:pt x="360" y="0"/>
                </a:lnTo>
                <a:lnTo>
                  <a:pt x="377" y="0"/>
                </a:lnTo>
                <a:lnTo>
                  <a:pt x="393" y="0"/>
                </a:lnTo>
                <a:lnTo>
                  <a:pt x="393" y="11"/>
                </a:lnTo>
                <a:lnTo>
                  <a:pt x="377" y="11"/>
                </a:lnTo>
                <a:lnTo>
                  <a:pt x="360" y="11"/>
                </a:lnTo>
                <a:lnTo>
                  <a:pt x="344" y="11"/>
                </a:lnTo>
                <a:lnTo>
                  <a:pt x="327" y="11"/>
                </a:lnTo>
                <a:lnTo>
                  <a:pt x="311" y="11"/>
                </a:lnTo>
                <a:lnTo>
                  <a:pt x="295" y="11"/>
                </a:lnTo>
                <a:lnTo>
                  <a:pt x="278" y="11"/>
                </a:lnTo>
                <a:lnTo>
                  <a:pt x="262" y="11"/>
                </a:lnTo>
                <a:lnTo>
                  <a:pt x="246" y="11"/>
                </a:lnTo>
                <a:lnTo>
                  <a:pt x="229" y="11"/>
                </a:lnTo>
                <a:lnTo>
                  <a:pt x="213" y="11"/>
                </a:lnTo>
                <a:lnTo>
                  <a:pt x="196" y="11"/>
                </a:lnTo>
                <a:lnTo>
                  <a:pt x="180" y="11"/>
                </a:lnTo>
                <a:lnTo>
                  <a:pt x="164" y="11"/>
                </a:lnTo>
                <a:lnTo>
                  <a:pt x="147" y="11"/>
                </a:lnTo>
                <a:lnTo>
                  <a:pt x="131" y="11"/>
                </a:lnTo>
                <a:lnTo>
                  <a:pt x="114" y="11"/>
                </a:lnTo>
                <a:lnTo>
                  <a:pt x="98" y="11"/>
                </a:lnTo>
                <a:lnTo>
                  <a:pt x="82" y="11"/>
                </a:lnTo>
                <a:lnTo>
                  <a:pt x="65" y="11"/>
                </a:lnTo>
                <a:lnTo>
                  <a:pt x="49" y="11"/>
                </a:lnTo>
                <a:lnTo>
                  <a:pt x="33" y="11"/>
                </a:lnTo>
                <a:lnTo>
                  <a:pt x="16" y="11"/>
                </a:lnTo>
                <a:lnTo>
                  <a:pt x="0" y="11"/>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ectangle 19"/>
          <p:cNvSpPr/>
          <p:nvPr/>
        </p:nvSpPr>
        <p:spPr>
          <a:xfrm>
            <a:off x="1941195" y="3143250"/>
            <a:ext cx="114300" cy="2949054"/>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ectangle 20"/>
          <p:cNvSpPr/>
          <p:nvPr/>
        </p:nvSpPr>
        <p:spPr>
          <a:xfrm>
            <a:off x="1941195" y="6149454"/>
            <a:ext cx="114300" cy="384696"/>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Rectangle 21"/>
          <p:cNvSpPr/>
          <p:nvPr/>
        </p:nvSpPr>
        <p:spPr>
          <a:xfrm>
            <a:off x="5800725" y="3143250"/>
            <a:ext cx="114300" cy="2242414"/>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5800725" y="5442814"/>
            <a:ext cx="114300" cy="1091336"/>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57175" y="4546339"/>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25" name="TextBox 24"/>
          <p:cNvSpPr txBox="1"/>
          <p:nvPr/>
        </p:nvSpPr>
        <p:spPr>
          <a:xfrm>
            <a:off x="257175" y="6270364"/>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26" name="TextBox 25"/>
          <p:cNvSpPr txBox="1"/>
          <p:nvPr/>
        </p:nvSpPr>
        <p:spPr>
          <a:xfrm>
            <a:off x="5972175" y="4193019"/>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27" name="TextBox 26"/>
          <p:cNvSpPr txBox="1"/>
          <p:nvPr/>
        </p:nvSpPr>
        <p:spPr>
          <a:xfrm>
            <a:off x="5972175" y="5917044"/>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28" name="Rounded Rectangle 27"/>
          <p:cNvSpPr/>
          <p:nvPr/>
        </p:nvSpPr>
        <p:spPr>
          <a:xfrm>
            <a:off x="7581900" y="2819400"/>
            <a:ext cx="4457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7715250" y="2905125"/>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30" name="Rectangle 29"/>
          <p:cNvSpPr/>
          <p:nvPr/>
        </p:nvSpPr>
        <p:spPr>
          <a:xfrm>
            <a:off x="7715250" y="314325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715250" y="3228975"/>
            <a:ext cx="4191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4"/>
          <a:stretch>
            <a:fillRect/>
          </a:stretch>
        </p:blipFill>
        <p:spPr>
          <a:xfrm>
            <a:off x="7536995" y="1842057"/>
            <a:ext cx="360794" cy="524791"/>
          </a:xfrm>
          <a:prstGeom prst="rect">
            <a:avLst/>
          </a:prstGeom>
        </p:spPr>
      </p:pic>
      <p:sp>
        <p:nvSpPr>
          <p:cNvPr id="34" name="TextBox 33"/>
          <p:cNvSpPr txBox="1"/>
          <p:nvPr/>
        </p:nvSpPr>
        <p:spPr>
          <a:xfrm>
            <a:off x="1262568" y="4557426"/>
            <a:ext cx="567725" cy="139750"/>
          </a:xfrm>
          <a:prstGeom prst="rect">
            <a:avLst/>
          </a:prstGeom>
          <a:noFill/>
        </p:spPr>
        <p:txBody>
          <a:bodyPr wrap="none" lIns="0" rIns="0" tIns="0" bIns="0">
            <a:spAutoFit/>
          </a:bodyPr>
          <a:lstStyle/>
          <a:p>
            <a:r>
              <a:rPr sz="791" b="1">
                <a:solidFill>
                  <a:srgbClr val="2E2E2E"/>
                </a:solidFill>
                <a:latin typeface="Calibri"/>
              </a:rPr>
              <a:t>Matcha Tea</a:t>
            </a:r>
          </a:p>
        </p:txBody>
      </p:sp>
      <p:pic>
        <p:nvPicPr>
          <p:cNvPr id="35" name="Picture 34" descr="lock.png"/>
          <p:cNvPicPr>
            <a:picLocks noChangeAspect="1"/>
          </p:cNvPicPr>
          <p:nvPr/>
        </p:nvPicPr>
        <p:blipFill>
          <a:blip r:embed="rId4"/>
          <a:stretch>
            <a:fillRect/>
          </a:stretch>
        </p:blipFill>
        <p:spPr>
          <a:xfrm>
            <a:off x="1771555" y="4550385"/>
            <a:ext cx="92663" cy="134782"/>
          </a:xfrm>
          <a:prstGeom prst="rect">
            <a:avLst/>
          </a:prstGeom>
        </p:spPr>
      </p:pic>
      <p:sp>
        <p:nvSpPr>
          <p:cNvPr id="36" name="TextBox 35"/>
          <p:cNvSpPr txBox="1"/>
          <p:nvPr/>
        </p:nvSpPr>
        <p:spPr>
          <a:xfrm>
            <a:off x="1089690" y="6281451"/>
            <a:ext cx="740604" cy="139750"/>
          </a:xfrm>
          <a:prstGeom prst="rect">
            <a:avLst/>
          </a:prstGeom>
          <a:noFill/>
        </p:spPr>
        <p:txBody>
          <a:bodyPr wrap="none" lIns="0" rIns="0" tIns="0" bIns="0">
            <a:spAutoFit/>
          </a:bodyPr>
          <a:lstStyle/>
          <a:p>
            <a:r>
              <a:rPr sz="791" b="1">
                <a:solidFill>
                  <a:srgbClr val="2E2E2E"/>
                </a:solidFill>
                <a:latin typeface="Calibri"/>
              </a:rPr>
              <a:t>Matcha Powder</a:t>
            </a:r>
          </a:p>
        </p:txBody>
      </p:sp>
      <p:pic>
        <p:nvPicPr>
          <p:cNvPr id="37" name="Picture 36" descr="lock.png"/>
          <p:cNvPicPr>
            <a:picLocks noChangeAspect="1"/>
          </p:cNvPicPr>
          <p:nvPr/>
        </p:nvPicPr>
        <p:blipFill>
          <a:blip r:embed="rId4"/>
          <a:stretch>
            <a:fillRect/>
          </a:stretch>
        </p:blipFill>
        <p:spPr>
          <a:xfrm>
            <a:off x="1771555" y="6274410"/>
            <a:ext cx="92663" cy="134782"/>
          </a:xfrm>
          <a:prstGeom prst="rect">
            <a:avLst/>
          </a:prstGeom>
        </p:spPr>
      </p:pic>
      <p:sp>
        <p:nvSpPr>
          <p:cNvPr id="38" name="TextBox 37"/>
          <p:cNvSpPr txBox="1"/>
          <p:nvPr/>
        </p:nvSpPr>
        <p:spPr>
          <a:xfrm>
            <a:off x="5972175" y="4204106"/>
            <a:ext cx="398186" cy="139750"/>
          </a:xfrm>
          <a:prstGeom prst="rect">
            <a:avLst/>
          </a:prstGeom>
          <a:noFill/>
        </p:spPr>
        <p:txBody>
          <a:bodyPr wrap="none" lIns="0" rIns="0" tIns="0" bIns="0">
            <a:spAutoFit/>
          </a:bodyPr>
          <a:lstStyle/>
          <a:p>
            <a:r>
              <a:rPr sz="791" b="1">
                <a:solidFill>
                  <a:srgbClr val="2E2E2E"/>
                </a:solidFill>
                <a:latin typeface="Calibri"/>
              </a:rPr>
              <a:t>Organic</a:t>
            </a:r>
          </a:p>
        </p:txBody>
      </p:sp>
      <p:pic>
        <p:nvPicPr>
          <p:cNvPr id="39" name="Picture 38" descr="lock.png"/>
          <p:cNvPicPr>
            <a:picLocks noChangeAspect="1"/>
          </p:cNvPicPr>
          <p:nvPr/>
        </p:nvPicPr>
        <p:blipFill>
          <a:blip r:embed="rId4"/>
          <a:stretch>
            <a:fillRect/>
          </a:stretch>
        </p:blipFill>
        <p:spPr>
          <a:xfrm>
            <a:off x="6311622" y="4197065"/>
            <a:ext cx="92663" cy="134782"/>
          </a:xfrm>
          <a:prstGeom prst="rect">
            <a:avLst/>
          </a:prstGeom>
        </p:spPr>
      </p:pic>
      <p:sp>
        <p:nvSpPr>
          <p:cNvPr id="40" name="TextBox 39"/>
          <p:cNvSpPr txBox="1"/>
          <p:nvPr/>
        </p:nvSpPr>
        <p:spPr>
          <a:xfrm>
            <a:off x="5972175" y="5928131"/>
            <a:ext cx="631965" cy="139750"/>
          </a:xfrm>
          <a:prstGeom prst="rect">
            <a:avLst/>
          </a:prstGeom>
          <a:noFill/>
        </p:spPr>
        <p:txBody>
          <a:bodyPr wrap="none" lIns="0" rIns="0" tIns="0" bIns="0">
            <a:spAutoFit/>
          </a:bodyPr>
          <a:lstStyle/>
          <a:p>
            <a:r>
              <a:rPr sz="791" b="1">
                <a:solidFill>
                  <a:srgbClr val="2E2E2E"/>
                </a:solidFill>
                <a:latin typeface="Calibri"/>
              </a:rPr>
              <a:t>Conventional</a:t>
            </a:r>
          </a:p>
        </p:txBody>
      </p:sp>
      <p:pic>
        <p:nvPicPr>
          <p:cNvPr id="41" name="Picture 40" descr="lock.png"/>
          <p:cNvPicPr>
            <a:picLocks noChangeAspect="1"/>
          </p:cNvPicPr>
          <p:nvPr/>
        </p:nvPicPr>
        <p:blipFill>
          <a:blip r:embed="rId4"/>
          <a:stretch>
            <a:fillRect/>
          </a:stretch>
        </p:blipFill>
        <p:spPr>
          <a:xfrm>
            <a:off x="6545402" y="5921090"/>
            <a:ext cx="92663" cy="134782"/>
          </a:xfrm>
          <a:prstGeom prst="rect">
            <a:avLst/>
          </a:prstGeom>
        </p:spPr>
      </p:pic>
      <p:sp>
        <p:nvSpPr>
          <p:cNvPr id="42" name="TextBox 41"/>
          <p:cNvSpPr txBox="1"/>
          <p:nvPr/>
        </p:nvSpPr>
        <p:spPr>
          <a:xfrm>
            <a:off x="7715250" y="3238500"/>
            <a:ext cx="4083446" cy="194310"/>
          </a:xfrm>
          <a:prstGeom prst="rect">
            <a:avLst/>
          </a:prstGeom>
          <a:noFill/>
        </p:spPr>
        <p:txBody>
          <a:bodyPr wrap="none" lIns="0" rIns="0" tIns="0" bIns="0">
            <a:spAutoFit/>
          </a:bodyPr>
          <a:lstStyle/>
          <a:p>
            <a:r>
              <a:rPr sz="1150" b="0">
                <a:solidFill>
                  <a:srgbClr val="2E2E2E"/>
                </a:solidFill>
                <a:latin typeface="Calibri"/>
              </a:rPr>
              <a:t>Matcha tea segment is projected to account for the largest share of</a:t>
            </a:r>
          </a:p>
        </p:txBody>
      </p:sp>
      <p:sp>
        <p:nvSpPr>
          <p:cNvPr id="43" name="TextBox 42"/>
          <p:cNvSpPr txBox="1"/>
          <p:nvPr/>
        </p:nvSpPr>
        <p:spPr>
          <a:xfrm>
            <a:off x="7715250" y="3413760"/>
            <a:ext cx="3436776" cy="194310"/>
          </a:xfrm>
          <a:prstGeom prst="rect">
            <a:avLst/>
          </a:prstGeom>
          <a:noFill/>
        </p:spPr>
        <p:txBody>
          <a:bodyPr wrap="none" lIns="0" rIns="0" tIns="0" bIns="0">
            <a:spAutoFit/>
          </a:bodyPr>
          <a:lstStyle/>
          <a:p>
            <a:r>
              <a:rPr sz="1150" b="0">
                <a:solidFill>
                  <a:srgbClr val="2E2E2E"/>
                </a:solidFill>
                <a:latin typeface="Calibri"/>
              </a:rPr>
              <a:t>the North America matcha market, led by organic at US$</a:t>
            </a:r>
          </a:p>
        </p:txBody>
      </p:sp>
      <p:pic>
        <p:nvPicPr>
          <p:cNvPr id="44" name="Picture 43" descr="lock.png"/>
          <p:cNvPicPr>
            <a:picLocks noChangeAspect="1"/>
          </p:cNvPicPr>
          <p:nvPr/>
        </p:nvPicPr>
        <p:blipFill>
          <a:blip r:embed="rId4"/>
          <a:stretch>
            <a:fillRect/>
          </a:stretch>
        </p:blipFill>
        <p:spPr>
          <a:xfrm>
            <a:off x="11101180" y="3403536"/>
            <a:ext cx="134549" cy="195707"/>
          </a:xfrm>
          <a:prstGeom prst="rect">
            <a:avLst/>
          </a:prstGeom>
        </p:spPr>
      </p:pic>
      <p:sp>
        <p:nvSpPr>
          <p:cNvPr id="45" name="TextBox 44"/>
          <p:cNvSpPr txBox="1"/>
          <p:nvPr/>
        </p:nvSpPr>
        <p:spPr>
          <a:xfrm>
            <a:off x="11276289" y="3413760"/>
            <a:ext cx="421357" cy="194310"/>
          </a:xfrm>
          <a:prstGeom prst="rect">
            <a:avLst/>
          </a:prstGeom>
          <a:noFill/>
        </p:spPr>
        <p:txBody>
          <a:bodyPr wrap="none" lIns="0" rIns="0" tIns="0" bIns="0">
            <a:spAutoFit/>
          </a:bodyPr>
          <a:lstStyle/>
          <a:p>
            <a:r>
              <a:rPr sz="1150" b="0">
                <a:solidFill>
                  <a:srgbClr val="2E2E2E"/>
                </a:solidFill>
                <a:latin typeface="Calibri"/>
              </a:rPr>
              <a:t>Mn in</a:t>
            </a:r>
          </a:p>
        </p:txBody>
      </p:sp>
      <p:sp>
        <p:nvSpPr>
          <p:cNvPr id="46" name="TextBox 45"/>
          <p:cNvSpPr txBox="1"/>
          <p:nvPr/>
        </p:nvSpPr>
        <p:spPr>
          <a:xfrm>
            <a:off x="7715250" y="3589019"/>
            <a:ext cx="4119388" cy="194310"/>
          </a:xfrm>
          <a:prstGeom prst="rect">
            <a:avLst/>
          </a:prstGeom>
          <a:noFill/>
        </p:spPr>
        <p:txBody>
          <a:bodyPr wrap="none" lIns="0" rIns="0" tIns="0" bIns="0">
            <a:spAutoFit/>
          </a:bodyPr>
          <a:lstStyle/>
          <a:p>
            <a:r>
              <a:rPr sz="1150" b="0">
                <a:solidFill>
                  <a:srgbClr val="2E2E2E"/>
                </a:solidFill>
                <a:latin typeface="Calibri"/>
              </a:rPr>
              <a:t>2036. 'Matcha Tea × Organic' is the single largest cross-sectional cell</a:t>
            </a:r>
          </a:p>
        </p:txBody>
      </p:sp>
      <p:sp>
        <p:nvSpPr>
          <p:cNvPr id="47" name="TextBox 46"/>
          <p:cNvSpPr txBox="1"/>
          <p:nvPr/>
        </p:nvSpPr>
        <p:spPr>
          <a:xfrm>
            <a:off x="7715250" y="3764279"/>
            <a:ext cx="120414"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8" name="Picture 47" descr="lock.png"/>
          <p:cNvPicPr>
            <a:picLocks noChangeAspect="1"/>
          </p:cNvPicPr>
          <p:nvPr/>
        </p:nvPicPr>
        <p:blipFill>
          <a:blip r:embed="rId4"/>
          <a:stretch>
            <a:fillRect/>
          </a:stretch>
        </p:blipFill>
        <p:spPr>
          <a:xfrm>
            <a:off x="7784818" y="3754056"/>
            <a:ext cx="134549" cy="195707"/>
          </a:xfrm>
          <a:prstGeom prst="rect">
            <a:avLst/>
          </a:prstGeom>
        </p:spPr>
      </p:pic>
      <p:sp>
        <p:nvSpPr>
          <p:cNvPr id="49" name="TextBox 48"/>
          <p:cNvSpPr txBox="1"/>
          <p:nvPr/>
        </p:nvSpPr>
        <p:spPr>
          <a:xfrm>
            <a:off x="7959927" y="3764279"/>
            <a:ext cx="3865798" cy="194310"/>
          </a:xfrm>
          <a:prstGeom prst="rect">
            <a:avLst/>
          </a:prstGeom>
          <a:noFill/>
        </p:spPr>
        <p:txBody>
          <a:bodyPr wrap="none" lIns="0" rIns="0" tIns="0" bIns="0">
            <a:spAutoFit/>
          </a:bodyPr>
          <a:lstStyle/>
          <a:p>
            <a:r>
              <a:rPr sz="1150" b="0">
                <a:solidFill>
                  <a:srgbClr val="2E2E2E"/>
                </a:solidFill>
                <a:latin typeface="Calibri"/>
              </a:rPr>
              <a:t>US$ Mn, 2026E), while 'Matcha Powder × Conventional' records</a:t>
            </a:r>
          </a:p>
        </p:txBody>
      </p:sp>
      <p:sp>
        <p:nvSpPr>
          <p:cNvPr id="50" name="TextBox 49"/>
          <p:cNvSpPr txBox="1"/>
          <p:nvPr/>
        </p:nvSpPr>
        <p:spPr>
          <a:xfrm>
            <a:off x="7715250" y="3939539"/>
            <a:ext cx="1943739" cy="194310"/>
          </a:xfrm>
          <a:prstGeom prst="rect">
            <a:avLst/>
          </a:prstGeom>
          <a:noFill/>
        </p:spPr>
        <p:txBody>
          <a:bodyPr wrap="none" lIns="0" rIns="0" tIns="0" bIns="0">
            <a:spAutoFit/>
          </a:bodyPr>
          <a:lstStyle/>
          <a:p>
            <a:r>
              <a:rPr sz="1150" b="0">
                <a:solidFill>
                  <a:srgbClr val="2E2E2E"/>
                </a:solidFill>
                <a:latin typeface="Calibri"/>
              </a:rPr>
              <a:t>the fastest growth at a CAGR of</a:t>
            </a:r>
          </a:p>
        </p:txBody>
      </p:sp>
      <p:pic>
        <p:nvPicPr>
          <p:cNvPr id="51" name="Picture 50" descr="lock.png"/>
          <p:cNvPicPr>
            <a:picLocks noChangeAspect="1"/>
          </p:cNvPicPr>
          <p:nvPr/>
        </p:nvPicPr>
        <p:blipFill>
          <a:blip r:embed="rId4"/>
          <a:stretch>
            <a:fillRect/>
          </a:stretch>
        </p:blipFill>
        <p:spPr>
          <a:xfrm>
            <a:off x="9608143" y="3929316"/>
            <a:ext cx="134549" cy="195707"/>
          </a:xfrm>
          <a:prstGeom prst="rect">
            <a:avLst/>
          </a:prstGeom>
        </p:spPr>
      </p:pic>
      <p:sp>
        <p:nvSpPr>
          <p:cNvPr id="52" name="TextBox 51"/>
          <p:cNvSpPr txBox="1"/>
          <p:nvPr/>
        </p:nvSpPr>
        <p:spPr>
          <a:xfrm>
            <a:off x="9783252" y="3939539"/>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53" name="TextBox 52"/>
          <p:cNvSpPr txBox="1"/>
          <p:nvPr/>
        </p:nvSpPr>
        <p:spPr>
          <a:xfrm>
            <a:off x="7715250" y="4167377"/>
            <a:ext cx="3917714" cy="194310"/>
          </a:xfrm>
          <a:prstGeom prst="rect">
            <a:avLst/>
          </a:prstGeom>
          <a:noFill/>
        </p:spPr>
        <p:txBody>
          <a:bodyPr wrap="none" lIns="0" rIns="0" tIns="0" bIns="0">
            <a:spAutoFit/>
          </a:bodyPr>
          <a:lstStyle/>
          <a:p>
            <a:r>
              <a:rPr sz="1150" b="0">
                <a:solidFill>
                  <a:srgbClr val="2E2E2E"/>
                </a:solidFill>
                <a:latin typeface="Calibri"/>
              </a:rPr>
              <a:t>Combined, the top three product type × nature cells generate an</a:t>
            </a:r>
          </a:p>
        </p:txBody>
      </p:sp>
      <p:sp>
        <p:nvSpPr>
          <p:cNvPr id="54" name="TextBox 53"/>
          <p:cNvSpPr txBox="1"/>
          <p:nvPr/>
        </p:nvSpPr>
        <p:spPr>
          <a:xfrm>
            <a:off x="7715250" y="4342637"/>
            <a:ext cx="1594036" cy="194310"/>
          </a:xfrm>
          <a:prstGeom prst="rect">
            <a:avLst/>
          </a:prstGeom>
          <a:noFill/>
        </p:spPr>
        <p:txBody>
          <a:bodyPr wrap="none" lIns="0" rIns="0" tIns="0" bIns="0">
            <a:spAutoFit/>
          </a:bodyPr>
          <a:lstStyle/>
          <a:p>
            <a:r>
              <a:rPr sz="1150" b="0">
                <a:solidFill>
                  <a:srgbClr val="2E2E2E"/>
                </a:solidFill>
                <a:latin typeface="Calibri"/>
              </a:rPr>
              <a:t>absolute $ opportunity of</a:t>
            </a:r>
          </a:p>
        </p:txBody>
      </p:sp>
      <p:pic>
        <p:nvPicPr>
          <p:cNvPr id="55" name="Picture 54" descr="lock.png"/>
          <p:cNvPicPr>
            <a:picLocks noChangeAspect="1"/>
          </p:cNvPicPr>
          <p:nvPr/>
        </p:nvPicPr>
        <p:blipFill>
          <a:blip r:embed="rId4"/>
          <a:stretch>
            <a:fillRect/>
          </a:stretch>
        </p:blipFill>
        <p:spPr>
          <a:xfrm>
            <a:off x="9258439" y="4332414"/>
            <a:ext cx="134549" cy="195707"/>
          </a:xfrm>
          <a:prstGeom prst="rect">
            <a:avLst/>
          </a:prstGeom>
        </p:spPr>
      </p:pic>
      <p:sp>
        <p:nvSpPr>
          <p:cNvPr id="56" name="TextBox 55"/>
          <p:cNvSpPr txBox="1"/>
          <p:nvPr/>
        </p:nvSpPr>
        <p:spPr>
          <a:xfrm>
            <a:off x="9433549" y="4342637"/>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Product Type × Nature,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nature sub-segments</a:t>
            </a:r>
          </a:p>
        </p:txBody>
      </p:sp>
      <p:sp>
        <p:nvSpPr>
          <p:cNvPr id="10" name="Rounded Rectangle 9"/>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Product Type × Nature, 2026E (% of each row)</a:t>
            </a:r>
          </a:p>
        </p:txBody>
      </p:sp>
      <p:graphicFrame>
        <p:nvGraphicFramePr>
          <p:cNvPr id="12" name="Table 11"/>
          <p:cNvGraphicFramePr>
            <a:graphicFrameLocks noGrp="1"/>
          </p:cNvGraphicFramePr>
          <p:nvPr/>
        </p:nvGraphicFramePr>
        <p:xfrm>
          <a:off x="152400" y="1238250"/>
          <a:ext cx="11887199" cy="990600"/>
        </p:xfrm>
        <a:graphic>
          <a:graphicData uri="http://schemas.openxmlformats.org/drawingml/2006/table">
            <a:tbl>
              <a:tblPr>
                <a:tableStyleId>{5C22544A-7EE6-4342-B048-85BDC9FD1C3A}</a:tableStyleId>
              </a:tblPr>
              <a:tblGrid>
                <a:gridCol w="3342581"/>
                <a:gridCol w="2848206"/>
                <a:gridCol w="2848206"/>
                <a:gridCol w="2848206"/>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Organic</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Conventional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571750"/>
            <a:ext cx="7286625"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2628900"/>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Nature Mix by Product Type, 2026E (% share)</a:t>
            </a:r>
          </a:p>
        </p:txBody>
      </p:sp>
      <p:graphicFrame>
        <p:nvGraphicFramePr>
          <p:cNvPr id="16" name="Chart 15"/>
          <p:cNvGraphicFramePr>
            <a:graphicFrameLocks noGrp="1"/>
          </p:cNvGraphicFramePr>
          <p:nvPr/>
        </p:nvGraphicFramePr>
        <p:xfrm>
          <a:off x="238125" y="2857500"/>
          <a:ext cx="7096125" cy="3714750"/>
        </p:xfrm>
        <a:graphic>
          <a:graphicData uri="http://schemas.openxmlformats.org/drawingml/2006/chart">
            <c:chart xmlns:c="http://schemas.openxmlformats.org/drawingml/2006/chart" r:id="rId3"/>
          </a:graphicData>
        </a:graphic>
      </p:graphicFrame>
      <p:sp>
        <p:nvSpPr>
          <p:cNvPr id="17" name="Rounded Rectangle 16"/>
          <p:cNvSpPr/>
          <p:nvPr/>
        </p:nvSpPr>
        <p:spPr>
          <a:xfrm>
            <a:off x="7581900" y="2571750"/>
            <a:ext cx="4457700" cy="4057650"/>
          </a:xfrm>
          <a:prstGeom prst="roundRect">
            <a:avLst>
              <a:gd name="adj" fmla="val 18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7715250" y="2657475"/>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9" name="Rectangle 18"/>
          <p:cNvSpPr/>
          <p:nvPr/>
        </p:nvSpPr>
        <p:spPr>
          <a:xfrm>
            <a:off x="7715250" y="2895600"/>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7715250" y="2981325"/>
            <a:ext cx="4191000" cy="35718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5"/>
          <a:stretch>
            <a:fillRect/>
          </a:stretch>
        </p:blipFill>
        <p:spPr>
          <a:xfrm>
            <a:off x="7584560" y="1595570"/>
            <a:ext cx="358933" cy="522085"/>
          </a:xfrm>
          <a:prstGeom prst="rect">
            <a:avLst/>
          </a:prstGeom>
        </p:spPr>
      </p:pic>
      <p:pic>
        <p:nvPicPr>
          <p:cNvPr id="23" name="Picture 22" descr="lock.png"/>
          <p:cNvPicPr>
            <a:picLocks noChangeAspect="1"/>
          </p:cNvPicPr>
          <p:nvPr/>
        </p:nvPicPr>
        <p:blipFill>
          <a:blip r:embed="rId5"/>
          <a:stretch>
            <a:fillRect/>
          </a:stretch>
        </p:blipFill>
        <p:spPr>
          <a:xfrm>
            <a:off x="3709408" y="3701240"/>
            <a:ext cx="440818" cy="641190"/>
          </a:xfrm>
          <a:prstGeom prst="rect">
            <a:avLst/>
          </a:prstGeom>
        </p:spPr>
      </p:pic>
      <p:sp>
        <p:nvSpPr>
          <p:cNvPr id="24" name="TextBox 23"/>
          <p:cNvSpPr txBox="1"/>
          <p:nvPr/>
        </p:nvSpPr>
        <p:spPr>
          <a:xfrm>
            <a:off x="7715250" y="2990850"/>
            <a:ext cx="3445619" cy="194310"/>
          </a:xfrm>
          <a:prstGeom prst="rect">
            <a:avLst/>
          </a:prstGeom>
          <a:noFill/>
        </p:spPr>
        <p:txBody>
          <a:bodyPr wrap="none" lIns="0" rIns="0" tIns="0" bIns="0">
            <a:spAutoFit/>
          </a:bodyPr>
          <a:lstStyle/>
          <a:p>
            <a:r>
              <a:rPr sz="1150" b="0">
                <a:solidFill>
                  <a:srgbClr val="2E2E2E"/>
                </a:solidFill>
                <a:latin typeface="Calibri"/>
              </a:rPr>
              <a:t>▪ 'Organic' holds the highest share of 'Matcha Powder' at</a:t>
            </a:r>
          </a:p>
        </p:txBody>
      </p:sp>
      <p:pic>
        <p:nvPicPr>
          <p:cNvPr id="25" name="Picture 24" descr="lock.png"/>
          <p:cNvPicPr>
            <a:picLocks noChangeAspect="1"/>
          </p:cNvPicPr>
          <p:nvPr/>
        </p:nvPicPr>
        <p:blipFill>
          <a:blip r:embed="rId5"/>
          <a:stretch>
            <a:fillRect/>
          </a:stretch>
        </p:blipFill>
        <p:spPr>
          <a:xfrm>
            <a:off x="11110023" y="2980626"/>
            <a:ext cx="134549" cy="195707"/>
          </a:xfrm>
          <a:prstGeom prst="rect">
            <a:avLst/>
          </a:prstGeom>
        </p:spPr>
      </p:pic>
      <p:sp>
        <p:nvSpPr>
          <p:cNvPr id="26" name="TextBox 25"/>
          <p:cNvSpPr txBox="1"/>
          <p:nvPr/>
        </p:nvSpPr>
        <p:spPr>
          <a:xfrm>
            <a:off x="7715250" y="3166110"/>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7" name="TextBox 26"/>
          <p:cNvSpPr txBox="1"/>
          <p:nvPr/>
        </p:nvSpPr>
        <p:spPr>
          <a:xfrm>
            <a:off x="7715250" y="3393947"/>
            <a:ext cx="3485554" cy="194310"/>
          </a:xfrm>
          <a:prstGeom prst="rect">
            <a:avLst/>
          </a:prstGeom>
          <a:noFill/>
        </p:spPr>
        <p:txBody>
          <a:bodyPr wrap="none" lIns="0" rIns="0" tIns="0" bIns="0">
            <a:spAutoFit/>
          </a:bodyPr>
          <a:lstStyle/>
          <a:p>
            <a:r>
              <a:rPr sz="1150" b="0">
                <a:solidFill>
                  <a:srgbClr val="2E2E2E"/>
                </a:solidFill>
                <a:latin typeface="Calibri"/>
              </a:rPr>
              <a:t>▪ 'Matcha Powder' is the most concentrated product type</a:t>
            </a:r>
          </a:p>
        </p:txBody>
      </p:sp>
      <p:sp>
        <p:nvSpPr>
          <p:cNvPr id="28" name="TextBox 27"/>
          <p:cNvSpPr txBox="1"/>
          <p:nvPr/>
        </p:nvSpPr>
        <p:spPr>
          <a:xfrm>
            <a:off x="7715250" y="3569207"/>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9" name="Picture 28" descr="lock.png"/>
          <p:cNvPicPr>
            <a:picLocks noChangeAspect="1"/>
          </p:cNvPicPr>
          <p:nvPr/>
        </p:nvPicPr>
        <p:blipFill>
          <a:blip r:embed="rId5"/>
          <a:stretch>
            <a:fillRect/>
          </a:stretch>
        </p:blipFill>
        <p:spPr>
          <a:xfrm>
            <a:off x="8843110" y="3558984"/>
            <a:ext cx="134549" cy="195707"/>
          </a:xfrm>
          <a:prstGeom prst="rect">
            <a:avLst/>
          </a:prstGeom>
        </p:spPr>
      </p:pic>
      <p:sp>
        <p:nvSpPr>
          <p:cNvPr id="30" name="TextBox 29"/>
          <p:cNvSpPr txBox="1"/>
          <p:nvPr/>
        </p:nvSpPr>
        <p:spPr>
          <a:xfrm>
            <a:off x="9018219" y="3569207"/>
            <a:ext cx="1518158" cy="194310"/>
          </a:xfrm>
          <a:prstGeom prst="rect">
            <a:avLst/>
          </a:prstGeom>
          <a:noFill/>
        </p:spPr>
        <p:txBody>
          <a:bodyPr wrap="none" lIns="0" rIns="0" tIns="0" bIns="0">
            <a:spAutoFit/>
          </a:bodyPr>
          <a:lstStyle/>
          <a:p>
            <a:r>
              <a:rPr sz="1150" b="0">
                <a:solidFill>
                  <a:srgbClr val="2E2E2E"/>
                </a:solidFill>
                <a:latin typeface="Calibri"/>
              </a:rPr>
              <a:t>of its value via 'Organic'.</a:t>
            </a:r>
          </a:p>
        </p:txBody>
      </p:sp>
      <p:sp>
        <p:nvSpPr>
          <p:cNvPr id="31" name="TextBox 30"/>
          <p:cNvSpPr txBox="1"/>
          <p:nvPr/>
        </p:nvSpPr>
        <p:spPr>
          <a:xfrm>
            <a:off x="7715250" y="3797045"/>
            <a:ext cx="1457399" cy="194310"/>
          </a:xfrm>
          <a:prstGeom prst="rect">
            <a:avLst/>
          </a:prstGeom>
          <a:noFill/>
        </p:spPr>
        <p:txBody>
          <a:bodyPr wrap="none" lIns="0" rIns="0" tIns="0" bIns="0">
            <a:spAutoFit/>
          </a:bodyPr>
          <a:lstStyle/>
          <a:p>
            <a:r>
              <a:rPr sz="1150" b="0">
                <a:solidFill>
                  <a:srgbClr val="2E2E2E"/>
                </a:solidFill>
                <a:latin typeface="Calibri"/>
              </a:rPr>
              <a:t>▪ 'Conventional' gains +</a:t>
            </a:r>
          </a:p>
        </p:txBody>
      </p:sp>
      <p:pic>
        <p:nvPicPr>
          <p:cNvPr id="32" name="Picture 31" descr="lock.png"/>
          <p:cNvPicPr>
            <a:picLocks noChangeAspect="1"/>
          </p:cNvPicPr>
          <p:nvPr/>
        </p:nvPicPr>
        <p:blipFill>
          <a:blip r:embed="rId5"/>
          <a:stretch>
            <a:fillRect/>
          </a:stretch>
        </p:blipFill>
        <p:spPr>
          <a:xfrm>
            <a:off x="9121803" y="3786822"/>
            <a:ext cx="134549" cy="195707"/>
          </a:xfrm>
          <a:prstGeom prst="rect">
            <a:avLst/>
          </a:prstGeom>
        </p:spPr>
      </p:pic>
      <p:sp>
        <p:nvSpPr>
          <p:cNvPr id="33" name="TextBox 32"/>
          <p:cNvSpPr txBox="1"/>
          <p:nvPr/>
        </p:nvSpPr>
        <p:spPr>
          <a:xfrm>
            <a:off x="9296912" y="3797045"/>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34" name="TextBox 33"/>
          <p:cNvSpPr txBox="1"/>
          <p:nvPr/>
        </p:nvSpPr>
        <p:spPr>
          <a:xfrm>
            <a:off x="7715250" y="3972305"/>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5" name="lockshield_16"/>
          <p:cNvSpPr/>
          <p:nvPr/>
        </p:nvSpPr>
        <p:spPr>
          <a:xfrm>
            <a:off x="238125" y="2857500"/>
            <a:ext cx="7096125" cy="371475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Product Type × Nature,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11906250" cy="1704975"/>
          </a:xfrm>
          <a:prstGeom prst="roundRect">
            <a:avLst>
              <a:gd name="adj" fmla="val 446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Product Type × Nature, 2026E–2036F</a:t>
            </a:r>
          </a:p>
        </p:txBody>
      </p:sp>
      <p:graphicFrame>
        <p:nvGraphicFramePr>
          <p:cNvPr id="12" name="Table 11"/>
          <p:cNvGraphicFramePr>
            <a:graphicFrameLocks noGrp="1"/>
          </p:cNvGraphicFramePr>
          <p:nvPr/>
        </p:nvGraphicFramePr>
        <p:xfrm>
          <a:off x="152400" y="1238250"/>
          <a:ext cx="11887199" cy="1238250"/>
        </p:xfrm>
        <a:graphic>
          <a:graphicData uri="http://schemas.openxmlformats.org/drawingml/2006/table">
            <a:tbl>
              <a:tblPr>
                <a:tableStyleId>{5C22544A-7EE6-4342-B048-85BDC9FD1C3A}</a:tableStyleId>
              </a:tblPr>
              <a:tblGrid>
                <a:gridCol w="2775893"/>
                <a:gridCol w="1518551"/>
                <a:gridCol w="1518551"/>
                <a:gridCol w="1518551"/>
                <a:gridCol w="1518551"/>
                <a:gridCol w="1518551"/>
                <a:gridCol w="1518551"/>
              </a:tblGrid>
              <a:tr h="246126">
                <a:tc rowSpan="2">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Organic</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Conventional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8031">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8031">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031">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03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48602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2819400"/>
            <a:ext cx="560070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2905125"/>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6" name="Rectangle 15"/>
          <p:cNvSpPr/>
          <p:nvPr/>
        </p:nvSpPr>
        <p:spPr>
          <a:xfrm>
            <a:off x="276225" y="3143250"/>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3228975"/>
            <a:ext cx="53340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5895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029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0" name="Rectangle 19"/>
          <p:cNvSpPr/>
          <p:nvPr/>
        </p:nvSpPr>
        <p:spPr>
          <a:xfrm>
            <a:off x="6029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029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79914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1248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4" name="Rectangle 23"/>
          <p:cNvSpPr/>
          <p:nvPr/>
        </p:nvSpPr>
        <p:spPr>
          <a:xfrm>
            <a:off x="81248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248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0086975" y="2819400"/>
            <a:ext cx="1943100" cy="3810000"/>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0220325" y="2905125"/>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8" name="Rectangle 27"/>
          <p:cNvSpPr/>
          <p:nvPr/>
        </p:nvSpPr>
        <p:spPr>
          <a:xfrm>
            <a:off x="10220325" y="3143250"/>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220325" y="3228975"/>
            <a:ext cx="1676400" cy="33242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'Matcha Tea × Organic' ranks highest (5/5); 'Matcha Powder × Conventional' lowest (1/5), a deprioritised cell.</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4"/>
          <a:stretch>
            <a:fillRect/>
          </a:stretch>
        </p:blipFill>
        <p:spPr>
          <a:xfrm>
            <a:off x="7297256" y="1837753"/>
            <a:ext cx="366712" cy="533400"/>
          </a:xfrm>
          <a:prstGeom prst="rect">
            <a:avLst/>
          </a:prstGeom>
        </p:spPr>
      </p:pic>
      <p:sp>
        <p:nvSpPr>
          <p:cNvPr id="32" name="TextBox 31"/>
          <p:cNvSpPr txBox="1"/>
          <p:nvPr/>
        </p:nvSpPr>
        <p:spPr>
          <a:xfrm>
            <a:off x="276225" y="3238500"/>
            <a:ext cx="1707852" cy="194310"/>
          </a:xfrm>
          <a:prstGeom prst="rect">
            <a:avLst/>
          </a:prstGeom>
          <a:noFill/>
        </p:spPr>
        <p:txBody>
          <a:bodyPr wrap="none" lIns="0" rIns="0" tIns="0" bIns="0">
            <a:spAutoFit/>
          </a:bodyPr>
          <a:lstStyle/>
          <a:p>
            <a:r>
              <a:rPr sz="1150" b="0">
                <a:solidFill>
                  <a:srgbClr val="2E2E2E"/>
                </a:solidFill>
                <a:latin typeface="Calibri"/>
              </a:rPr>
              <a:t>▪ 1. Matcha Tea × Organic –</a:t>
            </a:r>
          </a:p>
        </p:txBody>
      </p:sp>
      <p:pic>
        <p:nvPicPr>
          <p:cNvPr id="33" name="Picture 32" descr="lock.png"/>
          <p:cNvPicPr>
            <a:picLocks noChangeAspect="1"/>
          </p:cNvPicPr>
          <p:nvPr/>
        </p:nvPicPr>
        <p:blipFill>
          <a:blip r:embed="rId4"/>
          <a:stretch>
            <a:fillRect/>
          </a:stretch>
        </p:blipFill>
        <p:spPr>
          <a:xfrm>
            <a:off x="1933231" y="3228276"/>
            <a:ext cx="134549" cy="195707"/>
          </a:xfrm>
          <a:prstGeom prst="rect">
            <a:avLst/>
          </a:prstGeom>
        </p:spPr>
      </p:pic>
      <p:sp>
        <p:nvSpPr>
          <p:cNvPr id="34" name="TextBox 33"/>
          <p:cNvSpPr txBox="1"/>
          <p:nvPr/>
        </p:nvSpPr>
        <p:spPr>
          <a:xfrm>
            <a:off x="2108340" y="323850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2170492" y="3228276"/>
            <a:ext cx="134549" cy="195707"/>
          </a:xfrm>
          <a:prstGeom prst="rect">
            <a:avLst/>
          </a:prstGeom>
        </p:spPr>
      </p:pic>
      <p:sp>
        <p:nvSpPr>
          <p:cNvPr id="36" name="TextBox 35"/>
          <p:cNvSpPr txBox="1"/>
          <p:nvPr/>
        </p:nvSpPr>
        <p:spPr>
          <a:xfrm>
            <a:off x="2345601" y="323850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3466337"/>
            <a:ext cx="2036179" cy="194310"/>
          </a:xfrm>
          <a:prstGeom prst="rect">
            <a:avLst/>
          </a:prstGeom>
          <a:noFill/>
        </p:spPr>
        <p:txBody>
          <a:bodyPr wrap="none" lIns="0" rIns="0" tIns="0" bIns="0">
            <a:spAutoFit/>
          </a:bodyPr>
          <a:lstStyle/>
          <a:p>
            <a:r>
              <a:rPr sz="1150" b="0">
                <a:solidFill>
                  <a:srgbClr val="2E2E2E"/>
                </a:solidFill>
                <a:latin typeface="Calibri"/>
              </a:rPr>
              <a:t>▪ 2. Matcha Tea × Conventional –</a:t>
            </a:r>
          </a:p>
        </p:txBody>
      </p:sp>
      <p:pic>
        <p:nvPicPr>
          <p:cNvPr id="38" name="Picture 37" descr="lock.png"/>
          <p:cNvPicPr>
            <a:picLocks noChangeAspect="1"/>
          </p:cNvPicPr>
          <p:nvPr/>
        </p:nvPicPr>
        <p:blipFill>
          <a:blip r:embed="rId4"/>
          <a:stretch>
            <a:fillRect/>
          </a:stretch>
        </p:blipFill>
        <p:spPr>
          <a:xfrm>
            <a:off x="2261558" y="3456114"/>
            <a:ext cx="134549" cy="195707"/>
          </a:xfrm>
          <a:prstGeom prst="rect">
            <a:avLst/>
          </a:prstGeom>
        </p:spPr>
      </p:pic>
      <p:sp>
        <p:nvSpPr>
          <p:cNvPr id="39" name="TextBox 38"/>
          <p:cNvSpPr txBox="1"/>
          <p:nvPr/>
        </p:nvSpPr>
        <p:spPr>
          <a:xfrm>
            <a:off x="2436667" y="346633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2498819" y="3456114"/>
            <a:ext cx="134549" cy="195707"/>
          </a:xfrm>
          <a:prstGeom prst="rect">
            <a:avLst/>
          </a:prstGeom>
        </p:spPr>
      </p:pic>
      <p:sp>
        <p:nvSpPr>
          <p:cNvPr id="41" name="TextBox 40"/>
          <p:cNvSpPr txBox="1"/>
          <p:nvPr/>
        </p:nvSpPr>
        <p:spPr>
          <a:xfrm>
            <a:off x="2673928" y="346633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2" name="TextBox 41"/>
          <p:cNvSpPr txBox="1"/>
          <p:nvPr/>
        </p:nvSpPr>
        <p:spPr>
          <a:xfrm>
            <a:off x="276225" y="3694175"/>
            <a:ext cx="1951459" cy="194310"/>
          </a:xfrm>
          <a:prstGeom prst="rect">
            <a:avLst/>
          </a:prstGeom>
          <a:noFill/>
        </p:spPr>
        <p:txBody>
          <a:bodyPr wrap="none" lIns="0" rIns="0" tIns="0" bIns="0">
            <a:spAutoFit/>
          </a:bodyPr>
          <a:lstStyle/>
          <a:p>
            <a:r>
              <a:rPr sz="1150" b="0">
                <a:solidFill>
                  <a:srgbClr val="2E2E2E"/>
                </a:solidFill>
                <a:latin typeface="Calibri"/>
              </a:rPr>
              <a:t>▪ 3. Matcha Powder × Organic –</a:t>
            </a:r>
          </a:p>
        </p:txBody>
      </p:sp>
      <p:pic>
        <p:nvPicPr>
          <p:cNvPr id="43" name="Picture 42" descr="lock.png"/>
          <p:cNvPicPr>
            <a:picLocks noChangeAspect="1"/>
          </p:cNvPicPr>
          <p:nvPr/>
        </p:nvPicPr>
        <p:blipFill>
          <a:blip r:embed="rId4"/>
          <a:stretch>
            <a:fillRect/>
          </a:stretch>
        </p:blipFill>
        <p:spPr>
          <a:xfrm>
            <a:off x="2176838" y="3683952"/>
            <a:ext cx="134549" cy="195707"/>
          </a:xfrm>
          <a:prstGeom prst="rect">
            <a:avLst/>
          </a:prstGeom>
        </p:spPr>
      </p:pic>
      <p:sp>
        <p:nvSpPr>
          <p:cNvPr id="44" name="TextBox 43"/>
          <p:cNvSpPr txBox="1"/>
          <p:nvPr/>
        </p:nvSpPr>
        <p:spPr>
          <a:xfrm>
            <a:off x="2351947" y="3694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2414099" y="3683952"/>
            <a:ext cx="134549" cy="195707"/>
          </a:xfrm>
          <a:prstGeom prst="rect">
            <a:avLst/>
          </a:prstGeom>
        </p:spPr>
      </p:pic>
      <p:sp>
        <p:nvSpPr>
          <p:cNvPr id="46" name="TextBox 45"/>
          <p:cNvSpPr txBox="1"/>
          <p:nvPr/>
        </p:nvSpPr>
        <p:spPr>
          <a:xfrm>
            <a:off x="2589208" y="3694175"/>
            <a:ext cx="350899" cy="194310"/>
          </a:xfrm>
          <a:prstGeom prst="rect">
            <a:avLst/>
          </a:prstGeom>
          <a:noFill/>
        </p:spPr>
        <p:txBody>
          <a:bodyPr wrap="none" lIns="0" rIns="0" tIns="0" bIns="0">
            <a:spAutoFit/>
          </a:bodyPr>
          <a:lstStyle/>
          <a:p>
            <a:r>
              <a:rPr sz="1150" b="0">
                <a:solidFill>
                  <a:srgbClr val="2E2E2E"/>
                </a:solidFill>
                <a:latin typeface="Calibri"/>
              </a:rPr>
              <a:t>· 2/5</a:t>
            </a:r>
          </a:p>
        </p:txBody>
      </p:sp>
      <p:sp>
        <p:nvSpPr>
          <p:cNvPr id="47" name="TextBox 46"/>
          <p:cNvSpPr txBox="1"/>
          <p:nvPr/>
        </p:nvSpPr>
        <p:spPr>
          <a:xfrm>
            <a:off x="276225" y="3922013"/>
            <a:ext cx="2279786" cy="194310"/>
          </a:xfrm>
          <a:prstGeom prst="rect">
            <a:avLst/>
          </a:prstGeom>
          <a:noFill/>
        </p:spPr>
        <p:txBody>
          <a:bodyPr wrap="none" lIns="0" rIns="0" tIns="0" bIns="0">
            <a:spAutoFit/>
          </a:bodyPr>
          <a:lstStyle/>
          <a:p>
            <a:r>
              <a:rPr sz="1150" b="0">
                <a:solidFill>
                  <a:srgbClr val="2E2E2E"/>
                </a:solidFill>
                <a:latin typeface="Calibri"/>
              </a:rPr>
              <a:t>▪ 4. Matcha Powder × Conventional –</a:t>
            </a:r>
          </a:p>
        </p:txBody>
      </p:sp>
      <p:pic>
        <p:nvPicPr>
          <p:cNvPr id="48" name="Picture 47" descr="lock.png"/>
          <p:cNvPicPr>
            <a:picLocks noChangeAspect="1"/>
          </p:cNvPicPr>
          <p:nvPr/>
        </p:nvPicPr>
        <p:blipFill>
          <a:blip r:embed="rId4"/>
          <a:stretch>
            <a:fillRect/>
          </a:stretch>
        </p:blipFill>
        <p:spPr>
          <a:xfrm>
            <a:off x="2505165" y="3911790"/>
            <a:ext cx="134549" cy="195707"/>
          </a:xfrm>
          <a:prstGeom prst="rect">
            <a:avLst/>
          </a:prstGeom>
        </p:spPr>
      </p:pic>
      <p:sp>
        <p:nvSpPr>
          <p:cNvPr id="49" name="TextBox 48"/>
          <p:cNvSpPr txBox="1"/>
          <p:nvPr/>
        </p:nvSpPr>
        <p:spPr>
          <a:xfrm>
            <a:off x="2680274" y="3922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2742426" y="3911790"/>
            <a:ext cx="134549" cy="195707"/>
          </a:xfrm>
          <a:prstGeom prst="rect">
            <a:avLst/>
          </a:prstGeom>
        </p:spPr>
      </p:pic>
      <p:sp>
        <p:nvSpPr>
          <p:cNvPr id="51" name="TextBox 50"/>
          <p:cNvSpPr txBox="1"/>
          <p:nvPr/>
        </p:nvSpPr>
        <p:spPr>
          <a:xfrm>
            <a:off x="2917535" y="3922013"/>
            <a:ext cx="350899" cy="194310"/>
          </a:xfrm>
          <a:prstGeom prst="rect">
            <a:avLst/>
          </a:prstGeom>
          <a:noFill/>
        </p:spPr>
        <p:txBody>
          <a:bodyPr wrap="none" lIns="0" rIns="0" tIns="0" bIns="0">
            <a:spAutoFit/>
          </a:bodyPr>
          <a:lstStyle/>
          <a:p>
            <a:r>
              <a:rPr sz="1150" b="0">
                <a:solidFill>
                  <a:srgbClr val="2E2E2E"/>
                </a:solidFill>
                <a:latin typeface="Calibri"/>
              </a:rPr>
              <a:t>· 1/5</a:t>
            </a:r>
          </a:p>
        </p:txBody>
      </p:sp>
      <p:sp>
        <p:nvSpPr>
          <p:cNvPr id="52" name="TextBox 51"/>
          <p:cNvSpPr txBox="1"/>
          <p:nvPr/>
        </p:nvSpPr>
        <p:spPr>
          <a:xfrm>
            <a:off x="6029325" y="3238500"/>
            <a:ext cx="1522437" cy="194310"/>
          </a:xfrm>
          <a:prstGeom prst="rect">
            <a:avLst/>
          </a:prstGeom>
          <a:noFill/>
        </p:spPr>
        <p:txBody>
          <a:bodyPr wrap="none" lIns="0" rIns="0" tIns="0" bIns="0">
            <a:spAutoFit/>
          </a:bodyPr>
          <a:lstStyle/>
          <a:p>
            <a:r>
              <a:rPr sz="1150" b="0">
                <a:solidFill>
                  <a:srgbClr val="2E2E2E"/>
                </a:solidFill>
                <a:latin typeface="Calibri"/>
              </a:rPr>
              <a:t>▪ 'Matcha Tea × Organic'</a:t>
            </a:r>
          </a:p>
        </p:txBody>
      </p:sp>
      <p:sp>
        <p:nvSpPr>
          <p:cNvPr id="53" name="TextBox 52"/>
          <p:cNvSpPr txBox="1"/>
          <p:nvPr/>
        </p:nvSpPr>
        <p:spPr>
          <a:xfrm>
            <a:off x="6029325" y="3413760"/>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54" name="Picture 53" descr="lock.png"/>
          <p:cNvPicPr>
            <a:picLocks noChangeAspect="1"/>
          </p:cNvPicPr>
          <p:nvPr/>
        </p:nvPicPr>
        <p:blipFill>
          <a:blip r:embed="rId4"/>
          <a:stretch>
            <a:fillRect/>
          </a:stretch>
        </p:blipFill>
        <p:spPr>
          <a:xfrm>
            <a:off x="6335083" y="3403536"/>
            <a:ext cx="134549" cy="195707"/>
          </a:xfrm>
          <a:prstGeom prst="rect">
            <a:avLst/>
          </a:prstGeom>
        </p:spPr>
      </p:pic>
      <p:sp>
        <p:nvSpPr>
          <p:cNvPr id="55" name="TextBox 54"/>
          <p:cNvSpPr txBox="1"/>
          <p:nvPr/>
        </p:nvSpPr>
        <p:spPr>
          <a:xfrm>
            <a:off x="6510192" y="3413760"/>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56" name="TextBox 55"/>
          <p:cNvSpPr txBox="1"/>
          <p:nvPr/>
        </p:nvSpPr>
        <p:spPr>
          <a:xfrm>
            <a:off x="6029325" y="3589019"/>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7" name="Picture 56" descr="lock.png"/>
          <p:cNvPicPr>
            <a:picLocks noChangeAspect="1"/>
          </p:cNvPicPr>
          <p:nvPr/>
        </p:nvPicPr>
        <p:blipFill>
          <a:blip r:embed="rId4"/>
          <a:stretch>
            <a:fillRect/>
          </a:stretch>
        </p:blipFill>
        <p:spPr>
          <a:xfrm>
            <a:off x="6127418" y="3578796"/>
            <a:ext cx="134549" cy="195707"/>
          </a:xfrm>
          <a:prstGeom prst="rect">
            <a:avLst/>
          </a:prstGeom>
        </p:spPr>
      </p:pic>
      <p:sp>
        <p:nvSpPr>
          <p:cNvPr id="58" name="TextBox 57"/>
          <p:cNvSpPr txBox="1"/>
          <p:nvPr/>
        </p:nvSpPr>
        <p:spPr>
          <a:xfrm>
            <a:off x="6302527" y="3589019"/>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59" name="TextBox 58"/>
          <p:cNvSpPr txBox="1"/>
          <p:nvPr/>
        </p:nvSpPr>
        <p:spPr>
          <a:xfrm>
            <a:off x="6029325" y="3764279"/>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0" name="TextBox 59"/>
          <p:cNvSpPr txBox="1"/>
          <p:nvPr/>
        </p:nvSpPr>
        <p:spPr>
          <a:xfrm>
            <a:off x="8124825" y="3238500"/>
            <a:ext cx="1242032" cy="194310"/>
          </a:xfrm>
          <a:prstGeom prst="rect">
            <a:avLst/>
          </a:prstGeom>
          <a:noFill/>
        </p:spPr>
        <p:txBody>
          <a:bodyPr wrap="none" lIns="0" rIns="0" tIns="0" bIns="0">
            <a:spAutoFit/>
          </a:bodyPr>
          <a:lstStyle/>
          <a:p>
            <a:r>
              <a:rPr sz="1150" b="0">
                <a:solidFill>
                  <a:srgbClr val="2E2E2E"/>
                </a:solidFill>
                <a:latin typeface="Calibri"/>
              </a:rPr>
              <a:t>▪ 'Matcha Powder ×</a:t>
            </a:r>
          </a:p>
        </p:txBody>
      </p:sp>
      <p:sp>
        <p:nvSpPr>
          <p:cNvPr id="61" name="TextBox 60"/>
          <p:cNvSpPr txBox="1"/>
          <p:nvPr/>
        </p:nvSpPr>
        <p:spPr>
          <a:xfrm>
            <a:off x="8124825" y="3413760"/>
            <a:ext cx="1541834" cy="194310"/>
          </a:xfrm>
          <a:prstGeom prst="rect">
            <a:avLst/>
          </a:prstGeom>
          <a:noFill/>
        </p:spPr>
        <p:txBody>
          <a:bodyPr wrap="none" lIns="0" rIns="0" tIns="0" bIns="0">
            <a:spAutoFit/>
          </a:bodyPr>
          <a:lstStyle/>
          <a:p>
            <a:r>
              <a:rPr sz="1150" b="0">
                <a:solidFill>
                  <a:srgbClr val="2E2E2E"/>
                </a:solidFill>
                <a:latin typeface="Calibri"/>
              </a:rPr>
              <a:t>Conventional' grows at a</a:t>
            </a:r>
          </a:p>
        </p:txBody>
      </p:sp>
      <p:pic>
        <p:nvPicPr>
          <p:cNvPr id="62" name="Picture 61" descr="lock.png"/>
          <p:cNvPicPr>
            <a:picLocks noChangeAspect="1"/>
          </p:cNvPicPr>
          <p:nvPr/>
        </p:nvPicPr>
        <p:blipFill>
          <a:blip r:embed="rId4"/>
          <a:stretch>
            <a:fillRect/>
          </a:stretch>
        </p:blipFill>
        <p:spPr>
          <a:xfrm>
            <a:off x="8110745" y="3578796"/>
            <a:ext cx="134549" cy="195707"/>
          </a:xfrm>
          <a:prstGeom prst="rect">
            <a:avLst/>
          </a:prstGeom>
        </p:spPr>
      </p:pic>
      <p:sp>
        <p:nvSpPr>
          <p:cNvPr id="63" name="TextBox 62"/>
          <p:cNvSpPr txBox="1"/>
          <p:nvPr/>
        </p:nvSpPr>
        <p:spPr>
          <a:xfrm>
            <a:off x="8285854" y="3589019"/>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4" name="Picture 63" descr="lock.png"/>
          <p:cNvPicPr>
            <a:picLocks noChangeAspect="1"/>
          </p:cNvPicPr>
          <p:nvPr/>
        </p:nvPicPr>
        <p:blipFill>
          <a:blip r:embed="rId4"/>
          <a:stretch>
            <a:fillRect/>
          </a:stretch>
        </p:blipFill>
        <p:spPr>
          <a:xfrm>
            <a:off x="8681450" y="3578796"/>
            <a:ext cx="134549" cy="195707"/>
          </a:xfrm>
          <a:prstGeom prst="rect">
            <a:avLst/>
          </a:prstGeom>
        </p:spPr>
      </p:pic>
      <p:sp>
        <p:nvSpPr>
          <p:cNvPr id="65" name="TextBox 64"/>
          <p:cNvSpPr txBox="1"/>
          <p:nvPr/>
        </p:nvSpPr>
        <p:spPr>
          <a:xfrm>
            <a:off x="8856559" y="3589019"/>
            <a:ext cx="693774" cy="194310"/>
          </a:xfrm>
          <a:prstGeom prst="rect">
            <a:avLst/>
          </a:prstGeom>
          <a:noFill/>
        </p:spPr>
        <p:txBody>
          <a:bodyPr wrap="none" lIns="0" rIns="0" tIns="0" bIns="0">
            <a:spAutoFit/>
          </a:bodyPr>
          <a:lstStyle/>
          <a:p>
            <a:r>
              <a:rPr sz="1150" b="0">
                <a:solidFill>
                  <a:srgbClr val="2E2E2E"/>
                </a:solidFill>
                <a:latin typeface="Calibri"/>
              </a:rPr>
              <a:t>BPS above</a:t>
            </a:r>
          </a:p>
        </p:txBody>
      </p:sp>
      <p:sp>
        <p:nvSpPr>
          <p:cNvPr id="66" name="TextBox 65"/>
          <p:cNvSpPr txBox="1"/>
          <p:nvPr/>
        </p:nvSpPr>
        <p:spPr>
          <a:xfrm>
            <a:off x="8124825" y="3764279"/>
            <a:ext cx="1121655" cy="194310"/>
          </a:xfrm>
          <a:prstGeom prst="rect">
            <a:avLst/>
          </a:prstGeom>
          <a:noFill/>
        </p:spPr>
        <p:txBody>
          <a:bodyPr wrap="none" lIns="0" rIns="0" tIns="0" bIns="0">
            <a:spAutoFit/>
          </a:bodyPr>
          <a:lstStyle/>
          <a:p>
            <a:r>
              <a:rPr sz="1150" b="0">
                <a:solidFill>
                  <a:srgbClr val="2E2E2E"/>
                </a:solidFill>
                <a:latin typeface="Calibri"/>
              </a:rPr>
              <a:t>the cross-section.</a:t>
            </a:r>
          </a:p>
        </p:txBody>
      </p:sp>
    </p:spTree>
  </p:cSld>
  <p:clrMapOvr>
    <a:masterClrMapping/>
  </p:clrMapOvr>
</p:sld>
</file>

<file path=ppt/slides/slide20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Form × Flavour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0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Form × Flavour, 2026E vs 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form sub-segment across flavour sub-segments</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Form × Flavour, 2026E and 2036F (US$ Mn)</a:t>
            </a:r>
          </a:p>
        </p:txBody>
      </p:sp>
      <p:graphicFrame>
        <p:nvGraphicFramePr>
          <p:cNvPr id="12" name="Table 11"/>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840948"/>
                <a:gridCol w="613681"/>
                <a:gridCol w="613681"/>
                <a:gridCol w="613681"/>
                <a:gridCol w="613681"/>
                <a:gridCol w="613681"/>
                <a:gridCol w="613681"/>
                <a:gridCol w="613681"/>
                <a:gridCol w="613681"/>
                <a:gridCol w="613681"/>
                <a:gridCol w="613681"/>
                <a:gridCol w="613681"/>
                <a:gridCol w="613681"/>
                <a:gridCol w="613681"/>
                <a:gridCol w="613681"/>
                <a:gridCol w="613681"/>
                <a:gridCol w="613681"/>
                <a:gridCol w="613681"/>
                <a:gridCol w="613681"/>
              </a:tblGrid>
              <a:tr h="246126">
                <a:tc rowSpan="2">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Unflavoured</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Vanilla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Lemon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Orange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Mocha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Cinnamon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Pumpkin Spice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65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7286625"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8576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Flow, Form → Flavour, 2036F (US$ Mn)</a:t>
            </a:r>
          </a:p>
        </p:txBody>
      </p:sp>
      <p:sp>
        <p:nvSpPr>
          <p:cNvPr id="16" name="Freeform 15"/>
          <p:cNvSpPr/>
          <p:nvPr/>
        </p:nvSpPr>
        <p:spPr>
          <a:xfrm>
            <a:off x="2057400" y="4124325"/>
            <a:ext cx="3743325" cy="180975"/>
          </a:xfrm>
          <a:custGeom>
            <a:avLst/>
            <a:gdLst/>
            <a:ahLst/>
            <a:cxnLst/>
            <a:rect l="l" t="t" r="r" b="b"/>
            <a:pathLst>
              <a:path w="393" h="19">
                <a:moveTo>
                  <a:pt x="0" y="6"/>
                </a:moveTo>
                <a:lnTo>
                  <a:pt x="16" y="6"/>
                </a:lnTo>
                <a:lnTo>
                  <a:pt x="33" y="6"/>
                </a:lnTo>
                <a:lnTo>
                  <a:pt x="49" y="6"/>
                </a:lnTo>
                <a:lnTo>
                  <a:pt x="65" y="6"/>
                </a:lnTo>
                <a:lnTo>
                  <a:pt x="82" y="5"/>
                </a:lnTo>
                <a:lnTo>
                  <a:pt x="98" y="5"/>
                </a:lnTo>
                <a:lnTo>
                  <a:pt x="114" y="5"/>
                </a:lnTo>
                <a:lnTo>
                  <a:pt x="131" y="4"/>
                </a:lnTo>
                <a:lnTo>
                  <a:pt x="147" y="4"/>
                </a:lnTo>
                <a:lnTo>
                  <a:pt x="164" y="4"/>
                </a:lnTo>
                <a:lnTo>
                  <a:pt x="180" y="3"/>
                </a:lnTo>
                <a:lnTo>
                  <a:pt x="196" y="3"/>
                </a:lnTo>
                <a:lnTo>
                  <a:pt x="213" y="3"/>
                </a:lnTo>
                <a:lnTo>
                  <a:pt x="229" y="2"/>
                </a:lnTo>
                <a:lnTo>
                  <a:pt x="246" y="2"/>
                </a:lnTo>
                <a:lnTo>
                  <a:pt x="262" y="2"/>
                </a:lnTo>
                <a:lnTo>
                  <a:pt x="278" y="1"/>
                </a:lnTo>
                <a:lnTo>
                  <a:pt x="295" y="1"/>
                </a:lnTo>
                <a:lnTo>
                  <a:pt x="311" y="1"/>
                </a:lnTo>
                <a:lnTo>
                  <a:pt x="327" y="0"/>
                </a:lnTo>
                <a:lnTo>
                  <a:pt x="344" y="0"/>
                </a:lnTo>
                <a:lnTo>
                  <a:pt x="360" y="0"/>
                </a:lnTo>
                <a:lnTo>
                  <a:pt x="377" y="0"/>
                </a:lnTo>
                <a:lnTo>
                  <a:pt x="393" y="0"/>
                </a:lnTo>
                <a:lnTo>
                  <a:pt x="393" y="13"/>
                </a:lnTo>
                <a:lnTo>
                  <a:pt x="377" y="13"/>
                </a:lnTo>
                <a:lnTo>
                  <a:pt x="360" y="13"/>
                </a:lnTo>
                <a:lnTo>
                  <a:pt x="344" y="13"/>
                </a:lnTo>
                <a:lnTo>
                  <a:pt x="327" y="13"/>
                </a:lnTo>
                <a:lnTo>
                  <a:pt x="311" y="13"/>
                </a:lnTo>
                <a:lnTo>
                  <a:pt x="295" y="14"/>
                </a:lnTo>
                <a:lnTo>
                  <a:pt x="278" y="14"/>
                </a:lnTo>
                <a:lnTo>
                  <a:pt x="262" y="14"/>
                </a:lnTo>
                <a:lnTo>
                  <a:pt x="246" y="15"/>
                </a:lnTo>
                <a:lnTo>
                  <a:pt x="229" y="15"/>
                </a:lnTo>
                <a:lnTo>
                  <a:pt x="213" y="15"/>
                </a:lnTo>
                <a:lnTo>
                  <a:pt x="196" y="16"/>
                </a:lnTo>
                <a:lnTo>
                  <a:pt x="180" y="16"/>
                </a:lnTo>
                <a:lnTo>
                  <a:pt x="164" y="16"/>
                </a:lnTo>
                <a:lnTo>
                  <a:pt x="147" y="17"/>
                </a:lnTo>
                <a:lnTo>
                  <a:pt x="131" y="17"/>
                </a:lnTo>
                <a:lnTo>
                  <a:pt x="114" y="17"/>
                </a:lnTo>
                <a:lnTo>
                  <a:pt x="98" y="18"/>
                </a:lnTo>
                <a:lnTo>
                  <a:pt x="82" y="18"/>
                </a:lnTo>
                <a:lnTo>
                  <a:pt x="65" y="18"/>
                </a:lnTo>
                <a:lnTo>
                  <a:pt x="49" y="18"/>
                </a:lnTo>
                <a:lnTo>
                  <a:pt x="33" y="19"/>
                </a:lnTo>
                <a:lnTo>
                  <a:pt x="16" y="19"/>
                </a:lnTo>
                <a:lnTo>
                  <a:pt x="0" y="1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4305300"/>
            <a:ext cx="3743325" cy="381000"/>
          </a:xfrm>
          <a:custGeom>
            <a:avLst/>
            <a:gdLst/>
            <a:ahLst/>
            <a:cxnLst/>
            <a:rect l="l" t="t" r="r" b="b"/>
            <a:pathLst>
              <a:path w="393" h="40">
                <a:moveTo>
                  <a:pt x="0" y="0"/>
                </a:moveTo>
                <a:lnTo>
                  <a:pt x="16" y="0"/>
                </a:lnTo>
                <a:lnTo>
                  <a:pt x="33" y="0"/>
                </a:lnTo>
                <a:lnTo>
                  <a:pt x="49" y="1"/>
                </a:lnTo>
                <a:lnTo>
                  <a:pt x="65" y="2"/>
                </a:lnTo>
                <a:lnTo>
                  <a:pt x="82" y="3"/>
                </a:lnTo>
                <a:lnTo>
                  <a:pt x="98" y="4"/>
                </a:lnTo>
                <a:lnTo>
                  <a:pt x="114" y="6"/>
                </a:lnTo>
                <a:lnTo>
                  <a:pt x="131" y="7"/>
                </a:lnTo>
                <a:lnTo>
                  <a:pt x="147" y="9"/>
                </a:lnTo>
                <a:lnTo>
                  <a:pt x="164" y="10"/>
                </a:lnTo>
                <a:lnTo>
                  <a:pt x="180" y="12"/>
                </a:lnTo>
                <a:lnTo>
                  <a:pt x="196" y="14"/>
                </a:lnTo>
                <a:lnTo>
                  <a:pt x="213" y="16"/>
                </a:lnTo>
                <a:lnTo>
                  <a:pt x="229" y="17"/>
                </a:lnTo>
                <a:lnTo>
                  <a:pt x="246" y="19"/>
                </a:lnTo>
                <a:lnTo>
                  <a:pt x="262" y="21"/>
                </a:lnTo>
                <a:lnTo>
                  <a:pt x="278" y="22"/>
                </a:lnTo>
                <a:lnTo>
                  <a:pt x="295" y="24"/>
                </a:lnTo>
                <a:lnTo>
                  <a:pt x="311" y="25"/>
                </a:lnTo>
                <a:lnTo>
                  <a:pt x="327" y="26"/>
                </a:lnTo>
                <a:lnTo>
                  <a:pt x="344" y="27"/>
                </a:lnTo>
                <a:lnTo>
                  <a:pt x="360" y="27"/>
                </a:lnTo>
                <a:lnTo>
                  <a:pt x="377" y="28"/>
                </a:lnTo>
                <a:lnTo>
                  <a:pt x="393" y="28"/>
                </a:lnTo>
                <a:lnTo>
                  <a:pt x="393" y="40"/>
                </a:lnTo>
                <a:lnTo>
                  <a:pt x="377" y="40"/>
                </a:lnTo>
                <a:lnTo>
                  <a:pt x="360" y="40"/>
                </a:lnTo>
                <a:lnTo>
                  <a:pt x="344" y="39"/>
                </a:lnTo>
                <a:lnTo>
                  <a:pt x="327" y="38"/>
                </a:lnTo>
                <a:lnTo>
                  <a:pt x="311" y="37"/>
                </a:lnTo>
                <a:lnTo>
                  <a:pt x="295" y="36"/>
                </a:lnTo>
                <a:lnTo>
                  <a:pt x="278" y="34"/>
                </a:lnTo>
                <a:lnTo>
                  <a:pt x="262" y="33"/>
                </a:lnTo>
                <a:lnTo>
                  <a:pt x="246" y="31"/>
                </a:lnTo>
                <a:lnTo>
                  <a:pt x="229" y="30"/>
                </a:lnTo>
                <a:lnTo>
                  <a:pt x="213" y="28"/>
                </a:lnTo>
                <a:lnTo>
                  <a:pt x="196" y="26"/>
                </a:lnTo>
                <a:lnTo>
                  <a:pt x="180" y="24"/>
                </a:lnTo>
                <a:lnTo>
                  <a:pt x="164" y="23"/>
                </a:lnTo>
                <a:lnTo>
                  <a:pt x="147" y="21"/>
                </a:lnTo>
                <a:lnTo>
                  <a:pt x="131" y="19"/>
                </a:lnTo>
                <a:lnTo>
                  <a:pt x="114" y="18"/>
                </a:lnTo>
                <a:lnTo>
                  <a:pt x="98" y="16"/>
                </a:lnTo>
                <a:lnTo>
                  <a:pt x="82" y="15"/>
                </a:lnTo>
                <a:lnTo>
                  <a:pt x="65" y="14"/>
                </a:lnTo>
                <a:lnTo>
                  <a:pt x="49" y="13"/>
                </a:lnTo>
                <a:lnTo>
                  <a:pt x="33" y="12"/>
                </a:lnTo>
                <a:lnTo>
                  <a:pt x="16" y="12"/>
                </a:lnTo>
                <a:lnTo>
                  <a:pt x="0" y="1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4419600"/>
            <a:ext cx="3743325" cy="638175"/>
          </a:xfrm>
          <a:custGeom>
            <a:avLst/>
            <a:gdLst/>
            <a:ahLst/>
            <a:cxnLst/>
            <a:rect l="l" t="t" r="r" b="b"/>
            <a:pathLst>
              <a:path w="393" h="67">
                <a:moveTo>
                  <a:pt x="0" y="0"/>
                </a:moveTo>
                <a:lnTo>
                  <a:pt x="16" y="0"/>
                </a:lnTo>
                <a:lnTo>
                  <a:pt x="33" y="1"/>
                </a:lnTo>
                <a:lnTo>
                  <a:pt x="49" y="2"/>
                </a:lnTo>
                <a:lnTo>
                  <a:pt x="65" y="4"/>
                </a:lnTo>
                <a:lnTo>
                  <a:pt x="82" y="6"/>
                </a:lnTo>
                <a:lnTo>
                  <a:pt x="98" y="8"/>
                </a:lnTo>
                <a:lnTo>
                  <a:pt x="114" y="11"/>
                </a:lnTo>
                <a:lnTo>
                  <a:pt x="131" y="14"/>
                </a:lnTo>
                <a:lnTo>
                  <a:pt x="147" y="17"/>
                </a:lnTo>
                <a:lnTo>
                  <a:pt x="164" y="20"/>
                </a:lnTo>
                <a:lnTo>
                  <a:pt x="180" y="23"/>
                </a:lnTo>
                <a:lnTo>
                  <a:pt x="196" y="27"/>
                </a:lnTo>
                <a:lnTo>
                  <a:pt x="213" y="30"/>
                </a:lnTo>
                <a:lnTo>
                  <a:pt x="229" y="33"/>
                </a:lnTo>
                <a:lnTo>
                  <a:pt x="246" y="37"/>
                </a:lnTo>
                <a:lnTo>
                  <a:pt x="262" y="40"/>
                </a:lnTo>
                <a:lnTo>
                  <a:pt x="278" y="43"/>
                </a:lnTo>
                <a:lnTo>
                  <a:pt x="295" y="45"/>
                </a:lnTo>
                <a:lnTo>
                  <a:pt x="311" y="48"/>
                </a:lnTo>
                <a:lnTo>
                  <a:pt x="327" y="50"/>
                </a:lnTo>
                <a:lnTo>
                  <a:pt x="344" y="51"/>
                </a:lnTo>
                <a:lnTo>
                  <a:pt x="360" y="53"/>
                </a:lnTo>
                <a:lnTo>
                  <a:pt x="377" y="53"/>
                </a:lnTo>
                <a:lnTo>
                  <a:pt x="393" y="54"/>
                </a:lnTo>
                <a:lnTo>
                  <a:pt x="393" y="67"/>
                </a:lnTo>
                <a:lnTo>
                  <a:pt x="377" y="67"/>
                </a:lnTo>
                <a:lnTo>
                  <a:pt x="360" y="66"/>
                </a:lnTo>
                <a:lnTo>
                  <a:pt x="344" y="65"/>
                </a:lnTo>
                <a:lnTo>
                  <a:pt x="327" y="63"/>
                </a:lnTo>
                <a:lnTo>
                  <a:pt x="311" y="61"/>
                </a:lnTo>
                <a:lnTo>
                  <a:pt x="295" y="59"/>
                </a:lnTo>
                <a:lnTo>
                  <a:pt x="278" y="56"/>
                </a:lnTo>
                <a:lnTo>
                  <a:pt x="262" y="53"/>
                </a:lnTo>
                <a:lnTo>
                  <a:pt x="246" y="50"/>
                </a:lnTo>
                <a:lnTo>
                  <a:pt x="229" y="47"/>
                </a:lnTo>
                <a:lnTo>
                  <a:pt x="213" y="44"/>
                </a:lnTo>
                <a:lnTo>
                  <a:pt x="196" y="40"/>
                </a:lnTo>
                <a:lnTo>
                  <a:pt x="180" y="37"/>
                </a:lnTo>
                <a:lnTo>
                  <a:pt x="164" y="34"/>
                </a:lnTo>
                <a:lnTo>
                  <a:pt x="147" y="30"/>
                </a:lnTo>
                <a:lnTo>
                  <a:pt x="131" y="27"/>
                </a:lnTo>
                <a:lnTo>
                  <a:pt x="114" y="24"/>
                </a:lnTo>
                <a:lnTo>
                  <a:pt x="98" y="22"/>
                </a:lnTo>
                <a:lnTo>
                  <a:pt x="82" y="19"/>
                </a:lnTo>
                <a:lnTo>
                  <a:pt x="65" y="17"/>
                </a:lnTo>
                <a:lnTo>
                  <a:pt x="49" y="16"/>
                </a:lnTo>
                <a:lnTo>
                  <a:pt x="33" y="14"/>
                </a:lnTo>
                <a:lnTo>
                  <a:pt x="16" y="14"/>
                </a:lnTo>
                <a:lnTo>
                  <a:pt x="0" y="1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4543425"/>
            <a:ext cx="3743325" cy="838200"/>
          </a:xfrm>
          <a:custGeom>
            <a:avLst/>
            <a:gdLst/>
            <a:ahLst/>
            <a:cxnLst/>
            <a:rect l="l" t="t" r="r" b="b"/>
            <a:pathLst>
              <a:path w="393" h="88">
                <a:moveTo>
                  <a:pt x="0" y="0"/>
                </a:moveTo>
                <a:lnTo>
                  <a:pt x="16" y="1"/>
                </a:lnTo>
                <a:lnTo>
                  <a:pt x="33" y="2"/>
                </a:lnTo>
                <a:lnTo>
                  <a:pt x="49" y="4"/>
                </a:lnTo>
                <a:lnTo>
                  <a:pt x="65" y="6"/>
                </a:lnTo>
                <a:lnTo>
                  <a:pt x="82" y="9"/>
                </a:lnTo>
                <a:lnTo>
                  <a:pt x="98" y="12"/>
                </a:lnTo>
                <a:lnTo>
                  <a:pt x="114" y="16"/>
                </a:lnTo>
                <a:lnTo>
                  <a:pt x="131" y="20"/>
                </a:lnTo>
                <a:lnTo>
                  <a:pt x="147" y="24"/>
                </a:lnTo>
                <a:lnTo>
                  <a:pt x="164" y="29"/>
                </a:lnTo>
                <a:lnTo>
                  <a:pt x="180" y="34"/>
                </a:lnTo>
                <a:lnTo>
                  <a:pt x="196" y="38"/>
                </a:lnTo>
                <a:lnTo>
                  <a:pt x="213" y="43"/>
                </a:lnTo>
                <a:lnTo>
                  <a:pt x="229" y="48"/>
                </a:lnTo>
                <a:lnTo>
                  <a:pt x="246" y="52"/>
                </a:lnTo>
                <a:lnTo>
                  <a:pt x="262" y="57"/>
                </a:lnTo>
                <a:lnTo>
                  <a:pt x="278" y="61"/>
                </a:lnTo>
                <a:lnTo>
                  <a:pt x="295" y="65"/>
                </a:lnTo>
                <a:lnTo>
                  <a:pt x="311" y="68"/>
                </a:lnTo>
                <a:lnTo>
                  <a:pt x="327" y="71"/>
                </a:lnTo>
                <a:lnTo>
                  <a:pt x="344" y="73"/>
                </a:lnTo>
                <a:lnTo>
                  <a:pt x="360" y="75"/>
                </a:lnTo>
                <a:lnTo>
                  <a:pt x="377" y="76"/>
                </a:lnTo>
                <a:lnTo>
                  <a:pt x="393" y="76"/>
                </a:lnTo>
                <a:lnTo>
                  <a:pt x="393" y="88"/>
                </a:lnTo>
                <a:lnTo>
                  <a:pt x="377" y="88"/>
                </a:lnTo>
                <a:lnTo>
                  <a:pt x="360" y="86"/>
                </a:lnTo>
                <a:lnTo>
                  <a:pt x="344" y="85"/>
                </a:lnTo>
                <a:lnTo>
                  <a:pt x="327" y="82"/>
                </a:lnTo>
                <a:lnTo>
                  <a:pt x="311" y="79"/>
                </a:lnTo>
                <a:lnTo>
                  <a:pt x="295" y="76"/>
                </a:lnTo>
                <a:lnTo>
                  <a:pt x="278" y="72"/>
                </a:lnTo>
                <a:lnTo>
                  <a:pt x="262" y="68"/>
                </a:lnTo>
                <a:lnTo>
                  <a:pt x="246" y="64"/>
                </a:lnTo>
                <a:lnTo>
                  <a:pt x="229" y="59"/>
                </a:lnTo>
                <a:lnTo>
                  <a:pt x="213" y="55"/>
                </a:lnTo>
                <a:lnTo>
                  <a:pt x="196" y="50"/>
                </a:lnTo>
                <a:lnTo>
                  <a:pt x="180" y="45"/>
                </a:lnTo>
                <a:lnTo>
                  <a:pt x="164" y="41"/>
                </a:lnTo>
                <a:lnTo>
                  <a:pt x="147" y="36"/>
                </a:lnTo>
                <a:lnTo>
                  <a:pt x="131" y="32"/>
                </a:lnTo>
                <a:lnTo>
                  <a:pt x="114" y="28"/>
                </a:lnTo>
                <a:lnTo>
                  <a:pt x="98" y="24"/>
                </a:lnTo>
                <a:lnTo>
                  <a:pt x="82" y="20"/>
                </a:lnTo>
                <a:lnTo>
                  <a:pt x="65" y="18"/>
                </a:lnTo>
                <a:lnTo>
                  <a:pt x="49" y="15"/>
                </a:lnTo>
                <a:lnTo>
                  <a:pt x="33" y="13"/>
                </a:lnTo>
                <a:lnTo>
                  <a:pt x="16" y="12"/>
                </a:lnTo>
                <a:lnTo>
                  <a:pt x="0" y="1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4657725"/>
            <a:ext cx="3743325" cy="1038225"/>
          </a:xfrm>
          <a:custGeom>
            <a:avLst/>
            <a:gdLst/>
            <a:ahLst/>
            <a:cxnLst/>
            <a:rect l="l" t="t" r="r" b="b"/>
            <a:pathLst>
              <a:path w="393" h="109">
                <a:moveTo>
                  <a:pt x="0" y="0"/>
                </a:moveTo>
                <a:lnTo>
                  <a:pt x="16" y="0"/>
                </a:lnTo>
                <a:lnTo>
                  <a:pt x="33" y="2"/>
                </a:lnTo>
                <a:lnTo>
                  <a:pt x="49" y="4"/>
                </a:lnTo>
                <a:lnTo>
                  <a:pt x="65" y="7"/>
                </a:lnTo>
                <a:lnTo>
                  <a:pt x="82" y="11"/>
                </a:lnTo>
                <a:lnTo>
                  <a:pt x="98" y="15"/>
                </a:lnTo>
                <a:lnTo>
                  <a:pt x="114" y="20"/>
                </a:lnTo>
                <a:lnTo>
                  <a:pt x="131" y="26"/>
                </a:lnTo>
                <a:lnTo>
                  <a:pt x="147" y="31"/>
                </a:lnTo>
                <a:lnTo>
                  <a:pt x="164" y="37"/>
                </a:lnTo>
                <a:lnTo>
                  <a:pt x="180" y="44"/>
                </a:lnTo>
                <a:lnTo>
                  <a:pt x="196" y="50"/>
                </a:lnTo>
                <a:lnTo>
                  <a:pt x="213" y="56"/>
                </a:lnTo>
                <a:lnTo>
                  <a:pt x="229" y="62"/>
                </a:lnTo>
                <a:lnTo>
                  <a:pt x="246" y="68"/>
                </a:lnTo>
                <a:lnTo>
                  <a:pt x="262" y="74"/>
                </a:lnTo>
                <a:lnTo>
                  <a:pt x="278" y="79"/>
                </a:lnTo>
                <a:lnTo>
                  <a:pt x="295" y="84"/>
                </a:lnTo>
                <a:lnTo>
                  <a:pt x="311" y="89"/>
                </a:lnTo>
                <a:lnTo>
                  <a:pt x="327" y="92"/>
                </a:lnTo>
                <a:lnTo>
                  <a:pt x="344" y="95"/>
                </a:lnTo>
                <a:lnTo>
                  <a:pt x="360" y="98"/>
                </a:lnTo>
                <a:lnTo>
                  <a:pt x="377" y="99"/>
                </a:lnTo>
                <a:lnTo>
                  <a:pt x="393" y="100"/>
                </a:lnTo>
                <a:lnTo>
                  <a:pt x="393" y="109"/>
                </a:lnTo>
                <a:lnTo>
                  <a:pt x="377" y="108"/>
                </a:lnTo>
                <a:lnTo>
                  <a:pt x="360" y="107"/>
                </a:lnTo>
                <a:lnTo>
                  <a:pt x="344" y="104"/>
                </a:lnTo>
                <a:lnTo>
                  <a:pt x="327" y="101"/>
                </a:lnTo>
                <a:lnTo>
                  <a:pt x="311" y="98"/>
                </a:lnTo>
                <a:lnTo>
                  <a:pt x="295" y="93"/>
                </a:lnTo>
                <a:lnTo>
                  <a:pt x="278" y="88"/>
                </a:lnTo>
                <a:lnTo>
                  <a:pt x="262" y="83"/>
                </a:lnTo>
                <a:lnTo>
                  <a:pt x="246" y="77"/>
                </a:lnTo>
                <a:lnTo>
                  <a:pt x="229" y="71"/>
                </a:lnTo>
                <a:lnTo>
                  <a:pt x="213" y="65"/>
                </a:lnTo>
                <a:lnTo>
                  <a:pt x="196" y="59"/>
                </a:lnTo>
                <a:lnTo>
                  <a:pt x="180" y="53"/>
                </a:lnTo>
                <a:lnTo>
                  <a:pt x="164" y="46"/>
                </a:lnTo>
                <a:lnTo>
                  <a:pt x="147" y="41"/>
                </a:lnTo>
                <a:lnTo>
                  <a:pt x="131" y="35"/>
                </a:lnTo>
                <a:lnTo>
                  <a:pt x="114" y="29"/>
                </a:lnTo>
                <a:lnTo>
                  <a:pt x="98" y="25"/>
                </a:lnTo>
                <a:lnTo>
                  <a:pt x="82" y="20"/>
                </a:lnTo>
                <a:lnTo>
                  <a:pt x="65" y="16"/>
                </a:lnTo>
                <a:lnTo>
                  <a:pt x="49" y="13"/>
                </a:lnTo>
                <a:lnTo>
                  <a:pt x="33" y="11"/>
                </a:lnTo>
                <a:lnTo>
                  <a:pt x="16" y="9"/>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4743450"/>
            <a:ext cx="3743325" cy="1276350"/>
          </a:xfrm>
          <a:custGeom>
            <a:avLst/>
            <a:gdLst/>
            <a:ahLst/>
            <a:cxnLst/>
            <a:rect l="l" t="t" r="r" b="b"/>
            <a:pathLst>
              <a:path w="393" h="134">
                <a:moveTo>
                  <a:pt x="0" y="0"/>
                </a:moveTo>
                <a:lnTo>
                  <a:pt x="16" y="1"/>
                </a:lnTo>
                <a:lnTo>
                  <a:pt x="33" y="2"/>
                </a:lnTo>
                <a:lnTo>
                  <a:pt x="49" y="5"/>
                </a:lnTo>
                <a:lnTo>
                  <a:pt x="65" y="9"/>
                </a:lnTo>
                <a:lnTo>
                  <a:pt x="82" y="14"/>
                </a:lnTo>
                <a:lnTo>
                  <a:pt x="98" y="19"/>
                </a:lnTo>
                <a:lnTo>
                  <a:pt x="114" y="26"/>
                </a:lnTo>
                <a:lnTo>
                  <a:pt x="131" y="32"/>
                </a:lnTo>
                <a:lnTo>
                  <a:pt x="147" y="40"/>
                </a:lnTo>
                <a:lnTo>
                  <a:pt x="164" y="47"/>
                </a:lnTo>
                <a:lnTo>
                  <a:pt x="180" y="55"/>
                </a:lnTo>
                <a:lnTo>
                  <a:pt x="196" y="63"/>
                </a:lnTo>
                <a:lnTo>
                  <a:pt x="213" y="70"/>
                </a:lnTo>
                <a:lnTo>
                  <a:pt x="229" y="78"/>
                </a:lnTo>
                <a:lnTo>
                  <a:pt x="246" y="86"/>
                </a:lnTo>
                <a:lnTo>
                  <a:pt x="262" y="93"/>
                </a:lnTo>
                <a:lnTo>
                  <a:pt x="278" y="99"/>
                </a:lnTo>
                <a:lnTo>
                  <a:pt x="295" y="106"/>
                </a:lnTo>
                <a:lnTo>
                  <a:pt x="311" y="111"/>
                </a:lnTo>
                <a:lnTo>
                  <a:pt x="327" y="116"/>
                </a:lnTo>
                <a:lnTo>
                  <a:pt x="344" y="120"/>
                </a:lnTo>
                <a:lnTo>
                  <a:pt x="360" y="123"/>
                </a:lnTo>
                <a:lnTo>
                  <a:pt x="377" y="124"/>
                </a:lnTo>
                <a:lnTo>
                  <a:pt x="393" y="125"/>
                </a:lnTo>
                <a:lnTo>
                  <a:pt x="393" y="134"/>
                </a:lnTo>
                <a:lnTo>
                  <a:pt x="377" y="133"/>
                </a:lnTo>
                <a:lnTo>
                  <a:pt x="360" y="132"/>
                </a:lnTo>
                <a:lnTo>
                  <a:pt x="344" y="129"/>
                </a:lnTo>
                <a:lnTo>
                  <a:pt x="327" y="125"/>
                </a:lnTo>
                <a:lnTo>
                  <a:pt x="311" y="120"/>
                </a:lnTo>
                <a:lnTo>
                  <a:pt x="295" y="114"/>
                </a:lnTo>
                <a:lnTo>
                  <a:pt x="278" y="108"/>
                </a:lnTo>
                <a:lnTo>
                  <a:pt x="262" y="102"/>
                </a:lnTo>
                <a:lnTo>
                  <a:pt x="246" y="94"/>
                </a:lnTo>
                <a:lnTo>
                  <a:pt x="229" y="87"/>
                </a:lnTo>
                <a:lnTo>
                  <a:pt x="213" y="79"/>
                </a:lnTo>
                <a:lnTo>
                  <a:pt x="196" y="71"/>
                </a:lnTo>
                <a:lnTo>
                  <a:pt x="180" y="64"/>
                </a:lnTo>
                <a:lnTo>
                  <a:pt x="164" y="56"/>
                </a:lnTo>
                <a:lnTo>
                  <a:pt x="147" y="48"/>
                </a:lnTo>
                <a:lnTo>
                  <a:pt x="131" y="41"/>
                </a:lnTo>
                <a:lnTo>
                  <a:pt x="114" y="35"/>
                </a:lnTo>
                <a:lnTo>
                  <a:pt x="98" y="28"/>
                </a:lnTo>
                <a:lnTo>
                  <a:pt x="82" y="23"/>
                </a:lnTo>
                <a:lnTo>
                  <a:pt x="65" y="18"/>
                </a:lnTo>
                <a:lnTo>
                  <a:pt x="49" y="14"/>
                </a:lnTo>
                <a:lnTo>
                  <a:pt x="33" y="11"/>
                </a:lnTo>
                <a:lnTo>
                  <a:pt x="16" y="9"/>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4829175"/>
            <a:ext cx="3743325" cy="1476375"/>
          </a:xfrm>
          <a:custGeom>
            <a:avLst/>
            <a:gdLst/>
            <a:ahLst/>
            <a:cxnLst/>
            <a:rect l="l" t="t" r="r" b="b"/>
            <a:pathLst>
              <a:path w="393" h="155">
                <a:moveTo>
                  <a:pt x="0" y="0"/>
                </a:moveTo>
                <a:lnTo>
                  <a:pt x="16" y="1"/>
                </a:lnTo>
                <a:lnTo>
                  <a:pt x="33" y="3"/>
                </a:lnTo>
                <a:lnTo>
                  <a:pt x="49" y="6"/>
                </a:lnTo>
                <a:lnTo>
                  <a:pt x="65" y="11"/>
                </a:lnTo>
                <a:lnTo>
                  <a:pt x="82" y="17"/>
                </a:lnTo>
                <a:lnTo>
                  <a:pt x="98" y="23"/>
                </a:lnTo>
                <a:lnTo>
                  <a:pt x="114" y="31"/>
                </a:lnTo>
                <a:lnTo>
                  <a:pt x="131" y="39"/>
                </a:lnTo>
                <a:lnTo>
                  <a:pt x="147" y="47"/>
                </a:lnTo>
                <a:lnTo>
                  <a:pt x="164" y="56"/>
                </a:lnTo>
                <a:lnTo>
                  <a:pt x="180" y="65"/>
                </a:lnTo>
                <a:lnTo>
                  <a:pt x="196" y="75"/>
                </a:lnTo>
                <a:lnTo>
                  <a:pt x="213" y="84"/>
                </a:lnTo>
                <a:lnTo>
                  <a:pt x="229" y="93"/>
                </a:lnTo>
                <a:lnTo>
                  <a:pt x="246" y="102"/>
                </a:lnTo>
                <a:lnTo>
                  <a:pt x="262" y="111"/>
                </a:lnTo>
                <a:lnTo>
                  <a:pt x="278" y="119"/>
                </a:lnTo>
                <a:lnTo>
                  <a:pt x="295" y="126"/>
                </a:lnTo>
                <a:lnTo>
                  <a:pt x="311" y="133"/>
                </a:lnTo>
                <a:lnTo>
                  <a:pt x="327" y="139"/>
                </a:lnTo>
                <a:lnTo>
                  <a:pt x="344" y="143"/>
                </a:lnTo>
                <a:lnTo>
                  <a:pt x="360" y="147"/>
                </a:lnTo>
                <a:lnTo>
                  <a:pt x="377" y="149"/>
                </a:lnTo>
                <a:lnTo>
                  <a:pt x="393" y="150"/>
                </a:lnTo>
                <a:lnTo>
                  <a:pt x="393" y="155"/>
                </a:lnTo>
                <a:lnTo>
                  <a:pt x="377" y="154"/>
                </a:lnTo>
                <a:lnTo>
                  <a:pt x="360" y="152"/>
                </a:lnTo>
                <a:lnTo>
                  <a:pt x="344" y="149"/>
                </a:lnTo>
                <a:lnTo>
                  <a:pt x="327" y="144"/>
                </a:lnTo>
                <a:lnTo>
                  <a:pt x="311" y="138"/>
                </a:lnTo>
                <a:lnTo>
                  <a:pt x="295" y="132"/>
                </a:lnTo>
                <a:lnTo>
                  <a:pt x="278" y="124"/>
                </a:lnTo>
                <a:lnTo>
                  <a:pt x="262" y="116"/>
                </a:lnTo>
                <a:lnTo>
                  <a:pt x="246" y="108"/>
                </a:lnTo>
                <a:lnTo>
                  <a:pt x="229" y="99"/>
                </a:lnTo>
                <a:lnTo>
                  <a:pt x="213" y="89"/>
                </a:lnTo>
                <a:lnTo>
                  <a:pt x="196" y="80"/>
                </a:lnTo>
                <a:lnTo>
                  <a:pt x="180" y="71"/>
                </a:lnTo>
                <a:lnTo>
                  <a:pt x="164" y="62"/>
                </a:lnTo>
                <a:lnTo>
                  <a:pt x="147" y="53"/>
                </a:lnTo>
                <a:lnTo>
                  <a:pt x="131" y="44"/>
                </a:lnTo>
                <a:lnTo>
                  <a:pt x="114" y="36"/>
                </a:lnTo>
                <a:lnTo>
                  <a:pt x="98" y="29"/>
                </a:lnTo>
                <a:lnTo>
                  <a:pt x="82" y="22"/>
                </a:lnTo>
                <a:lnTo>
                  <a:pt x="65" y="16"/>
                </a:lnTo>
                <a:lnTo>
                  <a:pt x="49" y="12"/>
                </a:lnTo>
                <a:lnTo>
                  <a:pt x="33" y="8"/>
                </a:lnTo>
                <a:lnTo>
                  <a:pt x="16" y="6"/>
                </a:lnTo>
                <a:lnTo>
                  <a:pt x="0" y="5"/>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4876800"/>
            <a:ext cx="3743325" cy="1600200"/>
          </a:xfrm>
          <a:custGeom>
            <a:avLst/>
            <a:gdLst/>
            <a:ahLst/>
            <a:cxnLst/>
            <a:rect l="l" t="t" r="r" b="b"/>
            <a:pathLst>
              <a:path w="393" h="168">
                <a:moveTo>
                  <a:pt x="0" y="0"/>
                </a:moveTo>
                <a:lnTo>
                  <a:pt x="16" y="1"/>
                </a:lnTo>
                <a:lnTo>
                  <a:pt x="33" y="3"/>
                </a:lnTo>
                <a:lnTo>
                  <a:pt x="49" y="7"/>
                </a:lnTo>
                <a:lnTo>
                  <a:pt x="65" y="12"/>
                </a:lnTo>
                <a:lnTo>
                  <a:pt x="82" y="19"/>
                </a:lnTo>
                <a:lnTo>
                  <a:pt x="98" y="26"/>
                </a:lnTo>
                <a:lnTo>
                  <a:pt x="114" y="34"/>
                </a:lnTo>
                <a:lnTo>
                  <a:pt x="131" y="43"/>
                </a:lnTo>
                <a:lnTo>
                  <a:pt x="147" y="52"/>
                </a:lnTo>
                <a:lnTo>
                  <a:pt x="164" y="62"/>
                </a:lnTo>
                <a:lnTo>
                  <a:pt x="180" y="72"/>
                </a:lnTo>
                <a:lnTo>
                  <a:pt x="196" y="82"/>
                </a:lnTo>
                <a:lnTo>
                  <a:pt x="213" y="93"/>
                </a:lnTo>
                <a:lnTo>
                  <a:pt x="229" y="103"/>
                </a:lnTo>
                <a:lnTo>
                  <a:pt x="246" y="112"/>
                </a:lnTo>
                <a:lnTo>
                  <a:pt x="262" y="122"/>
                </a:lnTo>
                <a:lnTo>
                  <a:pt x="278" y="131"/>
                </a:lnTo>
                <a:lnTo>
                  <a:pt x="295" y="139"/>
                </a:lnTo>
                <a:lnTo>
                  <a:pt x="311" y="146"/>
                </a:lnTo>
                <a:lnTo>
                  <a:pt x="327" y="152"/>
                </a:lnTo>
                <a:lnTo>
                  <a:pt x="344" y="157"/>
                </a:lnTo>
                <a:lnTo>
                  <a:pt x="360" y="161"/>
                </a:lnTo>
                <a:lnTo>
                  <a:pt x="377" y="164"/>
                </a:lnTo>
                <a:lnTo>
                  <a:pt x="393" y="164"/>
                </a:lnTo>
                <a:lnTo>
                  <a:pt x="393" y="168"/>
                </a:lnTo>
                <a:lnTo>
                  <a:pt x="377" y="167"/>
                </a:lnTo>
                <a:lnTo>
                  <a:pt x="360" y="165"/>
                </a:lnTo>
                <a:lnTo>
                  <a:pt x="344" y="161"/>
                </a:lnTo>
                <a:lnTo>
                  <a:pt x="327" y="156"/>
                </a:lnTo>
                <a:lnTo>
                  <a:pt x="311" y="150"/>
                </a:lnTo>
                <a:lnTo>
                  <a:pt x="295" y="143"/>
                </a:lnTo>
                <a:lnTo>
                  <a:pt x="278" y="135"/>
                </a:lnTo>
                <a:lnTo>
                  <a:pt x="262" y="126"/>
                </a:lnTo>
                <a:lnTo>
                  <a:pt x="246" y="116"/>
                </a:lnTo>
                <a:lnTo>
                  <a:pt x="229" y="106"/>
                </a:lnTo>
                <a:lnTo>
                  <a:pt x="213" y="96"/>
                </a:lnTo>
                <a:lnTo>
                  <a:pt x="196" y="86"/>
                </a:lnTo>
                <a:lnTo>
                  <a:pt x="180" y="76"/>
                </a:lnTo>
                <a:lnTo>
                  <a:pt x="164" y="66"/>
                </a:lnTo>
                <a:lnTo>
                  <a:pt x="147" y="56"/>
                </a:lnTo>
                <a:lnTo>
                  <a:pt x="131" y="47"/>
                </a:lnTo>
                <a:lnTo>
                  <a:pt x="114" y="38"/>
                </a:lnTo>
                <a:lnTo>
                  <a:pt x="98" y="30"/>
                </a:lnTo>
                <a:lnTo>
                  <a:pt x="82" y="22"/>
                </a:lnTo>
                <a:lnTo>
                  <a:pt x="65" y="16"/>
                </a:lnTo>
                <a:lnTo>
                  <a:pt x="49" y="11"/>
                </a:lnTo>
                <a:lnTo>
                  <a:pt x="33" y="7"/>
                </a:lnTo>
                <a:lnTo>
                  <a:pt x="16" y="5"/>
                </a:lnTo>
                <a:lnTo>
                  <a:pt x="0" y="4"/>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4248150"/>
            <a:ext cx="3743325" cy="819150"/>
          </a:xfrm>
          <a:custGeom>
            <a:avLst/>
            <a:gdLst/>
            <a:ahLst/>
            <a:cxnLst/>
            <a:rect l="l" t="t" r="r" b="b"/>
            <a:pathLst>
              <a:path w="393" h="86">
                <a:moveTo>
                  <a:pt x="0" y="76"/>
                </a:moveTo>
                <a:lnTo>
                  <a:pt x="16" y="76"/>
                </a:lnTo>
                <a:lnTo>
                  <a:pt x="33" y="75"/>
                </a:lnTo>
                <a:lnTo>
                  <a:pt x="49" y="73"/>
                </a:lnTo>
                <a:lnTo>
                  <a:pt x="65" y="70"/>
                </a:lnTo>
                <a:lnTo>
                  <a:pt x="82" y="68"/>
                </a:lnTo>
                <a:lnTo>
                  <a:pt x="98" y="64"/>
                </a:lnTo>
                <a:lnTo>
                  <a:pt x="114" y="60"/>
                </a:lnTo>
                <a:lnTo>
                  <a:pt x="131" y="56"/>
                </a:lnTo>
                <a:lnTo>
                  <a:pt x="147" y="52"/>
                </a:lnTo>
                <a:lnTo>
                  <a:pt x="164" y="47"/>
                </a:lnTo>
                <a:lnTo>
                  <a:pt x="180" y="43"/>
                </a:lnTo>
                <a:lnTo>
                  <a:pt x="196" y="38"/>
                </a:lnTo>
                <a:lnTo>
                  <a:pt x="213" y="33"/>
                </a:lnTo>
                <a:lnTo>
                  <a:pt x="229" y="28"/>
                </a:lnTo>
                <a:lnTo>
                  <a:pt x="246" y="24"/>
                </a:lnTo>
                <a:lnTo>
                  <a:pt x="262" y="19"/>
                </a:lnTo>
                <a:lnTo>
                  <a:pt x="278" y="15"/>
                </a:lnTo>
                <a:lnTo>
                  <a:pt x="295" y="12"/>
                </a:lnTo>
                <a:lnTo>
                  <a:pt x="311" y="8"/>
                </a:lnTo>
                <a:lnTo>
                  <a:pt x="327" y="5"/>
                </a:lnTo>
                <a:lnTo>
                  <a:pt x="344" y="3"/>
                </a:lnTo>
                <a:lnTo>
                  <a:pt x="360" y="1"/>
                </a:lnTo>
                <a:lnTo>
                  <a:pt x="377" y="0"/>
                </a:lnTo>
                <a:lnTo>
                  <a:pt x="393" y="0"/>
                </a:lnTo>
                <a:lnTo>
                  <a:pt x="393" y="9"/>
                </a:lnTo>
                <a:lnTo>
                  <a:pt x="377" y="10"/>
                </a:lnTo>
                <a:lnTo>
                  <a:pt x="360" y="11"/>
                </a:lnTo>
                <a:lnTo>
                  <a:pt x="344" y="13"/>
                </a:lnTo>
                <a:lnTo>
                  <a:pt x="327" y="15"/>
                </a:lnTo>
                <a:lnTo>
                  <a:pt x="311" y="18"/>
                </a:lnTo>
                <a:lnTo>
                  <a:pt x="295" y="21"/>
                </a:lnTo>
                <a:lnTo>
                  <a:pt x="278" y="25"/>
                </a:lnTo>
                <a:lnTo>
                  <a:pt x="262" y="29"/>
                </a:lnTo>
                <a:lnTo>
                  <a:pt x="246" y="34"/>
                </a:lnTo>
                <a:lnTo>
                  <a:pt x="229" y="38"/>
                </a:lnTo>
                <a:lnTo>
                  <a:pt x="213" y="43"/>
                </a:lnTo>
                <a:lnTo>
                  <a:pt x="196" y="48"/>
                </a:lnTo>
                <a:lnTo>
                  <a:pt x="180" y="52"/>
                </a:lnTo>
                <a:lnTo>
                  <a:pt x="164" y="57"/>
                </a:lnTo>
                <a:lnTo>
                  <a:pt x="147" y="62"/>
                </a:lnTo>
                <a:lnTo>
                  <a:pt x="131" y="66"/>
                </a:lnTo>
                <a:lnTo>
                  <a:pt x="114" y="70"/>
                </a:lnTo>
                <a:lnTo>
                  <a:pt x="98" y="74"/>
                </a:lnTo>
                <a:lnTo>
                  <a:pt x="82" y="77"/>
                </a:lnTo>
                <a:lnTo>
                  <a:pt x="65" y="80"/>
                </a:lnTo>
                <a:lnTo>
                  <a:pt x="49" y="82"/>
                </a:lnTo>
                <a:lnTo>
                  <a:pt x="33" y="84"/>
                </a:lnTo>
                <a:lnTo>
                  <a:pt x="16" y="85"/>
                </a:lnTo>
                <a:lnTo>
                  <a:pt x="0" y="86"/>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4686300"/>
            <a:ext cx="3743325" cy="447675"/>
          </a:xfrm>
          <a:custGeom>
            <a:avLst/>
            <a:gdLst/>
            <a:ahLst/>
            <a:cxnLst/>
            <a:rect l="l" t="t" r="r" b="b"/>
            <a:pathLst>
              <a:path w="393" h="47">
                <a:moveTo>
                  <a:pt x="0" y="40"/>
                </a:moveTo>
                <a:lnTo>
                  <a:pt x="16" y="40"/>
                </a:lnTo>
                <a:lnTo>
                  <a:pt x="33" y="39"/>
                </a:lnTo>
                <a:lnTo>
                  <a:pt x="49" y="38"/>
                </a:lnTo>
                <a:lnTo>
                  <a:pt x="65" y="37"/>
                </a:lnTo>
                <a:lnTo>
                  <a:pt x="82" y="35"/>
                </a:lnTo>
                <a:lnTo>
                  <a:pt x="98" y="34"/>
                </a:lnTo>
                <a:lnTo>
                  <a:pt x="114" y="32"/>
                </a:lnTo>
                <a:lnTo>
                  <a:pt x="131" y="30"/>
                </a:lnTo>
                <a:lnTo>
                  <a:pt x="147" y="27"/>
                </a:lnTo>
                <a:lnTo>
                  <a:pt x="164" y="25"/>
                </a:lnTo>
                <a:lnTo>
                  <a:pt x="180" y="22"/>
                </a:lnTo>
                <a:lnTo>
                  <a:pt x="196" y="20"/>
                </a:lnTo>
                <a:lnTo>
                  <a:pt x="213" y="18"/>
                </a:lnTo>
                <a:lnTo>
                  <a:pt x="229" y="15"/>
                </a:lnTo>
                <a:lnTo>
                  <a:pt x="246" y="13"/>
                </a:lnTo>
                <a:lnTo>
                  <a:pt x="262" y="10"/>
                </a:lnTo>
                <a:lnTo>
                  <a:pt x="278" y="8"/>
                </a:lnTo>
                <a:lnTo>
                  <a:pt x="295" y="6"/>
                </a:lnTo>
                <a:lnTo>
                  <a:pt x="311" y="5"/>
                </a:lnTo>
                <a:lnTo>
                  <a:pt x="327" y="3"/>
                </a:lnTo>
                <a:lnTo>
                  <a:pt x="344" y="2"/>
                </a:lnTo>
                <a:lnTo>
                  <a:pt x="360" y="1"/>
                </a:lnTo>
                <a:lnTo>
                  <a:pt x="377" y="0"/>
                </a:lnTo>
                <a:lnTo>
                  <a:pt x="393" y="0"/>
                </a:lnTo>
                <a:lnTo>
                  <a:pt x="393" y="8"/>
                </a:lnTo>
                <a:lnTo>
                  <a:pt x="377" y="8"/>
                </a:lnTo>
                <a:lnTo>
                  <a:pt x="360" y="9"/>
                </a:lnTo>
                <a:lnTo>
                  <a:pt x="344" y="10"/>
                </a:lnTo>
                <a:lnTo>
                  <a:pt x="327" y="11"/>
                </a:lnTo>
                <a:lnTo>
                  <a:pt x="311" y="12"/>
                </a:lnTo>
                <a:lnTo>
                  <a:pt x="295" y="14"/>
                </a:lnTo>
                <a:lnTo>
                  <a:pt x="278" y="16"/>
                </a:lnTo>
                <a:lnTo>
                  <a:pt x="262" y="18"/>
                </a:lnTo>
                <a:lnTo>
                  <a:pt x="246" y="20"/>
                </a:lnTo>
                <a:lnTo>
                  <a:pt x="229" y="23"/>
                </a:lnTo>
                <a:lnTo>
                  <a:pt x="213" y="25"/>
                </a:lnTo>
                <a:lnTo>
                  <a:pt x="196" y="28"/>
                </a:lnTo>
                <a:lnTo>
                  <a:pt x="180" y="30"/>
                </a:lnTo>
                <a:lnTo>
                  <a:pt x="164" y="33"/>
                </a:lnTo>
                <a:lnTo>
                  <a:pt x="147" y="35"/>
                </a:lnTo>
                <a:lnTo>
                  <a:pt x="131" y="37"/>
                </a:lnTo>
                <a:lnTo>
                  <a:pt x="114" y="39"/>
                </a:lnTo>
                <a:lnTo>
                  <a:pt x="98" y="41"/>
                </a:lnTo>
                <a:lnTo>
                  <a:pt x="82" y="43"/>
                </a:lnTo>
                <a:lnTo>
                  <a:pt x="65" y="44"/>
                </a:lnTo>
                <a:lnTo>
                  <a:pt x="49" y="46"/>
                </a:lnTo>
                <a:lnTo>
                  <a:pt x="33" y="47"/>
                </a:lnTo>
                <a:lnTo>
                  <a:pt x="16" y="47"/>
                </a:lnTo>
                <a:lnTo>
                  <a:pt x="0" y="47"/>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5057775"/>
            <a:ext cx="3743325" cy="142875"/>
          </a:xfrm>
          <a:custGeom>
            <a:avLst/>
            <a:gdLst/>
            <a:ahLst/>
            <a:cxnLst/>
            <a:rect l="l" t="t" r="r" b="b"/>
            <a:pathLst>
              <a:path w="393" h="15">
                <a:moveTo>
                  <a:pt x="0" y="8"/>
                </a:moveTo>
                <a:lnTo>
                  <a:pt x="16" y="8"/>
                </a:lnTo>
                <a:lnTo>
                  <a:pt x="33" y="8"/>
                </a:lnTo>
                <a:lnTo>
                  <a:pt x="49" y="8"/>
                </a:lnTo>
                <a:lnTo>
                  <a:pt x="65" y="8"/>
                </a:lnTo>
                <a:lnTo>
                  <a:pt x="82" y="7"/>
                </a:lnTo>
                <a:lnTo>
                  <a:pt x="98" y="7"/>
                </a:lnTo>
                <a:lnTo>
                  <a:pt x="114" y="7"/>
                </a:lnTo>
                <a:lnTo>
                  <a:pt x="131" y="6"/>
                </a:lnTo>
                <a:lnTo>
                  <a:pt x="147" y="6"/>
                </a:lnTo>
                <a:lnTo>
                  <a:pt x="164" y="5"/>
                </a:lnTo>
                <a:lnTo>
                  <a:pt x="180" y="5"/>
                </a:lnTo>
                <a:lnTo>
                  <a:pt x="196" y="4"/>
                </a:lnTo>
                <a:lnTo>
                  <a:pt x="213" y="4"/>
                </a:lnTo>
                <a:lnTo>
                  <a:pt x="229" y="3"/>
                </a:lnTo>
                <a:lnTo>
                  <a:pt x="246" y="3"/>
                </a:lnTo>
                <a:lnTo>
                  <a:pt x="262" y="2"/>
                </a:lnTo>
                <a:lnTo>
                  <a:pt x="278" y="2"/>
                </a:lnTo>
                <a:lnTo>
                  <a:pt x="295" y="1"/>
                </a:lnTo>
                <a:lnTo>
                  <a:pt x="311" y="1"/>
                </a:lnTo>
                <a:lnTo>
                  <a:pt x="327" y="1"/>
                </a:lnTo>
                <a:lnTo>
                  <a:pt x="344" y="0"/>
                </a:lnTo>
                <a:lnTo>
                  <a:pt x="360" y="0"/>
                </a:lnTo>
                <a:lnTo>
                  <a:pt x="377" y="0"/>
                </a:lnTo>
                <a:lnTo>
                  <a:pt x="393" y="0"/>
                </a:lnTo>
                <a:lnTo>
                  <a:pt x="393" y="6"/>
                </a:lnTo>
                <a:lnTo>
                  <a:pt x="377" y="6"/>
                </a:lnTo>
                <a:lnTo>
                  <a:pt x="360" y="6"/>
                </a:lnTo>
                <a:lnTo>
                  <a:pt x="344" y="7"/>
                </a:lnTo>
                <a:lnTo>
                  <a:pt x="327" y="7"/>
                </a:lnTo>
                <a:lnTo>
                  <a:pt x="311" y="7"/>
                </a:lnTo>
                <a:lnTo>
                  <a:pt x="295" y="8"/>
                </a:lnTo>
                <a:lnTo>
                  <a:pt x="278" y="8"/>
                </a:lnTo>
                <a:lnTo>
                  <a:pt x="262" y="8"/>
                </a:lnTo>
                <a:lnTo>
                  <a:pt x="246" y="9"/>
                </a:lnTo>
                <a:lnTo>
                  <a:pt x="229" y="9"/>
                </a:lnTo>
                <a:lnTo>
                  <a:pt x="213" y="10"/>
                </a:lnTo>
                <a:lnTo>
                  <a:pt x="196" y="10"/>
                </a:lnTo>
                <a:lnTo>
                  <a:pt x="180" y="11"/>
                </a:lnTo>
                <a:lnTo>
                  <a:pt x="164" y="11"/>
                </a:lnTo>
                <a:lnTo>
                  <a:pt x="147" y="12"/>
                </a:lnTo>
                <a:lnTo>
                  <a:pt x="131" y="12"/>
                </a:lnTo>
                <a:lnTo>
                  <a:pt x="114" y="13"/>
                </a:lnTo>
                <a:lnTo>
                  <a:pt x="98" y="13"/>
                </a:lnTo>
                <a:lnTo>
                  <a:pt x="82" y="14"/>
                </a:lnTo>
                <a:lnTo>
                  <a:pt x="65" y="14"/>
                </a:lnTo>
                <a:lnTo>
                  <a:pt x="49" y="14"/>
                </a:lnTo>
                <a:lnTo>
                  <a:pt x="33" y="14"/>
                </a:lnTo>
                <a:lnTo>
                  <a:pt x="16" y="14"/>
                </a:lnTo>
                <a:lnTo>
                  <a:pt x="0" y="1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5200650"/>
            <a:ext cx="3743325" cy="238125"/>
          </a:xfrm>
          <a:custGeom>
            <a:avLst/>
            <a:gdLst/>
            <a:ahLst/>
            <a:cxnLst/>
            <a:rect l="l" t="t" r="r" b="b"/>
            <a:pathLst>
              <a:path w="393" h="25">
                <a:moveTo>
                  <a:pt x="0" y="0"/>
                </a:moveTo>
                <a:lnTo>
                  <a:pt x="16" y="0"/>
                </a:lnTo>
                <a:lnTo>
                  <a:pt x="33" y="0"/>
                </a:lnTo>
                <a:lnTo>
                  <a:pt x="49" y="0"/>
                </a:lnTo>
                <a:lnTo>
                  <a:pt x="65" y="1"/>
                </a:lnTo>
                <a:lnTo>
                  <a:pt x="82" y="2"/>
                </a:lnTo>
                <a:lnTo>
                  <a:pt x="98" y="3"/>
                </a:lnTo>
                <a:lnTo>
                  <a:pt x="114" y="4"/>
                </a:lnTo>
                <a:lnTo>
                  <a:pt x="131" y="5"/>
                </a:lnTo>
                <a:lnTo>
                  <a:pt x="147" y="6"/>
                </a:lnTo>
                <a:lnTo>
                  <a:pt x="164" y="7"/>
                </a:lnTo>
                <a:lnTo>
                  <a:pt x="180" y="8"/>
                </a:lnTo>
                <a:lnTo>
                  <a:pt x="196" y="9"/>
                </a:lnTo>
                <a:lnTo>
                  <a:pt x="213" y="10"/>
                </a:lnTo>
                <a:lnTo>
                  <a:pt x="229" y="12"/>
                </a:lnTo>
                <a:lnTo>
                  <a:pt x="246" y="13"/>
                </a:lnTo>
                <a:lnTo>
                  <a:pt x="262" y="14"/>
                </a:lnTo>
                <a:lnTo>
                  <a:pt x="278" y="15"/>
                </a:lnTo>
                <a:lnTo>
                  <a:pt x="295" y="16"/>
                </a:lnTo>
                <a:lnTo>
                  <a:pt x="311" y="17"/>
                </a:lnTo>
                <a:lnTo>
                  <a:pt x="327" y="18"/>
                </a:lnTo>
                <a:lnTo>
                  <a:pt x="344" y="18"/>
                </a:lnTo>
                <a:lnTo>
                  <a:pt x="360" y="19"/>
                </a:lnTo>
                <a:lnTo>
                  <a:pt x="377" y="19"/>
                </a:lnTo>
                <a:lnTo>
                  <a:pt x="393" y="19"/>
                </a:lnTo>
                <a:lnTo>
                  <a:pt x="393" y="25"/>
                </a:lnTo>
                <a:lnTo>
                  <a:pt x="377" y="25"/>
                </a:lnTo>
                <a:lnTo>
                  <a:pt x="360" y="25"/>
                </a:lnTo>
                <a:lnTo>
                  <a:pt x="344" y="24"/>
                </a:lnTo>
                <a:lnTo>
                  <a:pt x="327" y="24"/>
                </a:lnTo>
                <a:lnTo>
                  <a:pt x="311" y="23"/>
                </a:lnTo>
                <a:lnTo>
                  <a:pt x="295" y="22"/>
                </a:lnTo>
                <a:lnTo>
                  <a:pt x="278" y="21"/>
                </a:lnTo>
                <a:lnTo>
                  <a:pt x="262" y="20"/>
                </a:lnTo>
                <a:lnTo>
                  <a:pt x="246" y="19"/>
                </a:lnTo>
                <a:lnTo>
                  <a:pt x="229" y="18"/>
                </a:lnTo>
                <a:lnTo>
                  <a:pt x="213" y="17"/>
                </a:lnTo>
                <a:lnTo>
                  <a:pt x="196" y="15"/>
                </a:lnTo>
                <a:lnTo>
                  <a:pt x="180" y="14"/>
                </a:lnTo>
                <a:lnTo>
                  <a:pt x="164" y="13"/>
                </a:lnTo>
                <a:lnTo>
                  <a:pt x="147" y="12"/>
                </a:lnTo>
                <a:lnTo>
                  <a:pt x="131" y="11"/>
                </a:lnTo>
                <a:lnTo>
                  <a:pt x="114" y="10"/>
                </a:lnTo>
                <a:lnTo>
                  <a:pt x="98" y="9"/>
                </a:lnTo>
                <a:lnTo>
                  <a:pt x="82" y="8"/>
                </a:lnTo>
                <a:lnTo>
                  <a:pt x="65" y="7"/>
                </a:lnTo>
                <a:lnTo>
                  <a:pt x="49" y="6"/>
                </a:lnTo>
                <a:lnTo>
                  <a:pt x="33" y="6"/>
                </a:lnTo>
                <a:lnTo>
                  <a:pt x="16" y="6"/>
                </a:lnTo>
                <a:lnTo>
                  <a:pt x="0" y="6"/>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5257800"/>
            <a:ext cx="3743325" cy="514350"/>
          </a:xfrm>
          <a:custGeom>
            <a:avLst/>
            <a:gdLst/>
            <a:ahLst/>
            <a:cxnLst/>
            <a:rect l="l" t="t" r="r" b="b"/>
            <a:pathLst>
              <a:path w="393" h="54">
                <a:moveTo>
                  <a:pt x="0" y="0"/>
                </a:moveTo>
                <a:lnTo>
                  <a:pt x="16" y="0"/>
                </a:lnTo>
                <a:lnTo>
                  <a:pt x="33" y="1"/>
                </a:lnTo>
                <a:lnTo>
                  <a:pt x="49" y="2"/>
                </a:lnTo>
                <a:lnTo>
                  <a:pt x="65" y="3"/>
                </a:lnTo>
                <a:lnTo>
                  <a:pt x="82" y="5"/>
                </a:lnTo>
                <a:lnTo>
                  <a:pt x="98" y="7"/>
                </a:lnTo>
                <a:lnTo>
                  <a:pt x="114" y="9"/>
                </a:lnTo>
                <a:lnTo>
                  <a:pt x="131" y="12"/>
                </a:lnTo>
                <a:lnTo>
                  <a:pt x="147" y="14"/>
                </a:lnTo>
                <a:lnTo>
                  <a:pt x="164" y="17"/>
                </a:lnTo>
                <a:lnTo>
                  <a:pt x="180" y="20"/>
                </a:lnTo>
                <a:lnTo>
                  <a:pt x="196" y="23"/>
                </a:lnTo>
                <a:lnTo>
                  <a:pt x="213" y="26"/>
                </a:lnTo>
                <a:lnTo>
                  <a:pt x="229" y="28"/>
                </a:lnTo>
                <a:lnTo>
                  <a:pt x="246" y="31"/>
                </a:lnTo>
                <a:lnTo>
                  <a:pt x="262" y="34"/>
                </a:lnTo>
                <a:lnTo>
                  <a:pt x="278" y="36"/>
                </a:lnTo>
                <a:lnTo>
                  <a:pt x="295" y="39"/>
                </a:lnTo>
                <a:lnTo>
                  <a:pt x="311" y="41"/>
                </a:lnTo>
                <a:lnTo>
                  <a:pt x="327" y="42"/>
                </a:lnTo>
                <a:lnTo>
                  <a:pt x="344" y="44"/>
                </a:lnTo>
                <a:lnTo>
                  <a:pt x="360" y="45"/>
                </a:lnTo>
                <a:lnTo>
                  <a:pt x="377" y="46"/>
                </a:lnTo>
                <a:lnTo>
                  <a:pt x="393" y="46"/>
                </a:lnTo>
                <a:lnTo>
                  <a:pt x="393" y="54"/>
                </a:lnTo>
                <a:lnTo>
                  <a:pt x="377" y="54"/>
                </a:lnTo>
                <a:lnTo>
                  <a:pt x="360" y="53"/>
                </a:lnTo>
                <a:lnTo>
                  <a:pt x="344" y="52"/>
                </a:lnTo>
                <a:lnTo>
                  <a:pt x="327" y="51"/>
                </a:lnTo>
                <a:lnTo>
                  <a:pt x="311" y="49"/>
                </a:lnTo>
                <a:lnTo>
                  <a:pt x="295" y="47"/>
                </a:lnTo>
                <a:lnTo>
                  <a:pt x="278" y="44"/>
                </a:lnTo>
                <a:lnTo>
                  <a:pt x="262" y="42"/>
                </a:lnTo>
                <a:lnTo>
                  <a:pt x="246" y="39"/>
                </a:lnTo>
                <a:lnTo>
                  <a:pt x="229" y="37"/>
                </a:lnTo>
                <a:lnTo>
                  <a:pt x="213" y="34"/>
                </a:lnTo>
                <a:lnTo>
                  <a:pt x="196" y="31"/>
                </a:lnTo>
                <a:lnTo>
                  <a:pt x="180" y="28"/>
                </a:lnTo>
                <a:lnTo>
                  <a:pt x="164" y="25"/>
                </a:lnTo>
                <a:lnTo>
                  <a:pt x="147" y="22"/>
                </a:lnTo>
                <a:lnTo>
                  <a:pt x="131" y="20"/>
                </a:lnTo>
                <a:lnTo>
                  <a:pt x="114" y="17"/>
                </a:lnTo>
                <a:lnTo>
                  <a:pt x="98" y="15"/>
                </a:lnTo>
                <a:lnTo>
                  <a:pt x="82" y="13"/>
                </a:lnTo>
                <a:lnTo>
                  <a:pt x="65" y="11"/>
                </a:lnTo>
                <a:lnTo>
                  <a:pt x="49" y="10"/>
                </a:lnTo>
                <a:lnTo>
                  <a:pt x="33" y="9"/>
                </a:lnTo>
                <a:lnTo>
                  <a:pt x="16" y="8"/>
                </a:lnTo>
                <a:lnTo>
                  <a:pt x="0" y="8"/>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5334000"/>
            <a:ext cx="3743325" cy="742950"/>
          </a:xfrm>
          <a:custGeom>
            <a:avLst/>
            <a:gdLst/>
            <a:ahLst/>
            <a:cxnLst/>
            <a:rect l="l" t="t" r="r" b="b"/>
            <a:pathLst>
              <a:path w="393" h="78">
                <a:moveTo>
                  <a:pt x="0" y="0"/>
                </a:moveTo>
                <a:lnTo>
                  <a:pt x="16" y="0"/>
                </a:lnTo>
                <a:lnTo>
                  <a:pt x="33" y="1"/>
                </a:lnTo>
                <a:lnTo>
                  <a:pt x="49" y="3"/>
                </a:lnTo>
                <a:lnTo>
                  <a:pt x="65" y="5"/>
                </a:lnTo>
                <a:lnTo>
                  <a:pt x="82" y="8"/>
                </a:lnTo>
                <a:lnTo>
                  <a:pt x="98" y="11"/>
                </a:lnTo>
                <a:lnTo>
                  <a:pt x="114" y="15"/>
                </a:lnTo>
                <a:lnTo>
                  <a:pt x="131" y="18"/>
                </a:lnTo>
                <a:lnTo>
                  <a:pt x="147" y="23"/>
                </a:lnTo>
                <a:lnTo>
                  <a:pt x="164" y="27"/>
                </a:lnTo>
                <a:lnTo>
                  <a:pt x="180" y="31"/>
                </a:lnTo>
                <a:lnTo>
                  <a:pt x="196" y="36"/>
                </a:lnTo>
                <a:lnTo>
                  <a:pt x="213" y="40"/>
                </a:lnTo>
                <a:lnTo>
                  <a:pt x="229" y="45"/>
                </a:lnTo>
                <a:lnTo>
                  <a:pt x="246" y="49"/>
                </a:lnTo>
                <a:lnTo>
                  <a:pt x="262" y="53"/>
                </a:lnTo>
                <a:lnTo>
                  <a:pt x="278" y="57"/>
                </a:lnTo>
                <a:lnTo>
                  <a:pt x="295" y="61"/>
                </a:lnTo>
                <a:lnTo>
                  <a:pt x="311" y="64"/>
                </a:lnTo>
                <a:lnTo>
                  <a:pt x="327" y="67"/>
                </a:lnTo>
                <a:lnTo>
                  <a:pt x="344" y="69"/>
                </a:lnTo>
                <a:lnTo>
                  <a:pt x="360" y="71"/>
                </a:lnTo>
                <a:lnTo>
                  <a:pt x="377" y="72"/>
                </a:lnTo>
                <a:lnTo>
                  <a:pt x="393" y="72"/>
                </a:lnTo>
                <a:lnTo>
                  <a:pt x="393" y="78"/>
                </a:lnTo>
                <a:lnTo>
                  <a:pt x="377" y="78"/>
                </a:lnTo>
                <a:lnTo>
                  <a:pt x="360" y="77"/>
                </a:lnTo>
                <a:lnTo>
                  <a:pt x="344" y="75"/>
                </a:lnTo>
                <a:lnTo>
                  <a:pt x="327" y="73"/>
                </a:lnTo>
                <a:lnTo>
                  <a:pt x="311" y="70"/>
                </a:lnTo>
                <a:lnTo>
                  <a:pt x="295" y="67"/>
                </a:lnTo>
                <a:lnTo>
                  <a:pt x="278" y="63"/>
                </a:lnTo>
                <a:lnTo>
                  <a:pt x="262" y="59"/>
                </a:lnTo>
                <a:lnTo>
                  <a:pt x="246" y="55"/>
                </a:lnTo>
                <a:lnTo>
                  <a:pt x="229" y="51"/>
                </a:lnTo>
                <a:lnTo>
                  <a:pt x="213" y="47"/>
                </a:lnTo>
                <a:lnTo>
                  <a:pt x="196" y="42"/>
                </a:lnTo>
                <a:lnTo>
                  <a:pt x="180" y="38"/>
                </a:lnTo>
                <a:lnTo>
                  <a:pt x="164" y="33"/>
                </a:lnTo>
                <a:lnTo>
                  <a:pt x="147" y="29"/>
                </a:lnTo>
                <a:lnTo>
                  <a:pt x="131" y="25"/>
                </a:lnTo>
                <a:lnTo>
                  <a:pt x="114" y="21"/>
                </a:lnTo>
                <a:lnTo>
                  <a:pt x="98" y="17"/>
                </a:lnTo>
                <a:lnTo>
                  <a:pt x="82" y="14"/>
                </a:lnTo>
                <a:lnTo>
                  <a:pt x="65" y="11"/>
                </a:lnTo>
                <a:lnTo>
                  <a:pt x="49" y="9"/>
                </a:lnTo>
                <a:lnTo>
                  <a:pt x="33" y="7"/>
                </a:lnTo>
                <a:lnTo>
                  <a:pt x="16" y="6"/>
                </a:lnTo>
                <a:lnTo>
                  <a:pt x="0" y="6"/>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5391150"/>
            <a:ext cx="3743325" cy="942975"/>
          </a:xfrm>
          <a:custGeom>
            <a:avLst/>
            <a:gdLst/>
            <a:ahLst/>
            <a:cxnLst/>
            <a:rect l="l" t="t" r="r" b="b"/>
            <a:pathLst>
              <a:path w="393" h="99">
                <a:moveTo>
                  <a:pt x="0" y="0"/>
                </a:moveTo>
                <a:lnTo>
                  <a:pt x="16" y="0"/>
                </a:lnTo>
                <a:lnTo>
                  <a:pt x="33" y="2"/>
                </a:lnTo>
                <a:lnTo>
                  <a:pt x="49" y="4"/>
                </a:lnTo>
                <a:lnTo>
                  <a:pt x="65" y="7"/>
                </a:lnTo>
                <a:lnTo>
                  <a:pt x="82" y="11"/>
                </a:lnTo>
                <a:lnTo>
                  <a:pt x="98" y="15"/>
                </a:lnTo>
                <a:lnTo>
                  <a:pt x="114" y="20"/>
                </a:lnTo>
                <a:lnTo>
                  <a:pt x="131" y="25"/>
                </a:lnTo>
                <a:lnTo>
                  <a:pt x="147" y="30"/>
                </a:lnTo>
                <a:lnTo>
                  <a:pt x="164" y="36"/>
                </a:lnTo>
                <a:lnTo>
                  <a:pt x="180" y="42"/>
                </a:lnTo>
                <a:lnTo>
                  <a:pt x="196" y="48"/>
                </a:lnTo>
                <a:lnTo>
                  <a:pt x="213" y="54"/>
                </a:lnTo>
                <a:lnTo>
                  <a:pt x="229" y="60"/>
                </a:lnTo>
                <a:lnTo>
                  <a:pt x="246" y="66"/>
                </a:lnTo>
                <a:lnTo>
                  <a:pt x="262" y="71"/>
                </a:lnTo>
                <a:lnTo>
                  <a:pt x="278" y="76"/>
                </a:lnTo>
                <a:lnTo>
                  <a:pt x="295" y="81"/>
                </a:lnTo>
                <a:lnTo>
                  <a:pt x="311" y="85"/>
                </a:lnTo>
                <a:lnTo>
                  <a:pt x="327" y="89"/>
                </a:lnTo>
                <a:lnTo>
                  <a:pt x="344" y="92"/>
                </a:lnTo>
                <a:lnTo>
                  <a:pt x="360" y="94"/>
                </a:lnTo>
                <a:lnTo>
                  <a:pt x="377" y="96"/>
                </a:lnTo>
                <a:lnTo>
                  <a:pt x="393" y="96"/>
                </a:lnTo>
                <a:lnTo>
                  <a:pt x="393" y="99"/>
                </a:lnTo>
                <a:lnTo>
                  <a:pt x="377" y="98"/>
                </a:lnTo>
                <a:lnTo>
                  <a:pt x="360" y="97"/>
                </a:lnTo>
                <a:lnTo>
                  <a:pt x="344" y="95"/>
                </a:lnTo>
                <a:lnTo>
                  <a:pt x="327" y="92"/>
                </a:lnTo>
                <a:lnTo>
                  <a:pt x="311" y="88"/>
                </a:lnTo>
                <a:lnTo>
                  <a:pt x="295" y="84"/>
                </a:lnTo>
                <a:lnTo>
                  <a:pt x="278" y="79"/>
                </a:lnTo>
                <a:lnTo>
                  <a:pt x="262" y="74"/>
                </a:lnTo>
                <a:lnTo>
                  <a:pt x="246" y="68"/>
                </a:lnTo>
                <a:lnTo>
                  <a:pt x="229" y="63"/>
                </a:lnTo>
                <a:lnTo>
                  <a:pt x="213" y="57"/>
                </a:lnTo>
                <a:lnTo>
                  <a:pt x="196" y="51"/>
                </a:lnTo>
                <a:lnTo>
                  <a:pt x="180" y="45"/>
                </a:lnTo>
                <a:lnTo>
                  <a:pt x="164" y="39"/>
                </a:lnTo>
                <a:lnTo>
                  <a:pt x="147" y="33"/>
                </a:lnTo>
                <a:lnTo>
                  <a:pt x="131" y="28"/>
                </a:lnTo>
                <a:lnTo>
                  <a:pt x="114" y="23"/>
                </a:lnTo>
                <a:lnTo>
                  <a:pt x="98" y="18"/>
                </a:lnTo>
                <a:lnTo>
                  <a:pt x="82" y="14"/>
                </a:lnTo>
                <a:lnTo>
                  <a:pt x="65" y="10"/>
                </a:lnTo>
                <a:lnTo>
                  <a:pt x="49" y="7"/>
                </a:lnTo>
                <a:lnTo>
                  <a:pt x="33" y="5"/>
                </a:lnTo>
                <a:lnTo>
                  <a:pt x="16" y="3"/>
                </a:lnTo>
                <a:lnTo>
                  <a:pt x="0" y="3"/>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5419725"/>
            <a:ext cx="3743325" cy="1076325"/>
          </a:xfrm>
          <a:custGeom>
            <a:avLst/>
            <a:gdLst/>
            <a:ahLst/>
            <a:cxnLst/>
            <a:rect l="l" t="t" r="r" b="b"/>
            <a:pathLst>
              <a:path w="393" h="113">
                <a:moveTo>
                  <a:pt x="0" y="0"/>
                </a:moveTo>
                <a:lnTo>
                  <a:pt x="16" y="0"/>
                </a:lnTo>
                <a:lnTo>
                  <a:pt x="33" y="2"/>
                </a:lnTo>
                <a:lnTo>
                  <a:pt x="49" y="5"/>
                </a:lnTo>
                <a:lnTo>
                  <a:pt x="65" y="8"/>
                </a:lnTo>
                <a:lnTo>
                  <a:pt x="82" y="12"/>
                </a:lnTo>
                <a:lnTo>
                  <a:pt x="98" y="17"/>
                </a:lnTo>
                <a:lnTo>
                  <a:pt x="114" y="23"/>
                </a:lnTo>
                <a:lnTo>
                  <a:pt x="131" y="29"/>
                </a:lnTo>
                <a:lnTo>
                  <a:pt x="147" y="35"/>
                </a:lnTo>
                <a:lnTo>
                  <a:pt x="164" y="42"/>
                </a:lnTo>
                <a:lnTo>
                  <a:pt x="180" y="49"/>
                </a:lnTo>
                <a:lnTo>
                  <a:pt x="196" y="56"/>
                </a:lnTo>
                <a:lnTo>
                  <a:pt x="213" y="62"/>
                </a:lnTo>
                <a:lnTo>
                  <a:pt x="229" y="69"/>
                </a:lnTo>
                <a:lnTo>
                  <a:pt x="246" y="76"/>
                </a:lnTo>
                <a:lnTo>
                  <a:pt x="262" y="82"/>
                </a:lnTo>
                <a:lnTo>
                  <a:pt x="278" y="88"/>
                </a:lnTo>
                <a:lnTo>
                  <a:pt x="295" y="94"/>
                </a:lnTo>
                <a:lnTo>
                  <a:pt x="311" y="99"/>
                </a:lnTo>
                <a:lnTo>
                  <a:pt x="327" y="103"/>
                </a:lnTo>
                <a:lnTo>
                  <a:pt x="344" y="106"/>
                </a:lnTo>
                <a:lnTo>
                  <a:pt x="360" y="109"/>
                </a:lnTo>
                <a:lnTo>
                  <a:pt x="377" y="111"/>
                </a:lnTo>
                <a:lnTo>
                  <a:pt x="393" y="111"/>
                </a:lnTo>
                <a:lnTo>
                  <a:pt x="393" y="113"/>
                </a:lnTo>
                <a:lnTo>
                  <a:pt x="377" y="113"/>
                </a:lnTo>
                <a:lnTo>
                  <a:pt x="360" y="111"/>
                </a:lnTo>
                <a:lnTo>
                  <a:pt x="344" y="108"/>
                </a:lnTo>
                <a:lnTo>
                  <a:pt x="327" y="105"/>
                </a:lnTo>
                <a:lnTo>
                  <a:pt x="311" y="101"/>
                </a:lnTo>
                <a:lnTo>
                  <a:pt x="295" y="96"/>
                </a:lnTo>
                <a:lnTo>
                  <a:pt x="278" y="90"/>
                </a:lnTo>
                <a:lnTo>
                  <a:pt x="262" y="84"/>
                </a:lnTo>
                <a:lnTo>
                  <a:pt x="246" y="78"/>
                </a:lnTo>
                <a:lnTo>
                  <a:pt x="229" y="71"/>
                </a:lnTo>
                <a:lnTo>
                  <a:pt x="213" y="64"/>
                </a:lnTo>
                <a:lnTo>
                  <a:pt x="196" y="57"/>
                </a:lnTo>
                <a:lnTo>
                  <a:pt x="180" y="51"/>
                </a:lnTo>
                <a:lnTo>
                  <a:pt x="164" y="44"/>
                </a:lnTo>
                <a:lnTo>
                  <a:pt x="147" y="37"/>
                </a:lnTo>
                <a:lnTo>
                  <a:pt x="131" y="31"/>
                </a:lnTo>
                <a:lnTo>
                  <a:pt x="114" y="25"/>
                </a:lnTo>
                <a:lnTo>
                  <a:pt x="98" y="19"/>
                </a:lnTo>
                <a:lnTo>
                  <a:pt x="82" y="14"/>
                </a:lnTo>
                <a:lnTo>
                  <a:pt x="65" y="10"/>
                </a:lnTo>
                <a:lnTo>
                  <a:pt x="49" y="7"/>
                </a:lnTo>
                <a:lnTo>
                  <a:pt x="33" y="4"/>
                </a:lnTo>
                <a:lnTo>
                  <a:pt x="16" y="2"/>
                </a:lnTo>
                <a:lnTo>
                  <a:pt x="0" y="2"/>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4333875"/>
            <a:ext cx="3743325" cy="1228725"/>
          </a:xfrm>
          <a:custGeom>
            <a:avLst/>
            <a:gdLst/>
            <a:ahLst/>
            <a:cxnLst/>
            <a:rect l="l" t="t" r="r" b="b"/>
            <a:pathLst>
              <a:path w="393" h="129">
                <a:moveTo>
                  <a:pt x="0" y="122"/>
                </a:moveTo>
                <a:lnTo>
                  <a:pt x="16" y="121"/>
                </a:lnTo>
                <a:lnTo>
                  <a:pt x="33" y="119"/>
                </a:lnTo>
                <a:lnTo>
                  <a:pt x="49" y="117"/>
                </a:lnTo>
                <a:lnTo>
                  <a:pt x="65" y="113"/>
                </a:lnTo>
                <a:lnTo>
                  <a:pt x="82" y="108"/>
                </a:lnTo>
                <a:lnTo>
                  <a:pt x="98" y="103"/>
                </a:lnTo>
                <a:lnTo>
                  <a:pt x="114" y="97"/>
                </a:lnTo>
                <a:lnTo>
                  <a:pt x="131" y="90"/>
                </a:lnTo>
                <a:lnTo>
                  <a:pt x="147" y="83"/>
                </a:lnTo>
                <a:lnTo>
                  <a:pt x="164" y="76"/>
                </a:lnTo>
                <a:lnTo>
                  <a:pt x="180" y="69"/>
                </a:lnTo>
                <a:lnTo>
                  <a:pt x="196" y="61"/>
                </a:lnTo>
                <a:lnTo>
                  <a:pt x="213" y="53"/>
                </a:lnTo>
                <a:lnTo>
                  <a:pt x="229" y="46"/>
                </a:lnTo>
                <a:lnTo>
                  <a:pt x="246" y="39"/>
                </a:lnTo>
                <a:lnTo>
                  <a:pt x="262" y="32"/>
                </a:lnTo>
                <a:lnTo>
                  <a:pt x="278" y="25"/>
                </a:lnTo>
                <a:lnTo>
                  <a:pt x="295" y="19"/>
                </a:lnTo>
                <a:lnTo>
                  <a:pt x="311" y="14"/>
                </a:lnTo>
                <a:lnTo>
                  <a:pt x="327" y="9"/>
                </a:lnTo>
                <a:lnTo>
                  <a:pt x="344" y="6"/>
                </a:lnTo>
                <a:lnTo>
                  <a:pt x="360" y="3"/>
                </a:lnTo>
                <a:lnTo>
                  <a:pt x="377" y="1"/>
                </a:lnTo>
                <a:lnTo>
                  <a:pt x="393" y="0"/>
                </a:lnTo>
                <a:lnTo>
                  <a:pt x="393" y="8"/>
                </a:lnTo>
                <a:lnTo>
                  <a:pt x="377" y="8"/>
                </a:lnTo>
                <a:lnTo>
                  <a:pt x="360" y="10"/>
                </a:lnTo>
                <a:lnTo>
                  <a:pt x="344" y="13"/>
                </a:lnTo>
                <a:lnTo>
                  <a:pt x="327" y="17"/>
                </a:lnTo>
                <a:lnTo>
                  <a:pt x="311" y="21"/>
                </a:lnTo>
                <a:lnTo>
                  <a:pt x="295" y="27"/>
                </a:lnTo>
                <a:lnTo>
                  <a:pt x="278" y="33"/>
                </a:lnTo>
                <a:lnTo>
                  <a:pt x="262" y="39"/>
                </a:lnTo>
                <a:lnTo>
                  <a:pt x="246" y="46"/>
                </a:lnTo>
                <a:lnTo>
                  <a:pt x="229" y="53"/>
                </a:lnTo>
                <a:lnTo>
                  <a:pt x="213" y="61"/>
                </a:lnTo>
                <a:lnTo>
                  <a:pt x="196" y="68"/>
                </a:lnTo>
                <a:lnTo>
                  <a:pt x="180" y="76"/>
                </a:lnTo>
                <a:lnTo>
                  <a:pt x="164" y="83"/>
                </a:lnTo>
                <a:lnTo>
                  <a:pt x="147" y="91"/>
                </a:lnTo>
                <a:lnTo>
                  <a:pt x="131" y="98"/>
                </a:lnTo>
                <a:lnTo>
                  <a:pt x="114" y="104"/>
                </a:lnTo>
                <a:lnTo>
                  <a:pt x="98" y="110"/>
                </a:lnTo>
                <a:lnTo>
                  <a:pt x="82" y="115"/>
                </a:lnTo>
                <a:lnTo>
                  <a:pt x="65" y="120"/>
                </a:lnTo>
                <a:lnTo>
                  <a:pt x="49" y="124"/>
                </a:lnTo>
                <a:lnTo>
                  <a:pt x="33" y="127"/>
                </a:lnTo>
                <a:lnTo>
                  <a:pt x="16" y="128"/>
                </a:lnTo>
                <a:lnTo>
                  <a:pt x="0" y="129"/>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4762500"/>
            <a:ext cx="3743325" cy="847725"/>
          </a:xfrm>
          <a:custGeom>
            <a:avLst/>
            <a:gdLst/>
            <a:ahLst/>
            <a:cxnLst/>
            <a:rect l="l" t="t" r="r" b="b"/>
            <a:pathLst>
              <a:path w="393" h="89">
                <a:moveTo>
                  <a:pt x="0" y="84"/>
                </a:moveTo>
                <a:lnTo>
                  <a:pt x="16" y="84"/>
                </a:lnTo>
                <a:lnTo>
                  <a:pt x="33" y="82"/>
                </a:lnTo>
                <a:lnTo>
                  <a:pt x="49" y="80"/>
                </a:lnTo>
                <a:lnTo>
                  <a:pt x="65" y="78"/>
                </a:lnTo>
                <a:lnTo>
                  <a:pt x="82" y="75"/>
                </a:lnTo>
                <a:lnTo>
                  <a:pt x="98" y="71"/>
                </a:lnTo>
                <a:lnTo>
                  <a:pt x="114" y="67"/>
                </a:lnTo>
                <a:lnTo>
                  <a:pt x="131" y="62"/>
                </a:lnTo>
                <a:lnTo>
                  <a:pt x="147" y="57"/>
                </a:lnTo>
                <a:lnTo>
                  <a:pt x="164" y="52"/>
                </a:lnTo>
                <a:lnTo>
                  <a:pt x="180" y="47"/>
                </a:lnTo>
                <a:lnTo>
                  <a:pt x="196" y="42"/>
                </a:lnTo>
                <a:lnTo>
                  <a:pt x="213" y="37"/>
                </a:lnTo>
                <a:lnTo>
                  <a:pt x="229" y="31"/>
                </a:lnTo>
                <a:lnTo>
                  <a:pt x="246" y="26"/>
                </a:lnTo>
                <a:lnTo>
                  <a:pt x="262" y="22"/>
                </a:lnTo>
                <a:lnTo>
                  <a:pt x="278" y="17"/>
                </a:lnTo>
                <a:lnTo>
                  <a:pt x="295" y="13"/>
                </a:lnTo>
                <a:lnTo>
                  <a:pt x="311" y="9"/>
                </a:lnTo>
                <a:lnTo>
                  <a:pt x="327" y="6"/>
                </a:lnTo>
                <a:lnTo>
                  <a:pt x="344" y="3"/>
                </a:lnTo>
                <a:lnTo>
                  <a:pt x="360" y="1"/>
                </a:lnTo>
                <a:lnTo>
                  <a:pt x="377" y="0"/>
                </a:lnTo>
                <a:lnTo>
                  <a:pt x="393" y="0"/>
                </a:lnTo>
                <a:lnTo>
                  <a:pt x="393" y="5"/>
                </a:lnTo>
                <a:lnTo>
                  <a:pt x="377" y="5"/>
                </a:lnTo>
                <a:lnTo>
                  <a:pt x="360" y="6"/>
                </a:lnTo>
                <a:lnTo>
                  <a:pt x="344" y="8"/>
                </a:lnTo>
                <a:lnTo>
                  <a:pt x="327" y="11"/>
                </a:lnTo>
                <a:lnTo>
                  <a:pt x="311" y="14"/>
                </a:lnTo>
                <a:lnTo>
                  <a:pt x="295" y="18"/>
                </a:lnTo>
                <a:lnTo>
                  <a:pt x="278" y="22"/>
                </a:lnTo>
                <a:lnTo>
                  <a:pt x="262" y="26"/>
                </a:lnTo>
                <a:lnTo>
                  <a:pt x="246" y="31"/>
                </a:lnTo>
                <a:lnTo>
                  <a:pt x="229" y="36"/>
                </a:lnTo>
                <a:lnTo>
                  <a:pt x="213" y="41"/>
                </a:lnTo>
                <a:lnTo>
                  <a:pt x="196" y="47"/>
                </a:lnTo>
                <a:lnTo>
                  <a:pt x="180" y="52"/>
                </a:lnTo>
                <a:lnTo>
                  <a:pt x="164" y="57"/>
                </a:lnTo>
                <a:lnTo>
                  <a:pt x="147" y="62"/>
                </a:lnTo>
                <a:lnTo>
                  <a:pt x="131" y="67"/>
                </a:lnTo>
                <a:lnTo>
                  <a:pt x="114" y="72"/>
                </a:lnTo>
                <a:lnTo>
                  <a:pt x="98" y="76"/>
                </a:lnTo>
                <a:lnTo>
                  <a:pt x="82" y="79"/>
                </a:lnTo>
                <a:lnTo>
                  <a:pt x="65" y="83"/>
                </a:lnTo>
                <a:lnTo>
                  <a:pt x="49" y="85"/>
                </a:lnTo>
                <a:lnTo>
                  <a:pt x="33" y="87"/>
                </a:lnTo>
                <a:lnTo>
                  <a:pt x="16" y="88"/>
                </a:lnTo>
                <a:lnTo>
                  <a:pt x="0" y="89"/>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5114925"/>
            <a:ext cx="3743325" cy="533400"/>
          </a:xfrm>
          <a:custGeom>
            <a:avLst/>
            <a:gdLst/>
            <a:ahLst/>
            <a:cxnLst/>
            <a:rect l="l" t="t" r="r" b="b"/>
            <a:pathLst>
              <a:path w="393" h="56">
                <a:moveTo>
                  <a:pt x="0" y="52"/>
                </a:moveTo>
                <a:lnTo>
                  <a:pt x="16" y="52"/>
                </a:lnTo>
                <a:lnTo>
                  <a:pt x="33" y="51"/>
                </a:lnTo>
                <a:lnTo>
                  <a:pt x="49" y="50"/>
                </a:lnTo>
                <a:lnTo>
                  <a:pt x="65" y="48"/>
                </a:lnTo>
                <a:lnTo>
                  <a:pt x="82" y="46"/>
                </a:lnTo>
                <a:lnTo>
                  <a:pt x="98" y="44"/>
                </a:lnTo>
                <a:lnTo>
                  <a:pt x="114" y="41"/>
                </a:lnTo>
                <a:lnTo>
                  <a:pt x="131" y="38"/>
                </a:lnTo>
                <a:lnTo>
                  <a:pt x="147" y="36"/>
                </a:lnTo>
                <a:lnTo>
                  <a:pt x="164" y="32"/>
                </a:lnTo>
                <a:lnTo>
                  <a:pt x="180" y="29"/>
                </a:lnTo>
                <a:lnTo>
                  <a:pt x="196" y="26"/>
                </a:lnTo>
                <a:lnTo>
                  <a:pt x="213" y="23"/>
                </a:lnTo>
                <a:lnTo>
                  <a:pt x="229" y="20"/>
                </a:lnTo>
                <a:lnTo>
                  <a:pt x="246" y="17"/>
                </a:lnTo>
                <a:lnTo>
                  <a:pt x="262" y="14"/>
                </a:lnTo>
                <a:lnTo>
                  <a:pt x="278" y="11"/>
                </a:lnTo>
                <a:lnTo>
                  <a:pt x="295" y="8"/>
                </a:lnTo>
                <a:lnTo>
                  <a:pt x="311" y="6"/>
                </a:lnTo>
                <a:lnTo>
                  <a:pt x="327" y="4"/>
                </a:lnTo>
                <a:lnTo>
                  <a:pt x="344" y="2"/>
                </a:lnTo>
                <a:lnTo>
                  <a:pt x="360" y="1"/>
                </a:lnTo>
                <a:lnTo>
                  <a:pt x="377" y="1"/>
                </a:lnTo>
                <a:lnTo>
                  <a:pt x="393" y="0"/>
                </a:lnTo>
                <a:lnTo>
                  <a:pt x="393" y="4"/>
                </a:lnTo>
                <a:lnTo>
                  <a:pt x="377" y="4"/>
                </a:lnTo>
                <a:lnTo>
                  <a:pt x="360" y="5"/>
                </a:lnTo>
                <a:lnTo>
                  <a:pt x="344" y="6"/>
                </a:lnTo>
                <a:lnTo>
                  <a:pt x="327" y="8"/>
                </a:lnTo>
                <a:lnTo>
                  <a:pt x="311" y="10"/>
                </a:lnTo>
                <a:lnTo>
                  <a:pt x="295" y="12"/>
                </a:lnTo>
                <a:lnTo>
                  <a:pt x="278" y="15"/>
                </a:lnTo>
                <a:lnTo>
                  <a:pt x="262" y="17"/>
                </a:lnTo>
                <a:lnTo>
                  <a:pt x="246" y="20"/>
                </a:lnTo>
                <a:lnTo>
                  <a:pt x="229" y="24"/>
                </a:lnTo>
                <a:lnTo>
                  <a:pt x="213" y="27"/>
                </a:lnTo>
                <a:lnTo>
                  <a:pt x="196" y="30"/>
                </a:lnTo>
                <a:lnTo>
                  <a:pt x="180" y="33"/>
                </a:lnTo>
                <a:lnTo>
                  <a:pt x="164" y="36"/>
                </a:lnTo>
                <a:lnTo>
                  <a:pt x="147" y="39"/>
                </a:lnTo>
                <a:lnTo>
                  <a:pt x="131" y="42"/>
                </a:lnTo>
                <a:lnTo>
                  <a:pt x="114" y="45"/>
                </a:lnTo>
                <a:lnTo>
                  <a:pt x="98" y="48"/>
                </a:lnTo>
                <a:lnTo>
                  <a:pt x="82" y="50"/>
                </a:lnTo>
                <a:lnTo>
                  <a:pt x="65" y="52"/>
                </a:lnTo>
                <a:lnTo>
                  <a:pt x="49" y="53"/>
                </a:lnTo>
                <a:lnTo>
                  <a:pt x="33" y="55"/>
                </a:lnTo>
                <a:lnTo>
                  <a:pt x="16" y="55"/>
                </a:lnTo>
                <a:lnTo>
                  <a:pt x="0" y="56"/>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5438775"/>
            <a:ext cx="3743325" cy="247650"/>
          </a:xfrm>
          <a:custGeom>
            <a:avLst/>
            <a:gdLst/>
            <a:ahLst/>
            <a:cxnLst/>
            <a:rect l="l" t="t" r="r" b="b"/>
            <a:pathLst>
              <a:path w="393" h="26">
                <a:moveTo>
                  <a:pt x="0" y="22"/>
                </a:moveTo>
                <a:lnTo>
                  <a:pt x="16" y="22"/>
                </a:lnTo>
                <a:lnTo>
                  <a:pt x="33" y="21"/>
                </a:lnTo>
                <a:lnTo>
                  <a:pt x="49" y="21"/>
                </a:lnTo>
                <a:lnTo>
                  <a:pt x="65" y="20"/>
                </a:lnTo>
                <a:lnTo>
                  <a:pt x="82" y="19"/>
                </a:lnTo>
                <a:lnTo>
                  <a:pt x="98" y="18"/>
                </a:lnTo>
                <a:lnTo>
                  <a:pt x="114" y="17"/>
                </a:lnTo>
                <a:lnTo>
                  <a:pt x="131" y="16"/>
                </a:lnTo>
                <a:lnTo>
                  <a:pt x="147" y="15"/>
                </a:lnTo>
                <a:lnTo>
                  <a:pt x="164" y="14"/>
                </a:lnTo>
                <a:lnTo>
                  <a:pt x="180" y="12"/>
                </a:lnTo>
                <a:lnTo>
                  <a:pt x="196" y="11"/>
                </a:lnTo>
                <a:lnTo>
                  <a:pt x="213" y="10"/>
                </a:lnTo>
                <a:lnTo>
                  <a:pt x="229" y="8"/>
                </a:lnTo>
                <a:lnTo>
                  <a:pt x="246" y="7"/>
                </a:lnTo>
                <a:lnTo>
                  <a:pt x="262" y="6"/>
                </a:lnTo>
                <a:lnTo>
                  <a:pt x="278" y="5"/>
                </a:lnTo>
                <a:lnTo>
                  <a:pt x="295" y="3"/>
                </a:lnTo>
                <a:lnTo>
                  <a:pt x="311" y="2"/>
                </a:lnTo>
                <a:lnTo>
                  <a:pt x="327" y="2"/>
                </a:lnTo>
                <a:lnTo>
                  <a:pt x="344" y="1"/>
                </a:lnTo>
                <a:lnTo>
                  <a:pt x="360" y="0"/>
                </a:lnTo>
                <a:lnTo>
                  <a:pt x="377" y="0"/>
                </a:lnTo>
                <a:lnTo>
                  <a:pt x="393" y="0"/>
                </a:lnTo>
                <a:lnTo>
                  <a:pt x="393" y="4"/>
                </a:lnTo>
                <a:lnTo>
                  <a:pt x="377" y="5"/>
                </a:lnTo>
                <a:lnTo>
                  <a:pt x="360" y="5"/>
                </a:lnTo>
                <a:lnTo>
                  <a:pt x="344" y="5"/>
                </a:lnTo>
                <a:lnTo>
                  <a:pt x="327" y="6"/>
                </a:lnTo>
                <a:lnTo>
                  <a:pt x="311" y="7"/>
                </a:lnTo>
                <a:lnTo>
                  <a:pt x="295" y="8"/>
                </a:lnTo>
                <a:lnTo>
                  <a:pt x="278" y="9"/>
                </a:lnTo>
                <a:lnTo>
                  <a:pt x="262" y="10"/>
                </a:lnTo>
                <a:lnTo>
                  <a:pt x="246" y="11"/>
                </a:lnTo>
                <a:lnTo>
                  <a:pt x="229" y="13"/>
                </a:lnTo>
                <a:lnTo>
                  <a:pt x="213" y="14"/>
                </a:lnTo>
                <a:lnTo>
                  <a:pt x="196" y="15"/>
                </a:lnTo>
                <a:lnTo>
                  <a:pt x="180" y="17"/>
                </a:lnTo>
                <a:lnTo>
                  <a:pt x="164" y="18"/>
                </a:lnTo>
                <a:lnTo>
                  <a:pt x="147" y="19"/>
                </a:lnTo>
                <a:lnTo>
                  <a:pt x="131" y="20"/>
                </a:lnTo>
                <a:lnTo>
                  <a:pt x="114" y="22"/>
                </a:lnTo>
                <a:lnTo>
                  <a:pt x="98" y="23"/>
                </a:lnTo>
                <a:lnTo>
                  <a:pt x="82" y="24"/>
                </a:lnTo>
                <a:lnTo>
                  <a:pt x="65" y="24"/>
                </a:lnTo>
                <a:lnTo>
                  <a:pt x="49" y="25"/>
                </a:lnTo>
                <a:lnTo>
                  <a:pt x="33" y="26"/>
                </a:lnTo>
                <a:lnTo>
                  <a:pt x="16" y="26"/>
                </a:lnTo>
                <a:lnTo>
                  <a:pt x="0" y="26"/>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5686425"/>
            <a:ext cx="3743325" cy="123825"/>
          </a:xfrm>
          <a:custGeom>
            <a:avLst/>
            <a:gdLst/>
            <a:ahLst/>
            <a:cxnLst/>
            <a:rect l="l" t="t" r="r" b="b"/>
            <a:pathLst>
              <a:path w="393" h="13">
                <a:moveTo>
                  <a:pt x="0" y="0"/>
                </a:moveTo>
                <a:lnTo>
                  <a:pt x="16" y="0"/>
                </a:lnTo>
                <a:lnTo>
                  <a:pt x="33" y="0"/>
                </a:lnTo>
                <a:lnTo>
                  <a:pt x="49" y="0"/>
                </a:lnTo>
                <a:lnTo>
                  <a:pt x="65" y="1"/>
                </a:lnTo>
                <a:lnTo>
                  <a:pt x="82" y="1"/>
                </a:lnTo>
                <a:lnTo>
                  <a:pt x="98" y="1"/>
                </a:lnTo>
                <a:lnTo>
                  <a:pt x="114" y="2"/>
                </a:lnTo>
                <a:lnTo>
                  <a:pt x="131" y="2"/>
                </a:lnTo>
                <a:lnTo>
                  <a:pt x="147" y="3"/>
                </a:lnTo>
                <a:lnTo>
                  <a:pt x="164" y="3"/>
                </a:lnTo>
                <a:lnTo>
                  <a:pt x="180" y="4"/>
                </a:lnTo>
                <a:lnTo>
                  <a:pt x="196" y="5"/>
                </a:lnTo>
                <a:lnTo>
                  <a:pt x="213" y="5"/>
                </a:lnTo>
                <a:lnTo>
                  <a:pt x="229" y="6"/>
                </a:lnTo>
                <a:lnTo>
                  <a:pt x="246" y="6"/>
                </a:lnTo>
                <a:lnTo>
                  <a:pt x="262" y="7"/>
                </a:lnTo>
                <a:lnTo>
                  <a:pt x="278" y="7"/>
                </a:lnTo>
                <a:lnTo>
                  <a:pt x="295" y="8"/>
                </a:lnTo>
                <a:lnTo>
                  <a:pt x="311" y="8"/>
                </a:lnTo>
                <a:lnTo>
                  <a:pt x="327" y="8"/>
                </a:lnTo>
                <a:lnTo>
                  <a:pt x="344" y="9"/>
                </a:lnTo>
                <a:lnTo>
                  <a:pt x="360" y="9"/>
                </a:lnTo>
                <a:lnTo>
                  <a:pt x="377" y="9"/>
                </a:lnTo>
                <a:lnTo>
                  <a:pt x="393" y="9"/>
                </a:lnTo>
                <a:lnTo>
                  <a:pt x="393" y="13"/>
                </a:lnTo>
                <a:lnTo>
                  <a:pt x="377" y="13"/>
                </a:lnTo>
                <a:lnTo>
                  <a:pt x="360" y="13"/>
                </a:lnTo>
                <a:lnTo>
                  <a:pt x="344" y="13"/>
                </a:lnTo>
                <a:lnTo>
                  <a:pt x="327" y="13"/>
                </a:lnTo>
                <a:lnTo>
                  <a:pt x="311" y="12"/>
                </a:lnTo>
                <a:lnTo>
                  <a:pt x="295" y="12"/>
                </a:lnTo>
                <a:lnTo>
                  <a:pt x="278" y="11"/>
                </a:lnTo>
                <a:lnTo>
                  <a:pt x="262" y="11"/>
                </a:lnTo>
                <a:lnTo>
                  <a:pt x="246" y="10"/>
                </a:lnTo>
                <a:lnTo>
                  <a:pt x="229" y="10"/>
                </a:lnTo>
                <a:lnTo>
                  <a:pt x="213" y="9"/>
                </a:lnTo>
                <a:lnTo>
                  <a:pt x="196" y="9"/>
                </a:lnTo>
                <a:lnTo>
                  <a:pt x="180" y="8"/>
                </a:lnTo>
                <a:lnTo>
                  <a:pt x="164" y="8"/>
                </a:lnTo>
                <a:lnTo>
                  <a:pt x="147" y="7"/>
                </a:lnTo>
                <a:lnTo>
                  <a:pt x="131" y="7"/>
                </a:lnTo>
                <a:lnTo>
                  <a:pt x="114" y="6"/>
                </a:lnTo>
                <a:lnTo>
                  <a:pt x="98" y="6"/>
                </a:lnTo>
                <a:lnTo>
                  <a:pt x="82" y="5"/>
                </a:lnTo>
                <a:lnTo>
                  <a:pt x="65" y="5"/>
                </a:lnTo>
                <a:lnTo>
                  <a:pt x="49" y="5"/>
                </a:lnTo>
                <a:lnTo>
                  <a:pt x="33" y="5"/>
                </a:lnTo>
                <a:lnTo>
                  <a:pt x="16" y="4"/>
                </a:lnTo>
                <a:lnTo>
                  <a:pt x="0" y="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5724525"/>
            <a:ext cx="3743325" cy="409575"/>
          </a:xfrm>
          <a:custGeom>
            <a:avLst/>
            <a:gdLst/>
            <a:ahLst/>
            <a:cxnLst/>
            <a:rect l="l" t="t" r="r" b="b"/>
            <a:pathLst>
              <a:path w="393" h="43">
                <a:moveTo>
                  <a:pt x="0" y="0"/>
                </a:moveTo>
                <a:lnTo>
                  <a:pt x="16" y="1"/>
                </a:lnTo>
                <a:lnTo>
                  <a:pt x="33" y="1"/>
                </a:lnTo>
                <a:lnTo>
                  <a:pt x="49" y="2"/>
                </a:lnTo>
                <a:lnTo>
                  <a:pt x="65" y="3"/>
                </a:lnTo>
                <a:lnTo>
                  <a:pt x="82" y="5"/>
                </a:lnTo>
                <a:lnTo>
                  <a:pt x="98" y="6"/>
                </a:lnTo>
                <a:lnTo>
                  <a:pt x="114" y="8"/>
                </a:lnTo>
                <a:lnTo>
                  <a:pt x="131" y="10"/>
                </a:lnTo>
                <a:lnTo>
                  <a:pt x="147" y="12"/>
                </a:lnTo>
                <a:lnTo>
                  <a:pt x="164" y="14"/>
                </a:lnTo>
                <a:lnTo>
                  <a:pt x="180" y="17"/>
                </a:lnTo>
                <a:lnTo>
                  <a:pt x="196" y="19"/>
                </a:lnTo>
                <a:lnTo>
                  <a:pt x="213" y="21"/>
                </a:lnTo>
                <a:lnTo>
                  <a:pt x="229" y="23"/>
                </a:lnTo>
                <a:lnTo>
                  <a:pt x="246" y="26"/>
                </a:lnTo>
                <a:lnTo>
                  <a:pt x="262" y="28"/>
                </a:lnTo>
                <a:lnTo>
                  <a:pt x="278" y="30"/>
                </a:lnTo>
                <a:lnTo>
                  <a:pt x="295" y="31"/>
                </a:lnTo>
                <a:lnTo>
                  <a:pt x="311" y="33"/>
                </a:lnTo>
                <a:lnTo>
                  <a:pt x="327" y="34"/>
                </a:lnTo>
                <a:lnTo>
                  <a:pt x="344" y="36"/>
                </a:lnTo>
                <a:lnTo>
                  <a:pt x="360" y="36"/>
                </a:lnTo>
                <a:lnTo>
                  <a:pt x="377" y="37"/>
                </a:lnTo>
                <a:lnTo>
                  <a:pt x="393" y="37"/>
                </a:lnTo>
                <a:lnTo>
                  <a:pt x="393" y="43"/>
                </a:lnTo>
                <a:lnTo>
                  <a:pt x="377" y="42"/>
                </a:lnTo>
                <a:lnTo>
                  <a:pt x="360" y="42"/>
                </a:lnTo>
                <a:lnTo>
                  <a:pt x="344" y="41"/>
                </a:lnTo>
                <a:lnTo>
                  <a:pt x="327" y="40"/>
                </a:lnTo>
                <a:lnTo>
                  <a:pt x="311" y="38"/>
                </a:lnTo>
                <a:lnTo>
                  <a:pt x="295" y="37"/>
                </a:lnTo>
                <a:lnTo>
                  <a:pt x="278" y="35"/>
                </a:lnTo>
                <a:lnTo>
                  <a:pt x="262" y="33"/>
                </a:lnTo>
                <a:lnTo>
                  <a:pt x="246" y="31"/>
                </a:lnTo>
                <a:lnTo>
                  <a:pt x="229" y="29"/>
                </a:lnTo>
                <a:lnTo>
                  <a:pt x="213" y="26"/>
                </a:lnTo>
                <a:lnTo>
                  <a:pt x="196" y="24"/>
                </a:lnTo>
                <a:lnTo>
                  <a:pt x="180" y="22"/>
                </a:lnTo>
                <a:lnTo>
                  <a:pt x="164" y="20"/>
                </a:lnTo>
                <a:lnTo>
                  <a:pt x="147" y="17"/>
                </a:lnTo>
                <a:lnTo>
                  <a:pt x="131" y="15"/>
                </a:lnTo>
                <a:lnTo>
                  <a:pt x="114" y="13"/>
                </a:lnTo>
                <a:lnTo>
                  <a:pt x="98" y="12"/>
                </a:lnTo>
                <a:lnTo>
                  <a:pt x="82" y="10"/>
                </a:lnTo>
                <a:lnTo>
                  <a:pt x="65" y="9"/>
                </a:lnTo>
                <a:lnTo>
                  <a:pt x="49" y="7"/>
                </a:lnTo>
                <a:lnTo>
                  <a:pt x="33" y="7"/>
                </a:lnTo>
                <a:lnTo>
                  <a:pt x="16" y="6"/>
                </a:lnTo>
                <a:lnTo>
                  <a:pt x="0" y="6"/>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5781675"/>
            <a:ext cx="3743325" cy="571500"/>
          </a:xfrm>
          <a:custGeom>
            <a:avLst/>
            <a:gdLst/>
            <a:ahLst/>
            <a:cxnLst/>
            <a:rect l="l" t="t" r="r" b="b"/>
            <a:pathLst>
              <a:path w="393" h="60">
                <a:moveTo>
                  <a:pt x="0" y="0"/>
                </a:moveTo>
                <a:lnTo>
                  <a:pt x="16" y="0"/>
                </a:lnTo>
                <a:lnTo>
                  <a:pt x="33" y="1"/>
                </a:lnTo>
                <a:lnTo>
                  <a:pt x="49" y="2"/>
                </a:lnTo>
                <a:lnTo>
                  <a:pt x="65" y="4"/>
                </a:lnTo>
                <a:lnTo>
                  <a:pt x="82" y="6"/>
                </a:lnTo>
                <a:lnTo>
                  <a:pt x="98" y="9"/>
                </a:lnTo>
                <a:lnTo>
                  <a:pt x="114" y="12"/>
                </a:lnTo>
                <a:lnTo>
                  <a:pt x="131" y="15"/>
                </a:lnTo>
                <a:lnTo>
                  <a:pt x="147" y="18"/>
                </a:lnTo>
                <a:lnTo>
                  <a:pt x="164" y="22"/>
                </a:lnTo>
                <a:lnTo>
                  <a:pt x="180" y="25"/>
                </a:lnTo>
                <a:lnTo>
                  <a:pt x="196" y="29"/>
                </a:lnTo>
                <a:lnTo>
                  <a:pt x="213" y="32"/>
                </a:lnTo>
                <a:lnTo>
                  <a:pt x="229" y="36"/>
                </a:lnTo>
                <a:lnTo>
                  <a:pt x="246" y="39"/>
                </a:lnTo>
                <a:lnTo>
                  <a:pt x="262" y="43"/>
                </a:lnTo>
                <a:lnTo>
                  <a:pt x="278" y="46"/>
                </a:lnTo>
                <a:lnTo>
                  <a:pt x="295" y="49"/>
                </a:lnTo>
                <a:lnTo>
                  <a:pt x="311" y="51"/>
                </a:lnTo>
                <a:lnTo>
                  <a:pt x="327" y="54"/>
                </a:lnTo>
                <a:lnTo>
                  <a:pt x="344" y="55"/>
                </a:lnTo>
                <a:lnTo>
                  <a:pt x="360" y="57"/>
                </a:lnTo>
                <a:lnTo>
                  <a:pt x="377" y="58"/>
                </a:lnTo>
                <a:lnTo>
                  <a:pt x="393" y="58"/>
                </a:lnTo>
                <a:lnTo>
                  <a:pt x="393" y="60"/>
                </a:lnTo>
                <a:lnTo>
                  <a:pt x="377" y="60"/>
                </a:lnTo>
                <a:lnTo>
                  <a:pt x="360" y="59"/>
                </a:lnTo>
                <a:lnTo>
                  <a:pt x="344" y="58"/>
                </a:lnTo>
                <a:lnTo>
                  <a:pt x="327" y="56"/>
                </a:lnTo>
                <a:lnTo>
                  <a:pt x="311" y="54"/>
                </a:lnTo>
                <a:lnTo>
                  <a:pt x="295" y="51"/>
                </a:lnTo>
                <a:lnTo>
                  <a:pt x="278" y="48"/>
                </a:lnTo>
                <a:lnTo>
                  <a:pt x="262" y="45"/>
                </a:lnTo>
                <a:lnTo>
                  <a:pt x="246" y="42"/>
                </a:lnTo>
                <a:lnTo>
                  <a:pt x="229" y="39"/>
                </a:lnTo>
                <a:lnTo>
                  <a:pt x="213" y="35"/>
                </a:lnTo>
                <a:lnTo>
                  <a:pt x="196" y="31"/>
                </a:lnTo>
                <a:lnTo>
                  <a:pt x="180" y="28"/>
                </a:lnTo>
                <a:lnTo>
                  <a:pt x="164" y="24"/>
                </a:lnTo>
                <a:lnTo>
                  <a:pt x="147" y="21"/>
                </a:lnTo>
                <a:lnTo>
                  <a:pt x="131" y="17"/>
                </a:lnTo>
                <a:lnTo>
                  <a:pt x="114" y="14"/>
                </a:lnTo>
                <a:lnTo>
                  <a:pt x="98" y="11"/>
                </a:lnTo>
                <a:lnTo>
                  <a:pt x="82" y="9"/>
                </a:lnTo>
                <a:lnTo>
                  <a:pt x="65" y="7"/>
                </a:lnTo>
                <a:lnTo>
                  <a:pt x="49" y="5"/>
                </a:lnTo>
                <a:lnTo>
                  <a:pt x="33" y="3"/>
                </a:lnTo>
                <a:lnTo>
                  <a:pt x="16" y="3"/>
                </a:lnTo>
                <a:lnTo>
                  <a:pt x="0" y="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5800725"/>
            <a:ext cx="3743325" cy="714375"/>
          </a:xfrm>
          <a:custGeom>
            <a:avLst/>
            <a:gdLst/>
            <a:ahLst/>
            <a:cxnLst/>
            <a:rect l="l" t="t" r="r" b="b"/>
            <a:pathLst>
              <a:path w="393" h="75">
                <a:moveTo>
                  <a:pt x="0" y="0"/>
                </a:moveTo>
                <a:lnTo>
                  <a:pt x="16" y="1"/>
                </a:lnTo>
                <a:lnTo>
                  <a:pt x="33" y="2"/>
                </a:lnTo>
                <a:lnTo>
                  <a:pt x="49" y="3"/>
                </a:lnTo>
                <a:lnTo>
                  <a:pt x="65" y="6"/>
                </a:lnTo>
                <a:lnTo>
                  <a:pt x="82" y="8"/>
                </a:lnTo>
                <a:lnTo>
                  <a:pt x="98" y="12"/>
                </a:lnTo>
                <a:lnTo>
                  <a:pt x="114" y="15"/>
                </a:lnTo>
                <a:lnTo>
                  <a:pt x="131" y="19"/>
                </a:lnTo>
                <a:lnTo>
                  <a:pt x="147" y="23"/>
                </a:lnTo>
                <a:lnTo>
                  <a:pt x="164" y="28"/>
                </a:lnTo>
                <a:lnTo>
                  <a:pt x="180" y="32"/>
                </a:lnTo>
                <a:lnTo>
                  <a:pt x="196" y="37"/>
                </a:lnTo>
                <a:lnTo>
                  <a:pt x="213" y="41"/>
                </a:lnTo>
                <a:lnTo>
                  <a:pt x="229" y="46"/>
                </a:lnTo>
                <a:lnTo>
                  <a:pt x="246" y="50"/>
                </a:lnTo>
                <a:lnTo>
                  <a:pt x="262" y="54"/>
                </a:lnTo>
                <a:lnTo>
                  <a:pt x="278" y="58"/>
                </a:lnTo>
                <a:lnTo>
                  <a:pt x="295" y="62"/>
                </a:lnTo>
                <a:lnTo>
                  <a:pt x="311" y="65"/>
                </a:lnTo>
                <a:lnTo>
                  <a:pt x="327" y="68"/>
                </a:lnTo>
                <a:lnTo>
                  <a:pt x="344" y="70"/>
                </a:lnTo>
                <a:lnTo>
                  <a:pt x="360" y="72"/>
                </a:lnTo>
                <a:lnTo>
                  <a:pt x="377" y="73"/>
                </a:lnTo>
                <a:lnTo>
                  <a:pt x="393" y="73"/>
                </a:lnTo>
                <a:lnTo>
                  <a:pt x="393" y="75"/>
                </a:lnTo>
                <a:lnTo>
                  <a:pt x="377" y="74"/>
                </a:lnTo>
                <a:lnTo>
                  <a:pt x="360" y="73"/>
                </a:lnTo>
                <a:lnTo>
                  <a:pt x="344" y="71"/>
                </a:lnTo>
                <a:lnTo>
                  <a:pt x="327" y="69"/>
                </a:lnTo>
                <a:lnTo>
                  <a:pt x="311" y="66"/>
                </a:lnTo>
                <a:lnTo>
                  <a:pt x="295" y="63"/>
                </a:lnTo>
                <a:lnTo>
                  <a:pt x="278" y="60"/>
                </a:lnTo>
                <a:lnTo>
                  <a:pt x="262" y="56"/>
                </a:lnTo>
                <a:lnTo>
                  <a:pt x="246" y="52"/>
                </a:lnTo>
                <a:lnTo>
                  <a:pt x="229" y="47"/>
                </a:lnTo>
                <a:lnTo>
                  <a:pt x="213" y="43"/>
                </a:lnTo>
                <a:lnTo>
                  <a:pt x="196" y="38"/>
                </a:lnTo>
                <a:lnTo>
                  <a:pt x="180" y="34"/>
                </a:lnTo>
                <a:lnTo>
                  <a:pt x="164" y="29"/>
                </a:lnTo>
                <a:lnTo>
                  <a:pt x="147" y="25"/>
                </a:lnTo>
                <a:lnTo>
                  <a:pt x="131" y="21"/>
                </a:lnTo>
                <a:lnTo>
                  <a:pt x="114" y="17"/>
                </a:lnTo>
                <a:lnTo>
                  <a:pt x="98" y="13"/>
                </a:lnTo>
                <a:lnTo>
                  <a:pt x="82" y="10"/>
                </a:lnTo>
                <a:lnTo>
                  <a:pt x="65" y="7"/>
                </a:lnTo>
                <a:lnTo>
                  <a:pt x="49" y="5"/>
                </a:lnTo>
                <a:lnTo>
                  <a:pt x="33" y="3"/>
                </a:lnTo>
                <a:lnTo>
                  <a:pt x="16" y="2"/>
                </a:lnTo>
                <a:lnTo>
                  <a:pt x="0" y="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4410075"/>
            <a:ext cx="3743325" cy="1524000"/>
          </a:xfrm>
          <a:custGeom>
            <a:avLst/>
            <a:gdLst/>
            <a:ahLst/>
            <a:cxnLst/>
            <a:rect l="l" t="t" r="r" b="b"/>
            <a:pathLst>
              <a:path w="393" h="160">
                <a:moveTo>
                  <a:pt x="0" y="154"/>
                </a:moveTo>
                <a:lnTo>
                  <a:pt x="16" y="153"/>
                </a:lnTo>
                <a:lnTo>
                  <a:pt x="33" y="151"/>
                </a:lnTo>
                <a:lnTo>
                  <a:pt x="49" y="147"/>
                </a:lnTo>
                <a:lnTo>
                  <a:pt x="65" y="142"/>
                </a:lnTo>
                <a:lnTo>
                  <a:pt x="82" y="136"/>
                </a:lnTo>
                <a:lnTo>
                  <a:pt x="98" y="130"/>
                </a:lnTo>
                <a:lnTo>
                  <a:pt x="114" y="122"/>
                </a:lnTo>
                <a:lnTo>
                  <a:pt x="131" y="114"/>
                </a:lnTo>
                <a:lnTo>
                  <a:pt x="147" y="105"/>
                </a:lnTo>
                <a:lnTo>
                  <a:pt x="164" y="96"/>
                </a:lnTo>
                <a:lnTo>
                  <a:pt x="180" y="86"/>
                </a:lnTo>
                <a:lnTo>
                  <a:pt x="196" y="77"/>
                </a:lnTo>
                <a:lnTo>
                  <a:pt x="213" y="67"/>
                </a:lnTo>
                <a:lnTo>
                  <a:pt x="229" y="58"/>
                </a:lnTo>
                <a:lnTo>
                  <a:pt x="246" y="48"/>
                </a:lnTo>
                <a:lnTo>
                  <a:pt x="262" y="40"/>
                </a:lnTo>
                <a:lnTo>
                  <a:pt x="278" y="31"/>
                </a:lnTo>
                <a:lnTo>
                  <a:pt x="295" y="24"/>
                </a:lnTo>
                <a:lnTo>
                  <a:pt x="311" y="17"/>
                </a:lnTo>
                <a:lnTo>
                  <a:pt x="327" y="11"/>
                </a:lnTo>
                <a:lnTo>
                  <a:pt x="344" y="6"/>
                </a:lnTo>
                <a:lnTo>
                  <a:pt x="360" y="3"/>
                </a:lnTo>
                <a:lnTo>
                  <a:pt x="377" y="0"/>
                </a:lnTo>
                <a:lnTo>
                  <a:pt x="393" y="0"/>
                </a:lnTo>
                <a:lnTo>
                  <a:pt x="393" y="6"/>
                </a:lnTo>
                <a:lnTo>
                  <a:pt x="377" y="7"/>
                </a:lnTo>
                <a:lnTo>
                  <a:pt x="360" y="9"/>
                </a:lnTo>
                <a:lnTo>
                  <a:pt x="344" y="13"/>
                </a:lnTo>
                <a:lnTo>
                  <a:pt x="327" y="18"/>
                </a:lnTo>
                <a:lnTo>
                  <a:pt x="311" y="24"/>
                </a:lnTo>
                <a:lnTo>
                  <a:pt x="295" y="30"/>
                </a:lnTo>
                <a:lnTo>
                  <a:pt x="278" y="38"/>
                </a:lnTo>
                <a:lnTo>
                  <a:pt x="262" y="46"/>
                </a:lnTo>
                <a:lnTo>
                  <a:pt x="246" y="55"/>
                </a:lnTo>
                <a:lnTo>
                  <a:pt x="229" y="64"/>
                </a:lnTo>
                <a:lnTo>
                  <a:pt x="213" y="74"/>
                </a:lnTo>
                <a:lnTo>
                  <a:pt x="196" y="83"/>
                </a:lnTo>
                <a:lnTo>
                  <a:pt x="180" y="93"/>
                </a:lnTo>
                <a:lnTo>
                  <a:pt x="164" y="102"/>
                </a:lnTo>
                <a:lnTo>
                  <a:pt x="147" y="112"/>
                </a:lnTo>
                <a:lnTo>
                  <a:pt x="131" y="121"/>
                </a:lnTo>
                <a:lnTo>
                  <a:pt x="114" y="129"/>
                </a:lnTo>
                <a:lnTo>
                  <a:pt x="98" y="136"/>
                </a:lnTo>
                <a:lnTo>
                  <a:pt x="82" y="143"/>
                </a:lnTo>
                <a:lnTo>
                  <a:pt x="65" y="149"/>
                </a:lnTo>
                <a:lnTo>
                  <a:pt x="49" y="154"/>
                </a:lnTo>
                <a:lnTo>
                  <a:pt x="33" y="157"/>
                </a:lnTo>
                <a:lnTo>
                  <a:pt x="16" y="160"/>
                </a:lnTo>
                <a:lnTo>
                  <a:pt x="0" y="16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4810125"/>
            <a:ext cx="3743325" cy="1171575"/>
          </a:xfrm>
          <a:custGeom>
            <a:avLst/>
            <a:gdLst/>
            <a:ahLst/>
            <a:cxnLst/>
            <a:rect l="l" t="t" r="r" b="b"/>
            <a:pathLst>
              <a:path w="393" h="123">
                <a:moveTo>
                  <a:pt x="0" y="118"/>
                </a:moveTo>
                <a:lnTo>
                  <a:pt x="16" y="118"/>
                </a:lnTo>
                <a:lnTo>
                  <a:pt x="33" y="116"/>
                </a:lnTo>
                <a:lnTo>
                  <a:pt x="49" y="113"/>
                </a:lnTo>
                <a:lnTo>
                  <a:pt x="65" y="110"/>
                </a:lnTo>
                <a:lnTo>
                  <a:pt x="82" y="105"/>
                </a:lnTo>
                <a:lnTo>
                  <a:pt x="98" y="100"/>
                </a:lnTo>
                <a:lnTo>
                  <a:pt x="114" y="94"/>
                </a:lnTo>
                <a:lnTo>
                  <a:pt x="131" y="88"/>
                </a:lnTo>
                <a:lnTo>
                  <a:pt x="147" y="81"/>
                </a:lnTo>
                <a:lnTo>
                  <a:pt x="164" y="74"/>
                </a:lnTo>
                <a:lnTo>
                  <a:pt x="180" y="66"/>
                </a:lnTo>
                <a:lnTo>
                  <a:pt x="196" y="59"/>
                </a:lnTo>
                <a:lnTo>
                  <a:pt x="213" y="52"/>
                </a:lnTo>
                <a:lnTo>
                  <a:pt x="229" y="44"/>
                </a:lnTo>
                <a:lnTo>
                  <a:pt x="246" y="37"/>
                </a:lnTo>
                <a:lnTo>
                  <a:pt x="262" y="30"/>
                </a:lnTo>
                <a:lnTo>
                  <a:pt x="278" y="24"/>
                </a:lnTo>
                <a:lnTo>
                  <a:pt x="295" y="18"/>
                </a:lnTo>
                <a:lnTo>
                  <a:pt x="311" y="13"/>
                </a:lnTo>
                <a:lnTo>
                  <a:pt x="327" y="8"/>
                </a:lnTo>
                <a:lnTo>
                  <a:pt x="344" y="5"/>
                </a:lnTo>
                <a:lnTo>
                  <a:pt x="360" y="2"/>
                </a:lnTo>
                <a:lnTo>
                  <a:pt x="377" y="0"/>
                </a:lnTo>
                <a:lnTo>
                  <a:pt x="393" y="0"/>
                </a:lnTo>
                <a:lnTo>
                  <a:pt x="393" y="4"/>
                </a:lnTo>
                <a:lnTo>
                  <a:pt x="377" y="4"/>
                </a:lnTo>
                <a:lnTo>
                  <a:pt x="360" y="6"/>
                </a:lnTo>
                <a:lnTo>
                  <a:pt x="344" y="9"/>
                </a:lnTo>
                <a:lnTo>
                  <a:pt x="327" y="13"/>
                </a:lnTo>
                <a:lnTo>
                  <a:pt x="311" y="17"/>
                </a:lnTo>
                <a:lnTo>
                  <a:pt x="295" y="22"/>
                </a:lnTo>
                <a:lnTo>
                  <a:pt x="278" y="28"/>
                </a:lnTo>
                <a:lnTo>
                  <a:pt x="262" y="35"/>
                </a:lnTo>
                <a:lnTo>
                  <a:pt x="246" y="41"/>
                </a:lnTo>
                <a:lnTo>
                  <a:pt x="229" y="48"/>
                </a:lnTo>
                <a:lnTo>
                  <a:pt x="213" y="56"/>
                </a:lnTo>
                <a:lnTo>
                  <a:pt x="196" y="63"/>
                </a:lnTo>
                <a:lnTo>
                  <a:pt x="180" y="71"/>
                </a:lnTo>
                <a:lnTo>
                  <a:pt x="164" y="78"/>
                </a:lnTo>
                <a:lnTo>
                  <a:pt x="147" y="85"/>
                </a:lnTo>
                <a:lnTo>
                  <a:pt x="131" y="92"/>
                </a:lnTo>
                <a:lnTo>
                  <a:pt x="114" y="98"/>
                </a:lnTo>
                <a:lnTo>
                  <a:pt x="98" y="104"/>
                </a:lnTo>
                <a:lnTo>
                  <a:pt x="82" y="109"/>
                </a:lnTo>
                <a:lnTo>
                  <a:pt x="65" y="114"/>
                </a:lnTo>
                <a:lnTo>
                  <a:pt x="49" y="117"/>
                </a:lnTo>
                <a:lnTo>
                  <a:pt x="33" y="120"/>
                </a:lnTo>
                <a:lnTo>
                  <a:pt x="16" y="122"/>
                </a:lnTo>
                <a:lnTo>
                  <a:pt x="0" y="123"/>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057400" y="5153025"/>
            <a:ext cx="3743325" cy="857250"/>
          </a:xfrm>
          <a:custGeom>
            <a:avLst/>
            <a:gdLst/>
            <a:ahLst/>
            <a:cxnLst/>
            <a:rect l="l" t="t" r="r" b="b"/>
            <a:pathLst>
              <a:path w="393" h="90">
                <a:moveTo>
                  <a:pt x="0" y="87"/>
                </a:moveTo>
                <a:lnTo>
                  <a:pt x="16" y="86"/>
                </a:lnTo>
                <a:lnTo>
                  <a:pt x="33" y="85"/>
                </a:lnTo>
                <a:lnTo>
                  <a:pt x="49" y="83"/>
                </a:lnTo>
                <a:lnTo>
                  <a:pt x="65" y="80"/>
                </a:lnTo>
                <a:lnTo>
                  <a:pt x="82" y="77"/>
                </a:lnTo>
                <a:lnTo>
                  <a:pt x="98" y="73"/>
                </a:lnTo>
                <a:lnTo>
                  <a:pt x="114" y="69"/>
                </a:lnTo>
                <a:lnTo>
                  <a:pt x="131" y="64"/>
                </a:lnTo>
                <a:lnTo>
                  <a:pt x="147" y="59"/>
                </a:lnTo>
                <a:lnTo>
                  <a:pt x="164" y="54"/>
                </a:lnTo>
                <a:lnTo>
                  <a:pt x="180" y="49"/>
                </a:lnTo>
                <a:lnTo>
                  <a:pt x="196" y="43"/>
                </a:lnTo>
                <a:lnTo>
                  <a:pt x="213" y="38"/>
                </a:lnTo>
                <a:lnTo>
                  <a:pt x="229" y="33"/>
                </a:lnTo>
                <a:lnTo>
                  <a:pt x="246" y="27"/>
                </a:lnTo>
                <a:lnTo>
                  <a:pt x="262" y="23"/>
                </a:lnTo>
                <a:lnTo>
                  <a:pt x="278" y="18"/>
                </a:lnTo>
                <a:lnTo>
                  <a:pt x="295" y="14"/>
                </a:lnTo>
                <a:lnTo>
                  <a:pt x="311" y="10"/>
                </a:lnTo>
                <a:lnTo>
                  <a:pt x="327" y="7"/>
                </a:lnTo>
                <a:lnTo>
                  <a:pt x="344" y="4"/>
                </a:lnTo>
                <a:lnTo>
                  <a:pt x="360" y="2"/>
                </a:lnTo>
                <a:lnTo>
                  <a:pt x="377" y="1"/>
                </a:lnTo>
                <a:lnTo>
                  <a:pt x="393" y="0"/>
                </a:lnTo>
                <a:lnTo>
                  <a:pt x="393" y="4"/>
                </a:lnTo>
                <a:lnTo>
                  <a:pt x="377" y="4"/>
                </a:lnTo>
                <a:lnTo>
                  <a:pt x="360" y="5"/>
                </a:lnTo>
                <a:lnTo>
                  <a:pt x="344" y="8"/>
                </a:lnTo>
                <a:lnTo>
                  <a:pt x="327" y="10"/>
                </a:lnTo>
                <a:lnTo>
                  <a:pt x="311" y="13"/>
                </a:lnTo>
                <a:lnTo>
                  <a:pt x="295" y="17"/>
                </a:lnTo>
                <a:lnTo>
                  <a:pt x="278" y="22"/>
                </a:lnTo>
                <a:lnTo>
                  <a:pt x="262" y="26"/>
                </a:lnTo>
                <a:lnTo>
                  <a:pt x="246" y="31"/>
                </a:lnTo>
                <a:lnTo>
                  <a:pt x="229" y="36"/>
                </a:lnTo>
                <a:lnTo>
                  <a:pt x="213" y="42"/>
                </a:lnTo>
                <a:lnTo>
                  <a:pt x="196" y="47"/>
                </a:lnTo>
                <a:lnTo>
                  <a:pt x="180" y="52"/>
                </a:lnTo>
                <a:lnTo>
                  <a:pt x="164" y="58"/>
                </a:lnTo>
                <a:lnTo>
                  <a:pt x="147" y="63"/>
                </a:lnTo>
                <a:lnTo>
                  <a:pt x="131" y="68"/>
                </a:lnTo>
                <a:lnTo>
                  <a:pt x="114" y="72"/>
                </a:lnTo>
                <a:lnTo>
                  <a:pt x="98" y="77"/>
                </a:lnTo>
                <a:lnTo>
                  <a:pt x="82" y="81"/>
                </a:lnTo>
                <a:lnTo>
                  <a:pt x="65" y="84"/>
                </a:lnTo>
                <a:lnTo>
                  <a:pt x="49" y="87"/>
                </a:lnTo>
                <a:lnTo>
                  <a:pt x="33" y="89"/>
                </a:lnTo>
                <a:lnTo>
                  <a:pt x="16" y="90"/>
                </a:lnTo>
                <a:lnTo>
                  <a:pt x="0" y="9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Freeform 42"/>
          <p:cNvSpPr/>
          <p:nvPr/>
        </p:nvSpPr>
        <p:spPr>
          <a:xfrm>
            <a:off x="2057400" y="5476875"/>
            <a:ext cx="3743325" cy="571500"/>
          </a:xfrm>
          <a:custGeom>
            <a:avLst/>
            <a:gdLst/>
            <a:ahLst/>
            <a:cxnLst/>
            <a:rect l="l" t="t" r="r" b="b"/>
            <a:pathLst>
              <a:path w="393" h="60">
                <a:moveTo>
                  <a:pt x="0" y="56"/>
                </a:moveTo>
                <a:lnTo>
                  <a:pt x="16" y="56"/>
                </a:lnTo>
                <a:lnTo>
                  <a:pt x="33" y="55"/>
                </a:lnTo>
                <a:lnTo>
                  <a:pt x="49" y="54"/>
                </a:lnTo>
                <a:lnTo>
                  <a:pt x="65" y="52"/>
                </a:lnTo>
                <a:lnTo>
                  <a:pt x="82" y="50"/>
                </a:lnTo>
                <a:lnTo>
                  <a:pt x="98" y="48"/>
                </a:lnTo>
                <a:lnTo>
                  <a:pt x="114" y="45"/>
                </a:lnTo>
                <a:lnTo>
                  <a:pt x="131" y="42"/>
                </a:lnTo>
                <a:lnTo>
                  <a:pt x="147" y="39"/>
                </a:lnTo>
                <a:lnTo>
                  <a:pt x="164" y="35"/>
                </a:lnTo>
                <a:lnTo>
                  <a:pt x="180" y="32"/>
                </a:lnTo>
                <a:lnTo>
                  <a:pt x="196" y="28"/>
                </a:lnTo>
                <a:lnTo>
                  <a:pt x="213" y="25"/>
                </a:lnTo>
                <a:lnTo>
                  <a:pt x="229" y="21"/>
                </a:lnTo>
                <a:lnTo>
                  <a:pt x="246" y="18"/>
                </a:lnTo>
                <a:lnTo>
                  <a:pt x="262" y="15"/>
                </a:lnTo>
                <a:lnTo>
                  <a:pt x="278" y="12"/>
                </a:lnTo>
                <a:lnTo>
                  <a:pt x="295" y="9"/>
                </a:lnTo>
                <a:lnTo>
                  <a:pt x="311" y="7"/>
                </a:lnTo>
                <a:lnTo>
                  <a:pt x="327" y="5"/>
                </a:lnTo>
                <a:lnTo>
                  <a:pt x="344" y="3"/>
                </a:lnTo>
                <a:lnTo>
                  <a:pt x="360" y="2"/>
                </a:lnTo>
                <a:lnTo>
                  <a:pt x="377" y="1"/>
                </a:lnTo>
                <a:lnTo>
                  <a:pt x="393" y="0"/>
                </a:lnTo>
                <a:lnTo>
                  <a:pt x="393" y="4"/>
                </a:lnTo>
                <a:lnTo>
                  <a:pt x="377" y="4"/>
                </a:lnTo>
                <a:lnTo>
                  <a:pt x="360" y="5"/>
                </a:lnTo>
                <a:lnTo>
                  <a:pt x="344" y="6"/>
                </a:lnTo>
                <a:lnTo>
                  <a:pt x="327" y="8"/>
                </a:lnTo>
                <a:lnTo>
                  <a:pt x="311" y="10"/>
                </a:lnTo>
                <a:lnTo>
                  <a:pt x="295" y="13"/>
                </a:lnTo>
                <a:lnTo>
                  <a:pt x="278" y="15"/>
                </a:lnTo>
                <a:lnTo>
                  <a:pt x="262" y="18"/>
                </a:lnTo>
                <a:lnTo>
                  <a:pt x="246" y="22"/>
                </a:lnTo>
                <a:lnTo>
                  <a:pt x="229" y="25"/>
                </a:lnTo>
                <a:lnTo>
                  <a:pt x="213" y="28"/>
                </a:lnTo>
                <a:lnTo>
                  <a:pt x="196" y="32"/>
                </a:lnTo>
                <a:lnTo>
                  <a:pt x="180" y="35"/>
                </a:lnTo>
                <a:lnTo>
                  <a:pt x="164" y="39"/>
                </a:lnTo>
                <a:lnTo>
                  <a:pt x="147" y="42"/>
                </a:lnTo>
                <a:lnTo>
                  <a:pt x="131" y="45"/>
                </a:lnTo>
                <a:lnTo>
                  <a:pt x="114" y="48"/>
                </a:lnTo>
                <a:lnTo>
                  <a:pt x="98" y="51"/>
                </a:lnTo>
                <a:lnTo>
                  <a:pt x="82" y="54"/>
                </a:lnTo>
                <a:lnTo>
                  <a:pt x="65" y="56"/>
                </a:lnTo>
                <a:lnTo>
                  <a:pt x="49" y="57"/>
                </a:lnTo>
                <a:lnTo>
                  <a:pt x="33" y="59"/>
                </a:lnTo>
                <a:lnTo>
                  <a:pt x="16" y="60"/>
                </a:lnTo>
                <a:lnTo>
                  <a:pt x="0" y="60"/>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2057400" y="5810250"/>
            <a:ext cx="3743325" cy="276225"/>
          </a:xfrm>
          <a:custGeom>
            <a:avLst/>
            <a:gdLst/>
            <a:ahLst/>
            <a:cxnLst/>
            <a:rect l="l" t="t" r="r" b="b"/>
            <a:pathLst>
              <a:path w="393" h="29">
                <a:moveTo>
                  <a:pt x="0" y="25"/>
                </a:moveTo>
                <a:lnTo>
                  <a:pt x="16" y="25"/>
                </a:lnTo>
                <a:lnTo>
                  <a:pt x="33" y="24"/>
                </a:lnTo>
                <a:lnTo>
                  <a:pt x="49" y="24"/>
                </a:lnTo>
                <a:lnTo>
                  <a:pt x="65" y="23"/>
                </a:lnTo>
                <a:lnTo>
                  <a:pt x="82" y="22"/>
                </a:lnTo>
                <a:lnTo>
                  <a:pt x="98" y="21"/>
                </a:lnTo>
                <a:lnTo>
                  <a:pt x="114" y="20"/>
                </a:lnTo>
                <a:lnTo>
                  <a:pt x="131" y="18"/>
                </a:lnTo>
                <a:lnTo>
                  <a:pt x="147" y="17"/>
                </a:lnTo>
                <a:lnTo>
                  <a:pt x="164" y="16"/>
                </a:lnTo>
                <a:lnTo>
                  <a:pt x="180" y="14"/>
                </a:lnTo>
                <a:lnTo>
                  <a:pt x="196" y="13"/>
                </a:lnTo>
                <a:lnTo>
                  <a:pt x="213" y="11"/>
                </a:lnTo>
                <a:lnTo>
                  <a:pt x="229" y="10"/>
                </a:lnTo>
                <a:lnTo>
                  <a:pt x="246" y="8"/>
                </a:lnTo>
                <a:lnTo>
                  <a:pt x="262" y="7"/>
                </a:lnTo>
                <a:lnTo>
                  <a:pt x="278" y="5"/>
                </a:lnTo>
                <a:lnTo>
                  <a:pt x="295" y="4"/>
                </a:lnTo>
                <a:lnTo>
                  <a:pt x="311" y="3"/>
                </a:lnTo>
                <a:lnTo>
                  <a:pt x="327" y="2"/>
                </a:lnTo>
                <a:lnTo>
                  <a:pt x="344" y="1"/>
                </a:lnTo>
                <a:lnTo>
                  <a:pt x="360" y="1"/>
                </a:lnTo>
                <a:lnTo>
                  <a:pt x="377" y="0"/>
                </a:lnTo>
                <a:lnTo>
                  <a:pt x="393" y="0"/>
                </a:lnTo>
                <a:lnTo>
                  <a:pt x="393" y="4"/>
                </a:lnTo>
                <a:lnTo>
                  <a:pt x="377" y="4"/>
                </a:lnTo>
                <a:lnTo>
                  <a:pt x="360" y="5"/>
                </a:lnTo>
                <a:lnTo>
                  <a:pt x="344" y="5"/>
                </a:lnTo>
                <a:lnTo>
                  <a:pt x="327" y="6"/>
                </a:lnTo>
                <a:lnTo>
                  <a:pt x="311" y="7"/>
                </a:lnTo>
                <a:lnTo>
                  <a:pt x="295" y="8"/>
                </a:lnTo>
                <a:lnTo>
                  <a:pt x="278" y="9"/>
                </a:lnTo>
                <a:lnTo>
                  <a:pt x="262" y="10"/>
                </a:lnTo>
                <a:lnTo>
                  <a:pt x="246" y="12"/>
                </a:lnTo>
                <a:lnTo>
                  <a:pt x="229" y="13"/>
                </a:lnTo>
                <a:lnTo>
                  <a:pt x="213" y="15"/>
                </a:lnTo>
                <a:lnTo>
                  <a:pt x="196" y="16"/>
                </a:lnTo>
                <a:lnTo>
                  <a:pt x="180" y="18"/>
                </a:lnTo>
                <a:lnTo>
                  <a:pt x="164" y="19"/>
                </a:lnTo>
                <a:lnTo>
                  <a:pt x="147" y="21"/>
                </a:lnTo>
                <a:lnTo>
                  <a:pt x="131" y="22"/>
                </a:lnTo>
                <a:lnTo>
                  <a:pt x="114" y="24"/>
                </a:lnTo>
                <a:lnTo>
                  <a:pt x="98" y="25"/>
                </a:lnTo>
                <a:lnTo>
                  <a:pt x="82" y="26"/>
                </a:lnTo>
                <a:lnTo>
                  <a:pt x="65" y="27"/>
                </a:lnTo>
                <a:lnTo>
                  <a:pt x="49" y="28"/>
                </a:lnTo>
                <a:lnTo>
                  <a:pt x="33" y="28"/>
                </a:lnTo>
                <a:lnTo>
                  <a:pt x="16" y="29"/>
                </a:lnTo>
                <a:lnTo>
                  <a:pt x="0" y="29"/>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Freeform 44"/>
          <p:cNvSpPr/>
          <p:nvPr/>
        </p:nvSpPr>
        <p:spPr>
          <a:xfrm>
            <a:off x="2057400" y="6086475"/>
            <a:ext cx="3743325" cy="85725"/>
          </a:xfrm>
          <a:custGeom>
            <a:avLst/>
            <a:gdLst/>
            <a:ahLst/>
            <a:cxnLst/>
            <a:rect l="l" t="t" r="r" b="b"/>
            <a:pathLst>
              <a:path w="393" h="9">
                <a:moveTo>
                  <a:pt x="0" y="0"/>
                </a:moveTo>
                <a:lnTo>
                  <a:pt x="16" y="0"/>
                </a:lnTo>
                <a:lnTo>
                  <a:pt x="33" y="0"/>
                </a:lnTo>
                <a:lnTo>
                  <a:pt x="49" y="0"/>
                </a:lnTo>
                <a:lnTo>
                  <a:pt x="65" y="0"/>
                </a:lnTo>
                <a:lnTo>
                  <a:pt x="82" y="0"/>
                </a:lnTo>
                <a:lnTo>
                  <a:pt x="98" y="0"/>
                </a:lnTo>
                <a:lnTo>
                  <a:pt x="114" y="1"/>
                </a:lnTo>
                <a:lnTo>
                  <a:pt x="131" y="1"/>
                </a:lnTo>
                <a:lnTo>
                  <a:pt x="147" y="1"/>
                </a:lnTo>
                <a:lnTo>
                  <a:pt x="164" y="1"/>
                </a:lnTo>
                <a:lnTo>
                  <a:pt x="180" y="2"/>
                </a:lnTo>
                <a:lnTo>
                  <a:pt x="196" y="2"/>
                </a:lnTo>
                <a:lnTo>
                  <a:pt x="213" y="2"/>
                </a:lnTo>
                <a:lnTo>
                  <a:pt x="229" y="3"/>
                </a:lnTo>
                <a:lnTo>
                  <a:pt x="246" y="3"/>
                </a:lnTo>
                <a:lnTo>
                  <a:pt x="262" y="3"/>
                </a:lnTo>
                <a:lnTo>
                  <a:pt x="278" y="4"/>
                </a:lnTo>
                <a:lnTo>
                  <a:pt x="295" y="4"/>
                </a:lnTo>
                <a:lnTo>
                  <a:pt x="311" y="4"/>
                </a:lnTo>
                <a:lnTo>
                  <a:pt x="327" y="4"/>
                </a:lnTo>
                <a:lnTo>
                  <a:pt x="344" y="4"/>
                </a:lnTo>
                <a:lnTo>
                  <a:pt x="360" y="4"/>
                </a:lnTo>
                <a:lnTo>
                  <a:pt x="377" y="5"/>
                </a:lnTo>
                <a:lnTo>
                  <a:pt x="393" y="5"/>
                </a:lnTo>
                <a:lnTo>
                  <a:pt x="393" y="9"/>
                </a:lnTo>
                <a:lnTo>
                  <a:pt x="377" y="9"/>
                </a:lnTo>
                <a:lnTo>
                  <a:pt x="360" y="9"/>
                </a:lnTo>
                <a:lnTo>
                  <a:pt x="344" y="9"/>
                </a:lnTo>
                <a:lnTo>
                  <a:pt x="327" y="9"/>
                </a:lnTo>
                <a:lnTo>
                  <a:pt x="311" y="8"/>
                </a:lnTo>
                <a:lnTo>
                  <a:pt x="295" y="8"/>
                </a:lnTo>
                <a:lnTo>
                  <a:pt x="278" y="8"/>
                </a:lnTo>
                <a:lnTo>
                  <a:pt x="262" y="8"/>
                </a:lnTo>
                <a:lnTo>
                  <a:pt x="246" y="7"/>
                </a:lnTo>
                <a:lnTo>
                  <a:pt x="229" y="7"/>
                </a:lnTo>
                <a:lnTo>
                  <a:pt x="213" y="7"/>
                </a:lnTo>
                <a:lnTo>
                  <a:pt x="196" y="6"/>
                </a:lnTo>
                <a:lnTo>
                  <a:pt x="180" y="6"/>
                </a:lnTo>
                <a:lnTo>
                  <a:pt x="164" y="6"/>
                </a:lnTo>
                <a:lnTo>
                  <a:pt x="147" y="6"/>
                </a:lnTo>
                <a:lnTo>
                  <a:pt x="131" y="5"/>
                </a:lnTo>
                <a:lnTo>
                  <a:pt x="114" y="5"/>
                </a:lnTo>
                <a:lnTo>
                  <a:pt x="98" y="5"/>
                </a:lnTo>
                <a:lnTo>
                  <a:pt x="82" y="5"/>
                </a:lnTo>
                <a:lnTo>
                  <a:pt x="65" y="4"/>
                </a:lnTo>
                <a:lnTo>
                  <a:pt x="49" y="4"/>
                </a:lnTo>
                <a:lnTo>
                  <a:pt x="33" y="4"/>
                </a:lnTo>
                <a:lnTo>
                  <a:pt x="16" y="4"/>
                </a:lnTo>
                <a:lnTo>
                  <a:pt x="0" y="4"/>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2057400" y="6124575"/>
            <a:ext cx="3743325" cy="247650"/>
          </a:xfrm>
          <a:custGeom>
            <a:avLst/>
            <a:gdLst/>
            <a:ahLst/>
            <a:cxnLst/>
            <a:rect l="l" t="t" r="r" b="b"/>
            <a:pathLst>
              <a:path w="393" h="26">
                <a:moveTo>
                  <a:pt x="0" y="0"/>
                </a:moveTo>
                <a:lnTo>
                  <a:pt x="16" y="0"/>
                </a:lnTo>
                <a:lnTo>
                  <a:pt x="33" y="0"/>
                </a:lnTo>
                <a:lnTo>
                  <a:pt x="49" y="1"/>
                </a:lnTo>
                <a:lnTo>
                  <a:pt x="65" y="2"/>
                </a:lnTo>
                <a:lnTo>
                  <a:pt x="82" y="3"/>
                </a:lnTo>
                <a:lnTo>
                  <a:pt x="98" y="4"/>
                </a:lnTo>
                <a:lnTo>
                  <a:pt x="114" y="5"/>
                </a:lnTo>
                <a:lnTo>
                  <a:pt x="131" y="6"/>
                </a:lnTo>
                <a:lnTo>
                  <a:pt x="147" y="8"/>
                </a:lnTo>
                <a:lnTo>
                  <a:pt x="164" y="9"/>
                </a:lnTo>
                <a:lnTo>
                  <a:pt x="180" y="11"/>
                </a:lnTo>
                <a:lnTo>
                  <a:pt x="196" y="12"/>
                </a:lnTo>
                <a:lnTo>
                  <a:pt x="213" y="14"/>
                </a:lnTo>
                <a:lnTo>
                  <a:pt x="229" y="15"/>
                </a:lnTo>
                <a:lnTo>
                  <a:pt x="246" y="17"/>
                </a:lnTo>
                <a:lnTo>
                  <a:pt x="262" y="18"/>
                </a:lnTo>
                <a:lnTo>
                  <a:pt x="278" y="19"/>
                </a:lnTo>
                <a:lnTo>
                  <a:pt x="295" y="21"/>
                </a:lnTo>
                <a:lnTo>
                  <a:pt x="311" y="22"/>
                </a:lnTo>
                <a:lnTo>
                  <a:pt x="327" y="23"/>
                </a:lnTo>
                <a:lnTo>
                  <a:pt x="344" y="23"/>
                </a:lnTo>
                <a:lnTo>
                  <a:pt x="360" y="24"/>
                </a:lnTo>
                <a:lnTo>
                  <a:pt x="377" y="24"/>
                </a:lnTo>
                <a:lnTo>
                  <a:pt x="393" y="24"/>
                </a:lnTo>
                <a:lnTo>
                  <a:pt x="393" y="26"/>
                </a:lnTo>
                <a:lnTo>
                  <a:pt x="377" y="26"/>
                </a:lnTo>
                <a:lnTo>
                  <a:pt x="360" y="26"/>
                </a:lnTo>
                <a:lnTo>
                  <a:pt x="344" y="25"/>
                </a:lnTo>
                <a:lnTo>
                  <a:pt x="327" y="24"/>
                </a:lnTo>
                <a:lnTo>
                  <a:pt x="311" y="24"/>
                </a:lnTo>
                <a:lnTo>
                  <a:pt x="295" y="22"/>
                </a:lnTo>
                <a:lnTo>
                  <a:pt x="278" y="21"/>
                </a:lnTo>
                <a:lnTo>
                  <a:pt x="262" y="20"/>
                </a:lnTo>
                <a:lnTo>
                  <a:pt x="246" y="19"/>
                </a:lnTo>
                <a:lnTo>
                  <a:pt x="229" y="17"/>
                </a:lnTo>
                <a:lnTo>
                  <a:pt x="213" y="16"/>
                </a:lnTo>
                <a:lnTo>
                  <a:pt x="196" y="14"/>
                </a:lnTo>
                <a:lnTo>
                  <a:pt x="180" y="13"/>
                </a:lnTo>
                <a:lnTo>
                  <a:pt x="164" y="11"/>
                </a:lnTo>
                <a:lnTo>
                  <a:pt x="147" y="10"/>
                </a:lnTo>
                <a:lnTo>
                  <a:pt x="131" y="8"/>
                </a:lnTo>
                <a:lnTo>
                  <a:pt x="114" y="7"/>
                </a:lnTo>
                <a:lnTo>
                  <a:pt x="98" y="6"/>
                </a:lnTo>
                <a:lnTo>
                  <a:pt x="82" y="5"/>
                </a:lnTo>
                <a:lnTo>
                  <a:pt x="65" y="4"/>
                </a:lnTo>
                <a:lnTo>
                  <a:pt x="49" y="3"/>
                </a:lnTo>
                <a:lnTo>
                  <a:pt x="33" y="2"/>
                </a:lnTo>
                <a:lnTo>
                  <a:pt x="16" y="2"/>
                </a:lnTo>
                <a:lnTo>
                  <a:pt x="0" y="2"/>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2057400" y="6143625"/>
            <a:ext cx="3743325" cy="381000"/>
          </a:xfrm>
          <a:custGeom>
            <a:avLst/>
            <a:gdLst/>
            <a:ahLst/>
            <a:cxnLst/>
            <a:rect l="l" t="t" r="r" b="b"/>
            <a:pathLst>
              <a:path w="393" h="40">
                <a:moveTo>
                  <a:pt x="0" y="0"/>
                </a:moveTo>
                <a:lnTo>
                  <a:pt x="16" y="0"/>
                </a:lnTo>
                <a:lnTo>
                  <a:pt x="33" y="1"/>
                </a:lnTo>
                <a:lnTo>
                  <a:pt x="49" y="2"/>
                </a:lnTo>
                <a:lnTo>
                  <a:pt x="65" y="3"/>
                </a:lnTo>
                <a:lnTo>
                  <a:pt x="82" y="4"/>
                </a:lnTo>
                <a:lnTo>
                  <a:pt x="98" y="6"/>
                </a:lnTo>
                <a:lnTo>
                  <a:pt x="114" y="8"/>
                </a:lnTo>
                <a:lnTo>
                  <a:pt x="131" y="10"/>
                </a:lnTo>
                <a:lnTo>
                  <a:pt x="147" y="12"/>
                </a:lnTo>
                <a:lnTo>
                  <a:pt x="164" y="14"/>
                </a:lnTo>
                <a:lnTo>
                  <a:pt x="180" y="17"/>
                </a:lnTo>
                <a:lnTo>
                  <a:pt x="196" y="19"/>
                </a:lnTo>
                <a:lnTo>
                  <a:pt x="213" y="22"/>
                </a:lnTo>
                <a:lnTo>
                  <a:pt x="229" y="24"/>
                </a:lnTo>
                <a:lnTo>
                  <a:pt x="246" y="26"/>
                </a:lnTo>
                <a:lnTo>
                  <a:pt x="262" y="29"/>
                </a:lnTo>
                <a:lnTo>
                  <a:pt x="278" y="31"/>
                </a:lnTo>
                <a:lnTo>
                  <a:pt x="295" y="33"/>
                </a:lnTo>
                <a:lnTo>
                  <a:pt x="311" y="34"/>
                </a:lnTo>
                <a:lnTo>
                  <a:pt x="327" y="36"/>
                </a:lnTo>
                <a:lnTo>
                  <a:pt x="344" y="37"/>
                </a:lnTo>
                <a:lnTo>
                  <a:pt x="360" y="38"/>
                </a:lnTo>
                <a:lnTo>
                  <a:pt x="377" y="38"/>
                </a:lnTo>
                <a:lnTo>
                  <a:pt x="393" y="39"/>
                </a:lnTo>
                <a:lnTo>
                  <a:pt x="393" y="40"/>
                </a:lnTo>
                <a:lnTo>
                  <a:pt x="377" y="40"/>
                </a:lnTo>
                <a:lnTo>
                  <a:pt x="360" y="39"/>
                </a:lnTo>
                <a:lnTo>
                  <a:pt x="344" y="38"/>
                </a:lnTo>
                <a:lnTo>
                  <a:pt x="327" y="37"/>
                </a:lnTo>
                <a:lnTo>
                  <a:pt x="311" y="36"/>
                </a:lnTo>
                <a:lnTo>
                  <a:pt x="295" y="34"/>
                </a:lnTo>
                <a:lnTo>
                  <a:pt x="278" y="32"/>
                </a:lnTo>
                <a:lnTo>
                  <a:pt x="262" y="30"/>
                </a:lnTo>
                <a:lnTo>
                  <a:pt x="246" y="28"/>
                </a:lnTo>
                <a:lnTo>
                  <a:pt x="229" y="25"/>
                </a:lnTo>
                <a:lnTo>
                  <a:pt x="213" y="23"/>
                </a:lnTo>
                <a:lnTo>
                  <a:pt x="196" y="21"/>
                </a:lnTo>
                <a:lnTo>
                  <a:pt x="180" y="18"/>
                </a:lnTo>
                <a:lnTo>
                  <a:pt x="164" y="16"/>
                </a:lnTo>
                <a:lnTo>
                  <a:pt x="147" y="13"/>
                </a:lnTo>
                <a:lnTo>
                  <a:pt x="131" y="11"/>
                </a:lnTo>
                <a:lnTo>
                  <a:pt x="114" y="9"/>
                </a:lnTo>
                <a:lnTo>
                  <a:pt x="98" y="7"/>
                </a:lnTo>
                <a:lnTo>
                  <a:pt x="82" y="6"/>
                </a:lnTo>
                <a:lnTo>
                  <a:pt x="65" y="4"/>
                </a:lnTo>
                <a:lnTo>
                  <a:pt x="49" y="3"/>
                </a:lnTo>
                <a:lnTo>
                  <a:pt x="33" y="2"/>
                </a:lnTo>
                <a:lnTo>
                  <a:pt x="16" y="1"/>
                </a:lnTo>
                <a:lnTo>
                  <a:pt x="0" y="1"/>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2057400" y="4467225"/>
            <a:ext cx="3743325" cy="1771650"/>
          </a:xfrm>
          <a:custGeom>
            <a:avLst/>
            <a:gdLst/>
            <a:ahLst/>
            <a:cxnLst/>
            <a:rect l="l" t="t" r="r" b="b"/>
            <a:pathLst>
              <a:path w="393" h="186">
                <a:moveTo>
                  <a:pt x="0" y="183"/>
                </a:moveTo>
                <a:lnTo>
                  <a:pt x="16" y="182"/>
                </a:lnTo>
                <a:lnTo>
                  <a:pt x="33" y="180"/>
                </a:lnTo>
                <a:lnTo>
                  <a:pt x="49" y="175"/>
                </a:lnTo>
                <a:lnTo>
                  <a:pt x="65" y="170"/>
                </a:lnTo>
                <a:lnTo>
                  <a:pt x="82" y="163"/>
                </a:lnTo>
                <a:lnTo>
                  <a:pt x="98" y="155"/>
                </a:lnTo>
                <a:lnTo>
                  <a:pt x="114" y="146"/>
                </a:lnTo>
                <a:lnTo>
                  <a:pt x="131" y="136"/>
                </a:lnTo>
                <a:lnTo>
                  <a:pt x="147" y="125"/>
                </a:lnTo>
                <a:lnTo>
                  <a:pt x="164" y="114"/>
                </a:lnTo>
                <a:lnTo>
                  <a:pt x="180" y="103"/>
                </a:lnTo>
                <a:lnTo>
                  <a:pt x="196" y="92"/>
                </a:lnTo>
                <a:lnTo>
                  <a:pt x="213" y="80"/>
                </a:lnTo>
                <a:lnTo>
                  <a:pt x="229" y="69"/>
                </a:lnTo>
                <a:lnTo>
                  <a:pt x="246" y="58"/>
                </a:lnTo>
                <a:lnTo>
                  <a:pt x="262" y="48"/>
                </a:lnTo>
                <a:lnTo>
                  <a:pt x="278" y="38"/>
                </a:lnTo>
                <a:lnTo>
                  <a:pt x="295" y="29"/>
                </a:lnTo>
                <a:lnTo>
                  <a:pt x="311" y="21"/>
                </a:lnTo>
                <a:lnTo>
                  <a:pt x="327" y="14"/>
                </a:lnTo>
                <a:lnTo>
                  <a:pt x="344" y="8"/>
                </a:lnTo>
                <a:lnTo>
                  <a:pt x="360" y="4"/>
                </a:lnTo>
                <a:lnTo>
                  <a:pt x="377" y="1"/>
                </a:lnTo>
                <a:lnTo>
                  <a:pt x="393" y="0"/>
                </a:lnTo>
                <a:lnTo>
                  <a:pt x="393" y="3"/>
                </a:lnTo>
                <a:lnTo>
                  <a:pt x="377" y="4"/>
                </a:lnTo>
                <a:lnTo>
                  <a:pt x="360" y="7"/>
                </a:lnTo>
                <a:lnTo>
                  <a:pt x="344" y="11"/>
                </a:lnTo>
                <a:lnTo>
                  <a:pt x="327" y="17"/>
                </a:lnTo>
                <a:lnTo>
                  <a:pt x="311" y="24"/>
                </a:lnTo>
                <a:lnTo>
                  <a:pt x="295" y="32"/>
                </a:lnTo>
                <a:lnTo>
                  <a:pt x="278" y="41"/>
                </a:lnTo>
                <a:lnTo>
                  <a:pt x="262" y="51"/>
                </a:lnTo>
                <a:lnTo>
                  <a:pt x="246" y="61"/>
                </a:lnTo>
                <a:lnTo>
                  <a:pt x="229" y="72"/>
                </a:lnTo>
                <a:lnTo>
                  <a:pt x="213" y="83"/>
                </a:lnTo>
                <a:lnTo>
                  <a:pt x="196" y="95"/>
                </a:lnTo>
                <a:lnTo>
                  <a:pt x="180" y="106"/>
                </a:lnTo>
                <a:lnTo>
                  <a:pt x="164" y="117"/>
                </a:lnTo>
                <a:lnTo>
                  <a:pt x="147" y="128"/>
                </a:lnTo>
                <a:lnTo>
                  <a:pt x="131" y="139"/>
                </a:lnTo>
                <a:lnTo>
                  <a:pt x="114" y="148"/>
                </a:lnTo>
                <a:lnTo>
                  <a:pt x="98" y="157"/>
                </a:lnTo>
                <a:lnTo>
                  <a:pt x="82" y="166"/>
                </a:lnTo>
                <a:lnTo>
                  <a:pt x="65" y="173"/>
                </a:lnTo>
                <a:lnTo>
                  <a:pt x="49" y="178"/>
                </a:lnTo>
                <a:lnTo>
                  <a:pt x="33" y="182"/>
                </a:lnTo>
                <a:lnTo>
                  <a:pt x="16" y="185"/>
                </a:lnTo>
                <a:lnTo>
                  <a:pt x="0" y="186"/>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2057400" y="4848225"/>
            <a:ext cx="3743325" cy="1409700"/>
          </a:xfrm>
          <a:custGeom>
            <a:avLst/>
            <a:gdLst/>
            <a:ahLst/>
            <a:cxnLst/>
            <a:rect l="l" t="t" r="r" b="b"/>
            <a:pathLst>
              <a:path w="393" h="148">
                <a:moveTo>
                  <a:pt x="0" y="146"/>
                </a:moveTo>
                <a:lnTo>
                  <a:pt x="16" y="145"/>
                </a:lnTo>
                <a:lnTo>
                  <a:pt x="33" y="143"/>
                </a:lnTo>
                <a:lnTo>
                  <a:pt x="49" y="140"/>
                </a:lnTo>
                <a:lnTo>
                  <a:pt x="65" y="135"/>
                </a:lnTo>
                <a:lnTo>
                  <a:pt x="82" y="130"/>
                </a:lnTo>
                <a:lnTo>
                  <a:pt x="98" y="123"/>
                </a:lnTo>
                <a:lnTo>
                  <a:pt x="114" y="116"/>
                </a:lnTo>
                <a:lnTo>
                  <a:pt x="131" y="108"/>
                </a:lnTo>
                <a:lnTo>
                  <a:pt x="147" y="100"/>
                </a:lnTo>
                <a:lnTo>
                  <a:pt x="164" y="91"/>
                </a:lnTo>
                <a:lnTo>
                  <a:pt x="180" y="82"/>
                </a:lnTo>
                <a:lnTo>
                  <a:pt x="196" y="73"/>
                </a:lnTo>
                <a:lnTo>
                  <a:pt x="213" y="64"/>
                </a:lnTo>
                <a:lnTo>
                  <a:pt x="229" y="55"/>
                </a:lnTo>
                <a:lnTo>
                  <a:pt x="246" y="46"/>
                </a:lnTo>
                <a:lnTo>
                  <a:pt x="262" y="38"/>
                </a:lnTo>
                <a:lnTo>
                  <a:pt x="278" y="30"/>
                </a:lnTo>
                <a:lnTo>
                  <a:pt x="295" y="23"/>
                </a:lnTo>
                <a:lnTo>
                  <a:pt x="311" y="16"/>
                </a:lnTo>
                <a:lnTo>
                  <a:pt x="327" y="11"/>
                </a:lnTo>
                <a:lnTo>
                  <a:pt x="344" y="6"/>
                </a:lnTo>
                <a:lnTo>
                  <a:pt x="360" y="3"/>
                </a:lnTo>
                <a:lnTo>
                  <a:pt x="377" y="1"/>
                </a:lnTo>
                <a:lnTo>
                  <a:pt x="393" y="0"/>
                </a:lnTo>
                <a:lnTo>
                  <a:pt x="393" y="1"/>
                </a:lnTo>
                <a:lnTo>
                  <a:pt x="377" y="2"/>
                </a:lnTo>
                <a:lnTo>
                  <a:pt x="360" y="4"/>
                </a:lnTo>
                <a:lnTo>
                  <a:pt x="344" y="8"/>
                </a:lnTo>
                <a:lnTo>
                  <a:pt x="327" y="12"/>
                </a:lnTo>
                <a:lnTo>
                  <a:pt x="311" y="18"/>
                </a:lnTo>
                <a:lnTo>
                  <a:pt x="295" y="24"/>
                </a:lnTo>
                <a:lnTo>
                  <a:pt x="278" y="31"/>
                </a:lnTo>
                <a:lnTo>
                  <a:pt x="262" y="39"/>
                </a:lnTo>
                <a:lnTo>
                  <a:pt x="246" y="48"/>
                </a:lnTo>
                <a:lnTo>
                  <a:pt x="229" y="56"/>
                </a:lnTo>
                <a:lnTo>
                  <a:pt x="213" y="65"/>
                </a:lnTo>
                <a:lnTo>
                  <a:pt x="196" y="74"/>
                </a:lnTo>
                <a:lnTo>
                  <a:pt x="180" y="83"/>
                </a:lnTo>
                <a:lnTo>
                  <a:pt x="164" y="92"/>
                </a:lnTo>
                <a:lnTo>
                  <a:pt x="147" y="101"/>
                </a:lnTo>
                <a:lnTo>
                  <a:pt x="131" y="110"/>
                </a:lnTo>
                <a:lnTo>
                  <a:pt x="114" y="117"/>
                </a:lnTo>
                <a:lnTo>
                  <a:pt x="98" y="125"/>
                </a:lnTo>
                <a:lnTo>
                  <a:pt x="82" y="131"/>
                </a:lnTo>
                <a:lnTo>
                  <a:pt x="65" y="137"/>
                </a:lnTo>
                <a:lnTo>
                  <a:pt x="49" y="141"/>
                </a:lnTo>
                <a:lnTo>
                  <a:pt x="33" y="145"/>
                </a:lnTo>
                <a:lnTo>
                  <a:pt x="16" y="147"/>
                </a:lnTo>
                <a:lnTo>
                  <a:pt x="0" y="14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2057400" y="5191125"/>
            <a:ext cx="3743325" cy="1076325"/>
          </a:xfrm>
          <a:custGeom>
            <a:avLst/>
            <a:gdLst/>
            <a:ahLst/>
            <a:cxnLst/>
            <a:rect l="l" t="t" r="r" b="b"/>
            <a:pathLst>
              <a:path w="393" h="113">
                <a:moveTo>
                  <a:pt x="0" y="112"/>
                </a:moveTo>
                <a:lnTo>
                  <a:pt x="16" y="111"/>
                </a:lnTo>
                <a:lnTo>
                  <a:pt x="33" y="109"/>
                </a:lnTo>
                <a:lnTo>
                  <a:pt x="49" y="107"/>
                </a:lnTo>
                <a:lnTo>
                  <a:pt x="65" y="103"/>
                </a:lnTo>
                <a:lnTo>
                  <a:pt x="82" y="99"/>
                </a:lnTo>
                <a:lnTo>
                  <a:pt x="98" y="94"/>
                </a:lnTo>
                <a:lnTo>
                  <a:pt x="114" y="89"/>
                </a:lnTo>
                <a:lnTo>
                  <a:pt x="131" y="83"/>
                </a:lnTo>
                <a:lnTo>
                  <a:pt x="147" y="76"/>
                </a:lnTo>
                <a:lnTo>
                  <a:pt x="164" y="69"/>
                </a:lnTo>
                <a:lnTo>
                  <a:pt x="180" y="63"/>
                </a:lnTo>
                <a:lnTo>
                  <a:pt x="196" y="56"/>
                </a:lnTo>
                <a:lnTo>
                  <a:pt x="213" y="49"/>
                </a:lnTo>
                <a:lnTo>
                  <a:pt x="229" y="42"/>
                </a:lnTo>
                <a:lnTo>
                  <a:pt x="246" y="35"/>
                </a:lnTo>
                <a:lnTo>
                  <a:pt x="262" y="29"/>
                </a:lnTo>
                <a:lnTo>
                  <a:pt x="278" y="23"/>
                </a:lnTo>
                <a:lnTo>
                  <a:pt x="295" y="17"/>
                </a:lnTo>
                <a:lnTo>
                  <a:pt x="311" y="12"/>
                </a:lnTo>
                <a:lnTo>
                  <a:pt x="327" y="8"/>
                </a:lnTo>
                <a:lnTo>
                  <a:pt x="344" y="5"/>
                </a:lnTo>
                <a:lnTo>
                  <a:pt x="360" y="2"/>
                </a:lnTo>
                <a:lnTo>
                  <a:pt x="377" y="0"/>
                </a:lnTo>
                <a:lnTo>
                  <a:pt x="393" y="0"/>
                </a:lnTo>
                <a:lnTo>
                  <a:pt x="393" y="1"/>
                </a:lnTo>
                <a:lnTo>
                  <a:pt x="377" y="2"/>
                </a:lnTo>
                <a:lnTo>
                  <a:pt x="360" y="3"/>
                </a:lnTo>
                <a:lnTo>
                  <a:pt x="344" y="6"/>
                </a:lnTo>
                <a:lnTo>
                  <a:pt x="327" y="9"/>
                </a:lnTo>
                <a:lnTo>
                  <a:pt x="311" y="14"/>
                </a:lnTo>
                <a:lnTo>
                  <a:pt x="295" y="19"/>
                </a:lnTo>
                <a:lnTo>
                  <a:pt x="278" y="24"/>
                </a:lnTo>
                <a:lnTo>
                  <a:pt x="262" y="30"/>
                </a:lnTo>
                <a:lnTo>
                  <a:pt x="246" y="37"/>
                </a:lnTo>
                <a:lnTo>
                  <a:pt x="229" y="43"/>
                </a:lnTo>
                <a:lnTo>
                  <a:pt x="213" y="50"/>
                </a:lnTo>
                <a:lnTo>
                  <a:pt x="196" y="57"/>
                </a:lnTo>
                <a:lnTo>
                  <a:pt x="180" y="64"/>
                </a:lnTo>
                <a:lnTo>
                  <a:pt x="164" y="71"/>
                </a:lnTo>
                <a:lnTo>
                  <a:pt x="147" y="78"/>
                </a:lnTo>
                <a:lnTo>
                  <a:pt x="131" y="84"/>
                </a:lnTo>
                <a:lnTo>
                  <a:pt x="114" y="90"/>
                </a:lnTo>
                <a:lnTo>
                  <a:pt x="98" y="95"/>
                </a:lnTo>
                <a:lnTo>
                  <a:pt x="82" y="100"/>
                </a:lnTo>
                <a:lnTo>
                  <a:pt x="65" y="105"/>
                </a:lnTo>
                <a:lnTo>
                  <a:pt x="49" y="108"/>
                </a:lnTo>
                <a:lnTo>
                  <a:pt x="33" y="111"/>
                </a:lnTo>
                <a:lnTo>
                  <a:pt x="16" y="112"/>
                </a:lnTo>
                <a:lnTo>
                  <a:pt x="0" y="113"/>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057400" y="5514975"/>
            <a:ext cx="3743325" cy="771525"/>
          </a:xfrm>
          <a:custGeom>
            <a:avLst/>
            <a:gdLst/>
            <a:ahLst/>
            <a:cxnLst/>
            <a:rect l="l" t="t" r="r" b="b"/>
            <a:pathLst>
              <a:path w="393" h="81">
                <a:moveTo>
                  <a:pt x="0" y="79"/>
                </a:moveTo>
                <a:lnTo>
                  <a:pt x="16" y="79"/>
                </a:lnTo>
                <a:lnTo>
                  <a:pt x="33" y="77"/>
                </a:lnTo>
                <a:lnTo>
                  <a:pt x="49" y="76"/>
                </a:lnTo>
                <a:lnTo>
                  <a:pt x="65" y="73"/>
                </a:lnTo>
                <a:lnTo>
                  <a:pt x="82" y="70"/>
                </a:lnTo>
                <a:lnTo>
                  <a:pt x="98" y="67"/>
                </a:lnTo>
                <a:lnTo>
                  <a:pt x="114" y="63"/>
                </a:lnTo>
                <a:lnTo>
                  <a:pt x="131" y="58"/>
                </a:lnTo>
                <a:lnTo>
                  <a:pt x="147" y="54"/>
                </a:lnTo>
                <a:lnTo>
                  <a:pt x="164" y="49"/>
                </a:lnTo>
                <a:lnTo>
                  <a:pt x="180" y="44"/>
                </a:lnTo>
                <a:lnTo>
                  <a:pt x="196" y="39"/>
                </a:lnTo>
                <a:lnTo>
                  <a:pt x="213" y="35"/>
                </a:lnTo>
                <a:lnTo>
                  <a:pt x="229" y="30"/>
                </a:lnTo>
                <a:lnTo>
                  <a:pt x="246" y="25"/>
                </a:lnTo>
                <a:lnTo>
                  <a:pt x="262" y="20"/>
                </a:lnTo>
                <a:lnTo>
                  <a:pt x="278" y="16"/>
                </a:lnTo>
                <a:lnTo>
                  <a:pt x="295" y="12"/>
                </a:lnTo>
                <a:lnTo>
                  <a:pt x="311" y="9"/>
                </a:lnTo>
                <a:lnTo>
                  <a:pt x="327" y="6"/>
                </a:lnTo>
                <a:lnTo>
                  <a:pt x="344" y="3"/>
                </a:lnTo>
                <a:lnTo>
                  <a:pt x="360" y="2"/>
                </a:lnTo>
                <a:lnTo>
                  <a:pt x="377" y="0"/>
                </a:lnTo>
                <a:lnTo>
                  <a:pt x="393" y="0"/>
                </a:lnTo>
                <a:lnTo>
                  <a:pt x="393" y="2"/>
                </a:lnTo>
                <a:lnTo>
                  <a:pt x="377" y="3"/>
                </a:lnTo>
                <a:lnTo>
                  <a:pt x="360" y="4"/>
                </a:lnTo>
                <a:lnTo>
                  <a:pt x="344" y="6"/>
                </a:lnTo>
                <a:lnTo>
                  <a:pt x="327" y="8"/>
                </a:lnTo>
                <a:lnTo>
                  <a:pt x="311" y="11"/>
                </a:lnTo>
                <a:lnTo>
                  <a:pt x="295" y="15"/>
                </a:lnTo>
                <a:lnTo>
                  <a:pt x="278" y="19"/>
                </a:lnTo>
                <a:lnTo>
                  <a:pt x="262" y="23"/>
                </a:lnTo>
                <a:lnTo>
                  <a:pt x="246" y="27"/>
                </a:lnTo>
                <a:lnTo>
                  <a:pt x="229" y="32"/>
                </a:lnTo>
                <a:lnTo>
                  <a:pt x="213" y="37"/>
                </a:lnTo>
                <a:lnTo>
                  <a:pt x="196" y="42"/>
                </a:lnTo>
                <a:lnTo>
                  <a:pt x="180" y="47"/>
                </a:lnTo>
                <a:lnTo>
                  <a:pt x="164" y="52"/>
                </a:lnTo>
                <a:lnTo>
                  <a:pt x="147" y="56"/>
                </a:lnTo>
                <a:lnTo>
                  <a:pt x="131" y="61"/>
                </a:lnTo>
                <a:lnTo>
                  <a:pt x="114" y="65"/>
                </a:lnTo>
                <a:lnTo>
                  <a:pt x="98" y="69"/>
                </a:lnTo>
                <a:lnTo>
                  <a:pt x="82" y="72"/>
                </a:lnTo>
                <a:lnTo>
                  <a:pt x="65" y="75"/>
                </a:lnTo>
                <a:lnTo>
                  <a:pt x="49" y="78"/>
                </a:lnTo>
                <a:lnTo>
                  <a:pt x="33" y="80"/>
                </a:lnTo>
                <a:lnTo>
                  <a:pt x="16" y="81"/>
                </a:lnTo>
                <a:lnTo>
                  <a:pt x="0" y="8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2057400" y="5848350"/>
            <a:ext cx="3743325" cy="457200"/>
          </a:xfrm>
          <a:custGeom>
            <a:avLst/>
            <a:gdLst/>
            <a:ahLst/>
            <a:cxnLst/>
            <a:rect l="l" t="t" r="r" b="b"/>
            <a:pathLst>
              <a:path w="393" h="48">
                <a:moveTo>
                  <a:pt x="0" y="46"/>
                </a:moveTo>
                <a:lnTo>
                  <a:pt x="16" y="46"/>
                </a:lnTo>
                <a:lnTo>
                  <a:pt x="33" y="45"/>
                </a:lnTo>
                <a:lnTo>
                  <a:pt x="49" y="44"/>
                </a:lnTo>
                <a:lnTo>
                  <a:pt x="65" y="43"/>
                </a:lnTo>
                <a:lnTo>
                  <a:pt x="82" y="41"/>
                </a:lnTo>
                <a:lnTo>
                  <a:pt x="98" y="39"/>
                </a:lnTo>
                <a:lnTo>
                  <a:pt x="114" y="37"/>
                </a:lnTo>
                <a:lnTo>
                  <a:pt x="131" y="34"/>
                </a:lnTo>
                <a:lnTo>
                  <a:pt x="147" y="32"/>
                </a:lnTo>
                <a:lnTo>
                  <a:pt x="164" y="29"/>
                </a:lnTo>
                <a:lnTo>
                  <a:pt x="180" y="26"/>
                </a:lnTo>
                <a:lnTo>
                  <a:pt x="196" y="23"/>
                </a:lnTo>
                <a:lnTo>
                  <a:pt x="213" y="20"/>
                </a:lnTo>
                <a:lnTo>
                  <a:pt x="229" y="17"/>
                </a:lnTo>
                <a:lnTo>
                  <a:pt x="246" y="15"/>
                </a:lnTo>
                <a:lnTo>
                  <a:pt x="262" y="12"/>
                </a:lnTo>
                <a:lnTo>
                  <a:pt x="278" y="10"/>
                </a:lnTo>
                <a:lnTo>
                  <a:pt x="295" y="7"/>
                </a:lnTo>
                <a:lnTo>
                  <a:pt x="311" y="5"/>
                </a:lnTo>
                <a:lnTo>
                  <a:pt x="327" y="4"/>
                </a:lnTo>
                <a:lnTo>
                  <a:pt x="344" y="2"/>
                </a:lnTo>
                <a:lnTo>
                  <a:pt x="360" y="1"/>
                </a:lnTo>
                <a:lnTo>
                  <a:pt x="377" y="0"/>
                </a:lnTo>
                <a:lnTo>
                  <a:pt x="393" y="0"/>
                </a:lnTo>
                <a:lnTo>
                  <a:pt x="393" y="2"/>
                </a:lnTo>
                <a:lnTo>
                  <a:pt x="377" y="2"/>
                </a:lnTo>
                <a:lnTo>
                  <a:pt x="360" y="3"/>
                </a:lnTo>
                <a:lnTo>
                  <a:pt x="344" y="4"/>
                </a:lnTo>
                <a:lnTo>
                  <a:pt x="327" y="5"/>
                </a:lnTo>
                <a:lnTo>
                  <a:pt x="311" y="7"/>
                </a:lnTo>
                <a:lnTo>
                  <a:pt x="295" y="9"/>
                </a:lnTo>
                <a:lnTo>
                  <a:pt x="278" y="11"/>
                </a:lnTo>
                <a:lnTo>
                  <a:pt x="262" y="14"/>
                </a:lnTo>
                <a:lnTo>
                  <a:pt x="246" y="17"/>
                </a:lnTo>
                <a:lnTo>
                  <a:pt x="229" y="19"/>
                </a:lnTo>
                <a:lnTo>
                  <a:pt x="213" y="22"/>
                </a:lnTo>
                <a:lnTo>
                  <a:pt x="196" y="25"/>
                </a:lnTo>
                <a:lnTo>
                  <a:pt x="180" y="28"/>
                </a:lnTo>
                <a:lnTo>
                  <a:pt x="164" y="31"/>
                </a:lnTo>
                <a:lnTo>
                  <a:pt x="147" y="33"/>
                </a:lnTo>
                <a:lnTo>
                  <a:pt x="131" y="36"/>
                </a:lnTo>
                <a:lnTo>
                  <a:pt x="114" y="39"/>
                </a:lnTo>
                <a:lnTo>
                  <a:pt x="98" y="41"/>
                </a:lnTo>
                <a:lnTo>
                  <a:pt x="82" y="43"/>
                </a:lnTo>
                <a:lnTo>
                  <a:pt x="65" y="45"/>
                </a:lnTo>
                <a:lnTo>
                  <a:pt x="49" y="46"/>
                </a:lnTo>
                <a:lnTo>
                  <a:pt x="33" y="47"/>
                </a:lnTo>
                <a:lnTo>
                  <a:pt x="16" y="48"/>
                </a:lnTo>
                <a:lnTo>
                  <a:pt x="0" y="4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2057400" y="6172200"/>
            <a:ext cx="3743325" cy="152400"/>
          </a:xfrm>
          <a:custGeom>
            <a:avLst/>
            <a:gdLst/>
            <a:ahLst/>
            <a:cxnLst/>
            <a:rect l="l" t="t" r="r" b="b"/>
            <a:pathLst>
              <a:path w="393" h="16">
                <a:moveTo>
                  <a:pt x="0" y="14"/>
                </a:moveTo>
                <a:lnTo>
                  <a:pt x="16" y="14"/>
                </a:lnTo>
                <a:lnTo>
                  <a:pt x="33" y="14"/>
                </a:lnTo>
                <a:lnTo>
                  <a:pt x="49" y="14"/>
                </a:lnTo>
                <a:lnTo>
                  <a:pt x="65" y="13"/>
                </a:lnTo>
                <a:lnTo>
                  <a:pt x="82" y="13"/>
                </a:lnTo>
                <a:lnTo>
                  <a:pt x="98" y="12"/>
                </a:lnTo>
                <a:lnTo>
                  <a:pt x="114" y="11"/>
                </a:lnTo>
                <a:lnTo>
                  <a:pt x="131" y="10"/>
                </a:lnTo>
                <a:lnTo>
                  <a:pt x="147" y="10"/>
                </a:lnTo>
                <a:lnTo>
                  <a:pt x="164" y="9"/>
                </a:lnTo>
                <a:lnTo>
                  <a:pt x="180" y="8"/>
                </a:lnTo>
                <a:lnTo>
                  <a:pt x="196" y="7"/>
                </a:lnTo>
                <a:lnTo>
                  <a:pt x="213" y="6"/>
                </a:lnTo>
                <a:lnTo>
                  <a:pt x="229" y="5"/>
                </a:lnTo>
                <a:lnTo>
                  <a:pt x="246" y="4"/>
                </a:lnTo>
                <a:lnTo>
                  <a:pt x="262" y="4"/>
                </a:lnTo>
                <a:lnTo>
                  <a:pt x="278" y="3"/>
                </a:lnTo>
                <a:lnTo>
                  <a:pt x="295" y="2"/>
                </a:lnTo>
                <a:lnTo>
                  <a:pt x="311" y="2"/>
                </a:lnTo>
                <a:lnTo>
                  <a:pt x="327" y="1"/>
                </a:lnTo>
                <a:lnTo>
                  <a:pt x="344" y="1"/>
                </a:lnTo>
                <a:lnTo>
                  <a:pt x="360" y="0"/>
                </a:lnTo>
                <a:lnTo>
                  <a:pt x="377" y="0"/>
                </a:lnTo>
                <a:lnTo>
                  <a:pt x="393" y="0"/>
                </a:lnTo>
                <a:lnTo>
                  <a:pt x="393" y="2"/>
                </a:lnTo>
                <a:lnTo>
                  <a:pt x="377" y="2"/>
                </a:lnTo>
                <a:lnTo>
                  <a:pt x="360" y="2"/>
                </a:lnTo>
                <a:lnTo>
                  <a:pt x="344" y="2"/>
                </a:lnTo>
                <a:lnTo>
                  <a:pt x="327" y="3"/>
                </a:lnTo>
                <a:lnTo>
                  <a:pt x="311" y="3"/>
                </a:lnTo>
                <a:lnTo>
                  <a:pt x="295" y="4"/>
                </a:lnTo>
                <a:lnTo>
                  <a:pt x="278" y="4"/>
                </a:lnTo>
                <a:lnTo>
                  <a:pt x="262" y="5"/>
                </a:lnTo>
                <a:lnTo>
                  <a:pt x="246" y="6"/>
                </a:lnTo>
                <a:lnTo>
                  <a:pt x="229" y="7"/>
                </a:lnTo>
                <a:lnTo>
                  <a:pt x="213" y="8"/>
                </a:lnTo>
                <a:lnTo>
                  <a:pt x="196" y="9"/>
                </a:lnTo>
                <a:lnTo>
                  <a:pt x="180" y="10"/>
                </a:lnTo>
                <a:lnTo>
                  <a:pt x="164" y="10"/>
                </a:lnTo>
                <a:lnTo>
                  <a:pt x="147" y="11"/>
                </a:lnTo>
                <a:lnTo>
                  <a:pt x="131" y="12"/>
                </a:lnTo>
                <a:lnTo>
                  <a:pt x="114" y="13"/>
                </a:lnTo>
                <a:lnTo>
                  <a:pt x="98" y="14"/>
                </a:lnTo>
                <a:lnTo>
                  <a:pt x="82" y="14"/>
                </a:lnTo>
                <a:lnTo>
                  <a:pt x="65" y="15"/>
                </a:lnTo>
                <a:lnTo>
                  <a:pt x="49" y="15"/>
                </a:lnTo>
                <a:lnTo>
                  <a:pt x="33" y="15"/>
                </a:lnTo>
                <a:lnTo>
                  <a:pt x="16" y="16"/>
                </a:lnTo>
                <a:lnTo>
                  <a:pt x="0" y="16"/>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057400" y="6324600"/>
            <a:ext cx="3743325" cy="57150"/>
          </a:xfrm>
          <a:custGeom>
            <a:avLst/>
            <a:gdLst/>
            <a:ahLst/>
            <a:cxnLst/>
            <a:rect l="l" t="t" r="r" b="b"/>
            <a:pathLst>
              <a:path w="393" h="6">
                <a:moveTo>
                  <a:pt x="0" y="0"/>
                </a:moveTo>
                <a:lnTo>
                  <a:pt x="16" y="0"/>
                </a:lnTo>
                <a:lnTo>
                  <a:pt x="33" y="0"/>
                </a:lnTo>
                <a:lnTo>
                  <a:pt x="49" y="0"/>
                </a:lnTo>
                <a:lnTo>
                  <a:pt x="65" y="0"/>
                </a:lnTo>
                <a:lnTo>
                  <a:pt x="82" y="0"/>
                </a:lnTo>
                <a:lnTo>
                  <a:pt x="98" y="1"/>
                </a:lnTo>
                <a:lnTo>
                  <a:pt x="114" y="1"/>
                </a:lnTo>
                <a:lnTo>
                  <a:pt x="131" y="1"/>
                </a:lnTo>
                <a:lnTo>
                  <a:pt x="147" y="1"/>
                </a:lnTo>
                <a:lnTo>
                  <a:pt x="164" y="2"/>
                </a:lnTo>
                <a:lnTo>
                  <a:pt x="180" y="2"/>
                </a:lnTo>
                <a:lnTo>
                  <a:pt x="196" y="2"/>
                </a:lnTo>
                <a:lnTo>
                  <a:pt x="213" y="3"/>
                </a:lnTo>
                <a:lnTo>
                  <a:pt x="229" y="3"/>
                </a:lnTo>
                <a:lnTo>
                  <a:pt x="246" y="4"/>
                </a:lnTo>
                <a:lnTo>
                  <a:pt x="262" y="4"/>
                </a:lnTo>
                <a:lnTo>
                  <a:pt x="278" y="4"/>
                </a:lnTo>
                <a:lnTo>
                  <a:pt x="295" y="4"/>
                </a:lnTo>
                <a:lnTo>
                  <a:pt x="311" y="5"/>
                </a:lnTo>
                <a:lnTo>
                  <a:pt x="327" y="5"/>
                </a:lnTo>
                <a:lnTo>
                  <a:pt x="344" y="5"/>
                </a:lnTo>
                <a:lnTo>
                  <a:pt x="360" y="5"/>
                </a:lnTo>
                <a:lnTo>
                  <a:pt x="377" y="5"/>
                </a:lnTo>
                <a:lnTo>
                  <a:pt x="393" y="5"/>
                </a:lnTo>
                <a:lnTo>
                  <a:pt x="393" y="6"/>
                </a:lnTo>
                <a:lnTo>
                  <a:pt x="377" y="6"/>
                </a:lnTo>
                <a:lnTo>
                  <a:pt x="360" y="6"/>
                </a:lnTo>
                <a:lnTo>
                  <a:pt x="344" y="6"/>
                </a:lnTo>
                <a:lnTo>
                  <a:pt x="327" y="6"/>
                </a:lnTo>
                <a:lnTo>
                  <a:pt x="311" y="5"/>
                </a:lnTo>
                <a:lnTo>
                  <a:pt x="295" y="5"/>
                </a:lnTo>
                <a:lnTo>
                  <a:pt x="278" y="5"/>
                </a:lnTo>
                <a:lnTo>
                  <a:pt x="262" y="5"/>
                </a:lnTo>
                <a:lnTo>
                  <a:pt x="246" y="4"/>
                </a:lnTo>
                <a:lnTo>
                  <a:pt x="229" y="4"/>
                </a:lnTo>
                <a:lnTo>
                  <a:pt x="213" y="4"/>
                </a:lnTo>
                <a:lnTo>
                  <a:pt x="196" y="3"/>
                </a:lnTo>
                <a:lnTo>
                  <a:pt x="180" y="3"/>
                </a:lnTo>
                <a:lnTo>
                  <a:pt x="164" y="3"/>
                </a:lnTo>
                <a:lnTo>
                  <a:pt x="147" y="2"/>
                </a:lnTo>
                <a:lnTo>
                  <a:pt x="131" y="2"/>
                </a:lnTo>
                <a:lnTo>
                  <a:pt x="114" y="2"/>
                </a:lnTo>
                <a:lnTo>
                  <a:pt x="98" y="1"/>
                </a:lnTo>
                <a:lnTo>
                  <a:pt x="82" y="1"/>
                </a:lnTo>
                <a:lnTo>
                  <a:pt x="65" y="1"/>
                </a:lnTo>
                <a:lnTo>
                  <a:pt x="49" y="1"/>
                </a:lnTo>
                <a:lnTo>
                  <a:pt x="33" y="1"/>
                </a:lnTo>
                <a:lnTo>
                  <a:pt x="16" y="0"/>
                </a:lnTo>
                <a:lnTo>
                  <a:pt x="0" y="0"/>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2057400" y="6324600"/>
            <a:ext cx="3743325" cy="209550"/>
          </a:xfrm>
          <a:custGeom>
            <a:avLst/>
            <a:gdLst/>
            <a:ahLst/>
            <a:cxnLst/>
            <a:rect l="l" t="t" r="r" b="b"/>
            <a:pathLst>
              <a:path w="393" h="22">
                <a:moveTo>
                  <a:pt x="0" y="0"/>
                </a:moveTo>
                <a:lnTo>
                  <a:pt x="16" y="1"/>
                </a:lnTo>
                <a:lnTo>
                  <a:pt x="33" y="1"/>
                </a:lnTo>
                <a:lnTo>
                  <a:pt x="49" y="1"/>
                </a:lnTo>
                <a:lnTo>
                  <a:pt x="65" y="2"/>
                </a:lnTo>
                <a:lnTo>
                  <a:pt x="82" y="3"/>
                </a:lnTo>
                <a:lnTo>
                  <a:pt x="98" y="4"/>
                </a:lnTo>
                <a:lnTo>
                  <a:pt x="114" y="5"/>
                </a:lnTo>
                <a:lnTo>
                  <a:pt x="131" y="6"/>
                </a:lnTo>
                <a:lnTo>
                  <a:pt x="147" y="7"/>
                </a:lnTo>
                <a:lnTo>
                  <a:pt x="164" y="8"/>
                </a:lnTo>
                <a:lnTo>
                  <a:pt x="180" y="9"/>
                </a:lnTo>
                <a:lnTo>
                  <a:pt x="196" y="11"/>
                </a:lnTo>
                <a:lnTo>
                  <a:pt x="213" y="12"/>
                </a:lnTo>
                <a:lnTo>
                  <a:pt x="229" y="13"/>
                </a:lnTo>
                <a:lnTo>
                  <a:pt x="246" y="14"/>
                </a:lnTo>
                <a:lnTo>
                  <a:pt x="262" y="16"/>
                </a:lnTo>
                <a:lnTo>
                  <a:pt x="278" y="17"/>
                </a:lnTo>
                <a:lnTo>
                  <a:pt x="295" y="18"/>
                </a:lnTo>
                <a:lnTo>
                  <a:pt x="311" y="19"/>
                </a:lnTo>
                <a:lnTo>
                  <a:pt x="327" y="19"/>
                </a:lnTo>
                <a:lnTo>
                  <a:pt x="344" y="20"/>
                </a:lnTo>
                <a:lnTo>
                  <a:pt x="360" y="21"/>
                </a:lnTo>
                <a:lnTo>
                  <a:pt x="377" y="21"/>
                </a:lnTo>
                <a:lnTo>
                  <a:pt x="393" y="21"/>
                </a:lnTo>
                <a:lnTo>
                  <a:pt x="393" y="22"/>
                </a:lnTo>
                <a:lnTo>
                  <a:pt x="377" y="22"/>
                </a:lnTo>
                <a:lnTo>
                  <a:pt x="360" y="21"/>
                </a:lnTo>
                <a:lnTo>
                  <a:pt x="344" y="21"/>
                </a:lnTo>
                <a:lnTo>
                  <a:pt x="327" y="20"/>
                </a:lnTo>
                <a:lnTo>
                  <a:pt x="311" y="19"/>
                </a:lnTo>
                <a:lnTo>
                  <a:pt x="295" y="18"/>
                </a:lnTo>
                <a:lnTo>
                  <a:pt x="278" y="17"/>
                </a:lnTo>
                <a:lnTo>
                  <a:pt x="262" y="16"/>
                </a:lnTo>
                <a:lnTo>
                  <a:pt x="246" y="15"/>
                </a:lnTo>
                <a:lnTo>
                  <a:pt x="229" y="14"/>
                </a:lnTo>
                <a:lnTo>
                  <a:pt x="213" y="13"/>
                </a:lnTo>
                <a:lnTo>
                  <a:pt x="196" y="11"/>
                </a:lnTo>
                <a:lnTo>
                  <a:pt x="180" y="10"/>
                </a:lnTo>
                <a:lnTo>
                  <a:pt x="164" y="9"/>
                </a:lnTo>
                <a:lnTo>
                  <a:pt x="147" y="8"/>
                </a:lnTo>
                <a:lnTo>
                  <a:pt x="131" y="6"/>
                </a:lnTo>
                <a:lnTo>
                  <a:pt x="114" y="5"/>
                </a:lnTo>
                <a:lnTo>
                  <a:pt x="98" y="4"/>
                </a:lnTo>
                <a:lnTo>
                  <a:pt x="82" y="3"/>
                </a:lnTo>
                <a:lnTo>
                  <a:pt x="65" y="3"/>
                </a:lnTo>
                <a:lnTo>
                  <a:pt x="49" y="2"/>
                </a:lnTo>
                <a:lnTo>
                  <a:pt x="33" y="2"/>
                </a:lnTo>
                <a:lnTo>
                  <a:pt x="16" y="1"/>
                </a:lnTo>
                <a:lnTo>
                  <a:pt x="0" y="1"/>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2057400" y="4495800"/>
            <a:ext cx="3743325" cy="1914525"/>
          </a:xfrm>
          <a:custGeom>
            <a:avLst/>
            <a:gdLst/>
            <a:ahLst/>
            <a:cxnLst/>
            <a:rect l="l" t="t" r="r" b="b"/>
            <a:pathLst>
              <a:path w="393" h="201">
                <a:moveTo>
                  <a:pt x="0" y="199"/>
                </a:moveTo>
                <a:lnTo>
                  <a:pt x="16" y="198"/>
                </a:lnTo>
                <a:lnTo>
                  <a:pt x="33" y="195"/>
                </a:lnTo>
                <a:lnTo>
                  <a:pt x="49" y="191"/>
                </a:lnTo>
                <a:lnTo>
                  <a:pt x="65" y="184"/>
                </a:lnTo>
                <a:lnTo>
                  <a:pt x="82" y="177"/>
                </a:lnTo>
                <a:lnTo>
                  <a:pt x="98" y="168"/>
                </a:lnTo>
                <a:lnTo>
                  <a:pt x="114" y="158"/>
                </a:lnTo>
                <a:lnTo>
                  <a:pt x="131" y="148"/>
                </a:lnTo>
                <a:lnTo>
                  <a:pt x="147" y="136"/>
                </a:lnTo>
                <a:lnTo>
                  <a:pt x="164" y="124"/>
                </a:lnTo>
                <a:lnTo>
                  <a:pt x="180" y="112"/>
                </a:lnTo>
                <a:lnTo>
                  <a:pt x="196" y="100"/>
                </a:lnTo>
                <a:lnTo>
                  <a:pt x="213" y="87"/>
                </a:lnTo>
                <a:lnTo>
                  <a:pt x="229" y="75"/>
                </a:lnTo>
                <a:lnTo>
                  <a:pt x="246" y="63"/>
                </a:lnTo>
                <a:lnTo>
                  <a:pt x="262" y="52"/>
                </a:lnTo>
                <a:lnTo>
                  <a:pt x="278" y="41"/>
                </a:lnTo>
                <a:lnTo>
                  <a:pt x="295" y="31"/>
                </a:lnTo>
                <a:lnTo>
                  <a:pt x="311" y="23"/>
                </a:lnTo>
                <a:lnTo>
                  <a:pt x="327" y="15"/>
                </a:lnTo>
                <a:lnTo>
                  <a:pt x="344" y="9"/>
                </a:lnTo>
                <a:lnTo>
                  <a:pt x="360" y="4"/>
                </a:lnTo>
                <a:lnTo>
                  <a:pt x="377" y="1"/>
                </a:lnTo>
                <a:lnTo>
                  <a:pt x="393" y="0"/>
                </a:lnTo>
                <a:lnTo>
                  <a:pt x="393" y="2"/>
                </a:lnTo>
                <a:lnTo>
                  <a:pt x="377" y="3"/>
                </a:lnTo>
                <a:lnTo>
                  <a:pt x="360" y="6"/>
                </a:lnTo>
                <a:lnTo>
                  <a:pt x="344" y="11"/>
                </a:lnTo>
                <a:lnTo>
                  <a:pt x="327" y="17"/>
                </a:lnTo>
                <a:lnTo>
                  <a:pt x="311" y="24"/>
                </a:lnTo>
                <a:lnTo>
                  <a:pt x="295" y="33"/>
                </a:lnTo>
                <a:lnTo>
                  <a:pt x="278" y="43"/>
                </a:lnTo>
                <a:lnTo>
                  <a:pt x="262" y="54"/>
                </a:lnTo>
                <a:lnTo>
                  <a:pt x="246" y="65"/>
                </a:lnTo>
                <a:lnTo>
                  <a:pt x="229" y="77"/>
                </a:lnTo>
                <a:lnTo>
                  <a:pt x="213" y="89"/>
                </a:lnTo>
                <a:lnTo>
                  <a:pt x="196" y="102"/>
                </a:lnTo>
                <a:lnTo>
                  <a:pt x="180" y="114"/>
                </a:lnTo>
                <a:lnTo>
                  <a:pt x="164" y="126"/>
                </a:lnTo>
                <a:lnTo>
                  <a:pt x="147" y="138"/>
                </a:lnTo>
                <a:lnTo>
                  <a:pt x="131" y="149"/>
                </a:lnTo>
                <a:lnTo>
                  <a:pt x="114" y="160"/>
                </a:lnTo>
                <a:lnTo>
                  <a:pt x="98" y="170"/>
                </a:lnTo>
                <a:lnTo>
                  <a:pt x="82" y="179"/>
                </a:lnTo>
                <a:lnTo>
                  <a:pt x="65" y="186"/>
                </a:lnTo>
                <a:lnTo>
                  <a:pt x="49" y="192"/>
                </a:lnTo>
                <a:lnTo>
                  <a:pt x="33" y="197"/>
                </a:lnTo>
                <a:lnTo>
                  <a:pt x="16" y="200"/>
                </a:lnTo>
                <a:lnTo>
                  <a:pt x="0" y="201"/>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057400" y="4857750"/>
            <a:ext cx="3743325" cy="1562100"/>
          </a:xfrm>
          <a:custGeom>
            <a:avLst/>
            <a:gdLst/>
            <a:ahLst/>
            <a:cxnLst/>
            <a:rect l="l" t="t" r="r" b="b"/>
            <a:pathLst>
              <a:path w="393" h="164">
                <a:moveTo>
                  <a:pt x="0" y="163"/>
                </a:moveTo>
                <a:lnTo>
                  <a:pt x="16" y="162"/>
                </a:lnTo>
                <a:lnTo>
                  <a:pt x="33" y="160"/>
                </a:lnTo>
                <a:lnTo>
                  <a:pt x="49" y="156"/>
                </a:lnTo>
                <a:lnTo>
                  <a:pt x="65" y="151"/>
                </a:lnTo>
                <a:lnTo>
                  <a:pt x="82" y="145"/>
                </a:lnTo>
                <a:lnTo>
                  <a:pt x="98" y="138"/>
                </a:lnTo>
                <a:lnTo>
                  <a:pt x="114" y="130"/>
                </a:lnTo>
                <a:lnTo>
                  <a:pt x="131" y="121"/>
                </a:lnTo>
                <a:lnTo>
                  <a:pt x="147" y="111"/>
                </a:lnTo>
                <a:lnTo>
                  <a:pt x="164" y="102"/>
                </a:lnTo>
                <a:lnTo>
                  <a:pt x="180" y="92"/>
                </a:lnTo>
                <a:lnTo>
                  <a:pt x="196" y="82"/>
                </a:lnTo>
                <a:lnTo>
                  <a:pt x="213" y="71"/>
                </a:lnTo>
                <a:lnTo>
                  <a:pt x="229" y="61"/>
                </a:lnTo>
                <a:lnTo>
                  <a:pt x="246" y="52"/>
                </a:lnTo>
                <a:lnTo>
                  <a:pt x="262" y="42"/>
                </a:lnTo>
                <a:lnTo>
                  <a:pt x="278" y="34"/>
                </a:lnTo>
                <a:lnTo>
                  <a:pt x="295" y="26"/>
                </a:lnTo>
                <a:lnTo>
                  <a:pt x="311" y="18"/>
                </a:lnTo>
                <a:lnTo>
                  <a:pt x="327" y="12"/>
                </a:lnTo>
                <a:lnTo>
                  <a:pt x="344" y="7"/>
                </a:lnTo>
                <a:lnTo>
                  <a:pt x="360" y="3"/>
                </a:lnTo>
                <a:lnTo>
                  <a:pt x="377" y="1"/>
                </a:lnTo>
                <a:lnTo>
                  <a:pt x="393" y="0"/>
                </a:lnTo>
                <a:lnTo>
                  <a:pt x="393" y="2"/>
                </a:lnTo>
                <a:lnTo>
                  <a:pt x="377" y="2"/>
                </a:lnTo>
                <a:lnTo>
                  <a:pt x="360" y="5"/>
                </a:lnTo>
                <a:lnTo>
                  <a:pt x="344" y="9"/>
                </a:lnTo>
                <a:lnTo>
                  <a:pt x="327" y="14"/>
                </a:lnTo>
                <a:lnTo>
                  <a:pt x="311" y="20"/>
                </a:lnTo>
                <a:lnTo>
                  <a:pt x="295" y="27"/>
                </a:lnTo>
                <a:lnTo>
                  <a:pt x="278" y="35"/>
                </a:lnTo>
                <a:lnTo>
                  <a:pt x="262" y="44"/>
                </a:lnTo>
                <a:lnTo>
                  <a:pt x="246" y="53"/>
                </a:lnTo>
                <a:lnTo>
                  <a:pt x="229" y="63"/>
                </a:lnTo>
                <a:lnTo>
                  <a:pt x="213" y="73"/>
                </a:lnTo>
                <a:lnTo>
                  <a:pt x="196" y="83"/>
                </a:lnTo>
                <a:lnTo>
                  <a:pt x="180" y="93"/>
                </a:lnTo>
                <a:lnTo>
                  <a:pt x="164" y="103"/>
                </a:lnTo>
                <a:lnTo>
                  <a:pt x="147" y="113"/>
                </a:lnTo>
                <a:lnTo>
                  <a:pt x="131" y="122"/>
                </a:lnTo>
                <a:lnTo>
                  <a:pt x="114" y="131"/>
                </a:lnTo>
                <a:lnTo>
                  <a:pt x="98" y="139"/>
                </a:lnTo>
                <a:lnTo>
                  <a:pt x="82" y="146"/>
                </a:lnTo>
                <a:lnTo>
                  <a:pt x="65" y="152"/>
                </a:lnTo>
                <a:lnTo>
                  <a:pt x="49" y="157"/>
                </a:lnTo>
                <a:lnTo>
                  <a:pt x="33" y="161"/>
                </a:lnTo>
                <a:lnTo>
                  <a:pt x="16" y="164"/>
                </a:lnTo>
                <a:lnTo>
                  <a:pt x="0" y="164"/>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reeform 57"/>
          <p:cNvSpPr/>
          <p:nvPr/>
        </p:nvSpPr>
        <p:spPr>
          <a:xfrm>
            <a:off x="2057400" y="5200650"/>
            <a:ext cx="3743325" cy="1238250"/>
          </a:xfrm>
          <a:custGeom>
            <a:avLst/>
            <a:gdLst/>
            <a:ahLst/>
            <a:cxnLst/>
            <a:rect l="l" t="t" r="r" b="b"/>
            <a:pathLst>
              <a:path w="393" h="130">
                <a:moveTo>
                  <a:pt x="0" y="128"/>
                </a:moveTo>
                <a:lnTo>
                  <a:pt x="16" y="128"/>
                </a:lnTo>
                <a:lnTo>
                  <a:pt x="33" y="126"/>
                </a:lnTo>
                <a:lnTo>
                  <a:pt x="49" y="123"/>
                </a:lnTo>
                <a:lnTo>
                  <a:pt x="65" y="119"/>
                </a:lnTo>
                <a:lnTo>
                  <a:pt x="82" y="114"/>
                </a:lnTo>
                <a:lnTo>
                  <a:pt x="98" y="108"/>
                </a:lnTo>
                <a:lnTo>
                  <a:pt x="114" y="102"/>
                </a:lnTo>
                <a:lnTo>
                  <a:pt x="131" y="95"/>
                </a:lnTo>
                <a:lnTo>
                  <a:pt x="147" y="88"/>
                </a:lnTo>
                <a:lnTo>
                  <a:pt x="164" y="80"/>
                </a:lnTo>
                <a:lnTo>
                  <a:pt x="180" y="72"/>
                </a:lnTo>
                <a:lnTo>
                  <a:pt x="196" y="64"/>
                </a:lnTo>
                <a:lnTo>
                  <a:pt x="213" y="56"/>
                </a:lnTo>
                <a:lnTo>
                  <a:pt x="229" y="48"/>
                </a:lnTo>
                <a:lnTo>
                  <a:pt x="246" y="41"/>
                </a:lnTo>
                <a:lnTo>
                  <a:pt x="262" y="33"/>
                </a:lnTo>
                <a:lnTo>
                  <a:pt x="278" y="27"/>
                </a:lnTo>
                <a:lnTo>
                  <a:pt x="295" y="20"/>
                </a:lnTo>
                <a:lnTo>
                  <a:pt x="311" y="15"/>
                </a:lnTo>
                <a:lnTo>
                  <a:pt x="327" y="10"/>
                </a:lnTo>
                <a:lnTo>
                  <a:pt x="344" y="6"/>
                </a:lnTo>
                <a:lnTo>
                  <a:pt x="360" y="3"/>
                </a:lnTo>
                <a:lnTo>
                  <a:pt x="377" y="1"/>
                </a:lnTo>
                <a:lnTo>
                  <a:pt x="393" y="0"/>
                </a:lnTo>
                <a:lnTo>
                  <a:pt x="393" y="1"/>
                </a:lnTo>
                <a:lnTo>
                  <a:pt x="377" y="2"/>
                </a:lnTo>
                <a:lnTo>
                  <a:pt x="360" y="4"/>
                </a:lnTo>
                <a:lnTo>
                  <a:pt x="344" y="7"/>
                </a:lnTo>
                <a:lnTo>
                  <a:pt x="327" y="11"/>
                </a:lnTo>
                <a:lnTo>
                  <a:pt x="311" y="16"/>
                </a:lnTo>
                <a:lnTo>
                  <a:pt x="295" y="21"/>
                </a:lnTo>
                <a:lnTo>
                  <a:pt x="278" y="28"/>
                </a:lnTo>
                <a:lnTo>
                  <a:pt x="262" y="35"/>
                </a:lnTo>
                <a:lnTo>
                  <a:pt x="246" y="42"/>
                </a:lnTo>
                <a:lnTo>
                  <a:pt x="229" y="50"/>
                </a:lnTo>
                <a:lnTo>
                  <a:pt x="213" y="58"/>
                </a:lnTo>
                <a:lnTo>
                  <a:pt x="196" y="66"/>
                </a:lnTo>
                <a:lnTo>
                  <a:pt x="180" y="74"/>
                </a:lnTo>
                <a:lnTo>
                  <a:pt x="164" y="81"/>
                </a:lnTo>
                <a:lnTo>
                  <a:pt x="147" y="89"/>
                </a:lnTo>
                <a:lnTo>
                  <a:pt x="131" y="96"/>
                </a:lnTo>
                <a:lnTo>
                  <a:pt x="114" y="103"/>
                </a:lnTo>
                <a:lnTo>
                  <a:pt x="98" y="110"/>
                </a:lnTo>
                <a:lnTo>
                  <a:pt x="82" y="115"/>
                </a:lnTo>
                <a:lnTo>
                  <a:pt x="65" y="120"/>
                </a:lnTo>
                <a:lnTo>
                  <a:pt x="49" y="124"/>
                </a:lnTo>
                <a:lnTo>
                  <a:pt x="33" y="127"/>
                </a:lnTo>
                <a:lnTo>
                  <a:pt x="16" y="129"/>
                </a:lnTo>
                <a:lnTo>
                  <a:pt x="0" y="130"/>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2057400" y="5534025"/>
            <a:ext cx="3743325" cy="914400"/>
          </a:xfrm>
          <a:custGeom>
            <a:avLst/>
            <a:gdLst/>
            <a:ahLst/>
            <a:cxnLst/>
            <a:rect l="l" t="t" r="r" b="b"/>
            <a:pathLst>
              <a:path w="393" h="96">
                <a:moveTo>
                  <a:pt x="0" y="95"/>
                </a:moveTo>
                <a:lnTo>
                  <a:pt x="16" y="94"/>
                </a:lnTo>
                <a:lnTo>
                  <a:pt x="33" y="93"/>
                </a:lnTo>
                <a:lnTo>
                  <a:pt x="49" y="91"/>
                </a:lnTo>
                <a:lnTo>
                  <a:pt x="65" y="88"/>
                </a:lnTo>
                <a:lnTo>
                  <a:pt x="82" y="84"/>
                </a:lnTo>
                <a:lnTo>
                  <a:pt x="98" y="80"/>
                </a:lnTo>
                <a:lnTo>
                  <a:pt x="114" y="75"/>
                </a:lnTo>
                <a:lnTo>
                  <a:pt x="131" y="70"/>
                </a:lnTo>
                <a:lnTo>
                  <a:pt x="147" y="65"/>
                </a:lnTo>
                <a:lnTo>
                  <a:pt x="164" y="59"/>
                </a:lnTo>
                <a:lnTo>
                  <a:pt x="180" y="53"/>
                </a:lnTo>
                <a:lnTo>
                  <a:pt x="196" y="48"/>
                </a:lnTo>
                <a:lnTo>
                  <a:pt x="213" y="42"/>
                </a:lnTo>
                <a:lnTo>
                  <a:pt x="229" y="36"/>
                </a:lnTo>
                <a:lnTo>
                  <a:pt x="246" y="30"/>
                </a:lnTo>
                <a:lnTo>
                  <a:pt x="262" y="25"/>
                </a:lnTo>
                <a:lnTo>
                  <a:pt x="278" y="20"/>
                </a:lnTo>
                <a:lnTo>
                  <a:pt x="295" y="15"/>
                </a:lnTo>
                <a:lnTo>
                  <a:pt x="311" y="11"/>
                </a:lnTo>
                <a:lnTo>
                  <a:pt x="327" y="7"/>
                </a:lnTo>
                <a:lnTo>
                  <a:pt x="344" y="4"/>
                </a:lnTo>
                <a:lnTo>
                  <a:pt x="360" y="2"/>
                </a:lnTo>
                <a:lnTo>
                  <a:pt x="377" y="1"/>
                </a:lnTo>
                <a:lnTo>
                  <a:pt x="393" y="0"/>
                </a:lnTo>
                <a:lnTo>
                  <a:pt x="393" y="2"/>
                </a:lnTo>
                <a:lnTo>
                  <a:pt x="377" y="2"/>
                </a:lnTo>
                <a:lnTo>
                  <a:pt x="360" y="4"/>
                </a:lnTo>
                <a:lnTo>
                  <a:pt x="344" y="6"/>
                </a:lnTo>
                <a:lnTo>
                  <a:pt x="327" y="9"/>
                </a:lnTo>
                <a:lnTo>
                  <a:pt x="311" y="12"/>
                </a:lnTo>
                <a:lnTo>
                  <a:pt x="295" y="16"/>
                </a:lnTo>
                <a:lnTo>
                  <a:pt x="278" y="21"/>
                </a:lnTo>
                <a:lnTo>
                  <a:pt x="262" y="26"/>
                </a:lnTo>
                <a:lnTo>
                  <a:pt x="246" y="32"/>
                </a:lnTo>
                <a:lnTo>
                  <a:pt x="229" y="37"/>
                </a:lnTo>
                <a:lnTo>
                  <a:pt x="213" y="43"/>
                </a:lnTo>
                <a:lnTo>
                  <a:pt x="196" y="49"/>
                </a:lnTo>
                <a:lnTo>
                  <a:pt x="180" y="55"/>
                </a:lnTo>
                <a:lnTo>
                  <a:pt x="164" y="60"/>
                </a:lnTo>
                <a:lnTo>
                  <a:pt x="147" y="66"/>
                </a:lnTo>
                <a:lnTo>
                  <a:pt x="131" y="71"/>
                </a:lnTo>
                <a:lnTo>
                  <a:pt x="114" y="77"/>
                </a:lnTo>
                <a:lnTo>
                  <a:pt x="98" y="81"/>
                </a:lnTo>
                <a:lnTo>
                  <a:pt x="82" y="85"/>
                </a:lnTo>
                <a:lnTo>
                  <a:pt x="65" y="89"/>
                </a:lnTo>
                <a:lnTo>
                  <a:pt x="49" y="92"/>
                </a:lnTo>
                <a:lnTo>
                  <a:pt x="33" y="94"/>
                </a:lnTo>
                <a:lnTo>
                  <a:pt x="16" y="95"/>
                </a:lnTo>
                <a:lnTo>
                  <a:pt x="0" y="96"/>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reeform 59"/>
          <p:cNvSpPr/>
          <p:nvPr/>
        </p:nvSpPr>
        <p:spPr>
          <a:xfrm>
            <a:off x="2057400" y="5867400"/>
            <a:ext cx="3743325" cy="590550"/>
          </a:xfrm>
          <a:custGeom>
            <a:avLst/>
            <a:gdLst/>
            <a:ahLst/>
            <a:cxnLst/>
            <a:rect l="l" t="t" r="r" b="b"/>
            <a:pathLst>
              <a:path w="393" h="62">
                <a:moveTo>
                  <a:pt x="0" y="61"/>
                </a:moveTo>
                <a:lnTo>
                  <a:pt x="16" y="61"/>
                </a:lnTo>
                <a:lnTo>
                  <a:pt x="33" y="60"/>
                </a:lnTo>
                <a:lnTo>
                  <a:pt x="49" y="58"/>
                </a:lnTo>
                <a:lnTo>
                  <a:pt x="65" y="56"/>
                </a:lnTo>
                <a:lnTo>
                  <a:pt x="82" y="54"/>
                </a:lnTo>
                <a:lnTo>
                  <a:pt x="98" y="51"/>
                </a:lnTo>
                <a:lnTo>
                  <a:pt x="114" y="48"/>
                </a:lnTo>
                <a:lnTo>
                  <a:pt x="131" y="45"/>
                </a:lnTo>
                <a:lnTo>
                  <a:pt x="147" y="42"/>
                </a:lnTo>
                <a:lnTo>
                  <a:pt x="164" y="38"/>
                </a:lnTo>
                <a:lnTo>
                  <a:pt x="180" y="34"/>
                </a:lnTo>
                <a:lnTo>
                  <a:pt x="196" y="30"/>
                </a:lnTo>
                <a:lnTo>
                  <a:pt x="213" y="27"/>
                </a:lnTo>
                <a:lnTo>
                  <a:pt x="229" y="23"/>
                </a:lnTo>
                <a:lnTo>
                  <a:pt x="246" y="19"/>
                </a:lnTo>
                <a:lnTo>
                  <a:pt x="262" y="16"/>
                </a:lnTo>
                <a:lnTo>
                  <a:pt x="278" y="12"/>
                </a:lnTo>
                <a:lnTo>
                  <a:pt x="295" y="9"/>
                </a:lnTo>
                <a:lnTo>
                  <a:pt x="311" y="7"/>
                </a:lnTo>
                <a:lnTo>
                  <a:pt x="327" y="4"/>
                </a:lnTo>
                <a:lnTo>
                  <a:pt x="344" y="3"/>
                </a:lnTo>
                <a:lnTo>
                  <a:pt x="360" y="1"/>
                </a:lnTo>
                <a:lnTo>
                  <a:pt x="377" y="0"/>
                </a:lnTo>
                <a:lnTo>
                  <a:pt x="393" y="0"/>
                </a:lnTo>
                <a:lnTo>
                  <a:pt x="393" y="1"/>
                </a:lnTo>
                <a:lnTo>
                  <a:pt x="377" y="1"/>
                </a:lnTo>
                <a:lnTo>
                  <a:pt x="360" y="2"/>
                </a:lnTo>
                <a:lnTo>
                  <a:pt x="344" y="4"/>
                </a:lnTo>
                <a:lnTo>
                  <a:pt x="327" y="6"/>
                </a:lnTo>
                <a:lnTo>
                  <a:pt x="311" y="8"/>
                </a:lnTo>
                <a:lnTo>
                  <a:pt x="295" y="11"/>
                </a:lnTo>
                <a:lnTo>
                  <a:pt x="278" y="14"/>
                </a:lnTo>
                <a:lnTo>
                  <a:pt x="262" y="17"/>
                </a:lnTo>
                <a:lnTo>
                  <a:pt x="246" y="20"/>
                </a:lnTo>
                <a:lnTo>
                  <a:pt x="229" y="24"/>
                </a:lnTo>
                <a:lnTo>
                  <a:pt x="213" y="28"/>
                </a:lnTo>
                <a:lnTo>
                  <a:pt x="196" y="32"/>
                </a:lnTo>
                <a:lnTo>
                  <a:pt x="180" y="35"/>
                </a:lnTo>
                <a:lnTo>
                  <a:pt x="164" y="39"/>
                </a:lnTo>
                <a:lnTo>
                  <a:pt x="147" y="43"/>
                </a:lnTo>
                <a:lnTo>
                  <a:pt x="131" y="46"/>
                </a:lnTo>
                <a:lnTo>
                  <a:pt x="114" y="50"/>
                </a:lnTo>
                <a:lnTo>
                  <a:pt x="98" y="53"/>
                </a:lnTo>
                <a:lnTo>
                  <a:pt x="82" y="55"/>
                </a:lnTo>
                <a:lnTo>
                  <a:pt x="65" y="58"/>
                </a:lnTo>
                <a:lnTo>
                  <a:pt x="49" y="60"/>
                </a:lnTo>
                <a:lnTo>
                  <a:pt x="33" y="61"/>
                </a:lnTo>
                <a:lnTo>
                  <a:pt x="16" y="62"/>
                </a:lnTo>
                <a:lnTo>
                  <a:pt x="0" y="62"/>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2057400" y="6191250"/>
            <a:ext cx="3743325" cy="276225"/>
          </a:xfrm>
          <a:custGeom>
            <a:avLst/>
            <a:gdLst/>
            <a:ahLst/>
            <a:cxnLst/>
            <a:rect l="l" t="t" r="r" b="b"/>
            <a:pathLst>
              <a:path w="393" h="29">
                <a:moveTo>
                  <a:pt x="0" y="28"/>
                </a:moveTo>
                <a:lnTo>
                  <a:pt x="16" y="28"/>
                </a:lnTo>
                <a:lnTo>
                  <a:pt x="33" y="28"/>
                </a:lnTo>
                <a:lnTo>
                  <a:pt x="49" y="27"/>
                </a:lnTo>
                <a:lnTo>
                  <a:pt x="65" y="26"/>
                </a:lnTo>
                <a:lnTo>
                  <a:pt x="82" y="25"/>
                </a:lnTo>
                <a:lnTo>
                  <a:pt x="98" y="24"/>
                </a:lnTo>
                <a:lnTo>
                  <a:pt x="114" y="22"/>
                </a:lnTo>
                <a:lnTo>
                  <a:pt x="131" y="21"/>
                </a:lnTo>
                <a:lnTo>
                  <a:pt x="147" y="19"/>
                </a:lnTo>
                <a:lnTo>
                  <a:pt x="164" y="17"/>
                </a:lnTo>
                <a:lnTo>
                  <a:pt x="180" y="16"/>
                </a:lnTo>
                <a:lnTo>
                  <a:pt x="196" y="14"/>
                </a:lnTo>
                <a:lnTo>
                  <a:pt x="213" y="12"/>
                </a:lnTo>
                <a:lnTo>
                  <a:pt x="229" y="10"/>
                </a:lnTo>
                <a:lnTo>
                  <a:pt x="246" y="9"/>
                </a:lnTo>
                <a:lnTo>
                  <a:pt x="262" y="7"/>
                </a:lnTo>
                <a:lnTo>
                  <a:pt x="278" y="5"/>
                </a:lnTo>
                <a:lnTo>
                  <a:pt x="295" y="4"/>
                </a:lnTo>
                <a:lnTo>
                  <a:pt x="311" y="3"/>
                </a:lnTo>
                <a:lnTo>
                  <a:pt x="327" y="2"/>
                </a:lnTo>
                <a:lnTo>
                  <a:pt x="344" y="1"/>
                </a:lnTo>
                <a:lnTo>
                  <a:pt x="360" y="0"/>
                </a:lnTo>
                <a:lnTo>
                  <a:pt x="377" y="0"/>
                </a:lnTo>
                <a:lnTo>
                  <a:pt x="393" y="0"/>
                </a:lnTo>
                <a:lnTo>
                  <a:pt x="393" y="1"/>
                </a:lnTo>
                <a:lnTo>
                  <a:pt x="377" y="1"/>
                </a:lnTo>
                <a:lnTo>
                  <a:pt x="360" y="1"/>
                </a:lnTo>
                <a:lnTo>
                  <a:pt x="344" y="2"/>
                </a:lnTo>
                <a:lnTo>
                  <a:pt x="327" y="3"/>
                </a:lnTo>
                <a:lnTo>
                  <a:pt x="311" y="4"/>
                </a:lnTo>
                <a:lnTo>
                  <a:pt x="295" y="5"/>
                </a:lnTo>
                <a:lnTo>
                  <a:pt x="278" y="7"/>
                </a:lnTo>
                <a:lnTo>
                  <a:pt x="262" y="8"/>
                </a:lnTo>
                <a:lnTo>
                  <a:pt x="246" y="10"/>
                </a:lnTo>
                <a:lnTo>
                  <a:pt x="229" y="11"/>
                </a:lnTo>
                <a:lnTo>
                  <a:pt x="213" y="13"/>
                </a:lnTo>
                <a:lnTo>
                  <a:pt x="196" y="15"/>
                </a:lnTo>
                <a:lnTo>
                  <a:pt x="180" y="17"/>
                </a:lnTo>
                <a:lnTo>
                  <a:pt x="164" y="18"/>
                </a:lnTo>
                <a:lnTo>
                  <a:pt x="147" y="20"/>
                </a:lnTo>
                <a:lnTo>
                  <a:pt x="131" y="22"/>
                </a:lnTo>
                <a:lnTo>
                  <a:pt x="114" y="23"/>
                </a:lnTo>
                <a:lnTo>
                  <a:pt x="98" y="25"/>
                </a:lnTo>
                <a:lnTo>
                  <a:pt x="82" y="26"/>
                </a:lnTo>
                <a:lnTo>
                  <a:pt x="65" y="27"/>
                </a:lnTo>
                <a:lnTo>
                  <a:pt x="49" y="28"/>
                </a:lnTo>
                <a:lnTo>
                  <a:pt x="33" y="29"/>
                </a:lnTo>
                <a:lnTo>
                  <a:pt x="16" y="29"/>
                </a:lnTo>
                <a:lnTo>
                  <a:pt x="0" y="29"/>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2057400" y="6381750"/>
            <a:ext cx="3743325" cy="95250"/>
          </a:xfrm>
          <a:custGeom>
            <a:avLst/>
            <a:gdLst/>
            <a:ahLst/>
            <a:cxnLst/>
            <a:rect l="l" t="t" r="r" b="b"/>
            <a:pathLst>
              <a:path w="393" h="10">
                <a:moveTo>
                  <a:pt x="0" y="9"/>
                </a:moveTo>
                <a:lnTo>
                  <a:pt x="16" y="9"/>
                </a:lnTo>
                <a:lnTo>
                  <a:pt x="33" y="9"/>
                </a:lnTo>
                <a:lnTo>
                  <a:pt x="49" y="9"/>
                </a:lnTo>
                <a:lnTo>
                  <a:pt x="65" y="9"/>
                </a:lnTo>
                <a:lnTo>
                  <a:pt x="82" y="8"/>
                </a:lnTo>
                <a:lnTo>
                  <a:pt x="98" y="8"/>
                </a:lnTo>
                <a:lnTo>
                  <a:pt x="114" y="7"/>
                </a:lnTo>
                <a:lnTo>
                  <a:pt x="131" y="7"/>
                </a:lnTo>
                <a:lnTo>
                  <a:pt x="147" y="6"/>
                </a:lnTo>
                <a:lnTo>
                  <a:pt x="164" y="6"/>
                </a:lnTo>
                <a:lnTo>
                  <a:pt x="180" y="5"/>
                </a:lnTo>
                <a:lnTo>
                  <a:pt x="196" y="5"/>
                </a:lnTo>
                <a:lnTo>
                  <a:pt x="213" y="4"/>
                </a:lnTo>
                <a:lnTo>
                  <a:pt x="229" y="3"/>
                </a:lnTo>
                <a:lnTo>
                  <a:pt x="246" y="3"/>
                </a:lnTo>
                <a:lnTo>
                  <a:pt x="262" y="2"/>
                </a:lnTo>
                <a:lnTo>
                  <a:pt x="278" y="2"/>
                </a:lnTo>
                <a:lnTo>
                  <a:pt x="295" y="1"/>
                </a:lnTo>
                <a:lnTo>
                  <a:pt x="311" y="1"/>
                </a:lnTo>
                <a:lnTo>
                  <a:pt x="327" y="1"/>
                </a:lnTo>
                <a:lnTo>
                  <a:pt x="344" y="0"/>
                </a:lnTo>
                <a:lnTo>
                  <a:pt x="360" y="0"/>
                </a:lnTo>
                <a:lnTo>
                  <a:pt x="377" y="0"/>
                </a:lnTo>
                <a:lnTo>
                  <a:pt x="393" y="0"/>
                </a:lnTo>
                <a:lnTo>
                  <a:pt x="393" y="0"/>
                </a:lnTo>
                <a:lnTo>
                  <a:pt x="377" y="0"/>
                </a:lnTo>
                <a:lnTo>
                  <a:pt x="360" y="1"/>
                </a:lnTo>
                <a:lnTo>
                  <a:pt x="344" y="1"/>
                </a:lnTo>
                <a:lnTo>
                  <a:pt x="327" y="1"/>
                </a:lnTo>
                <a:lnTo>
                  <a:pt x="311" y="1"/>
                </a:lnTo>
                <a:lnTo>
                  <a:pt x="295" y="2"/>
                </a:lnTo>
                <a:lnTo>
                  <a:pt x="278" y="2"/>
                </a:lnTo>
                <a:lnTo>
                  <a:pt x="262" y="3"/>
                </a:lnTo>
                <a:lnTo>
                  <a:pt x="246" y="3"/>
                </a:lnTo>
                <a:lnTo>
                  <a:pt x="229" y="4"/>
                </a:lnTo>
                <a:lnTo>
                  <a:pt x="213" y="4"/>
                </a:lnTo>
                <a:lnTo>
                  <a:pt x="196" y="5"/>
                </a:lnTo>
                <a:lnTo>
                  <a:pt x="180" y="6"/>
                </a:lnTo>
                <a:lnTo>
                  <a:pt x="164" y="6"/>
                </a:lnTo>
                <a:lnTo>
                  <a:pt x="147" y="7"/>
                </a:lnTo>
                <a:lnTo>
                  <a:pt x="131" y="7"/>
                </a:lnTo>
                <a:lnTo>
                  <a:pt x="114" y="8"/>
                </a:lnTo>
                <a:lnTo>
                  <a:pt x="98" y="8"/>
                </a:lnTo>
                <a:lnTo>
                  <a:pt x="82" y="9"/>
                </a:lnTo>
                <a:lnTo>
                  <a:pt x="65" y="9"/>
                </a:lnTo>
                <a:lnTo>
                  <a:pt x="49" y="9"/>
                </a:lnTo>
                <a:lnTo>
                  <a:pt x="33" y="9"/>
                </a:lnTo>
                <a:lnTo>
                  <a:pt x="16" y="10"/>
                </a:lnTo>
                <a:lnTo>
                  <a:pt x="0" y="10"/>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057400" y="6477000"/>
            <a:ext cx="3743325" cy="57150"/>
          </a:xfrm>
          <a:custGeom>
            <a:avLst/>
            <a:gdLst/>
            <a:ahLst/>
            <a:cxnLst/>
            <a:rect l="l" t="t" r="r" b="b"/>
            <a:pathLst>
              <a:path w="393" h="6">
                <a:moveTo>
                  <a:pt x="0" y="0"/>
                </a:moveTo>
                <a:lnTo>
                  <a:pt x="16" y="0"/>
                </a:lnTo>
                <a:lnTo>
                  <a:pt x="33" y="0"/>
                </a:lnTo>
                <a:lnTo>
                  <a:pt x="49" y="0"/>
                </a:lnTo>
                <a:lnTo>
                  <a:pt x="65" y="0"/>
                </a:lnTo>
                <a:lnTo>
                  <a:pt x="82" y="0"/>
                </a:lnTo>
                <a:lnTo>
                  <a:pt x="98" y="1"/>
                </a:lnTo>
                <a:lnTo>
                  <a:pt x="114" y="1"/>
                </a:lnTo>
                <a:lnTo>
                  <a:pt x="131" y="1"/>
                </a:lnTo>
                <a:lnTo>
                  <a:pt x="147" y="2"/>
                </a:lnTo>
                <a:lnTo>
                  <a:pt x="164" y="2"/>
                </a:lnTo>
                <a:lnTo>
                  <a:pt x="180" y="2"/>
                </a:lnTo>
                <a:lnTo>
                  <a:pt x="196" y="3"/>
                </a:lnTo>
                <a:lnTo>
                  <a:pt x="213" y="3"/>
                </a:lnTo>
                <a:lnTo>
                  <a:pt x="229" y="3"/>
                </a:lnTo>
                <a:lnTo>
                  <a:pt x="246" y="4"/>
                </a:lnTo>
                <a:lnTo>
                  <a:pt x="262" y="4"/>
                </a:lnTo>
                <a:lnTo>
                  <a:pt x="278" y="4"/>
                </a:lnTo>
                <a:lnTo>
                  <a:pt x="295" y="5"/>
                </a:lnTo>
                <a:lnTo>
                  <a:pt x="311" y="5"/>
                </a:lnTo>
                <a:lnTo>
                  <a:pt x="327" y="5"/>
                </a:lnTo>
                <a:lnTo>
                  <a:pt x="344" y="5"/>
                </a:lnTo>
                <a:lnTo>
                  <a:pt x="360" y="6"/>
                </a:lnTo>
                <a:lnTo>
                  <a:pt x="377" y="6"/>
                </a:lnTo>
                <a:lnTo>
                  <a:pt x="393" y="6"/>
                </a:lnTo>
                <a:lnTo>
                  <a:pt x="393" y="6"/>
                </a:lnTo>
                <a:lnTo>
                  <a:pt x="377" y="6"/>
                </a:lnTo>
                <a:lnTo>
                  <a:pt x="360" y="6"/>
                </a:lnTo>
                <a:lnTo>
                  <a:pt x="344" y="6"/>
                </a:lnTo>
                <a:lnTo>
                  <a:pt x="327" y="6"/>
                </a:lnTo>
                <a:lnTo>
                  <a:pt x="311" y="5"/>
                </a:lnTo>
                <a:lnTo>
                  <a:pt x="295" y="5"/>
                </a:lnTo>
                <a:lnTo>
                  <a:pt x="278" y="5"/>
                </a:lnTo>
                <a:lnTo>
                  <a:pt x="262" y="5"/>
                </a:lnTo>
                <a:lnTo>
                  <a:pt x="246" y="4"/>
                </a:lnTo>
                <a:lnTo>
                  <a:pt x="229" y="4"/>
                </a:lnTo>
                <a:lnTo>
                  <a:pt x="213" y="3"/>
                </a:lnTo>
                <a:lnTo>
                  <a:pt x="196" y="3"/>
                </a:lnTo>
                <a:lnTo>
                  <a:pt x="180" y="3"/>
                </a:lnTo>
                <a:lnTo>
                  <a:pt x="164" y="2"/>
                </a:lnTo>
                <a:lnTo>
                  <a:pt x="147" y="2"/>
                </a:lnTo>
                <a:lnTo>
                  <a:pt x="131" y="2"/>
                </a:lnTo>
                <a:lnTo>
                  <a:pt x="114" y="1"/>
                </a:lnTo>
                <a:lnTo>
                  <a:pt x="98" y="1"/>
                </a:lnTo>
                <a:lnTo>
                  <a:pt x="82" y="1"/>
                </a:lnTo>
                <a:lnTo>
                  <a:pt x="65" y="1"/>
                </a:lnTo>
                <a:lnTo>
                  <a:pt x="49" y="0"/>
                </a:lnTo>
                <a:lnTo>
                  <a:pt x="33" y="0"/>
                </a:lnTo>
                <a:lnTo>
                  <a:pt x="16" y="0"/>
                </a:lnTo>
                <a:lnTo>
                  <a:pt x="0" y="0"/>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Rectangle 63"/>
          <p:cNvSpPr/>
          <p:nvPr/>
        </p:nvSpPr>
        <p:spPr>
          <a:xfrm>
            <a:off x="1941195" y="4181475"/>
            <a:ext cx="114300" cy="734197"/>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Rectangle 64"/>
          <p:cNvSpPr/>
          <p:nvPr/>
        </p:nvSpPr>
        <p:spPr>
          <a:xfrm>
            <a:off x="1941195" y="4972822"/>
            <a:ext cx="114300" cy="463526"/>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Rectangle 65"/>
          <p:cNvSpPr/>
          <p:nvPr/>
        </p:nvSpPr>
        <p:spPr>
          <a:xfrm>
            <a:off x="1941195" y="5493498"/>
            <a:ext cx="114300" cy="32327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Rectangle 66"/>
          <p:cNvSpPr/>
          <p:nvPr/>
        </p:nvSpPr>
        <p:spPr>
          <a:xfrm>
            <a:off x="1941195" y="5873919"/>
            <a:ext cx="114300" cy="281559"/>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Rectangle 67"/>
          <p:cNvSpPr/>
          <p:nvPr/>
        </p:nvSpPr>
        <p:spPr>
          <a:xfrm>
            <a:off x="1941195" y="6212628"/>
            <a:ext cx="114300" cy="123082"/>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Rectangle 68"/>
          <p:cNvSpPr/>
          <p:nvPr/>
        </p:nvSpPr>
        <p:spPr>
          <a:xfrm>
            <a:off x="1941195" y="6392860"/>
            <a:ext cx="114300" cy="84140"/>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5800725" y="4124325"/>
            <a:ext cx="114300" cy="390708"/>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5800725" y="4572183"/>
            <a:ext cx="114300" cy="301178"/>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5800725" y="4930511"/>
            <a:ext cx="114300" cy="283923"/>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Rectangle 72"/>
          <p:cNvSpPr/>
          <p:nvPr/>
        </p:nvSpPr>
        <p:spPr>
          <a:xfrm>
            <a:off x="5800725" y="5271584"/>
            <a:ext cx="114300" cy="278797"/>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Rectangle 73"/>
          <p:cNvSpPr/>
          <p:nvPr/>
        </p:nvSpPr>
        <p:spPr>
          <a:xfrm>
            <a:off x="5800725" y="5607531"/>
            <a:ext cx="114300" cy="270432"/>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5800725" y="5935112"/>
            <a:ext cx="114300" cy="26218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5800725" y="6254443"/>
            <a:ext cx="114300" cy="13129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5800725" y="6442884"/>
            <a:ext cx="114300" cy="91266"/>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257175" y="4477136"/>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79" name="TextBox 78"/>
          <p:cNvSpPr txBox="1"/>
          <p:nvPr/>
        </p:nvSpPr>
        <p:spPr>
          <a:xfrm>
            <a:off x="257175" y="5133147"/>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0" name="TextBox 79"/>
          <p:cNvSpPr txBox="1"/>
          <p:nvPr/>
        </p:nvSpPr>
        <p:spPr>
          <a:xfrm>
            <a:off x="257175" y="5583696"/>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1" name="TextBox 80"/>
          <p:cNvSpPr txBox="1"/>
          <p:nvPr/>
        </p:nvSpPr>
        <p:spPr>
          <a:xfrm>
            <a:off x="257175" y="5943261"/>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2" name="TextBox 81"/>
          <p:cNvSpPr txBox="1"/>
          <p:nvPr/>
        </p:nvSpPr>
        <p:spPr>
          <a:xfrm>
            <a:off x="257175" y="6202732"/>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3" name="TextBox 82"/>
          <p:cNvSpPr txBox="1"/>
          <p:nvPr/>
        </p:nvSpPr>
        <p:spPr>
          <a:xfrm>
            <a:off x="257175" y="6363493"/>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84" name="TextBox 83"/>
          <p:cNvSpPr txBox="1"/>
          <p:nvPr/>
        </p:nvSpPr>
        <p:spPr>
          <a:xfrm>
            <a:off x="5972175" y="4248241"/>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5" name="TextBox 84"/>
          <p:cNvSpPr txBox="1"/>
          <p:nvPr/>
        </p:nvSpPr>
        <p:spPr>
          <a:xfrm>
            <a:off x="5972175" y="4651334"/>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6" name="TextBox 85"/>
          <p:cNvSpPr txBox="1"/>
          <p:nvPr/>
        </p:nvSpPr>
        <p:spPr>
          <a:xfrm>
            <a:off x="5972175" y="500103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7" name="TextBox 86"/>
          <p:cNvSpPr txBox="1"/>
          <p:nvPr/>
        </p:nvSpPr>
        <p:spPr>
          <a:xfrm>
            <a:off x="5972175" y="533954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8" name="TextBox 87"/>
          <p:cNvSpPr txBox="1"/>
          <p:nvPr/>
        </p:nvSpPr>
        <p:spPr>
          <a:xfrm>
            <a:off x="5972175" y="5671309"/>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89" name="TextBox 88"/>
          <p:cNvSpPr txBox="1"/>
          <p:nvPr/>
        </p:nvSpPr>
        <p:spPr>
          <a:xfrm>
            <a:off x="5972175" y="599476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90" name="TextBox 89"/>
          <p:cNvSpPr txBox="1"/>
          <p:nvPr/>
        </p:nvSpPr>
        <p:spPr>
          <a:xfrm>
            <a:off x="5972175" y="623887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91" name="TextBox 90"/>
          <p:cNvSpPr txBox="1"/>
          <p:nvPr/>
        </p:nvSpPr>
        <p:spPr>
          <a:xfrm>
            <a:off x="5972175" y="6391275"/>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92" name="Rounded Rectangle 91"/>
          <p:cNvSpPr/>
          <p:nvPr/>
        </p:nvSpPr>
        <p:spPr>
          <a:xfrm>
            <a:off x="7581900" y="3800475"/>
            <a:ext cx="445770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715250" y="38862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94" name="Rectangle 93"/>
          <p:cNvSpPr/>
          <p:nvPr/>
        </p:nvSpPr>
        <p:spPr>
          <a:xfrm>
            <a:off x="7715250" y="41243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7715250" y="4210050"/>
            <a:ext cx="41910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96" name="TextBox 9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7" name="Picture 96" descr="lock.png"/>
          <p:cNvPicPr>
            <a:picLocks noChangeAspect="1"/>
          </p:cNvPicPr>
          <p:nvPr/>
        </p:nvPicPr>
        <p:blipFill>
          <a:blip r:embed="rId4"/>
          <a:stretch>
            <a:fillRect/>
          </a:stretch>
        </p:blipFill>
        <p:spPr>
          <a:xfrm>
            <a:off x="6329786" y="2327601"/>
            <a:ext cx="366712" cy="533400"/>
          </a:xfrm>
          <a:prstGeom prst="rect">
            <a:avLst/>
          </a:prstGeom>
        </p:spPr>
      </p:pic>
      <p:sp>
        <p:nvSpPr>
          <p:cNvPr id="98" name="TextBox 97"/>
          <p:cNvSpPr txBox="1"/>
          <p:nvPr/>
        </p:nvSpPr>
        <p:spPr>
          <a:xfrm>
            <a:off x="1506956" y="4488223"/>
            <a:ext cx="323338" cy="139750"/>
          </a:xfrm>
          <a:prstGeom prst="rect">
            <a:avLst/>
          </a:prstGeom>
          <a:noFill/>
        </p:spPr>
        <p:txBody>
          <a:bodyPr wrap="none" lIns="0" rIns="0" tIns="0" bIns="0">
            <a:spAutoFit/>
          </a:bodyPr>
          <a:lstStyle/>
          <a:p>
            <a:r>
              <a:rPr sz="791" b="0">
                <a:solidFill>
                  <a:srgbClr val="6C7A89"/>
                </a:solidFill>
                <a:latin typeface="Calibri"/>
              </a:rPr>
              <a:t>Liquid</a:t>
            </a:r>
          </a:p>
        </p:txBody>
      </p:sp>
      <p:pic>
        <p:nvPicPr>
          <p:cNvPr id="99" name="Picture 98" descr="lock.png"/>
          <p:cNvPicPr>
            <a:picLocks noChangeAspect="1"/>
          </p:cNvPicPr>
          <p:nvPr/>
        </p:nvPicPr>
        <p:blipFill>
          <a:blip r:embed="rId4"/>
          <a:stretch>
            <a:fillRect/>
          </a:stretch>
        </p:blipFill>
        <p:spPr>
          <a:xfrm>
            <a:off x="1771555" y="4481182"/>
            <a:ext cx="92663" cy="134782"/>
          </a:xfrm>
          <a:prstGeom prst="rect">
            <a:avLst/>
          </a:prstGeom>
        </p:spPr>
      </p:pic>
      <p:sp>
        <p:nvSpPr>
          <p:cNvPr id="100" name="TextBox 99"/>
          <p:cNvSpPr txBox="1"/>
          <p:nvPr/>
        </p:nvSpPr>
        <p:spPr>
          <a:xfrm>
            <a:off x="1409515" y="5144234"/>
            <a:ext cx="420778" cy="139750"/>
          </a:xfrm>
          <a:prstGeom prst="rect">
            <a:avLst/>
          </a:prstGeom>
          <a:noFill/>
        </p:spPr>
        <p:txBody>
          <a:bodyPr wrap="none" lIns="0" rIns="0" tIns="0" bIns="0">
            <a:spAutoFit/>
          </a:bodyPr>
          <a:lstStyle/>
          <a:p>
            <a:r>
              <a:rPr sz="791" b="1">
                <a:solidFill>
                  <a:srgbClr val="2E2E2E"/>
                </a:solidFill>
                <a:latin typeface="Calibri"/>
              </a:rPr>
              <a:t>Blended</a:t>
            </a:r>
          </a:p>
        </p:txBody>
      </p:sp>
      <p:pic>
        <p:nvPicPr>
          <p:cNvPr id="101" name="Picture 100" descr="lock.png"/>
          <p:cNvPicPr>
            <a:picLocks noChangeAspect="1"/>
          </p:cNvPicPr>
          <p:nvPr/>
        </p:nvPicPr>
        <p:blipFill>
          <a:blip r:embed="rId4"/>
          <a:stretch>
            <a:fillRect/>
          </a:stretch>
        </p:blipFill>
        <p:spPr>
          <a:xfrm>
            <a:off x="1771555" y="5137193"/>
            <a:ext cx="92663" cy="134782"/>
          </a:xfrm>
          <a:prstGeom prst="rect">
            <a:avLst/>
          </a:prstGeom>
        </p:spPr>
      </p:pic>
      <p:sp>
        <p:nvSpPr>
          <p:cNvPr id="102" name="TextBox 101"/>
          <p:cNvSpPr txBox="1"/>
          <p:nvPr/>
        </p:nvSpPr>
        <p:spPr>
          <a:xfrm>
            <a:off x="1443895" y="5594783"/>
            <a:ext cx="386399" cy="139750"/>
          </a:xfrm>
          <a:prstGeom prst="rect">
            <a:avLst/>
          </a:prstGeom>
          <a:noFill/>
        </p:spPr>
        <p:txBody>
          <a:bodyPr wrap="none" lIns="0" rIns="0" tIns="0" bIns="0">
            <a:spAutoFit/>
          </a:bodyPr>
          <a:lstStyle/>
          <a:p>
            <a:r>
              <a:rPr sz="791" b="0">
                <a:solidFill>
                  <a:srgbClr val="6C7A89"/>
                </a:solidFill>
                <a:latin typeface="Calibri"/>
              </a:rPr>
              <a:t>Ground</a:t>
            </a:r>
          </a:p>
        </p:txBody>
      </p:sp>
      <p:pic>
        <p:nvPicPr>
          <p:cNvPr id="103" name="Picture 102" descr="lock.png"/>
          <p:cNvPicPr>
            <a:picLocks noChangeAspect="1"/>
          </p:cNvPicPr>
          <p:nvPr/>
        </p:nvPicPr>
        <p:blipFill>
          <a:blip r:embed="rId4"/>
          <a:stretch>
            <a:fillRect/>
          </a:stretch>
        </p:blipFill>
        <p:spPr>
          <a:xfrm>
            <a:off x="1771555" y="5587742"/>
            <a:ext cx="92663" cy="134782"/>
          </a:xfrm>
          <a:prstGeom prst="rect">
            <a:avLst/>
          </a:prstGeom>
        </p:spPr>
      </p:pic>
      <p:sp>
        <p:nvSpPr>
          <p:cNvPr id="104" name="TextBox 103"/>
          <p:cNvSpPr txBox="1"/>
          <p:nvPr/>
        </p:nvSpPr>
        <p:spPr>
          <a:xfrm>
            <a:off x="1485346" y="5954348"/>
            <a:ext cx="344947" cy="139750"/>
          </a:xfrm>
          <a:prstGeom prst="rect">
            <a:avLst/>
          </a:prstGeom>
          <a:noFill/>
        </p:spPr>
        <p:txBody>
          <a:bodyPr wrap="none" lIns="0" rIns="0" tIns="0" bIns="0">
            <a:spAutoFit/>
          </a:bodyPr>
          <a:lstStyle/>
          <a:p>
            <a:r>
              <a:rPr sz="791" b="0">
                <a:solidFill>
                  <a:srgbClr val="6C7A89"/>
                </a:solidFill>
                <a:latin typeface="Calibri"/>
              </a:rPr>
              <a:t>Whole</a:t>
            </a:r>
          </a:p>
        </p:txBody>
      </p:sp>
      <p:pic>
        <p:nvPicPr>
          <p:cNvPr id="105" name="Picture 104" descr="lock.png"/>
          <p:cNvPicPr>
            <a:picLocks noChangeAspect="1"/>
          </p:cNvPicPr>
          <p:nvPr/>
        </p:nvPicPr>
        <p:blipFill>
          <a:blip r:embed="rId4"/>
          <a:stretch>
            <a:fillRect/>
          </a:stretch>
        </p:blipFill>
        <p:spPr>
          <a:xfrm>
            <a:off x="1771555" y="5947307"/>
            <a:ext cx="92663" cy="134782"/>
          </a:xfrm>
          <a:prstGeom prst="rect">
            <a:avLst/>
          </a:prstGeom>
        </p:spPr>
      </p:pic>
      <p:sp>
        <p:nvSpPr>
          <p:cNvPr id="106" name="TextBox 105"/>
          <p:cNvSpPr txBox="1"/>
          <p:nvPr/>
        </p:nvSpPr>
        <p:spPr>
          <a:xfrm>
            <a:off x="1438983" y="6213819"/>
            <a:ext cx="391310" cy="139750"/>
          </a:xfrm>
          <a:prstGeom prst="rect">
            <a:avLst/>
          </a:prstGeom>
          <a:noFill/>
        </p:spPr>
        <p:txBody>
          <a:bodyPr wrap="none" lIns="0" rIns="0" tIns="0" bIns="0">
            <a:spAutoFit/>
          </a:bodyPr>
          <a:lstStyle/>
          <a:p>
            <a:r>
              <a:rPr sz="791" b="0">
                <a:solidFill>
                  <a:srgbClr val="6C7A89"/>
                </a:solidFill>
                <a:latin typeface="Calibri"/>
              </a:rPr>
              <a:t>Powder</a:t>
            </a:r>
          </a:p>
        </p:txBody>
      </p:sp>
      <p:pic>
        <p:nvPicPr>
          <p:cNvPr id="107" name="Picture 106" descr="lock.png"/>
          <p:cNvPicPr>
            <a:picLocks noChangeAspect="1"/>
          </p:cNvPicPr>
          <p:nvPr/>
        </p:nvPicPr>
        <p:blipFill>
          <a:blip r:embed="rId4"/>
          <a:stretch>
            <a:fillRect/>
          </a:stretch>
        </p:blipFill>
        <p:spPr>
          <a:xfrm>
            <a:off x="1771555" y="6206778"/>
            <a:ext cx="92663" cy="134782"/>
          </a:xfrm>
          <a:prstGeom prst="rect">
            <a:avLst/>
          </a:prstGeom>
        </p:spPr>
      </p:pic>
      <p:sp>
        <p:nvSpPr>
          <p:cNvPr id="108" name="TextBox 107"/>
          <p:cNvSpPr txBox="1"/>
          <p:nvPr/>
        </p:nvSpPr>
        <p:spPr>
          <a:xfrm>
            <a:off x="1381030" y="6374580"/>
            <a:ext cx="449264" cy="139750"/>
          </a:xfrm>
          <a:prstGeom prst="rect">
            <a:avLst/>
          </a:prstGeom>
          <a:noFill/>
        </p:spPr>
        <p:txBody>
          <a:bodyPr wrap="none" lIns="0" rIns="0" tIns="0" bIns="0">
            <a:spAutoFit/>
          </a:bodyPr>
          <a:lstStyle/>
          <a:p>
            <a:r>
              <a:rPr sz="791" b="1">
                <a:solidFill>
                  <a:srgbClr val="2E2E2E"/>
                </a:solidFill>
                <a:latin typeface="Calibri"/>
              </a:rPr>
              <a:t>Granules</a:t>
            </a:r>
          </a:p>
        </p:txBody>
      </p:sp>
      <p:pic>
        <p:nvPicPr>
          <p:cNvPr id="109" name="Picture 108" descr="lock.png"/>
          <p:cNvPicPr>
            <a:picLocks noChangeAspect="1"/>
          </p:cNvPicPr>
          <p:nvPr/>
        </p:nvPicPr>
        <p:blipFill>
          <a:blip r:embed="rId4"/>
          <a:stretch>
            <a:fillRect/>
          </a:stretch>
        </p:blipFill>
        <p:spPr>
          <a:xfrm>
            <a:off x="1771555" y="6367539"/>
            <a:ext cx="92663" cy="134782"/>
          </a:xfrm>
          <a:prstGeom prst="rect">
            <a:avLst/>
          </a:prstGeom>
        </p:spPr>
      </p:pic>
      <p:sp>
        <p:nvSpPr>
          <p:cNvPr id="110" name="TextBox 109"/>
          <p:cNvSpPr txBox="1"/>
          <p:nvPr/>
        </p:nvSpPr>
        <p:spPr>
          <a:xfrm>
            <a:off x="5972175" y="4259328"/>
            <a:ext cx="363414" cy="139750"/>
          </a:xfrm>
          <a:prstGeom prst="rect">
            <a:avLst/>
          </a:prstGeom>
          <a:noFill/>
        </p:spPr>
        <p:txBody>
          <a:bodyPr wrap="none" lIns="0" rIns="0" tIns="0" bIns="0">
            <a:spAutoFit/>
          </a:bodyPr>
          <a:lstStyle/>
          <a:p>
            <a:r>
              <a:rPr sz="791" b="1">
                <a:solidFill>
                  <a:srgbClr val="2E2E2E"/>
                </a:solidFill>
                <a:latin typeface="Calibri"/>
              </a:rPr>
              <a:t>Vanilla</a:t>
            </a:r>
          </a:p>
        </p:txBody>
      </p:sp>
      <p:pic>
        <p:nvPicPr>
          <p:cNvPr id="111" name="Picture 110" descr="lock.png"/>
          <p:cNvPicPr>
            <a:picLocks noChangeAspect="1"/>
          </p:cNvPicPr>
          <p:nvPr/>
        </p:nvPicPr>
        <p:blipFill>
          <a:blip r:embed="rId4"/>
          <a:stretch>
            <a:fillRect/>
          </a:stretch>
        </p:blipFill>
        <p:spPr>
          <a:xfrm>
            <a:off x="6276850" y="4252287"/>
            <a:ext cx="92663" cy="134782"/>
          </a:xfrm>
          <a:prstGeom prst="rect">
            <a:avLst/>
          </a:prstGeom>
        </p:spPr>
      </p:pic>
      <p:sp>
        <p:nvSpPr>
          <p:cNvPr id="112" name="TextBox 111"/>
          <p:cNvSpPr txBox="1"/>
          <p:nvPr/>
        </p:nvSpPr>
        <p:spPr>
          <a:xfrm>
            <a:off x="5972175" y="4662421"/>
            <a:ext cx="376380" cy="139750"/>
          </a:xfrm>
          <a:prstGeom prst="rect">
            <a:avLst/>
          </a:prstGeom>
          <a:noFill/>
        </p:spPr>
        <p:txBody>
          <a:bodyPr wrap="none" lIns="0" rIns="0" tIns="0" bIns="0">
            <a:spAutoFit/>
          </a:bodyPr>
          <a:lstStyle/>
          <a:p>
            <a:r>
              <a:rPr sz="791" b="0">
                <a:solidFill>
                  <a:srgbClr val="6C7A89"/>
                </a:solidFill>
                <a:latin typeface="Calibri"/>
              </a:rPr>
              <a:t>Orange</a:t>
            </a:r>
          </a:p>
        </p:txBody>
      </p:sp>
      <p:pic>
        <p:nvPicPr>
          <p:cNvPr id="113" name="Picture 112" descr="lock.png"/>
          <p:cNvPicPr>
            <a:picLocks noChangeAspect="1"/>
          </p:cNvPicPr>
          <p:nvPr/>
        </p:nvPicPr>
        <p:blipFill>
          <a:blip r:embed="rId4"/>
          <a:stretch>
            <a:fillRect/>
          </a:stretch>
        </p:blipFill>
        <p:spPr>
          <a:xfrm>
            <a:off x="6289816" y="4655380"/>
            <a:ext cx="92663" cy="134782"/>
          </a:xfrm>
          <a:prstGeom prst="rect">
            <a:avLst/>
          </a:prstGeom>
        </p:spPr>
      </p:pic>
      <p:sp>
        <p:nvSpPr>
          <p:cNvPr id="114" name="TextBox 113"/>
          <p:cNvSpPr txBox="1"/>
          <p:nvPr/>
        </p:nvSpPr>
        <p:spPr>
          <a:xfrm>
            <a:off x="5972175" y="5012122"/>
            <a:ext cx="598175" cy="139750"/>
          </a:xfrm>
          <a:prstGeom prst="rect">
            <a:avLst/>
          </a:prstGeom>
          <a:noFill/>
        </p:spPr>
        <p:txBody>
          <a:bodyPr wrap="none" lIns="0" rIns="0" tIns="0" bIns="0">
            <a:spAutoFit/>
          </a:bodyPr>
          <a:lstStyle/>
          <a:p>
            <a:r>
              <a:rPr sz="791" b="1">
                <a:solidFill>
                  <a:srgbClr val="2E2E2E"/>
                </a:solidFill>
                <a:latin typeface="Calibri"/>
              </a:rPr>
              <a:t>Unflavoured</a:t>
            </a:r>
          </a:p>
        </p:txBody>
      </p:sp>
      <p:pic>
        <p:nvPicPr>
          <p:cNvPr id="115" name="Picture 114" descr="lock.png"/>
          <p:cNvPicPr>
            <a:picLocks noChangeAspect="1"/>
          </p:cNvPicPr>
          <p:nvPr/>
        </p:nvPicPr>
        <p:blipFill>
          <a:blip r:embed="rId4"/>
          <a:stretch>
            <a:fillRect/>
          </a:stretch>
        </p:blipFill>
        <p:spPr>
          <a:xfrm>
            <a:off x="6511612" y="5005081"/>
            <a:ext cx="92663" cy="134782"/>
          </a:xfrm>
          <a:prstGeom prst="rect">
            <a:avLst/>
          </a:prstGeom>
        </p:spPr>
      </p:pic>
      <p:sp>
        <p:nvSpPr>
          <p:cNvPr id="116" name="TextBox 115"/>
          <p:cNvSpPr txBox="1"/>
          <p:nvPr/>
        </p:nvSpPr>
        <p:spPr>
          <a:xfrm>
            <a:off x="5972175" y="5350632"/>
            <a:ext cx="354770" cy="139750"/>
          </a:xfrm>
          <a:prstGeom prst="rect">
            <a:avLst/>
          </a:prstGeom>
          <a:noFill/>
        </p:spPr>
        <p:txBody>
          <a:bodyPr wrap="none" lIns="0" rIns="0" tIns="0" bIns="0">
            <a:spAutoFit/>
          </a:bodyPr>
          <a:lstStyle/>
          <a:p>
            <a:r>
              <a:rPr sz="791" b="0">
                <a:solidFill>
                  <a:srgbClr val="6C7A89"/>
                </a:solidFill>
                <a:latin typeface="Calibri"/>
              </a:rPr>
              <a:t>Lemon</a:t>
            </a:r>
          </a:p>
        </p:txBody>
      </p:sp>
      <p:pic>
        <p:nvPicPr>
          <p:cNvPr id="117" name="Picture 116" descr="lock.png"/>
          <p:cNvPicPr>
            <a:picLocks noChangeAspect="1"/>
          </p:cNvPicPr>
          <p:nvPr/>
        </p:nvPicPr>
        <p:blipFill>
          <a:blip r:embed="rId4"/>
          <a:stretch>
            <a:fillRect/>
          </a:stretch>
        </p:blipFill>
        <p:spPr>
          <a:xfrm>
            <a:off x="6268206" y="5343591"/>
            <a:ext cx="92663" cy="134782"/>
          </a:xfrm>
          <a:prstGeom prst="rect">
            <a:avLst/>
          </a:prstGeom>
        </p:spPr>
      </p:pic>
      <p:sp>
        <p:nvSpPr>
          <p:cNvPr id="118" name="TextBox 117"/>
          <p:cNvSpPr txBox="1"/>
          <p:nvPr/>
        </p:nvSpPr>
        <p:spPr>
          <a:xfrm>
            <a:off x="5972175" y="5682396"/>
            <a:ext cx="688740" cy="139750"/>
          </a:xfrm>
          <a:prstGeom prst="rect">
            <a:avLst/>
          </a:prstGeom>
          <a:noFill/>
        </p:spPr>
        <p:txBody>
          <a:bodyPr wrap="none" lIns="0" rIns="0" tIns="0" bIns="0">
            <a:spAutoFit/>
          </a:bodyPr>
          <a:lstStyle/>
          <a:p>
            <a:r>
              <a:rPr sz="791" b="1">
                <a:solidFill>
                  <a:srgbClr val="2E2E2E"/>
                </a:solidFill>
                <a:latin typeface="Calibri"/>
              </a:rPr>
              <a:t>Pumpkin Spice</a:t>
            </a:r>
          </a:p>
        </p:txBody>
      </p:sp>
      <p:pic>
        <p:nvPicPr>
          <p:cNvPr id="119" name="Picture 118" descr="lock.png"/>
          <p:cNvPicPr>
            <a:picLocks noChangeAspect="1"/>
          </p:cNvPicPr>
          <p:nvPr/>
        </p:nvPicPr>
        <p:blipFill>
          <a:blip r:embed="rId4"/>
          <a:stretch>
            <a:fillRect/>
          </a:stretch>
        </p:blipFill>
        <p:spPr>
          <a:xfrm>
            <a:off x="6602176" y="5675355"/>
            <a:ext cx="92663" cy="134782"/>
          </a:xfrm>
          <a:prstGeom prst="rect">
            <a:avLst/>
          </a:prstGeom>
        </p:spPr>
      </p:pic>
      <p:sp>
        <p:nvSpPr>
          <p:cNvPr id="120" name="TextBox 119"/>
          <p:cNvSpPr txBox="1"/>
          <p:nvPr/>
        </p:nvSpPr>
        <p:spPr>
          <a:xfrm>
            <a:off x="5972175" y="6005852"/>
            <a:ext cx="358896" cy="139750"/>
          </a:xfrm>
          <a:prstGeom prst="rect">
            <a:avLst/>
          </a:prstGeom>
          <a:noFill/>
        </p:spPr>
        <p:txBody>
          <a:bodyPr wrap="none" lIns="0" rIns="0" tIns="0" bIns="0">
            <a:spAutoFit/>
          </a:bodyPr>
          <a:lstStyle/>
          <a:p>
            <a:r>
              <a:rPr sz="791" b="0">
                <a:solidFill>
                  <a:srgbClr val="6C7A89"/>
                </a:solidFill>
                <a:latin typeface="Calibri"/>
              </a:rPr>
              <a:t>Mocha</a:t>
            </a:r>
          </a:p>
        </p:txBody>
      </p:sp>
      <p:pic>
        <p:nvPicPr>
          <p:cNvPr id="121" name="Picture 120" descr="lock.png"/>
          <p:cNvPicPr>
            <a:picLocks noChangeAspect="1"/>
          </p:cNvPicPr>
          <p:nvPr/>
        </p:nvPicPr>
        <p:blipFill>
          <a:blip r:embed="rId4"/>
          <a:stretch>
            <a:fillRect/>
          </a:stretch>
        </p:blipFill>
        <p:spPr>
          <a:xfrm>
            <a:off x="6272332" y="5998811"/>
            <a:ext cx="92663" cy="134782"/>
          </a:xfrm>
          <a:prstGeom prst="rect">
            <a:avLst/>
          </a:prstGeom>
        </p:spPr>
      </p:pic>
      <p:sp>
        <p:nvSpPr>
          <p:cNvPr id="122" name="TextBox 121"/>
          <p:cNvSpPr txBox="1"/>
          <p:nvPr/>
        </p:nvSpPr>
        <p:spPr>
          <a:xfrm>
            <a:off x="5972175" y="6249962"/>
            <a:ext cx="501913" cy="139750"/>
          </a:xfrm>
          <a:prstGeom prst="rect">
            <a:avLst/>
          </a:prstGeom>
          <a:noFill/>
        </p:spPr>
        <p:txBody>
          <a:bodyPr wrap="none" lIns="0" rIns="0" tIns="0" bIns="0">
            <a:spAutoFit/>
          </a:bodyPr>
          <a:lstStyle/>
          <a:p>
            <a:r>
              <a:rPr sz="791" b="1">
                <a:solidFill>
                  <a:srgbClr val="2E2E2E"/>
                </a:solidFill>
                <a:latin typeface="Calibri"/>
              </a:rPr>
              <a:t>Cinnamon</a:t>
            </a:r>
          </a:p>
        </p:txBody>
      </p:sp>
      <p:pic>
        <p:nvPicPr>
          <p:cNvPr id="123" name="Picture 122" descr="lock.png"/>
          <p:cNvPicPr>
            <a:picLocks noChangeAspect="1"/>
          </p:cNvPicPr>
          <p:nvPr/>
        </p:nvPicPr>
        <p:blipFill>
          <a:blip r:embed="rId4"/>
          <a:stretch>
            <a:fillRect/>
          </a:stretch>
        </p:blipFill>
        <p:spPr>
          <a:xfrm>
            <a:off x="6415350" y="6242921"/>
            <a:ext cx="92663" cy="134782"/>
          </a:xfrm>
          <a:prstGeom prst="rect">
            <a:avLst/>
          </a:prstGeom>
        </p:spPr>
      </p:pic>
      <p:sp>
        <p:nvSpPr>
          <p:cNvPr id="124" name="TextBox 123"/>
          <p:cNvSpPr txBox="1"/>
          <p:nvPr/>
        </p:nvSpPr>
        <p:spPr>
          <a:xfrm>
            <a:off x="5972175" y="6402362"/>
            <a:ext cx="694437" cy="139750"/>
          </a:xfrm>
          <a:prstGeom prst="rect">
            <a:avLst/>
          </a:prstGeom>
          <a:noFill/>
        </p:spPr>
        <p:txBody>
          <a:bodyPr wrap="none" lIns="0" rIns="0" tIns="0" bIns="0">
            <a:spAutoFit/>
          </a:bodyPr>
          <a:lstStyle/>
          <a:p>
            <a:r>
              <a:rPr sz="791" b="1">
                <a:solidFill>
                  <a:srgbClr val="2E2E2E"/>
                </a:solidFill>
                <a:latin typeface="Calibri"/>
              </a:rPr>
              <a:t>Other Flavours</a:t>
            </a:r>
          </a:p>
        </p:txBody>
      </p:sp>
      <p:pic>
        <p:nvPicPr>
          <p:cNvPr id="125" name="Picture 124" descr="lock.png"/>
          <p:cNvPicPr>
            <a:picLocks noChangeAspect="1"/>
          </p:cNvPicPr>
          <p:nvPr/>
        </p:nvPicPr>
        <p:blipFill>
          <a:blip r:embed="rId4"/>
          <a:stretch>
            <a:fillRect/>
          </a:stretch>
        </p:blipFill>
        <p:spPr>
          <a:xfrm>
            <a:off x="6607874" y="6395321"/>
            <a:ext cx="92663" cy="134782"/>
          </a:xfrm>
          <a:prstGeom prst="rect">
            <a:avLst/>
          </a:prstGeom>
        </p:spPr>
      </p:pic>
      <p:sp>
        <p:nvSpPr>
          <p:cNvPr id="126" name="TextBox 125"/>
          <p:cNvSpPr txBox="1"/>
          <p:nvPr/>
        </p:nvSpPr>
        <p:spPr>
          <a:xfrm>
            <a:off x="7715250" y="4219575"/>
            <a:ext cx="3996729" cy="194310"/>
          </a:xfrm>
          <a:prstGeom prst="rect">
            <a:avLst/>
          </a:prstGeom>
          <a:noFill/>
        </p:spPr>
        <p:txBody>
          <a:bodyPr wrap="none" lIns="0" rIns="0" tIns="0" bIns="0">
            <a:spAutoFit/>
          </a:bodyPr>
          <a:lstStyle/>
          <a:p>
            <a:r>
              <a:rPr sz="1150" b="0">
                <a:solidFill>
                  <a:srgbClr val="2E2E2E"/>
                </a:solidFill>
                <a:latin typeface="Calibri"/>
              </a:rPr>
              <a:t>Liquid segment is projected to account for the largest share of the</a:t>
            </a:r>
          </a:p>
        </p:txBody>
      </p:sp>
      <p:sp>
        <p:nvSpPr>
          <p:cNvPr id="127" name="TextBox 126"/>
          <p:cNvSpPr txBox="1"/>
          <p:nvPr/>
        </p:nvSpPr>
        <p:spPr>
          <a:xfrm>
            <a:off x="7715250" y="4394835"/>
            <a:ext cx="3487836" cy="194310"/>
          </a:xfrm>
          <a:prstGeom prst="rect">
            <a:avLst/>
          </a:prstGeom>
          <a:noFill/>
        </p:spPr>
        <p:txBody>
          <a:bodyPr wrap="none" lIns="0" rIns="0" tIns="0" bIns="0">
            <a:spAutoFit/>
          </a:bodyPr>
          <a:lstStyle/>
          <a:p>
            <a:r>
              <a:rPr sz="1150" b="0">
                <a:solidFill>
                  <a:srgbClr val="2E2E2E"/>
                </a:solidFill>
                <a:latin typeface="Calibri"/>
              </a:rPr>
              <a:t>North America matcha market, led by unflavoured at US$</a:t>
            </a:r>
          </a:p>
        </p:txBody>
      </p:sp>
      <p:pic>
        <p:nvPicPr>
          <p:cNvPr id="128" name="Picture 127" descr="lock.png"/>
          <p:cNvPicPr>
            <a:picLocks noChangeAspect="1"/>
          </p:cNvPicPr>
          <p:nvPr/>
        </p:nvPicPr>
        <p:blipFill>
          <a:blip r:embed="rId4"/>
          <a:stretch>
            <a:fillRect/>
          </a:stretch>
        </p:blipFill>
        <p:spPr>
          <a:xfrm>
            <a:off x="11152240" y="4384611"/>
            <a:ext cx="134549" cy="195707"/>
          </a:xfrm>
          <a:prstGeom prst="rect">
            <a:avLst/>
          </a:prstGeom>
        </p:spPr>
      </p:pic>
      <p:sp>
        <p:nvSpPr>
          <p:cNvPr id="129" name="TextBox 128"/>
          <p:cNvSpPr txBox="1"/>
          <p:nvPr/>
        </p:nvSpPr>
        <p:spPr>
          <a:xfrm>
            <a:off x="11327349" y="4394835"/>
            <a:ext cx="421357" cy="194310"/>
          </a:xfrm>
          <a:prstGeom prst="rect">
            <a:avLst/>
          </a:prstGeom>
          <a:noFill/>
        </p:spPr>
        <p:txBody>
          <a:bodyPr wrap="none" lIns="0" rIns="0" tIns="0" bIns="0">
            <a:spAutoFit/>
          </a:bodyPr>
          <a:lstStyle/>
          <a:p>
            <a:r>
              <a:rPr sz="1150" b="0">
                <a:solidFill>
                  <a:srgbClr val="2E2E2E"/>
                </a:solidFill>
                <a:latin typeface="Calibri"/>
              </a:rPr>
              <a:t>Mn in</a:t>
            </a:r>
          </a:p>
        </p:txBody>
      </p:sp>
      <p:sp>
        <p:nvSpPr>
          <p:cNvPr id="130" name="TextBox 129"/>
          <p:cNvSpPr txBox="1"/>
          <p:nvPr/>
        </p:nvSpPr>
        <p:spPr>
          <a:xfrm>
            <a:off x="7715250" y="4570095"/>
            <a:ext cx="3927983" cy="194310"/>
          </a:xfrm>
          <a:prstGeom prst="rect">
            <a:avLst/>
          </a:prstGeom>
          <a:noFill/>
        </p:spPr>
        <p:txBody>
          <a:bodyPr wrap="none" lIns="0" rIns="0" tIns="0" bIns="0">
            <a:spAutoFit/>
          </a:bodyPr>
          <a:lstStyle/>
          <a:p>
            <a:r>
              <a:rPr sz="1150" b="0">
                <a:solidFill>
                  <a:srgbClr val="2E2E2E"/>
                </a:solidFill>
                <a:latin typeface="Calibri"/>
              </a:rPr>
              <a:t>2036. 'Blended × Vanilla' is the single largest cross-sectional cell (</a:t>
            </a:r>
          </a:p>
        </p:txBody>
      </p:sp>
      <p:pic>
        <p:nvPicPr>
          <p:cNvPr id="131" name="Picture 130" descr="lock.png"/>
          <p:cNvPicPr>
            <a:picLocks noChangeAspect="1"/>
          </p:cNvPicPr>
          <p:nvPr/>
        </p:nvPicPr>
        <p:blipFill>
          <a:blip r:embed="rId4"/>
          <a:stretch>
            <a:fillRect/>
          </a:stretch>
        </p:blipFill>
        <p:spPr>
          <a:xfrm>
            <a:off x="11592387" y="4559871"/>
            <a:ext cx="134549" cy="195707"/>
          </a:xfrm>
          <a:prstGeom prst="rect">
            <a:avLst/>
          </a:prstGeom>
        </p:spPr>
      </p:pic>
      <p:sp>
        <p:nvSpPr>
          <p:cNvPr id="132" name="TextBox 131"/>
          <p:cNvSpPr txBox="1"/>
          <p:nvPr/>
        </p:nvSpPr>
        <p:spPr>
          <a:xfrm>
            <a:off x="7715250" y="4745354"/>
            <a:ext cx="4026396" cy="194310"/>
          </a:xfrm>
          <a:prstGeom prst="rect">
            <a:avLst/>
          </a:prstGeom>
          <a:noFill/>
        </p:spPr>
        <p:txBody>
          <a:bodyPr wrap="none" lIns="0" rIns="0" tIns="0" bIns="0">
            <a:spAutoFit/>
          </a:bodyPr>
          <a:lstStyle/>
          <a:p>
            <a:r>
              <a:rPr sz="1150" b="0">
                <a:solidFill>
                  <a:srgbClr val="2E2E2E"/>
                </a:solidFill>
                <a:latin typeface="Calibri"/>
              </a:rPr>
              <a:t>US$ Mn, 2026E), while 'Liquid × Pumpkin Spice' records the fastest</a:t>
            </a:r>
          </a:p>
        </p:txBody>
      </p:sp>
      <p:sp>
        <p:nvSpPr>
          <p:cNvPr id="133" name="TextBox 132"/>
          <p:cNvSpPr txBox="1"/>
          <p:nvPr/>
        </p:nvSpPr>
        <p:spPr>
          <a:xfrm>
            <a:off x="7715250" y="4920614"/>
            <a:ext cx="1279668" cy="194310"/>
          </a:xfrm>
          <a:prstGeom prst="rect">
            <a:avLst/>
          </a:prstGeom>
          <a:noFill/>
        </p:spPr>
        <p:txBody>
          <a:bodyPr wrap="none" lIns="0" rIns="0" tIns="0" bIns="0">
            <a:spAutoFit/>
          </a:bodyPr>
          <a:lstStyle/>
          <a:p>
            <a:r>
              <a:rPr sz="1150" b="0">
                <a:solidFill>
                  <a:srgbClr val="2E2E2E"/>
                </a:solidFill>
                <a:latin typeface="Calibri"/>
              </a:rPr>
              <a:t>growth at a CAGR of</a:t>
            </a:r>
          </a:p>
        </p:txBody>
      </p:sp>
      <p:pic>
        <p:nvPicPr>
          <p:cNvPr id="134" name="Picture 133" descr="lock.png"/>
          <p:cNvPicPr>
            <a:picLocks noChangeAspect="1"/>
          </p:cNvPicPr>
          <p:nvPr/>
        </p:nvPicPr>
        <p:blipFill>
          <a:blip r:embed="rId4"/>
          <a:stretch>
            <a:fillRect/>
          </a:stretch>
        </p:blipFill>
        <p:spPr>
          <a:xfrm>
            <a:off x="8944072" y="4910391"/>
            <a:ext cx="134549" cy="195707"/>
          </a:xfrm>
          <a:prstGeom prst="rect">
            <a:avLst/>
          </a:prstGeom>
        </p:spPr>
      </p:pic>
      <p:sp>
        <p:nvSpPr>
          <p:cNvPr id="135" name="TextBox 134"/>
          <p:cNvSpPr txBox="1"/>
          <p:nvPr/>
        </p:nvSpPr>
        <p:spPr>
          <a:xfrm>
            <a:off x="9119181" y="4920614"/>
            <a:ext cx="1217001" cy="194310"/>
          </a:xfrm>
          <a:prstGeom prst="rect">
            <a:avLst/>
          </a:prstGeom>
          <a:noFill/>
        </p:spPr>
        <p:txBody>
          <a:bodyPr wrap="none" lIns="0" rIns="0" tIns="0" bIns="0">
            <a:spAutoFit/>
          </a:bodyPr>
          <a:lstStyle/>
          <a:p>
            <a:r>
              <a:rPr sz="1150" b="0">
                <a:solidFill>
                  <a:srgbClr val="2E2E2E"/>
                </a:solidFill>
                <a:latin typeface="Calibri"/>
              </a:rPr>
              <a:t>over 2026E–2036F.</a:t>
            </a:r>
          </a:p>
        </p:txBody>
      </p:sp>
      <p:sp>
        <p:nvSpPr>
          <p:cNvPr id="136" name="TextBox 135"/>
          <p:cNvSpPr txBox="1"/>
          <p:nvPr/>
        </p:nvSpPr>
        <p:spPr>
          <a:xfrm>
            <a:off x="7715250" y="5148452"/>
            <a:ext cx="4115680" cy="194310"/>
          </a:xfrm>
          <a:prstGeom prst="rect">
            <a:avLst/>
          </a:prstGeom>
          <a:noFill/>
        </p:spPr>
        <p:txBody>
          <a:bodyPr wrap="none" lIns="0" rIns="0" tIns="0" bIns="0">
            <a:spAutoFit/>
          </a:bodyPr>
          <a:lstStyle/>
          <a:p>
            <a:r>
              <a:rPr sz="1150" b="0">
                <a:solidFill>
                  <a:srgbClr val="2E2E2E"/>
                </a:solidFill>
                <a:latin typeface="Calibri"/>
              </a:rPr>
              <a:t>Combined, the top three form × flavour cells generate an absolute $</a:t>
            </a:r>
          </a:p>
        </p:txBody>
      </p:sp>
      <p:sp>
        <p:nvSpPr>
          <p:cNvPr id="137" name="TextBox 136"/>
          <p:cNvSpPr txBox="1"/>
          <p:nvPr/>
        </p:nvSpPr>
        <p:spPr>
          <a:xfrm>
            <a:off x="7715250" y="5323712"/>
            <a:ext cx="940804" cy="194310"/>
          </a:xfrm>
          <a:prstGeom prst="rect">
            <a:avLst/>
          </a:prstGeom>
          <a:noFill/>
        </p:spPr>
        <p:txBody>
          <a:bodyPr wrap="none" lIns="0" rIns="0" tIns="0" bIns="0">
            <a:spAutoFit/>
          </a:bodyPr>
          <a:lstStyle/>
          <a:p>
            <a:r>
              <a:rPr sz="1150" b="0">
                <a:solidFill>
                  <a:srgbClr val="2E2E2E"/>
                </a:solidFill>
                <a:latin typeface="Calibri"/>
              </a:rPr>
              <a:t>opportunity of</a:t>
            </a:r>
          </a:p>
        </p:txBody>
      </p:sp>
      <p:pic>
        <p:nvPicPr>
          <p:cNvPr id="138" name="Picture 137" descr="lock.png"/>
          <p:cNvPicPr>
            <a:picLocks noChangeAspect="1"/>
          </p:cNvPicPr>
          <p:nvPr/>
        </p:nvPicPr>
        <p:blipFill>
          <a:blip r:embed="rId4"/>
          <a:stretch>
            <a:fillRect/>
          </a:stretch>
        </p:blipFill>
        <p:spPr>
          <a:xfrm>
            <a:off x="8605208" y="5313489"/>
            <a:ext cx="134549" cy="195707"/>
          </a:xfrm>
          <a:prstGeom prst="rect">
            <a:avLst/>
          </a:prstGeom>
        </p:spPr>
      </p:pic>
      <p:sp>
        <p:nvSpPr>
          <p:cNvPr id="139" name="TextBox 138"/>
          <p:cNvSpPr txBox="1"/>
          <p:nvPr/>
        </p:nvSpPr>
        <p:spPr>
          <a:xfrm>
            <a:off x="8780317" y="532371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0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Form × Flavour, 2026E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flavour sub-segments</a:t>
            </a:r>
          </a:p>
        </p:txBody>
      </p:sp>
      <p:sp>
        <p:nvSpPr>
          <p:cNvPr id="10" name="Rounded Rectangle 9"/>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Form × Flavour, 2026E (% of each row)</a:t>
            </a:r>
          </a:p>
        </p:txBody>
      </p:sp>
      <p:graphicFrame>
        <p:nvGraphicFramePr>
          <p:cNvPr id="12" name="Table 11"/>
          <p:cNvGraphicFramePr>
            <a:graphicFrameLocks noGrp="1"/>
          </p:cNvGraphicFramePr>
          <p:nvPr/>
        </p:nvGraphicFramePr>
        <p:xfrm>
          <a:off x="152400" y="1238250"/>
          <a:ext cx="11887196" cy="1971675"/>
        </p:xfrm>
        <a:graphic>
          <a:graphicData uri="http://schemas.openxmlformats.org/drawingml/2006/table">
            <a:tbl>
              <a:tblPr>
                <a:tableStyleId>{5C22544A-7EE6-4342-B048-85BDC9FD1C3A}</a:tableStyleId>
              </a:tblPr>
              <a:tblGrid>
                <a:gridCol w="797864"/>
                <a:gridCol w="1232148"/>
                <a:gridCol w="1232148"/>
                <a:gridCol w="1232148"/>
                <a:gridCol w="1232148"/>
                <a:gridCol w="1232148"/>
                <a:gridCol w="1232148"/>
                <a:gridCol w="1232148"/>
                <a:gridCol w="1232148"/>
                <a:gridCol w="1232148"/>
              </a:tblGrid>
              <a:tr h="246126">
                <a:tc>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Unflavoured</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Vanilla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Lemon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Orange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Mocha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Cinnamon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Pumpkin Spice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Other Flavours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552825"/>
            <a:ext cx="7286625"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360997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Flavour Mix by Form, 2026E (% share)</a:t>
            </a:r>
          </a:p>
        </p:txBody>
      </p:sp>
      <p:graphicFrame>
        <p:nvGraphicFramePr>
          <p:cNvPr id="16" name="Chart 15"/>
          <p:cNvGraphicFramePr>
            <a:graphicFrameLocks noGrp="1"/>
          </p:cNvGraphicFramePr>
          <p:nvPr/>
        </p:nvGraphicFramePr>
        <p:xfrm>
          <a:off x="238125" y="3838575"/>
          <a:ext cx="7096125" cy="2733675"/>
        </p:xfrm>
        <a:graphic>
          <a:graphicData uri="http://schemas.openxmlformats.org/drawingml/2006/chart">
            <c:chart xmlns:c="http://schemas.openxmlformats.org/drawingml/2006/chart" r:id="rId3"/>
          </a:graphicData>
        </a:graphic>
      </p:graphicFrame>
      <p:sp>
        <p:nvSpPr>
          <p:cNvPr id="17" name="Rounded Rectangle 16"/>
          <p:cNvSpPr/>
          <p:nvPr/>
        </p:nvSpPr>
        <p:spPr>
          <a:xfrm>
            <a:off x="7581900" y="3552825"/>
            <a:ext cx="4457700" cy="3076575"/>
          </a:xfrm>
          <a:prstGeom prst="roundRect">
            <a:avLst>
              <a:gd name="adj" fmla="val 247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7715250" y="363855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9" name="Rectangle 18"/>
          <p:cNvSpPr/>
          <p:nvPr/>
        </p:nvSpPr>
        <p:spPr>
          <a:xfrm>
            <a:off x="7715250" y="387667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7715250" y="3962400"/>
            <a:ext cx="4191000" cy="259080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5"/>
          <a:stretch>
            <a:fillRect/>
          </a:stretch>
        </p:blipFill>
        <p:spPr>
          <a:xfrm>
            <a:off x="6308240" y="2080450"/>
            <a:ext cx="366712" cy="533400"/>
          </a:xfrm>
          <a:prstGeom prst="rect">
            <a:avLst/>
          </a:prstGeom>
        </p:spPr>
      </p:pic>
      <p:pic>
        <p:nvPicPr>
          <p:cNvPr id="23" name="Picture 22" descr="lock.png"/>
          <p:cNvPicPr>
            <a:picLocks noChangeAspect="1"/>
          </p:cNvPicPr>
          <p:nvPr/>
        </p:nvPicPr>
        <p:blipFill>
          <a:blip r:embed="rId5"/>
          <a:stretch>
            <a:fillRect/>
          </a:stretch>
        </p:blipFill>
        <p:spPr>
          <a:xfrm>
            <a:off x="3775138" y="4442650"/>
            <a:ext cx="311705" cy="453389"/>
          </a:xfrm>
          <a:prstGeom prst="rect">
            <a:avLst/>
          </a:prstGeom>
        </p:spPr>
      </p:pic>
      <p:sp>
        <p:nvSpPr>
          <p:cNvPr id="24" name="TextBox 23"/>
          <p:cNvSpPr txBox="1"/>
          <p:nvPr/>
        </p:nvSpPr>
        <p:spPr>
          <a:xfrm>
            <a:off x="7715250" y="3971925"/>
            <a:ext cx="2834605" cy="194310"/>
          </a:xfrm>
          <a:prstGeom prst="rect">
            <a:avLst/>
          </a:prstGeom>
          <a:noFill/>
        </p:spPr>
        <p:txBody>
          <a:bodyPr wrap="none" lIns="0" rIns="0" tIns="0" bIns="0">
            <a:spAutoFit/>
          </a:bodyPr>
          <a:lstStyle/>
          <a:p>
            <a:r>
              <a:rPr sz="1150" b="0">
                <a:solidFill>
                  <a:srgbClr val="2E2E2E"/>
                </a:solidFill>
                <a:latin typeface="Calibri"/>
              </a:rPr>
              <a:t>▪ 'Vanilla' holds the highest share of 'Whole' at</a:t>
            </a:r>
          </a:p>
        </p:txBody>
      </p:sp>
      <p:pic>
        <p:nvPicPr>
          <p:cNvPr id="25" name="Picture 24" descr="lock.png"/>
          <p:cNvPicPr>
            <a:picLocks noChangeAspect="1"/>
          </p:cNvPicPr>
          <p:nvPr/>
        </p:nvPicPr>
        <p:blipFill>
          <a:blip r:embed="rId5"/>
          <a:stretch>
            <a:fillRect/>
          </a:stretch>
        </p:blipFill>
        <p:spPr>
          <a:xfrm>
            <a:off x="10499009" y="3961701"/>
            <a:ext cx="134549" cy="195707"/>
          </a:xfrm>
          <a:prstGeom prst="rect">
            <a:avLst/>
          </a:prstGeom>
        </p:spPr>
      </p:pic>
      <p:sp>
        <p:nvSpPr>
          <p:cNvPr id="26" name="TextBox 25"/>
          <p:cNvSpPr txBox="1"/>
          <p:nvPr/>
        </p:nvSpPr>
        <p:spPr>
          <a:xfrm>
            <a:off x="10674118" y="397192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7" name="TextBox 26"/>
          <p:cNvSpPr txBox="1"/>
          <p:nvPr/>
        </p:nvSpPr>
        <p:spPr>
          <a:xfrm>
            <a:off x="7715250" y="4199763"/>
            <a:ext cx="3590528" cy="194310"/>
          </a:xfrm>
          <a:prstGeom prst="rect">
            <a:avLst/>
          </a:prstGeom>
          <a:noFill/>
        </p:spPr>
        <p:txBody>
          <a:bodyPr wrap="none" lIns="0" rIns="0" tIns="0" bIns="0">
            <a:spAutoFit/>
          </a:bodyPr>
          <a:lstStyle/>
          <a:p>
            <a:r>
              <a:rPr sz="1150" b="0">
                <a:solidFill>
                  <a:srgbClr val="2E2E2E"/>
                </a:solidFill>
                <a:latin typeface="Calibri"/>
              </a:rPr>
              <a:t>▪ 'Whole' is the most concentrated form sub-segment, with</a:t>
            </a:r>
          </a:p>
        </p:txBody>
      </p:sp>
      <p:pic>
        <p:nvPicPr>
          <p:cNvPr id="28" name="Picture 27" descr="lock.png"/>
          <p:cNvPicPr>
            <a:picLocks noChangeAspect="1"/>
          </p:cNvPicPr>
          <p:nvPr/>
        </p:nvPicPr>
        <p:blipFill>
          <a:blip r:embed="rId5"/>
          <a:stretch>
            <a:fillRect/>
          </a:stretch>
        </p:blipFill>
        <p:spPr>
          <a:xfrm>
            <a:off x="11254932" y="4189539"/>
            <a:ext cx="134549" cy="195707"/>
          </a:xfrm>
          <a:prstGeom prst="rect">
            <a:avLst/>
          </a:prstGeom>
        </p:spPr>
      </p:pic>
      <p:sp>
        <p:nvSpPr>
          <p:cNvPr id="29" name="TextBox 28"/>
          <p:cNvSpPr txBox="1"/>
          <p:nvPr/>
        </p:nvSpPr>
        <p:spPr>
          <a:xfrm>
            <a:off x="11430041" y="4199763"/>
            <a:ext cx="370582" cy="194310"/>
          </a:xfrm>
          <a:prstGeom prst="rect">
            <a:avLst/>
          </a:prstGeom>
          <a:noFill/>
        </p:spPr>
        <p:txBody>
          <a:bodyPr wrap="none" lIns="0" rIns="0" tIns="0" bIns="0">
            <a:spAutoFit/>
          </a:bodyPr>
          <a:lstStyle/>
          <a:p>
            <a:r>
              <a:rPr sz="1150" b="0">
                <a:solidFill>
                  <a:srgbClr val="2E2E2E"/>
                </a:solidFill>
                <a:latin typeface="Calibri"/>
              </a:rPr>
              <a:t>of its</a:t>
            </a:r>
          </a:p>
        </p:txBody>
      </p:sp>
      <p:sp>
        <p:nvSpPr>
          <p:cNvPr id="30" name="TextBox 29"/>
          <p:cNvSpPr txBox="1"/>
          <p:nvPr/>
        </p:nvSpPr>
        <p:spPr>
          <a:xfrm>
            <a:off x="7715250" y="4375022"/>
            <a:ext cx="1132495" cy="194310"/>
          </a:xfrm>
          <a:prstGeom prst="rect">
            <a:avLst/>
          </a:prstGeom>
          <a:noFill/>
        </p:spPr>
        <p:txBody>
          <a:bodyPr wrap="none" lIns="0" rIns="0" tIns="0" bIns="0">
            <a:spAutoFit/>
          </a:bodyPr>
          <a:lstStyle/>
          <a:p>
            <a:r>
              <a:rPr sz="1150" b="0">
                <a:solidFill>
                  <a:srgbClr val="2E2E2E"/>
                </a:solidFill>
                <a:latin typeface="Calibri"/>
              </a:rPr>
              <a:t>value via 'Vanilla'.</a:t>
            </a:r>
          </a:p>
        </p:txBody>
      </p:sp>
      <p:sp>
        <p:nvSpPr>
          <p:cNvPr id="31" name="TextBox 30"/>
          <p:cNvSpPr txBox="1"/>
          <p:nvPr/>
        </p:nvSpPr>
        <p:spPr>
          <a:xfrm>
            <a:off x="7715250" y="4602860"/>
            <a:ext cx="1538126" cy="194310"/>
          </a:xfrm>
          <a:prstGeom prst="rect">
            <a:avLst/>
          </a:prstGeom>
          <a:noFill/>
        </p:spPr>
        <p:txBody>
          <a:bodyPr wrap="none" lIns="0" rIns="0" tIns="0" bIns="0">
            <a:spAutoFit/>
          </a:bodyPr>
          <a:lstStyle/>
          <a:p>
            <a:r>
              <a:rPr sz="1150" b="0">
                <a:solidFill>
                  <a:srgbClr val="2E2E2E"/>
                </a:solidFill>
                <a:latin typeface="Calibri"/>
              </a:rPr>
              <a:t>▪ 'Pumpkin Spice' gains +</a:t>
            </a:r>
          </a:p>
        </p:txBody>
      </p:sp>
      <p:pic>
        <p:nvPicPr>
          <p:cNvPr id="32" name="Picture 31" descr="lock.png"/>
          <p:cNvPicPr>
            <a:picLocks noChangeAspect="1"/>
          </p:cNvPicPr>
          <p:nvPr/>
        </p:nvPicPr>
        <p:blipFill>
          <a:blip r:embed="rId5"/>
          <a:stretch>
            <a:fillRect/>
          </a:stretch>
        </p:blipFill>
        <p:spPr>
          <a:xfrm>
            <a:off x="9202530" y="4592637"/>
            <a:ext cx="134549" cy="195707"/>
          </a:xfrm>
          <a:prstGeom prst="rect">
            <a:avLst/>
          </a:prstGeom>
        </p:spPr>
      </p:pic>
      <p:sp>
        <p:nvSpPr>
          <p:cNvPr id="33" name="TextBox 32"/>
          <p:cNvSpPr txBox="1"/>
          <p:nvPr/>
        </p:nvSpPr>
        <p:spPr>
          <a:xfrm>
            <a:off x="9377639" y="4602860"/>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34" name="TextBox 33"/>
          <p:cNvSpPr txBox="1"/>
          <p:nvPr/>
        </p:nvSpPr>
        <p:spPr>
          <a:xfrm>
            <a:off x="7715250" y="4778120"/>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5" name="lockshield_16"/>
          <p:cNvSpPr/>
          <p:nvPr/>
        </p:nvSpPr>
        <p:spPr>
          <a:xfrm>
            <a:off x="238125" y="3838575"/>
            <a:ext cx="7096125" cy="27336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0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Form × Flavour, 2026E–2036F</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Form × Flavour, 2026E–2036F</a:t>
            </a:r>
          </a:p>
        </p:txBody>
      </p:sp>
      <p:graphicFrame>
        <p:nvGraphicFramePr>
          <p:cNvPr id="12" name="Table 11"/>
          <p:cNvGraphicFramePr>
            <a:graphicFrameLocks noGrp="1"/>
          </p:cNvGraphicFramePr>
          <p:nvPr/>
        </p:nvGraphicFramePr>
        <p:xfrm>
          <a:off x="152400" y="1238250"/>
          <a:ext cx="11887741" cy="2219326"/>
        </p:xfrm>
        <a:graphic>
          <a:graphicData uri="http://schemas.openxmlformats.org/drawingml/2006/table">
            <a:tbl>
              <a:tblPr>
                <a:tableStyleId>{5C22544A-7EE6-4342-B048-85BDC9FD1C3A}</a:tableStyleId>
              </a:tblPr>
              <a:tblGrid>
                <a:gridCol w="700314"/>
                <a:gridCol w="621493"/>
                <a:gridCol w="621493"/>
                <a:gridCol w="621493"/>
                <a:gridCol w="621493"/>
                <a:gridCol w="621493"/>
                <a:gridCol w="621493"/>
                <a:gridCol w="621493"/>
                <a:gridCol w="621493"/>
                <a:gridCol w="621493"/>
                <a:gridCol w="621493"/>
                <a:gridCol w="621493"/>
                <a:gridCol w="621493"/>
                <a:gridCol w="621493"/>
                <a:gridCol w="621493"/>
                <a:gridCol w="621493"/>
                <a:gridCol w="621493"/>
                <a:gridCol w="621493"/>
                <a:gridCol w="622046"/>
              </a:tblGrid>
              <a:tr h="246126">
                <a:tc rowSpan="2">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Unflavoured</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Vanilla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Lemon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Orange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Mocha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Cinnamon</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Pumpkin Spice</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Flavours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650">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3800475"/>
            <a:ext cx="5600700" cy="2828925"/>
          </a:xfrm>
          <a:prstGeom prst="roundRect">
            <a:avLst>
              <a:gd name="adj" fmla="val 26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38862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6" name="Rectangle 15"/>
          <p:cNvSpPr/>
          <p:nvPr/>
        </p:nvSpPr>
        <p:spPr>
          <a:xfrm>
            <a:off x="276225" y="41243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210050"/>
            <a:ext cx="53340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5895975" y="3800475"/>
            <a:ext cx="1943100" cy="28289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6029325" y="38862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20" name="Rectangle 19"/>
          <p:cNvSpPr/>
          <p:nvPr/>
        </p:nvSpPr>
        <p:spPr>
          <a:xfrm>
            <a:off x="6029325" y="41243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029325" y="4210050"/>
            <a:ext cx="16764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7991475" y="3800475"/>
            <a:ext cx="1943100" cy="28289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124825" y="38862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4" name="Rectangle 23"/>
          <p:cNvSpPr/>
          <p:nvPr/>
        </p:nvSpPr>
        <p:spPr>
          <a:xfrm>
            <a:off x="8124825" y="41243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8124825" y="4210050"/>
            <a:ext cx="16764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6" name="Rounded Rectangle 25"/>
          <p:cNvSpPr/>
          <p:nvPr/>
        </p:nvSpPr>
        <p:spPr>
          <a:xfrm>
            <a:off x="10086975" y="3800475"/>
            <a:ext cx="1943100" cy="28289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0220325" y="38862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8" name="Rectangle 27"/>
          <p:cNvSpPr/>
          <p:nvPr/>
        </p:nvSpPr>
        <p:spPr>
          <a:xfrm>
            <a:off x="10220325" y="41243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220325" y="4210050"/>
            <a:ext cx="1676400" cy="23431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'Liquid × Unflavoured' ranks highest (5/5); 'Granules × Lemon' lowest (1/5), a deprioritised cell.</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4"/>
          <a:stretch>
            <a:fillRect/>
          </a:stretch>
        </p:blipFill>
        <p:spPr>
          <a:xfrm>
            <a:off x="6254493" y="2327601"/>
            <a:ext cx="366712" cy="533400"/>
          </a:xfrm>
          <a:prstGeom prst="rect">
            <a:avLst/>
          </a:prstGeom>
        </p:spPr>
      </p:pic>
      <p:sp>
        <p:nvSpPr>
          <p:cNvPr id="32" name="TextBox 31"/>
          <p:cNvSpPr txBox="1"/>
          <p:nvPr/>
        </p:nvSpPr>
        <p:spPr>
          <a:xfrm>
            <a:off x="276225" y="4219575"/>
            <a:ext cx="1647378" cy="194310"/>
          </a:xfrm>
          <a:prstGeom prst="rect">
            <a:avLst/>
          </a:prstGeom>
          <a:noFill/>
        </p:spPr>
        <p:txBody>
          <a:bodyPr wrap="none" lIns="0" rIns="0" tIns="0" bIns="0">
            <a:spAutoFit/>
          </a:bodyPr>
          <a:lstStyle/>
          <a:p>
            <a:r>
              <a:rPr sz="1150" b="0">
                <a:solidFill>
                  <a:srgbClr val="2E2E2E"/>
                </a:solidFill>
                <a:latin typeface="Calibri"/>
              </a:rPr>
              <a:t>▪ 1. Liquid × Unflavoured –</a:t>
            </a:r>
          </a:p>
        </p:txBody>
      </p:sp>
      <p:pic>
        <p:nvPicPr>
          <p:cNvPr id="33" name="Picture 32" descr="lock.png"/>
          <p:cNvPicPr>
            <a:picLocks noChangeAspect="1"/>
          </p:cNvPicPr>
          <p:nvPr/>
        </p:nvPicPr>
        <p:blipFill>
          <a:blip r:embed="rId4"/>
          <a:stretch>
            <a:fillRect/>
          </a:stretch>
        </p:blipFill>
        <p:spPr>
          <a:xfrm>
            <a:off x="1872757" y="4209351"/>
            <a:ext cx="134549" cy="195707"/>
          </a:xfrm>
          <a:prstGeom prst="rect">
            <a:avLst/>
          </a:prstGeom>
        </p:spPr>
      </p:pic>
      <p:sp>
        <p:nvSpPr>
          <p:cNvPr id="34" name="TextBox 33"/>
          <p:cNvSpPr txBox="1"/>
          <p:nvPr/>
        </p:nvSpPr>
        <p:spPr>
          <a:xfrm>
            <a:off x="2047866" y="42195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2110018" y="4209351"/>
            <a:ext cx="134549" cy="195707"/>
          </a:xfrm>
          <a:prstGeom prst="rect">
            <a:avLst/>
          </a:prstGeom>
        </p:spPr>
      </p:pic>
      <p:sp>
        <p:nvSpPr>
          <p:cNvPr id="36" name="TextBox 35"/>
          <p:cNvSpPr txBox="1"/>
          <p:nvPr/>
        </p:nvSpPr>
        <p:spPr>
          <a:xfrm>
            <a:off x="2285127" y="42195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7" name="TextBox 36"/>
          <p:cNvSpPr txBox="1"/>
          <p:nvPr/>
        </p:nvSpPr>
        <p:spPr>
          <a:xfrm>
            <a:off x="276225" y="4447413"/>
            <a:ext cx="1344438" cy="194310"/>
          </a:xfrm>
          <a:prstGeom prst="rect">
            <a:avLst/>
          </a:prstGeom>
          <a:noFill/>
        </p:spPr>
        <p:txBody>
          <a:bodyPr wrap="none" lIns="0" rIns="0" tIns="0" bIns="0">
            <a:spAutoFit/>
          </a:bodyPr>
          <a:lstStyle/>
          <a:p>
            <a:r>
              <a:rPr sz="1150" b="0">
                <a:solidFill>
                  <a:srgbClr val="2E2E2E"/>
                </a:solidFill>
                <a:latin typeface="Calibri"/>
              </a:rPr>
              <a:t>▪ 2. Liquid × Orange –</a:t>
            </a:r>
          </a:p>
        </p:txBody>
      </p:sp>
      <p:pic>
        <p:nvPicPr>
          <p:cNvPr id="38" name="Picture 37" descr="lock.png"/>
          <p:cNvPicPr>
            <a:picLocks noChangeAspect="1"/>
          </p:cNvPicPr>
          <p:nvPr/>
        </p:nvPicPr>
        <p:blipFill>
          <a:blip r:embed="rId4"/>
          <a:stretch>
            <a:fillRect/>
          </a:stretch>
        </p:blipFill>
        <p:spPr>
          <a:xfrm>
            <a:off x="1569817" y="4437189"/>
            <a:ext cx="134549" cy="195707"/>
          </a:xfrm>
          <a:prstGeom prst="rect">
            <a:avLst/>
          </a:prstGeom>
        </p:spPr>
      </p:pic>
      <p:sp>
        <p:nvSpPr>
          <p:cNvPr id="39" name="TextBox 38"/>
          <p:cNvSpPr txBox="1"/>
          <p:nvPr/>
        </p:nvSpPr>
        <p:spPr>
          <a:xfrm>
            <a:off x="1744927" y="44474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1807078" y="4437189"/>
            <a:ext cx="134549" cy="195707"/>
          </a:xfrm>
          <a:prstGeom prst="rect">
            <a:avLst/>
          </a:prstGeom>
        </p:spPr>
      </p:pic>
      <p:sp>
        <p:nvSpPr>
          <p:cNvPr id="41" name="TextBox 40"/>
          <p:cNvSpPr txBox="1"/>
          <p:nvPr/>
        </p:nvSpPr>
        <p:spPr>
          <a:xfrm>
            <a:off x="1982188" y="4447413"/>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2" name="TextBox 41"/>
          <p:cNvSpPr txBox="1"/>
          <p:nvPr/>
        </p:nvSpPr>
        <p:spPr>
          <a:xfrm>
            <a:off x="276225" y="4675250"/>
            <a:ext cx="1309067" cy="194310"/>
          </a:xfrm>
          <a:prstGeom prst="rect">
            <a:avLst/>
          </a:prstGeom>
          <a:noFill/>
        </p:spPr>
        <p:txBody>
          <a:bodyPr wrap="none" lIns="0" rIns="0" tIns="0" bIns="0">
            <a:spAutoFit/>
          </a:bodyPr>
          <a:lstStyle/>
          <a:p>
            <a:r>
              <a:rPr sz="1150" b="0">
                <a:solidFill>
                  <a:srgbClr val="2E2E2E"/>
                </a:solidFill>
                <a:latin typeface="Calibri"/>
              </a:rPr>
              <a:t>▪ 3. Liquid × Vanilla –</a:t>
            </a:r>
          </a:p>
        </p:txBody>
      </p:sp>
      <p:pic>
        <p:nvPicPr>
          <p:cNvPr id="43" name="Picture 42" descr="lock.png"/>
          <p:cNvPicPr>
            <a:picLocks noChangeAspect="1"/>
          </p:cNvPicPr>
          <p:nvPr/>
        </p:nvPicPr>
        <p:blipFill>
          <a:blip r:embed="rId4"/>
          <a:stretch>
            <a:fillRect/>
          </a:stretch>
        </p:blipFill>
        <p:spPr>
          <a:xfrm>
            <a:off x="1534446" y="4665027"/>
            <a:ext cx="134549" cy="195707"/>
          </a:xfrm>
          <a:prstGeom prst="rect">
            <a:avLst/>
          </a:prstGeom>
        </p:spPr>
      </p:pic>
      <p:sp>
        <p:nvSpPr>
          <p:cNvPr id="44" name="TextBox 43"/>
          <p:cNvSpPr txBox="1"/>
          <p:nvPr/>
        </p:nvSpPr>
        <p:spPr>
          <a:xfrm>
            <a:off x="1709555" y="4675250"/>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1771707" y="4665027"/>
            <a:ext cx="134549" cy="195707"/>
          </a:xfrm>
          <a:prstGeom prst="rect">
            <a:avLst/>
          </a:prstGeom>
        </p:spPr>
      </p:pic>
      <p:sp>
        <p:nvSpPr>
          <p:cNvPr id="46" name="TextBox 45"/>
          <p:cNvSpPr txBox="1"/>
          <p:nvPr/>
        </p:nvSpPr>
        <p:spPr>
          <a:xfrm>
            <a:off x="1946816" y="4675250"/>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7" name="TextBox 46"/>
          <p:cNvSpPr txBox="1"/>
          <p:nvPr/>
        </p:nvSpPr>
        <p:spPr>
          <a:xfrm>
            <a:off x="276225" y="4903088"/>
            <a:ext cx="1776313" cy="194310"/>
          </a:xfrm>
          <a:prstGeom prst="rect">
            <a:avLst/>
          </a:prstGeom>
          <a:noFill/>
        </p:spPr>
        <p:txBody>
          <a:bodyPr wrap="none" lIns="0" rIns="0" tIns="0" bIns="0">
            <a:spAutoFit/>
          </a:bodyPr>
          <a:lstStyle/>
          <a:p>
            <a:r>
              <a:rPr sz="1150" b="0">
                <a:solidFill>
                  <a:srgbClr val="2E2E2E"/>
                </a:solidFill>
                <a:latin typeface="Calibri"/>
              </a:rPr>
              <a:t>▪ 4. Liquid × Pumpkin Spice –</a:t>
            </a:r>
          </a:p>
        </p:txBody>
      </p:sp>
      <p:pic>
        <p:nvPicPr>
          <p:cNvPr id="48" name="Picture 47" descr="lock.png"/>
          <p:cNvPicPr>
            <a:picLocks noChangeAspect="1"/>
          </p:cNvPicPr>
          <p:nvPr/>
        </p:nvPicPr>
        <p:blipFill>
          <a:blip r:embed="rId4"/>
          <a:stretch>
            <a:fillRect/>
          </a:stretch>
        </p:blipFill>
        <p:spPr>
          <a:xfrm>
            <a:off x="2001692" y="4892865"/>
            <a:ext cx="134549" cy="195707"/>
          </a:xfrm>
          <a:prstGeom prst="rect">
            <a:avLst/>
          </a:prstGeom>
        </p:spPr>
      </p:pic>
      <p:sp>
        <p:nvSpPr>
          <p:cNvPr id="49" name="TextBox 48"/>
          <p:cNvSpPr txBox="1"/>
          <p:nvPr/>
        </p:nvSpPr>
        <p:spPr>
          <a:xfrm>
            <a:off x="2176801" y="4903088"/>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2238953" y="4892865"/>
            <a:ext cx="134549" cy="195707"/>
          </a:xfrm>
          <a:prstGeom prst="rect">
            <a:avLst/>
          </a:prstGeom>
        </p:spPr>
      </p:pic>
      <p:sp>
        <p:nvSpPr>
          <p:cNvPr id="51" name="TextBox 50"/>
          <p:cNvSpPr txBox="1"/>
          <p:nvPr/>
        </p:nvSpPr>
        <p:spPr>
          <a:xfrm>
            <a:off x="2414062" y="4903088"/>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2" name="TextBox 51"/>
          <p:cNvSpPr txBox="1"/>
          <p:nvPr/>
        </p:nvSpPr>
        <p:spPr>
          <a:xfrm>
            <a:off x="276225" y="5130926"/>
            <a:ext cx="1319051" cy="194310"/>
          </a:xfrm>
          <a:prstGeom prst="rect">
            <a:avLst/>
          </a:prstGeom>
          <a:noFill/>
        </p:spPr>
        <p:txBody>
          <a:bodyPr wrap="none" lIns="0" rIns="0" tIns="0" bIns="0">
            <a:spAutoFit/>
          </a:bodyPr>
          <a:lstStyle/>
          <a:p>
            <a:r>
              <a:rPr sz="1150" b="0">
                <a:solidFill>
                  <a:srgbClr val="2E2E2E"/>
                </a:solidFill>
                <a:latin typeface="Calibri"/>
              </a:rPr>
              <a:t>▪ 5. Liquid × Mocha –</a:t>
            </a:r>
          </a:p>
        </p:txBody>
      </p:sp>
      <p:pic>
        <p:nvPicPr>
          <p:cNvPr id="53" name="Picture 52" descr="lock.png"/>
          <p:cNvPicPr>
            <a:picLocks noChangeAspect="1"/>
          </p:cNvPicPr>
          <p:nvPr/>
        </p:nvPicPr>
        <p:blipFill>
          <a:blip r:embed="rId4"/>
          <a:stretch>
            <a:fillRect/>
          </a:stretch>
        </p:blipFill>
        <p:spPr>
          <a:xfrm>
            <a:off x="1544430" y="5120703"/>
            <a:ext cx="134549" cy="195707"/>
          </a:xfrm>
          <a:prstGeom prst="rect">
            <a:avLst/>
          </a:prstGeom>
        </p:spPr>
      </p:pic>
      <p:sp>
        <p:nvSpPr>
          <p:cNvPr id="54" name="TextBox 53"/>
          <p:cNvSpPr txBox="1"/>
          <p:nvPr/>
        </p:nvSpPr>
        <p:spPr>
          <a:xfrm>
            <a:off x="1719539" y="5130926"/>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5" name="Picture 54" descr="lock.png"/>
          <p:cNvPicPr>
            <a:picLocks noChangeAspect="1"/>
          </p:cNvPicPr>
          <p:nvPr/>
        </p:nvPicPr>
        <p:blipFill>
          <a:blip r:embed="rId4"/>
          <a:stretch>
            <a:fillRect/>
          </a:stretch>
        </p:blipFill>
        <p:spPr>
          <a:xfrm>
            <a:off x="1781691" y="5120703"/>
            <a:ext cx="134549" cy="195707"/>
          </a:xfrm>
          <a:prstGeom prst="rect">
            <a:avLst/>
          </a:prstGeom>
        </p:spPr>
      </p:pic>
      <p:sp>
        <p:nvSpPr>
          <p:cNvPr id="56" name="TextBox 55"/>
          <p:cNvSpPr txBox="1"/>
          <p:nvPr/>
        </p:nvSpPr>
        <p:spPr>
          <a:xfrm>
            <a:off x="1956800" y="5130926"/>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57" name="TextBox 56"/>
          <p:cNvSpPr txBox="1"/>
          <p:nvPr/>
        </p:nvSpPr>
        <p:spPr>
          <a:xfrm>
            <a:off x="6029325" y="4219575"/>
            <a:ext cx="1461963" cy="194310"/>
          </a:xfrm>
          <a:prstGeom prst="rect">
            <a:avLst/>
          </a:prstGeom>
          <a:noFill/>
        </p:spPr>
        <p:txBody>
          <a:bodyPr wrap="none" lIns="0" rIns="0" tIns="0" bIns="0">
            <a:spAutoFit/>
          </a:bodyPr>
          <a:lstStyle/>
          <a:p>
            <a:r>
              <a:rPr sz="1150" b="0">
                <a:solidFill>
                  <a:srgbClr val="2E2E2E"/>
                </a:solidFill>
                <a:latin typeface="Calibri"/>
              </a:rPr>
              <a:t>▪ 'Liquid × Unflavoured'</a:t>
            </a:r>
          </a:p>
        </p:txBody>
      </p:sp>
      <p:sp>
        <p:nvSpPr>
          <p:cNvPr id="58" name="TextBox 57"/>
          <p:cNvSpPr txBox="1"/>
          <p:nvPr/>
        </p:nvSpPr>
        <p:spPr>
          <a:xfrm>
            <a:off x="6029325" y="4394835"/>
            <a:ext cx="356604" cy="194310"/>
          </a:xfrm>
          <a:prstGeom prst="rect">
            <a:avLst/>
          </a:prstGeom>
          <a:noFill/>
        </p:spPr>
        <p:txBody>
          <a:bodyPr wrap="none" lIns="0" rIns="0" tIns="0" bIns="0">
            <a:spAutoFit/>
          </a:bodyPr>
          <a:lstStyle/>
          <a:p>
            <a:r>
              <a:rPr sz="1150" b="0">
                <a:solidFill>
                  <a:srgbClr val="2E2E2E"/>
                </a:solidFill>
                <a:latin typeface="Calibri"/>
              </a:rPr>
              <a:t>adds</a:t>
            </a:r>
          </a:p>
        </p:txBody>
      </p:sp>
      <p:pic>
        <p:nvPicPr>
          <p:cNvPr id="59" name="Picture 58" descr="lock.png"/>
          <p:cNvPicPr>
            <a:picLocks noChangeAspect="1"/>
          </p:cNvPicPr>
          <p:nvPr/>
        </p:nvPicPr>
        <p:blipFill>
          <a:blip r:embed="rId4"/>
          <a:stretch>
            <a:fillRect/>
          </a:stretch>
        </p:blipFill>
        <p:spPr>
          <a:xfrm>
            <a:off x="6335083" y="4384611"/>
            <a:ext cx="134549" cy="195707"/>
          </a:xfrm>
          <a:prstGeom prst="rect">
            <a:avLst/>
          </a:prstGeom>
        </p:spPr>
      </p:pic>
      <p:sp>
        <p:nvSpPr>
          <p:cNvPr id="60" name="TextBox 59"/>
          <p:cNvSpPr txBox="1"/>
          <p:nvPr/>
        </p:nvSpPr>
        <p:spPr>
          <a:xfrm>
            <a:off x="6510192" y="4394835"/>
            <a:ext cx="1118803" cy="194310"/>
          </a:xfrm>
          <a:prstGeom prst="rect">
            <a:avLst/>
          </a:prstGeom>
          <a:noFill/>
        </p:spPr>
        <p:txBody>
          <a:bodyPr wrap="none" lIns="0" rIns="0" tIns="0" bIns="0">
            <a:spAutoFit/>
          </a:bodyPr>
          <a:lstStyle/>
          <a:p>
            <a:r>
              <a:rPr sz="1150" b="0">
                <a:solidFill>
                  <a:srgbClr val="2E2E2E"/>
                </a:solidFill>
                <a:latin typeface="Calibri"/>
              </a:rPr>
              <a:t>US$ Mn by 2036F</a:t>
            </a:r>
          </a:p>
        </p:txBody>
      </p:sp>
      <p:sp>
        <p:nvSpPr>
          <p:cNvPr id="61" name="TextBox 60"/>
          <p:cNvSpPr txBox="1"/>
          <p:nvPr/>
        </p:nvSpPr>
        <p:spPr>
          <a:xfrm>
            <a:off x="6029325" y="4570095"/>
            <a:ext cx="148939"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62" name="Picture 61" descr="lock.png"/>
          <p:cNvPicPr>
            <a:picLocks noChangeAspect="1"/>
          </p:cNvPicPr>
          <p:nvPr/>
        </p:nvPicPr>
        <p:blipFill>
          <a:blip r:embed="rId4"/>
          <a:stretch>
            <a:fillRect/>
          </a:stretch>
        </p:blipFill>
        <p:spPr>
          <a:xfrm>
            <a:off x="6127418" y="4559871"/>
            <a:ext cx="134549" cy="195707"/>
          </a:xfrm>
          <a:prstGeom prst="rect">
            <a:avLst/>
          </a:prstGeom>
        </p:spPr>
      </p:pic>
      <p:sp>
        <p:nvSpPr>
          <p:cNvPr id="63" name="TextBox 62"/>
          <p:cNvSpPr txBox="1"/>
          <p:nvPr/>
        </p:nvSpPr>
        <p:spPr>
          <a:xfrm>
            <a:off x="6302527" y="4570095"/>
            <a:ext cx="741126" cy="194310"/>
          </a:xfrm>
          <a:prstGeom prst="rect">
            <a:avLst/>
          </a:prstGeom>
          <a:noFill/>
        </p:spPr>
        <p:txBody>
          <a:bodyPr wrap="none" lIns="0" rIns="0" tIns="0" bIns="0">
            <a:spAutoFit/>
          </a:bodyPr>
          <a:lstStyle/>
          <a:p>
            <a:r>
              <a:rPr sz="1150" b="0">
                <a:solidFill>
                  <a:srgbClr val="2E2E2E"/>
                </a:solidFill>
                <a:latin typeface="Calibri"/>
              </a:rPr>
              <a:t>of the total</a:t>
            </a:r>
          </a:p>
        </p:txBody>
      </p:sp>
      <p:sp>
        <p:nvSpPr>
          <p:cNvPr id="64" name="TextBox 63"/>
          <p:cNvSpPr txBox="1"/>
          <p:nvPr/>
        </p:nvSpPr>
        <p:spPr>
          <a:xfrm>
            <a:off x="6029325" y="4745354"/>
            <a:ext cx="822994" cy="194310"/>
          </a:xfrm>
          <a:prstGeom prst="rect">
            <a:avLst/>
          </a:prstGeom>
          <a:noFill/>
        </p:spPr>
        <p:txBody>
          <a:bodyPr wrap="none" lIns="0" rIns="0" tIns="0" bIns="0">
            <a:spAutoFit/>
          </a:bodyPr>
          <a:lstStyle/>
          <a:p>
            <a:r>
              <a:rPr sz="1150" b="0">
                <a:solidFill>
                  <a:srgbClr val="2E2E2E"/>
                </a:solidFill>
                <a:latin typeface="Calibri"/>
              </a:rPr>
              <a:t>opportunity.</a:t>
            </a:r>
          </a:p>
        </p:txBody>
      </p:sp>
      <p:sp>
        <p:nvSpPr>
          <p:cNvPr id="65" name="TextBox 64"/>
          <p:cNvSpPr txBox="1"/>
          <p:nvPr/>
        </p:nvSpPr>
        <p:spPr>
          <a:xfrm>
            <a:off x="8124825" y="4219575"/>
            <a:ext cx="1590898" cy="194310"/>
          </a:xfrm>
          <a:prstGeom prst="rect">
            <a:avLst/>
          </a:prstGeom>
          <a:noFill/>
        </p:spPr>
        <p:txBody>
          <a:bodyPr wrap="none" lIns="0" rIns="0" tIns="0" bIns="0">
            <a:spAutoFit/>
          </a:bodyPr>
          <a:lstStyle/>
          <a:p>
            <a:r>
              <a:rPr sz="1150" b="0">
                <a:solidFill>
                  <a:srgbClr val="2E2E2E"/>
                </a:solidFill>
                <a:latin typeface="Calibri"/>
              </a:rPr>
              <a:t>▪ 'Liquid × Pumpkin Spice'</a:t>
            </a:r>
          </a:p>
        </p:txBody>
      </p:sp>
      <p:sp>
        <p:nvSpPr>
          <p:cNvPr id="66" name="TextBox 65"/>
          <p:cNvSpPr txBox="1"/>
          <p:nvPr/>
        </p:nvSpPr>
        <p:spPr>
          <a:xfrm>
            <a:off x="8124825" y="4394835"/>
            <a:ext cx="689495" cy="194310"/>
          </a:xfrm>
          <a:prstGeom prst="rect">
            <a:avLst/>
          </a:prstGeom>
          <a:noFill/>
        </p:spPr>
        <p:txBody>
          <a:bodyPr wrap="none" lIns="0" rIns="0" tIns="0" bIns="0">
            <a:spAutoFit/>
          </a:bodyPr>
          <a:lstStyle/>
          <a:p>
            <a:r>
              <a:rPr sz="1150" b="0">
                <a:solidFill>
                  <a:srgbClr val="2E2E2E"/>
                </a:solidFill>
                <a:latin typeface="Calibri"/>
              </a:rPr>
              <a:t>grows at a</a:t>
            </a:r>
          </a:p>
        </p:txBody>
      </p:sp>
      <p:pic>
        <p:nvPicPr>
          <p:cNvPr id="67" name="Picture 66" descr="lock.png"/>
          <p:cNvPicPr>
            <a:picLocks noChangeAspect="1"/>
          </p:cNvPicPr>
          <p:nvPr/>
        </p:nvPicPr>
        <p:blipFill>
          <a:blip r:embed="rId4"/>
          <a:stretch>
            <a:fillRect/>
          </a:stretch>
        </p:blipFill>
        <p:spPr>
          <a:xfrm>
            <a:off x="8763474" y="4384611"/>
            <a:ext cx="134549" cy="195707"/>
          </a:xfrm>
          <a:prstGeom prst="rect">
            <a:avLst/>
          </a:prstGeom>
        </p:spPr>
      </p:pic>
      <p:sp>
        <p:nvSpPr>
          <p:cNvPr id="68" name="TextBox 67"/>
          <p:cNvSpPr txBox="1"/>
          <p:nvPr/>
        </p:nvSpPr>
        <p:spPr>
          <a:xfrm>
            <a:off x="8938584" y="439483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9" name="Picture 68" descr="lock.png"/>
          <p:cNvPicPr>
            <a:picLocks noChangeAspect="1"/>
          </p:cNvPicPr>
          <p:nvPr/>
        </p:nvPicPr>
        <p:blipFill>
          <a:blip r:embed="rId4"/>
          <a:stretch>
            <a:fillRect/>
          </a:stretch>
        </p:blipFill>
        <p:spPr>
          <a:xfrm>
            <a:off x="9334179" y="4384611"/>
            <a:ext cx="134549" cy="195707"/>
          </a:xfrm>
          <a:prstGeom prst="rect">
            <a:avLst/>
          </a:prstGeom>
        </p:spPr>
      </p:pic>
      <p:sp>
        <p:nvSpPr>
          <p:cNvPr id="70" name="TextBox 69"/>
          <p:cNvSpPr txBox="1"/>
          <p:nvPr/>
        </p:nvSpPr>
        <p:spPr>
          <a:xfrm>
            <a:off x="8124825" y="4570095"/>
            <a:ext cx="925400" cy="194310"/>
          </a:xfrm>
          <a:prstGeom prst="rect">
            <a:avLst/>
          </a:prstGeom>
          <a:noFill/>
        </p:spPr>
        <p:txBody>
          <a:bodyPr wrap="none" lIns="0" rIns="0" tIns="0" bIns="0">
            <a:spAutoFit/>
          </a:bodyPr>
          <a:lstStyle/>
          <a:p>
            <a:r>
              <a:rPr sz="1150" b="0">
                <a:solidFill>
                  <a:srgbClr val="2E2E2E"/>
                </a:solidFill>
                <a:latin typeface="Calibri"/>
              </a:rPr>
              <a:t>BPS above the</a:t>
            </a:r>
          </a:p>
        </p:txBody>
      </p:sp>
      <p:sp>
        <p:nvSpPr>
          <p:cNvPr id="71" name="TextBox 70"/>
          <p:cNvSpPr txBox="1"/>
          <p:nvPr/>
        </p:nvSpPr>
        <p:spPr>
          <a:xfrm>
            <a:off x="8124825" y="4745354"/>
            <a:ext cx="890029" cy="194310"/>
          </a:xfrm>
          <a:prstGeom prst="rect">
            <a:avLst/>
          </a:prstGeom>
          <a:noFill/>
        </p:spPr>
        <p:txBody>
          <a:bodyPr wrap="none" lIns="0" rIns="0" tIns="0" bIns="0">
            <a:spAutoFit/>
          </a:bodyPr>
          <a:lstStyle/>
          <a:p>
            <a:r>
              <a:rPr sz="1150" b="0">
                <a:solidFill>
                  <a:srgbClr val="2E2E2E"/>
                </a:solidFill>
                <a:latin typeface="Calibri"/>
              </a:rPr>
              <a:t>cross-section.</a:t>
            </a:r>
          </a:p>
        </p:txBody>
      </p:sp>
    </p:spTree>
  </p:cSld>
  <p:clrMapOvr>
    <a:masterClrMapping/>
  </p:clrMapOvr>
</p:sld>
</file>

<file path=ppt/slides/slide20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12.3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Packaging Type × 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Share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Absolute $ Opportunity &amp; Attractiveness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Packaging Type × Distribution Channel, 2026E vs 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packaging type sub-segment across distribution channel sub-segments</a:t>
            </a:r>
          </a:p>
        </p:txBody>
      </p:sp>
      <p:sp>
        <p:nvSpPr>
          <p:cNvPr id="10" name="Rounded Rectangle 9"/>
          <p:cNvSpPr/>
          <p:nvPr/>
        </p:nvSpPr>
        <p:spPr>
          <a:xfrm>
            <a:off x="142875" y="981075"/>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Market Value, Packaging Type × Distribution Channel, 2026E and 2036F (US$ Mn)</a:t>
            </a:r>
          </a:p>
        </p:txBody>
      </p:sp>
      <p:graphicFrame>
        <p:nvGraphicFramePr>
          <p:cNvPr id="12" name="Table 11"/>
          <p:cNvGraphicFramePr>
            <a:graphicFrameLocks noGrp="1"/>
          </p:cNvGraphicFramePr>
          <p:nvPr/>
        </p:nvGraphicFramePr>
        <p:xfrm>
          <a:off x="152400" y="1238250"/>
          <a:ext cx="11887193" cy="3343274"/>
        </p:xfrm>
        <a:graphic>
          <a:graphicData uri="http://schemas.openxmlformats.org/drawingml/2006/table">
            <a:tbl>
              <a:tblPr>
                <a:tableStyleId>{5C22544A-7EE6-4342-B048-85BDC9FD1C3A}</a:tableStyleId>
              </a:tblPr>
              <a:tblGrid>
                <a:gridCol w="2088265"/>
                <a:gridCol w="612433"/>
                <a:gridCol w="612433"/>
                <a:gridCol w="612433"/>
                <a:gridCol w="612433"/>
                <a:gridCol w="612433"/>
                <a:gridCol w="612433"/>
                <a:gridCol w="612433"/>
                <a:gridCol w="612433"/>
                <a:gridCol w="612433"/>
                <a:gridCol w="612433"/>
                <a:gridCol w="612433"/>
                <a:gridCol w="612433"/>
                <a:gridCol w="612433"/>
                <a:gridCol w="612433"/>
                <a:gridCol w="612433"/>
                <a:gridCol w="612433"/>
              </a:tblGrid>
              <a:tr h="631697">
                <a:tc rowSpan="2">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B2B / Institutional</a:t>
                      </a:r>
                      <a:endParaRPr sz="1100"/>
                    </a:p>
                    <a:p>
                      <a:pPr algn="ctr"/>
                      <a:r>
                        <a:rPr sz="1100" b="1">
                          <a:solidFill>
                            <a:srgbClr val="0B2E4A"/>
                          </a:solidFill>
                          <a:latin typeface="Calibri"/>
                        </a:rPr>
                        <a:t>and Ingredient</a:t>
                      </a:r>
                      <a:endParaRPr sz="1100"/>
                    </a:p>
                    <a:p>
                      <a:pPr algn="ctr"/>
                      <a:r>
                        <a:rPr sz="1100" b="1">
                          <a:solidFill>
                            <a:srgbClr val="0B2E4A"/>
                          </a:solidFill>
                          <a:latin typeface="Calibri"/>
                        </a:rPr>
                        <a:t>Sales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Supermarkets and</a:t>
                      </a:r>
                      <a:endParaRPr sz="1100"/>
                    </a:p>
                    <a:p>
                      <a:pPr algn="ctr"/>
                      <a:r>
                        <a:rPr sz="1100" b="1">
                          <a:solidFill>
                            <a:srgbClr val="0B2E4A"/>
                          </a:solidFill>
                          <a:latin typeface="Calibri"/>
                        </a:rPr>
                        <a:t>Hypermarkets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Convenience</a:t>
                      </a:r>
                      <a:endParaRPr sz="1100"/>
                    </a:p>
                    <a:p>
                      <a:pPr algn="ctr"/>
                      <a:r>
                        <a:rPr sz="1100" b="1">
                          <a:solidFill>
                            <a:srgbClr val="0B2E4A"/>
                          </a:solidFill>
                          <a:latin typeface="Calibri"/>
                        </a:rPr>
                        <a:t>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Specialty Tea and</a:t>
                      </a:r>
                      <a:endParaRPr sz="1100"/>
                    </a:p>
                    <a:p>
                      <a:pPr algn="ctr"/>
                      <a:r>
                        <a:rPr sz="1100" b="1">
                          <a:solidFill>
                            <a:srgbClr val="0B2E4A"/>
                          </a:solidFill>
                          <a:latin typeface="Calibri"/>
                        </a:rPr>
                        <a:t>Health Food</a:t>
                      </a:r>
                      <a:endParaRPr sz="1100"/>
                    </a:p>
                    <a:p>
                      <a:pPr algn="ctr"/>
                      <a:r>
                        <a:rPr sz="1100" b="1">
                          <a:solidFill>
                            <a:srgbClr val="0B2E4A"/>
                          </a:solidFill>
                          <a:latin typeface="Calibri"/>
                        </a:rPr>
                        <a:t>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 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HoReCa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Retail</a:t>
                      </a:r>
                      <a:endParaRPr sz="1100"/>
                    </a:p>
                    <a:p>
                      <a:pPr algn="ctr"/>
                      <a:r>
                        <a:rPr sz="1100" b="1">
                          <a:solidFill>
                            <a:srgbClr val="0B2E4A"/>
                          </a:solidFill>
                          <a:latin typeface="Calibri"/>
                        </a:rPr>
                        <a:t>Channels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50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591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953439" y="3082289"/>
            <a:ext cx="366712" cy="533400"/>
          </a:xfrm>
          <a:prstGeom prst="rect">
            <a:avLst/>
          </a:prstGeom>
        </p:spPr>
      </p:pic>
    </p:spTree>
  </p:cSld>
  <p:clrMapOvr>
    <a:masterClrMapping/>
  </p:clrMapOvr>
</p:sld>
</file>

<file path=ppt/slides/slide21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Snapshot: Packaging Type × Distribution Channel, 2026E vs 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North America market value (US$ Mn) for each packaging type sub-segment across distribution channel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Flow, Packaging Type → Distribution Channel, 2036F (US$ Mn)</a:t>
            </a:r>
          </a:p>
        </p:txBody>
      </p:sp>
      <p:sp>
        <p:nvSpPr>
          <p:cNvPr id="12" name="Freeform 11"/>
          <p:cNvSpPr/>
          <p:nvPr/>
        </p:nvSpPr>
        <p:spPr>
          <a:xfrm>
            <a:off x="2057400" y="1304925"/>
            <a:ext cx="3743325" cy="276225"/>
          </a:xfrm>
          <a:custGeom>
            <a:avLst/>
            <a:gdLst/>
            <a:ahLst/>
            <a:cxnLst/>
            <a:rect l="l" t="t" r="r" b="b"/>
            <a:pathLst>
              <a:path w="393" h="29">
                <a:moveTo>
                  <a:pt x="0" y="0"/>
                </a:moveTo>
                <a:lnTo>
                  <a:pt x="16" y="0"/>
                </a:lnTo>
                <a:lnTo>
                  <a:pt x="33" y="0"/>
                </a:lnTo>
                <a:lnTo>
                  <a:pt x="49" y="0"/>
                </a:lnTo>
                <a:lnTo>
                  <a:pt x="65" y="0"/>
                </a:lnTo>
                <a:lnTo>
                  <a:pt x="82" y="1"/>
                </a:lnTo>
                <a:lnTo>
                  <a:pt x="98" y="1"/>
                </a:lnTo>
                <a:lnTo>
                  <a:pt x="114" y="1"/>
                </a:lnTo>
                <a:lnTo>
                  <a:pt x="131" y="2"/>
                </a:lnTo>
                <a:lnTo>
                  <a:pt x="147" y="2"/>
                </a:lnTo>
                <a:lnTo>
                  <a:pt x="164" y="2"/>
                </a:lnTo>
                <a:lnTo>
                  <a:pt x="180" y="3"/>
                </a:lnTo>
                <a:lnTo>
                  <a:pt x="196" y="3"/>
                </a:lnTo>
                <a:lnTo>
                  <a:pt x="213" y="3"/>
                </a:lnTo>
                <a:lnTo>
                  <a:pt x="229" y="4"/>
                </a:lnTo>
                <a:lnTo>
                  <a:pt x="246" y="4"/>
                </a:lnTo>
                <a:lnTo>
                  <a:pt x="262" y="4"/>
                </a:lnTo>
                <a:lnTo>
                  <a:pt x="278" y="5"/>
                </a:lnTo>
                <a:lnTo>
                  <a:pt x="295" y="5"/>
                </a:lnTo>
                <a:lnTo>
                  <a:pt x="311" y="5"/>
                </a:lnTo>
                <a:lnTo>
                  <a:pt x="327" y="6"/>
                </a:lnTo>
                <a:lnTo>
                  <a:pt x="344" y="6"/>
                </a:lnTo>
                <a:lnTo>
                  <a:pt x="360" y="6"/>
                </a:lnTo>
                <a:lnTo>
                  <a:pt x="377" y="6"/>
                </a:lnTo>
                <a:lnTo>
                  <a:pt x="393" y="6"/>
                </a:lnTo>
                <a:lnTo>
                  <a:pt x="393" y="29"/>
                </a:lnTo>
                <a:lnTo>
                  <a:pt x="377" y="29"/>
                </a:lnTo>
                <a:lnTo>
                  <a:pt x="360" y="28"/>
                </a:lnTo>
                <a:lnTo>
                  <a:pt x="344" y="28"/>
                </a:lnTo>
                <a:lnTo>
                  <a:pt x="327" y="28"/>
                </a:lnTo>
                <a:lnTo>
                  <a:pt x="311" y="28"/>
                </a:lnTo>
                <a:lnTo>
                  <a:pt x="295" y="28"/>
                </a:lnTo>
                <a:lnTo>
                  <a:pt x="278" y="27"/>
                </a:lnTo>
                <a:lnTo>
                  <a:pt x="262" y="27"/>
                </a:lnTo>
                <a:lnTo>
                  <a:pt x="246" y="27"/>
                </a:lnTo>
                <a:lnTo>
                  <a:pt x="229" y="26"/>
                </a:lnTo>
                <a:lnTo>
                  <a:pt x="213" y="26"/>
                </a:lnTo>
                <a:lnTo>
                  <a:pt x="196" y="26"/>
                </a:lnTo>
                <a:lnTo>
                  <a:pt x="180" y="25"/>
                </a:lnTo>
                <a:lnTo>
                  <a:pt x="164" y="25"/>
                </a:lnTo>
                <a:lnTo>
                  <a:pt x="147" y="24"/>
                </a:lnTo>
                <a:lnTo>
                  <a:pt x="131" y="24"/>
                </a:lnTo>
                <a:lnTo>
                  <a:pt x="114" y="24"/>
                </a:lnTo>
                <a:lnTo>
                  <a:pt x="98" y="23"/>
                </a:lnTo>
                <a:lnTo>
                  <a:pt x="82" y="23"/>
                </a:lnTo>
                <a:lnTo>
                  <a:pt x="65" y="23"/>
                </a:lnTo>
                <a:lnTo>
                  <a:pt x="49" y="23"/>
                </a:lnTo>
                <a:lnTo>
                  <a:pt x="33" y="23"/>
                </a:lnTo>
                <a:lnTo>
                  <a:pt x="16" y="23"/>
                </a:lnTo>
                <a:lnTo>
                  <a:pt x="0" y="2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Freeform 12"/>
          <p:cNvSpPr/>
          <p:nvPr/>
        </p:nvSpPr>
        <p:spPr>
          <a:xfrm>
            <a:off x="2057400" y="1524000"/>
            <a:ext cx="3743325" cy="1238250"/>
          </a:xfrm>
          <a:custGeom>
            <a:avLst/>
            <a:gdLst/>
            <a:ahLst/>
            <a:cxnLst/>
            <a:rect l="l" t="t" r="r" b="b"/>
            <a:pathLst>
              <a:path w="393" h="130">
                <a:moveTo>
                  <a:pt x="0" y="0"/>
                </a:moveTo>
                <a:lnTo>
                  <a:pt x="16" y="0"/>
                </a:lnTo>
                <a:lnTo>
                  <a:pt x="33" y="2"/>
                </a:lnTo>
                <a:lnTo>
                  <a:pt x="49" y="4"/>
                </a:lnTo>
                <a:lnTo>
                  <a:pt x="65" y="8"/>
                </a:lnTo>
                <a:lnTo>
                  <a:pt x="82" y="12"/>
                </a:lnTo>
                <a:lnTo>
                  <a:pt x="98" y="16"/>
                </a:lnTo>
                <a:lnTo>
                  <a:pt x="114" y="22"/>
                </a:lnTo>
                <a:lnTo>
                  <a:pt x="131" y="27"/>
                </a:lnTo>
                <a:lnTo>
                  <a:pt x="147" y="34"/>
                </a:lnTo>
                <a:lnTo>
                  <a:pt x="164" y="40"/>
                </a:lnTo>
                <a:lnTo>
                  <a:pt x="180" y="47"/>
                </a:lnTo>
                <a:lnTo>
                  <a:pt x="196" y="53"/>
                </a:lnTo>
                <a:lnTo>
                  <a:pt x="213" y="60"/>
                </a:lnTo>
                <a:lnTo>
                  <a:pt x="229" y="67"/>
                </a:lnTo>
                <a:lnTo>
                  <a:pt x="246" y="73"/>
                </a:lnTo>
                <a:lnTo>
                  <a:pt x="262" y="79"/>
                </a:lnTo>
                <a:lnTo>
                  <a:pt x="278" y="85"/>
                </a:lnTo>
                <a:lnTo>
                  <a:pt x="295" y="91"/>
                </a:lnTo>
                <a:lnTo>
                  <a:pt x="311" y="95"/>
                </a:lnTo>
                <a:lnTo>
                  <a:pt x="327" y="99"/>
                </a:lnTo>
                <a:lnTo>
                  <a:pt x="344" y="103"/>
                </a:lnTo>
                <a:lnTo>
                  <a:pt x="360" y="105"/>
                </a:lnTo>
                <a:lnTo>
                  <a:pt x="377" y="107"/>
                </a:lnTo>
                <a:lnTo>
                  <a:pt x="393" y="107"/>
                </a:lnTo>
                <a:lnTo>
                  <a:pt x="393" y="130"/>
                </a:lnTo>
                <a:lnTo>
                  <a:pt x="377" y="129"/>
                </a:lnTo>
                <a:lnTo>
                  <a:pt x="360" y="128"/>
                </a:lnTo>
                <a:lnTo>
                  <a:pt x="344" y="125"/>
                </a:lnTo>
                <a:lnTo>
                  <a:pt x="327" y="122"/>
                </a:lnTo>
                <a:lnTo>
                  <a:pt x="311" y="118"/>
                </a:lnTo>
                <a:lnTo>
                  <a:pt x="295" y="113"/>
                </a:lnTo>
                <a:lnTo>
                  <a:pt x="278" y="107"/>
                </a:lnTo>
                <a:lnTo>
                  <a:pt x="262" y="102"/>
                </a:lnTo>
                <a:lnTo>
                  <a:pt x="246" y="96"/>
                </a:lnTo>
                <a:lnTo>
                  <a:pt x="229" y="89"/>
                </a:lnTo>
                <a:lnTo>
                  <a:pt x="213" y="82"/>
                </a:lnTo>
                <a:lnTo>
                  <a:pt x="196" y="76"/>
                </a:lnTo>
                <a:lnTo>
                  <a:pt x="180" y="69"/>
                </a:lnTo>
                <a:lnTo>
                  <a:pt x="164" y="62"/>
                </a:lnTo>
                <a:lnTo>
                  <a:pt x="147" y="56"/>
                </a:lnTo>
                <a:lnTo>
                  <a:pt x="131" y="50"/>
                </a:lnTo>
                <a:lnTo>
                  <a:pt x="114" y="44"/>
                </a:lnTo>
                <a:lnTo>
                  <a:pt x="98" y="39"/>
                </a:lnTo>
                <a:lnTo>
                  <a:pt x="82" y="34"/>
                </a:lnTo>
                <a:lnTo>
                  <a:pt x="65" y="30"/>
                </a:lnTo>
                <a:lnTo>
                  <a:pt x="49" y="26"/>
                </a:lnTo>
                <a:lnTo>
                  <a:pt x="33" y="24"/>
                </a:lnTo>
                <a:lnTo>
                  <a:pt x="16" y="22"/>
                </a:lnTo>
                <a:lnTo>
                  <a:pt x="0" y="22"/>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2057400" y="1733550"/>
            <a:ext cx="3743325" cy="2133600"/>
          </a:xfrm>
          <a:custGeom>
            <a:avLst/>
            <a:gdLst/>
            <a:ahLst/>
            <a:cxnLst/>
            <a:rect l="l" t="t" r="r" b="b"/>
            <a:pathLst>
              <a:path w="393" h="224">
                <a:moveTo>
                  <a:pt x="0" y="0"/>
                </a:moveTo>
                <a:lnTo>
                  <a:pt x="16" y="1"/>
                </a:lnTo>
                <a:lnTo>
                  <a:pt x="33" y="4"/>
                </a:lnTo>
                <a:lnTo>
                  <a:pt x="49" y="8"/>
                </a:lnTo>
                <a:lnTo>
                  <a:pt x="65" y="15"/>
                </a:lnTo>
                <a:lnTo>
                  <a:pt x="82" y="22"/>
                </a:lnTo>
                <a:lnTo>
                  <a:pt x="98" y="31"/>
                </a:lnTo>
                <a:lnTo>
                  <a:pt x="114" y="41"/>
                </a:lnTo>
                <a:lnTo>
                  <a:pt x="131" y="52"/>
                </a:lnTo>
                <a:lnTo>
                  <a:pt x="147" y="63"/>
                </a:lnTo>
                <a:lnTo>
                  <a:pt x="164" y="75"/>
                </a:lnTo>
                <a:lnTo>
                  <a:pt x="180" y="88"/>
                </a:lnTo>
                <a:lnTo>
                  <a:pt x="196" y="100"/>
                </a:lnTo>
                <a:lnTo>
                  <a:pt x="213" y="113"/>
                </a:lnTo>
                <a:lnTo>
                  <a:pt x="229" y="125"/>
                </a:lnTo>
                <a:lnTo>
                  <a:pt x="246" y="137"/>
                </a:lnTo>
                <a:lnTo>
                  <a:pt x="262" y="148"/>
                </a:lnTo>
                <a:lnTo>
                  <a:pt x="278" y="159"/>
                </a:lnTo>
                <a:lnTo>
                  <a:pt x="295" y="169"/>
                </a:lnTo>
                <a:lnTo>
                  <a:pt x="311" y="178"/>
                </a:lnTo>
                <a:lnTo>
                  <a:pt x="327" y="186"/>
                </a:lnTo>
                <a:lnTo>
                  <a:pt x="344" y="192"/>
                </a:lnTo>
                <a:lnTo>
                  <a:pt x="360" y="196"/>
                </a:lnTo>
                <a:lnTo>
                  <a:pt x="377" y="199"/>
                </a:lnTo>
                <a:lnTo>
                  <a:pt x="393" y="200"/>
                </a:lnTo>
                <a:lnTo>
                  <a:pt x="393" y="224"/>
                </a:lnTo>
                <a:lnTo>
                  <a:pt x="377" y="223"/>
                </a:lnTo>
                <a:lnTo>
                  <a:pt x="360" y="220"/>
                </a:lnTo>
                <a:lnTo>
                  <a:pt x="344" y="215"/>
                </a:lnTo>
                <a:lnTo>
                  <a:pt x="327" y="209"/>
                </a:lnTo>
                <a:lnTo>
                  <a:pt x="311" y="201"/>
                </a:lnTo>
                <a:lnTo>
                  <a:pt x="295" y="192"/>
                </a:lnTo>
                <a:lnTo>
                  <a:pt x="278" y="182"/>
                </a:lnTo>
                <a:lnTo>
                  <a:pt x="262" y="172"/>
                </a:lnTo>
                <a:lnTo>
                  <a:pt x="246" y="160"/>
                </a:lnTo>
                <a:lnTo>
                  <a:pt x="229" y="148"/>
                </a:lnTo>
                <a:lnTo>
                  <a:pt x="213" y="136"/>
                </a:lnTo>
                <a:lnTo>
                  <a:pt x="196" y="123"/>
                </a:lnTo>
                <a:lnTo>
                  <a:pt x="180" y="111"/>
                </a:lnTo>
                <a:lnTo>
                  <a:pt x="164" y="98"/>
                </a:lnTo>
                <a:lnTo>
                  <a:pt x="147" y="86"/>
                </a:lnTo>
                <a:lnTo>
                  <a:pt x="131" y="75"/>
                </a:lnTo>
                <a:lnTo>
                  <a:pt x="114" y="64"/>
                </a:lnTo>
                <a:lnTo>
                  <a:pt x="98" y="54"/>
                </a:lnTo>
                <a:lnTo>
                  <a:pt x="82" y="45"/>
                </a:lnTo>
                <a:lnTo>
                  <a:pt x="65" y="38"/>
                </a:lnTo>
                <a:lnTo>
                  <a:pt x="49" y="32"/>
                </a:lnTo>
                <a:lnTo>
                  <a:pt x="33" y="27"/>
                </a:lnTo>
                <a:lnTo>
                  <a:pt x="16" y="24"/>
                </a:lnTo>
                <a:lnTo>
                  <a:pt x="0" y="23"/>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057400" y="1952625"/>
            <a:ext cx="3743325" cy="2743200"/>
          </a:xfrm>
          <a:custGeom>
            <a:avLst/>
            <a:gdLst/>
            <a:ahLst/>
            <a:cxnLst/>
            <a:rect l="l" t="t" r="r" b="b"/>
            <a:pathLst>
              <a:path w="393" h="288">
                <a:moveTo>
                  <a:pt x="0" y="0"/>
                </a:moveTo>
                <a:lnTo>
                  <a:pt x="16" y="1"/>
                </a:lnTo>
                <a:lnTo>
                  <a:pt x="33" y="5"/>
                </a:lnTo>
                <a:lnTo>
                  <a:pt x="49" y="12"/>
                </a:lnTo>
                <a:lnTo>
                  <a:pt x="65" y="20"/>
                </a:lnTo>
                <a:lnTo>
                  <a:pt x="82" y="31"/>
                </a:lnTo>
                <a:lnTo>
                  <a:pt x="98" y="43"/>
                </a:lnTo>
                <a:lnTo>
                  <a:pt x="114" y="56"/>
                </a:lnTo>
                <a:lnTo>
                  <a:pt x="131" y="71"/>
                </a:lnTo>
                <a:lnTo>
                  <a:pt x="147" y="87"/>
                </a:lnTo>
                <a:lnTo>
                  <a:pt x="164" y="103"/>
                </a:lnTo>
                <a:lnTo>
                  <a:pt x="180" y="120"/>
                </a:lnTo>
                <a:lnTo>
                  <a:pt x="196" y="137"/>
                </a:lnTo>
                <a:lnTo>
                  <a:pt x="213" y="154"/>
                </a:lnTo>
                <a:lnTo>
                  <a:pt x="229" y="171"/>
                </a:lnTo>
                <a:lnTo>
                  <a:pt x="246" y="188"/>
                </a:lnTo>
                <a:lnTo>
                  <a:pt x="262" y="203"/>
                </a:lnTo>
                <a:lnTo>
                  <a:pt x="278" y="218"/>
                </a:lnTo>
                <a:lnTo>
                  <a:pt x="295" y="232"/>
                </a:lnTo>
                <a:lnTo>
                  <a:pt x="311" y="244"/>
                </a:lnTo>
                <a:lnTo>
                  <a:pt x="327" y="254"/>
                </a:lnTo>
                <a:lnTo>
                  <a:pt x="344" y="263"/>
                </a:lnTo>
                <a:lnTo>
                  <a:pt x="360" y="269"/>
                </a:lnTo>
                <a:lnTo>
                  <a:pt x="377" y="273"/>
                </a:lnTo>
                <a:lnTo>
                  <a:pt x="393" y="275"/>
                </a:lnTo>
                <a:lnTo>
                  <a:pt x="393" y="288"/>
                </a:lnTo>
                <a:lnTo>
                  <a:pt x="377" y="287"/>
                </a:lnTo>
                <a:lnTo>
                  <a:pt x="360" y="283"/>
                </a:lnTo>
                <a:lnTo>
                  <a:pt x="344" y="277"/>
                </a:lnTo>
                <a:lnTo>
                  <a:pt x="327" y="268"/>
                </a:lnTo>
                <a:lnTo>
                  <a:pt x="311" y="258"/>
                </a:lnTo>
                <a:lnTo>
                  <a:pt x="295" y="246"/>
                </a:lnTo>
                <a:lnTo>
                  <a:pt x="278" y="232"/>
                </a:lnTo>
                <a:lnTo>
                  <a:pt x="262" y="217"/>
                </a:lnTo>
                <a:lnTo>
                  <a:pt x="246" y="202"/>
                </a:lnTo>
                <a:lnTo>
                  <a:pt x="229" y="185"/>
                </a:lnTo>
                <a:lnTo>
                  <a:pt x="213" y="168"/>
                </a:lnTo>
                <a:lnTo>
                  <a:pt x="196" y="151"/>
                </a:lnTo>
                <a:lnTo>
                  <a:pt x="180" y="134"/>
                </a:lnTo>
                <a:lnTo>
                  <a:pt x="164" y="117"/>
                </a:lnTo>
                <a:lnTo>
                  <a:pt x="147" y="101"/>
                </a:lnTo>
                <a:lnTo>
                  <a:pt x="131" y="85"/>
                </a:lnTo>
                <a:lnTo>
                  <a:pt x="114" y="70"/>
                </a:lnTo>
                <a:lnTo>
                  <a:pt x="98" y="57"/>
                </a:lnTo>
                <a:lnTo>
                  <a:pt x="82" y="45"/>
                </a:lnTo>
                <a:lnTo>
                  <a:pt x="65" y="34"/>
                </a:lnTo>
                <a:lnTo>
                  <a:pt x="49" y="26"/>
                </a:lnTo>
                <a:lnTo>
                  <a:pt x="33" y="19"/>
                </a:lnTo>
                <a:lnTo>
                  <a:pt x="16" y="15"/>
                </a:lnTo>
                <a:lnTo>
                  <a:pt x="0" y="14"/>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057400" y="2085975"/>
            <a:ext cx="3743325" cy="3381375"/>
          </a:xfrm>
          <a:custGeom>
            <a:avLst/>
            <a:gdLst/>
            <a:ahLst/>
            <a:cxnLst/>
            <a:rect l="l" t="t" r="r" b="b"/>
            <a:pathLst>
              <a:path w="393" h="355">
                <a:moveTo>
                  <a:pt x="0" y="0"/>
                </a:moveTo>
                <a:lnTo>
                  <a:pt x="16" y="2"/>
                </a:lnTo>
                <a:lnTo>
                  <a:pt x="33" y="7"/>
                </a:lnTo>
                <a:lnTo>
                  <a:pt x="49" y="15"/>
                </a:lnTo>
                <a:lnTo>
                  <a:pt x="65" y="25"/>
                </a:lnTo>
                <a:lnTo>
                  <a:pt x="82" y="39"/>
                </a:lnTo>
                <a:lnTo>
                  <a:pt x="98" y="54"/>
                </a:lnTo>
                <a:lnTo>
                  <a:pt x="114" y="71"/>
                </a:lnTo>
                <a:lnTo>
                  <a:pt x="131" y="89"/>
                </a:lnTo>
                <a:lnTo>
                  <a:pt x="147" y="109"/>
                </a:lnTo>
                <a:lnTo>
                  <a:pt x="164" y="130"/>
                </a:lnTo>
                <a:lnTo>
                  <a:pt x="180" y="151"/>
                </a:lnTo>
                <a:lnTo>
                  <a:pt x="196" y="173"/>
                </a:lnTo>
                <a:lnTo>
                  <a:pt x="213" y="194"/>
                </a:lnTo>
                <a:lnTo>
                  <a:pt x="229" y="216"/>
                </a:lnTo>
                <a:lnTo>
                  <a:pt x="246" y="236"/>
                </a:lnTo>
                <a:lnTo>
                  <a:pt x="262" y="256"/>
                </a:lnTo>
                <a:lnTo>
                  <a:pt x="278" y="275"/>
                </a:lnTo>
                <a:lnTo>
                  <a:pt x="295" y="292"/>
                </a:lnTo>
                <a:lnTo>
                  <a:pt x="311" y="307"/>
                </a:lnTo>
                <a:lnTo>
                  <a:pt x="327" y="320"/>
                </a:lnTo>
                <a:lnTo>
                  <a:pt x="344" y="331"/>
                </a:lnTo>
                <a:lnTo>
                  <a:pt x="360" y="339"/>
                </a:lnTo>
                <a:lnTo>
                  <a:pt x="377" y="344"/>
                </a:lnTo>
                <a:lnTo>
                  <a:pt x="393" y="346"/>
                </a:lnTo>
                <a:lnTo>
                  <a:pt x="393" y="355"/>
                </a:lnTo>
                <a:lnTo>
                  <a:pt x="377" y="353"/>
                </a:lnTo>
                <a:lnTo>
                  <a:pt x="360" y="348"/>
                </a:lnTo>
                <a:lnTo>
                  <a:pt x="344" y="340"/>
                </a:lnTo>
                <a:lnTo>
                  <a:pt x="327" y="329"/>
                </a:lnTo>
                <a:lnTo>
                  <a:pt x="311" y="316"/>
                </a:lnTo>
                <a:lnTo>
                  <a:pt x="295" y="301"/>
                </a:lnTo>
                <a:lnTo>
                  <a:pt x="278" y="284"/>
                </a:lnTo>
                <a:lnTo>
                  <a:pt x="262" y="265"/>
                </a:lnTo>
                <a:lnTo>
                  <a:pt x="246" y="246"/>
                </a:lnTo>
                <a:lnTo>
                  <a:pt x="229" y="225"/>
                </a:lnTo>
                <a:lnTo>
                  <a:pt x="213" y="204"/>
                </a:lnTo>
                <a:lnTo>
                  <a:pt x="196" y="182"/>
                </a:lnTo>
                <a:lnTo>
                  <a:pt x="180" y="160"/>
                </a:lnTo>
                <a:lnTo>
                  <a:pt x="164" y="139"/>
                </a:lnTo>
                <a:lnTo>
                  <a:pt x="147" y="119"/>
                </a:lnTo>
                <a:lnTo>
                  <a:pt x="131" y="99"/>
                </a:lnTo>
                <a:lnTo>
                  <a:pt x="114" y="80"/>
                </a:lnTo>
                <a:lnTo>
                  <a:pt x="98" y="63"/>
                </a:lnTo>
                <a:lnTo>
                  <a:pt x="82" y="48"/>
                </a:lnTo>
                <a:lnTo>
                  <a:pt x="65" y="35"/>
                </a:lnTo>
                <a:lnTo>
                  <a:pt x="49" y="24"/>
                </a:lnTo>
                <a:lnTo>
                  <a:pt x="33" y="16"/>
                </a:lnTo>
                <a:lnTo>
                  <a:pt x="16" y="11"/>
                </a:lnTo>
                <a:lnTo>
                  <a:pt x="0" y="9"/>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57400" y="2171700"/>
            <a:ext cx="3743325" cy="3724275"/>
          </a:xfrm>
          <a:custGeom>
            <a:avLst/>
            <a:gdLst/>
            <a:ahLst/>
            <a:cxnLst/>
            <a:rect l="l" t="t" r="r" b="b"/>
            <a:pathLst>
              <a:path w="393" h="391">
                <a:moveTo>
                  <a:pt x="0" y="0"/>
                </a:moveTo>
                <a:lnTo>
                  <a:pt x="16" y="2"/>
                </a:lnTo>
                <a:lnTo>
                  <a:pt x="33" y="8"/>
                </a:lnTo>
                <a:lnTo>
                  <a:pt x="49" y="17"/>
                </a:lnTo>
                <a:lnTo>
                  <a:pt x="65" y="29"/>
                </a:lnTo>
                <a:lnTo>
                  <a:pt x="82" y="43"/>
                </a:lnTo>
                <a:lnTo>
                  <a:pt x="98" y="60"/>
                </a:lnTo>
                <a:lnTo>
                  <a:pt x="114" y="79"/>
                </a:lnTo>
                <a:lnTo>
                  <a:pt x="131" y="100"/>
                </a:lnTo>
                <a:lnTo>
                  <a:pt x="147" y="122"/>
                </a:lnTo>
                <a:lnTo>
                  <a:pt x="164" y="145"/>
                </a:lnTo>
                <a:lnTo>
                  <a:pt x="180" y="168"/>
                </a:lnTo>
                <a:lnTo>
                  <a:pt x="196" y="192"/>
                </a:lnTo>
                <a:lnTo>
                  <a:pt x="213" y="216"/>
                </a:lnTo>
                <a:lnTo>
                  <a:pt x="229" y="240"/>
                </a:lnTo>
                <a:lnTo>
                  <a:pt x="246" y="263"/>
                </a:lnTo>
                <a:lnTo>
                  <a:pt x="262" y="285"/>
                </a:lnTo>
                <a:lnTo>
                  <a:pt x="278" y="306"/>
                </a:lnTo>
                <a:lnTo>
                  <a:pt x="295" y="324"/>
                </a:lnTo>
                <a:lnTo>
                  <a:pt x="311" y="341"/>
                </a:lnTo>
                <a:lnTo>
                  <a:pt x="327" y="356"/>
                </a:lnTo>
                <a:lnTo>
                  <a:pt x="344" y="368"/>
                </a:lnTo>
                <a:lnTo>
                  <a:pt x="360" y="377"/>
                </a:lnTo>
                <a:lnTo>
                  <a:pt x="377" y="383"/>
                </a:lnTo>
                <a:lnTo>
                  <a:pt x="393" y="385"/>
                </a:lnTo>
                <a:lnTo>
                  <a:pt x="393" y="391"/>
                </a:lnTo>
                <a:lnTo>
                  <a:pt x="377" y="389"/>
                </a:lnTo>
                <a:lnTo>
                  <a:pt x="360" y="383"/>
                </a:lnTo>
                <a:lnTo>
                  <a:pt x="344" y="374"/>
                </a:lnTo>
                <a:lnTo>
                  <a:pt x="327" y="362"/>
                </a:lnTo>
                <a:lnTo>
                  <a:pt x="311" y="348"/>
                </a:lnTo>
                <a:lnTo>
                  <a:pt x="295" y="331"/>
                </a:lnTo>
                <a:lnTo>
                  <a:pt x="278" y="312"/>
                </a:lnTo>
                <a:lnTo>
                  <a:pt x="262" y="291"/>
                </a:lnTo>
                <a:lnTo>
                  <a:pt x="246" y="269"/>
                </a:lnTo>
                <a:lnTo>
                  <a:pt x="229" y="246"/>
                </a:lnTo>
                <a:lnTo>
                  <a:pt x="213" y="223"/>
                </a:lnTo>
                <a:lnTo>
                  <a:pt x="196" y="199"/>
                </a:lnTo>
                <a:lnTo>
                  <a:pt x="180" y="175"/>
                </a:lnTo>
                <a:lnTo>
                  <a:pt x="164" y="151"/>
                </a:lnTo>
                <a:lnTo>
                  <a:pt x="147" y="128"/>
                </a:lnTo>
                <a:lnTo>
                  <a:pt x="131" y="106"/>
                </a:lnTo>
                <a:lnTo>
                  <a:pt x="114" y="85"/>
                </a:lnTo>
                <a:lnTo>
                  <a:pt x="98" y="67"/>
                </a:lnTo>
                <a:lnTo>
                  <a:pt x="82" y="50"/>
                </a:lnTo>
                <a:lnTo>
                  <a:pt x="65" y="35"/>
                </a:lnTo>
                <a:lnTo>
                  <a:pt x="49" y="23"/>
                </a:lnTo>
                <a:lnTo>
                  <a:pt x="33" y="14"/>
                </a:lnTo>
                <a:lnTo>
                  <a:pt x="16" y="8"/>
                </a:lnTo>
                <a:lnTo>
                  <a:pt x="0" y="6"/>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2057400" y="2228850"/>
            <a:ext cx="3743325" cy="4048125"/>
          </a:xfrm>
          <a:custGeom>
            <a:avLst/>
            <a:gdLst/>
            <a:ahLst/>
            <a:cxnLst/>
            <a:rect l="l" t="t" r="r" b="b"/>
            <a:pathLst>
              <a:path w="393" h="425">
                <a:moveTo>
                  <a:pt x="0" y="0"/>
                </a:moveTo>
                <a:lnTo>
                  <a:pt x="16" y="3"/>
                </a:lnTo>
                <a:lnTo>
                  <a:pt x="33" y="9"/>
                </a:lnTo>
                <a:lnTo>
                  <a:pt x="49" y="18"/>
                </a:lnTo>
                <a:lnTo>
                  <a:pt x="65" y="32"/>
                </a:lnTo>
                <a:lnTo>
                  <a:pt x="82" y="48"/>
                </a:lnTo>
                <a:lnTo>
                  <a:pt x="98" y="66"/>
                </a:lnTo>
                <a:lnTo>
                  <a:pt x="114" y="87"/>
                </a:lnTo>
                <a:lnTo>
                  <a:pt x="131" y="109"/>
                </a:lnTo>
                <a:lnTo>
                  <a:pt x="147" y="133"/>
                </a:lnTo>
                <a:lnTo>
                  <a:pt x="164" y="158"/>
                </a:lnTo>
                <a:lnTo>
                  <a:pt x="180" y="184"/>
                </a:lnTo>
                <a:lnTo>
                  <a:pt x="196" y="210"/>
                </a:lnTo>
                <a:lnTo>
                  <a:pt x="213" y="236"/>
                </a:lnTo>
                <a:lnTo>
                  <a:pt x="229" y="262"/>
                </a:lnTo>
                <a:lnTo>
                  <a:pt x="246" y="287"/>
                </a:lnTo>
                <a:lnTo>
                  <a:pt x="262" y="311"/>
                </a:lnTo>
                <a:lnTo>
                  <a:pt x="278" y="334"/>
                </a:lnTo>
                <a:lnTo>
                  <a:pt x="295" y="355"/>
                </a:lnTo>
                <a:lnTo>
                  <a:pt x="311" y="373"/>
                </a:lnTo>
                <a:lnTo>
                  <a:pt x="327" y="389"/>
                </a:lnTo>
                <a:lnTo>
                  <a:pt x="344" y="402"/>
                </a:lnTo>
                <a:lnTo>
                  <a:pt x="360" y="412"/>
                </a:lnTo>
                <a:lnTo>
                  <a:pt x="377" y="418"/>
                </a:lnTo>
                <a:lnTo>
                  <a:pt x="393" y="420"/>
                </a:lnTo>
                <a:lnTo>
                  <a:pt x="393" y="425"/>
                </a:lnTo>
                <a:lnTo>
                  <a:pt x="377" y="423"/>
                </a:lnTo>
                <a:lnTo>
                  <a:pt x="360" y="417"/>
                </a:lnTo>
                <a:lnTo>
                  <a:pt x="344" y="407"/>
                </a:lnTo>
                <a:lnTo>
                  <a:pt x="327" y="394"/>
                </a:lnTo>
                <a:lnTo>
                  <a:pt x="311" y="378"/>
                </a:lnTo>
                <a:lnTo>
                  <a:pt x="295" y="359"/>
                </a:lnTo>
                <a:lnTo>
                  <a:pt x="278" y="339"/>
                </a:lnTo>
                <a:lnTo>
                  <a:pt x="262" y="316"/>
                </a:lnTo>
                <a:lnTo>
                  <a:pt x="246" y="292"/>
                </a:lnTo>
                <a:lnTo>
                  <a:pt x="229" y="267"/>
                </a:lnTo>
                <a:lnTo>
                  <a:pt x="213" y="241"/>
                </a:lnTo>
                <a:lnTo>
                  <a:pt x="196" y="215"/>
                </a:lnTo>
                <a:lnTo>
                  <a:pt x="180" y="189"/>
                </a:lnTo>
                <a:lnTo>
                  <a:pt x="164" y="163"/>
                </a:lnTo>
                <a:lnTo>
                  <a:pt x="147" y="138"/>
                </a:lnTo>
                <a:lnTo>
                  <a:pt x="131" y="114"/>
                </a:lnTo>
                <a:lnTo>
                  <a:pt x="114" y="92"/>
                </a:lnTo>
                <a:lnTo>
                  <a:pt x="98" y="71"/>
                </a:lnTo>
                <a:lnTo>
                  <a:pt x="82" y="52"/>
                </a:lnTo>
                <a:lnTo>
                  <a:pt x="65" y="36"/>
                </a:lnTo>
                <a:lnTo>
                  <a:pt x="49" y="23"/>
                </a:lnTo>
                <a:lnTo>
                  <a:pt x="33" y="14"/>
                </a:lnTo>
                <a:lnTo>
                  <a:pt x="16" y="8"/>
                </a:lnTo>
                <a:lnTo>
                  <a:pt x="0" y="5"/>
                </a:lnTo>
                <a:close/>
              </a:path>
            </a:pathLst>
          </a:custGeom>
          <a:solidFill>
            <a:srgbClr val="3D85C6">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2057400" y="1581150"/>
            <a:ext cx="3743325" cy="1000125"/>
          </a:xfrm>
          <a:custGeom>
            <a:avLst/>
            <a:gdLst/>
            <a:ahLst/>
            <a:cxnLst/>
            <a:rect l="l" t="t" r="r" b="b"/>
            <a:pathLst>
              <a:path w="393" h="105">
                <a:moveTo>
                  <a:pt x="0" y="79"/>
                </a:moveTo>
                <a:lnTo>
                  <a:pt x="16" y="79"/>
                </a:lnTo>
                <a:lnTo>
                  <a:pt x="33" y="78"/>
                </a:lnTo>
                <a:lnTo>
                  <a:pt x="49" y="76"/>
                </a:lnTo>
                <a:lnTo>
                  <a:pt x="65" y="73"/>
                </a:lnTo>
                <a:lnTo>
                  <a:pt x="82" y="70"/>
                </a:lnTo>
                <a:lnTo>
                  <a:pt x="98" y="67"/>
                </a:lnTo>
                <a:lnTo>
                  <a:pt x="114" y="63"/>
                </a:lnTo>
                <a:lnTo>
                  <a:pt x="131" y="59"/>
                </a:lnTo>
                <a:lnTo>
                  <a:pt x="147" y="54"/>
                </a:lnTo>
                <a:lnTo>
                  <a:pt x="164" y="49"/>
                </a:lnTo>
                <a:lnTo>
                  <a:pt x="180" y="44"/>
                </a:lnTo>
                <a:lnTo>
                  <a:pt x="196" y="39"/>
                </a:lnTo>
                <a:lnTo>
                  <a:pt x="213" y="34"/>
                </a:lnTo>
                <a:lnTo>
                  <a:pt x="229" y="30"/>
                </a:lnTo>
                <a:lnTo>
                  <a:pt x="246" y="25"/>
                </a:lnTo>
                <a:lnTo>
                  <a:pt x="262" y="20"/>
                </a:lnTo>
                <a:lnTo>
                  <a:pt x="278" y="16"/>
                </a:lnTo>
                <a:lnTo>
                  <a:pt x="295" y="12"/>
                </a:lnTo>
                <a:lnTo>
                  <a:pt x="311" y="8"/>
                </a:lnTo>
                <a:lnTo>
                  <a:pt x="327" y="5"/>
                </a:lnTo>
                <a:lnTo>
                  <a:pt x="344" y="3"/>
                </a:lnTo>
                <a:lnTo>
                  <a:pt x="360" y="1"/>
                </a:lnTo>
                <a:lnTo>
                  <a:pt x="377" y="0"/>
                </a:lnTo>
                <a:lnTo>
                  <a:pt x="393" y="0"/>
                </a:lnTo>
                <a:lnTo>
                  <a:pt x="393" y="26"/>
                </a:lnTo>
                <a:lnTo>
                  <a:pt x="377" y="26"/>
                </a:lnTo>
                <a:lnTo>
                  <a:pt x="360" y="27"/>
                </a:lnTo>
                <a:lnTo>
                  <a:pt x="344" y="29"/>
                </a:lnTo>
                <a:lnTo>
                  <a:pt x="327" y="31"/>
                </a:lnTo>
                <a:lnTo>
                  <a:pt x="311" y="35"/>
                </a:lnTo>
                <a:lnTo>
                  <a:pt x="295" y="38"/>
                </a:lnTo>
                <a:lnTo>
                  <a:pt x="278" y="42"/>
                </a:lnTo>
                <a:lnTo>
                  <a:pt x="262" y="46"/>
                </a:lnTo>
                <a:lnTo>
                  <a:pt x="246" y="51"/>
                </a:lnTo>
                <a:lnTo>
                  <a:pt x="229" y="56"/>
                </a:lnTo>
                <a:lnTo>
                  <a:pt x="213" y="61"/>
                </a:lnTo>
                <a:lnTo>
                  <a:pt x="196" y="65"/>
                </a:lnTo>
                <a:lnTo>
                  <a:pt x="180" y="70"/>
                </a:lnTo>
                <a:lnTo>
                  <a:pt x="164" y="75"/>
                </a:lnTo>
                <a:lnTo>
                  <a:pt x="147" y="80"/>
                </a:lnTo>
                <a:lnTo>
                  <a:pt x="131" y="85"/>
                </a:lnTo>
                <a:lnTo>
                  <a:pt x="114" y="89"/>
                </a:lnTo>
                <a:lnTo>
                  <a:pt x="98" y="93"/>
                </a:lnTo>
                <a:lnTo>
                  <a:pt x="82" y="96"/>
                </a:lnTo>
                <a:lnTo>
                  <a:pt x="65" y="100"/>
                </a:lnTo>
                <a:lnTo>
                  <a:pt x="49" y="102"/>
                </a:lnTo>
                <a:lnTo>
                  <a:pt x="33" y="104"/>
                </a:lnTo>
                <a:lnTo>
                  <a:pt x="16" y="105"/>
                </a:lnTo>
                <a:lnTo>
                  <a:pt x="0" y="10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Freeform 19"/>
          <p:cNvSpPr/>
          <p:nvPr/>
        </p:nvSpPr>
        <p:spPr>
          <a:xfrm>
            <a:off x="2057400" y="2581275"/>
            <a:ext cx="3743325" cy="323850"/>
          </a:xfrm>
          <a:custGeom>
            <a:avLst/>
            <a:gdLst/>
            <a:ahLst/>
            <a:cxnLst/>
            <a:rect l="l" t="t" r="r" b="b"/>
            <a:pathLst>
              <a:path w="393" h="34">
                <a:moveTo>
                  <a:pt x="0" y="0"/>
                </a:moveTo>
                <a:lnTo>
                  <a:pt x="16" y="1"/>
                </a:lnTo>
                <a:lnTo>
                  <a:pt x="33" y="1"/>
                </a:lnTo>
                <a:lnTo>
                  <a:pt x="49" y="1"/>
                </a:lnTo>
                <a:lnTo>
                  <a:pt x="65" y="2"/>
                </a:lnTo>
                <a:lnTo>
                  <a:pt x="82" y="2"/>
                </a:lnTo>
                <a:lnTo>
                  <a:pt x="98" y="3"/>
                </a:lnTo>
                <a:lnTo>
                  <a:pt x="114" y="4"/>
                </a:lnTo>
                <a:lnTo>
                  <a:pt x="131" y="5"/>
                </a:lnTo>
                <a:lnTo>
                  <a:pt x="147" y="6"/>
                </a:lnTo>
                <a:lnTo>
                  <a:pt x="164" y="7"/>
                </a:lnTo>
                <a:lnTo>
                  <a:pt x="180" y="8"/>
                </a:lnTo>
                <a:lnTo>
                  <a:pt x="196" y="10"/>
                </a:lnTo>
                <a:lnTo>
                  <a:pt x="213" y="11"/>
                </a:lnTo>
                <a:lnTo>
                  <a:pt x="229" y="12"/>
                </a:lnTo>
                <a:lnTo>
                  <a:pt x="246" y="13"/>
                </a:lnTo>
                <a:lnTo>
                  <a:pt x="262" y="14"/>
                </a:lnTo>
                <a:lnTo>
                  <a:pt x="278" y="15"/>
                </a:lnTo>
                <a:lnTo>
                  <a:pt x="295" y="16"/>
                </a:lnTo>
                <a:lnTo>
                  <a:pt x="311" y="17"/>
                </a:lnTo>
                <a:lnTo>
                  <a:pt x="327" y="17"/>
                </a:lnTo>
                <a:lnTo>
                  <a:pt x="344" y="18"/>
                </a:lnTo>
                <a:lnTo>
                  <a:pt x="360" y="18"/>
                </a:lnTo>
                <a:lnTo>
                  <a:pt x="377" y="19"/>
                </a:lnTo>
                <a:lnTo>
                  <a:pt x="393" y="19"/>
                </a:lnTo>
                <a:lnTo>
                  <a:pt x="393" y="34"/>
                </a:lnTo>
                <a:lnTo>
                  <a:pt x="377" y="33"/>
                </a:lnTo>
                <a:lnTo>
                  <a:pt x="360" y="33"/>
                </a:lnTo>
                <a:lnTo>
                  <a:pt x="344" y="33"/>
                </a:lnTo>
                <a:lnTo>
                  <a:pt x="327" y="32"/>
                </a:lnTo>
                <a:lnTo>
                  <a:pt x="311" y="32"/>
                </a:lnTo>
                <a:lnTo>
                  <a:pt x="295" y="31"/>
                </a:lnTo>
                <a:lnTo>
                  <a:pt x="278" y="30"/>
                </a:lnTo>
                <a:lnTo>
                  <a:pt x="262" y="29"/>
                </a:lnTo>
                <a:lnTo>
                  <a:pt x="246" y="28"/>
                </a:lnTo>
                <a:lnTo>
                  <a:pt x="229" y="27"/>
                </a:lnTo>
                <a:lnTo>
                  <a:pt x="213" y="26"/>
                </a:lnTo>
                <a:lnTo>
                  <a:pt x="196" y="24"/>
                </a:lnTo>
                <a:lnTo>
                  <a:pt x="180" y="23"/>
                </a:lnTo>
                <a:lnTo>
                  <a:pt x="164" y="22"/>
                </a:lnTo>
                <a:lnTo>
                  <a:pt x="147" y="21"/>
                </a:lnTo>
                <a:lnTo>
                  <a:pt x="131" y="20"/>
                </a:lnTo>
                <a:lnTo>
                  <a:pt x="114" y="19"/>
                </a:lnTo>
                <a:lnTo>
                  <a:pt x="98" y="18"/>
                </a:lnTo>
                <a:lnTo>
                  <a:pt x="82" y="17"/>
                </a:lnTo>
                <a:lnTo>
                  <a:pt x="65" y="17"/>
                </a:lnTo>
                <a:lnTo>
                  <a:pt x="49" y="16"/>
                </a:lnTo>
                <a:lnTo>
                  <a:pt x="33" y="16"/>
                </a:lnTo>
                <a:lnTo>
                  <a:pt x="16" y="15"/>
                </a:lnTo>
                <a:lnTo>
                  <a:pt x="0" y="1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2057400" y="2724150"/>
            <a:ext cx="3743325" cy="1276350"/>
          </a:xfrm>
          <a:custGeom>
            <a:avLst/>
            <a:gdLst/>
            <a:ahLst/>
            <a:cxnLst/>
            <a:rect l="l" t="t" r="r" b="b"/>
            <a:pathLst>
              <a:path w="393" h="134">
                <a:moveTo>
                  <a:pt x="0" y="0"/>
                </a:moveTo>
                <a:lnTo>
                  <a:pt x="16" y="1"/>
                </a:lnTo>
                <a:lnTo>
                  <a:pt x="33" y="3"/>
                </a:lnTo>
                <a:lnTo>
                  <a:pt x="49" y="5"/>
                </a:lnTo>
                <a:lnTo>
                  <a:pt x="65" y="9"/>
                </a:lnTo>
                <a:lnTo>
                  <a:pt x="82" y="14"/>
                </a:lnTo>
                <a:lnTo>
                  <a:pt x="98" y="19"/>
                </a:lnTo>
                <a:lnTo>
                  <a:pt x="114" y="25"/>
                </a:lnTo>
                <a:lnTo>
                  <a:pt x="131" y="31"/>
                </a:lnTo>
                <a:lnTo>
                  <a:pt x="147" y="38"/>
                </a:lnTo>
                <a:lnTo>
                  <a:pt x="164" y="45"/>
                </a:lnTo>
                <a:lnTo>
                  <a:pt x="180" y="53"/>
                </a:lnTo>
                <a:lnTo>
                  <a:pt x="196" y="60"/>
                </a:lnTo>
                <a:lnTo>
                  <a:pt x="213" y="67"/>
                </a:lnTo>
                <a:lnTo>
                  <a:pt x="229" y="75"/>
                </a:lnTo>
                <a:lnTo>
                  <a:pt x="246" y="82"/>
                </a:lnTo>
                <a:lnTo>
                  <a:pt x="262" y="89"/>
                </a:lnTo>
                <a:lnTo>
                  <a:pt x="278" y="95"/>
                </a:lnTo>
                <a:lnTo>
                  <a:pt x="295" y="101"/>
                </a:lnTo>
                <a:lnTo>
                  <a:pt x="311" y="106"/>
                </a:lnTo>
                <a:lnTo>
                  <a:pt x="327" y="111"/>
                </a:lnTo>
                <a:lnTo>
                  <a:pt x="344" y="114"/>
                </a:lnTo>
                <a:lnTo>
                  <a:pt x="360" y="117"/>
                </a:lnTo>
                <a:lnTo>
                  <a:pt x="377" y="119"/>
                </a:lnTo>
                <a:lnTo>
                  <a:pt x="393" y="120"/>
                </a:lnTo>
                <a:lnTo>
                  <a:pt x="393" y="134"/>
                </a:lnTo>
                <a:lnTo>
                  <a:pt x="377" y="133"/>
                </a:lnTo>
                <a:lnTo>
                  <a:pt x="360" y="132"/>
                </a:lnTo>
                <a:lnTo>
                  <a:pt x="344" y="129"/>
                </a:lnTo>
                <a:lnTo>
                  <a:pt x="327" y="125"/>
                </a:lnTo>
                <a:lnTo>
                  <a:pt x="311" y="121"/>
                </a:lnTo>
                <a:lnTo>
                  <a:pt x="295" y="115"/>
                </a:lnTo>
                <a:lnTo>
                  <a:pt x="278" y="110"/>
                </a:lnTo>
                <a:lnTo>
                  <a:pt x="262" y="103"/>
                </a:lnTo>
                <a:lnTo>
                  <a:pt x="246" y="96"/>
                </a:lnTo>
                <a:lnTo>
                  <a:pt x="229" y="89"/>
                </a:lnTo>
                <a:lnTo>
                  <a:pt x="213" y="82"/>
                </a:lnTo>
                <a:lnTo>
                  <a:pt x="196" y="74"/>
                </a:lnTo>
                <a:lnTo>
                  <a:pt x="180" y="67"/>
                </a:lnTo>
                <a:lnTo>
                  <a:pt x="164" y="60"/>
                </a:lnTo>
                <a:lnTo>
                  <a:pt x="147" y="53"/>
                </a:lnTo>
                <a:lnTo>
                  <a:pt x="131" y="46"/>
                </a:lnTo>
                <a:lnTo>
                  <a:pt x="114" y="39"/>
                </a:lnTo>
                <a:lnTo>
                  <a:pt x="98" y="34"/>
                </a:lnTo>
                <a:lnTo>
                  <a:pt x="82" y="28"/>
                </a:lnTo>
                <a:lnTo>
                  <a:pt x="65" y="24"/>
                </a:lnTo>
                <a:lnTo>
                  <a:pt x="49" y="20"/>
                </a:lnTo>
                <a:lnTo>
                  <a:pt x="33" y="17"/>
                </a:lnTo>
                <a:lnTo>
                  <a:pt x="16" y="16"/>
                </a:lnTo>
                <a:lnTo>
                  <a:pt x="0" y="1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2057400" y="2867025"/>
            <a:ext cx="3743325" cy="1971675"/>
          </a:xfrm>
          <a:custGeom>
            <a:avLst/>
            <a:gdLst/>
            <a:ahLst/>
            <a:cxnLst/>
            <a:rect l="l" t="t" r="r" b="b"/>
            <a:pathLst>
              <a:path w="393" h="207">
                <a:moveTo>
                  <a:pt x="0" y="0"/>
                </a:moveTo>
                <a:lnTo>
                  <a:pt x="16" y="1"/>
                </a:lnTo>
                <a:lnTo>
                  <a:pt x="33" y="4"/>
                </a:lnTo>
                <a:lnTo>
                  <a:pt x="49" y="8"/>
                </a:lnTo>
                <a:lnTo>
                  <a:pt x="65" y="14"/>
                </a:lnTo>
                <a:lnTo>
                  <a:pt x="82" y="21"/>
                </a:lnTo>
                <a:lnTo>
                  <a:pt x="98" y="30"/>
                </a:lnTo>
                <a:lnTo>
                  <a:pt x="114" y="39"/>
                </a:lnTo>
                <a:lnTo>
                  <a:pt x="131" y="50"/>
                </a:lnTo>
                <a:lnTo>
                  <a:pt x="147" y="61"/>
                </a:lnTo>
                <a:lnTo>
                  <a:pt x="164" y="72"/>
                </a:lnTo>
                <a:lnTo>
                  <a:pt x="180" y="84"/>
                </a:lnTo>
                <a:lnTo>
                  <a:pt x="196" y="96"/>
                </a:lnTo>
                <a:lnTo>
                  <a:pt x="213" y="108"/>
                </a:lnTo>
                <a:lnTo>
                  <a:pt x="229" y="120"/>
                </a:lnTo>
                <a:lnTo>
                  <a:pt x="246" y="132"/>
                </a:lnTo>
                <a:lnTo>
                  <a:pt x="262" y="143"/>
                </a:lnTo>
                <a:lnTo>
                  <a:pt x="278" y="153"/>
                </a:lnTo>
                <a:lnTo>
                  <a:pt x="295" y="162"/>
                </a:lnTo>
                <a:lnTo>
                  <a:pt x="311" y="171"/>
                </a:lnTo>
                <a:lnTo>
                  <a:pt x="327" y="178"/>
                </a:lnTo>
                <a:lnTo>
                  <a:pt x="344" y="184"/>
                </a:lnTo>
                <a:lnTo>
                  <a:pt x="360" y="189"/>
                </a:lnTo>
                <a:lnTo>
                  <a:pt x="377" y="191"/>
                </a:lnTo>
                <a:lnTo>
                  <a:pt x="393" y="192"/>
                </a:lnTo>
                <a:lnTo>
                  <a:pt x="393" y="207"/>
                </a:lnTo>
                <a:lnTo>
                  <a:pt x="377" y="206"/>
                </a:lnTo>
                <a:lnTo>
                  <a:pt x="360" y="204"/>
                </a:lnTo>
                <a:lnTo>
                  <a:pt x="344" y="199"/>
                </a:lnTo>
                <a:lnTo>
                  <a:pt x="327" y="193"/>
                </a:lnTo>
                <a:lnTo>
                  <a:pt x="311" y="186"/>
                </a:lnTo>
                <a:lnTo>
                  <a:pt x="295" y="177"/>
                </a:lnTo>
                <a:lnTo>
                  <a:pt x="278" y="168"/>
                </a:lnTo>
                <a:lnTo>
                  <a:pt x="262" y="158"/>
                </a:lnTo>
                <a:lnTo>
                  <a:pt x="246" y="147"/>
                </a:lnTo>
                <a:lnTo>
                  <a:pt x="229" y="135"/>
                </a:lnTo>
                <a:lnTo>
                  <a:pt x="213" y="123"/>
                </a:lnTo>
                <a:lnTo>
                  <a:pt x="196" y="111"/>
                </a:lnTo>
                <a:lnTo>
                  <a:pt x="180" y="99"/>
                </a:lnTo>
                <a:lnTo>
                  <a:pt x="164" y="87"/>
                </a:lnTo>
                <a:lnTo>
                  <a:pt x="147" y="76"/>
                </a:lnTo>
                <a:lnTo>
                  <a:pt x="131" y="65"/>
                </a:lnTo>
                <a:lnTo>
                  <a:pt x="114" y="55"/>
                </a:lnTo>
                <a:lnTo>
                  <a:pt x="98" y="45"/>
                </a:lnTo>
                <a:lnTo>
                  <a:pt x="82" y="37"/>
                </a:lnTo>
                <a:lnTo>
                  <a:pt x="65" y="29"/>
                </a:lnTo>
                <a:lnTo>
                  <a:pt x="49" y="23"/>
                </a:lnTo>
                <a:lnTo>
                  <a:pt x="33" y="19"/>
                </a:lnTo>
                <a:lnTo>
                  <a:pt x="16" y="16"/>
                </a:lnTo>
                <a:lnTo>
                  <a:pt x="0" y="1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2057400" y="3009900"/>
            <a:ext cx="3743325" cy="2514600"/>
          </a:xfrm>
          <a:custGeom>
            <a:avLst/>
            <a:gdLst/>
            <a:ahLst/>
            <a:cxnLst/>
            <a:rect l="l" t="t" r="r" b="b"/>
            <a:pathLst>
              <a:path w="393" h="264">
                <a:moveTo>
                  <a:pt x="0" y="0"/>
                </a:moveTo>
                <a:lnTo>
                  <a:pt x="16" y="1"/>
                </a:lnTo>
                <a:lnTo>
                  <a:pt x="33" y="5"/>
                </a:lnTo>
                <a:lnTo>
                  <a:pt x="49" y="11"/>
                </a:lnTo>
                <a:lnTo>
                  <a:pt x="65" y="19"/>
                </a:lnTo>
                <a:lnTo>
                  <a:pt x="82" y="29"/>
                </a:lnTo>
                <a:lnTo>
                  <a:pt x="98" y="40"/>
                </a:lnTo>
                <a:lnTo>
                  <a:pt x="114" y="53"/>
                </a:lnTo>
                <a:lnTo>
                  <a:pt x="131" y="67"/>
                </a:lnTo>
                <a:lnTo>
                  <a:pt x="147" y="82"/>
                </a:lnTo>
                <a:lnTo>
                  <a:pt x="164" y="97"/>
                </a:lnTo>
                <a:lnTo>
                  <a:pt x="180" y="113"/>
                </a:lnTo>
                <a:lnTo>
                  <a:pt x="196" y="129"/>
                </a:lnTo>
                <a:lnTo>
                  <a:pt x="213" y="145"/>
                </a:lnTo>
                <a:lnTo>
                  <a:pt x="229" y="161"/>
                </a:lnTo>
                <a:lnTo>
                  <a:pt x="246" y="176"/>
                </a:lnTo>
                <a:lnTo>
                  <a:pt x="262" y="191"/>
                </a:lnTo>
                <a:lnTo>
                  <a:pt x="278" y="205"/>
                </a:lnTo>
                <a:lnTo>
                  <a:pt x="295" y="218"/>
                </a:lnTo>
                <a:lnTo>
                  <a:pt x="311" y="229"/>
                </a:lnTo>
                <a:lnTo>
                  <a:pt x="327" y="239"/>
                </a:lnTo>
                <a:lnTo>
                  <a:pt x="344" y="247"/>
                </a:lnTo>
                <a:lnTo>
                  <a:pt x="360" y="253"/>
                </a:lnTo>
                <a:lnTo>
                  <a:pt x="377" y="257"/>
                </a:lnTo>
                <a:lnTo>
                  <a:pt x="393" y="258"/>
                </a:lnTo>
                <a:lnTo>
                  <a:pt x="393" y="264"/>
                </a:lnTo>
                <a:lnTo>
                  <a:pt x="377" y="263"/>
                </a:lnTo>
                <a:lnTo>
                  <a:pt x="360" y="259"/>
                </a:lnTo>
                <a:lnTo>
                  <a:pt x="344" y="253"/>
                </a:lnTo>
                <a:lnTo>
                  <a:pt x="327" y="245"/>
                </a:lnTo>
                <a:lnTo>
                  <a:pt x="311" y="235"/>
                </a:lnTo>
                <a:lnTo>
                  <a:pt x="295" y="224"/>
                </a:lnTo>
                <a:lnTo>
                  <a:pt x="278" y="211"/>
                </a:lnTo>
                <a:lnTo>
                  <a:pt x="262" y="197"/>
                </a:lnTo>
                <a:lnTo>
                  <a:pt x="246" y="183"/>
                </a:lnTo>
                <a:lnTo>
                  <a:pt x="229" y="167"/>
                </a:lnTo>
                <a:lnTo>
                  <a:pt x="213" y="151"/>
                </a:lnTo>
                <a:lnTo>
                  <a:pt x="196" y="135"/>
                </a:lnTo>
                <a:lnTo>
                  <a:pt x="180" y="119"/>
                </a:lnTo>
                <a:lnTo>
                  <a:pt x="164" y="103"/>
                </a:lnTo>
                <a:lnTo>
                  <a:pt x="147" y="88"/>
                </a:lnTo>
                <a:lnTo>
                  <a:pt x="131" y="73"/>
                </a:lnTo>
                <a:lnTo>
                  <a:pt x="114" y="59"/>
                </a:lnTo>
                <a:lnTo>
                  <a:pt x="98" y="47"/>
                </a:lnTo>
                <a:lnTo>
                  <a:pt x="82" y="35"/>
                </a:lnTo>
                <a:lnTo>
                  <a:pt x="65" y="25"/>
                </a:lnTo>
                <a:lnTo>
                  <a:pt x="49" y="17"/>
                </a:lnTo>
                <a:lnTo>
                  <a:pt x="33" y="11"/>
                </a:lnTo>
                <a:lnTo>
                  <a:pt x="16" y="8"/>
                </a:lnTo>
                <a:lnTo>
                  <a:pt x="0" y="6"/>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2057400" y="3067050"/>
            <a:ext cx="3743325" cy="2895600"/>
          </a:xfrm>
          <a:custGeom>
            <a:avLst/>
            <a:gdLst/>
            <a:ahLst/>
            <a:cxnLst/>
            <a:rect l="l" t="t" r="r" b="b"/>
            <a:pathLst>
              <a:path w="393" h="304">
                <a:moveTo>
                  <a:pt x="0" y="0"/>
                </a:moveTo>
                <a:lnTo>
                  <a:pt x="16" y="2"/>
                </a:lnTo>
                <a:lnTo>
                  <a:pt x="33" y="6"/>
                </a:lnTo>
                <a:lnTo>
                  <a:pt x="49" y="13"/>
                </a:lnTo>
                <a:lnTo>
                  <a:pt x="65" y="22"/>
                </a:lnTo>
                <a:lnTo>
                  <a:pt x="82" y="34"/>
                </a:lnTo>
                <a:lnTo>
                  <a:pt x="98" y="47"/>
                </a:lnTo>
                <a:lnTo>
                  <a:pt x="114" y="61"/>
                </a:lnTo>
                <a:lnTo>
                  <a:pt x="131" y="77"/>
                </a:lnTo>
                <a:lnTo>
                  <a:pt x="147" y="94"/>
                </a:lnTo>
                <a:lnTo>
                  <a:pt x="164" y="112"/>
                </a:lnTo>
                <a:lnTo>
                  <a:pt x="180" y="130"/>
                </a:lnTo>
                <a:lnTo>
                  <a:pt x="196" y="149"/>
                </a:lnTo>
                <a:lnTo>
                  <a:pt x="213" y="167"/>
                </a:lnTo>
                <a:lnTo>
                  <a:pt x="229" y="185"/>
                </a:lnTo>
                <a:lnTo>
                  <a:pt x="246" y="203"/>
                </a:lnTo>
                <a:lnTo>
                  <a:pt x="262" y="220"/>
                </a:lnTo>
                <a:lnTo>
                  <a:pt x="278" y="236"/>
                </a:lnTo>
                <a:lnTo>
                  <a:pt x="295" y="251"/>
                </a:lnTo>
                <a:lnTo>
                  <a:pt x="311" y="264"/>
                </a:lnTo>
                <a:lnTo>
                  <a:pt x="327" y="275"/>
                </a:lnTo>
                <a:lnTo>
                  <a:pt x="344" y="284"/>
                </a:lnTo>
                <a:lnTo>
                  <a:pt x="360" y="291"/>
                </a:lnTo>
                <a:lnTo>
                  <a:pt x="377" y="295"/>
                </a:lnTo>
                <a:lnTo>
                  <a:pt x="393" y="297"/>
                </a:lnTo>
                <a:lnTo>
                  <a:pt x="393" y="304"/>
                </a:lnTo>
                <a:lnTo>
                  <a:pt x="377" y="302"/>
                </a:lnTo>
                <a:lnTo>
                  <a:pt x="360" y="298"/>
                </a:lnTo>
                <a:lnTo>
                  <a:pt x="344" y="291"/>
                </a:lnTo>
                <a:lnTo>
                  <a:pt x="327" y="282"/>
                </a:lnTo>
                <a:lnTo>
                  <a:pt x="311" y="271"/>
                </a:lnTo>
                <a:lnTo>
                  <a:pt x="295" y="257"/>
                </a:lnTo>
                <a:lnTo>
                  <a:pt x="278" y="243"/>
                </a:lnTo>
                <a:lnTo>
                  <a:pt x="262" y="227"/>
                </a:lnTo>
                <a:lnTo>
                  <a:pt x="246" y="210"/>
                </a:lnTo>
                <a:lnTo>
                  <a:pt x="229" y="192"/>
                </a:lnTo>
                <a:lnTo>
                  <a:pt x="213" y="174"/>
                </a:lnTo>
                <a:lnTo>
                  <a:pt x="196" y="156"/>
                </a:lnTo>
                <a:lnTo>
                  <a:pt x="180" y="137"/>
                </a:lnTo>
                <a:lnTo>
                  <a:pt x="164" y="119"/>
                </a:lnTo>
                <a:lnTo>
                  <a:pt x="147" y="101"/>
                </a:lnTo>
                <a:lnTo>
                  <a:pt x="131" y="84"/>
                </a:lnTo>
                <a:lnTo>
                  <a:pt x="114" y="68"/>
                </a:lnTo>
                <a:lnTo>
                  <a:pt x="98" y="54"/>
                </a:lnTo>
                <a:lnTo>
                  <a:pt x="82" y="40"/>
                </a:lnTo>
                <a:lnTo>
                  <a:pt x="65" y="29"/>
                </a:lnTo>
                <a:lnTo>
                  <a:pt x="49" y="20"/>
                </a:lnTo>
                <a:lnTo>
                  <a:pt x="33" y="13"/>
                </a:lnTo>
                <a:lnTo>
                  <a:pt x="16" y="9"/>
                </a:lnTo>
                <a:lnTo>
                  <a:pt x="0" y="7"/>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Freeform 24"/>
          <p:cNvSpPr/>
          <p:nvPr/>
        </p:nvSpPr>
        <p:spPr>
          <a:xfrm>
            <a:off x="2057400" y="3133725"/>
            <a:ext cx="3743325" cy="3190875"/>
          </a:xfrm>
          <a:custGeom>
            <a:avLst/>
            <a:gdLst/>
            <a:ahLst/>
            <a:cxnLst/>
            <a:rect l="l" t="t" r="r" b="b"/>
            <a:pathLst>
              <a:path w="393" h="335">
                <a:moveTo>
                  <a:pt x="0" y="0"/>
                </a:moveTo>
                <a:lnTo>
                  <a:pt x="16" y="2"/>
                </a:lnTo>
                <a:lnTo>
                  <a:pt x="33" y="7"/>
                </a:lnTo>
                <a:lnTo>
                  <a:pt x="49" y="14"/>
                </a:lnTo>
                <a:lnTo>
                  <a:pt x="65" y="25"/>
                </a:lnTo>
                <a:lnTo>
                  <a:pt x="82" y="37"/>
                </a:lnTo>
                <a:lnTo>
                  <a:pt x="98" y="52"/>
                </a:lnTo>
                <a:lnTo>
                  <a:pt x="114" y="68"/>
                </a:lnTo>
                <a:lnTo>
                  <a:pt x="131" y="86"/>
                </a:lnTo>
                <a:lnTo>
                  <a:pt x="147" y="105"/>
                </a:lnTo>
                <a:lnTo>
                  <a:pt x="164" y="124"/>
                </a:lnTo>
                <a:lnTo>
                  <a:pt x="180" y="145"/>
                </a:lnTo>
                <a:lnTo>
                  <a:pt x="196" y="165"/>
                </a:lnTo>
                <a:lnTo>
                  <a:pt x="213" y="186"/>
                </a:lnTo>
                <a:lnTo>
                  <a:pt x="229" y="206"/>
                </a:lnTo>
                <a:lnTo>
                  <a:pt x="246" y="226"/>
                </a:lnTo>
                <a:lnTo>
                  <a:pt x="262" y="245"/>
                </a:lnTo>
                <a:lnTo>
                  <a:pt x="278" y="262"/>
                </a:lnTo>
                <a:lnTo>
                  <a:pt x="295" y="279"/>
                </a:lnTo>
                <a:lnTo>
                  <a:pt x="311" y="293"/>
                </a:lnTo>
                <a:lnTo>
                  <a:pt x="327" y="306"/>
                </a:lnTo>
                <a:lnTo>
                  <a:pt x="344" y="316"/>
                </a:lnTo>
                <a:lnTo>
                  <a:pt x="360" y="324"/>
                </a:lnTo>
                <a:lnTo>
                  <a:pt x="377" y="328"/>
                </a:lnTo>
                <a:lnTo>
                  <a:pt x="393" y="330"/>
                </a:lnTo>
                <a:lnTo>
                  <a:pt x="393" y="335"/>
                </a:lnTo>
                <a:lnTo>
                  <a:pt x="377" y="333"/>
                </a:lnTo>
                <a:lnTo>
                  <a:pt x="360" y="328"/>
                </a:lnTo>
                <a:lnTo>
                  <a:pt x="344" y="320"/>
                </a:lnTo>
                <a:lnTo>
                  <a:pt x="327" y="310"/>
                </a:lnTo>
                <a:lnTo>
                  <a:pt x="311" y="298"/>
                </a:lnTo>
                <a:lnTo>
                  <a:pt x="295" y="283"/>
                </a:lnTo>
                <a:lnTo>
                  <a:pt x="278" y="267"/>
                </a:lnTo>
                <a:lnTo>
                  <a:pt x="262" y="249"/>
                </a:lnTo>
                <a:lnTo>
                  <a:pt x="246" y="230"/>
                </a:lnTo>
                <a:lnTo>
                  <a:pt x="229" y="210"/>
                </a:lnTo>
                <a:lnTo>
                  <a:pt x="213" y="190"/>
                </a:lnTo>
                <a:lnTo>
                  <a:pt x="196" y="170"/>
                </a:lnTo>
                <a:lnTo>
                  <a:pt x="180" y="149"/>
                </a:lnTo>
                <a:lnTo>
                  <a:pt x="164" y="129"/>
                </a:lnTo>
                <a:lnTo>
                  <a:pt x="147" y="109"/>
                </a:lnTo>
                <a:lnTo>
                  <a:pt x="131" y="90"/>
                </a:lnTo>
                <a:lnTo>
                  <a:pt x="114" y="72"/>
                </a:lnTo>
                <a:lnTo>
                  <a:pt x="98" y="56"/>
                </a:lnTo>
                <a:lnTo>
                  <a:pt x="82" y="42"/>
                </a:lnTo>
                <a:lnTo>
                  <a:pt x="65" y="29"/>
                </a:lnTo>
                <a:lnTo>
                  <a:pt x="49" y="19"/>
                </a:lnTo>
                <a:lnTo>
                  <a:pt x="33" y="11"/>
                </a:lnTo>
                <a:lnTo>
                  <a:pt x="16" y="6"/>
                </a:lnTo>
                <a:lnTo>
                  <a:pt x="0" y="5"/>
                </a:lnTo>
                <a:close/>
              </a:path>
            </a:pathLst>
          </a:custGeom>
          <a:solidFill>
            <a:srgbClr val="9E7E0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Freeform 25"/>
          <p:cNvSpPr/>
          <p:nvPr/>
        </p:nvSpPr>
        <p:spPr>
          <a:xfrm>
            <a:off x="2057400" y="1828800"/>
            <a:ext cx="3743325" cy="1543050"/>
          </a:xfrm>
          <a:custGeom>
            <a:avLst/>
            <a:gdLst/>
            <a:ahLst/>
            <a:cxnLst/>
            <a:rect l="l" t="t" r="r" b="b"/>
            <a:pathLst>
              <a:path w="393" h="162">
                <a:moveTo>
                  <a:pt x="0" y="148"/>
                </a:moveTo>
                <a:lnTo>
                  <a:pt x="16" y="147"/>
                </a:lnTo>
                <a:lnTo>
                  <a:pt x="33" y="145"/>
                </a:lnTo>
                <a:lnTo>
                  <a:pt x="49" y="141"/>
                </a:lnTo>
                <a:lnTo>
                  <a:pt x="65" y="137"/>
                </a:lnTo>
                <a:lnTo>
                  <a:pt x="82" y="131"/>
                </a:lnTo>
                <a:lnTo>
                  <a:pt x="98" y="125"/>
                </a:lnTo>
                <a:lnTo>
                  <a:pt x="114" y="117"/>
                </a:lnTo>
                <a:lnTo>
                  <a:pt x="131" y="109"/>
                </a:lnTo>
                <a:lnTo>
                  <a:pt x="147" y="101"/>
                </a:lnTo>
                <a:lnTo>
                  <a:pt x="164" y="92"/>
                </a:lnTo>
                <a:lnTo>
                  <a:pt x="180" y="83"/>
                </a:lnTo>
                <a:lnTo>
                  <a:pt x="196" y="74"/>
                </a:lnTo>
                <a:lnTo>
                  <a:pt x="213" y="64"/>
                </a:lnTo>
                <a:lnTo>
                  <a:pt x="229" y="55"/>
                </a:lnTo>
                <a:lnTo>
                  <a:pt x="246" y="46"/>
                </a:lnTo>
                <a:lnTo>
                  <a:pt x="262" y="38"/>
                </a:lnTo>
                <a:lnTo>
                  <a:pt x="278" y="30"/>
                </a:lnTo>
                <a:lnTo>
                  <a:pt x="295" y="23"/>
                </a:lnTo>
                <a:lnTo>
                  <a:pt x="311" y="16"/>
                </a:lnTo>
                <a:lnTo>
                  <a:pt x="327" y="11"/>
                </a:lnTo>
                <a:lnTo>
                  <a:pt x="344" y="6"/>
                </a:lnTo>
                <a:lnTo>
                  <a:pt x="360" y="2"/>
                </a:lnTo>
                <a:lnTo>
                  <a:pt x="377" y="0"/>
                </a:lnTo>
                <a:lnTo>
                  <a:pt x="393" y="0"/>
                </a:lnTo>
                <a:lnTo>
                  <a:pt x="393" y="14"/>
                </a:lnTo>
                <a:lnTo>
                  <a:pt x="377" y="15"/>
                </a:lnTo>
                <a:lnTo>
                  <a:pt x="360" y="17"/>
                </a:lnTo>
                <a:lnTo>
                  <a:pt x="344" y="20"/>
                </a:lnTo>
                <a:lnTo>
                  <a:pt x="327" y="25"/>
                </a:lnTo>
                <a:lnTo>
                  <a:pt x="311" y="31"/>
                </a:lnTo>
                <a:lnTo>
                  <a:pt x="295" y="37"/>
                </a:lnTo>
                <a:lnTo>
                  <a:pt x="278" y="44"/>
                </a:lnTo>
                <a:lnTo>
                  <a:pt x="262" y="52"/>
                </a:lnTo>
                <a:lnTo>
                  <a:pt x="246" y="61"/>
                </a:lnTo>
                <a:lnTo>
                  <a:pt x="229" y="70"/>
                </a:lnTo>
                <a:lnTo>
                  <a:pt x="213" y="79"/>
                </a:lnTo>
                <a:lnTo>
                  <a:pt x="196" y="88"/>
                </a:lnTo>
                <a:lnTo>
                  <a:pt x="180" y="97"/>
                </a:lnTo>
                <a:lnTo>
                  <a:pt x="164" y="106"/>
                </a:lnTo>
                <a:lnTo>
                  <a:pt x="147" y="115"/>
                </a:lnTo>
                <a:lnTo>
                  <a:pt x="131" y="124"/>
                </a:lnTo>
                <a:lnTo>
                  <a:pt x="114" y="132"/>
                </a:lnTo>
                <a:lnTo>
                  <a:pt x="98" y="139"/>
                </a:lnTo>
                <a:lnTo>
                  <a:pt x="82" y="145"/>
                </a:lnTo>
                <a:lnTo>
                  <a:pt x="65" y="151"/>
                </a:lnTo>
                <a:lnTo>
                  <a:pt x="49" y="156"/>
                </a:lnTo>
                <a:lnTo>
                  <a:pt x="33" y="159"/>
                </a:lnTo>
                <a:lnTo>
                  <a:pt x="16" y="161"/>
                </a:lnTo>
                <a:lnTo>
                  <a:pt x="0" y="16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Freeform 26"/>
          <p:cNvSpPr/>
          <p:nvPr/>
        </p:nvSpPr>
        <p:spPr>
          <a:xfrm>
            <a:off x="2057400" y="2905125"/>
            <a:ext cx="3743325" cy="666750"/>
          </a:xfrm>
          <a:custGeom>
            <a:avLst/>
            <a:gdLst/>
            <a:ahLst/>
            <a:cxnLst/>
            <a:rect l="l" t="t" r="r" b="b"/>
            <a:pathLst>
              <a:path w="393" h="70">
                <a:moveTo>
                  <a:pt x="0" y="49"/>
                </a:moveTo>
                <a:lnTo>
                  <a:pt x="16" y="49"/>
                </a:lnTo>
                <a:lnTo>
                  <a:pt x="33" y="48"/>
                </a:lnTo>
                <a:lnTo>
                  <a:pt x="49" y="47"/>
                </a:lnTo>
                <a:lnTo>
                  <a:pt x="65" y="45"/>
                </a:lnTo>
                <a:lnTo>
                  <a:pt x="82" y="44"/>
                </a:lnTo>
                <a:lnTo>
                  <a:pt x="98" y="41"/>
                </a:lnTo>
                <a:lnTo>
                  <a:pt x="114" y="39"/>
                </a:lnTo>
                <a:lnTo>
                  <a:pt x="131" y="36"/>
                </a:lnTo>
                <a:lnTo>
                  <a:pt x="147" y="33"/>
                </a:lnTo>
                <a:lnTo>
                  <a:pt x="164" y="30"/>
                </a:lnTo>
                <a:lnTo>
                  <a:pt x="180" y="27"/>
                </a:lnTo>
                <a:lnTo>
                  <a:pt x="196" y="24"/>
                </a:lnTo>
                <a:lnTo>
                  <a:pt x="213" y="21"/>
                </a:lnTo>
                <a:lnTo>
                  <a:pt x="229" y="18"/>
                </a:lnTo>
                <a:lnTo>
                  <a:pt x="246" y="15"/>
                </a:lnTo>
                <a:lnTo>
                  <a:pt x="262" y="12"/>
                </a:lnTo>
                <a:lnTo>
                  <a:pt x="278" y="10"/>
                </a:lnTo>
                <a:lnTo>
                  <a:pt x="295" y="7"/>
                </a:lnTo>
                <a:lnTo>
                  <a:pt x="311" y="5"/>
                </a:lnTo>
                <a:lnTo>
                  <a:pt x="327" y="3"/>
                </a:lnTo>
                <a:lnTo>
                  <a:pt x="344" y="2"/>
                </a:lnTo>
                <a:lnTo>
                  <a:pt x="360" y="1"/>
                </a:lnTo>
                <a:lnTo>
                  <a:pt x="377" y="0"/>
                </a:lnTo>
                <a:lnTo>
                  <a:pt x="393" y="0"/>
                </a:lnTo>
                <a:lnTo>
                  <a:pt x="393" y="20"/>
                </a:lnTo>
                <a:lnTo>
                  <a:pt x="377" y="20"/>
                </a:lnTo>
                <a:lnTo>
                  <a:pt x="360" y="21"/>
                </a:lnTo>
                <a:lnTo>
                  <a:pt x="344" y="22"/>
                </a:lnTo>
                <a:lnTo>
                  <a:pt x="327" y="24"/>
                </a:lnTo>
                <a:lnTo>
                  <a:pt x="311" y="26"/>
                </a:lnTo>
                <a:lnTo>
                  <a:pt x="295" y="28"/>
                </a:lnTo>
                <a:lnTo>
                  <a:pt x="278" y="30"/>
                </a:lnTo>
                <a:lnTo>
                  <a:pt x="262" y="33"/>
                </a:lnTo>
                <a:lnTo>
                  <a:pt x="246" y="36"/>
                </a:lnTo>
                <a:lnTo>
                  <a:pt x="229" y="39"/>
                </a:lnTo>
                <a:lnTo>
                  <a:pt x="213" y="42"/>
                </a:lnTo>
                <a:lnTo>
                  <a:pt x="196" y="45"/>
                </a:lnTo>
                <a:lnTo>
                  <a:pt x="180" y="48"/>
                </a:lnTo>
                <a:lnTo>
                  <a:pt x="164" y="51"/>
                </a:lnTo>
                <a:lnTo>
                  <a:pt x="147" y="54"/>
                </a:lnTo>
                <a:lnTo>
                  <a:pt x="131" y="57"/>
                </a:lnTo>
                <a:lnTo>
                  <a:pt x="114" y="59"/>
                </a:lnTo>
                <a:lnTo>
                  <a:pt x="98" y="62"/>
                </a:lnTo>
                <a:lnTo>
                  <a:pt x="82" y="64"/>
                </a:lnTo>
                <a:lnTo>
                  <a:pt x="65" y="66"/>
                </a:lnTo>
                <a:lnTo>
                  <a:pt x="49" y="67"/>
                </a:lnTo>
                <a:lnTo>
                  <a:pt x="33" y="69"/>
                </a:lnTo>
                <a:lnTo>
                  <a:pt x="16" y="69"/>
                </a:lnTo>
                <a:lnTo>
                  <a:pt x="0" y="70"/>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Freeform 27"/>
          <p:cNvSpPr/>
          <p:nvPr/>
        </p:nvSpPr>
        <p:spPr>
          <a:xfrm>
            <a:off x="2057400" y="3571875"/>
            <a:ext cx="3743325" cy="542925"/>
          </a:xfrm>
          <a:custGeom>
            <a:avLst/>
            <a:gdLst/>
            <a:ahLst/>
            <a:cxnLst/>
            <a:rect l="l" t="t" r="r" b="b"/>
            <a:pathLst>
              <a:path w="393" h="57">
                <a:moveTo>
                  <a:pt x="0" y="0"/>
                </a:moveTo>
                <a:lnTo>
                  <a:pt x="16" y="0"/>
                </a:lnTo>
                <a:lnTo>
                  <a:pt x="33" y="0"/>
                </a:lnTo>
                <a:lnTo>
                  <a:pt x="49" y="2"/>
                </a:lnTo>
                <a:lnTo>
                  <a:pt x="65" y="3"/>
                </a:lnTo>
                <a:lnTo>
                  <a:pt x="82" y="5"/>
                </a:lnTo>
                <a:lnTo>
                  <a:pt x="98" y="7"/>
                </a:lnTo>
                <a:lnTo>
                  <a:pt x="114" y="9"/>
                </a:lnTo>
                <a:lnTo>
                  <a:pt x="131" y="11"/>
                </a:lnTo>
                <a:lnTo>
                  <a:pt x="147" y="14"/>
                </a:lnTo>
                <a:lnTo>
                  <a:pt x="164" y="17"/>
                </a:lnTo>
                <a:lnTo>
                  <a:pt x="180" y="19"/>
                </a:lnTo>
                <a:lnTo>
                  <a:pt x="196" y="22"/>
                </a:lnTo>
                <a:lnTo>
                  <a:pt x="213" y="25"/>
                </a:lnTo>
                <a:lnTo>
                  <a:pt x="229" y="28"/>
                </a:lnTo>
                <a:lnTo>
                  <a:pt x="246" y="31"/>
                </a:lnTo>
                <a:lnTo>
                  <a:pt x="262" y="33"/>
                </a:lnTo>
                <a:lnTo>
                  <a:pt x="278" y="36"/>
                </a:lnTo>
                <a:lnTo>
                  <a:pt x="295" y="38"/>
                </a:lnTo>
                <a:lnTo>
                  <a:pt x="311" y="40"/>
                </a:lnTo>
                <a:lnTo>
                  <a:pt x="327" y="42"/>
                </a:lnTo>
                <a:lnTo>
                  <a:pt x="344" y="43"/>
                </a:lnTo>
                <a:lnTo>
                  <a:pt x="360" y="44"/>
                </a:lnTo>
                <a:lnTo>
                  <a:pt x="377" y="45"/>
                </a:lnTo>
                <a:lnTo>
                  <a:pt x="393" y="45"/>
                </a:lnTo>
                <a:lnTo>
                  <a:pt x="393" y="57"/>
                </a:lnTo>
                <a:lnTo>
                  <a:pt x="377" y="57"/>
                </a:lnTo>
                <a:lnTo>
                  <a:pt x="360" y="56"/>
                </a:lnTo>
                <a:lnTo>
                  <a:pt x="344" y="55"/>
                </a:lnTo>
                <a:lnTo>
                  <a:pt x="327" y="54"/>
                </a:lnTo>
                <a:lnTo>
                  <a:pt x="311" y="52"/>
                </a:lnTo>
                <a:lnTo>
                  <a:pt x="295" y="50"/>
                </a:lnTo>
                <a:lnTo>
                  <a:pt x="278" y="48"/>
                </a:lnTo>
                <a:lnTo>
                  <a:pt x="262" y="45"/>
                </a:lnTo>
                <a:lnTo>
                  <a:pt x="246" y="43"/>
                </a:lnTo>
                <a:lnTo>
                  <a:pt x="229" y="40"/>
                </a:lnTo>
                <a:lnTo>
                  <a:pt x="213" y="37"/>
                </a:lnTo>
                <a:lnTo>
                  <a:pt x="196" y="34"/>
                </a:lnTo>
                <a:lnTo>
                  <a:pt x="180" y="32"/>
                </a:lnTo>
                <a:lnTo>
                  <a:pt x="164" y="29"/>
                </a:lnTo>
                <a:lnTo>
                  <a:pt x="147" y="26"/>
                </a:lnTo>
                <a:lnTo>
                  <a:pt x="131" y="23"/>
                </a:lnTo>
                <a:lnTo>
                  <a:pt x="114" y="21"/>
                </a:lnTo>
                <a:lnTo>
                  <a:pt x="98" y="19"/>
                </a:lnTo>
                <a:lnTo>
                  <a:pt x="82" y="17"/>
                </a:lnTo>
                <a:lnTo>
                  <a:pt x="65" y="15"/>
                </a:lnTo>
                <a:lnTo>
                  <a:pt x="49" y="14"/>
                </a:lnTo>
                <a:lnTo>
                  <a:pt x="33" y="12"/>
                </a:lnTo>
                <a:lnTo>
                  <a:pt x="16" y="12"/>
                </a:lnTo>
                <a:lnTo>
                  <a:pt x="0" y="12"/>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Freeform 28"/>
          <p:cNvSpPr/>
          <p:nvPr/>
        </p:nvSpPr>
        <p:spPr>
          <a:xfrm>
            <a:off x="2057400" y="3686175"/>
            <a:ext cx="3743325" cy="1295400"/>
          </a:xfrm>
          <a:custGeom>
            <a:avLst/>
            <a:gdLst/>
            <a:ahLst/>
            <a:cxnLst/>
            <a:rect l="l" t="t" r="r" b="b"/>
            <a:pathLst>
              <a:path w="393" h="136">
                <a:moveTo>
                  <a:pt x="0" y="0"/>
                </a:moveTo>
                <a:lnTo>
                  <a:pt x="16" y="0"/>
                </a:lnTo>
                <a:lnTo>
                  <a:pt x="33" y="2"/>
                </a:lnTo>
                <a:lnTo>
                  <a:pt x="49" y="5"/>
                </a:lnTo>
                <a:lnTo>
                  <a:pt x="65" y="9"/>
                </a:lnTo>
                <a:lnTo>
                  <a:pt x="82" y="13"/>
                </a:lnTo>
                <a:lnTo>
                  <a:pt x="98" y="19"/>
                </a:lnTo>
                <a:lnTo>
                  <a:pt x="114" y="25"/>
                </a:lnTo>
                <a:lnTo>
                  <a:pt x="131" y="31"/>
                </a:lnTo>
                <a:lnTo>
                  <a:pt x="147" y="38"/>
                </a:lnTo>
                <a:lnTo>
                  <a:pt x="164" y="45"/>
                </a:lnTo>
                <a:lnTo>
                  <a:pt x="180" y="53"/>
                </a:lnTo>
                <a:lnTo>
                  <a:pt x="196" y="61"/>
                </a:lnTo>
                <a:lnTo>
                  <a:pt x="213" y="68"/>
                </a:lnTo>
                <a:lnTo>
                  <a:pt x="229" y="76"/>
                </a:lnTo>
                <a:lnTo>
                  <a:pt x="246" y="83"/>
                </a:lnTo>
                <a:lnTo>
                  <a:pt x="262" y="90"/>
                </a:lnTo>
                <a:lnTo>
                  <a:pt x="278" y="96"/>
                </a:lnTo>
                <a:lnTo>
                  <a:pt x="295" y="102"/>
                </a:lnTo>
                <a:lnTo>
                  <a:pt x="311" y="108"/>
                </a:lnTo>
                <a:lnTo>
                  <a:pt x="327" y="112"/>
                </a:lnTo>
                <a:lnTo>
                  <a:pt x="344" y="116"/>
                </a:lnTo>
                <a:lnTo>
                  <a:pt x="360" y="119"/>
                </a:lnTo>
                <a:lnTo>
                  <a:pt x="377" y="121"/>
                </a:lnTo>
                <a:lnTo>
                  <a:pt x="393" y="121"/>
                </a:lnTo>
                <a:lnTo>
                  <a:pt x="393" y="136"/>
                </a:lnTo>
                <a:lnTo>
                  <a:pt x="377" y="135"/>
                </a:lnTo>
                <a:lnTo>
                  <a:pt x="360" y="134"/>
                </a:lnTo>
                <a:lnTo>
                  <a:pt x="344" y="131"/>
                </a:lnTo>
                <a:lnTo>
                  <a:pt x="327" y="127"/>
                </a:lnTo>
                <a:lnTo>
                  <a:pt x="311" y="122"/>
                </a:lnTo>
                <a:lnTo>
                  <a:pt x="295" y="117"/>
                </a:lnTo>
                <a:lnTo>
                  <a:pt x="278" y="111"/>
                </a:lnTo>
                <a:lnTo>
                  <a:pt x="262" y="104"/>
                </a:lnTo>
                <a:lnTo>
                  <a:pt x="246" y="98"/>
                </a:lnTo>
                <a:lnTo>
                  <a:pt x="229" y="90"/>
                </a:lnTo>
                <a:lnTo>
                  <a:pt x="213" y="83"/>
                </a:lnTo>
                <a:lnTo>
                  <a:pt x="196" y="75"/>
                </a:lnTo>
                <a:lnTo>
                  <a:pt x="180" y="68"/>
                </a:lnTo>
                <a:lnTo>
                  <a:pt x="164" y="60"/>
                </a:lnTo>
                <a:lnTo>
                  <a:pt x="147" y="53"/>
                </a:lnTo>
                <a:lnTo>
                  <a:pt x="131" y="46"/>
                </a:lnTo>
                <a:lnTo>
                  <a:pt x="114" y="39"/>
                </a:lnTo>
                <a:lnTo>
                  <a:pt x="98" y="33"/>
                </a:lnTo>
                <a:lnTo>
                  <a:pt x="82" y="28"/>
                </a:lnTo>
                <a:lnTo>
                  <a:pt x="65" y="23"/>
                </a:lnTo>
                <a:lnTo>
                  <a:pt x="49" y="19"/>
                </a:lnTo>
                <a:lnTo>
                  <a:pt x="33" y="17"/>
                </a:lnTo>
                <a:lnTo>
                  <a:pt x="16" y="15"/>
                </a:lnTo>
                <a:lnTo>
                  <a:pt x="0" y="1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2057400" y="3819525"/>
            <a:ext cx="3743325" cy="1781175"/>
          </a:xfrm>
          <a:custGeom>
            <a:avLst/>
            <a:gdLst/>
            <a:ahLst/>
            <a:cxnLst/>
            <a:rect l="l" t="t" r="r" b="b"/>
            <a:pathLst>
              <a:path w="393" h="187">
                <a:moveTo>
                  <a:pt x="0" y="0"/>
                </a:moveTo>
                <a:lnTo>
                  <a:pt x="16" y="1"/>
                </a:lnTo>
                <a:lnTo>
                  <a:pt x="33" y="4"/>
                </a:lnTo>
                <a:lnTo>
                  <a:pt x="49" y="8"/>
                </a:lnTo>
                <a:lnTo>
                  <a:pt x="65" y="13"/>
                </a:lnTo>
                <a:lnTo>
                  <a:pt x="82" y="20"/>
                </a:lnTo>
                <a:lnTo>
                  <a:pt x="98" y="28"/>
                </a:lnTo>
                <a:lnTo>
                  <a:pt x="114" y="37"/>
                </a:lnTo>
                <a:lnTo>
                  <a:pt x="131" y="47"/>
                </a:lnTo>
                <a:lnTo>
                  <a:pt x="147" y="57"/>
                </a:lnTo>
                <a:lnTo>
                  <a:pt x="164" y="68"/>
                </a:lnTo>
                <a:lnTo>
                  <a:pt x="180" y="79"/>
                </a:lnTo>
                <a:lnTo>
                  <a:pt x="196" y="90"/>
                </a:lnTo>
                <a:lnTo>
                  <a:pt x="213" y="101"/>
                </a:lnTo>
                <a:lnTo>
                  <a:pt x="229" y="112"/>
                </a:lnTo>
                <a:lnTo>
                  <a:pt x="246" y="123"/>
                </a:lnTo>
                <a:lnTo>
                  <a:pt x="262" y="133"/>
                </a:lnTo>
                <a:lnTo>
                  <a:pt x="278" y="142"/>
                </a:lnTo>
                <a:lnTo>
                  <a:pt x="295" y="151"/>
                </a:lnTo>
                <a:lnTo>
                  <a:pt x="311" y="159"/>
                </a:lnTo>
                <a:lnTo>
                  <a:pt x="327" y="166"/>
                </a:lnTo>
                <a:lnTo>
                  <a:pt x="344" y="172"/>
                </a:lnTo>
                <a:lnTo>
                  <a:pt x="360" y="176"/>
                </a:lnTo>
                <a:lnTo>
                  <a:pt x="377" y="178"/>
                </a:lnTo>
                <a:lnTo>
                  <a:pt x="393" y="179"/>
                </a:lnTo>
                <a:lnTo>
                  <a:pt x="393" y="187"/>
                </a:lnTo>
                <a:lnTo>
                  <a:pt x="377" y="186"/>
                </a:lnTo>
                <a:lnTo>
                  <a:pt x="360" y="184"/>
                </a:lnTo>
                <a:lnTo>
                  <a:pt x="344" y="179"/>
                </a:lnTo>
                <a:lnTo>
                  <a:pt x="327" y="174"/>
                </a:lnTo>
                <a:lnTo>
                  <a:pt x="311" y="167"/>
                </a:lnTo>
                <a:lnTo>
                  <a:pt x="295" y="159"/>
                </a:lnTo>
                <a:lnTo>
                  <a:pt x="278" y="150"/>
                </a:lnTo>
                <a:lnTo>
                  <a:pt x="262" y="141"/>
                </a:lnTo>
                <a:lnTo>
                  <a:pt x="246" y="130"/>
                </a:lnTo>
                <a:lnTo>
                  <a:pt x="229" y="120"/>
                </a:lnTo>
                <a:lnTo>
                  <a:pt x="213" y="109"/>
                </a:lnTo>
                <a:lnTo>
                  <a:pt x="196" y="98"/>
                </a:lnTo>
                <a:lnTo>
                  <a:pt x="180" y="86"/>
                </a:lnTo>
                <a:lnTo>
                  <a:pt x="164" y="75"/>
                </a:lnTo>
                <a:lnTo>
                  <a:pt x="147" y="65"/>
                </a:lnTo>
                <a:lnTo>
                  <a:pt x="131" y="54"/>
                </a:lnTo>
                <a:lnTo>
                  <a:pt x="114" y="45"/>
                </a:lnTo>
                <a:lnTo>
                  <a:pt x="98" y="36"/>
                </a:lnTo>
                <a:lnTo>
                  <a:pt x="82" y="28"/>
                </a:lnTo>
                <a:lnTo>
                  <a:pt x="65" y="21"/>
                </a:lnTo>
                <a:lnTo>
                  <a:pt x="49" y="16"/>
                </a:lnTo>
                <a:lnTo>
                  <a:pt x="33" y="12"/>
                </a:lnTo>
                <a:lnTo>
                  <a:pt x="16" y="9"/>
                </a:lnTo>
                <a:lnTo>
                  <a:pt x="0" y="8"/>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057400" y="3895725"/>
            <a:ext cx="3743325" cy="2124075"/>
          </a:xfrm>
          <a:custGeom>
            <a:avLst/>
            <a:gdLst/>
            <a:ahLst/>
            <a:cxnLst/>
            <a:rect l="l" t="t" r="r" b="b"/>
            <a:pathLst>
              <a:path w="393" h="223">
                <a:moveTo>
                  <a:pt x="0" y="0"/>
                </a:moveTo>
                <a:lnTo>
                  <a:pt x="16" y="1"/>
                </a:lnTo>
                <a:lnTo>
                  <a:pt x="33" y="4"/>
                </a:lnTo>
                <a:lnTo>
                  <a:pt x="49" y="9"/>
                </a:lnTo>
                <a:lnTo>
                  <a:pt x="65" y="16"/>
                </a:lnTo>
                <a:lnTo>
                  <a:pt x="82" y="24"/>
                </a:lnTo>
                <a:lnTo>
                  <a:pt x="98" y="34"/>
                </a:lnTo>
                <a:lnTo>
                  <a:pt x="114" y="45"/>
                </a:lnTo>
                <a:lnTo>
                  <a:pt x="131" y="56"/>
                </a:lnTo>
                <a:lnTo>
                  <a:pt x="147" y="69"/>
                </a:lnTo>
                <a:lnTo>
                  <a:pt x="164" y="82"/>
                </a:lnTo>
                <a:lnTo>
                  <a:pt x="180" y="95"/>
                </a:lnTo>
                <a:lnTo>
                  <a:pt x="196" y="108"/>
                </a:lnTo>
                <a:lnTo>
                  <a:pt x="213" y="122"/>
                </a:lnTo>
                <a:lnTo>
                  <a:pt x="229" y="135"/>
                </a:lnTo>
                <a:lnTo>
                  <a:pt x="246" y="148"/>
                </a:lnTo>
                <a:lnTo>
                  <a:pt x="262" y="161"/>
                </a:lnTo>
                <a:lnTo>
                  <a:pt x="278" y="172"/>
                </a:lnTo>
                <a:lnTo>
                  <a:pt x="295" y="183"/>
                </a:lnTo>
                <a:lnTo>
                  <a:pt x="311" y="193"/>
                </a:lnTo>
                <a:lnTo>
                  <a:pt x="327" y="201"/>
                </a:lnTo>
                <a:lnTo>
                  <a:pt x="344" y="208"/>
                </a:lnTo>
                <a:lnTo>
                  <a:pt x="360" y="213"/>
                </a:lnTo>
                <a:lnTo>
                  <a:pt x="377" y="216"/>
                </a:lnTo>
                <a:lnTo>
                  <a:pt x="393" y="217"/>
                </a:lnTo>
                <a:lnTo>
                  <a:pt x="393" y="223"/>
                </a:lnTo>
                <a:lnTo>
                  <a:pt x="377" y="222"/>
                </a:lnTo>
                <a:lnTo>
                  <a:pt x="360" y="219"/>
                </a:lnTo>
                <a:lnTo>
                  <a:pt x="344" y="214"/>
                </a:lnTo>
                <a:lnTo>
                  <a:pt x="327" y="207"/>
                </a:lnTo>
                <a:lnTo>
                  <a:pt x="311" y="199"/>
                </a:lnTo>
                <a:lnTo>
                  <a:pt x="295" y="189"/>
                </a:lnTo>
                <a:lnTo>
                  <a:pt x="278" y="178"/>
                </a:lnTo>
                <a:lnTo>
                  <a:pt x="262" y="167"/>
                </a:lnTo>
                <a:lnTo>
                  <a:pt x="246" y="154"/>
                </a:lnTo>
                <a:lnTo>
                  <a:pt x="229" y="141"/>
                </a:lnTo>
                <a:lnTo>
                  <a:pt x="213" y="128"/>
                </a:lnTo>
                <a:lnTo>
                  <a:pt x="196" y="115"/>
                </a:lnTo>
                <a:lnTo>
                  <a:pt x="180" y="101"/>
                </a:lnTo>
                <a:lnTo>
                  <a:pt x="164" y="88"/>
                </a:lnTo>
                <a:lnTo>
                  <a:pt x="147" y="75"/>
                </a:lnTo>
                <a:lnTo>
                  <a:pt x="131" y="62"/>
                </a:lnTo>
                <a:lnTo>
                  <a:pt x="114" y="51"/>
                </a:lnTo>
                <a:lnTo>
                  <a:pt x="98" y="40"/>
                </a:lnTo>
                <a:lnTo>
                  <a:pt x="82" y="31"/>
                </a:lnTo>
                <a:lnTo>
                  <a:pt x="65" y="22"/>
                </a:lnTo>
                <a:lnTo>
                  <a:pt x="49" y="16"/>
                </a:lnTo>
                <a:lnTo>
                  <a:pt x="33" y="11"/>
                </a:lnTo>
                <a:lnTo>
                  <a:pt x="16" y="7"/>
                </a:lnTo>
                <a:lnTo>
                  <a:pt x="0" y="6"/>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2057400" y="3952875"/>
            <a:ext cx="3743325" cy="2400300"/>
          </a:xfrm>
          <a:custGeom>
            <a:avLst/>
            <a:gdLst/>
            <a:ahLst/>
            <a:cxnLst/>
            <a:rect l="l" t="t" r="r" b="b"/>
            <a:pathLst>
              <a:path w="393" h="252">
                <a:moveTo>
                  <a:pt x="0" y="0"/>
                </a:moveTo>
                <a:lnTo>
                  <a:pt x="16" y="1"/>
                </a:lnTo>
                <a:lnTo>
                  <a:pt x="33" y="5"/>
                </a:lnTo>
                <a:lnTo>
                  <a:pt x="49" y="11"/>
                </a:lnTo>
                <a:lnTo>
                  <a:pt x="65" y="19"/>
                </a:lnTo>
                <a:lnTo>
                  <a:pt x="82" y="28"/>
                </a:lnTo>
                <a:lnTo>
                  <a:pt x="98" y="39"/>
                </a:lnTo>
                <a:lnTo>
                  <a:pt x="114" y="51"/>
                </a:lnTo>
                <a:lnTo>
                  <a:pt x="131" y="65"/>
                </a:lnTo>
                <a:lnTo>
                  <a:pt x="147" y="79"/>
                </a:lnTo>
                <a:lnTo>
                  <a:pt x="164" y="94"/>
                </a:lnTo>
                <a:lnTo>
                  <a:pt x="180" y="109"/>
                </a:lnTo>
                <a:lnTo>
                  <a:pt x="196" y="124"/>
                </a:lnTo>
                <a:lnTo>
                  <a:pt x="213" y="140"/>
                </a:lnTo>
                <a:lnTo>
                  <a:pt x="229" y="155"/>
                </a:lnTo>
                <a:lnTo>
                  <a:pt x="246" y="170"/>
                </a:lnTo>
                <a:lnTo>
                  <a:pt x="262" y="184"/>
                </a:lnTo>
                <a:lnTo>
                  <a:pt x="278" y="197"/>
                </a:lnTo>
                <a:lnTo>
                  <a:pt x="295" y="210"/>
                </a:lnTo>
                <a:lnTo>
                  <a:pt x="311" y="221"/>
                </a:lnTo>
                <a:lnTo>
                  <a:pt x="327" y="230"/>
                </a:lnTo>
                <a:lnTo>
                  <a:pt x="344" y="238"/>
                </a:lnTo>
                <a:lnTo>
                  <a:pt x="360" y="244"/>
                </a:lnTo>
                <a:lnTo>
                  <a:pt x="377" y="247"/>
                </a:lnTo>
                <a:lnTo>
                  <a:pt x="393" y="249"/>
                </a:lnTo>
                <a:lnTo>
                  <a:pt x="393" y="252"/>
                </a:lnTo>
                <a:lnTo>
                  <a:pt x="377" y="251"/>
                </a:lnTo>
                <a:lnTo>
                  <a:pt x="360" y="247"/>
                </a:lnTo>
                <a:lnTo>
                  <a:pt x="344" y="242"/>
                </a:lnTo>
                <a:lnTo>
                  <a:pt x="327" y="234"/>
                </a:lnTo>
                <a:lnTo>
                  <a:pt x="311" y="225"/>
                </a:lnTo>
                <a:lnTo>
                  <a:pt x="295" y="214"/>
                </a:lnTo>
                <a:lnTo>
                  <a:pt x="278" y="201"/>
                </a:lnTo>
                <a:lnTo>
                  <a:pt x="262" y="188"/>
                </a:lnTo>
                <a:lnTo>
                  <a:pt x="246" y="174"/>
                </a:lnTo>
                <a:lnTo>
                  <a:pt x="229" y="159"/>
                </a:lnTo>
                <a:lnTo>
                  <a:pt x="213" y="144"/>
                </a:lnTo>
                <a:lnTo>
                  <a:pt x="196" y="128"/>
                </a:lnTo>
                <a:lnTo>
                  <a:pt x="180" y="113"/>
                </a:lnTo>
                <a:lnTo>
                  <a:pt x="164" y="98"/>
                </a:lnTo>
                <a:lnTo>
                  <a:pt x="147" y="83"/>
                </a:lnTo>
                <a:lnTo>
                  <a:pt x="131" y="68"/>
                </a:lnTo>
                <a:lnTo>
                  <a:pt x="114" y="55"/>
                </a:lnTo>
                <a:lnTo>
                  <a:pt x="98" y="43"/>
                </a:lnTo>
                <a:lnTo>
                  <a:pt x="82" y="32"/>
                </a:lnTo>
                <a:lnTo>
                  <a:pt x="65" y="23"/>
                </a:lnTo>
                <a:lnTo>
                  <a:pt x="49" y="15"/>
                </a:lnTo>
                <a:lnTo>
                  <a:pt x="33" y="9"/>
                </a:lnTo>
                <a:lnTo>
                  <a:pt x="16" y="5"/>
                </a:lnTo>
                <a:lnTo>
                  <a:pt x="0" y="4"/>
                </a:lnTo>
                <a:close/>
              </a:path>
            </a:pathLst>
          </a:custGeom>
          <a:solidFill>
            <a:srgbClr val="008189">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Freeform 32"/>
          <p:cNvSpPr/>
          <p:nvPr/>
        </p:nvSpPr>
        <p:spPr>
          <a:xfrm>
            <a:off x="2057400" y="1962150"/>
            <a:ext cx="3743325" cy="2238375"/>
          </a:xfrm>
          <a:custGeom>
            <a:avLst/>
            <a:gdLst/>
            <a:ahLst/>
            <a:cxnLst/>
            <a:rect l="l" t="t" r="r" b="b"/>
            <a:pathLst>
              <a:path w="393" h="235">
                <a:moveTo>
                  <a:pt x="0" y="219"/>
                </a:moveTo>
                <a:lnTo>
                  <a:pt x="16" y="218"/>
                </a:lnTo>
                <a:lnTo>
                  <a:pt x="33" y="215"/>
                </a:lnTo>
                <a:lnTo>
                  <a:pt x="49" y="210"/>
                </a:lnTo>
                <a:lnTo>
                  <a:pt x="65" y="203"/>
                </a:lnTo>
                <a:lnTo>
                  <a:pt x="82" y="195"/>
                </a:lnTo>
                <a:lnTo>
                  <a:pt x="98" y="185"/>
                </a:lnTo>
                <a:lnTo>
                  <a:pt x="114" y="174"/>
                </a:lnTo>
                <a:lnTo>
                  <a:pt x="131" y="162"/>
                </a:lnTo>
                <a:lnTo>
                  <a:pt x="147" y="150"/>
                </a:lnTo>
                <a:lnTo>
                  <a:pt x="164" y="137"/>
                </a:lnTo>
                <a:lnTo>
                  <a:pt x="180" y="123"/>
                </a:lnTo>
                <a:lnTo>
                  <a:pt x="196" y="110"/>
                </a:lnTo>
                <a:lnTo>
                  <a:pt x="213" y="96"/>
                </a:lnTo>
                <a:lnTo>
                  <a:pt x="229" y="82"/>
                </a:lnTo>
                <a:lnTo>
                  <a:pt x="246" y="69"/>
                </a:lnTo>
                <a:lnTo>
                  <a:pt x="262" y="57"/>
                </a:lnTo>
                <a:lnTo>
                  <a:pt x="278" y="45"/>
                </a:lnTo>
                <a:lnTo>
                  <a:pt x="295" y="34"/>
                </a:lnTo>
                <a:lnTo>
                  <a:pt x="311" y="25"/>
                </a:lnTo>
                <a:lnTo>
                  <a:pt x="327" y="16"/>
                </a:lnTo>
                <a:lnTo>
                  <a:pt x="344" y="9"/>
                </a:lnTo>
                <a:lnTo>
                  <a:pt x="360" y="4"/>
                </a:lnTo>
                <a:lnTo>
                  <a:pt x="377" y="1"/>
                </a:lnTo>
                <a:lnTo>
                  <a:pt x="393" y="0"/>
                </a:lnTo>
                <a:lnTo>
                  <a:pt x="393" y="16"/>
                </a:lnTo>
                <a:lnTo>
                  <a:pt x="377" y="17"/>
                </a:lnTo>
                <a:lnTo>
                  <a:pt x="360" y="21"/>
                </a:lnTo>
                <a:lnTo>
                  <a:pt x="344" y="26"/>
                </a:lnTo>
                <a:lnTo>
                  <a:pt x="327" y="33"/>
                </a:lnTo>
                <a:lnTo>
                  <a:pt x="311" y="41"/>
                </a:lnTo>
                <a:lnTo>
                  <a:pt x="295" y="51"/>
                </a:lnTo>
                <a:lnTo>
                  <a:pt x="278" y="61"/>
                </a:lnTo>
                <a:lnTo>
                  <a:pt x="262" y="73"/>
                </a:lnTo>
                <a:lnTo>
                  <a:pt x="246" y="86"/>
                </a:lnTo>
                <a:lnTo>
                  <a:pt x="229" y="99"/>
                </a:lnTo>
                <a:lnTo>
                  <a:pt x="213" y="112"/>
                </a:lnTo>
                <a:lnTo>
                  <a:pt x="196" y="126"/>
                </a:lnTo>
                <a:lnTo>
                  <a:pt x="180" y="140"/>
                </a:lnTo>
                <a:lnTo>
                  <a:pt x="164" y="153"/>
                </a:lnTo>
                <a:lnTo>
                  <a:pt x="147" y="166"/>
                </a:lnTo>
                <a:lnTo>
                  <a:pt x="131" y="179"/>
                </a:lnTo>
                <a:lnTo>
                  <a:pt x="114" y="190"/>
                </a:lnTo>
                <a:lnTo>
                  <a:pt x="98" y="201"/>
                </a:lnTo>
                <a:lnTo>
                  <a:pt x="82" y="211"/>
                </a:lnTo>
                <a:lnTo>
                  <a:pt x="65" y="219"/>
                </a:lnTo>
                <a:lnTo>
                  <a:pt x="49" y="226"/>
                </a:lnTo>
                <a:lnTo>
                  <a:pt x="33" y="231"/>
                </a:lnTo>
                <a:lnTo>
                  <a:pt x="16" y="234"/>
                </a:lnTo>
                <a:lnTo>
                  <a:pt x="0" y="235"/>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Freeform 33"/>
          <p:cNvSpPr/>
          <p:nvPr/>
        </p:nvSpPr>
        <p:spPr>
          <a:xfrm>
            <a:off x="2057400" y="3095625"/>
            <a:ext cx="3743325" cy="1228725"/>
          </a:xfrm>
          <a:custGeom>
            <a:avLst/>
            <a:gdLst/>
            <a:ahLst/>
            <a:cxnLst/>
            <a:rect l="l" t="t" r="r" b="b"/>
            <a:pathLst>
              <a:path w="393" h="129">
                <a:moveTo>
                  <a:pt x="0" y="116"/>
                </a:moveTo>
                <a:lnTo>
                  <a:pt x="16" y="116"/>
                </a:lnTo>
                <a:lnTo>
                  <a:pt x="33" y="114"/>
                </a:lnTo>
                <a:lnTo>
                  <a:pt x="49" y="111"/>
                </a:lnTo>
                <a:lnTo>
                  <a:pt x="65" y="108"/>
                </a:lnTo>
                <a:lnTo>
                  <a:pt x="82" y="103"/>
                </a:lnTo>
                <a:lnTo>
                  <a:pt x="98" y="98"/>
                </a:lnTo>
                <a:lnTo>
                  <a:pt x="114" y="92"/>
                </a:lnTo>
                <a:lnTo>
                  <a:pt x="131" y="86"/>
                </a:lnTo>
                <a:lnTo>
                  <a:pt x="147" y="80"/>
                </a:lnTo>
                <a:lnTo>
                  <a:pt x="164" y="73"/>
                </a:lnTo>
                <a:lnTo>
                  <a:pt x="180" y="65"/>
                </a:lnTo>
                <a:lnTo>
                  <a:pt x="196" y="58"/>
                </a:lnTo>
                <a:lnTo>
                  <a:pt x="213" y="51"/>
                </a:lnTo>
                <a:lnTo>
                  <a:pt x="229" y="44"/>
                </a:lnTo>
                <a:lnTo>
                  <a:pt x="246" y="37"/>
                </a:lnTo>
                <a:lnTo>
                  <a:pt x="262" y="30"/>
                </a:lnTo>
                <a:lnTo>
                  <a:pt x="278" y="24"/>
                </a:lnTo>
                <a:lnTo>
                  <a:pt x="295" y="18"/>
                </a:lnTo>
                <a:lnTo>
                  <a:pt x="311" y="13"/>
                </a:lnTo>
                <a:lnTo>
                  <a:pt x="327" y="9"/>
                </a:lnTo>
                <a:lnTo>
                  <a:pt x="344" y="5"/>
                </a:lnTo>
                <a:lnTo>
                  <a:pt x="360" y="2"/>
                </a:lnTo>
                <a:lnTo>
                  <a:pt x="377" y="1"/>
                </a:lnTo>
                <a:lnTo>
                  <a:pt x="393" y="0"/>
                </a:lnTo>
                <a:lnTo>
                  <a:pt x="393" y="13"/>
                </a:lnTo>
                <a:lnTo>
                  <a:pt x="377" y="13"/>
                </a:lnTo>
                <a:lnTo>
                  <a:pt x="360" y="15"/>
                </a:lnTo>
                <a:lnTo>
                  <a:pt x="344" y="18"/>
                </a:lnTo>
                <a:lnTo>
                  <a:pt x="327" y="21"/>
                </a:lnTo>
                <a:lnTo>
                  <a:pt x="311" y="26"/>
                </a:lnTo>
                <a:lnTo>
                  <a:pt x="295" y="31"/>
                </a:lnTo>
                <a:lnTo>
                  <a:pt x="278" y="37"/>
                </a:lnTo>
                <a:lnTo>
                  <a:pt x="262" y="43"/>
                </a:lnTo>
                <a:lnTo>
                  <a:pt x="246" y="49"/>
                </a:lnTo>
                <a:lnTo>
                  <a:pt x="229" y="56"/>
                </a:lnTo>
                <a:lnTo>
                  <a:pt x="213" y="64"/>
                </a:lnTo>
                <a:lnTo>
                  <a:pt x="196" y="71"/>
                </a:lnTo>
                <a:lnTo>
                  <a:pt x="180" y="78"/>
                </a:lnTo>
                <a:lnTo>
                  <a:pt x="164" y="85"/>
                </a:lnTo>
                <a:lnTo>
                  <a:pt x="147" y="92"/>
                </a:lnTo>
                <a:lnTo>
                  <a:pt x="131" y="99"/>
                </a:lnTo>
                <a:lnTo>
                  <a:pt x="114" y="105"/>
                </a:lnTo>
                <a:lnTo>
                  <a:pt x="98" y="111"/>
                </a:lnTo>
                <a:lnTo>
                  <a:pt x="82" y="116"/>
                </a:lnTo>
                <a:lnTo>
                  <a:pt x="65" y="120"/>
                </a:lnTo>
                <a:lnTo>
                  <a:pt x="49" y="124"/>
                </a:lnTo>
                <a:lnTo>
                  <a:pt x="33" y="127"/>
                </a:lnTo>
                <a:lnTo>
                  <a:pt x="16" y="128"/>
                </a:lnTo>
                <a:lnTo>
                  <a:pt x="0" y="129"/>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2057400" y="4114800"/>
            <a:ext cx="3743325" cy="342900"/>
          </a:xfrm>
          <a:custGeom>
            <a:avLst/>
            <a:gdLst/>
            <a:ahLst/>
            <a:cxnLst/>
            <a:rect l="l" t="t" r="r" b="b"/>
            <a:pathLst>
              <a:path w="393" h="36">
                <a:moveTo>
                  <a:pt x="0" y="22"/>
                </a:moveTo>
                <a:lnTo>
                  <a:pt x="16" y="22"/>
                </a:lnTo>
                <a:lnTo>
                  <a:pt x="33" y="22"/>
                </a:lnTo>
                <a:lnTo>
                  <a:pt x="49" y="21"/>
                </a:lnTo>
                <a:lnTo>
                  <a:pt x="65" y="20"/>
                </a:lnTo>
                <a:lnTo>
                  <a:pt x="82" y="20"/>
                </a:lnTo>
                <a:lnTo>
                  <a:pt x="98" y="19"/>
                </a:lnTo>
                <a:lnTo>
                  <a:pt x="114" y="17"/>
                </a:lnTo>
                <a:lnTo>
                  <a:pt x="131" y="16"/>
                </a:lnTo>
                <a:lnTo>
                  <a:pt x="147" y="15"/>
                </a:lnTo>
                <a:lnTo>
                  <a:pt x="164" y="14"/>
                </a:lnTo>
                <a:lnTo>
                  <a:pt x="180" y="12"/>
                </a:lnTo>
                <a:lnTo>
                  <a:pt x="196" y="11"/>
                </a:lnTo>
                <a:lnTo>
                  <a:pt x="213" y="10"/>
                </a:lnTo>
                <a:lnTo>
                  <a:pt x="229" y="8"/>
                </a:lnTo>
                <a:lnTo>
                  <a:pt x="246" y="7"/>
                </a:lnTo>
                <a:lnTo>
                  <a:pt x="262" y="6"/>
                </a:lnTo>
                <a:lnTo>
                  <a:pt x="278" y="5"/>
                </a:lnTo>
                <a:lnTo>
                  <a:pt x="295" y="4"/>
                </a:lnTo>
                <a:lnTo>
                  <a:pt x="311" y="3"/>
                </a:lnTo>
                <a:lnTo>
                  <a:pt x="327" y="2"/>
                </a:lnTo>
                <a:lnTo>
                  <a:pt x="344" y="1"/>
                </a:lnTo>
                <a:lnTo>
                  <a:pt x="360" y="1"/>
                </a:lnTo>
                <a:lnTo>
                  <a:pt x="377" y="0"/>
                </a:lnTo>
                <a:lnTo>
                  <a:pt x="393" y="0"/>
                </a:lnTo>
                <a:lnTo>
                  <a:pt x="393" y="14"/>
                </a:lnTo>
                <a:lnTo>
                  <a:pt x="377" y="14"/>
                </a:lnTo>
                <a:lnTo>
                  <a:pt x="360" y="14"/>
                </a:lnTo>
                <a:lnTo>
                  <a:pt x="344" y="15"/>
                </a:lnTo>
                <a:lnTo>
                  <a:pt x="327" y="15"/>
                </a:lnTo>
                <a:lnTo>
                  <a:pt x="311" y="16"/>
                </a:lnTo>
                <a:lnTo>
                  <a:pt x="295" y="17"/>
                </a:lnTo>
                <a:lnTo>
                  <a:pt x="278" y="18"/>
                </a:lnTo>
                <a:lnTo>
                  <a:pt x="262" y="19"/>
                </a:lnTo>
                <a:lnTo>
                  <a:pt x="246" y="21"/>
                </a:lnTo>
                <a:lnTo>
                  <a:pt x="229" y="22"/>
                </a:lnTo>
                <a:lnTo>
                  <a:pt x="213" y="23"/>
                </a:lnTo>
                <a:lnTo>
                  <a:pt x="196" y="25"/>
                </a:lnTo>
                <a:lnTo>
                  <a:pt x="180" y="26"/>
                </a:lnTo>
                <a:lnTo>
                  <a:pt x="164" y="27"/>
                </a:lnTo>
                <a:lnTo>
                  <a:pt x="147" y="29"/>
                </a:lnTo>
                <a:lnTo>
                  <a:pt x="131" y="30"/>
                </a:lnTo>
                <a:lnTo>
                  <a:pt x="114" y="31"/>
                </a:lnTo>
                <a:lnTo>
                  <a:pt x="98" y="32"/>
                </a:lnTo>
                <a:lnTo>
                  <a:pt x="82" y="33"/>
                </a:lnTo>
                <a:lnTo>
                  <a:pt x="65" y="34"/>
                </a:lnTo>
                <a:lnTo>
                  <a:pt x="49" y="35"/>
                </a:lnTo>
                <a:lnTo>
                  <a:pt x="33" y="35"/>
                </a:lnTo>
                <a:lnTo>
                  <a:pt x="16" y="35"/>
                </a:lnTo>
                <a:lnTo>
                  <a:pt x="0" y="36"/>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Freeform 35"/>
          <p:cNvSpPr/>
          <p:nvPr/>
        </p:nvSpPr>
        <p:spPr>
          <a:xfrm>
            <a:off x="2057400" y="4457700"/>
            <a:ext cx="3743325" cy="619125"/>
          </a:xfrm>
          <a:custGeom>
            <a:avLst/>
            <a:gdLst/>
            <a:ahLst/>
            <a:cxnLst/>
            <a:rect l="l" t="t" r="r" b="b"/>
            <a:pathLst>
              <a:path w="393" h="65">
                <a:moveTo>
                  <a:pt x="0" y="0"/>
                </a:moveTo>
                <a:lnTo>
                  <a:pt x="16" y="0"/>
                </a:lnTo>
                <a:lnTo>
                  <a:pt x="33" y="1"/>
                </a:lnTo>
                <a:lnTo>
                  <a:pt x="49" y="2"/>
                </a:lnTo>
                <a:lnTo>
                  <a:pt x="65" y="4"/>
                </a:lnTo>
                <a:lnTo>
                  <a:pt x="82" y="6"/>
                </a:lnTo>
                <a:lnTo>
                  <a:pt x="98" y="8"/>
                </a:lnTo>
                <a:lnTo>
                  <a:pt x="114" y="11"/>
                </a:lnTo>
                <a:lnTo>
                  <a:pt x="131" y="14"/>
                </a:lnTo>
                <a:lnTo>
                  <a:pt x="147" y="17"/>
                </a:lnTo>
                <a:lnTo>
                  <a:pt x="164" y="20"/>
                </a:lnTo>
                <a:lnTo>
                  <a:pt x="180" y="24"/>
                </a:lnTo>
                <a:lnTo>
                  <a:pt x="196" y="27"/>
                </a:lnTo>
                <a:lnTo>
                  <a:pt x="213" y="31"/>
                </a:lnTo>
                <a:lnTo>
                  <a:pt x="229" y="34"/>
                </a:lnTo>
                <a:lnTo>
                  <a:pt x="246" y="38"/>
                </a:lnTo>
                <a:lnTo>
                  <a:pt x="262" y="41"/>
                </a:lnTo>
                <a:lnTo>
                  <a:pt x="278" y="44"/>
                </a:lnTo>
                <a:lnTo>
                  <a:pt x="295" y="46"/>
                </a:lnTo>
                <a:lnTo>
                  <a:pt x="311" y="49"/>
                </a:lnTo>
                <a:lnTo>
                  <a:pt x="327" y="51"/>
                </a:lnTo>
                <a:lnTo>
                  <a:pt x="344" y="53"/>
                </a:lnTo>
                <a:lnTo>
                  <a:pt x="360" y="54"/>
                </a:lnTo>
                <a:lnTo>
                  <a:pt x="377" y="55"/>
                </a:lnTo>
                <a:lnTo>
                  <a:pt x="393" y="55"/>
                </a:lnTo>
                <a:lnTo>
                  <a:pt x="393" y="65"/>
                </a:lnTo>
                <a:lnTo>
                  <a:pt x="377" y="64"/>
                </a:lnTo>
                <a:lnTo>
                  <a:pt x="360" y="64"/>
                </a:lnTo>
                <a:lnTo>
                  <a:pt x="344" y="62"/>
                </a:lnTo>
                <a:lnTo>
                  <a:pt x="327" y="61"/>
                </a:lnTo>
                <a:lnTo>
                  <a:pt x="311" y="59"/>
                </a:lnTo>
                <a:lnTo>
                  <a:pt x="295" y="56"/>
                </a:lnTo>
                <a:lnTo>
                  <a:pt x="278" y="53"/>
                </a:lnTo>
                <a:lnTo>
                  <a:pt x="262" y="50"/>
                </a:lnTo>
                <a:lnTo>
                  <a:pt x="246" y="47"/>
                </a:lnTo>
                <a:lnTo>
                  <a:pt x="229" y="44"/>
                </a:lnTo>
                <a:lnTo>
                  <a:pt x="213" y="40"/>
                </a:lnTo>
                <a:lnTo>
                  <a:pt x="196" y="37"/>
                </a:lnTo>
                <a:lnTo>
                  <a:pt x="180" y="34"/>
                </a:lnTo>
                <a:lnTo>
                  <a:pt x="164" y="30"/>
                </a:lnTo>
                <a:lnTo>
                  <a:pt x="147" y="27"/>
                </a:lnTo>
                <a:lnTo>
                  <a:pt x="131" y="24"/>
                </a:lnTo>
                <a:lnTo>
                  <a:pt x="114" y="21"/>
                </a:lnTo>
                <a:lnTo>
                  <a:pt x="98" y="18"/>
                </a:lnTo>
                <a:lnTo>
                  <a:pt x="82" y="16"/>
                </a:lnTo>
                <a:lnTo>
                  <a:pt x="65" y="13"/>
                </a:lnTo>
                <a:lnTo>
                  <a:pt x="49" y="12"/>
                </a:lnTo>
                <a:lnTo>
                  <a:pt x="33" y="10"/>
                </a:lnTo>
                <a:lnTo>
                  <a:pt x="16" y="10"/>
                </a:lnTo>
                <a:lnTo>
                  <a:pt x="0" y="9"/>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Freeform 36"/>
          <p:cNvSpPr/>
          <p:nvPr/>
        </p:nvSpPr>
        <p:spPr>
          <a:xfrm>
            <a:off x="2057400" y="4543425"/>
            <a:ext cx="3743325" cy="1104900"/>
          </a:xfrm>
          <a:custGeom>
            <a:avLst/>
            <a:gdLst/>
            <a:ahLst/>
            <a:cxnLst/>
            <a:rect l="l" t="t" r="r" b="b"/>
            <a:pathLst>
              <a:path w="393" h="116">
                <a:moveTo>
                  <a:pt x="0" y="0"/>
                </a:moveTo>
                <a:lnTo>
                  <a:pt x="16" y="1"/>
                </a:lnTo>
                <a:lnTo>
                  <a:pt x="33" y="2"/>
                </a:lnTo>
                <a:lnTo>
                  <a:pt x="49" y="5"/>
                </a:lnTo>
                <a:lnTo>
                  <a:pt x="65" y="8"/>
                </a:lnTo>
                <a:lnTo>
                  <a:pt x="82" y="13"/>
                </a:lnTo>
                <a:lnTo>
                  <a:pt x="98" y="18"/>
                </a:lnTo>
                <a:lnTo>
                  <a:pt x="114" y="23"/>
                </a:lnTo>
                <a:lnTo>
                  <a:pt x="131" y="29"/>
                </a:lnTo>
                <a:lnTo>
                  <a:pt x="147" y="35"/>
                </a:lnTo>
                <a:lnTo>
                  <a:pt x="164" y="42"/>
                </a:lnTo>
                <a:lnTo>
                  <a:pt x="180" y="49"/>
                </a:lnTo>
                <a:lnTo>
                  <a:pt x="196" y="56"/>
                </a:lnTo>
                <a:lnTo>
                  <a:pt x="213" y="63"/>
                </a:lnTo>
                <a:lnTo>
                  <a:pt x="229" y="69"/>
                </a:lnTo>
                <a:lnTo>
                  <a:pt x="246" y="76"/>
                </a:lnTo>
                <a:lnTo>
                  <a:pt x="262" y="82"/>
                </a:lnTo>
                <a:lnTo>
                  <a:pt x="278" y="88"/>
                </a:lnTo>
                <a:lnTo>
                  <a:pt x="295" y="94"/>
                </a:lnTo>
                <a:lnTo>
                  <a:pt x="311" y="99"/>
                </a:lnTo>
                <a:lnTo>
                  <a:pt x="327" y="103"/>
                </a:lnTo>
                <a:lnTo>
                  <a:pt x="344" y="106"/>
                </a:lnTo>
                <a:lnTo>
                  <a:pt x="360" y="109"/>
                </a:lnTo>
                <a:lnTo>
                  <a:pt x="377" y="111"/>
                </a:lnTo>
                <a:lnTo>
                  <a:pt x="393" y="111"/>
                </a:lnTo>
                <a:lnTo>
                  <a:pt x="393" y="116"/>
                </a:lnTo>
                <a:lnTo>
                  <a:pt x="377" y="115"/>
                </a:lnTo>
                <a:lnTo>
                  <a:pt x="360" y="113"/>
                </a:lnTo>
                <a:lnTo>
                  <a:pt x="344" y="111"/>
                </a:lnTo>
                <a:lnTo>
                  <a:pt x="327" y="107"/>
                </a:lnTo>
                <a:lnTo>
                  <a:pt x="311" y="103"/>
                </a:lnTo>
                <a:lnTo>
                  <a:pt x="295" y="98"/>
                </a:lnTo>
                <a:lnTo>
                  <a:pt x="278" y="93"/>
                </a:lnTo>
                <a:lnTo>
                  <a:pt x="262" y="87"/>
                </a:lnTo>
                <a:lnTo>
                  <a:pt x="246" y="80"/>
                </a:lnTo>
                <a:lnTo>
                  <a:pt x="229" y="74"/>
                </a:lnTo>
                <a:lnTo>
                  <a:pt x="213" y="67"/>
                </a:lnTo>
                <a:lnTo>
                  <a:pt x="196" y="60"/>
                </a:lnTo>
                <a:lnTo>
                  <a:pt x="180" y="53"/>
                </a:lnTo>
                <a:lnTo>
                  <a:pt x="164" y="46"/>
                </a:lnTo>
                <a:lnTo>
                  <a:pt x="147" y="40"/>
                </a:lnTo>
                <a:lnTo>
                  <a:pt x="131" y="33"/>
                </a:lnTo>
                <a:lnTo>
                  <a:pt x="114" y="27"/>
                </a:lnTo>
                <a:lnTo>
                  <a:pt x="98" y="22"/>
                </a:lnTo>
                <a:lnTo>
                  <a:pt x="82" y="17"/>
                </a:lnTo>
                <a:lnTo>
                  <a:pt x="65" y="13"/>
                </a:lnTo>
                <a:lnTo>
                  <a:pt x="49" y="9"/>
                </a:lnTo>
                <a:lnTo>
                  <a:pt x="33" y="7"/>
                </a:lnTo>
                <a:lnTo>
                  <a:pt x="16" y="5"/>
                </a:lnTo>
                <a:lnTo>
                  <a:pt x="0" y="5"/>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Freeform 37"/>
          <p:cNvSpPr/>
          <p:nvPr/>
        </p:nvSpPr>
        <p:spPr>
          <a:xfrm>
            <a:off x="2057400" y="4591050"/>
            <a:ext cx="3743325" cy="1466850"/>
          </a:xfrm>
          <a:custGeom>
            <a:avLst/>
            <a:gdLst/>
            <a:ahLst/>
            <a:cxnLst/>
            <a:rect l="l" t="t" r="r" b="b"/>
            <a:pathLst>
              <a:path w="393" h="154">
                <a:moveTo>
                  <a:pt x="0" y="0"/>
                </a:moveTo>
                <a:lnTo>
                  <a:pt x="16" y="0"/>
                </a:lnTo>
                <a:lnTo>
                  <a:pt x="33" y="3"/>
                </a:lnTo>
                <a:lnTo>
                  <a:pt x="49" y="6"/>
                </a:lnTo>
                <a:lnTo>
                  <a:pt x="65" y="11"/>
                </a:lnTo>
                <a:lnTo>
                  <a:pt x="82" y="17"/>
                </a:lnTo>
                <a:lnTo>
                  <a:pt x="98" y="23"/>
                </a:lnTo>
                <a:lnTo>
                  <a:pt x="114" y="31"/>
                </a:lnTo>
                <a:lnTo>
                  <a:pt x="131" y="39"/>
                </a:lnTo>
                <a:lnTo>
                  <a:pt x="147" y="47"/>
                </a:lnTo>
                <a:lnTo>
                  <a:pt x="164" y="56"/>
                </a:lnTo>
                <a:lnTo>
                  <a:pt x="180" y="65"/>
                </a:lnTo>
                <a:lnTo>
                  <a:pt x="196" y="75"/>
                </a:lnTo>
                <a:lnTo>
                  <a:pt x="213" y="84"/>
                </a:lnTo>
                <a:lnTo>
                  <a:pt x="229" y="93"/>
                </a:lnTo>
                <a:lnTo>
                  <a:pt x="246" y="102"/>
                </a:lnTo>
                <a:lnTo>
                  <a:pt x="262" y="111"/>
                </a:lnTo>
                <a:lnTo>
                  <a:pt x="278" y="119"/>
                </a:lnTo>
                <a:lnTo>
                  <a:pt x="295" y="127"/>
                </a:lnTo>
                <a:lnTo>
                  <a:pt x="311" y="133"/>
                </a:lnTo>
                <a:lnTo>
                  <a:pt x="327" y="139"/>
                </a:lnTo>
                <a:lnTo>
                  <a:pt x="344" y="144"/>
                </a:lnTo>
                <a:lnTo>
                  <a:pt x="360" y="147"/>
                </a:lnTo>
                <a:lnTo>
                  <a:pt x="377" y="149"/>
                </a:lnTo>
                <a:lnTo>
                  <a:pt x="393" y="150"/>
                </a:lnTo>
                <a:lnTo>
                  <a:pt x="393" y="154"/>
                </a:lnTo>
                <a:lnTo>
                  <a:pt x="377" y="154"/>
                </a:lnTo>
                <a:lnTo>
                  <a:pt x="360" y="151"/>
                </a:lnTo>
                <a:lnTo>
                  <a:pt x="344" y="148"/>
                </a:lnTo>
                <a:lnTo>
                  <a:pt x="327" y="143"/>
                </a:lnTo>
                <a:lnTo>
                  <a:pt x="311" y="138"/>
                </a:lnTo>
                <a:lnTo>
                  <a:pt x="295" y="131"/>
                </a:lnTo>
                <a:lnTo>
                  <a:pt x="278" y="124"/>
                </a:lnTo>
                <a:lnTo>
                  <a:pt x="262" y="115"/>
                </a:lnTo>
                <a:lnTo>
                  <a:pt x="246" y="107"/>
                </a:lnTo>
                <a:lnTo>
                  <a:pt x="229" y="98"/>
                </a:lnTo>
                <a:lnTo>
                  <a:pt x="213" y="89"/>
                </a:lnTo>
                <a:lnTo>
                  <a:pt x="196" y="79"/>
                </a:lnTo>
                <a:lnTo>
                  <a:pt x="180" y="70"/>
                </a:lnTo>
                <a:lnTo>
                  <a:pt x="164" y="61"/>
                </a:lnTo>
                <a:lnTo>
                  <a:pt x="147" y="52"/>
                </a:lnTo>
                <a:lnTo>
                  <a:pt x="131" y="43"/>
                </a:lnTo>
                <a:lnTo>
                  <a:pt x="114" y="35"/>
                </a:lnTo>
                <a:lnTo>
                  <a:pt x="98" y="28"/>
                </a:lnTo>
                <a:lnTo>
                  <a:pt x="82" y="21"/>
                </a:lnTo>
                <a:lnTo>
                  <a:pt x="65" y="15"/>
                </a:lnTo>
                <a:lnTo>
                  <a:pt x="49" y="11"/>
                </a:lnTo>
                <a:lnTo>
                  <a:pt x="33" y="7"/>
                </a:lnTo>
                <a:lnTo>
                  <a:pt x="16" y="5"/>
                </a:lnTo>
                <a:lnTo>
                  <a:pt x="0" y="4"/>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Freeform 38"/>
          <p:cNvSpPr/>
          <p:nvPr/>
        </p:nvSpPr>
        <p:spPr>
          <a:xfrm>
            <a:off x="2057400" y="4629150"/>
            <a:ext cx="3743325" cy="1762125"/>
          </a:xfrm>
          <a:custGeom>
            <a:avLst/>
            <a:gdLst/>
            <a:ahLst/>
            <a:cxnLst/>
            <a:rect l="l" t="t" r="r" b="b"/>
            <a:pathLst>
              <a:path w="393" h="185">
                <a:moveTo>
                  <a:pt x="0" y="0"/>
                </a:moveTo>
                <a:lnTo>
                  <a:pt x="16" y="1"/>
                </a:lnTo>
                <a:lnTo>
                  <a:pt x="33" y="4"/>
                </a:lnTo>
                <a:lnTo>
                  <a:pt x="49" y="8"/>
                </a:lnTo>
                <a:lnTo>
                  <a:pt x="65" y="14"/>
                </a:lnTo>
                <a:lnTo>
                  <a:pt x="82" y="20"/>
                </a:lnTo>
                <a:lnTo>
                  <a:pt x="98" y="28"/>
                </a:lnTo>
                <a:lnTo>
                  <a:pt x="114" y="37"/>
                </a:lnTo>
                <a:lnTo>
                  <a:pt x="131" y="47"/>
                </a:lnTo>
                <a:lnTo>
                  <a:pt x="147" y="57"/>
                </a:lnTo>
                <a:lnTo>
                  <a:pt x="164" y="68"/>
                </a:lnTo>
                <a:lnTo>
                  <a:pt x="180" y="79"/>
                </a:lnTo>
                <a:lnTo>
                  <a:pt x="196" y="91"/>
                </a:lnTo>
                <a:lnTo>
                  <a:pt x="213" y="102"/>
                </a:lnTo>
                <a:lnTo>
                  <a:pt x="229" y="113"/>
                </a:lnTo>
                <a:lnTo>
                  <a:pt x="246" y="124"/>
                </a:lnTo>
                <a:lnTo>
                  <a:pt x="262" y="134"/>
                </a:lnTo>
                <a:lnTo>
                  <a:pt x="278" y="144"/>
                </a:lnTo>
                <a:lnTo>
                  <a:pt x="295" y="153"/>
                </a:lnTo>
                <a:lnTo>
                  <a:pt x="311" y="161"/>
                </a:lnTo>
                <a:lnTo>
                  <a:pt x="327" y="168"/>
                </a:lnTo>
                <a:lnTo>
                  <a:pt x="344" y="174"/>
                </a:lnTo>
                <a:lnTo>
                  <a:pt x="360" y="178"/>
                </a:lnTo>
                <a:lnTo>
                  <a:pt x="377" y="180"/>
                </a:lnTo>
                <a:lnTo>
                  <a:pt x="393" y="181"/>
                </a:lnTo>
                <a:lnTo>
                  <a:pt x="393" y="185"/>
                </a:lnTo>
                <a:lnTo>
                  <a:pt x="377" y="184"/>
                </a:lnTo>
                <a:lnTo>
                  <a:pt x="360" y="181"/>
                </a:lnTo>
                <a:lnTo>
                  <a:pt x="344" y="177"/>
                </a:lnTo>
                <a:lnTo>
                  <a:pt x="327" y="171"/>
                </a:lnTo>
                <a:lnTo>
                  <a:pt x="311" y="164"/>
                </a:lnTo>
                <a:lnTo>
                  <a:pt x="295" y="156"/>
                </a:lnTo>
                <a:lnTo>
                  <a:pt x="278" y="147"/>
                </a:lnTo>
                <a:lnTo>
                  <a:pt x="262" y="138"/>
                </a:lnTo>
                <a:lnTo>
                  <a:pt x="246" y="127"/>
                </a:lnTo>
                <a:lnTo>
                  <a:pt x="229" y="116"/>
                </a:lnTo>
                <a:lnTo>
                  <a:pt x="213" y="105"/>
                </a:lnTo>
                <a:lnTo>
                  <a:pt x="196" y="94"/>
                </a:lnTo>
                <a:lnTo>
                  <a:pt x="180" y="83"/>
                </a:lnTo>
                <a:lnTo>
                  <a:pt x="164" y="71"/>
                </a:lnTo>
                <a:lnTo>
                  <a:pt x="147" y="61"/>
                </a:lnTo>
                <a:lnTo>
                  <a:pt x="131" y="50"/>
                </a:lnTo>
                <a:lnTo>
                  <a:pt x="114" y="41"/>
                </a:lnTo>
                <a:lnTo>
                  <a:pt x="98" y="32"/>
                </a:lnTo>
                <a:lnTo>
                  <a:pt x="82" y="24"/>
                </a:lnTo>
                <a:lnTo>
                  <a:pt x="65" y="17"/>
                </a:lnTo>
                <a:lnTo>
                  <a:pt x="49" y="11"/>
                </a:lnTo>
                <a:lnTo>
                  <a:pt x="33" y="7"/>
                </a:lnTo>
                <a:lnTo>
                  <a:pt x="16" y="4"/>
                </a:lnTo>
                <a:lnTo>
                  <a:pt x="0" y="3"/>
                </a:lnTo>
                <a:close/>
              </a:path>
            </a:pathLst>
          </a:custGeom>
          <a:solidFill>
            <a:srgbClr val="40315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057400" y="2114550"/>
            <a:ext cx="3743325" cy="2743200"/>
          </a:xfrm>
          <a:custGeom>
            <a:avLst/>
            <a:gdLst/>
            <a:ahLst/>
            <a:cxnLst/>
            <a:rect l="l" t="t" r="r" b="b"/>
            <a:pathLst>
              <a:path w="393" h="288">
                <a:moveTo>
                  <a:pt x="0" y="273"/>
                </a:moveTo>
                <a:lnTo>
                  <a:pt x="16" y="272"/>
                </a:lnTo>
                <a:lnTo>
                  <a:pt x="33" y="268"/>
                </a:lnTo>
                <a:lnTo>
                  <a:pt x="49" y="262"/>
                </a:lnTo>
                <a:lnTo>
                  <a:pt x="65" y="253"/>
                </a:lnTo>
                <a:lnTo>
                  <a:pt x="82" y="243"/>
                </a:lnTo>
                <a:lnTo>
                  <a:pt x="98" y="231"/>
                </a:lnTo>
                <a:lnTo>
                  <a:pt x="114" y="217"/>
                </a:lnTo>
                <a:lnTo>
                  <a:pt x="131" y="202"/>
                </a:lnTo>
                <a:lnTo>
                  <a:pt x="147" y="187"/>
                </a:lnTo>
                <a:lnTo>
                  <a:pt x="164" y="171"/>
                </a:lnTo>
                <a:lnTo>
                  <a:pt x="180" y="154"/>
                </a:lnTo>
                <a:lnTo>
                  <a:pt x="196" y="137"/>
                </a:lnTo>
                <a:lnTo>
                  <a:pt x="213" y="120"/>
                </a:lnTo>
                <a:lnTo>
                  <a:pt x="229" y="103"/>
                </a:lnTo>
                <a:lnTo>
                  <a:pt x="246" y="87"/>
                </a:lnTo>
                <a:lnTo>
                  <a:pt x="262" y="71"/>
                </a:lnTo>
                <a:lnTo>
                  <a:pt x="278" y="56"/>
                </a:lnTo>
                <a:lnTo>
                  <a:pt x="295" y="43"/>
                </a:lnTo>
                <a:lnTo>
                  <a:pt x="311" y="31"/>
                </a:lnTo>
                <a:lnTo>
                  <a:pt x="327" y="21"/>
                </a:lnTo>
                <a:lnTo>
                  <a:pt x="344" y="12"/>
                </a:lnTo>
                <a:lnTo>
                  <a:pt x="360" y="6"/>
                </a:lnTo>
                <a:lnTo>
                  <a:pt x="377" y="2"/>
                </a:lnTo>
                <a:lnTo>
                  <a:pt x="393" y="0"/>
                </a:lnTo>
                <a:lnTo>
                  <a:pt x="393" y="15"/>
                </a:lnTo>
                <a:lnTo>
                  <a:pt x="377" y="16"/>
                </a:lnTo>
                <a:lnTo>
                  <a:pt x="360" y="20"/>
                </a:lnTo>
                <a:lnTo>
                  <a:pt x="344" y="26"/>
                </a:lnTo>
                <a:lnTo>
                  <a:pt x="327" y="35"/>
                </a:lnTo>
                <a:lnTo>
                  <a:pt x="311" y="45"/>
                </a:lnTo>
                <a:lnTo>
                  <a:pt x="295" y="57"/>
                </a:lnTo>
                <a:lnTo>
                  <a:pt x="278" y="71"/>
                </a:lnTo>
                <a:lnTo>
                  <a:pt x="262" y="85"/>
                </a:lnTo>
                <a:lnTo>
                  <a:pt x="246" y="101"/>
                </a:lnTo>
                <a:lnTo>
                  <a:pt x="229" y="117"/>
                </a:lnTo>
                <a:lnTo>
                  <a:pt x="213" y="134"/>
                </a:lnTo>
                <a:lnTo>
                  <a:pt x="196" y="151"/>
                </a:lnTo>
                <a:lnTo>
                  <a:pt x="180" y="168"/>
                </a:lnTo>
                <a:lnTo>
                  <a:pt x="164" y="185"/>
                </a:lnTo>
                <a:lnTo>
                  <a:pt x="147" y="201"/>
                </a:lnTo>
                <a:lnTo>
                  <a:pt x="131" y="217"/>
                </a:lnTo>
                <a:lnTo>
                  <a:pt x="114" y="231"/>
                </a:lnTo>
                <a:lnTo>
                  <a:pt x="98" y="245"/>
                </a:lnTo>
                <a:lnTo>
                  <a:pt x="82" y="257"/>
                </a:lnTo>
                <a:lnTo>
                  <a:pt x="65" y="267"/>
                </a:lnTo>
                <a:lnTo>
                  <a:pt x="49" y="276"/>
                </a:lnTo>
                <a:lnTo>
                  <a:pt x="33" y="282"/>
                </a:lnTo>
                <a:lnTo>
                  <a:pt x="16" y="286"/>
                </a:lnTo>
                <a:lnTo>
                  <a:pt x="0" y="288"/>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Freeform 40"/>
          <p:cNvSpPr/>
          <p:nvPr/>
        </p:nvSpPr>
        <p:spPr>
          <a:xfrm>
            <a:off x="2057400" y="3219450"/>
            <a:ext cx="3743325" cy="1771650"/>
          </a:xfrm>
          <a:custGeom>
            <a:avLst/>
            <a:gdLst/>
            <a:ahLst/>
            <a:cxnLst/>
            <a:rect l="l" t="t" r="r" b="b"/>
            <a:pathLst>
              <a:path w="393" h="186">
                <a:moveTo>
                  <a:pt x="0" y="172"/>
                </a:moveTo>
                <a:lnTo>
                  <a:pt x="16" y="171"/>
                </a:lnTo>
                <a:lnTo>
                  <a:pt x="33" y="168"/>
                </a:lnTo>
                <a:lnTo>
                  <a:pt x="49" y="164"/>
                </a:lnTo>
                <a:lnTo>
                  <a:pt x="65" y="159"/>
                </a:lnTo>
                <a:lnTo>
                  <a:pt x="82" y="152"/>
                </a:lnTo>
                <a:lnTo>
                  <a:pt x="98" y="145"/>
                </a:lnTo>
                <a:lnTo>
                  <a:pt x="114" y="136"/>
                </a:lnTo>
                <a:lnTo>
                  <a:pt x="131" y="127"/>
                </a:lnTo>
                <a:lnTo>
                  <a:pt x="147" y="117"/>
                </a:lnTo>
                <a:lnTo>
                  <a:pt x="164" y="107"/>
                </a:lnTo>
                <a:lnTo>
                  <a:pt x="180" y="96"/>
                </a:lnTo>
                <a:lnTo>
                  <a:pt x="196" y="86"/>
                </a:lnTo>
                <a:lnTo>
                  <a:pt x="213" y="75"/>
                </a:lnTo>
                <a:lnTo>
                  <a:pt x="229" y="64"/>
                </a:lnTo>
                <a:lnTo>
                  <a:pt x="246" y="54"/>
                </a:lnTo>
                <a:lnTo>
                  <a:pt x="262" y="44"/>
                </a:lnTo>
                <a:lnTo>
                  <a:pt x="278" y="35"/>
                </a:lnTo>
                <a:lnTo>
                  <a:pt x="295" y="26"/>
                </a:lnTo>
                <a:lnTo>
                  <a:pt x="311" y="19"/>
                </a:lnTo>
                <a:lnTo>
                  <a:pt x="327" y="12"/>
                </a:lnTo>
                <a:lnTo>
                  <a:pt x="344" y="7"/>
                </a:lnTo>
                <a:lnTo>
                  <a:pt x="360" y="3"/>
                </a:lnTo>
                <a:lnTo>
                  <a:pt x="377" y="0"/>
                </a:lnTo>
                <a:lnTo>
                  <a:pt x="393" y="0"/>
                </a:lnTo>
                <a:lnTo>
                  <a:pt x="393" y="14"/>
                </a:lnTo>
                <a:lnTo>
                  <a:pt x="377" y="15"/>
                </a:lnTo>
                <a:lnTo>
                  <a:pt x="360" y="17"/>
                </a:lnTo>
                <a:lnTo>
                  <a:pt x="344" y="21"/>
                </a:lnTo>
                <a:lnTo>
                  <a:pt x="327" y="27"/>
                </a:lnTo>
                <a:lnTo>
                  <a:pt x="311" y="33"/>
                </a:lnTo>
                <a:lnTo>
                  <a:pt x="295" y="41"/>
                </a:lnTo>
                <a:lnTo>
                  <a:pt x="278" y="49"/>
                </a:lnTo>
                <a:lnTo>
                  <a:pt x="262" y="59"/>
                </a:lnTo>
                <a:lnTo>
                  <a:pt x="246" y="68"/>
                </a:lnTo>
                <a:lnTo>
                  <a:pt x="229" y="79"/>
                </a:lnTo>
                <a:lnTo>
                  <a:pt x="213" y="89"/>
                </a:lnTo>
                <a:lnTo>
                  <a:pt x="196" y="100"/>
                </a:lnTo>
                <a:lnTo>
                  <a:pt x="180" y="111"/>
                </a:lnTo>
                <a:lnTo>
                  <a:pt x="164" y="121"/>
                </a:lnTo>
                <a:lnTo>
                  <a:pt x="147" y="132"/>
                </a:lnTo>
                <a:lnTo>
                  <a:pt x="131" y="141"/>
                </a:lnTo>
                <a:lnTo>
                  <a:pt x="114" y="151"/>
                </a:lnTo>
                <a:lnTo>
                  <a:pt x="98" y="159"/>
                </a:lnTo>
                <a:lnTo>
                  <a:pt x="82" y="167"/>
                </a:lnTo>
                <a:lnTo>
                  <a:pt x="65" y="173"/>
                </a:lnTo>
                <a:lnTo>
                  <a:pt x="49" y="179"/>
                </a:lnTo>
                <a:lnTo>
                  <a:pt x="33" y="183"/>
                </a:lnTo>
                <a:lnTo>
                  <a:pt x="16" y="185"/>
                </a:lnTo>
                <a:lnTo>
                  <a:pt x="0" y="186"/>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057400" y="4248150"/>
            <a:ext cx="3743325" cy="847725"/>
          </a:xfrm>
          <a:custGeom>
            <a:avLst/>
            <a:gdLst/>
            <a:ahLst/>
            <a:cxnLst/>
            <a:rect l="l" t="t" r="r" b="b"/>
            <a:pathLst>
              <a:path w="393" h="89">
                <a:moveTo>
                  <a:pt x="0" y="78"/>
                </a:moveTo>
                <a:lnTo>
                  <a:pt x="16" y="78"/>
                </a:lnTo>
                <a:lnTo>
                  <a:pt x="33" y="76"/>
                </a:lnTo>
                <a:lnTo>
                  <a:pt x="49" y="75"/>
                </a:lnTo>
                <a:lnTo>
                  <a:pt x="65" y="72"/>
                </a:lnTo>
                <a:lnTo>
                  <a:pt x="82" y="69"/>
                </a:lnTo>
                <a:lnTo>
                  <a:pt x="98" y="66"/>
                </a:lnTo>
                <a:lnTo>
                  <a:pt x="114" y="62"/>
                </a:lnTo>
                <a:lnTo>
                  <a:pt x="131" y="58"/>
                </a:lnTo>
                <a:lnTo>
                  <a:pt x="147" y="53"/>
                </a:lnTo>
                <a:lnTo>
                  <a:pt x="164" y="49"/>
                </a:lnTo>
                <a:lnTo>
                  <a:pt x="180" y="44"/>
                </a:lnTo>
                <a:lnTo>
                  <a:pt x="196" y="39"/>
                </a:lnTo>
                <a:lnTo>
                  <a:pt x="213" y="34"/>
                </a:lnTo>
                <a:lnTo>
                  <a:pt x="229" y="29"/>
                </a:lnTo>
                <a:lnTo>
                  <a:pt x="246" y="24"/>
                </a:lnTo>
                <a:lnTo>
                  <a:pt x="262" y="20"/>
                </a:lnTo>
                <a:lnTo>
                  <a:pt x="278" y="16"/>
                </a:lnTo>
                <a:lnTo>
                  <a:pt x="295" y="12"/>
                </a:lnTo>
                <a:lnTo>
                  <a:pt x="311" y="9"/>
                </a:lnTo>
                <a:lnTo>
                  <a:pt x="327" y="6"/>
                </a:lnTo>
                <a:lnTo>
                  <a:pt x="344" y="3"/>
                </a:lnTo>
                <a:lnTo>
                  <a:pt x="360" y="1"/>
                </a:lnTo>
                <a:lnTo>
                  <a:pt x="377" y="0"/>
                </a:lnTo>
                <a:lnTo>
                  <a:pt x="393" y="0"/>
                </a:lnTo>
                <a:lnTo>
                  <a:pt x="393" y="11"/>
                </a:lnTo>
                <a:lnTo>
                  <a:pt x="377" y="11"/>
                </a:lnTo>
                <a:lnTo>
                  <a:pt x="360" y="12"/>
                </a:lnTo>
                <a:lnTo>
                  <a:pt x="344" y="14"/>
                </a:lnTo>
                <a:lnTo>
                  <a:pt x="327" y="16"/>
                </a:lnTo>
                <a:lnTo>
                  <a:pt x="311" y="19"/>
                </a:lnTo>
                <a:lnTo>
                  <a:pt x="295" y="23"/>
                </a:lnTo>
                <a:lnTo>
                  <a:pt x="278" y="27"/>
                </a:lnTo>
                <a:lnTo>
                  <a:pt x="262" y="31"/>
                </a:lnTo>
                <a:lnTo>
                  <a:pt x="246" y="35"/>
                </a:lnTo>
                <a:lnTo>
                  <a:pt x="229" y="40"/>
                </a:lnTo>
                <a:lnTo>
                  <a:pt x="213" y="45"/>
                </a:lnTo>
                <a:lnTo>
                  <a:pt x="196" y="50"/>
                </a:lnTo>
                <a:lnTo>
                  <a:pt x="180" y="55"/>
                </a:lnTo>
                <a:lnTo>
                  <a:pt x="164" y="59"/>
                </a:lnTo>
                <a:lnTo>
                  <a:pt x="147" y="64"/>
                </a:lnTo>
                <a:lnTo>
                  <a:pt x="131" y="69"/>
                </a:lnTo>
                <a:lnTo>
                  <a:pt x="114" y="73"/>
                </a:lnTo>
                <a:lnTo>
                  <a:pt x="98" y="77"/>
                </a:lnTo>
                <a:lnTo>
                  <a:pt x="82" y="80"/>
                </a:lnTo>
                <a:lnTo>
                  <a:pt x="65" y="83"/>
                </a:lnTo>
                <a:lnTo>
                  <a:pt x="49" y="85"/>
                </a:lnTo>
                <a:lnTo>
                  <a:pt x="33" y="87"/>
                </a:lnTo>
                <a:lnTo>
                  <a:pt x="16" y="88"/>
                </a:lnTo>
                <a:lnTo>
                  <a:pt x="0" y="89"/>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Freeform 42"/>
          <p:cNvSpPr/>
          <p:nvPr/>
        </p:nvSpPr>
        <p:spPr>
          <a:xfrm>
            <a:off x="2057400" y="5076825"/>
            <a:ext cx="3743325" cy="114300"/>
          </a:xfrm>
          <a:custGeom>
            <a:avLst/>
            <a:gdLst/>
            <a:ahLst/>
            <a:cxnLst/>
            <a:rect l="l" t="t" r="r" b="b"/>
            <a:pathLst>
              <a:path w="393" h="12">
                <a:moveTo>
                  <a:pt x="0" y="2"/>
                </a:moveTo>
                <a:lnTo>
                  <a:pt x="16" y="2"/>
                </a:lnTo>
                <a:lnTo>
                  <a:pt x="33" y="2"/>
                </a:lnTo>
                <a:lnTo>
                  <a:pt x="49" y="2"/>
                </a:lnTo>
                <a:lnTo>
                  <a:pt x="65" y="2"/>
                </a:lnTo>
                <a:lnTo>
                  <a:pt x="82" y="2"/>
                </a:lnTo>
                <a:lnTo>
                  <a:pt x="98" y="1"/>
                </a:lnTo>
                <a:lnTo>
                  <a:pt x="114" y="1"/>
                </a:lnTo>
                <a:lnTo>
                  <a:pt x="131" y="1"/>
                </a:lnTo>
                <a:lnTo>
                  <a:pt x="147" y="1"/>
                </a:lnTo>
                <a:lnTo>
                  <a:pt x="164" y="1"/>
                </a:lnTo>
                <a:lnTo>
                  <a:pt x="180" y="1"/>
                </a:lnTo>
                <a:lnTo>
                  <a:pt x="196" y="1"/>
                </a:lnTo>
                <a:lnTo>
                  <a:pt x="213" y="1"/>
                </a:lnTo>
                <a:lnTo>
                  <a:pt x="229" y="1"/>
                </a:lnTo>
                <a:lnTo>
                  <a:pt x="246" y="0"/>
                </a:lnTo>
                <a:lnTo>
                  <a:pt x="262" y="0"/>
                </a:lnTo>
                <a:lnTo>
                  <a:pt x="278" y="0"/>
                </a:lnTo>
                <a:lnTo>
                  <a:pt x="295" y="0"/>
                </a:lnTo>
                <a:lnTo>
                  <a:pt x="311" y="0"/>
                </a:lnTo>
                <a:lnTo>
                  <a:pt x="327" y="0"/>
                </a:lnTo>
                <a:lnTo>
                  <a:pt x="344" y="0"/>
                </a:lnTo>
                <a:lnTo>
                  <a:pt x="360" y="0"/>
                </a:lnTo>
                <a:lnTo>
                  <a:pt x="377" y="0"/>
                </a:lnTo>
                <a:lnTo>
                  <a:pt x="393" y="0"/>
                </a:lnTo>
                <a:lnTo>
                  <a:pt x="393" y="10"/>
                </a:lnTo>
                <a:lnTo>
                  <a:pt x="377" y="10"/>
                </a:lnTo>
                <a:lnTo>
                  <a:pt x="360" y="10"/>
                </a:lnTo>
                <a:lnTo>
                  <a:pt x="344" y="10"/>
                </a:lnTo>
                <a:lnTo>
                  <a:pt x="327" y="10"/>
                </a:lnTo>
                <a:lnTo>
                  <a:pt x="311" y="10"/>
                </a:lnTo>
                <a:lnTo>
                  <a:pt x="295" y="10"/>
                </a:lnTo>
                <a:lnTo>
                  <a:pt x="278" y="10"/>
                </a:lnTo>
                <a:lnTo>
                  <a:pt x="262" y="10"/>
                </a:lnTo>
                <a:lnTo>
                  <a:pt x="246" y="10"/>
                </a:lnTo>
                <a:lnTo>
                  <a:pt x="229" y="10"/>
                </a:lnTo>
                <a:lnTo>
                  <a:pt x="213" y="11"/>
                </a:lnTo>
                <a:lnTo>
                  <a:pt x="196" y="11"/>
                </a:lnTo>
                <a:lnTo>
                  <a:pt x="180" y="11"/>
                </a:lnTo>
                <a:lnTo>
                  <a:pt x="164" y="11"/>
                </a:lnTo>
                <a:lnTo>
                  <a:pt x="147" y="11"/>
                </a:lnTo>
                <a:lnTo>
                  <a:pt x="131" y="11"/>
                </a:lnTo>
                <a:lnTo>
                  <a:pt x="114" y="11"/>
                </a:lnTo>
                <a:lnTo>
                  <a:pt x="98" y="11"/>
                </a:lnTo>
                <a:lnTo>
                  <a:pt x="82" y="11"/>
                </a:lnTo>
                <a:lnTo>
                  <a:pt x="65" y="12"/>
                </a:lnTo>
                <a:lnTo>
                  <a:pt x="49" y="12"/>
                </a:lnTo>
                <a:lnTo>
                  <a:pt x="33" y="12"/>
                </a:lnTo>
                <a:lnTo>
                  <a:pt x="16" y="12"/>
                </a:lnTo>
                <a:lnTo>
                  <a:pt x="0" y="12"/>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reeform 43"/>
          <p:cNvSpPr/>
          <p:nvPr/>
        </p:nvSpPr>
        <p:spPr>
          <a:xfrm>
            <a:off x="2057400" y="5191125"/>
            <a:ext cx="3743325" cy="514350"/>
          </a:xfrm>
          <a:custGeom>
            <a:avLst/>
            <a:gdLst/>
            <a:ahLst/>
            <a:cxnLst/>
            <a:rect l="l" t="t" r="r" b="b"/>
            <a:pathLst>
              <a:path w="393" h="54">
                <a:moveTo>
                  <a:pt x="0" y="0"/>
                </a:moveTo>
                <a:lnTo>
                  <a:pt x="16" y="0"/>
                </a:lnTo>
                <a:lnTo>
                  <a:pt x="33" y="1"/>
                </a:lnTo>
                <a:lnTo>
                  <a:pt x="49" y="2"/>
                </a:lnTo>
                <a:lnTo>
                  <a:pt x="65" y="3"/>
                </a:lnTo>
                <a:lnTo>
                  <a:pt x="82" y="5"/>
                </a:lnTo>
                <a:lnTo>
                  <a:pt x="98" y="7"/>
                </a:lnTo>
                <a:lnTo>
                  <a:pt x="114" y="10"/>
                </a:lnTo>
                <a:lnTo>
                  <a:pt x="131" y="12"/>
                </a:lnTo>
                <a:lnTo>
                  <a:pt x="147" y="15"/>
                </a:lnTo>
                <a:lnTo>
                  <a:pt x="164" y="18"/>
                </a:lnTo>
                <a:lnTo>
                  <a:pt x="180" y="21"/>
                </a:lnTo>
                <a:lnTo>
                  <a:pt x="196" y="24"/>
                </a:lnTo>
                <a:lnTo>
                  <a:pt x="213" y="27"/>
                </a:lnTo>
                <a:lnTo>
                  <a:pt x="229" y="30"/>
                </a:lnTo>
                <a:lnTo>
                  <a:pt x="246" y="32"/>
                </a:lnTo>
                <a:lnTo>
                  <a:pt x="262" y="35"/>
                </a:lnTo>
                <a:lnTo>
                  <a:pt x="278" y="38"/>
                </a:lnTo>
                <a:lnTo>
                  <a:pt x="295" y="40"/>
                </a:lnTo>
                <a:lnTo>
                  <a:pt x="311" y="42"/>
                </a:lnTo>
                <a:lnTo>
                  <a:pt x="327" y="44"/>
                </a:lnTo>
                <a:lnTo>
                  <a:pt x="344" y="45"/>
                </a:lnTo>
                <a:lnTo>
                  <a:pt x="360" y="47"/>
                </a:lnTo>
                <a:lnTo>
                  <a:pt x="377" y="47"/>
                </a:lnTo>
                <a:lnTo>
                  <a:pt x="393" y="48"/>
                </a:lnTo>
                <a:lnTo>
                  <a:pt x="393" y="54"/>
                </a:lnTo>
                <a:lnTo>
                  <a:pt x="377" y="53"/>
                </a:lnTo>
                <a:lnTo>
                  <a:pt x="360" y="53"/>
                </a:lnTo>
                <a:lnTo>
                  <a:pt x="344" y="52"/>
                </a:lnTo>
                <a:lnTo>
                  <a:pt x="327" y="50"/>
                </a:lnTo>
                <a:lnTo>
                  <a:pt x="311" y="48"/>
                </a:lnTo>
                <a:lnTo>
                  <a:pt x="295" y="46"/>
                </a:lnTo>
                <a:lnTo>
                  <a:pt x="278" y="44"/>
                </a:lnTo>
                <a:lnTo>
                  <a:pt x="262" y="41"/>
                </a:lnTo>
                <a:lnTo>
                  <a:pt x="246" y="39"/>
                </a:lnTo>
                <a:lnTo>
                  <a:pt x="229" y="36"/>
                </a:lnTo>
                <a:lnTo>
                  <a:pt x="213" y="33"/>
                </a:lnTo>
                <a:lnTo>
                  <a:pt x="196" y="30"/>
                </a:lnTo>
                <a:lnTo>
                  <a:pt x="180" y="27"/>
                </a:lnTo>
                <a:lnTo>
                  <a:pt x="164" y="24"/>
                </a:lnTo>
                <a:lnTo>
                  <a:pt x="147" y="21"/>
                </a:lnTo>
                <a:lnTo>
                  <a:pt x="131" y="18"/>
                </a:lnTo>
                <a:lnTo>
                  <a:pt x="114" y="16"/>
                </a:lnTo>
                <a:lnTo>
                  <a:pt x="98" y="13"/>
                </a:lnTo>
                <a:lnTo>
                  <a:pt x="82" y="11"/>
                </a:lnTo>
                <a:lnTo>
                  <a:pt x="65" y="9"/>
                </a:lnTo>
                <a:lnTo>
                  <a:pt x="49" y="8"/>
                </a:lnTo>
                <a:lnTo>
                  <a:pt x="33" y="7"/>
                </a:lnTo>
                <a:lnTo>
                  <a:pt x="16" y="6"/>
                </a:lnTo>
                <a:lnTo>
                  <a:pt x="0" y="6"/>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Freeform 44"/>
          <p:cNvSpPr/>
          <p:nvPr/>
        </p:nvSpPr>
        <p:spPr>
          <a:xfrm>
            <a:off x="2057400" y="5248275"/>
            <a:ext cx="3743325" cy="847725"/>
          </a:xfrm>
          <a:custGeom>
            <a:avLst/>
            <a:gdLst/>
            <a:ahLst/>
            <a:cxnLst/>
            <a:rect l="l" t="t" r="r" b="b"/>
            <a:pathLst>
              <a:path w="393" h="89">
                <a:moveTo>
                  <a:pt x="0" y="0"/>
                </a:moveTo>
                <a:lnTo>
                  <a:pt x="16" y="0"/>
                </a:lnTo>
                <a:lnTo>
                  <a:pt x="33" y="2"/>
                </a:lnTo>
                <a:lnTo>
                  <a:pt x="49" y="4"/>
                </a:lnTo>
                <a:lnTo>
                  <a:pt x="65" y="6"/>
                </a:lnTo>
                <a:lnTo>
                  <a:pt x="82" y="10"/>
                </a:lnTo>
                <a:lnTo>
                  <a:pt x="98" y="13"/>
                </a:lnTo>
                <a:lnTo>
                  <a:pt x="114" y="18"/>
                </a:lnTo>
                <a:lnTo>
                  <a:pt x="131" y="22"/>
                </a:lnTo>
                <a:lnTo>
                  <a:pt x="147" y="27"/>
                </a:lnTo>
                <a:lnTo>
                  <a:pt x="164" y="32"/>
                </a:lnTo>
                <a:lnTo>
                  <a:pt x="180" y="37"/>
                </a:lnTo>
                <a:lnTo>
                  <a:pt x="196" y="43"/>
                </a:lnTo>
                <a:lnTo>
                  <a:pt x="213" y="48"/>
                </a:lnTo>
                <a:lnTo>
                  <a:pt x="229" y="53"/>
                </a:lnTo>
                <a:lnTo>
                  <a:pt x="246" y="58"/>
                </a:lnTo>
                <a:lnTo>
                  <a:pt x="262" y="63"/>
                </a:lnTo>
                <a:lnTo>
                  <a:pt x="278" y="68"/>
                </a:lnTo>
                <a:lnTo>
                  <a:pt x="295" y="72"/>
                </a:lnTo>
                <a:lnTo>
                  <a:pt x="311" y="76"/>
                </a:lnTo>
                <a:lnTo>
                  <a:pt x="327" y="79"/>
                </a:lnTo>
                <a:lnTo>
                  <a:pt x="344" y="82"/>
                </a:lnTo>
                <a:lnTo>
                  <a:pt x="360" y="84"/>
                </a:lnTo>
                <a:lnTo>
                  <a:pt x="377" y="85"/>
                </a:lnTo>
                <a:lnTo>
                  <a:pt x="393" y="85"/>
                </a:lnTo>
                <a:lnTo>
                  <a:pt x="393" y="89"/>
                </a:lnTo>
                <a:lnTo>
                  <a:pt x="377" y="89"/>
                </a:lnTo>
                <a:lnTo>
                  <a:pt x="360" y="87"/>
                </a:lnTo>
                <a:lnTo>
                  <a:pt x="344" y="85"/>
                </a:lnTo>
                <a:lnTo>
                  <a:pt x="327" y="83"/>
                </a:lnTo>
                <a:lnTo>
                  <a:pt x="311" y="80"/>
                </a:lnTo>
                <a:lnTo>
                  <a:pt x="295" y="76"/>
                </a:lnTo>
                <a:lnTo>
                  <a:pt x="278" y="72"/>
                </a:lnTo>
                <a:lnTo>
                  <a:pt x="262" y="67"/>
                </a:lnTo>
                <a:lnTo>
                  <a:pt x="246" y="62"/>
                </a:lnTo>
                <a:lnTo>
                  <a:pt x="229" y="57"/>
                </a:lnTo>
                <a:lnTo>
                  <a:pt x="213" y="52"/>
                </a:lnTo>
                <a:lnTo>
                  <a:pt x="196" y="46"/>
                </a:lnTo>
                <a:lnTo>
                  <a:pt x="180" y="41"/>
                </a:lnTo>
                <a:lnTo>
                  <a:pt x="164" y="36"/>
                </a:lnTo>
                <a:lnTo>
                  <a:pt x="147" y="31"/>
                </a:lnTo>
                <a:lnTo>
                  <a:pt x="131" y="26"/>
                </a:lnTo>
                <a:lnTo>
                  <a:pt x="114" y="21"/>
                </a:lnTo>
                <a:lnTo>
                  <a:pt x="98" y="17"/>
                </a:lnTo>
                <a:lnTo>
                  <a:pt x="82" y="13"/>
                </a:lnTo>
                <a:lnTo>
                  <a:pt x="65" y="10"/>
                </a:lnTo>
                <a:lnTo>
                  <a:pt x="49" y="7"/>
                </a:lnTo>
                <a:lnTo>
                  <a:pt x="33" y="5"/>
                </a:lnTo>
                <a:lnTo>
                  <a:pt x="16" y="4"/>
                </a:lnTo>
                <a:lnTo>
                  <a:pt x="0" y="4"/>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2057400" y="5286375"/>
            <a:ext cx="3743325" cy="1143000"/>
          </a:xfrm>
          <a:custGeom>
            <a:avLst/>
            <a:gdLst/>
            <a:ahLst/>
            <a:cxnLst/>
            <a:rect l="l" t="t" r="r" b="b"/>
            <a:pathLst>
              <a:path w="393" h="120">
                <a:moveTo>
                  <a:pt x="0" y="0"/>
                </a:moveTo>
                <a:lnTo>
                  <a:pt x="16" y="0"/>
                </a:lnTo>
                <a:lnTo>
                  <a:pt x="33" y="2"/>
                </a:lnTo>
                <a:lnTo>
                  <a:pt x="49" y="5"/>
                </a:lnTo>
                <a:lnTo>
                  <a:pt x="65" y="8"/>
                </a:lnTo>
                <a:lnTo>
                  <a:pt x="82" y="13"/>
                </a:lnTo>
                <a:lnTo>
                  <a:pt x="98" y="18"/>
                </a:lnTo>
                <a:lnTo>
                  <a:pt x="114" y="23"/>
                </a:lnTo>
                <a:lnTo>
                  <a:pt x="131" y="30"/>
                </a:lnTo>
                <a:lnTo>
                  <a:pt x="147" y="36"/>
                </a:lnTo>
                <a:lnTo>
                  <a:pt x="164" y="43"/>
                </a:lnTo>
                <a:lnTo>
                  <a:pt x="180" y="50"/>
                </a:lnTo>
                <a:lnTo>
                  <a:pt x="196" y="58"/>
                </a:lnTo>
                <a:lnTo>
                  <a:pt x="213" y="65"/>
                </a:lnTo>
                <a:lnTo>
                  <a:pt x="229" y="72"/>
                </a:lnTo>
                <a:lnTo>
                  <a:pt x="246" y="79"/>
                </a:lnTo>
                <a:lnTo>
                  <a:pt x="262" y="85"/>
                </a:lnTo>
                <a:lnTo>
                  <a:pt x="278" y="92"/>
                </a:lnTo>
                <a:lnTo>
                  <a:pt x="295" y="97"/>
                </a:lnTo>
                <a:lnTo>
                  <a:pt x="311" y="103"/>
                </a:lnTo>
                <a:lnTo>
                  <a:pt x="327" y="107"/>
                </a:lnTo>
                <a:lnTo>
                  <a:pt x="344" y="111"/>
                </a:lnTo>
                <a:lnTo>
                  <a:pt x="360" y="113"/>
                </a:lnTo>
                <a:lnTo>
                  <a:pt x="377" y="115"/>
                </a:lnTo>
                <a:lnTo>
                  <a:pt x="393" y="116"/>
                </a:lnTo>
                <a:lnTo>
                  <a:pt x="393" y="120"/>
                </a:lnTo>
                <a:lnTo>
                  <a:pt x="377" y="119"/>
                </a:lnTo>
                <a:lnTo>
                  <a:pt x="360" y="117"/>
                </a:lnTo>
                <a:lnTo>
                  <a:pt x="344" y="115"/>
                </a:lnTo>
                <a:lnTo>
                  <a:pt x="327" y="111"/>
                </a:lnTo>
                <a:lnTo>
                  <a:pt x="311" y="107"/>
                </a:lnTo>
                <a:lnTo>
                  <a:pt x="295" y="102"/>
                </a:lnTo>
                <a:lnTo>
                  <a:pt x="278" y="96"/>
                </a:lnTo>
                <a:lnTo>
                  <a:pt x="262" y="90"/>
                </a:lnTo>
                <a:lnTo>
                  <a:pt x="246" y="83"/>
                </a:lnTo>
                <a:lnTo>
                  <a:pt x="229" y="76"/>
                </a:lnTo>
                <a:lnTo>
                  <a:pt x="213" y="69"/>
                </a:lnTo>
                <a:lnTo>
                  <a:pt x="196" y="62"/>
                </a:lnTo>
                <a:lnTo>
                  <a:pt x="180" y="54"/>
                </a:lnTo>
                <a:lnTo>
                  <a:pt x="164" y="47"/>
                </a:lnTo>
                <a:lnTo>
                  <a:pt x="147" y="40"/>
                </a:lnTo>
                <a:lnTo>
                  <a:pt x="131" y="34"/>
                </a:lnTo>
                <a:lnTo>
                  <a:pt x="114" y="28"/>
                </a:lnTo>
                <a:lnTo>
                  <a:pt x="98" y="22"/>
                </a:lnTo>
                <a:lnTo>
                  <a:pt x="82" y="17"/>
                </a:lnTo>
                <a:lnTo>
                  <a:pt x="65" y="12"/>
                </a:lnTo>
                <a:lnTo>
                  <a:pt x="49" y="9"/>
                </a:lnTo>
                <a:lnTo>
                  <a:pt x="33" y="6"/>
                </a:lnTo>
                <a:lnTo>
                  <a:pt x="16" y="4"/>
                </a:lnTo>
                <a:lnTo>
                  <a:pt x="0" y="4"/>
                </a:lnTo>
                <a:close/>
              </a:path>
            </a:pathLst>
          </a:custGeom>
          <a:solidFill>
            <a:srgbClr val="A35313">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2057400" y="2257425"/>
            <a:ext cx="3743325" cy="3209925"/>
          </a:xfrm>
          <a:custGeom>
            <a:avLst/>
            <a:gdLst/>
            <a:ahLst/>
            <a:cxnLst/>
            <a:rect l="l" t="t" r="r" b="b"/>
            <a:pathLst>
              <a:path w="393" h="337">
                <a:moveTo>
                  <a:pt x="0" y="328"/>
                </a:moveTo>
                <a:lnTo>
                  <a:pt x="16" y="326"/>
                </a:lnTo>
                <a:lnTo>
                  <a:pt x="33" y="321"/>
                </a:lnTo>
                <a:lnTo>
                  <a:pt x="49" y="314"/>
                </a:lnTo>
                <a:lnTo>
                  <a:pt x="65" y="303"/>
                </a:lnTo>
                <a:lnTo>
                  <a:pt x="82" y="291"/>
                </a:lnTo>
                <a:lnTo>
                  <a:pt x="98" y="276"/>
                </a:lnTo>
                <a:lnTo>
                  <a:pt x="114" y="260"/>
                </a:lnTo>
                <a:lnTo>
                  <a:pt x="131" y="243"/>
                </a:lnTo>
                <a:lnTo>
                  <a:pt x="147" y="224"/>
                </a:lnTo>
                <a:lnTo>
                  <a:pt x="164" y="204"/>
                </a:lnTo>
                <a:lnTo>
                  <a:pt x="180" y="184"/>
                </a:lnTo>
                <a:lnTo>
                  <a:pt x="196" y="164"/>
                </a:lnTo>
                <a:lnTo>
                  <a:pt x="213" y="143"/>
                </a:lnTo>
                <a:lnTo>
                  <a:pt x="229" y="123"/>
                </a:lnTo>
                <a:lnTo>
                  <a:pt x="246" y="103"/>
                </a:lnTo>
                <a:lnTo>
                  <a:pt x="262" y="85"/>
                </a:lnTo>
                <a:lnTo>
                  <a:pt x="278" y="67"/>
                </a:lnTo>
                <a:lnTo>
                  <a:pt x="295" y="51"/>
                </a:lnTo>
                <a:lnTo>
                  <a:pt x="311" y="36"/>
                </a:lnTo>
                <a:lnTo>
                  <a:pt x="327" y="24"/>
                </a:lnTo>
                <a:lnTo>
                  <a:pt x="344" y="14"/>
                </a:lnTo>
                <a:lnTo>
                  <a:pt x="360" y="6"/>
                </a:lnTo>
                <a:lnTo>
                  <a:pt x="377" y="1"/>
                </a:lnTo>
                <a:lnTo>
                  <a:pt x="393" y="0"/>
                </a:lnTo>
                <a:lnTo>
                  <a:pt x="393" y="9"/>
                </a:lnTo>
                <a:lnTo>
                  <a:pt x="377" y="11"/>
                </a:lnTo>
                <a:lnTo>
                  <a:pt x="360" y="16"/>
                </a:lnTo>
                <a:lnTo>
                  <a:pt x="344" y="23"/>
                </a:lnTo>
                <a:lnTo>
                  <a:pt x="327" y="34"/>
                </a:lnTo>
                <a:lnTo>
                  <a:pt x="311" y="46"/>
                </a:lnTo>
                <a:lnTo>
                  <a:pt x="295" y="61"/>
                </a:lnTo>
                <a:lnTo>
                  <a:pt x="278" y="77"/>
                </a:lnTo>
                <a:lnTo>
                  <a:pt x="262" y="94"/>
                </a:lnTo>
                <a:lnTo>
                  <a:pt x="246" y="113"/>
                </a:lnTo>
                <a:lnTo>
                  <a:pt x="229" y="133"/>
                </a:lnTo>
                <a:lnTo>
                  <a:pt x="213" y="153"/>
                </a:lnTo>
                <a:lnTo>
                  <a:pt x="196" y="173"/>
                </a:lnTo>
                <a:lnTo>
                  <a:pt x="180" y="194"/>
                </a:lnTo>
                <a:lnTo>
                  <a:pt x="164" y="214"/>
                </a:lnTo>
                <a:lnTo>
                  <a:pt x="147" y="234"/>
                </a:lnTo>
                <a:lnTo>
                  <a:pt x="131" y="252"/>
                </a:lnTo>
                <a:lnTo>
                  <a:pt x="114" y="270"/>
                </a:lnTo>
                <a:lnTo>
                  <a:pt x="98" y="286"/>
                </a:lnTo>
                <a:lnTo>
                  <a:pt x="82" y="301"/>
                </a:lnTo>
                <a:lnTo>
                  <a:pt x="65" y="313"/>
                </a:lnTo>
                <a:lnTo>
                  <a:pt x="49" y="323"/>
                </a:lnTo>
                <a:lnTo>
                  <a:pt x="33" y="331"/>
                </a:lnTo>
                <a:lnTo>
                  <a:pt x="16" y="336"/>
                </a:lnTo>
                <a:lnTo>
                  <a:pt x="0" y="337"/>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2057400" y="3352800"/>
            <a:ext cx="3743325" cy="2219325"/>
          </a:xfrm>
          <a:custGeom>
            <a:avLst/>
            <a:gdLst/>
            <a:ahLst/>
            <a:cxnLst/>
            <a:rect l="l" t="t" r="r" b="b"/>
            <a:pathLst>
              <a:path w="393" h="233">
                <a:moveTo>
                  <a:pt x="0" y="222"/>
                </a:moveTo>
                <a:lnTo>
                  <a:pt x="16" y="221"/>
                </a:lnTo>
                <a:lnTo>
                  <a:pt x="33" y="218"/>
                </a:lnTo>
                <a:lnTo>
                  <a:pt x="49" y="213"/>
                </a:lnTo>
                <a:lnTo>
                  <a:pt x="65" y="206"/>
                </a:lnTo>
                <a:lnTo>
                  <a:pt x="82" y="197"/>
                </a:lnTo>
                <a:lnTo>
                  <a:pt x="98" y="188"/>
                </a:lnTo>
                <a:lnTo>
                  <a:pt x="114" y="177"/>
                </a:lnTo>
                <a:lnTo>
                  <a:pt x="131" y="165"/>
                </a:lnTo>
                <a:lnTo>
                  <a:pt x="147" y="152"/>
                </a:lnTo>
                <a:lnTo>
                  <a:pt x="164" y="139"/>
                </a:lnTo>
                <a:lnTo>
                  <a:pt x="180" y="125"/>
                </a:lnTo>
                <a:lnTo>
                  <a:pt x="196" y="111"/>
                </a:lnTo>
                <a:lnTo>
                  <a:pt x="213" y="97"/>
                </a:lnTo>
                <a:lnTo>
                  <a:pt x="229" y="84"/>
                </a:lnTo>
                <a:lnTo>
                  <a:pt x="246" y="70"/>
                </a:lnTo>
                <a:lnTo>
                  <a:pt x="262" y="58"/>
                </a:lnTo>
                <a:lnTo>
                  <a:pt x="278" y="46"/>
                </a:lnTo>
                <a:lnTo>
                  <a:pt x="295" y="35"/>
                </a:lnTo>
                <a:lnTo>
                  <a:pt x="311" y="25"/>
                </a:lnTo>
                <a:lnTo>
                  <a:pt x="327" y="16"/>
                </a:lnTo>
                <a:lnTo>
                  <a:pt x="344" y="10"/>
                </a:lnTo>
                <a:lnTo>
                  <a:pt x="360" y="4"/>
                </a:lnTo>
                <a:lnTo>
                  <a:pt x="377" y="1"/>
                </a:lnTo>
                <a:lnTo>
                  <a:pt x="393" y="0"/>
                </a:lnTo>
                <a:lnTo>
                  <a:pt x="393" y="10"/>
                </a:lnTo>
                <a:lnTo>
                  <a:pt x="377" y="11"/>
                </a:lnTo>
                <a:lnTo>
                  <a:pt x="360" y="15"/>
                </a:lnTo>
                <a:lnTo>
                  <a:pt x="344" y="20"/>
                </a:lnTo>
                <a:lnTo>
                  <a:pt x="327" y="27"/>
                </a:lnTo>
                <a:lnTo>
                  <a:pt x="311" y="35"/>
                </a:lnTo>
                <a:lnTo>
                  <a:pt x="295" y="45"/>
                </a:lnTo>
                <a:lnTo>
                  <a:pt x="278" y="56"/>
                </a:lnTo>
                <a:lnTo>
                  <a:pt x="262" y="68"/>
                </a:lnTo>
                <a:lnTo>
                  <a:pt x="246" y="81"/>
                </a:lnTo>
                <a:lnTo>
                  <a:pt x="229" y="94"/>
                </a:lnTo>
                <a:lnTo>
                  <a:pt x="213" y="108"/>
                </a:lnTo>
                <a:lnTo>
                  <a:pt x="196" y="121"/>
                </a:lnTo>
                <a:lnTo>
                  <a:pt x="180" y="135"/>
                </a:lnTo>
                <a:lnTo>
                  <a:pt x="164" y="149"/>
                </a:lnTo>
                <a:lnTo>
                  <a:pt x="147" y="162"/>
                </a:lnTo>
                <a:lnTo>
                  <a:pt x="131" y="175"/>
                </a:lnTo>
                <a:lnTo>
                  <a:pt x="114" y="187"/>
                </a:lnTo>
                <a:lnTo>
                  <a:pt x="98" y="198"/>
                </a:lnTo>
                <a:lnTo>
                  <a:pt x="82" y="208"/>
                </a:lnTo>
                <a:lnTo>
                  <a:pt x="65" y="216"/>
                </a:lnTo>
                <a:lnTo>
                  <a:pt x="49" y="223"/>
                </a:lnTo>
                <a:lnTo>
                  <a:pt x="33" y="228"/>
                </a:lnTo>
                <a:lnTo>
                  <a:pt x="16" y="232"/>
                </a:lnTo>
                <a:lnTo>
                  <a:pt x="0" y="23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2057400" y="4352925"/>
            <a:ext cx="3743325" cy="1276350"/>
          </a:xfrm>
          <a:custGeom>
            <a:avLst/>
            <a:gdLst/>
            <a:ahLst/>
            <a:cxnLst/>
            <a:rect l="l" t="t" r="r" b="b"/>
            <a:pathLst>
              <a:path w="393" h="134">
                <a:moveTo>
                  <a:pt x="0" y="128"/>
                </a:moveTo>
                <a:lnTo>
                  <a:pt x="16" y="127"/>
                </a:lnTo>
                <a:lnTo>
                  <a:pt x="33" y="125"/>
                </a:lnTo>
                <a:lnTo>
                  <a:pt x="49" y="122"/>
                </a:lnTo>
                <a:lnTo>
                  <a:pt x="65" y="118"/>
                </a:lnTo>
                <a:lnTo>
                  <a:pt x="82" y="113"/>
                </a:lnTo>
                <a:lnTo>
                  <a:pt x="98" y="108"/>
                </a:lnTo>
                <a:lnTo>
                  <a:pt x="114" y="101"/>
                </a:lnTo>
                <a:lnTo>
                  <a:pt x="131" y="94"/>
                </a:lnTo>
                <a:lnTo>
                  <a:pt x="147" y="87"/>
                </a:lnTo>
                <a:lnTo>
                  <a:pt x="164" y="79"/>
                </a:lnTo>
                <a:lnTo>
                  <a:pt x="180" y="72"/>
                </a:lnTo>
                <a:lnTo>
                  <a:pt x="196" y="64"/>
                </a:lnTo>
                <a:lnTo>
                  <a:pt x="213" y="56"/>
                </a:lnTo>
                <a:lnTo>
                  <a:pt x="229" y="48"/>
                </a:lnTo>
                <a:lnTo>
                  <a:pt x="246" y="40"/>
                </a:lnTo>
                <a:lnTo>
                  <a:pt x="262" y="33"/>
                </a:lnTo>
                <a:lnTo>
                  <a:pt x="278" y="26"/>
                </a:lnTo>
                <a:lnTo>
                  <a:pt x="295" y="20"/>
                </a:lnTo>
                <a:lnTo>
                  <a:pt x="311" y="14"/>
                </a:lnTo>
                <a:lnTo>
                  <a:pt x="327" y="9"/>
                </a:lnTo>
                <a:lnTo>
                  <a:pt x="344" y="5"/>
                </a:lnTo>
                <a:lnTo>
                  <a:pt x="360" y="2"/>
                </a:lnTo>
                <a:lnTo>
                  <a:pt x="377" y="0"/>
                </a:lnTo>
                <a:lnTo>
                  <a:pt x="393" y="0"/>
                </a:lnTo>
                <a:lnTo>
                  <a:pt x="393" y="6"/>
                </a:lnTo>
                <a:lnTo>
                  <a:pt x="377" y="7"/>
                </a:lnTo>
                <a:lnTo>
                  <a:pt x="360" y="8"/>
                </a:lnTo>
                <a:lnTo>
                  <a:pt x="344" y="11"/>
                </a:lnTo>
                <a:lnTo>
                  <a:pt x="327" y="15"/>
                </a:lnTo>
                <a:lnTo>
                  <a:pt x="311" y="20"/>
                </a:lnTo>
                <a:lnTo>
                  <a:pt x="295" y="26"/>
                </a:lnTo>
                <a:lnTo>
                  <a:pt x="278" y="32"/>
                </a:lnTo>
                <a:lnTo>
                  <a:pt x="262" y="39"/>
                </a:lnTo>
                <a:lnTo>
                  <a:pt x="246" y="46"/>
                </a:lnTo>
                <a:lnTo>
                  <a:pt x="229" y="54"/>
                </a:lnTo>
                <a:lnTo>
                  <a:pt x="213" y="62"/>
                </a:lnTo>
                <a:lnTo>
                  <a:pt x="196" y="70"/>
                </a:lnTo>
                <a:lnTo>
                  <a:pt x="180" y="78"/>
                </a:lnTo>
                <a:lnTo>
                  <a:pt x="164" y="86"/>
                </a:lnTo>
                <a:lnTo>
                  <a:pt x="147" y="94"/>
                </a:lnTo>
                <a:lnTo>
                  <a:pt x="131" y="101"/>
                </a:lnTo>
                <a:lnTo>
                  <a:pt x="114" y="108"/>
                </a:lnTo>
                <a:lnTo>
                  <a:pt x="98" y="114"/>
                </a:lnTo>
                <a:lnTo>
                  <a:pt x="82" y="120"/>
                </a:lnTo>
                <a:lnTo>
                  <a:pt x="65" y="125"/>
                </a:lnTo>
                <a:lnTo>
                  <a:pt x="49" y="129"/>
                </a:lnTo>
                <a:lnTo>
                  <a:pt x="33" y="132"/>
                </a:lnTo>
                <a:lnTo>
                  <a:pt x="16" y="133"/>
                </a:lnTo>
                <a:lnTo>
                  <a:pt x="0" y="134"/>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reeform 49"/>
          <p:cNvSpPr/>
          <p:nvPr/>
        </p:nvSpPr>
        <p:spPr>
          <a:xfrm>
            <a:off x="2057400" y="5172075"/>
            <a:ext cx="3743325" cy="533400"/>
          </a:xfrm>
          <a:custGeom>
            <a:avLst/>
            <a:gdLst/>
            <a:ahLst/>
            <a:cxnLst/>
            <a:rect l="l" t="t" r="r" b="b"/>
            <a:pathLst>
              <a:path w="393" h="56">
                <a:moveTo>
                  <a:pt x="0" y="48"/>
                </a:moveTo>
                <a:lnTo>
                  <a:pt x="16" y="48"/>
                </a:lnTo>
                <a:lnTo>
                  <a:pt x="33" y="47"/>
                </a:lnTo>
                <a:lnTo>
                  <a:pt x="49" y="46"/>
                </a:lnTo>
                <a:lnTo>
                  <a:pt x="65" y="44"/>
                </a:lnTo>
                <a:lnTo>
                  <a:pt x="82" y="43"/>
                </a:lnTo>
                <a:lnTo>
                  <a:pt x="98" y="40"/>
                </a:lnTo>
                <a:lnTo>
                  <a:pt x="114" y="38"/>
                </a:lnTo>
                <a:lnTo>
                  <a:pt x="131" y="35"/>
                </a:lnTo>
                <a:lnTo>
                  <a:pt x="147" y="33"/>
                </a:lnTo>
                <a:lnTo>
                  <a:pt x="164" y="30"/>
                </a:lnTo>
                <a:lnTo>
                  <a:pt x="180" y="27"/>
                </a:lnTo>
                <a:lnTo>
                  <a:pt x="196" y="24"/>
                </a:lnTo>
                <a:lnTo>
                  <a:pt x="213" y="21"/>
                </a:lnTo>
                <a:lnTo>
                  <a:pt x="229" y="18"/>
                </a:lnTo>
                <a:lnTo>
                  <a:pt x="246" y="15"/>
                </a:lnTo>
                <a:lnTo>
                  <a:pt x="262" y="12"/>
                </a:lnTo>
                <a:lnTo>
                  <a:pt x="278" y="10"/>
                </a:lnTo>
                <a:lnTo>
                  <a:pt x="295" y="7"/>
                </a:lnTo>
                <a:lnTo>
                  <a:pt x="311" y="5"/>
                </a:lnTo>
                <a:lnTo>
                  <a:pt x="327" y="3"/>
                </a:lnTo>
                <a:lnTo>
                  <a:pt x="344" y="2"/>
                </a:lnTo>
                <a:lnTo>
                  <a:pt x="360" y="1"/>
                </a:lnTo>
                <a:lnTo>
                  <a:pt x="377" y="0"/>
                </a:lnTo>
                <a:lnTo>
                  <a:pt x="393" y="0"/>
                </a:lnTo>
                <a:lnTo>
                  <a:pt x="393" y="7"/>
                </a:lnTo>
                <a:lnTo>
                  <a:pt x="377" y="7"/>
                </a:lnTo>
                <a:lnTo>
                  <a:pt x="360" y="8"/>
                </a:lnTo>
                <a:lnTo>
                  <a:pt x="344" y="9"/>
                </a:lnTo>
                <a:lnTo>
                  <a:pt x="327" y="11"/>
                </a:lnTo>
                <a:lnTo>
                  <a:pt x="311" y="13"/>
                </a:lnTo>
                <a:lnTo>
                  <a:pt x="295" y="15"/>
                </a:lnTo>
                <a:lnTo>
                  <a:pt x="278" y="17"/>
                </a:lnTo>
                <a:lnTo>
                  <a:pt x="262" y="20"/>
                </a:lnTo>
                <a:lnTo>
                  <a:pt x="246" y="22"/>
                </a:lnTo>
                <a:lnTo>
                  <a:pt x="229" y="25"/>
                </a:lnTo>
                <a:lnTo>
                  <a:pt x="213" y="28"/>
                </a:lnTo>
                <a:lnTo>
                  <a:pt x="196" y="31"/>
                </a:lnTo>
                <a:lnTo>
                  <a:pt x="180" y="34"/>
                </a:lnTo>
                <a:lnTo>
                  <a:pt x="164" y="37"/>
                </a:lnTo>
                <a:lnTo>
                  <a:pt x="147" y="40"/>
                </a:lnTo>
                <a:lnTo>
                  <a:pt x="131" y="43"/>
                </a:lnTo>
                <a:lnTo>
                  <a:pt x="114" y="46"/>
                </a:lnTo>
                <a:lnTo>
                  <a:pt x="98" y="48"/>
                </a:lnTo>
                <a:lnTo>
                  <a:pt x="82" y="50"/>
                </a:lnTo>
                <a:lnTo>
                  <a:pt x="65" y="52"/>
                </a:lnTo>
                <a:lnTo>
                  <a:pt x="49" y="53"/>
                </a:lnTo>
                <a:lnTo>
                  <a:pt x="33" y="55"/>
                </a:lnTo>
                <a:lnTo>
                  <a:pt x="16" y="55"/>
                </a:lnTo>
                <a:lnTo>
                  <a:pt x="0" y="56"/>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057400" y="5705475"/>
            <a:ext cx="3743325" cy="19050"/>
          </a:xfrm>
          <a:custGeom>
            <a:avLst/>
            <a:gdLst/>
            <a:ahLst/>
            <a:cxnLst/>
            <a:rect l="l" t="t" r="r" b="b"/>
            <a:pathLst>
              <a:path w="393" h="2">
                <a:moveTo>
                  <a:pt x="0" y="0"/>
                </a:moveTo>
                <a:lnTo>
                  <a:pt x="16" y="0"/>
                </a:lnTo>
                <a:lnTo>
                  <a:pt x="33" y="0"/>
                </a:lnTo>
                <a:lnTo>
                  <a:pt x="49" y="0"/>
                </a:lnTo>
                <a:lnTo>
                  <a:pt x="65" y="0"/>
                </a:lnTo>
                <a:lnTo>
                  <a:pt x="82" y="0"/>
                </a:lnTo>
                <a:lnTo>
                  <a:pt x="98" y="0"/>
                </a:lnTo>
                <a:lnTo>
                  <a:pt x="114" y="0"/>
                </a:lnTo>
                <a:lnTo>
                  <a:pt x="131" y="0"/>
                </a:lnTo>
                <a:lnTo>
                  <a:pt x="147" y="0"/>
                </a:lnTo>
                <a:lnTo>
                  <a:pt x="164" y="0"/>
                </a:lnTo>
                <a:lnTo>
                  <a:pt x="180" y="0"/>
                </a:lnTo>
                <a:lnTo>
                  <a:pt x="196" y="0"/>
                </a:lnTo>
                <a:lnTo>
                  <a:pt x="213" y="0"/>
                </a:lnTo>
                <a:lnTo>
                  <a:pt x="229" y="0"/>
                </a:lnTo>
                <a:lnTo>
                  <a:pt x="246" y="0"/>
                </a:lnTo>
                <a:lnTo>
                  <a:pt x="262" y="0"/>
                </a:lnTo>
                <a:lnTo>
                  <a:pt x="278" y="0"/>
                </a:lnTo>
                <a:lnTo>
                  <a:pt x="295" y="0"/>
                </a:lnTo>
                <a:lnTo>
                  <a:pt x="311" y="0"/>
                </a:lnTo>
                <a:lnTo>
                  <a:pt x="327" y="0"/>
                </a:lnTo>
                <a:lnTo>
                  <a:pt x="344" y="0"/>
                </a:lnTo>
                <a:lnTo>
                  <a:pt x="360" y="0"/>
                </a:lnTo>
                <a:lnTo>
                  <a:pt x="377" y="0"/>
                </a:lnTo>
                <a:lnTo>
                  <a:pt x="393" y="0"/>
                </a:lnTo>
                <a:lnTo>
                  <a:pt x="393" y="2"/>
                </a:lnTo>
                <a:lnTo>
                  <a:pt x="377" y="2"/>
                </a:lnTo>
                <a:lnTo>
                  <a:pt x="360" y="2"/>
                </a:lnTo>
                <a:lnTo>
                  <a:pt x="344" y="2"/>
                </a:lnTo>
                <a:lnTo>
                  <a:pt x="327" y="2"/>
                </a:lnTo>
                <a:lnTo>
                  <a:pt x="311" y="2"/>
                </a:lnTo>
                <a:lnTo>
                  <a:pt x="295" y="2"/>
                </a:lnTo>
                <a:lnTo>
                  <a:pt x="278" y="2"/>
                </a:lnTo>
                <a:lnTo>
                  <a:pt x="262" y="2"/>
                </a:lnTo>
                <a:lnTo>
                  <a:pt x="246" y="2"/>
                </a:lnTo>
                <a:lnTo>
                  <a:pt x="229" y="2"/>
                </a:lnTo>
                <a:lnTo>
                  <a:pt x="213" y="2"/>
                </a:lnTo>
                <a:lnTo>
                  <a:pt x="196" y="2"/>
                </a:lnTo>
                <a:lnTo>
                  <a:pt x="180" y="2"/>
                </a:lnTo>
                <a:lnTo>
                  <a:pt x="164" y="2"/>
                </a:lnTo>
                <a:lnTo>
                  <a:pt x="147" y="2"/>
                </a:lnTo>
                <a:lnTo>
                  <a:pt x="131" y="2"/>
                </a:lnTo>
                <a:lnTo>
                  <a:pt x="114" y="2"/>
                </a:lnTo>
                <a:lnTo>
                  <a:pt x="98" y="2"/>
                </a:lnTo>
                <a:lnTo>
                  <a:pt x="82" y="2"/>
                </a:lnTo>
                <a:lnTo>
                  <a:pt x="65" y="2"/>
                </a:lnTo>
                <a:lnTo>
                  <a:pt x="49" y="2"/>
                </a:lnTo>
                <a:lnTo>
                  <a:pt x="33" y="2"/>
                </a:lnTo>
                <a:lnTo>
                  <a:pt x="16" y="2"/>
                </a:lnTo>
                <a:lnTo>
                  <a:pt x="0" y="2"/>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2057400" y="5724525"/>
            <a:ext cx="3743325" cy="400050"/>
          </a:xfrm>
          <a:custGeom>
            <a:avLst/>
            <a:gdLst/>
            <a:ahLst/>
            <a:cxnLst/>
            <a:rect l="l" t="t" r="r" b="b"/>
            <a:pathLst>
              <a:path w="393" h="42">
                <a:moveTo>
                  <a:pt x="0" y="0"/>
                </a:moveTo>
                <a:lnTo>
                  <a:pt x="16" y="0"/>
                </a:lnTo>
                <a:lnTo>
                  <a:pt x="33" y="1"/>
                </a:lnTo>
                <a:lnTo>
                  <a:pt x="49" y="2"/>
                </a:lnTo>
                <a:lnTo>
                  <a:pt x="65" y="3"/>
                </a:lnTo>
                <a:lnTo>
                  <a:pt x="82" y="4"/>
                </a:lnTo>
                <a:lnTo>
                  <a:pt x="98" y="6"/>
                </a:lnTo>
                <a:lnTo>
                  <a:pt x="114" y="8"/>
                </a:lnTo>
                <a:lnTo>
                  <a:pt x="131" y="10"/>
                </a:lnTo>
                <a:lnTo>
                  <a:pt x="147" y="12"/>
                </a:lnTo>
                <a:lnTo>
                  <a:pt x="164" y="15"/>
                </a:lnTo>
                <a:lnTo>
                  <a:pt x="180" y="17"/>
                </a:lnTo>
                <a:lnTo>
                  <a:pt x="196" y="20"/>
                </a:lnTo>
                <a:lnTo>
                  <a:pt x="213" y="22"/>
                </a:lnTo>
                <a:lnTo>
                  <a:pt x="229" y="24"/>
                </a:lnTo>
                <a:lnTo>
                  <a:pt x="246" y="27"/>
                </a:lnTo>
                <a:lnTo>
                  <a:pt x="262" y="29"/>
                </a:lnTo>
                <a:lnTo>
                  <a:pt x="278" y="31"/>
                </a:lnTo>
                <a:lnTo>
                  <a:pt x="295" y="33"/>
                </a:lnTo>
                <a:lnTo>
                  <a:pt x="311" y="35"/>
                </a:lnTo>
                <a:lnTo>
                  <a:pt x="327" y="36"/>
                </a:lnTo>
                <a:lnTo>
                  <a:pt x="344" y="37"/>
                </a:lnTo>
                <a:lnTo>
                  <a:pt x="360" y="38"/>
                </a:lnTo>
                <a:lnTo>
                  <a:pt x="377" y="39"/>
                </a:lnTo>
                <a:lnTo>
                  <a:pt x="393" y="39"/>
                </a:lnTo>
                <a:lnTo>
                  <a:pt x="393" y="42"/>
                </a:lnTo>
                <a:lnTo>
                  <a:pt x="377" y="42"/>
                </a:lnTo>
                <a:lnTo>
                  <a:pt x="360" y="42"/>
                </a:lnTo>
                <a:lnTo>
                  <a:pt x="344" y="41"/>
                </a:lnTo>
                <a:lnTo>
                  <a:pt x="327" y="39"/>
                </a:lnTo>
                <a:lnTo>
                  <a:pt x="311" y="38"/>
                </a:lnTo>
                <a:lnTo>
                  <a:pt x="295" y="36"/>
                </a:lnTo>
                <a:lnTo>
                  <a:pt x="278" y="34"/>
                </a:lnTo>
                <a:lnTo>
                  <a:pt x="262" y="32"/>
                </a:lnTo>
                <a:lnTo>
                  <a:pt x="246" y="30"/>
                </a:lnTo>
                <a:lnTo>
                  <a:pt x="229" y="28"/>
                </a:lnTo>
                <a:lnTo>
                  <a:pt x="213" y="25"/>
                </a:lnTo>
                <a:lnTo>
                  <a:pt x="196" y="23"/>
                </a:lnTo>
                <a:lnTo>
                  <a:pt x="180" y="20"/>
                </a:lnTo>
                <a:lnTo>
                  <a:pt x="164" y="18"/>
                </a:lnTo>
                <a:lnTo>
                  <a:pt x="147" y="16"/>
                </a:lnTo>
                <a:lnTo>
                  <a:pt x="131" y="13"/>
                </a:lnTo>
                <a:lnTo>
                  <a:pt x="114" y="11"/>
                </a:lnTo>
                <a:lnTo>
                  <a:pt x="98" y="9"/>
                </a:lnTo>
                <a:lnTo>
                  <a:pt x="82" y="8"/>
                </a:lnTo>
                <a:lnTo>
                  <a:pt x="65" y="6"/>
                </a:lnTo>
                <a:lnTo>
                  <a:pt x="49" y="5"/>
                </a:lnTo>
                <a:lnTo>
                  <a:pt x="33" y="4"/>
                </a:lnTo>
                <a:lnTo>
                  <a:pt x="16" y="3"/>
                </a:lnTo>
                <a:lnTo>
                  <a:pt x="0" y="3"/>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2057400" y="5753100"/>
            <a:ext cx="3743325" cy="695325"/>
          </a:xfrm>
          <a:custGeom>
            <a:avLst/>
            <a:gdLst/>
            <a:ahLst/>
            <a:cxnLst/>
            <a:rect l="l" t="t" r="r" b="b"/>
            <a:pathLst>
              <a:path w="393" h="73">
                <a:moveTo>
                  <a:pt x="0" y="0"/>
                </a:moveTo>
                <a:lnTo>
                  <a:pt x="16" y="1"/>
                </a:lnTo>
                <a:lnTo>
                  <a:pt x="33" y="2"/>
                </a:lnTo>
                <a:lnTo>
                  <a:pt x="49" y="3"/>
                </a:lnTo>
                <a:lnTo>
                  <a:pt x="65" y="5"/>
                </a:lnTo>
                <a:lnTo>
                  <a:pt x="82" y="8"/>
                </a:lnTo>
                <a:lnTo>
                  <a:pt x="98" y="11"/>
                </a:lnTo>
                <a:lnTo>
                  <a:pt x="114" y="15"/>
                </a:lnTo>
                <a:lnTo>
                  <a:pt x="131" y="18"/>
                </a:lnTo>
                <a:lnTo>
                  <a:pt x="147" y="22"/>
                </a:lnTo>
                <a:lnTo>
                  <a:pt x="164" y="27"/>
                </a:lnTo>
                <a:lnTo>
                  <a:pt x="180" y="31"/>
                </a:lnTo>
                <a:lnTo>
                  <a:pt x="196" y="35"/>
                </a:lnTo>
                <a:lnTo>
                  <a:pt x="213" y="40"/>
                </a:lnTo>
                <a:lnTo>
                  <a:pt x="229" y="44"/>
                </a:lnTo>
                <a:lnTo>
                  <a:pt x="246" y="48"/>
                </a:lnTo>
                <a:lnTo>
                  <a:pt x="262" y="52"/>
                </a:lnTo>
                <a:lnTo>
                  <a:pt x="278" y="56"/>
                </a:lnTo>
                <a:lnTo>
                  <a:pt x="295" y="60"/>
                </a:lnTo>
                <a:lnTo>
                  <a:pt x="311" y="63"/>
                </a:lnTo>
                <a:lnTo>
                  <a:pt x="327" y="65"/>
                </a:lnTo>
                <a:lnTo>
                  <a:pt x="344" y="68"/>
                </a:lnTo>
                <a:lnTo>
                  <a:pt x="360" y="69"/>
                </a:lnTo>
                <a:lnTo>
                  <a:pt x="377" y="70"/>
                </a:lnTo>
                <a:lnTo>
                  <a:pt x="393" y="71"/>
                </a:lnTo>
                <a:lnTo>
                  <a:pt x="393" y="73"/>
                </a:lnTo>
                <a:lnTo>
                  <a:pt x="377" y="72"/>
                </a:lnTo>
                <a:lnTo>
                  <a:pt x="360" y="71"/>
                </a:lnTo>
                <a:lnTo>
                  <a:pt x="344" y="70"/>
                </a:lnTo>
                <a:lnTo>
                  <a:pt x="327" y="68"/>
                </a:lnTo>
                <a:lnTo>
                  <a:pt x="311" y="65"/>
                </a:lnTo>
                <a:lnTo>
                  <a:pt x="295" y="62"/>
                </a:lnTo>
                <a:lnTo>
                  <a:pt x="278" y="58"/>
                </a:lnTo>
                <a:lnTo>
                  <a:pt x="262" y="54"/>
                </a:lnTo>
                <a:lnTo>
                  <a:pt x="246" y="50"/>
                </a:lnTo>
                <a:lnTo>
                  <a:pt x="229" y="46"/>
                </a:lnTo>
                <a:lnTo>
                  <a:pt x="213" y="42"/>
                </a:lnTo>
                <a:lnTo>
                  <a:pt x="196" y="38"/>
                </a:lnTo>
                <a:lnTo>
                  <a:pt x="180" y="33"/>
                </a:lnTo>
                <a:lnTo>
                  <a:pt x="164" y="29"/>
                </a:lnTo>
                <a:lnTo>
                  <a:pt x="147" y="25"/>
                </a:lnTo>
                <a:lnTo>
                  <a:pt x="131" y="21"/>
                </a:lnTo>
                <a:lnTo>
                  <a:pt x="114" y="17"/>
                </a:lnTo>
                <a:lnTo>
                  <a:pt x="98" y="13"/>
                </a:lnTo>
                <a:lnTo>
                  <a:pt x="82" y="10"/>
                </a:lnTo>
                <a:lnTo>
                  <a:pt x="65" y="8"/>
                </a:lnTo>
                <a:lnTo>
                  <a:pt x="49" y="5"/>
                </a:lnTo>
                <a:lnTo>
                  <a:pt x="33" y="4"/>
                </a:lnTo>
                <a:lnTo>
                  <a:pt x="16" y="3"/>
                </a:lnTo>
                <a:lnTo>
                  <a:pt x="0" y="2"/>
                </a:lnTo>
                <a:close/>
              </a:path>
            </a:pathLst>
          </a:custGeom>
          <a:solidFill>
            <a:srgbClr val="80808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057400" y="2343150"/>
            <a:ext cx="3743325" cy="3562350"/>
          </a:xfrm>
          <a:custGeom>
            <a:avLst/>
            <a:gdLst/>
            <a:ahLst/>
            <a:cxnLst/>
            <a:rect l="l" t="t" r="r" b="b"/>
            <a:pathLst>
              <a:path w="393" h="374">
                <a:moveTo>
                  <a:pt x="0" y="366"/>
                </a:moveTo>
                <a:lnTo>
                  <a:pt x="16" y="364"/>
                </a:lnTo>
                <a:lnTo>
                  <a:pt x="33" y="359"/>
                </a:lnTo>
                <a:lnTo>
                  <a:pt x="49" y="351"/>
                </a:lnTo>
                <a:lnTo>
                  <a:pt x="65" y="339"/>
                </a:lnTo>
                <a:lnTo>
                  <a:pt x="82" y="325"/>
                </a:lnTo>
                <a:lnTo>
                  <a:pt x="98" y="309"/>
                </a:lnTo>
                <a:lnTo>
                  <a:pt x="114" y="291"/>
                </a:lnTo>
                <a:lnTo>
                  <a:pt x="131" y="271"/>
                </a:lnTo>
                <a:lnTo>
                  <a:pt x="147" y="250"/>
                </a:lnTo>
                <a:lnTo>
                  <a:pt x="164" y="229"/>
                </a:lnTo>
                <a:lnTo>
                  <a:pt x="180" y="206"/>
                </a:lnTo>
                <a:lnTo>
                  <a:pt x="196" y="183"/>
                </a:lnTo>
                <a:lnTo>
                  <a:pt x="213" y="160"/>
                </a:lnTo>
                <a:lnTo>
                  <a:pt x="229" y="138"/>
                </a:lnTo>
                <a:lnTo>
                  <a:pt x="246" y="116"/>
                </a:lnTo>
                <a:lnTo>
                  <a:pt x="262" y="95"/>
                </a:lnTo>
                <a:lnTo>
                  <a:pt x="278" y="76"/>
                </a:lnTo>
                <a:lnTo>
                  <a:pt x="295" y="57"/>
                </a:lnTo>
                <a:lnTo>
                  <a:pt x="311" y="41"/>
                </a:lnTo>
                <a:lnTo>
                  <a:pt x="327" y="27"/>
                </a:lnTo>
                <a:lnTo>
                  <a:pt x="344" y="16"/>
                </a:lnTo>
                <a:lnTo>
                  <a:pt x="360" y="7"/>
                </a:lnTo>
                <a:lnTo>
                  <a:pt x="377" y="2"/>
                </a:lnTo>
                <a:lnTo>
                  <a:pt x="393" y="0"/>
                </a:lnTo>
                <a:lnTo>
                  <a:pt x="393" y="8"/>
                </a:lnTo>
                <a:lnTo>
                  <a:pt x="377" y="10"/>
                </a:lnTo>
                <a:lnTo>
                  <a:pt x="360" y="16"/>
                </a:lnTo>
                <a:lnTo>
                  <a:pt x="344" y="24"/>
                </a:lnTo>
                <a:lnTo>
                  <a:pt x="327" y="36"/>
                </a:lnTo>
                <a:lnTo>
                  <a:pt x="311" y="49"/>
                </a:lnTo>
                <a:lnTo>
                  <a:pt x="295" y="66"/>
                </a:lnTo>
                <a:lnTo>
                  <a:pt x="278" y="84"/>
                </a:lnTo>
                <a:lnTo>
                  <a:pt x="262" y="103"/>
                </a:lnTo>
                <a:lnTo>
                  <a:pt x="246" y="124"/>
                </a:lnTo>
                <a:lnTo>
                  <a:pt x="229" y="146"/>
                </a:lnTo>
                <a:lnTo>
                  <a:pt x="213" y="169"/>
                </a:lnTo>
                <a:lnTo>
                  <a:pt x="196" y="191"/>
                </a:lnTo>
                <a:lnTo>
                  <a:pt x="180" y="214"/>
                </a:lnTo>
                <a:lnTo>
                  <a:pt x="164" y="237"/>
                </a:lnTo>
                <a:lnTo>
                  <a:pt x="147" y="259"/>
                </a:lnTo>
                <a:lnTo>
                  <a:pt x="131" y="280"/>
                </a:lnTo>
                <a:lnTo>
                  <a:pt x="114" y="299"/>
                </a:lnTo>
                <a:lnTo>
                  <a:pt x="98" y="317"/>
                </a:lnTo>
                <a:lnTo>
                  <a:pt x="82" y="333"/>
                </a:lnTo>
                <a:lnTo>
                  <a:pt x="65" y="347"/>
                </a:lnTo>
                <a:lnTo>
                  <a:pt x="49" y="359"/>
                </a:lnTo>
                <a:lnTo>
                  <a:pt x="33" y="367"/>
                </a:lnTo>
                <a:lnTo>
                  <a:pt x="16" y="373"/>
                </a:lnTo>
                <a:lnTo>
                  <a:pt x="0" y="374"/>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reeform 54"/>
          <p:cNvSpPr/>
          <p:nvPr/>
        </p:nvSpPr>
        <p:spPr>
          <a:xfrm>
            <a:off x="2057400" y="3448050"/>
            <a:ext cx="3743325" cy="2533650"/>
          </a:xfrm>
          <a:custGeom>
            <a:avLst/>
            <a:gdLst/>
            <a:ahLst/>
            <a:cxnLst/>
            <a:rect l="l" t="t" r="r" b="b"/>
            <a:pathLst>
              <a:path w="393" h="266">
                <a:moveTo>
                  <a:pt x="0" y="258"/>
                </a:moveTo>
                <a:lnTo>
                  <a:pt x="16" y="257"/>
                </a:lnTo>
                <a:lnTo>
                  <a:pt x="33" y="253"/>
                </a:lnTo>
                <a:lnTo>
                  <a:pt x="49" y="247"/>
                </a:lnTo>
                <a:lnTo>
                  <a:pt x="65" y="239"/>
                </a:lnTo>
                <a:lnTo>
                  <a:pt x="82" y="229"/>
                </a:lnTo>
                <a:lnTo>
                  <a:pt x="98" y="218"/>
                </a:lnTo>
                <a:lnTo>
                  <a:pt x="114" y="205"/>
                </a:lnTo>
                <a:lnTo>
                  <a:pt x="131" y="191"/>
                </a:lnTo>
                <a:lnTo>
                  <a:pt x="147" y="177"/>
                </a:lnTo>
                <a:lnTo>
                  <a:pt x="164" y="161"/>
                </a:lnTo>
                <a:lnTo>
                  <a:pt x="180" y="145"/>
                </a:lnTo>
                <a:lnTo>
                  <a:pt x="196" y="129"/>
                </a:lnTo>
                <a:lnTo>
                  <a:pt x="213" y="113"/>
                </a:lnTo>
                <a:lnTo>
                  <a:pt x="229" y="97"/>
                </a:lnTo>
                <a:lnTo>
                  <a:pt x="246" y="82"/>
                </a:lnTo>
                <a:lnTo>
                  <a:pt x="262" y="67"/>
                </a:lnTo>
                <a:lnTo>
                  <a:pt x="278" y="53"/>
                </a:lnTo>
                <a:lnTo>
                  <a:pt x="295" y="41"/>
                </a:lnTo>
                <a:lnTo>
                  <a:pt x="311" y="29"/>
                </a:lnTo>
                <a:lnTo>
                  <a:pt x="327" y="19"/>
                </a:lnTo>
                <a:lnTo>
                  <a:pt x="344" y="11"/>
                </a:lnTo>
                <a:lnTo>
                  <a:pt x="360" y="5"/>
                </a:lnTo>
                <a:lnTo>
                  <a:pt x="377" y="2"/>
                </a:lnTo>
                <a:lnTo>
                  <a:pt x="393" y="0"/>
                </a:lnTo>
                <a:lnTo>
                  <a:pt x="393" y="8"/>
                </a:lnTo>
                <a:lnTo>
                  <a:pt x="377" y="9"/>
                </a:lnTo>
                <a:lnTo>
                  <a:pt x="360" y="13"/>
                </a:lnTo>
                <a:lnTo>
                  <a:pt x="344" y="19"/>
                </a:lnTo>
                <a:lnTo>
                  <a:pt x="327" y="27"/>
                </a:lnTo>
                <a:lnTo>
                  <a:pt x="311" y="37"/>
                </a:lnTo>
                <a:lnTo>
                  <a:pt x="295" y="48"/>
                </a:lnTo>
                <a:lnTo>
                  <a:pt x="278" y="61"/>
                </a:lnTo>
                <a:lnTo>
                  <a:pt x="262" y="75"/>
                </a:lnTo>
                <a:lnTo>
                  <a:pt x="246" y="90"/>
                </a:lnTo>
                <a:lnTo>
                  <a:pt x="229" y="105"/>
                </a:lnTo>
                <a:lnTo>
                  <a:pt x="213" y="121"/>
                </a:lnTo>
                <a:lnTo>
                  <a:pt x="196" y="137"/>
                </a:lnTo>
                <a:lnTo>
                  <a:pt x="180" y="153"/>
                </a:lnTo>
                <a:lnTo>
                  <a:pt x="164" y="169"/>
                </a:lnTo>
                <a:lnTo>
                  <a:pt x="147" y="185"/>
                </a:lnTo>
                <a:lnTo>
                  <a:pt x="131" y="199"/>
                </a:lnTo>
                <a:lnTo>
                  <a:pt x="114" y="213"/>
                </a:lnTo>
                <a:lnTo>
                  <a:pt x="98" y="226"/>
                </a:lnTo>
                <a:lnTo>
                  <a:pt x="82" y="237"/>
                </a:lnTo>
                <a:lnTo>
                  <a:pt x="65" y="247"/>
                </a:lnTo>
                <a:lnTo>
                  <a:pt x="49" y="255"/>
                </a:lnTo>
                <a:lnTo>
                  <a:pt x="33" y="261"/>
                </a:lnTo>
                <a:lnTo>
                  <a:pt x="16" y="265"/>
                </a:lnTo>
                <a:lnTo>
                  <a:pt x="0" y="266"/>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2057400" y="4410075"/>
            <a:ext cx="3743325" cy="1628775"/>
          </a:xfrm>
          <a:custGeom>
            <a:avLst/>
            <a:gdLst/>
            <a:ahLst/>
            <a:cxnLst/>
            <a:rect l="l" t="t" r="r" b="b"/>
            <a:pathLst>
              <a:path w="393" h="171">
                <a:moveTo>
                  <a:pt x="0" y="165"/>
                </a:moveTo>
                <a:lnTo>
                  <a:pt x="16" y="164"/>
                </a:lnTo>
                <a:lnTo>
                  <a:pt x="33" y="162"/>
                </a:lnTo>
                <a:lnTo>
                  <a:pt x="49" y="158"/>
                </a:lnTo>
                <a:lnTo>
                  <a:pt x="65" y="153"/>
                </a:lnTo>
                <a:lnTo>
                  <a:pt x="82" y="147"/>
                </a:lnTo>
                <a:lnTo>
                  <a:pt x="98" y="139"/>
                </a:lnTo>
                <a:lnTo>
                  <a:pt x="114" y="131"/>
                </a:lnTo>
                <a:lnTo>
                  <a:pt x="131" y="122"/>
                </a:lnTo>
                <a:lnTo>
                  <a:pt x="147" y="113"/>
                </a:lnTo>
                <a:lnTo>
                  <a:pt x="164" y="103"/>
                </a:lnTo>
                <a:lnTo>
                  <a:pt x="180" y="93"/>
                </a:lnTo>
                <a:lnTo>
                  <a:pt x="196" y="83"/>
                </a:lnTo>
                <a:lnTo>
                  <a:pt x="213" y="72"/>
                </a:lnTo>
                <a:lnTo>
                  <a:pt x="229" y="62"/>
                </a:lnTo>
                <a:lnTo>
                  <a:pt x="246" y="52"/>
                </a:lnTo>
                <a:lnTo>
                  <a:pt x="262" y="43"/>
                </a:lnTo>
                <a:lnTo>
                  <a:pt x="278" y="34"/>
                </a:lnTo>
                <a:lnTo>
                  <a:pt x="295" y="26"/>
                </a:lnTo>
                <a:lnTo>
                  <a:pt x="311" y="19"/>
                </a:lnTo>
                <a:lnTo>
                  <a:pt x="327" y="12"/>
                </a:lnTo>
                <a:lnTo>
                  <a:pt x="344" y="7"/>
                </a:lnTo>
                <a:lnTo>
                  <a:pt x="360" y="3"/>
                </a:lnTo>
                <a:lnTo>
                  <a:pt x="377" y="1"/>
                </a:lnTo>
                <a:lnTo>
                  <a:pt x="393" y="0"/>
                </a:lnTo>
                <a:lnTo>
                  <a:pt x="393" y="6"/>
                </a:lnTo>
                <a:lnTo>
                  <a:pt x="377" y="7"/>
                </a:lnTo>
                <a:lnTo>
                  <a:pt x="360" y="9"/>
                </a:lnTo>
                <a:lnTo>
                  <a:pt x="344" y="13"/>
                </a:lnTo>
                <a:lnTo>
                  <a:pt x="327" y="18"/>
                </a:lnTo>
                <a:lnTo>
                  <a:pt x="311" y="25"/>
                </a:lnTo>
                <a:lnTo>
                  <a:pt x="295" y="32"/>
                </a:lnTo>
                <a:lnTo>
                  <a:pt x="278" y="40"/>
                </a:lnTo>
                <a:lnTo>
                  <a:pt x="262" y="49"/>
                </a:lnTo>
                <a:lnTo>
                  <a:pt x="246" y="58"/>
                </a:lnTo>
                <a:lnTo>
                  <a:pt x="229" y="68"/>
                </a:lnTo>
                <a:lnTo>
                  <a:pt x="213" y="78"/>
                </a:lnTo>
                <a:lnTo>
                  <a:pt x="196" y="89"/>
                </a:lnTo>
                <a:lnTo>
                  <a:pt x="180" y="99"/>
                </a:lnTo>
                <a:lnTo>
                  <a:pt x="164" y="109"/>
                </a:lnTo>
                <a:lnTo>
                  <a:pt x="147" y="119"/>
                </a:lnTo>
                <a:lnTo>
                  <a:pt x="131" y="129"/>
                </a:lnTo>
                <a:lnTo>
                  <a:pt x="114" y="137"/>
                </a:lnTo>
                <a:lnTo>
                  <a:pt x="98" y="146"/>
                </a:lnTo>
                <a:lnTo>
                  <a:pt x="82" y="153"/>
                </a:lnTo>
                <a:lnTo>
                  <a:pt x="65" y="159"/>
                </a:lnTo>
                <a:lnTo>
                  <a:pt x="49" y="164"/>
                </a:lnTo>
                <a:lnTo>
                  <a:pt x="33" y="168"/>
                </a:lnTo>
                <a:lnTo>
                  <a:pt x="16" y="171"/>
                </a:lnTo>
                <a:lnTo>
                  <a:pt x="0" y="171"/>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Freeform 56"/>
          <p:cNvSpPr/>
          <p:nvPr/>
        </p:nvSpPr>
        <p:spPr>
          <a:xfrm>
            <a:off x="2057400" y="5238750"/>
            <a:ext cx="3743325" cy="847725"/>
          </a:xfrm>
          <a:custGeom>
            <a:avLst/>
            <a:gdLst/>
            <a:ahLst/>
            <a:cxnLst/>
            <a:rect l="l" t="t" r="r" b="b"/>
            <a:pathLst>
              <a:path w="393" h="89">
                <a:moveTo>
                  <a:pt x="0" y="84"/>
                </a:moveTo>
                <a:lnTo>
                  <a:pt x="16" y="84"/>
                </a:lnTo>
                <a:lnTo>
                  <a:pt x="33" y="83"/>
                </a:lnTo>
                <a:lnTo>
                  <a:pt x="49" y="81"/>
                </a:lnTo>
                <a:lnTo>
                  <a:pt x="65" y="78"/>
                </a:lnTo>
                <a:lnTo>
                  <a:pt x="82" y="75"/>
                </a:lnTo>
                <a:lnTo>
                  <a:pt x="98" y="71"/>
                </a:lnTo>
                <a:lnTo>
                  <a:pt x="114" y="67"/>
                </a:lnTo>
                <a:lnTo>
                  <a:pt x="131" y="63"/>
                </a:lnTo>
                <a:lnTo>
                  <a:pt x="147" y="58"/>
                </a:lnTo>
                <a:lnTo>
                  <a:pt x="164" y="53"/>
                </a:lnTo>
                <a:lnTo>
                  <a:pt x="180" y="48"/>
                </a:lnTo>
                <a:lnTo>
                  <a:pt x="196" y="42"/>
                </a:lnTo>
                <a:lnTo>
                  <a:pt x="213" y="37"/>
                </a:lnTo>
                <a:lnTo>
                  <a:pt x="229" y="32"/>
                </a:lnTo>
                <a:lnTo>
                  <a:pt x="246" y="27"/>
                </a:lnTo>
                <a:lnTo>
                  <a:pt x="262" y="22"/>
                </a:lnTo>
                <a:lnTo>
                  <a:pt x="278" y="18"/>
                </a:lnTo>
                <a:lnTo>
                  <a:pt x="295" y="13"/>
                </a:lnTo>
                <a:lnTo>
                  <a:pt x="311" y="10"/>
                </a:lnTo>
                <a:lnTo>
                  <a:pt x="327" y="6"/>
                </a:lnTo>
                <a:lnTo>
                  <a:pt x="344" y="4"/>
                </a:lnTo>
                <a:lnTo>
                  <a:pt x="360" y="2"/>
                </a:lnTo>
                <a:lnTo>
                  <a:pt x="377" y="1"/>
                </a:lnTo>
                <a:lnTo>
                  <a:pt x="393" y="0"/>
                </a:lnTo>
                <a:lnTo>
                  <a:pt x="393" y="4"/>
                </a:lnTo>
                <a:lnTo>
                  <a:pt x="377" y="5"/>
                </a:lnTo>
                <a:lnTo>
                  <a:pt x="360" y="6"/>
                </a:lnTo>
                <a:lnTo>
                  <a:pt x="344" y="8"/>
                </a:lnTo>
                <a:lnTo>
                  <a:pt x="327" y="10"/>
                </a:lnTo>
                <a:lnTo>
                  <a:pt x="311" y="14"/>
                </a:lnTo>
                <a:lnTo>
                  <a:pt x="295" y="17"/>
                </a:lnTo>
                <a:lnTo>
                  <a:pt x="278" y="22"/>
                </a:lnTo>
                <a:lnTo>
                  <a:pt x="262" y="26"/>
                </a:lnTo>
                <a:lnTo>
                  <a:pt x="246" y="31"/>
                </a:lnTo>
                <a:lnTo>
                  <a:pt x="229" y="36"/>
                </a:lnTo>
                <a:lnTo>
                  <a:pt x="213" y="41"/>
                </a:lnTo>
                <a:lnTo>
                  <a:pt x="196" y="46"/>
                </a:lnTo>
                <a:lnTo>
                  <a:pt x="180" y="52"/>
                </a:lnTo>
                <a:lnTo>
                  <a:pt x="164" y="57"/>
                </a:lnTo>
                <a:lnTo>
                  <a:pt x="147" y="62"/>
                </a:lnTo>
                <a:lnTo>
                  <a:pt x="131" y="67"/>
                </a:lnTo>
                <a:lnTo>
                  <a:pt x="114" y="71"/>
                </a:lnTo>
                <a:lnTo>
                  <a:pt x="98" y="75"/>
                </a:lnTo>
                <a:lnTo>
                  <a:pt x="82" y="79"/>
                </a:lnTo>
                <a:lnTo>
                  <a:pt x="65" y="82"/>
                </a:lnTo>
                <a:lnTo>
                  <a:pt x="49" y="85"/>
                </a:lnTo>
                <a:lnTo>
                  <a:pt x="33" y="87"/>
                </a:lnTo>
                <a:lnTo>
                  <a:pt x="16" y="88"/>
                </a:lnTo>
                <a:lnTo>
                  <a:pt x="0" y="89"/>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reeform 57"/>
          <p:cNvSpPr/>
          <p:nvPr/>
        </p:nvSpPr>
        <p:spPr>
          <a:xfrm>
            <a:off x="2057400" y="5724525"/>
            <a:ext cx="3743325" cy="381000"/>
          </a:xfrm>
          <a:custGeom>
            <a:avLst/>
            <a:gdLst/>
            <a:ahLst/>
            <a:cxnLst/>
            <a:rect l="l" t="t" r="r" b="b"/>
            <a:pathLst>
              <a:path w="393" h="40">
                <a:moveTo>
                  <a:pt x="0" y="38"/>
                </a:moveTo>
                <a:lnTo>
                  <a:pt x="16" y="37"/>
                </a:lnTo>
                <a:lnTo>
                  <a:pt x="33" y="37"/>
                </a:lnTo>
                <a:lnTo>
                  <a:pt x="49" y="36"/>
                </a:lnTo>
                <a:lnTo>
                  <a:pt x="65" y="35"/>
                </a:lnTo>
                <a:lnTo>
                  <a:pt x="82" y="33"/>
                </a:lnTo>
                <a:lnTo>
                  <a:pt x="98" y="32"/>
                </a:lnTo>
                <a:lnTo>
                  <a:pt x="114" y="30"/>
                </a:lnTo>
                <a:lnTo>
                  <a:pt x="131" y="28"/>
                </a:lnTo>
                <a:lnTo>
                  <a:pt x="147" y="26"/>
                </a:lnTo>
                <a:lnTo>
                  <a:pt x="164" y="24"/>
                </a:lnTo>
                <a:lnTo>
                  <a:pt x="180" y="21"/>
                </a:lnTo>
                <a:lnTo>
                  <a:pt x="196" y="19"/>
                </a:lnTo>
                <a:lnTo>
                  <a:pt x="213" y="17"/>
                </a:lnTo>
                <a:lnTo>
                  <a:pt x="229" y="14"/>
                </a:lnTo>
                <a:lnTo>
                  <a:pt x="246" y="12"/>
                </a:lnTo>
                <a:lnTo>
                  <a:pt x="262" y="10"/>
                </a:lnTo>
                <a:lnTo>
                  <a:pt x="278" y="8"/>
                </a:lnTo>
                <a:lnTo>
                  <a:pt x="295" y="6"/>
                </a:lnTo>
                <a:lnTo>
                  <a:pt x="311" y="4"/>
                </a:lnTo>
                <a:lnTo>
                  <a:pt x="327" y="3"/>
                </a:lnTo>
                <a:lnTo>
                  <a:pt x="344" y="2"/>
                </a:lnTo>
                <a:lnTo>
                  <a:pt x="360" y="1"/>
                </a:lnTo>
                <a:lnTo>
                  <a:pt x="377" y="0"/>
                </a:lnTo>
                <a:lnTo>
                  <a:pt x="393" y="0"/>
                </a:lnTo>
                <a:lnTo>
                  <a:pt x="393" y="3"/>
                </a:lnTo>
                <a:lnTo>
                  <a:pt x="377" y="3"/>
                </a:lnTo>
                <a:lnTo>
                  <a:pt x="360" y="4"/>
                </a:lnTo>
                <a:lnTo>
                  <a:pt x="344" y="5"/>
                </a:lnTo>
                <a:lnTo>
                  <a:pt x="327" y="6"/>
                </a:lnTo>
                <a:lnTo>
                  <a:pt x="311" y="7"/>
                </a:lnTo>
                <a:lnTo>
                  <a:pt x="295" y="9"/>
                </a:lnTo>
                <a:lnTo>
                  <a:pt x="278" y="11"/>
                </a:lnTo>
                <a:lnTo>
                  <a:pt x="262" y="13"/>
                </a:lnTo>
                <a:lnTo>
                  <a:pt x="246" y="15"/>
                </a:lnTo>
                <a:lnTo>
                  <a:pt x="229" y="17"/>
                </a:lnTo>
                <a:lnTo>
                  <a:pt x="213" y="19"/>
                </a:lnTo>
                <a:lnTo>
                  <a:pt x="196" y="22"/>
                </a:lnTo>
                <a:lnTo>
                  <a:pt x="180" y="24"/>
                </a:lnTo>
                <a:lnTo>
                  <a:pt x="164" y="26"/>
                </a:lnTo>
                <a:lnTo>
                  <a:pt x="147" y="29"/>
                </a:lnTo>
                <a:lnTo>
                  <a:pt x="131" y="31"/>
                </a:lnTo>
                <a:lnTo>
                  <a:pt x="114" y="33"/>
                </a:lnTo>
                <a:lnTo>
                  <a:pt x="98" y="35"/>
                </a:lnTo>
                <a:lnTo>
                  <a:pt x="82" y="36"/>
                </a:lnTo>
                <a:lnTo>
                  <a:pt x="65" y="38"/>
                </a:lnTo>
                <a:lnTo>
                  <a:pt x="49" y="39"/>
                </a:lnTo>
                <a:lnTo>
                  <a:pt x="33" y="40"/>
                </a:lnTo>
                <a:lnTo>
                  <a:pt x="16" y="40"/>
                </a:lnTo>
                <a:lnTo>
                  <a:pt x="0" y="40"/>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2057400" y="6105525"/>
            <a:ext cx="3743325" cy="47625"/>
          </a:xfrm>
          <a:custGeom>
            <a:avLst/>
            <a:gdLst/>
            <a:ahLst/>
            <a:cxnLst/>
            <a:rect l="l" t="t" r="r" b="b"/>
            <a:pathLst>
              <a:path w="393" h="5">
                <a:moveTo>
                  <a:pt x="0" y="0"/>
                </a:moveTo>
                <a:lnTo>
                  <a:pt x="16" y="0"/>
                </a:lnTo>
                <a:lnTo>
                  <a:pt x="33" y="0"/>
                </a:lnTo>
                <a:lnTo>
                  <a:pt x="49" y="1"/>
                </a:lnTo>
                <a:lnTo>
                  <a:pt x="65" y="1"/>
                </a:lnTo>
                <a:lnTo>
                  <a:pt x="82" y="1"/>
                </a:lnTo>
                <a:lnTo>
                  <a:pt x="98" y="1"/>
                </a:lnTo>
                <a:lnTo>
                  <a:pt x="114" y="1"/>
                </a:lnTo>
                <a:lnTo>
                  <a:pt x="131" y="1"/>
                </a:lnTo>
                <a:lnTo>
                  <a:pt x="147" y="1"/>
                </a:lnTo>
                <a:lnTo>
                  <a:pt x="164" y="1"/>
                </a:lnTo>
                <a:lnTo>
                  <a:pt x="180" y="1"/>
                </a:lnTo>
                <a:lnTo>
                  <a:pt x="196" y="1"/>
                </a:lnTo>
                <a:lnTo>
                  <a:pt x="213" y="1"/>
                </a:lnTo>
                <a:lnTo>
                  <a:pt x="229" y="2"/>
                </a:lnTo>
                <a:lnTo>
                  <a:pt x="246" y="2"/>
                </a:lnTo>
                <a:lnTo>
                  <a:pt x="262" y="2"/>
                </a:lnTo>
                <a:lnTo>
                  <a:pt x="278" y="2"/>
                </a:lnTo>
                <a:lnTo>
                  <a:pt x="295" y="2"/>
                </a:lnTo>
                <a:lnTo>
                  <a:pt x="311" y="2"/>
                </a:lnTo>
                <a:lnTo>
                  <a:pt x="327" y="2"/>
                </a:lnTo>
                <a:lnTo>
                  <a:pt x="344" y="2"/>
                </a:lnTo>
                <a:lnTo>
                  <a:pt x="360" y="2"/>
                </a:lnTo>
                <a:lnTo>
                  <a:pt x="377" y="2"/>
                </a:lnTo>
                <a:lnTo>
                  <a:pt x="393" y="2"/>
                </a:lnTo>
                <a:lnTo>
                  <a:pt x="393" y="5"/>
                </a:lnTo>
                <a:lnTo>
                  <a:pt x="377" y="5"/>
                </a:lnTo>
                <a:lnTo>
                  <a:pt x="360" y="5"/>
                </a:lnTo>
                <a:lnTo>
                  <a:pt x="344" y="5"/>
                </a:lnTo>
                <a:lnTo>
                  <a:pt x="327" y="5"/>
                </a:lnTo>
                <a:lnTo>
                  <a:pt x="311" y="5"/>
                </a:lnTo>
                <a:lnTo>
                  <a:pt x="295" y="5"/>
                </a:lnTo>
                <a:lnTo>
                  <a:pt x="278" y="5"/>
                </a:lnTo>
                <a:lnTo>
                  <a:pt x="262" y="5"/>
                </a:lnTo>
                <a:lnTo>
                  <a:pt x="246" y="5"/>
                </a:lnTo>
                <a:lnTo>
                  <a:pt x="229" y="4"/>
                </a:lnTo>
                <a:lnTo>
                  <a:pt x="213" y="4"/>
                </a:lnTo>
                <a:lnTo>
                  <a:pt x="196" y="4"/>
                </a:lnTo>
                <a:lnTo>
                  <a:pt x="180" y="4"/>
                </a:lnTo>
                <a:lnTo>
                  <a:pt x="164" y="4"/>
                </a:lnTo>
                <a:lnTo>
                  <a:pt x="147" y="4"/>
                </a:lnTo>
                <a:lnTo>
                  <a:pt x="131" y="4"/>
                </a:lnTo>
                <a:lnTo>
                  <a:pt x="114" y="4"/>
                </a:lnTo>
                <a:lnTo>
                  <a:pt x="98" y="4"/>
                </a:lnTo>
                <a:lnTo>
                  <a:pt x="82" y="3"/>
                </a:lnTo>
                <a:lnTo>
                  <a:pt x="65" y="3"/>
                </a:lnTo>
                <a:lnTo>
                  <a:pt x="49" y="3"/>
                </a:lnTo>
                <a:lnTo>
                  <a:pt x="33" y="3"/>
                </a:lnTo>
                <a:lnTo>
                  <a:pt x="16" y="3"/>
                </a:lnTo>
                <a:lnTo>
                  <a:pt x="0" y="3"/>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Freeform 59"/>
          <p:cNvSpPr/>
          <p:nvPr/>
        </p:nvSpPr>
        <p:spPr>
          <a:xfrm>
            <a:off x="2057400" y="6134100"/>
            <a:ext cx="3743325" cy="323850"/>
          </a:xfrm>
          <a:custGeom>
            <a:avLst/>
            <a:gdLst/>
            <a:ahLst/>
            <a:cxnLst/>
            <a:rect l="l" t="t" r="r" b="b"/>
            <a:pathLst>
              <a:path w="393" h="34">
                <a:moveTo>
                  <a:pt x="0" y="0"/>
                </a:moveTo>
                <a:lnTo>
                  <a:pt x="16" y="0"/>
                </a:lnTo>
                <a:lnTo>
                  <a:pt x="33" y="1"/>
                </a:lnTo>
                <a:lnTo>
                  <a:pt x="49" y="2"/>
                </a:lnTo>
                <a:lnTo>
                  <a:pt x="65" y="3"/>
                </a:lnTo>
                <a:lnTo>
                  <a:pt x="82" y="4"/>
                </a:lnTo>
                <a:lnTo>
                  <a:pt x="98" y="5"/>
                </a:lnTo>
                <a:lnTo>
                  <a:pt x="114" y="7"/>
                </a:lnTo>
                <a:lnTo>
                  <a:pt x="131" y="9"/>
                </a:lnTo>
                <a:lnTo>
                  <a:pt x="147" y="11"/>
                </a:lnTo>
                <a:lnTo>
                  <a:pt x="164" y="12"/>
                </a:lnTo>
                <a:lnTo>
                  <a:pt x="180" y="14"/>
                </a:lnTo>
                <a:lnTo>
                  <a:pt x="196" y="16"/>
                </a:lnTo>
                <a:lnTo>
                  <a:pt x="213" y="19"/>
                </a:lnTo>
                <a:lnTo>
                  <a:pt x="229" y="20"/>
                </a:lnTo>
                <a:lnTo>
                  <a:pt x="246" y="22"/>
                </a:lnTo>
                <a:lnTo>
                  <a:pt x="262" y="24"/>
                </a:lnTo>
                <a:lnTo>
                  <a:pt x="278" y="26"/>
                </a:lnTo>
                <a:lnTo>
                  <a:pt x="295" y="28"/>
                </a:lnTo>
                <a:lnTo>
                  <a:pt x="311" y="29"/>
                </a:lnTo>
                <a:lnTo>
                  <a:pt x="327" y="30"/>
                </a:lnTo>
                <a:lnTo>
                  <a:pt x="344" y="31"/>
                </a:lnTo>
                <a:lnTo>
                  <a:pt x="360" y="32"/>
                </a:lnTo>
                <a:lnTo>
                  <a:pt x="377" y="33"/>
                </a:lnTo>
                <a:lnTo>
                  <a:pt x="393" y="33"/>
                </a:lnTo>
                <a:lnTo>
                  <a:pt x="393" y="34"/>
                </a:lnTo>
                <a:lnTo>
                  <a:pt x="377" y="34"/>
                </a:lnTo>
                <a:lnTo>
                  <a:pt x="360" y="34"/>
                </a:lnTo>
                <a:lnTo>
                  <a:pt x="344" y="33"/>
                </a:lnTo>
                <a:lnTo>
                  <a:pt x="327" y="32"/>
                </a:lnTo>
                <a:lnTo>
                  <a:pt x="311" y="31"/>
                </a:lnTo>
                <a:lnTo>
                  <a:pt x="295" y="29"/>
                </a:lnTo>
                <a:lnTo>
                  <a:pt x="278" y="28"/>
                </a:lnTo>
                <a:lnTo>
                  <a:pt x="262" y="26"/>
                </a:lnTo>
                <a:lnTo>
                  <a:pt x="246" y="24"/>
                </a:lnTo>
                <a:lnTo>
                  <a:pt x="229" y="22"/>
                </a:lnTo>
                <a:lnTo>
                  <a:pt x="213" y="20"/>
                </a:lnTo>
                <a:lnTo>
                  <a:pt x="196" y="18"/>
                </a:lnTo>
                <a:lnTo>
                  <a:pt x="180" y="16"/>
                </a:lnTo>
                <a:lnTo>
                  <a:pt x="164" y="14"/>
                </a:lnTo>
                <a:lnTo>
                  <a:pt x="147" y="12"/>
                </a:lnTo>
                <a:lnTo>
                  <a:pt x="131" y="10"/>
                </a:lnTo>
                <a:lnTo>
                  <a:pt x="114" y="8"/>
                </a:lnTo>
                <a:lnTo>
                  <a:pt x="98" y="7"/>
                </a:lnTo>
                <a:lnTo>
                  <a:pt x="82" y="5"/>
                </a:lnTo>
                <a:lnTo>
                  <a:pt x="65" y="4"/>
                </a:lnTo>
                <a:lnTo>
                  <a:pt x="49" y="3"/>
                </a:lnTo>
                <a:lnTo>
                  <a:pt x="33" y="2"/>
                </a:lnTo>
                <a:lnTo>
                  <a:pt x="16" y="2"/>
                </a:lnTo>
                <a:lnTo>
                  <a:pt x="0" y="2"/>
                </a:lnTo>
                <a:close/>
              </a:path>
            </a:pathLst>
          </a:custGeom>
          <a:solidFill>
            <a:srgbClr val="0E72AE">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2057400" y="2419350"/>
            <a:ext cx="3743325" cy="3819525"/>
          </a:xfrm>
          <a:custGeom>
            <a:avLst/>
            <a:gdLst/>
            <a:ahLst/>
            <a:cxnLst/>
            <a:rect l="l" t="t" r="r" b="b"/>
            <a:pathLst>
              <a:path w="393" h="401">
                <a:moveTo>
                  <a:pt x="0" y="398"/>
                </a:moveTo>
                <a:lnTo>
                  <a:pt x="16" y="396"/>
                </a:lnTo>
                <a:lnTo>
                  <a:pt x="33" y="390"/>
                </a:lnTo>
                <a:lnTo>
                  <a:pt x="49" y="381"/>
                </a:lnTo>
                <a:lnTo>
                  <a:pt x="65" y="368"/>
                </a:lnTo>
                <a:lnTo>
                  <a:pt x="82" y="353"/>
                </a:lnTo>
                <a:lnTo>
                  <a:pt x="98" y="336"/>
                </a:lnTo>
                <a:lnTo>
                  <a:pt x="114" y="316"/>
                </a:lnTo>
                <a:lnTo>
                  <a:pt x="131" y="295"/>
                </a:lnTo>
                <a:lnTo>
                  <a:pt x="147" y="272"/>
                </a:lnTo>
                <a:lnTo>
                  <a:pt x="164" y="248"/>
                </a:lnTo>
                <a:lnTo>
                  <a:pt x="180" y="224"/>
                </a:lnTo>
                <a:lnTo>
                  <a:pt x="196" y="199"/>
                </a:lnTo>
                <a:lnTo>
                  <a:pt x="213" y="174"/>
                </a:lnTo>
                <a:lnTo>
                  <a:pt x="229" y="150"/>
                </a:lnTo>
                <a:lnTo>
                  <a:pt x="246" y="126"/>
                </a:lnTo>
                <a:lnTo>
                  <a:pt x="262" y="103"/>
                </a:lnTo>
                <a:lnTo>
                  <a:pt x="278" y="82"/>
                </a:lnTo>
                <a:lnTo>
                  <a:pt x="295" y="62"/>
                </a:lnTo>
                <a:lnTo>
                  <a:pt x="311" y="45"/>
                </a:lnTo>
                <a:lnTo>
                  <a:pt x="327" y="30"/>
                </a:lnTo>
                <a:lnTo>
                  <a:pt x="344" y="17"/>
                </a:lnTo>
                <a:lnTo>
                  <a:pt x="360" y="8"/>
                </a:lnTo>
                <a:lnTo>
                  <a:pt x="377" y="2"/>
                </a:lnTo>
                <a:lnTo>
                  <a:pt x="393" y="0"/>
                </a:lnTo>
                <a:lnTo>
                  <a:pt x="393" y="4"/>
                </a:lnTo>
                <a:lnTo>
                  <a:pt x="377" y="6"/>
                </a:lnTo>
                <a:lnTo>
                  <a:pt x="360" y="11"/>
                </a:lnTo>
                <a:lnTo>
                  <a:pt x="344" y="21"/>
                </a:lnTo>
                <a:lnTo>
                  <a:pt x="327" y="33"/>
                </a:lnTo>
                <a:lnTo>
                  <a:pt x="311" y="48"/>
                </a:lnTo>
                <a:lnTo>
                  <a:pt x="295" y="66"/>
                </a:lnTo>
                <a:lnTo>
                  <a:pt x="278" y="85"/>
                </a:lnTo>
                <a:lnTo>
                  <a:pt x="262" y="107"/>
                </a:lnTo>
                <a:lnTo>
                  <a:pt x="246" y="129"/>
                </a:lnTo>
                <a:lnTo>
                  <a:pt x="229" y="153"/>
                </a:lnTo>
                <a:lnTo>
                  <a:pt x="213" y="178"/>
                </a:lnTo>
                <a:lnTo>
                  <a:pt x="196" y="202"/>
                </a:lnTo>
                <a:lnTo>
                  <a:pt x="180" y="227"/>
                </a:lnTo>
                <a:lnTo>
                  <a:pt x="164" y="252"/>
                </a:lnTo>
                <a:lnTo>
                  <a:pt x="147" y="275"/>
                </a:lnTo>
                <a:lnTo>
                  <a:pt x="131" y="298"/>
                </a:lnTo>
                <a:lnTo>
                  <a:pt x="114" y="319"/>
                </a:lnTo>
                <a:lnTo>
                  <a:pt x="98" y="339"/>
                </a:lnTo>
                <a:lnTo>
                  <a:pt x="82" y="356"/>
                </a:lnTo>
                <a:lnTo>
                  <a:pt x="65" y="372"/>
                </a:lnTo>
                <a:lnTo>
                  <a:pt x="49" y="384"/>
                </a:lnTo>
                <a:lnTo>
                  <a:pt x="33" y="393"/>
                </a:lnTo>
                <a:lnTo>
                  <a:pt x="16" y="399"/>
                </a:lnTo>
                <a:lnTo>
                  <a:pt x="0" y="401"/>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Freeform 61"/>
          <p:cNvSpPr/>
          <p:nvPr/>
        </p:nvSpPr>
        <p:spPr>
          <a:xfrm>
            <a:off x="2057400" y="3524250"/>
            <a:ext cx="3743325" cy="2743200"/>
          </a:xfrm>
          <a:custGeom>
            <a:avLst/>
            <a:gdLst/>
            <a:ahLst/>
            <a:cxnLst/>
            <a:rect l="l" t="t" r="r" b="b"/>
            <a:pathLst>
              <a:path w="393" h="288">
                <a:moveTo>
                  <a:pt x="0" y="285"/>
                </a:moveTo>
                <a:lnTo>
                  <a:pt x="16" y="284"/>
                </a:lnTo>
                <a:lnTo>
                  <a:pt x="33" y="279"/>
                </a:lnTo>
                <a:lnTo>
                  <a:pt x="49" y="273"/>
                </a:lnTo>
                <a:lnTo>
                  <a:pt x="65" y="264"/>
                </a:lnTo>
                <a:lnTo>
                  <a:pt x="82" y="253"/>
                </a:lnTo>
                <a:lnTo>
                  <a:pt x="98" y="240"/>
                </a:lnTo>
                <a:lnTo>
                  <a:pt x="114" y="226"/>
                </a:lnTo>
                <a:lnTo>
                  <a:pt x="131" y="211"/>
                </a:lnTo>
                <a:lnTo>
                  <a:pt x="147" y="195"/>
                </a:lnTo>
                <a:lnTo>
                  <a:pt x="164" y="178"/>
                </a:lnTo>
                <a:lnTo>
                  <a:pt x="180" y="160"/>
                </a:lnTo>
                <a:lnTo>
                  <a:pt x="196" y="143"/>
                </a:lnTo>
                <a:lnTo>
                  <a:pt x="213" y="125"/>
                </a:lnTo>
                <a:lnTo>
                  <a:pt x="229" y="107"/>
                </a:lnTo>
                <a:lnTo>
                  <a:pt x="246" y="90"/>
                </a:lnTo>
                <a:lnTo>
                  <a:pt x="262" y="74"/>
                </a:lnTo>
                <a:lnTo>
                  <a:pt x="278" y="59"/>
                </a:lnTo>
                <a:lnTo>
                  <a:pt x="295" y="45"/>
                </a:lnTo>
                <a:lnTo>
                  <a:pt x="311" y="32"/>
                </a:lnTo>
                <a:lnTo>
                  <a:pt x="327" y="21"/>
                </a:lnTo>
                <a:lnTo>
                  <a:pt x="344" y="12"/>
                </a:lnTo>
                <a:lnTo>
                  <a:pt x="360" y="6"/>
                </a:lnTo>
                <a:lnTo>
                  <a:pt x="377" y="2"/>
                </a:lnTo>
                <a:lnTo>
                  <a:pt x="393" y="0"/>
                </a:lnTo>
                <a:lnTo>
                  <a:pt x="393" y="4"/>
                </a:lnTo>
                <a:lnTo>
                  <a:pt x="377" y="5"/>
                </a:lnTo>
                <a:lnTo>
                  <a:pt x="360" y="9"/>
                </a:lnTo>
                <a:lnTo>
                  <a:pt x="344" y="16"/>
                </a:lnTo>
                <a:lnTo>
                  <a:pt x="327" y="25"/>
                </a:lnTo>
                <a:lnTo>
                  <a:pt x="311" y="36"/>
                </a:lnTo>
                <a:lnTo>
                  <a:pt x="295" y="48"/>
                </a:lnTo>
                <a:lnTo>
                  <a:pt x="278" y="62"/>
                </a:lnTo>
                <a:lnTo>
                  <a:pt x="262" y="77"/>
                </a:lnTo>
                <a:lnTo>
                  <a:pt x="246" y="94"/>
                </a:lnTo>
                <a:lnTo>
                  <a:pt x="229" y="111"/>
                </a:lnTo>
                <a:lnTo>
                  <a:pt x="213" y="128"/>
                </a:lnTo>
                <a:lnTo>
                  <a:pt x="196" y="146"/>
                </a:lnTo>
                <a:lnTo>
                  <a:pt x="180" y="164"/>
                </a:lnTo>
                <a:lnTo>
                  <a:pt x="164" y="181"/>
                </a:lnTo>
                <a:lnTo>
                  <a:pt x="147" y="198"/>
                </a:lnTo>
                <a:lnTo>
                  <a:pt x="131" y="215"/>
                </a:lnTo>
                <a:lnTo>
                  <a:pt x="114" y="230"/>
                </a:lnTo>
                <a:lnTo>
                  <a:pt x="98" y="244"/>
                </a:lnTo>
                <a:lnTo>
                  <a:pt x="82" y="257"/>
                </a:lnTo>
                <a:lnTo>
                  <a:pt x="65" y="267"/>
                </a:lnTo>
                <a:lnTo>
                  <a:pt x="49" y="276"/>
                </a:lnTo>
                <a:lnTo>
                  <a:pt x="33" y="283"/>
                </a:lnTo>
                <a:lnTo>
                  <a:pt x="16" y="287"/>
                </a:lnTo>
                <a:lnTo>
                  <a:pt x="0" y="288"/>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057400" y="4467225"/>
            <a:ext cx="3743325" cy="1828800"/>
          </a:xfrm>
          <a:custGeom>
            <a:avLst/>
            <a:gdLst/>
            <a:ahLst/>
            <a:cxnLst/>
            <a:rect l="l" t="t" r="r" b="b"/>
            <a:pathLst>
              <a:path w="393" h="192">
                <a:moveTo>
                  <a:pt x="0" y="189"/>
                </a:moveTo>
                <a:lnTo>
                  <a:pt x="16" y="189"/>
                </a:lnTo>
                <a:lnTo>
                  <a:pt x="33" y="186"/>
                </a:lnTo>
                <a:lnTo>
                  <a:pt x="49" y="181"/>
                </a:lnTo>
                <a:lnTo>
                  <a:pt x="65" y="175"/>
                </a:lnTo>
                <a:lnTo>
                  <a:pt x="82" y="168"/>
                </a:lnTo>
                <a:lnTo>
                  <a:pt x="98" y="160"/>
                </a:lnTo>
                <a:lnTo>
                  <a:pt x="114" y="151"/>
                </a:lnTo>
                <a:lnTo>
                  <a:pt x="131" y="140"/>
                </a:lnTo>
                <a:lnTo>
                  <a:pt x="147" y="130"/>
                </a:lnTo>
                <a:lnTo>
                  <a:pt x="164" y="118"/>
                </a:lnTo>
                <a:lnTo>
                  <a:pt x="180" y="107"/>
                </a:lnTo>
                <a:lnTo>
                  <a:pt x="196" y="95"/>
                </a:lnTo>
                <a:lnTo>
                  <a:pt x="213" y="83"/>
                </a:lnTo>
                <a:lnTo>
                  <a:pt x="229" y="71"/>
                </a:lnTo>
                <a:lnTo>
                  <a:pt x="246" y="60"/>
                </a:lnTo>
                <a:lnTo>
                  <a:pt x="262" y="49"/>
                </a:lnTo>
                <a:lnTo>
                  <a:pt x="278" y="39"/>
                </a:lnTo>
                <a:lnTo>
                  <a:pt x="295" y="30"/>
                </a:lnTo>
                <a:lnTo>
                  <a:pt x="311" y="21"/>
                </a:lnTo>
                <a:lnTo>
                  <a:pt x="327" y="14"/>
                </a:lnTo>
                <a:lnTo>
                  <a:pt x="344" y="8"/>
                </a:lnTo>
                <a:lnTo>
                  <a:pt x="360" y="4"/>
                </a:lnTo>
                <a:lnTo>
                  <a:pt x="377" y="1"/>
                </a:lnTo>
                <a:lnTo>
                  <a:pt x="393" y="0"/>
                </a:lnTo>
                <a:lnTo>
                  <a:pt x="393" y="3"/>
                </a:lnTo>
                <a:lnTo>
                  <a:pt x="377" y="4"/>
                </a:lnTo>
                <a:lnTo>
                  <a:pt x="360" y="6"/>
                </a:lnTo>
                <a:lnTo>
                  <a:pt x="344" y="11"/>
                </a:lnTo>
                <a:lnTo>
                  <a:pt x="327" y="17"/>
                </a:lnTo>
                <a:lnTo>
                  <a:pt x="311" y="24"/>
                </a:lnTo>
                <a:lnTo>
                  <a:pt x="295" y="32"/>
                </a:lnTo>
                <a:lnTo>
                  <a:pt x="278" y="42"/>
                </a:lnTo>
                <a:lnTo>
                  <a:pt x="262" y="52"/>
                </a:lnTo>
                <a:lnTo>
                  <a:pt x="246" y="62"/>
                </a:lnTo>
                <a:lnTo>
                  <a:pt x="229" y="74"/>
                </a:lnTo>
                <a:lnTo>
                  <a:pt x="213" y="85"/>
                </a:lnTo>
                <a:lnTo>
                  <a:pt x="196" y="97"/>
                </a:lnTo>
                <a:lnTo>
                  <a:pt x="180" y="109"/>
                </a:lnTo>
                <a:lnTo>
                  <a:pt x="164" y="121"/>
                </a:lnTo>
                <a:lnTo>
                  <a:pt x="147" y="132"/>
                </a:lnTo>
                <a:lnTo>
                  <a:pt x="131" y="143"/>
                </a:lnTo>
                <a:lnTo>
                  <a:pt x="114" y="153"/>
                </a:lnTo>
                <a:lnTo>
                  <a:pt x="98" y="162"/>
                </a:lnTo>
                <a:lnTo>
                  <a:pt x="82" y="171"/>
                </a:lnTo>
                <a:lnTo>
                  <a:pt x="65" y="178"/>
                </a:lnTo>
                <a:lnTo>
                  <a:pt x="49" y="184"/>
                </a:lnTo>
                <a:lnTo>
                  <a:pt x="33" y="188"/>
                </a:lnTo>
                <a:lnTo>
                  <a:pt x="16" y="191"/>
                </a:lnTo>
                <a:lnTo>
                  <a:pt x="0" y="192"/>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Freeform 63"/>
          <p:cNvSpPr/>
          <p:nvPr/>
        </p:nvSpPr>
        <p:spPr>
          <a:xfrm>
            <a:off x="2057400" y="5276850"/>
            <a:ext cx="3743325" cy="1047750"/>
          </a:xfrm>
          <a:custGeom>
            <a:avLst/>
            <a:gdLst/>
            <a:ahLst/>
            <a:cxnLst/>
            <a:rect l="l" t="t" r="r" b="b"/>
            <a:pathLst>
              <a:path w="393" h="110">
                <a:moveTo>
                  <a:pt x="0" y="107"/>
                </a:moveTo>
                <a:lnTo>
                  <a:pt x="16" y="106"/>
                </a:lnTo>
                <a:lnTo>
                  <a:pt x="33" y="105"/>
                </a:lnTo>
                <a:lnTo>
                  <a:pt x="49" y="102"/>
                </a:lnTo>
                <a:lnTo>
                  <a:pt x="65" y="99"/>
                </a:lnTo>
                <a:lnTo>
                  <a:pt x="82" y="95"/>
                </a:lnTo>
                <a:lnTo>
                  <a:pt x="98" y="90"/>
                </a:lnTo>
                <a:lnTo>
                  <a:pt x="114" y="85"/>
                </a:lnTo>
                <a:lnTo>
                  <a:pt x="131" y="79"/>
                </a:lnTo>
                <a:lnTo>
                  <a:pt x="147" y="73"/>
                </a:lnTo>
                <a:lnTo>
                  <a:pt x="164" y="67"/>
                </a:lnTo>
                <a:lnTo>
                  <a:pt x="180" y="60"/>
                </a:lnTo>
                <a:lnTo>
                  <a:pt x="196" y="54"/>
                </a:lnTo>
                <a:lnTo>
                  <a:pt x="213" y="47"/>
                </a:lnTo>
                <a:lnTo>
                  <a:pt x="229" y="40"/>
                </a:lnTo>
                <a:lnTo>
                  <a:pt x="246" y="34"/>
                </a:lnTo>
                <a:lnTo>
                  <a:pt x="262" y="28"/>
                </a:lnTo>
                <a:lnTo>
                  <a:pt x="278" y="22"/>
                </a:lnTo>
                <a:lnTo>
                  <a:pt x="295" y="17"/>
                </a:lnTo>
                <a:lnTo>
                  <a:pt x="311" y="12"/>
                </a:lnTo>
                <a:lnTo>
                  <a:pt x="327" y="8"/>
                </a:lnTo>
                <a:lnTo>
                  <a:pt x="344" y="5"/>
                </a:lnTo>
                <a:lnTo>
                  <a:pt x="360" y="2"/>
                </a:lnTo>
                <a:lnTo>
                  <a:pt x="377" y="1"/>
                </a:lnTo>
                <a:lnTo>
                  <a:pt x="393" y="0"/>
                </a:lnTo>
                <a:lnTo>
                  <a:pt x="393" y="3"/>
                </a:lnTo>
                <a:lnTo>
                  <a:pt x="377" y="3"/>
                </a:lnTo>
                <a:lnTo>
                  <a:pt x="360" y="5"/>
                </a:lnTo>
                <a:lnTo>
                  <a:pt x="344" y="7"/>
                </a:lnTo>
                <a:lnTo>
                  <a:pt x="327" y="11"/>
                </a:lnTo>
                <a:lnTo>
                  <a:pt x="311" y="15"/>
                </a:lnTo>
                <a:lnTo>
                  <a:pt x="295" y="20"/>
                </a:lnTo>
                <a:lnTo>
                  <a:pt x="278" y="25"/>
                </a:lnTo>
                <a:lnTo>
                  <a:pt x="262" y="31"/>
                </a:lnTo>
                <a:lnTo>
                  <a:pt x="246" y="37"/>
                </a:lnTo>
                <a:lnTo>
                  <a:pt x="229" y="43"/>
                </a:lnTo>
                <a:lnTo>
                  <a:pt x="213" y="50"/>
                </a:lnTo>
                <a:lnTo>
                  <a:pt x="196" y="56"/>
                </a:lnTo>
                <a:lnTo>
                  <a:pt x="180" y="63"/>
                </a:lnTo>
                <a:lnTo>
                  <a:pt x="164" y="69"/>
                </a:lnTo>
                <a:lnTo>
                  <a:pt x="147" y="76"/>
                </a:lnTo>
                <a:lnTo>
                  <a:pt x="131" y="82"/>
                </a:lnTo>
                <a:lnTo>
                  <a:pt x="114" y="88"/>
                </a:lnTo>
                <a:lnTo>
                  <a:pt x="98" y="93"/>
                </a:lnTo>
                <a:lnTo>
                  <a:pt x="82" y="98"/>
                </a:lnTo>
                <a:lnTo>
                  <a:pt x="65" y="102"/>
                </a:lnTo>
                <a:lnTo>
                  <a:pt x="49" y="105"/>
                </a:lnTo>
                <a:lnTo>
                  <a:pt x="33" y="107"/>
                </a:lnTo>
                <a:lnTo>
                  <a:pt x="16" y="109"/>
                </a:lnTo>
                <a:lnTo>
                  <a:pt x="0" y="110"/>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2057400" y="5753100"/>
            <a:ext cx="3743325" cy="581025"/>
          </a:xfrm>
          <a:custGeom>
            <a:avLst/>
            <a:gdLst/>
            <a:ahLst/>
            <a:cxnLst/>
            <a:rect l="l" t="t" r="r" b="b"/>
            <a:pathLst>
              <a:path w="393" h="61">
                <a:moveTo>
                  <a:pt x="0" y="60"/>
                </a:moveTo>
                <a:lnTo>
                  <a:pt x="16" y="59"/>
                </a:lnTo>
                <a:lnTo>
                  <a:pt x="33" y="58"/>
                </a:lnTo>
                <a:lnTo>
                  <a:pt x="49" y="57"/>
                </a:lnTo>
                <a:lnTo>
                  <a:pt x="65" y="55"/>
                </a:lnTo>
                <a:lnTo>
                  <a:pt x="82" y="53"/>
                </a:lnTo>
                <a:lnTo>
                  <a:pt x="98" y="50"/>
                </a:lnTo>
                <a:lnTo>
                  <a:pt x="114" y="47"/>
                </a:lnTo>
                <a:lnTo>
                  <a:pt x="131" y="44"/>
                </a:lnTo>
                <a:lnTo>
                  <a:pt x="147" y="41"/>
                </a:lnTo>
                <a:lnTo>
                  <a:pt x="164" y="37"/>
                </a:lnTo>
                <a:lnTo>
                  <a:pt x="180" y="34"/>
                </a:lnTo>
                <a:lnTo>
                  <a:pt x="196" y="30"/>
                </a:lnTo>
                <a:lnTo>
                  <a:pt x="213" y="26"/>
                </a:lnTo>
                <a:lnTo>
                  <a:pt x="229" y="22"/>
                </a:lnTo>
                <a:lnTo>
                  <a:pt x="246" y="19"/>
                </a:lnTo>
                <a:lnTo>
                  <a:pt x="262" y="16"/>
                </a:lnTo>
                <a:lnTo>
                  <a:pt x="278" y="12"/>
                </a:lnTo>
                <a:lnTo>
                  <a:pt x="295" y="9"/>
                </a:lnTo>
                <a:lnTo>
                  <a:pt x="311" y="7"/>
                </a:lnTo>
                <a:lnTo>
                  <a:pt x="327" y="5"/>
                </a:lnTo>
                <a:lnTo>
                  <a:pt x="344" y="3"/>
                </a:lnTo>
                <a:lnTo>
                  <a:pt x="360" y="1"/>
                </a:lnTo>
                <a:lnTo>
                  <a:pt x="377" y="0"/>
                </a:lnTo>
                <a:lnTo>
                  <a:pt x="393" y="0"/>
                </a:lnTo>
                <a:lnTo>
                  <a:pt x="393" y="1"/>
                </a:lnTo>
                <a:lnTo>
                  <a:pt x="377" y="2"/>
                </a:lnTo>
                <a:lnTo>
                  <a:pt x="360" y="3"/>
                </a:lnTo>
                <a:lnTo>
                  <a:pt x="344" y="4"/>
                </a:lnTo>
                <a:lnTo>
                  <a:pt x="327" y="6"/>
                </a:lnTo>
                <a:lnTo>
                  <a:pt x="311" y="8"/>
                </a:lnTo>
                <a:lnTo>
                  <a:pt x="295" y="11"/>
                </a:lnTo>
                <a:lnTo>
                  <a:pt x="278" y="14"/>
                </a:lnTo>
                <a:lnTo>
                  <a:pt x="262" y="17"/>
                </a:lnTo>
                <a:lnTo>
                  <a:pt x="246" y="20"/>
                </a:lnTo>
                <a:lnTo>
                  <a:pt x="229" y="24"/>
                </a:lnTo>
                <a:lnTo>
                  <a:pt x="213" y="27"/>
                </a:lnTo>
                <a:lnTo>
                  <a:pt x="196" y="31"/>
                </a:lnTo>
                <a:lnTo>
                  <a:pt x="180" y="35"/>
                </a:lnTo>
                <a:lnTo>
                  <a:pt x="164" y="39"/>
                </a:lnTo>
                <a:lnTo>
                  <a:pt x="147" y="42"/>
                </a:lnTo>
                <a:lnTo>
                  <a:pt x="131" y="45"/>
                </a:lnTo>
                <a:lnTo>
                  <a:pt x="114" y="49"/>
                </a:lnTo>
                <a:lnTo>
                  <a:pt x="98" y="52"/>
                </a:lnTo>
                <a:lnTo>
                  <a:pt x="82" y="54"/>
                </a:lnTo>
                <a:lnTo>
                  <a:pt x="65" y="56"/>
                </a:lnTo>
                <a:lnTo>
                  <a:pt x="49" y="58"/>
                </a:lnTo>
                <a:lnTo>
                  <a:pt x="33" y="60"/>
                </a:lnTo>
                <a:lnTo>
                  <a:pt x="16" y="61"/>
                </a:lnTo>
                <a:lnTo>
                  <a:pt x="0" y="61"/>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Freeform 65"/>
          <p:cNvSpPr/>
          <p:nvPr/>
        </p:nvSpPr>
        <p:spPr>
          <a:xfrm>
            <a:off x="2057400" y="6153150"/>
            <a:ext cx="3743325" cy="190500"/>
          </a:xfrm>
          <a:custGeom>
            <a:avLst/>
            <a:gdLst/>
            <a:ahLst/>
            <a:cxnLst/>
            <a:rect l="l" t="t" r="r" b="b"/>
            <a:pathLst>
              <a:path w="393" h="20">
                <a:moveTo>
                  <a:pt x="0" y="19"/>
                </a:moveTo>
                <a:lnTo>
                  <a:pt x="16" y="19"/>
                </a:lnTo>
                <a:lnTo>
                  <a:pt x="33" y="19"/>
                </a:lnTo>
                <a:lnTo>
                  <a:pt x="49" y="18"/>
                </a:lnTo>
                <a:lnTo>
                  <a:pt x="65" y="17"/>
                </a:lnTo>
                <a:lnTo>
                  <a:pt x="82" y="17"/>
                </a:lnTo>
                <a:lnTo>
                  <a:pt x="98" y="16"/>
                </a:lnTo>
                <a:lnTo>
                  <a:pt x="114" y="15"/>
                </a:lnTo>
                <a:lnTo>
                  <a:pt x="131" y="14"/>
                </a:lnTo>
                <a:lnTo>
                  <a:pt x="147" y="13"/>
                </a:lnTo>
                <a:lnTo>
                  <a:pt x="164" y="12"/>
                </a:lnTo>
                <a:lnTo>
                  <a:pt x="180" y="11"/>
                </a:lnTo>
                <a:lnTo>
                  <a:pt x="196" y="9"/>
                </a:lnTo>
                <a:lnTo>
                  <a:pt x="213" y="8"/>
                </a:lnTo>
                <a:lnTo>
                  <a:pt x="229" y="7"/>
                </a:lnTo>
                <a:lnTo>
                  <a:pt x="246" y="6"/>
                </a:lnTo>
                <a:lnTo>
                  <a:pt x="262" y="5"/>
                </a:lnTo>
                <a:lnTo>
                  <a:pt x="278" y="4"/>
                </a:lnTo>
                <a:lnTo>
                  <a:pt x="295" y="3"/>
                </a:lnTo>
                <a:lnTo>
                  <a:pt x="311" y="2"/>
                </a:lnTo>
                <a:lnTo>
                  <a:pt x="327" y="1"/>
                </a:lnTo>
                <a:lnTo>
                  <a:pt x="344" y="1"/>
                </a:lnTo>
                <a:lnTo>
                  <a:pt x="360" y="0"/>
                </a:lnTo>
                <a:lnTo>
                  <a:pt x="377" y="0"/>
                </a:lnTo>
                <a:lnTo>
                  <a:pt x="393" y="0"/>
                </a:lnTo>
                <a:lnTo>
                  <a:pt x="393" y="1"/>
                </a:lnTo>
                <a:lnTo>
                  <a:pt x="377" y="1"/>
                </a:lnTo>
                <a:lnTo>
                  <a:pt x="360" y="1"/>
                </a:lnTo>
                <a:lnTo>
                  <a:pt x="344" y="2"/>
                </a:lnTo>
                <a:lnTo>
                  <a:pt x="327" y="3"/>
                </a:lnTo>
                <a:lnTo>
                  <a:pt x="311" y="3"/>
                </a:lnTo>
                <a:lnTo>
                  <a:pt x="295" y="4"/>
                </a:lnTo>
                <a:lnTo>
                  <a:pt x="278" y="5"/>
                </a:lnTo>
                <a:lnTo>
                  <a:pt x="262" y="6"/>
                </a:lnTo>
                <a:lnTo>
                  <a:pt x="246" y="7"/>
                </a:lnTo>
                <a:lnTo>
                  <a:pt x="229" y="8"/>
                </a:lnTo>
                <a:lnTo>
                  <a:pt x="213" y="9"/>
                </a:lnTo>
                <a:lnTo>
                  <a:pt x="196" y="11"/>
                </a:lnTo>
                <a:lnTo>
                  <a:pt x="180" y="12"/>
                </a:lnTo>
                <a:lnTo>
                  <a:pt x="164" y="13"/>
                </a:lnTo>
                <a:lnTo>
                  <a:pt x="147" y="14"/>
                </a:lnTo>
                <a:lnTo>
                  <a:pt x="131" y="15"/>
                </a:lnTo>
                <a:lnTo>
                  <a:pt x="114" y="16"/>
                </a:lnTo>
                <a:lnTo>
                  <a:pt x="98" y="17"/>
                </a:lnTo>
                <a:lnTo>
                  <a:pt x="82" y="18"/>
                </a:lnTo>
                <a:lnTo>
                  <a:pt x="65" y="19"/>
                </a:lnTo>
                <a:lnTo>
                  <a:pt x="49" y="19"/>
                </a:lnTo>
                <a:lnTo>
                  <a:pt x="33" y="20"/>
                </a:lnTo>
                <a:lnTo>
                  <a:pt x="16" y="20"/>
                </a:lnTo>
                <a:lnTo>
                  <a:pt x="0" y="20"/>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Freeform 66"/>
          <p:cNvSpPr/>
          <p:nvPr/>
        </p:nvSpPr>
        <p:spPr>
          <a:xfrm>
            <a:off x="2057400" y="6343650"/>
            <a:ext cx="3743325" cy="123825"/>
          </a:xfrm>
          <a:custGeom>
            <a:avLst/>
            <a:gdLst/>
            <a:ahLst/>
            <a:cxnLst/>
            <a:rect l="l" t="t" r="r" b="b"/>
            <a:pathLst>
              <a:path w="393" h="13">
                <a:moveTo>
                  <a:pt x="0" y="0"/>
                </a:moveTo>
                <a:lnTo>
                  <a:pt x="16" y="0"/>
                </a:lnTo>
                <a:lnTo>
                  <a:pt x="33" y="0"/>
                </a:lnTo>
                <a:lnTo>
                  <a:pt x="49" y="0"/>
                </a:lnTo>
                <a:lnTo>
                  <a:pt x="65" y="1"/>
                </a:lnTo>
                <a:lnTo>
                  <a:pt x="82" y="1"/>
                </a:lnTo>
                <a:lnTo>
                  <a:pt x="98" y="2"/>
                </a:lnTo>
                <a:lnTo>
                  <a:pt x="114" y="2"/>
                </a:lnTo>
                <a:lnTo>
                  <a:pt x="131" y="3"/>
                </a:lnTo>
                <a:lnTo>
                  <a:pt x="147" y="4"/>
                </a:lnTo>
                <a:lnTo>
                  <a:pt x="164" y="5"/>
                </a:lnTo>
                <a:lnTo>
                  <a:pt x="180" y="5"/>
                </a:lnTo>
                <a:lnTo>
                  <a:pt x="196" y="6"/>
                </a:lnTo>
                <a:lnTo>
                  <a:pt x="213" y="7"/>
                </a:lnTo>
                <a:lnTo>
                  <a:pt x="229" y="8"/>
                </a:lnTo>
                <a:lnTo>
                  <a:pt x="246" y="8"/>
                </a:lnTo>
                <a:lnTo>
                  <a:pt x="262" y="9"/>
                </a:lnTo>
                <a:lnTo>
                  <a:pt x="278" y="10"/>
                </a:lnTo>
                <a:lnTo>
                  <a:pt x="295" y="10"/>
                </a:lnTo>
                <a:lnTo>
                  <a:pt x="311" y="11"/>
                </a:lnTo>
                <a:lnTo>
                  <a:pt x="327" y="11"/>
                </a:lnTo>
                <a:lnTo>
                  <a:pt x="344" y="12"/>
                </a:lnTo>
                <a:lnTo>
                  <a:pt x="360" y="12"/>
                </a:lnTo>
                <a:lnTo>
                  <a:pt x="377" y="12"/>
                </a:lnTo>
                <a:lnTo>
                  <a:pt x="393" y="12"/>
                </a:lnTo>
                <a:lnTo>
                  <a:pt x="393" y="13"/>
                </a:lnTo>
                <a:lnTo>
                  <a:pt x="377" y="13"/>
                </a:lnTo>
                <a:lnTo>
                  <a:pt x="360" y="13"/>
                </a:lnTo>
                <a:lnTo>
                  <a:pt x="344" y="13"/>
                </a:lnTo>
                <a:lnTo>
                  <a:pt x="327" y="12"/>
                </a:lnTo>
                <a:lnTo>
                  <a:pt x="311" y="12"/>
                </a:lnTo>
                <a:lnTo>
                  <a:pt x="295" y="11"/>
                </a:lnTo>
                <a:lnTo>
                  <a:pt x="278" y="11"/>
                </a:lnTo>
                <a:lnTo>
                  <a:pt x="262" y="10"/>
                </a:lnTo>
                <a:lnTo>
                  <a:pt x="246" y="9"/>
                </a:lnTo>
                <a:lnTo>
                  <a:pt x="229" y="9"/>
                </a:lnTo>
                <a:lnTo>
                  <a:pt x="213" y="8"/>
                </a:lnTo>
                <a:lnTo>
                  <a:pt x="196" y="7"/>
                </a:lnTo>
                <a:lnTo>
                  <a:pt x="180" y="6"/>
                </a:lnTo>
                <a:lnTo>
                  <a:pt x="164" y="6"/>
                </a:lnTo>
                <a:lnTo>
                  <a:pt x="147" y="5"/>
                </a:lnTo>
                <a:lnTo>
                  <a:pt x="131" y="4"/>
                </a:lnTo>
                <a:lnTo>
                  <a:pt x="114" y="3"/>
                </a:lnTo>
                <a:lnTo>
                  <a:pt x="98" y="3"/>
                </a:lnTo>
                <a:lnTo>
                  <a:pt x="82" y="2"/>
                </a:lnTo>
                <a:lnTo>
                  <a:pt x="65" y="2"/>
                </a:lnTo>
                <a:lnTo>
                  <a:pt x="49" y="1"/>
                </a:lnTo>
                <a:lnTo>
                  <a:pt x="33" y="1"/>
                </a:lnTo>
                <a:lnTo>
                  <a:pt x="16" y="1"/>
                </a:lnTo>
                <a:lnTo>
                  <a:pt x="0" y="1"/>
                </a:lnTo>
                <a:close/>
              </a:path>
            </a:pathLst>
          </a:custGeom>
          <a:solidFill>
            <a:srgbClr val="A86F00">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Freeform 67"/>
          <p:cNvSpPr/>
          <p:nvPr/>
        </p:nvSpPr>
        <p:spPr>
          <a:xfrm>
            <a:off x="2057400" y="2457450"/>
            <a:ext cx="3743325" cy="3990975"/>
          </a:xfrm>
          <a:custGeom>
            <a:avLst/>
            <a:gdLst/>
            <a:ahLst/>
            <a:cxnLst/>
            <a:rect l="l" t="t" r="r" b="b"/>
            <a:pathLst>
              <a:path w="393" h="419">
                <a:moveTo>
                  <a:pt x="0" y="415"/>
                </a:moveTo>
                <a:lnTo>
                  <a:pt x="16" y="413"/>
                </a:lnTo>
                <a:lnTo>
                  <a:pt x="33" y="407"/>
                </a:lnTo>
                <a:lnTo>
                  <a:pt x="49" y="397"/>
                </a:lnTo>
                <a:lnTo>
                  <a:pt x="65" y="384"/>
                </a:lnTo>
                <a:lnTo>
                  <a:pt x="82" y="368"/>
                </a:lnTo>
                <a:lnTo>
                  <a:pt x="98" y="350"/>
                </a:lnTo>
                <a:lnTo>
                  <a:pt x="114" y="330"/>
                </a:lnTo>
                <a:lnTo>
                  <a:pt x="131" y="307"/>
                </a:lnTo>
                <a:lnTo>
                  <a:pt x="147" y="284"/>
                </a:lnTo>
                <a:lnTo>
                  <a:pt x="164" y="259"/>
                </a:lnTo>
                <a:lnTo>
                  <a:pt x="180" y="233"/>
                </a:lnTo>
                <a:lnTo>
                  <a:pt x="196" y="207"/>
                </a:lnTo>
                <a:lnTo>
                  <a:pt x="213" y="181"/>
                </a:lnTo>
                <a:lnTo>
                  <a:pt x="229" y="156"/>
                </a:lnTo>
                <a:lnTo>
                  <a:pt x="246" y="131"/>
                </a:lnTo>
                <a:lnTo>
                  <a:pt x="262" y="107"/>
                </a:lnTo>
                <a:lnTo>
                  <a:pt x="278" y="85"/>
                </a:lnTo>
                <a:lnTo>
                  <a:pt x="295" y="65"/>
                </a:lnTo>
                <a:lnTo>
                  <a:pt x="311" y="46"/>
                </a:lnTo>
                <a:lnTo>
                  <a:pt x="327" y="30"/>
                </a:lnTo>
                <a:lnTo>
                  <a:pt x="344" y="17"/>
                </a:lnTo>
                <a:lnTo>
                  <a:pt x="360" y="8"/>
                </a:lnTo>
                <a:lnTo>
                  <a:pt x="377" y="2"/>
                </a:lnTo>
                <a:lnTo>
                  <a:pt x="393" y="0"/>
                </a:lnTo>
                <a:lnTo>
                  <a:pt x="393" y="3"/>
                </a:lnTo>
                <a:lnTo>
                  <a:pt x="377" y="5"/>
                </a:lnTo>
                <a:lnTo>
                  <a:pt x="360" y="12"/>
                </a:lnTo>
                <a:lnTo>
                  <a:pt x="344" y="21"/>
                </a:lnTo>
                <a:lnTo>
                  <a:pt x="327" y="34"/>
                </a:lnTo>
                <a:lnTo>
                  <a:pt x="311" y="50"/>
                </a:lnTo>
                <a:lnTo>
                  <a:pt x="295" y="68"/>
                </a:lnTo>
                <a:lnTo>
                  <a:pt x="278" y="89"/>
                </a:lnTo>
                <a:lnTo>
                  <a:pt x="262" y="111"/>
                </a:lnTo>
                <a:lnTo>
                  <a:pt x="246" y="135"/>
                </a:lnTo>
                <a:lnTo>
                  <a:pt x="229" y="160"/>
                </a:lnTo>
                <a:lnTo>
                  <a:pt x="213" y="185"/>
                </a:lnTo>
                <a:lnTo>
                  <a:pt x="196" y="211"/>
                </a:lnTo>
                <a:lnTo>
                  <a:pt x="180" y="237"/>
                </a:lnTo>
                <a:lnTo>
                  <a:pt x="164" y="262"/>
                </a:lnTo>
                <a:lnTo>
                  <a:pt x="147" y="287"/>
                </a:lnTo>
                <a:lnTo>
                  <a:pt x="131" y="311"/>
                </a:lnTo>
                <a:lnTo>
                  <a:pt x="114" y="333"/>
                </a:lnTo>
                <a:lnTo>
                  <a:pt x="98" y="354"/>
                </a:lnTo>
                <a:lnTo>
                  <a:pt x="82" y="372"/>
                </a:lnTo>
                <a:lnTo>
                  <a:pt x="65" y="388"/>
                </a:lnTo>
                <a:lnTo>
                  <a:pt x="49" y="401"/>
                </a:lnTo>
                <a:lnTo>
                  <a:pt x="33" y="411"/>
                </a:lnTo>
                <a:lnTo>
                  <a:pt x="16" y="417"/>
                </a:lnTo>
                <a:lnTo>
                  <a:pt x="0" y="419"/>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2057400" y="3562350"/>
            <a:ext cx="3743325" cy="2905125"/>
          </a:xfrm>
          <a:custGeom>
            <a:avLst/>
            <a:gdLst/>
            <a:ahLst/>
            <a:cxnLst/>
            <a:rect l="l" t="t" r="r" b="b"/>
            <a:pathLst>
              <a:path w="393" h="305">
                <a:moveTo>
                  <a:pt x="0" y="303"/>
                </a:moveTo>
                <a:lnTo>
                  <a:pt x="16" y="301"/>
                </a:lnTo>
                <a:lnTo>
                  <a:pt x="33" y="297"/>
                </a:lnTo>
                <a:lnTo>
                  <a:pt x="49" y="290"/>
                </a:lnTo>
                <a:lnTo>
                  <a:pt x="65" y="280"/>
                </a:lnTo>
                <a:lnTo>
                  <a:pt x="82" y="269"/>
                </a:lnTo>
                <a:lnTo>
                  <a:pt x="98" y="255"/>
                </a:lnTo>
                <a:lnTo>
                  <a:pt x="114" y="240"/>
                </a:lnTo>
                <a:lnTo>
                  <a:pt x="131" y="224"/>
                </a:lnTo>
                <a:lnTo>
                  <a:pt x="147" y="207"/>
                </a:lnTo>
                <a:lnTo>
                  <a:pt x="164" y="189"/>
                </a:lnTo>
                <a:lnTo>
                  <a:pt x="180" y="170"/>
                </a:lnTo>
                <a:lnTo>
                  <a:pt x="196" y="151"/>
                </a:lnTo>
                <a:lnTo>
                  <a:pt x="213" y="132"/>
                </a:lnTo>
                <a:lnTo>
                  <a:pt x="229" y="114"/>
                </a:lnTo>
                <a:lnTo>
                  <a:pt x="246" y="96"/>
                </a:lnTo>
                <a:lnTo>
                  <a:pt x="262" y="78"/>
                </a:lnTo>
                <a:lnTo>
                  <a:pt x="278" y="62"/>
                </a:lnTo>
                <a:lnTo>
                  <a:pt x="295" y="47"/>
                </a:lnTo>
                <a:lnTo>
                  <a:pt x="311" y="34"/>
                </a:lnTo>
                <a:lnTo>
                  <a:pt x="327" y="22"/>
                </a:lnTo>
                <a:lnTo>
                  <a:pt x="344" y="13"/>
                </a:lnTo>
                <a:lnTo>
                  <a:pt x="360" y="6"/>
                </a:lnTo>
                <a:lnTo>
                  <a:pt x="377" y="1"/>
                </a:lnTo>
                <a:lnTo>
                  <a:pt x="393" y="0"/>
                </a:lnTo>
                <a:lnTo>
                  <a:pt x="393" y="2"/>
                </a:lnTo>
                <a:lnTo>
                  <a:pt x="377" y="4"/>
                </a:lnTo>
                <a:lnTo>
                  <a:pt x="360" y="8"/>
                </a:lnTo>
                <a:lnTo>
                  <a:pt x="344" y="15"/>
                </a:lnTo>
                <a:lnTo>
                  <a:pt x="327" y="25"/>
                </a:lnTo>
                <a:lnTo>
                  <a:pt x="311" y="36"/>
                </a:lnTo>
                <a:lnTo>
                  <a:pt x="295" y="50"/>
                </a:lnTo>
                <a:lnTo>
                  <a:pt x="278" y="65"/>
                </a:lnTo>
                <a:lnTo>
                  <a:pt x="262" y="81"/>
                </a:lnTo>
                <a:lnTo>
                  <a:pt x="246" y="98"/>
                </a:lnTo>
                <a:lnTo>
                  <a:pt x="229" y="116"/>
                </a:lnTo>
                <a:lnTo>
                  <a:pt x="213" y="135"/>
                </a:lnTo>
                <a:lnTo>
                  <a:pt x="196" y="154"/>
                </a:lnTo>
                <a:lnTo>
                  <a:pt x="180" y="173"/>
                </a:lnTo>
                <a:lnTo>
                  <a:pt x="164" y="191"/>
                </a:lnTo>
                <a:lnTo>
                  <a:pt x="147" y="210"/>
                </a:lnTo>
                <a:lnTo>
                  <a:pt x="131" y="227"/>
                </a:lnTo>
                <a:lnTo>
                  <a:pt x="114" y="243"/>
                </a:lnTo>
                <a:lnTo>
                  <a:pt x="98" y="258"/>
                </a:lnTo>
                <a:lnTo>
                  <a:pt x="82" y="271"/>
                </a:lnTo>
                <a:lnTo>
                  <a:pt x="65" y="283"/>
                </a:lnTo>
                <a:lnTo>
                  <a:pt x="49" y="292"/>
                </a:lnTo>
                <a:lnTo>
                  <a:pt x="33" y="300"/>
                </a:lnTo>
                <a:lnTo>
                  <a:pt x="16" y="304"/>
                </a:lnTo>
                <a:lnTo>
                  <a:pt x="0" y="305"/>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Freeform 69"/>
          <p:cNvSpPr/>
          <p:nvPr/>
        </p:nvSpPr>
        <p:spPr>
          <a:xfrm>
            <a:off x="2057400" y="4495800"/>
            <a:ext cx="3743325" cy="1990725"/>
          </a:xfrm>
          <a:custGeom>
            <a:avLst/>
            <a:gdLst/>
            <a:ahLst/>
            <a:cxnLst/>
            <a:rect l="l" t="t" r="r" b="b"/>
            <a:pathLst>
              <a:path w="393" h="209">
                <a:moveTo>
                  <a:pt x="0" y="207"/>
                </a:moveTo>
                <a:lnTo>
                  <a:pt x="16" y="206"/>
                </a:lnTo>
                <a:lnTo>
                  <a:pt x="33" y="203"/>
                </a:lnTo>
                <a:lnTo>
                  <a:pt x="49" y="199"/>
                </a:lnTo>
                <a:lnTo>
                  <a:pt x="65" y="192"/>
                </a:lnTo>
                <a:lnTo>
                  <a:pt x="82" y="184"/>
                </a:lnTo>
                <a:lnTo>
                  <a:pt x="98" y="175"/>
                </a:lnTo>
                <a:lnTo>
                  <a:pt x="114" y="165"/>
                </a:lnTo>
                <a:lnTo>
                  <a:pt x="131" y="154"/>
                </a:lnTo>
                <a:lnTo>
                  <a:pt x="147" y="142"/>
                </a:lnTo>
                <a:lnTo>
                  <a:pt x="164" y="129"/>
                </a:lnTo>
                <a:lnTo>
                  <a:pt x="180" y="116"/>
                </a:lnTo>
                <a:lnTo>
                  <a:pt x="196" y="104"/>
                </a:lnTo>
                <a:lnTo>
                  <a:pt x="213" y="91"/>
                </a:lnTo>
                <a:lnTo>
                  <a:pt x="229" y="78"/>
                </a:lnTo>
                <a:lnTo>
                  <a:pt x="246" y="65"/>
                </a:lnTo>
                <a:lnTo>
                  <a:pt x="262" y="53"/>
                </a:lnTo>
                <a:lnTo>
                  <a:pt x="278" y="42"/>
                </a:lnTo>
                <a:lnTo>
                  <a:pt x="295" y="32"/>
                </a:lnTo>
                <a:lnTo>
                  <a:pt x="311" y="23"/>
                </a:lnTo>
                <a:lnTo>
                  <a:pt x="327" y="15"/>
                </a:lnTo>
                <a:lnTo>
                  <a:pt x="344" y="9"/>
                </a:lnTo>
                <a:lnTo>
                  <a:pt x="360" y="4"/>
                </a:lnTo>
                <a:lnTo>
                  <a:pt x="377" y="1"/>
                </a:lnTo>
                <a:lnTo>
                  <a:pt x="393" y="0"/>
                </a:lnTo>
                <a:lnTo>
                  <a:pt x="393" y="2"/>
                </a:lnTo>
                <a:lnTo>
                  <a:pt x="377" y="3"/>
                </a:lnTo>
                <a:lnTo>
                  <a:pt x="360" y="6"/>
                </a:lnTo>
                <a:lnTo>
                  <a:pt x="344" y="11"/>
                </a:lnTo>
                <a:lnTo>
                  <a:pt x="327" y="17"/>
                </a:lnTo>
                <a:lnTo>
                  <a:pt x="311" y="25"/>
                </a:lnTo>
                <a:lnTo>
                  <a:pt x="295" y="34"/>
                </a:lnTo>
                <a:lnTo>
                  <a:pt x="278" y="44"/>
                </a:lnTo>
                <a:lnTo>
                  <a:pt x="262" y="55"/>
                </a:lnTo>
                <a:lnTo>
                  <a:pt x="246" y="67"/>
                </a:lnTo>
                <a:lnTo>
                  <a:pt x="229" y="80"/>
                </a:lnTo>
                <a:lnTo>
                  <a:pt x="213" y="93"/>
                </a:lnTo>
                <a:lnTo>
                  <a:pt x="196" y="106"/>
                </a:lnTo>
                <a:lnTo>
                  <a:pt x="180" y="118"/>
                </a:lnTo>
                <a:lnTo>
                  <a:pt x="164" y="131"/>
                </a:lnTo>
                <a:lnTo>
                  <a:pt x="147" y="144"/>
                </a:lnTo>
                <a:lnTo>
                  <a:pt x="131" y="156"/>
                </a:lnTo>
                <a:lnTo>
                  <a:pt x="114" y="167"/>
                </a:lnTo>
                <a:lnTo>
                  <a:pt x="98" y="177"/>
                </a:lnTo>
                <a:lnTo>
                  <a:pt x="82" y="186"/>
                </a:lnTo>
                <a:lnTo>
                  <a:pt x="65" y="194"/>
                </a:lnTo>
                <a:lnTo>
                  <a:pt x="49" y="201"/>
                </a:lnTo>
                <a:lnTo>
                  <a:pt x="33" y="205"/>
                </a:lnTo>
                <a:lnTo>
                  <a:pt x="16" y="208"/>
                </a:lnTo>
                <a:lnTo>
                  <a:pt x="0" y="209"/>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Freeform 70"/>
          <p:cNvSpPr/>
          <p:nvPr/>
        </p:nvSpPr>
        <p:spPr>
          <a:xfrm>
            <a:off x="2057400" y="5305425"/>
            <a:ext cx="3743325" cy="1200150"/>
          </a:xfrm>
          <a:custGeom>
            <a:avLst/>
            <a:gdLst/>
            <a:ahLst/>
            <a:cxnLst/>
            <a:rect l="l" t="t" r="r" b="b"/>
            <a:pathLst>
              <a:path w="393" h="126">
                <a:moveTo>
                  <a:pt x="0" y="124"/>
                </a:moveTo>
                <a:lnTo>
                  <a:pt x="16" y="124"/>
                </a:lnTo>
                <a:lnTo>
                  <a:pt x="33" y="122"/>
                </a:lnTo>
                <a:lnTo>
                  <a:pt x="49" y="119"/>
                </a:lnTo>
                <a:lnTo>
                  <a:pt x="65" y="115"/>
                </a:lnTo>
                <a:lnTo>
                  <a:pt x="82" y="110"/>
                </a:lnTo>
                <a:lnTo>
                  <a:pt x="98" y="105"/>
                </a:lnTo>
                <a:lnTo>
                  <a:pt x="114" y="99"/>
                </a:lnTo>
                <a:lnTo>
                  <a:pt x="131" y="92"/>
                </a:lnTo>
                <a:lnTo>
                  <a:pt x="147" y="85"/>
                </a:lnTo>
                <a:lnTo>
                  <a:pt x="164" y="78"/>
                </a:lnTo>
                <a:lnTo>
                  <a:pt x="180" y="70"/>
                </a:lnTo>
                <a:lnTo>
                  <a:pt x="196" y="62"/>
                </a:lnTo>
                <a:lnTo>
                  <a:pt x="213" y="54"/>
                </a:lnTo>
                <a:lnTo>
                  <a:pt x="229" y="47"/>
                </a:lnTo>
                <a:lnTo>
                  <a:pt x="246" y="39"/>
                </a:lnTo>
                <a:lnTo>
                  <a:pt x="262" y="32"/>
                </a:lnTo>
                <a:lnTo>
                  <a:pt x="278" y="25"/>
                </a:lnTo>
                <a:lnTo>
                  <a:pt x="295" y="19"/>
                </a:lnTo>
                <a:lnTo>
                  <a:pt x="311" y="14"/>
                </a:lnTo>
                <a:lnTo>
                  <a:pt x="327" y="9"/>
                </a:lnTo>
                <a:lnTo>
                  <a:pt x="344" y="5"/>
                </a:lnTo>
                <a:lnTo>
                  <a:pt x="360" y="2"/>
                </a:lnTo>
                <a:lnTo>
                  <a:pt x="377" y="0"/>
                </a:lnTo>
                <a:lnTo>
                  <a:pt x="393" y="0"/>
                </a:lnTo>
                <a:lnTo>
                  <a:pt x="393" y="2"/>
                </a:lnTo>
                <a:lnTo>
                  <a:pt x="377" y="2"/>
                </a:lnTo>
                <a:lnTo>
                  <a:pt x="360" y="4"/>
                </a:lnTo>
                <a:lnTo>
                  <a:pt x="344" y="7"/>
                </a:lnTo>
                <a:lnTo>
                  <a:pt x="327" y="11"/>
                </a:lnTo>
                <a:lnTo>
                  <a:pt x="311" y="16"/>
                </a:lnTo>
                <a:lnTo>
                  <a:pt x="295" y="21"/>
                </a:lnTo>
                <a:lnTo>
                  <a:pt x="278" y="27"/>
                </a:lnTo>
                <a:lnTo>
                  <a:pt x="262" y="34"/>
                </a:lnTo>
                <a:lnTo>
                  <a:pt x="246" y="41"/>
                </a:lnTo>
                <a:lnTo>
                  <a:pt x="229" y="48"/>
                </a:lnTo>
                <a:lnTo>
                  <a:pt x="213" y="56"/>
                </a:lnTo>
                <a:lnTo>
                  <a:pt x="196" y="64"/>
                </a:lnTo>
                <a:lnTo>
                  <a:pt x="180" y="72"/>
                </a:lnTo>
                <a:lnTo>
                  <a:pt x="164" y="79"/>
                </a:lnTo>
                <a:lnTo>
                  <a:pt x="147" y="87"/>
                </a:lnTo>
                <a:lnTo>
                  <a:pt x="131" y="94"/>
                </a:lnTo>
                <a:lnTo>
                  <a:pt x="114" y="101"/>
                </a:lnTo>
                <a:lnTo>
                  <a:pt x="98" y="107"/>
                </a:lnTo>
                <a:lnTo>
                  <a:pt x="82" y="112"/>
                </a:lnTo>
                <a:lnTo>
                  <a:pt x="65" y="117"/>
                </a:lnTo>
                <a:lnTo>
                  <a:pt x="49" y="121"/>
                </a:lnTo>
                <a:lnTo>
                  <a:pt x="33" y="124"/>
                </a:lnTo>
                <a:lnTo>
                  <a:pt x="16" y="126"/>
                </a:lnTo>
                <a:lnTo>
                  <a:pt x="0" y="126"/>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2057400" y="5762625"/>
            <a:ext cx="3743325" cy="752475"/>
          </a:xfrm>
          <a:custGeom>
            <a:avLst/>
            <a:gdLst/>
            <a:ahLst/>
            <a:cxnLst/>
            <a:rect l="l" t="t" r="r" b="b"/>
            <a:pathLst>
              <a:path w="393" h="79">
                <a:moveTo>
                  <a:pt x="0" y="78"/>
                </a:moveTo>
                <a:lnTo>
                  <a:pt x="16" y="78"/>
                </a:lnTo>
                <a:lnTo>
                  <a:pt x="33" y="77"/>
                </a:lnTo>
                <a:lnTo>
                  <a:pt x="49" y="75"/>
                </a:lnTo>
                <a:lnTo>
                  <a:pt x="65" y="72"/>
                </a:lnTo>
                <a:lnTo>
                  <a:pt x="82" y="70"/>
                </a:lnTo>
                <a:lnTo>
                  <a:pt x="98" y="66"/>
                </a:lnTo>
                <a:lnTo>
                  <a:pt x="114" y="62"/>
                </a:lnTo>
                <a:lnTo>
                  <a:pt x="131" y="58"/>
                </a:lnTo>
                <a:lnTo>
                  <a:pt x="147" y="54"/>
                </a:lnTo>
                <a:lnTo>
                  <a:pt x="164" y="49"/>
                </a:lnTo>
                <a:lnTo>
                  <a:pt x="180" y="44"/>
                </a:lnTo>
                <a:lnTo>
                  <a:pt x="196" y="39"/>
                </a:lnTo>
                <a:lnTo>
                  <a:pt x="213" y="35"/>
                </a:lnTo>
                <a:lnTo>
                  <a:pt x="229" y="30"/>
                </a:lnTo>
                <a:lnTo>
                  <a:pt x="246" y="25"/>
                </a:lnTo>
                <a:lnTo>
                  <a:pt x="262" y="21"/>
                </a:lnTo>
                <a:lnTo>
                  <a:pt x="278" y="16"/>
                </a:lnTo>
                <a:lnTo>
                  <a:pt x="295" y="13"/>
                </a:lnTo>
                <a:lnTo>
                  <a:pt x="311" y="9"/>
                </a:lnTo>
                <a:lnTo>
                  <a:pt x="327" y="6"/>
                </a:lnTo>
                <a:lnTo>
                  <a:pt x="344" y="4"/>
                </a:lnTo>
                <a:lnTo>
                  <a:pt x="360" y="2"/>
                </a:lnTo>
                <a:lnTo>
                  <a:pt x="377" y="1"/>
                </a:lnTo>
                <a:lnTo>
                  <a:pt x="393" y="0"/>
                </a:lnTo>
                <a:lnTo>
                  <a:pt x="393" y="2"/>
                </a:lnTo>
                <a:lnTo>
                  <a:pt x="377" y="2"/>
                </a:lnTo>
                <a:lnTo>
                  <a:pt x="360" y="3"/>
                </a:lnTo>
                <a:lnTo>
                  <a:pt x="344" y="5"/>
                </a:lnTo>
                <a:lnTo>
                  <a:pt x="327" y="7"/>
                </a:lnTo>
                <a:lnTo>
                  <a:pt x="311" y="10"/>
                </a:lnTo>
                <a:lnTo>
                  <a:pt x="295" y="14"/>
                </a:lnTo>
                <a:lnTo>
                  <a:pt x="278" y="18"/>
                </a:lnTo>
                <a:lnTo>
                  <a:pt x="262" y="22"/>
                </a:lnTo>
                <a:lnTo>
                  <a:pt x="246" y="26"/>
                </a:lnTo>
                <a:lnTo>
                  <a:pt x="229" y="31"/>
                </a:lnTo>
                <a:lnTo>
                  <a:pt x="213" y="36"/>
                </a:lnTo>
                <a:lnTo>
                  <a:pt x="196" y="40"/>
                </a:lnTo>
                <a:lnTo>
                  <a:pt x="180" y="45"/>
                </a:lnTo>
                <a:lnTo>
                  <a:pt x="164" y="50"/>
                </a:lnTo>
                <a:lnTo>
                  <a:pt x="147" y="55"/>
                </a:lnTo>
                <a:lnTo>
                  <a:pt x="131" y="59"/>
                </a:lnTo>
                <a:lnTo>
                  <a:pt x="114" y="63"/>
                </a:lnTo>
                <a:lnTo>
                  <a:pt x="98" y="67"/>
                </a:lnTo>
                <a:lnTo>
                  <a:pt x="82" y="71"/>
                </a:lnTo>
                <a:lnTo>
                  <a:pt x="65" y="74"/>
                </a:lnTo>
                <a:lnTo>
                  <a:pt x="49" y="76"/>
                </a:lnTo>
                <a:lnTo>
                  <a:pt x="33" y="78"/>
                </a:lnTo>
                <a:lnTo>
                  <a:pt x="16" y="79"/>
                </a:lnTo>
                <a:lnTo>
                  <a:pt x="0" y="79"/>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Freeform 72"/>
          <p:cNvSpPr/>
          <p:nvPr/>
        </p:nvSpPr>
        <p:spPr>
          <a:xfrm>
            <a:off x="2057400" y="6162675"/>
            <a:ext cx="3743325" cy="361950"/>
          </a:xfrm>
          <a:custGeom>
            <a:avLst/>
            <a:gdLst/>
            <a:ahLst/>
            <a:cxnLst/>
            <a:rect l="l" t="t" r="r" b="b"/>
            <a:pathLst>
              <a:path w="393" h="38">
                <a:moveTo>
                  <a:pt x="0" y="37"/>
                </a:moveTo>
                <a:lnTo>
                  <a:pt x="16" y="37"/>
                </a:lnTo>
                <a:lnTo>
                  <a:pt x="33" y="37"/>
                </a:lnTo>
                <a:lnTo>
                  <a:pt x="49" y="36"/>
                </a:lnTo>
                <a:lnTo>
                  <a:pt x="65" y="35"/>
                </a:lnTo>
                <a:lnTo>
                  <a:pt x="82" y="33"/>
                </a:lnTo>
                <a:lnTo>
                  <a:pt x="98" y="31"/>
                </a:lnTo>
                <a:lnTo>
                  <a:pt x="114" y="30"/>
                </a:lnTo>
                <a:lnTo>
                  <a:pt x="131" y="28"/>
                </a:lnTo>
                <a:lnTo>
                  <a:pt x="147" y="26"/>
                </a:lnTo>
                <a:lnTo>
                  <a:pt x="164" y="23"/>
                </a:lnTo>
                <a:lnTo>
                  <a:pt x="180" y="21"/>
                </a:lnTo>
                <a:lnTo>
                  <a:pt x="196" y="19"/>
                </a:lnTo>
                <a:lnTo>
                  <a:pt x="213" y="16"/>
                </a:lnTo>
                <a:lnTo>
                  <a:pt x="229" y="14"/>
                </a:lnTo>
                <a:lnTo>
                  <a:pt x="246" y="12"/>
                </a:lnTo>
                <a:lnTo>
                  <a:pt x="262" y="10"/>
                </a:lnTo>
                <a:lnTo>
                  <a:pt x="278" y="8"/>
                </a:lnTo>
                <a:lnTo>
                  <a:pt x="295" y="6"/>
                </a:lnTo>
                <a:lnTo>
                  <a:pt x="311" y="4"/>
                </a:lnTo>
                <a:lnTo>
                  <a:pt x="327" y="3"/>
                </a:lnTo>
                <a:lnTo>
                  <a:pt x="344" y="2"/>
                </a:lnTo>
                <a:lnTo>
                  <a:pt x="360" y="1"/>
                </a:lnTo>
                <a:lnTo>
                  <a:pt x="377" y="0"/>
                </a:lnTo>
                <a:lnTo>
                  <a:pt x="393" y="0"/>
                </a:lnTo>
                <a:lnTo>
                  <a:pt x="393" y="1"/>
                </a:lnTo>
                <a:lnTo>
                  <a:pt x="377" y="1"/>
                </a:lnTo>
                <a:lnTo>
                  <a:pt x="360" y="2"/>
                </a:lnTo>
                <a:lnTo>
                  <a:pt x="344" y="3"/>
                </a:lnTo>
                <a:lnTo>
                  <a:pt x="327" y="4"/>
                </a:lnTo>
                <a:lnTo>
                  <a:pt x="311" y="5"/>
                </a:lnTo>
                <a:lnTo>
                  <a:pt x="295" y="7"/>
                </a:lnTo>
                <a:lnTo>
                  <a:pt x="278" y="9"/>
                </a:lnTo>
                <a:lnTo>
                  <a:pt x="262" y="11"/>
                </a:lnTo>
                <a:lnTo>
                  <a:pt x="246" y="13"/>
                </a:lnTo>
                <a:lnTo>
                  <a:pt x="229" y="15"/>
                </a:lnTo>
                <a:lnTo>
                  <a:pt x="213" y="17"/>
                </a:lnTo>
                <a:lnTo>
                  <a:pt x="196" y="20"/>
                </a:lnTo>
                <a:lnTo>
                  <a:pt x="180" y="22"/>
                </a:lnTo>
                <a:lnTo>
                  <a:pt x="164" y="24"/>
                </a:lnTo>
                <a:lnTo>
                  <a:pt x="147" y="27"/>
                </a:lnTo>
                <a:lnTo>
                  <a:pt x="131" y="29"/>
                </a:lnTo>
                <a:lnTo>
                  <a:pt x="114" y="31"/>
                </a:lnTo>
                <a:lnTo>
                  <a:pt x="98" y="32"/>
                </a:lnTo>
                <a:lnTo>
                  <a:pt x="82" y="34"/>
                </a:lnTo>
                <a:lnTo>
                  <a:pt x="65" y="36"/>
                </a:lnTo>
                <a:lnTo>
                  <a:pt x="49" y="37"/>
                </a:lnTo>
                <a:lnTo>
                  <a:pt x="33" y="38"/>
                </a:lnTo>
                <a:lnTo>
                  <a:pt x="16" y="38"/>
                </a:lnTo>
                <a:lnTo>
                  <a:pt x="0" y="38"/>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2057400" y="6467475"/>
            <a:ext cx="3743325" cy="66675"/>
          </a:xfrm>
          <a:custGeom>
            <a:avLst/>
            <a:gdLst/>
            <a:ahLst/>
            <a:cxnLst/>
            <a:rect l="l" t="t" r="r" b="b"/>
            <a:pathLst>
              <a:path w="393" h="7">
                <a:moveTo>
                  <a:pt x="0" y="6"/>
                </a:moveTo>
                <a:lnTo>
                  <a:pt x="16" y="6"/>
                </a:lnTo>
                <a:lnTo>
                  <a:pt x="33" y="6"/>
                </a:lnTo>
                <a:lnTo>
                  <a:pt x="49" y="6"/>
                </a:lnTo>
                <a:lnTo>
                  <a:pt x="65" y="6"/>
                </a:lnTo>
                <a:lnTo>
                  <a:pt x="82" y="6"/>
                </a:lnTo>
                <a:lnTo>
                  <a:pt x="98" y="5"/>
                </a:lnTo>
                <a:lnTo>
                  <a:pt x="114" y="5"/>
                </a:lnTo>
                <a:lnTo>
                  <a:pt x="131" y="5"/>
                </a:lnTo>
                <a:lnTo>
                  <a:pt x="147" y="4"/>
                </a:lnTo>
                <a:lnTo>
                  <a:pt x="164" y="4"/>
                </a:lnTo>
                <a:lnTo>
                  <a:pt x="180" y="4"/>
                </a:lnTo>
                <a:lnTo>
                  <a:pt x="196" y="3"/>
                </a:lnTo>
                <a:lnTo>
                  <a:pt x="213" y="3"/>
                </a:lnTo>
                <a:lnTo>
                  <a:pt x="229" y="3"/>
                </a:lnTo>
                <a:lnTo>
                  <a:pt x="246" y="2"/>
                </a:lnTo>
                <a:lnTo>
                  <a:pt x="262" y="2"/>
                </a:lnTo>
                <a:lnTo>
                  <a:pt x="278" y="2"/>
                </a:lnTo>
                <a:lnTo>
                  <a:pt x="295" y="1"/>
                </a:lnTo>
                <a:lnTo>
                  <a:pt x="311" y="1"/>
                </a:lnTo>
                <a:lnTo>
                  <a:pt x="327" y="1"/>
                </a:lnTo>
                <a:lnTo>
                  <a:pt x="344" y="1"/>
                </a:lnTo>
                <a:lnTo>
                  <a:pt x="360" y="0"/>
                </a:lnTo>
                <a:lnTo>
                  <a:pt x="377" y="0"/>
                </a:lnTo>
                <a:lnTo>
                  <a:pt x="393" y="0"/>
                </a:lnTo>
                <a:lnTo>
                  <a:pt x="393" y="1"/>
                </a:lnTo>
                <a:lnTo>
                  <a:pt x="377" y="1"/>
                </a:lnTo>
                <a:lnTo>
                  <a:pt x="360" y="1"/>
                </a:lnTo>
                <a:lnTo>
                  <a:pt x="344" y="1"/>
                </a:lnTo>
                <a:lnTo>
                  <a:pt x="327" y="1"/>
                </a:lnTo>
                <a:lnTo>
                  <a:pt x="311" y="2"/>
                </a:lnTo>
                <a:lnTo>
                  <a:pt x="295" y="2"/>
                </a:lnTo>
                <a:lnTo>
                  <a:pt x="278" y="2"/>
                </a:lnTo>
                <a:lnTo>
                  <a:pt x="262" y="3"/>
                </a:lnTo>
                <a:lnTo>
                  <a:pt x="246" y="3"/>
                </a:lnTo>
                <a:lnTo>
                  <a:pt x="229" y="3"/>
                </a:lnTo>
                <a:lnTo>
                  <a:pt x="213" y="4"/>
                </a:lnTo>
                <a:lnTo>
                  <a:pt x="196" y="4"/>
                </a:lnTo>
                <a:lnTo>
                  <a:pt x="180" y="4"/>
                </a:lnTo>
                <a:lnTo>
                  <a:pt x="164" y="5"/>
                </a:lnTo>
                <a:lnTo>
                  <a:pt x="147" y="5"/>
                </a:lnTo>
                <a:lnTo>
                  <a:pt x="131" y="5"/>
                </a:lnTo>
                <a:lnTo>
                  <a:pt x="114" y="6"/>
                </a:lnTo>
                <a:lnTo>
                  <a:pt x="98" y="6"/>
                </a:lnTo>
                <a:lnTo>
                  <a:pt x="82" y="6"/>
                </a:lnTo>
                <a:lnTo>
                  <a:pt x="65" y="7"/>
                </a:lnTo>
                <a:lnTo>
                  <a:pt x="49" y="7"/>
                </a:lnTo>
                <a:lnTo>
                  <a:pt x="33" y="7"/>
                </a:lnTo>
                <a:lnTo>
                  <a:pt x="16" y="7"/>
                </a:lnTo>
                <a:lnTo>
                  <a:pt x="0" y="7"/>
                </a:lnTo>
                <a:close/>
              </a:path>
            </a:pathLst>
          </a:custGeom>
          <a:solidFill>
            <a:srgbClr val="0B2E4A">
              <a:alpha val="55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Rectangle 74"/>
          <p:cNvSpPr/>
          <p:nvPr/>
        </p:nvSpPr>
        <p:spPr>
          <a:xfrm>
            <a:off x="1941195" y="1304925"/>
            <a:ext cx="114300" cy="975360"/>
          </a:xfrm>
          <a:prstGeom prst="rect">
            <a:avLst/>
          </a:prstGeom>
          <a:solidFill>
            <a:srgbClr val="3D85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Rectangle 75"/>
          <p:cNvSpPr/>
          <p:nvPr/>
        </p:nvSpPr>
        <p:spPr>
          <a:xfrm>
            <a:off x="1941195" y="2337435"/>
            <a:ext cx="114300" cy="840597"/>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1941195" y="3235182"/>
            <a:ext cx="114300" cy="756919"/>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1941195" y="4049251"/>
            <a:ext cx="114300" cy="611004"/>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Rectangle 78"/>
          <p:cNvSpPr/>
          <p:nvPr/>
        </p:nvSpPr>
        <p:spPr>
          <a:xfrm>
            <a:off x="1941195" y="4717406"/>
            <a:ext cx="114300" cy="604295"/>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Rectangle 79"/>
          <p:cNvSpPr/>
          <p:nvPr/>
        </p:nvSpPr>
        <p:spPr>
          <a:xfrm>
            <a:off x="1941195" y="5378851"/>
            <a:ext cx="114300" cy="396146"/>
          </a:xfrm>
          <a:prstGeom prst="rect">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Rectangle 80"/>
          <p:cNvSpPr/>
          <p:nvPr/>
        </p:nvSpPr>
        <p:spPr>
          <a:xfrm>
            <a:off x="1941195" y="5832147"/>
            <a:ext cx="114300" cy="31889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1941195" y="6208187"/>
            <a:ext cx="114300" cy="144323"/>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Rectangle 82"/>
          <p:cNvSpPr/>
          <p:nvPr/>
        </p:nvSpPr>
        <p:spPr>
          <a:xfrm>
            <a:off x="1941195" y="6409660"/>
            <a:ext cx="114300" cy="124490"/>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5800725" y="1362075"/>
            <a:ext cx="114300" cy="1127529"/>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Rectangle 84"/>
          <p:cNvSpPr/>
          <p:nvPr/>
        </p:nvSpPr>
        <p:spPr>
          <a:xfrm>
            <a:off x="5800725" y="2546754"/>
            <a:ext cx="114300" cy="1038388"/>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Rectangle 85"/>
          <p:cNvSpPr/>
          <p:nvPr/>
        </p:nvSpPr>
        <p:spPr>
          <a:xfrm>
            <a:off x="5800725" y="3642292"/>
            <a:ext cx="114300" cy="868460"/>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Rectangle 86"/>
          <p:cNvSpPr/>
          <p:nvPr/>
        </p:nvSpPr>
        <p:spPr>
          <a:xfrm>
            <a:off x="5800725" y="4567902"/>
            <a:ext cx="114300" cy="753031"/>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Rectangle 87"/>
          <p:cNvSpPr/>
          <p:nvPr/>
        </p:nvSpPr>
        <p:spPr>
          <a:xfrm>
            <a:off x="5800725" y="5378083"/>
            <a:ext cx="114300" cy="399195"/>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Rectangle 88"/>
          <p:cNvSpPr/>
          <p:nvPr/>
        </p:nvSpPr>
        <p:spPr>
          <a:xfrm>
            <a:off x="5800725" y="5834429"/>
            <a:ext cx="114300" cy="338890"/>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5800725" y="6230468"/>
            <a:ext cx="114300" cy="246532"/>
          </a:xfrm>
          <a:prstGeom prst="rect">
            <a:avLst/>
          </a:prstGeom>
          <a:solidFill>
            <a:srgbClr val="8CA3B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57175" y="1721167"/>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2" name="TextBox 91"/>
          <p:cNvSpPr txBox="1"/>
          <p:nvPr/>
        </p:nvSpPr>
        <p:spPr>
          <a:xfrm>
            <a:off x="257175" y="2686296"/>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3" name="TextBox 92"/>
          <p:cNvSpPr txBox="1"/>
          <p:nvPr/>
        </p:nvSpPr>
        <p:spPr>
          <a:xfrm>
            <a:off x="257175" y="3542204"/>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4" name="TextBox 93"/>
          <p:cNvSpPr txBox="1"/>
          <p:nvPr/>
        </p:nvSpPr>
        <p:spPr>
          <a:xfrm>
            <a:off x="257175" y="4283316"/>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5" name="TextBox 94"/>
          <p:cNvSpPr txBox="1"/>
          <p:nvPr/>
        </p:nvSpPr>
        <p:spPr>
          <a:xfrm>
            <a:off x="257175" y="4948116"/>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6" name="TextBox 95"/>
          <p:cNvSpPr txBox="1"/>
          <p:nvPr/>
        </p:nvSpPr>
        <p:spPr>
          <a:xfrm>
            <a:off x="257175" y="5505487"/>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7" name="TextBox 96"/>
          <p:cNvSpPr txBox="1"/>
          <p:nvPr/>
        </p:nvSpPr>
        <p:spPr>
          <a:xfrm>
            <a:off x="257175" y="5920154"/>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8" name="TextBox 97"/>
          <p:cNvSpPr txBox="1"/>
          <p:nvPr/>
        </p:nvSpPr>
        <p:spPr>
          <a:xfrm>
            <a:off x="257175" y="6208911"/>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99" name="TextBox 98"/>
          <p:cNvSpPr txBox="1"/>
          <p:nvPr/>
        </p:nvSpPr>
        <p:spPr>
          <a:xfrm>
            <a:off x="257175" y="6391275"/>
            <a:ext cx="1626870" cy="142875"/>
          </a:xfrm>
          <a:prstGeom prst="rect">
            <a:avLst/>
          </a:prstGeom>
          <a:noFill/>
        </p:spPr>
        <p:txBody>
          <a:bodyPr wrap="square" lIns="0" rIns="19050" tIns="0" bIns="0" anchor="ctr">
            <a:spAutoFit/>
          </a:bodyPr>
          <a:lstStyle/>
          <a:p>
            <a:pPr algn="r"/>
            <a:r>
              <a:rPr sz="1100" b="1">
                <a:solidFill>
                  <a:srgbClr val="2E2E2E"/>
                </a:solidFill>
                <a:latin typeface="Calibri"/>
              </a:rPr>
              <a:t/>
            </a:r>
            <a:r>
              <a:rPr sz="1100" b="0">
                <a:solidFill>
                  <a:srgbClr val="6C7A89"/>
                </a:solidFill>
                <a:latin typeface="Calibri"/>
              </a:rPr>
              <a:t/>
            </a:r>
          </a:p>
        </p:txBody>
      </p:sp>
      <p:sp>
        <p:nvSpPr>
          <p:cNvPr id="100" name="TextBox 99"/>
          <p:cNvSpPr txBox="1"/>
          <p:nvPr/>
        </p:nvSpPr>
        <p:spPr>
          <a:xfrm>
            <a:off x="5972175" y="1802015"/>
            <a:ext cx="1381125" cy="24765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1" name="TextBox 100"/>
          <p:cNvSpPr txBox="1"/>
          <p:nvPr/>
        </p:nvSpPr>
        <p:spPr>
          <a:xfrm>
            <a:off x="5972175" y="2994510"/>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2" name="TextBox 101"/>
          <p:cNvSpPr txBox="1"/>
          <p:nvPr/>
        </p:nvSpPr>
        <p:spPr>
          <a:xfrm>
            <a:off x="5972175" y="3952697"/>
            <a:ext cx="1381125" cy="24765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3" name="TextBox 102"/>
          <p:cNvSpPr txBox="1"/>
          <p:nvPr/>
        </p:nvSpPr>
        <p:spPr>
          <a:xfrm>
            <a:off x="5972175" y="4872980"/>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4" name="TextBox 103"/>
          <p:cNvSpPr txBox="1"/>
          <p:nvPr/>
        </p:nvSpPr>
        <p:spPr>
          <a:xfrm>
            <a:off x="5972175" y="5453856"/>
            <a:ext cx="1381125" cy="247650"/>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5" name="TextBox 104"/>
          <p:cNvSpPr txBox="1"/>
          <p:nvPr/>
        </p:nvSpPr>
        <p:spPr>
          <a:xfrm>
            <a:off x="5972175" y="5932436"/>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6" name="TextBox 105"/>
          <p:cNvSpPr txBox="1"/>
          <p:nvPr/>
        </p:nvSpPr>
        <p:spPr>
          <a:xfrm>
            <a:off x="5972175" y="6282297"/>
            <a:ext cx="1381125" cy="142875"/>
          </a:xfrm>
          <a:prstGeom prst="rect">
            <a:avLst/>
          </a:prstGeom>
          <a:noFill/>
        </p:spPr>
        <p:txBody>
          <a:bodyPr wrap="square" lIns="0" rIns="19050" tIns="0" bIns="0" anchor="ctr">
            <a:spAutoFit/>
          </a:bodyPr>
          <a:lstStyle/>
          <a:p>
            <a:pPr algn="l"/>
            <a:r>
              <a:rPr sz="1100" b="1">
                <a:solidFill>
                  <a:srgbClr val="2E2E2E"/>
                </a:solidFill>
                <a:latin typeface="Calibri"/>
              </a:rPr>
              <a:t/>
            </a:r>
            <a:r>
              <a:rPr sz="1100" b="0">
                <a:solidFill>
                  <a:srgbClr val="6C7A89"/>
                </a:solidFill>
                <a:latin typeface="Calibri"/>
              </a:rPr>
              <a:t/>
            </a:r>
          </a:p>
        </p:txBody>
      </p:sp>
      <p:sp>
        <p:nvSpPr>
          <p:cNvPr id="107" name="Rounded Rectangle 106"/>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109" name="Rectangle 108"/>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11" name="TextBox 11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12" name="TextBox 111"/>
          <p:cNvSpPr txBox="1"/>
          <p:nvPr/>
        </p:nvSpPr>
        <p:spPr>
          <a:xfrm>
            <a:off x="1405586" y="1732254"/>
            <a:ext cx="424707" cy="139750"/>
          </a:xfrm>
          <a:prstGeom prst="rect">
            <a:avLst/>
          </a:prstGeom>
          <a:noFill/>
        </p:spPr>
        <p:txBody>
          <a:bodyPr wrap="none" lIns="0" rIns="0" tIns="0" bIns="0">
            <a:spAutoFit/>
          </a:bodyPr>
          <a:lstStyle/>
          <a:p>
            <a:r>
              <a:rPr sz="791" b="1">
                <a:solidFill>
                  <a:srgbClr val="2E2E2E"/>
                </a:solidFill>
                <a:latin typeface="Calibri"/>
              </a:rPr>
              <a:t>Pouches</a:t>
            </a:r>
          </a:p>
        </p:txBody>
      </p:sp>
      <p:pic>
        <p:nvPicPr>
          <p:cNvPr id="113" name="Picture 112" descr="lock.png"/>
          <p:cNvPicPr>
            <a:picLocks noChangeAspect="1"/>
          </p:cNvPicPr>
          <p:nvPr/>
        </p:nvPicPr>
        <p:blipFill>
          <a:blip r:embed="rId4"/>
          <a:stretch>
            <a:fillRect/>
          </a:stretch>
        </p:blipFill>
        <p:spPr>
          <a:xfrm>
            <a:off x="1771555" y="1725213"/>
            <a:ext cx="92663" cy="134782"/>
          </a:xfrm>
          <a:prstGeom prst="rect">
            <a:avLst/>
          </a:prstGeom>
        </p:spPr>
      </p:pic>
      <p:sp>
        <p:nvSpPr>
          <p:cNvPr id="114" name="TextBox 113"/>
          <p:cNvSpPr txBox="1"/>
          <p:nvPr/>
        </p:nvSpPr>
        <p:spPr>
          <a:xfrm>
            <a:off x="708374" y="2697383"/>
            <a:ext cx="1121919" cy="139750"/>
          </a:xfrm>
          <a:prstGeom prst="rect">
            <a:avLst/>
          </a:prstGeom>
          <a:noFill/>
        </p:spPr>
        <p:txBody>
          <a:bodyPr wrap="none" lIns="0" rIns="0" tIns="0" bIns="0">
            <a:spAutoFit/>
          </a:bodyPr>
          <a:lstStyle/>
          <a:p>
            <a:r>
              <a:rPr sz="791" b="1">
                <a:solidFill>
                  <a:srgbClr val="2E2E2E"/>
                </a:solidFill>
                <a:latin typeface="Calibri"/>
              </a:rPr>
              <a:t>Bulk Industrial Packaging</a:t>
            </a:r>
          </a:p>
        </p:txBody>
      </p:sp>
      <p:pic>
        <p:nvPicPr>
          <p:cNvPr id="115" name="Picture 114" descr="lock.png"/>
          <p:cNvPicPr>
            <a:picLocks noChangeAspect="1"/>
          </p:cNvPicPr>
          <p:nvPr/>
        </p:nvPicPr>
        <p:blipFill>
          <a:blip r:embed="rId4"/>
          <a:stretch>
            <a:fillRect/>
          </a:stretch>
        </p:blipFill>
        <p:spPr>
          <a:xfrm>
            <a:off x="1771555" y="2690342"/>
            <a:ext cx="92663" cy="134782"/>
          </a:xfrm>
          <a:prstGeom prst="rect">
            <a:avLst/>
          </a:prstGeom>
        </p:spPr>
      </p:pic>
      <p:sp>
        <p:nvSpPr>
          <p:cNvPr id="116" name="TextBox 115"/>
          <p:cNvSpPr txBox="1"/>
          <p:nvPr/>
        </p:nvSpPr>
        <p:spPr>
          <a:xfrm>
            <a:off x="1555480" y="3553291"/>
            <a:ext cx="274814" cy="139750"/>
          </a:xfrm>
          <a:prstGeom prst="rect">
            <a:avLst/>
          </a:prstGeom>
          <a:noFill/>
        </p:spPr>
        <p:txBody>
          <a:bodyPr wrap="none" lIns="0" rIns="0" tIns="0" bIns="0">
            <a:spAutoFit/>
          </a:bodyPr>
          <a:lstStyle/>
          <a:p>
            <a:r>
              <a:rPr sz="791" b="0">
                <a:solidFill>
                  <a:srgbClr val="6C7A89"/>
                </a:solidFill>
                <a:latin typeface="Calibri"/>
              </a:rPr>
              <a:t>Cups</a:t>
            </a:r>
          </a:p>
        </p:txBody>
      </p:sp>
      <p:pic>
        <p:nvPicPr>
          <p:cNvPr id="117" name="Picture 116" descr="lock.png"/>
          <p:cNvPicPr>
            <a:picLocks noChangeAspect="1"/>
          </p:cNvPicPr>
          <p:nvPr/>
        </p:nvPicPr>
        <p:blipFill>
          <a:blip r:embed="rId4"/>
          <a:stretch>
            <a:fillRect/>
          </a:stretch>
        </p:blipFill>
        <p:spPr>
          <a:xfrm>
            <a:off x="1771555" y="3546250"/>
            <a:ext cx="92663" cy="134782"/>
          </a:xfrm>
          <a:prstGeom prst="rect">
            <a:avLst/>
          </a:prstGeom>
        </p:spPr>
      </p:pic>
      <p:sp>
        <p:nvSpPr>
          <p:cNvPr id="118" name="TextBox 117"/>
          <p:cNvSpPr txBox="1"/>
          <p:nvPr/>
        </p:nvSpPr>
        <p:spPr>
          <a:xfrm>
            <a:off x="1458236" y="4294403"/>
            <a:ext cx="372058" cy="139750"/>
          </a:xfrm>
          <a:prstGeom prst="rect">
            <a:avLst/>
          </a:prstGeom>
          <a:noFill/>
        </p:spPr>
        <p:txBody>
          <a:bodyPr wrap="none" lIns="0" rIns="0" tIns="0" bIns="0">
            <a:spAutoFit/>
          </a:bodyPr>
          <a:lstStyle/>
          <a:p>
            <a:r>
              <a:rPr sz="791" b="1">
                <a:solidFill>
                  <a:srgbClr val="2E2E2E"/>
                </a:solidFill>
                <a:latin typeface="Calibri"/>
              </a:rPr>
              <a:t>Bottles</a:t>
            </a:r>
          </a:p>
        </p:txBody>
      </p:sp>
      <p:pic>
        <p:nvPicPr>
          <p:cNvPr id="119" name="Picture 118" descr="lock.png"/>
          <p:cNvPicPr>
            <a:picLocks noChangeAspect="1"/>
          </p:cNvPicPr>
          <p:nvPr/>
        </p:nvPicPr>
        <p:blipFill>
          <a:blip r:embed="rId4"/>
          <a:stretch>
            <a:fillRect/>
          </a:stretch>
        </p:blipFill>
        <p:spPr>
          <a:xfrm>
            <a:off x="1771555" y="4287362"/>
            <a:ext cx="92663" cy="134782"/>
          </a:xfrm>
          <a:prstGeom prst="rect">
            <a:avLst/>
          </a:prstGeom>
        </p:spPr>
      </p:pic>
      <p:sp>
        <p:nvSpPr>
          <p:cNvPr id="120" name="TextBox 119"/>
          <p:cNvSpPr txBox="1"/>
          <p:nvPr/>
        </p:nvSpPr>
        <p:spPr>
          <a:xfrm>
            <a:off x="777526" y="4959203"/>
            <a:ext cx="1052768" cy="139750"/>
          </a:xfrm>
          <a:prstGeom prst="rect">
            <a:avLst/>
          </a:prstGeom>
          <a:noFill/>
        </p:spPr>
        <p:txBody>
          <a:bodyPr wrap="none" lIns="0" rIns="0" tIns="0" bIns="0">
            <a:spAutoFit/>
          </a:bodyPr>
          <a:lstStyle/>
          <a:p>
            <a:r>
              <a:rPr sz="791" b="1">
                <a:solidFill>
                  <a:srgbClr val="2E2E2E"/>
                </a:solidFill>
                <a:latin typeface="Calibri"/>
              </a:rPr>
              <a:t>Sachets and Stick Packs</a:t>
            </a:r>
          </a:p>
        </p:txBody>
      </p:sp>
      <p:pic>
        <p:nvPicPr>
          <p:cNvPr id="121" name="Picture 120" descr="lock.png"/>
          <p:cNvPicPr>
            <a:picLocks noChangeAspect="1"/>
          </p:cNvPicPr>
          <p:nvPr/>
        </p:nvPicPr>
        <p:blipFill>
          <a:blip r:embed="rId4"/>
          <a:stretch>
            <a:fillRect/>
          </a:stretch>
        </p:blipFill>
        <p:spPr>
          <a:xfrm>
            <a:off x="1771555" y="4952162"/>
            <a:ext cx="92663" cy="134782"/>
          </a:xfrm>
          <a:prstGeom prst="rect">
            <a:avLst/>
          </a:prstGeom>
        </p:spPr>
      </p:pic>
      <p:sp>
        <p:nvSpPr>
          <p:cNvPr id="122" name="TextBox 121"/>
          <p:cNvSpPr txBox="1"/>
          <p:nvPr/>
        </p:nvSpPr>
        <p:spPr>
          <a:xfrm>
            <a:off x="1599485" y="5516574"/>
            <a:ext cx="230808" cy="139750"/>
          </a:xfrm>
          <a:prstGeom prst="rect">
            <a:avLst/>
          </a:prstGeom>
          <a:noFill/>
        </p:spPr>
        <p:txBody>
          <a:bodyPr wrap="none" lIns="0" rIns="0" tIns="0" bIns="0">
            <a:spAutoFit/>
          </a:bodyPr>
          <a:lstStyle/>
          <a:p>
            <a:r>
              <a:rPr sz="791" b="0">
                <a:solidFill>
                  <a:srgbClr val="6C7A89"/>
                </a:solidFill>
                <a:latin typeface="Calibri"/>
              </a:rPr>
              <a:t>Jars</a:t>
            </a:r>
          </a:p>
        </p:txBody>
      </p:sp>
      <p:pic>
        <p:nvPicPr>
          <p:cNvPr id="123" name="Picture 122" descr="lock.png"/>
          <p:cNvPicPr>
            <a:picLocks noChangeAspect="1"/>
          </p:cNvPicPr>
          <p:nvPr/>
        </p:nvPicPr>
        <p:blipFill>
          <a:blip r:embed="rId4"/>
          <a:stretch>
            <a:fillRect/>
          </a:stretch>
        </p:blipFill>
        <p:spPr>
          <a:xfrm>
            <a:off x="1771555" y="5509533"/>
            <a:ext cx="92663" cy="134782"/>
          </a:xfrm>
          <a:prstGeom prst="rect">
            <a:avLst/>
          </a:prstGeom>
        </p:spPr>
      </p:pic>
      <p:sp>
        <p:nvSpPr>
          <p:cNvPr id="124" name="TextBox 123"/>
          <p:cNvSpPr txBox="1"/>
          <p:nvPr/>
        </p:nvSpPr>
        <p:spPr>
          <a:xfrm>
            <a:off x="981640" y="5931241"/>
            <a:ext cx="848653" cy="139750"/>
          </a:xfrm>
          <a:prstGeom prst="rect">
            <a:avLst/>
          </a:prstGeom>
          <a:noFill/>
        </p:spPr>
        <p:txBody>
          <a:bodyPr wrap="none" lIns="0" rIns="0" tIns="0" bIns="0">
            <a:spAutoFit/>
          </a:bodyPr>
          <a:lstStyle/>
          <a:p>
            <a:r>
              <a:rPr sz="791" b="1">
                <a:solidFill>
                  <a:srgbClr val="2E2E2E"/>
                </a:solidFill>
                <a:latin typeface="Calibri"/>
              </a:rPr>
              <a:t>Boxes and Cartons</a:t>
            </a:r>
          </a:p>
        </p:txBody>
      </p:sp>
      <p:pic>
        <p:nvPicPr>
          <p:cNvPr id="125" name="Picture 124" descr="lock.png"/>
          <p:cNvPicPr>
            <a:picLocks noChangeAspect="1"/>
          </p:cNvPicPr>
          <p:nvPr/>
        </p:nvPicPr>
        <p:blipFill>
          <a:blip r:embed="rId4"/>
          <a:stretch>
            <a:fillRect/>
          </a:stretch>
        </p:blipFill>
        <p:spPr>
          <a:xfrm>
            <a:off x="1771555" y="5924200"/>
            <a:ext cx="92663" cy="134782"/>
          </a:xfrm>
          <a:prstGeom prst="rect">
            <a:avLst/>
          </a:prstGeom>
        </p:spPr>
      </p:pic>
      <p:sp>
        <p:nvSpPr>
          <p:cNvPr id="126" name="TextBox 125"/>
          <p:cNvSpPr txBox="1"/>
          <p:nvPr/>
        </p:nvSpPr>
        <p:spPr>
          <a:xfrm>
            <a:off x="805029" y="6219998"/>
            <a:ext cx="1025265" cy="139750"/>
          </a:xfrm>
          <a:prstGeom prst="rect">
            <a:avLst/>
          </a:prstGeom>
          <a:noFill/>
        </p:spPr>
        <p:txBody>
          <a:bodyPr wrap="none" lIns="0" rIns="0" tIns="0" bIns="0">
            <a:spAutoFit/>
          </a:bodyPr>
          <a:lstStyle/>
          <a:p>
            <a:r>
              <a:rPr sz="791" b="1">
                <a:solidFill>
                  <a:srgbClr val="2E2E2E"/>
                </a:solidFill>
                <a:latin typeface="Calibri"/>
              </a:rPr>
              <a:t>Other Packaging Types</a:t>
            </a:r>
          </a:p>
        </p:txBody>
      </p:sp>
      <p:pic>
        <p:nvPicPr>
          <p:cNvPr id="127" name="Picture 126" descr="lock.png"/>
          <p:cNvPicPr>
            <a:picLocks noChangeAspect="1"/>
          </p:cNvPicPr>
          <p:nvPr/>
        </p:nvPicPr>
        <p:blipFill>
          <a:blip r:embed="rId4"/>
          <a:stretch>
            <a:fillRect/>
          </a:stretch>
        </p:blipFill>
        <p:spPr>
          <a:xfrm>
            <a:off x="1771555" y="6212957"/>
            <a:ext cx="92663" cy="134782"/>
          </a:xfrm>
          <a:prstGeom prst="rect">
            <a:avLst/>
          </a:prstGeom>
        </p:spPr>
      </p:pic>
      <p:sp>
        <p:nvSpPr>
          <p:cNvPr id="128" name="TextBox 127"/>
          <p:cNvSpPr txBox="1"/>
          <p:nvPr/>
        </p:nvSpPr>
        <p:spPr>
          <a:xfrm>
            <a:off x="1184969" y="6402362"/>
            <a:ext cx="645324" cy="139750"/>
          </a:xfrm>
          <a:prstGeom prst="rect">
            <a:avLst/>
          </a:prstGeom>
          <a:noFill/>
        </p:spPr>
        <p:txBody>
          <a:bodyPr wrap="none" lIns="0" rIns="0" tIns="0" bIns="0">
            <a:spAutoFit/>
          </a:bodyPr>
          <a:lstStyle/>
          <a:p>
            <a:r>
              <a:rPr sz="791" b="1">
                <a:solidFill>
                  <a:srgbClr val="2E2E2E"/>
                </a:solidFill>
                <a:latin typeface="Calibri"/>
              </a:rPr>
              <a:t>Tins and Cans</a:t>
            </a:r>
          </a:p>
        </p:txBody>
      </p:sp>
      <p:pic>
        <p:nvPicPr>
          <p:cNvPr id="129" name="Picture 128" descr="lock.png"/>
          <p:cNvPicPr>
            <a:picLocks noChangeAspect="1"/>
          </p:cNvPicPr>
          <p:nvPr/>
        </p:nvPicPr>
        <p:blipFill>
          <a:blip r:embed="rId4"/>
          <a:stretch>
            <a:fillRect/>
          </a:stretch>
        </p:blipFill>
        <p:spPr>
          <a:xfrm>
            <a:off x="1771555" y="6395321"/>
            <a:ext cx="92663" cy="134782"/>
          </a:xfrm>
          <a:prstGeom prst="rect">
            <a:avLst/>
          </a:prstGeom>
        </p:spPr>
      </p:pic>
      <p:sp>
        <p:nvSpPr>
          <p:cNvPr id="130" name="TextBox 129"/>
          <p:cNvSpPr txBox="1"/>
          <p:nvPr/>
        </p:nvSpPr>
        <p:spPr>
          <a:xfrm>
            <a:off x="5972175" y="1805139"/>
            <a:ext cx="840206" cy="139750"/>
          </a:xfrm>
          <a:prstGeom prst="rect">
            <a:avLst/>
          </a:prstGeom>
          <a:noFill/>
        </p:spPr>
        <p:txBody>
          <a:bodyPr wrap="none" lIns="0" rIns="0" tIns="0" bIns="0">
            <a:spAutoFit/>
          </a:bodyPr>
          <a:lstStyle/>
          <a:p>
            <a:r>
              <a:rPr sz="791" b="1">
                <a:solidFill>
                  <a:srgbClr val="2E2E2E"/>
                </a:solidFill>
                <a:latin typeface="Calibri"/>
              </a:rPr>
              <a:t>Supermarkets and</a:t>
            </a:r>
          </a:p>
        </p:txBody>
      </p:sp>
      <p:sp>
        <p:nvSpPr>
          <p:cNvPr id="131" name="TextBox 130"/>
          <p:cNvSpPr txBox="1"/>
          <p:nvPr/>
        </p:nvSpPr>
        <p:spPr>
          <a:xfrm>
            <a:off x="5972175" y="1925840"/>
            <a:ext cx="669291" cy="139750"/>
          </a:xfrm>
          <a:prstGeom prst="rect">
            <a:avLst/>
          </a:prstGeom>
          <a:noFill/>
        </p:spPr>
        <p:txBody>
          <a:bodyPr wrap="none" lIns="0" rIns="0" tIns="0" bIns="0">
            <a:spAutoFit/>
          </a:bodyPr>
          <a:lstStyle/>
          <a:p>
            <a:r>
              <a:rPr sz="791" b="1">
                <a:solidFill>
                  <a:srgbClr val="2E2E2E"/>
                </a:solidFill>
                <a:latin typeface="Calibri"/>
              </a:rPr>
              <a:t>Hypermarkets</a:t>
            </a:r>
          </a:p>
        </p:txBody>
      </p:sp>
      <p:pic>
        <p:nvPicPr>
          <p:cNvPr id="132" name="Picture 131" descr="lock.png"/>
          <p:cNvPicPr>
            <a:picLocks noChangeAspect="1"/>
          </p:cNvPicPr>
          <p:nvPr/>
        </p:nvPicPr>
        <p:blipFill>
          <a:blip r:embed="rId4"/>
          <a:stretch>
            <a:fillRect/>
          </a:stretch>
        </p:blipFill>
        <p:spPr>
          <a:xfrm>
            <a:off x="6582728" y="1918799"/>
            <a:ext cx="92663" cy="134782"/>
          </a:xfrm>
          <a:prstGeom prst="rect">
            <a:avLst/>
          </a:prstGeom>
        </p:spPr>
      </p:pic>
      <p:sp>
        <p:nvSpPr>
          <p:cNvPr id="133" name="TextBox 132"/>
          <p:cNvSpPr txBox="1"/>
          <p:nvPr/>
        </p:nvSpPr>
        <p:spPr>
          <a:xfrm>
            <a:off x="5972175" y="3005597"/>
            <a:ext cx="897766" cy="139750"/>
          </a:xfrm>
          <a:prstGeom prst="rect">
            <a:avLst/>
          </a:prstGeom>
          <a:noFill/>
        </p:spPr>
        <p:txBody>
          <a:bodyPr wrap="none" lIns="0" rIns="0" tIns="0" bIns="0">
            <a:spAutoFit/>
          </a:bodyPr>
          <a:lstStyle/>
          <a:p>
            <a:r>
              <a:rPr sz="791" b="1">
                <a:solidFill>
                  <a:srgbClr val="2E2E2E"/>
                </a:solidFill>
                <a:latin typeface="Calibri"/>
              </a:rPr>
              <a:t>Convenience Stores</a:t>
            </a:r>
          </a:p>
        </p:txBody>
      </p:sp>
      <p:pic>
        <p:nvPicPr>
          <p:cNvPr id="134" name="Picture 133" descr="lock.png"/>
          <p:cNvPicPr>
            <a:picLocks noChangeAspect="1"/>
          </p:cNvPicPr>
          <p:nvPr/>
        </p:nvPicPr>
        <p:blipFill>
          <a:blip r:embed="rId4"/>
          <a:stretch>
            <a:fillRect/>
          </a:stretch>
        </p:blipFill>
        <p:spPr>
          <a:xfrm>
            <a:off x="6811203" y="2998556"/>
            <a:ext cx="92663" cy="134782"/>
          </a:xfrm>
          <a:prstGeom prst="rect">
            <a:avLst/>
          </a:prstGeom>
        </p:spPr>
      </p:pic>
      <p:sp>
        <p:nvSpPr>
          <p:cNvPr id="135" name="TextBox 134"/>
          <p:cNvSpPr txBox="1"/>
          <p:nvPr/>
        </p:nvSpPr>
        <p:spPr>
          <a:xfrm>
            <a:off x="5972175" y="3955821"/>
            <a:ext cx="1337410" cy="139750"/>
          </a:xfrm>
          <a:prstGeom prst="rect">
            <a:avLst/>
          </a:prstGeom>
          <a:noFill/>
        </p:spPr>
        <p:txBody>
          <a:bodyPr wrap="none" lIns="0" rIns="0" tIns="0" bIns="0">
            <a:spAutoFit/>
          </a:bodyPr>
          <a:lstStyle/>
          <a:p>
            <a:r>
              <a:rPr sz="791" b="1">
                <a:solidFill>
                  <a:srgbClr val="2E2E2E"/>
                </a:solidFill>
                <a:latin typeface="Calibri"/>
              </a:rPr>
              <a:t>Specialty Tea and Health Food</a:t>
            </a:r>
          </a:p>
        </p:txBody>
      </p:sp>
      <p:sp>
        <p:nvSpPr>
          <p:cNvPr id="136" name="TextBox 135"/>
          <p:cNvSpPr txBox="1"/>
          <p:nvPr/>
        </p:nvSpPr>
        <p:spPr>
          <a:xfrm>
            <a:off x="5972175" y="4076522"/>
            <a:ext cx="339250" cy="139750"/>
          </a:xfrm>
          <a:prstGeom prst="rect">
            <a:avLst/>
          </a:prstGeom>
          <a:noFill/>
        </p:spPr>
        <p:txBody>
          <a:bodyPr wrap="none" lIns="0" rIns="0" tIns="0" bIns="0">
            <a:spAutoFit/>
          </a:bodyPr>
          <a:lstStyle/>
          <a:p>
            <a:r>
              <a:rPr sz="791" b="1">
                <a:solidFill>
                  <a:srgbClr val="2E2E2E"/>
                </a:solidFill>
                <a:latin typeface="Calibri"/>
              </a:rPr>
              <a:t>Stores</a:t>
            </a:r>
          </a:p>
        </p:txBody>
      </p:sp>
      <p:pic>
        <p:nvPicPr>
          <p:cNvPr id="137" name="Picture 136" descr="lock.png"/>
          <p:cNvPicPr>
            <a:picLocks noChangeAspect="1"/>
          </p:cNvPicPr>
          <p:nvPr/>
        </p:nvPicPr>
        <p:blipFill>
          <a:blip r:embed="rId4"/>
          <a:stretch>
            <a:fillRect/>
          </a:stretch>
        </p:blipFill>
        <p:spPr>
          <a:xfrm>
            <a:off x="6252686" y="4069481"/>
            <a:ext cx="92663" cy="134782"/>
          </a:xfrm>
          <a:prstGeom prst="rect">
            <a:avLst/>
          </a:prstGeom>
        </p:spPr>
      </p:pic>
      <p:sp>
        <p:nvSpPr>
          <p:cNvPr id="138" name="TextBox 137"/>
          <p:cNvSpPr txBox="1"/>
          <p:nvPr/>
        </p:nvSpPr>
        <p:spPr>
          <a:xfrm>
            <a:off x="5972175" y="4884067"/>
            <a:ext cx="616642" cy="139750"/>
          </a:xfrm>
          <a:prstGeom prst="rect">
            <a:avLst/>
          </a:prstGeom>
          <a:noFill/>
        </p:spPr>
        <p:txBody>
          <a:bodyPr wrap="none" lIns="0" rIns="0" tIns="0" bIns="0">
            <a:spAutoFit/>
          </a:bodyPr>
          <a:lstStyle/>
          <a:p>
            <a:r>
              <a:rPr sz="791" b="1">
                <a:solidFill>
                  <a:srgbClr val="2E2E2E"/>
                </a:solidFill>
                <a:latin typeface="Calibri"/>
              </a:rPr>
              <a:t>Online Retail</a:t>
            </a:r>
          </a:p>
        </p:txBody>
      </p:sp>
      <p:pic>
        <p:nvPicPr>
          <p:cNvPr id="139" name="Picture 138" descr="lock.png"/>
          <p:cNvPicPr>
            <a:picLocks noChangeAspect="1"/>
          </p:cNvPicPr>
          <p:nvPr/>
        </p:nvPicPr>
        <p:blipFill>
          <a:blip r:embed="rId4"/>
          <a:stretch>
            <a:fillRect/>
          </a:stretch>
        </p:blipFill>
        <p:spPr>
          <a:xfrm>
            <a:off x="6530078" y="4877026"/>
            <a:ext cx="92663" cy="134782"/>
          </a:xfrm>
          <a:prstGeom prst="rect">
            <a:avLst/>
          </a:prstGeom>
        </p:spPr>
      </p:pic>
      <p:sp>
        <p:nvSpPr>
          <p:cNvPr id="140" name="TextBox 139"/>
          <p:cNvSpPr txBox="1"/>
          <p:nvPr/>
        </p:nvSpPr>
        <p:spPr>
          <a:xfrm>
            <a:off x="5972175" y="5456980"/>
            <a:ext cx="1021335" cy="139750"/>
          </a:xfrm>
          <a:prstGeom prst="rect">
            <a:avLst/>
          </a:prstGeom>
          <a:noFill/>
        </p:spPr>
        <p:txBody>
          <a:bodyPr wrap="none" lIns="0" rIns="0" tIns="0" bIns="0">
            <a:spAutoFit/>
          </a:bodyPr>
          <a:lstStyle/>
          <a:p>
            <a:r>
              <a:rPr sz="791" b="1">
                <a:solidFill>
                  <a:srgbClr val="2E2E2E"/>
                </a:solidFill>
                <a:latin typeface="Calibri"/>
              </a:rPr>
              <a:t>B2B / Institutional and</a:t>
            </a:r>
          </a:p>
        </p:txBody>
      </p:sp>
      <p:sp>
        <p:nvSpPr>
          <p:cNvPr id="141" name="TextBox 140"/>
          <p:cNvSpPr txBox="1"/>
          <p:nvPr/>
        </p:nvSpPr>
        <p:spPr>
          <a:xfrm>
            <a:off x="5972175" y="5577681"/>
            <a:ext cx="745319" cy="139750"/>
          </a:xfrm>
          <a:prstGeom prst="rect">
            <a:avLst/>
          </a:prstGeom>
          <a:noFill/>
        </p:spPr>
        <p:txBody>
          <a:bodyPr wrap="none" lIns="0" rIns="0" tIns="0" bIns="0">
            <a:spAutoFit/>
          </a:bodyPr>
          <a:lstStyle/>
          <a:p>
            <a:r>
              <a:rPr sz="791" b="1">
                <a:solidFill>
                  <a:srgbClr val="2E2E2E"/>
                </a:solidFill>
                <a:latin typeface="Calibri"/>
              </a:rPr>
              <a:t>Ingredient Sales</a:t>
            </a:r>
          </a:p>
        </p:txBody>
      </p:sp>
      <p:pic>
        <p:nvPicPr>
          <p:cNvPr id="142" name="Picture 141" descr="lock.png"/>
          <p:cNvPicPr>
            <a:picLocks noChangeAspect="1"/>
          </p:cNvPicPr>
          <p:nvPr/>
        </p:nvPicPr>
        <p:blipFill>
          <a:blip r:embed="rId4"/>
          <a:stretch>
            <a:fillRect/>
          </a:stretch>
        </p:blipFill>
        <p:spPr>
          <a:xfrm>
            <a:off x="6658755" y="5570640"/>
            <a:ext cx="92663" cy="134782"/>
          </a:xfrm>
          <a:prstGeom prst="rect">
            <a:avLst/>
          </a:prstGeom>
        </p:spPr>
      </p:pic>
      <p:sp>
        <p:nvSpPr>
          <p:cNvPr id="143" name="TextBox 142"/>
          <p:cNvSpPr txBox="1"/>
          <p:nvPr/>
        </p:nvSpPr>
        <p:spPr>
          <a:xfrm>
            <a:off x="5972175" y="5943523"/>
            <a:ext cx="1106971" cy="139750"/>
          </a:xfrm>
          <a:prstGeom prst="rect">
            <a:avLst/>
          </a:prstGeom>
          <a:noFill/>
        </p:spPr>
        <p:txBody>
          <a:bodyPr wrap="none" lIns="0" rIns="0" tIns="0" bIns="0">
            <a:spAutoFit/>
          </a:bodyPr>
          <a:lstStyle/>
          <a:p>
            <a:r>
              <a:rPr sz="791" b="1">
                <a:solidFill>
                  <a:srgbClr val="2E2E2E"/>
                </a:solidFill>
                <a:latin typeface="Calibri"/>
              </a:rPr>
              <a:t>Foodservice and HoReCa</a:t>
            </a:r>
          </a:p>
        </p:txBody>
      </p:sp>
      <p:pic>
        <p:nvPicPr>
          <p:cNvPr id="144" name="Picture 143" descr="lock.png"/>
          <p:cNvPicPr>
            <a:picLocks noChangeAspect="1"/>
          </p:cNvPicPr>
          <p:nvPr/>
        </p:nvPicPr>
        <p:blipFill>
          <a:blip r:embed="rId4"/>
          <a:stretch>
            <a:fillRect/>
          </a:stretch>
        </p:blipFill>
        <p:spPr>
          <a:xfrm>
            <a:off x="7020407" y="5936482"/>
            <a:ext cx="92663" cy="134782"/>
          </a:xfrm>
          <a:prstGeom prst="rect">
            <a:avLst/>
          </a:prstGeom>
        </p:spPr>
      </p:pic>
      <p:sp>
        <p:nvSpPr>
          <p:cNvPr id="145" name="TextBox 144"/>
          <p:cNvSpPr txBox="1"/>
          <p:nvPr/>
        </p:nvSpPr>
        <p:spPr>
          <a:xfrm>
            <a:off x="5972175" y="6293384"/>
            <a:ext cx="987153" cy="139750"/>
          </a:xfrm>
          <a:prstGeom prst="rect">
            <a:avLst/>
          </a:prstGeom>
          <a:noFill/>
        </p:spPr>
        <p:txBody>
          <a:bodyPr wrap="none" lIns="0" rIns="0" tIns="0" bIns="0">
            <a:spAutoFit/>
          </a:bodyPr>
          <a:lstStyle/>
          <a:p>
            <a:r>
              <a:rPr sz="791" b="1">
                <a:solidFill>
                  <a:srgbClr val="2E2E2E"/>
                </a:solidFill>
                <a:latin typeface="Calibri"/>
              </a:rPr>
              <a:t>Other Retail Channels</a:t>
            </a:r>
          </a:p>
        </p:txBody>
      </p:sp>
      <p:pic>
        <p:nvPicPr>
          <p:cNvPr id="146" name="Picture 145" descr="lock.png"/>
          <p:cNvPicPr>
            <a:picLocks noChangeAspect="1"/>
          </p:cNvPicPr>
          <p:nvPr/>
        </p:nvPicPr>
        <p:blipFill>
          <a:blip r:embed="rId4"/>
          <a:stretch>
            <a:fillRect/>
          </a:stretch>
        </p:blipFill>
        <p:spPr>
          <a:xfrm>
            <a:off x="6900589" y="6286343"/>
            <a:ext cx="92663" cy="134782"/>
          </a:xfrm>
          <a:prstGeom prst="rect">
            <a:avLst/>
          </a:prstGeom>
        </p:spPr>
      </p:pic>
      <p:sp>
        <p:nvSpPr>
          <p:cNvPr id="147" name="TextBox 146"/>
          <p:cNvSpPr txBox="1"/>
          <p:nvPr/>
        </p:nvSpPr>
        <p:spPr>
          <a:xfrm>
            <a:off x="7715250" y="1400175"/>
            <a:ext cx="4135648" cy="194310"/>
          </a:xfrm>
          <a:prstGeom prst="rect">
            <a:avLst/>
          </a:prstGeom>
          <a:noFill/>
        </p:spPr>
        <p:txBody>
          <a:bodyPr wrap="none" lIns="0" rIns="0" tIns="0" bIns="0">
            <a:spAutoFit/>
          </a:bodyPr>
          <a:lstStyle/>
          <a:p>
            <a:r>
              <a:rPr sz="1150" b="0">
                <a:solidFill>
                  <a:srgbClr val="2E2E2E"/>
                </a:solidFill>
                <a:latin typeface="Calibri"/>
              </a:rPr>
              <a:t>Pouches segment is projected to account for the largest share of the</a:t>
            </a:r>
          </a:p>
        </p:txBody>
      </p:sp>
      <p:sp>
        <p:nvSpPr>
          <p:cNvPr id="148" name="TextBox 147"/>
          <p:cNvSpPr txBox="1"/>
          <p:nvPr/>
        </p:nvSpPr>
        <p:spPr>
          <a:xfrm>
            <a:off x="7715250" y="1575435"/>
            <a:ext cx="4068328" cy="194310"/>
          </a:xfrm>
          <a:prstGeom prst="rect">
            <a:avLst/>
          </a:prstGeom>
          <a:noFill/>
        </p:spPr>
        <p:txBody>
          <a:bodyPr wrap="none" lIns="0" rIns="0" tIns="0" bIns="0">
            <a:spAutoFit/>
          </a:bodyPr>
          <a:lstStyle/>
          <a:p>
            <a:r>
              <a:rPr sz="1150" b="0">
                <a:solidFill>
                  <a:srgbClr val="2E2E2E"/>
                </a:solidFill>
                <a:latin typeface="Calibri"/>
              </a:rPr>
              <a:t>North America matcha market, led by specialty tea and health food</a:t>
            </a:r>
          </a:p>
        </p:txBody>
      </p:sp>
      <p:sp>
        <p:nvSpPr>
          <p:cNvPr id="149" name="TextBox 148"/>
          <p:cNvSpPr txBox="1"/>
          <p:nvPr/>
        </p:nvSpPr>
        <p:spPr>
          <a:xfrm>
            <a:off x="7715250" y="1750695"/>
            <a:ext cx="860362" cy="194310"/>
          </a:xfrm>
          <a:prstGeom prst="rect">
            <a:avLst/>
          </a:prstGeom>
          <a:noFill/>
        </p:spPr>
        <p:txBody>
          <a:bodyPr wrap="none" lIns="0" rIns="0" tIns="0" bIns="0">
            <a:spAutoFit/>
          </a:bodyPr>
          <a:lstStyle/>
          <a:p>
            <a:r>
              <a:rPr sz="1150" b="0">
                <a:solidFill>
                  <a:srgbClr val="2E2E2E"/>
                </a:solidFill>
                <a:latin typeface="Calibri"/>
              </a:rPr>
              <a:t>stores at US$</a:t>
            </a:r>
          </a:p>
        </p:txBody>
      </p:sp>
      <p:pic>
        <p:nvPicPr>
          <p:cNvPr id="150" name="Picture 149" descr="lock.png"/>
          <p:cNvPicPr>
            <a:picLocks noChangeAspect="1"/>
          </p:cNvPicPr>
          <p:nvPr/>
        </p:nvPicPr>
        <p:blipFill>
          <a:blip r:embed="rId4"/>
          <a:stretch>
            <a:fillRect/>
          </a:stretch>
        </p:blipFill>
        <p:spPr>
          <a:xfrm>
            <a:off x="8524766" y="1740471"/>
            <a:ext cx="134549" cy="195707"/>
          </a:xfrm>
          <a:prstGeom prst="rect">
            <a:avLst/>
          </a:prstGeom>
        </p:spPr>
      </p:pic>
      <p:sp>
        <p:nvSpPr>
          <p:cNvPr id="151" name="TextBox 150"/>
          <p:cNvSpPr txBox="1"/>
          <p:nvPr/>
        </p:nvSpPr>
        <p:spPr>
          <a:xfrm>
            <a:off x="8699876" y="1750695"/>
            <a:ext cx="2950418" cy="194310"/>
          </a:xfrm>
          <a:prstGeom prst="rect">
            <a:avLst/>
          </a:prstGeom>
          <a:noFill/>
        </p:spPr>
        <p:txBody>
          <a:bodyPr wrap="none" lIns="0" rIns="0" tIns="0" bIns="0">
            <a:spAutoFit/>
          </a:bodyPr>
          <a:lstStyle/>
          <a:p>
            <a:r>
              <a:rPr sz="1150" b="0">
                <a:solidFill>
                  <a:srgbClr val="2E2E2E"/>
                </a:solidFill>
                <a:latin typeface="Calibri"/>
              </a:rPr>
              <a:t>Mn in 2036. 'Pouches × Specialty Tea and Health</a:t>
            </a:r>
          </a:p>
        </p:txBody>
      </p:sp>
      <p:sp>
        <p:nvSpPr>
          <p:cNvPr id="152" name="TextBox 151"/>
          <p:cNvSpPr txBox="1"/>
          <p:nvPr/>
        </p:nvSpPr>
        <p:spPr>
          <a:xfrm>
            <a:off x="7715250" y="1925955"/>
            <a:ext cx="3205689" cy="194310"/>
          </a:xfrm>
          <a:prstGeom prst="rect">
            <a:avLst/>
          </a:prstGeom>
          <a:noFill/>
        </p:spPr>
        <p:txBody>
          <a:bodyPr wrap="none" lIns="0" rIns="0" tIns="0" bIns="0">
            <a:spAutoFit/>
          </a:bodyPr>
          <a:lstStyle/>
          <a:p>
            <a:r>
              <a:rPr sz="1150" b="0">
                <a:solidFill>
                  <a:srgbClr val="2E2E2E"/>
                </a:solidFill>
                <a:latin typeface="Calibri"/>
              </a:rPr>
              <a:t>Food Stores' is the single largest cross-sectional cell (</a:t>
            </a:r>
          </a:p>
        </p:txBody>
      </p:sp>
      <p:pic>
        <p:nvPicPr>
          <p:cNvPr id="153" name="Picture 152" descr="lock.png"/>
          <p:cNvPicPr>
            <a:picLocks noChangeAspect="1"/>
          </p:cNvPicPr>
          <p:nvPr/>
        </p:nvPicPr>
        <p:blipFill>
          <a:blip r:embed="rId4"/>
          <a:stretch>
            <a:fillRect/>
          </a:stretch>
        </p:blipFill>
        <p:spPr>
          <a:xfrm>
            <a:off x="10870093" y="1915731"/>
            <a:ext cx="134549" cy="195707"/>
          </a:xfrm>
          <a:prstGeom prst="rect">
            <a:avLst/>
          </a:prstGeom>
        </p:spPr>
      </p:pic>
      <p:sp>
        <p:nvSpPr>
          <p:cNvPr id="154" name="TextBox 153"/>
          <p:cNvSpPr txBox="1"/>
          <p:nvPr/>
        </p:nvSpPr>
        <p:spPr>
          <a:xfrm>
            <a:off x="11045202" y="1925955"/>
            <a:ext cx="5825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155" name="TextBox 154"/>
          <p:cNvSpPr txBox="1"/>
          <p:nvPr/>
        </p:nvSpPr>
        <p:spPr>
          <a:xfrm>
            <a:off x="7715250" y="2101215"/>
            <a:ext cx="3801045" cy="194310"/>
          </a:xfrm>
          <a:prstGeom prst="rect">
            <a:avLst/>
          </a:prstGeom>
          <a:noFill/>
        </p:spPr>
        <p:txBody>
          <a:bodyPr wrap="none" lIns="0" rIns="0" tIns="0" bIns="0">
            <a:spAutoFit/>
          </a:bodyPr>
          <a:lstStyle/>
          <a:p>
            <a:r>
              <a:rPr sz="1150" b="0">
                <a:solidFill>
                  <a:srgbClr val="2E2E2E"/>
                </a:solidFill>
                <a:latin typeface="Calibri"/>
              </a:rPr>
              <a:t>2026E), while 'Sachets and Stick Packs × B2B / Institutional and</a:t>
            </a:r>
          </a:p>
        </p:txBody>
      </p:sp>
      <p:sp>
        <p:nvSpPr>
          <p:cNvPr id="156" name="TextBox 155"/>
          <p:cNvSpPr txBox="1"/>
          <p:nvPr/>
        </p:nvSpPr>
        <p:spPr>
          <a:xfrm>
            <a:off x="7715250" y="2276475"/>
            <a:ext cx="3438184" cy="194310"/>
          </a:xfrm>
          <a:prstGeom prst="rect">
            <a:avLst/>
          </a:prstGeom>
          <a:noFill/>
        </p:spPr>
        <p:txBody>
          <a:bodyPr wrap="none" lIns="0" rIns="0" tIns="0" bIns="0">
            <a:spAutoFit/>
          </a:bodyPr>
          <a:lstStyle/>
          <a:p>
            <a:r>
              <a:rPr sz="1150" b="0">
                <a:solidFill>
                  <a:srgbClr val="2E2E2E"/>
                </a:solidFill>
                <a:latin typeface="Calibri"/>
              </a:rPr>
              <a:t>Ingredient Sales' records the fastest growth at a CAGR of</a:t>
            </a:r>
          </a:p>
        </p:txBody>
      </p:sp>
      <p:pic>
        <p:nvPicPr>
          <p:cNvPr id="157" name="Picture 156" descr="lock.png"/>
          <p:cNvPicPr>
            <a:picLocks noChangeAspect="1"/>
          </p:cNvPicPr>
          <p:nvPr/>
        </p:nvPicPr>
        <p:blipFill>
          <a:blip r:embed="rId4"/>
          <a:stretch>
            <a:fillRect/>
          </a:stretch>
        </p:blipFill>
        <p:spPr>
          <a:xfrm>
            <a:off x="11102588" y="2266251"/>
            <a:ext cx="134549" cy="195707"/>
          </a:xfrm>
          <a:prstGeom prst="rect">
            <a:avLst/>
          </a:prstGeom>
        </p:spPr>
      </p:pic>
      <p:sp>
        <p:nvSpPr>
          <p:cNvPr id="158" name="TextBox 157"/>
          <p:cNvSpPr txBox="1"/>
          <p:nvPr/>
        </p:nvSpPr>
        <p:spPr>
          <a:xfrm>
            <a:off x="11277697" y="2276475"/>
            <a:ext cx="342912" cy="194310"/>
          </a:xfrm>
          <a:prstGeom prst="rect">
            <a:avLst/>
          </a:prstGeom>
          <a:noFill/>
        </p:spPr>
        <p:txBody>
          <a:bodyPr wrap="none" lIns="0" rIns="0" tIns="0" bIns="0">
            <a:spAutoFit/>
          </a:bodyPr>
          <a:lstStyle/>
          <a:p>
            <a:r>
              <a:rPr sz="1150" b="0">
                <a:solidFill>
                  <a:srgbClr val="2E2E2E"/>
                </a:solidFill>
                <a:latin typeface="Calibri"/>
              </a:rPr>
              <a:t>over</a:t>
            </a:r>
          </a:p>
        </p:txBody>
      </p:sp>
      <p:sp>
        <p:nvSpPr>
          <p:cNvPr id="159" name="TextBox 158"/>
          <p:cNvSpPr txBox="1"/>
          <p:nvPr/>
        </p:nvSpPr>
        <p:spPr>
          <a:xfrm>
            <a:off x="7715250" y="2451735"/>
            <a:ext cx="917199" cy="194310"/>
          </a:xfrm>
          <a:prstGeom prst="rect">
            <a:avLst/>
          </a:prstGeom>
          <a:noFill/>
        </p:spPr>
        <p:txBody>
          <a:bodyPr wrap="none" lIns="0" rIns="0" tIns="0" bIns="0">
            <a:spAutoFit/>
          </a:bodyPr>
          <a:lstStyle/>
          <a:p>
            <a:r>
              <a:rPr sz="1150" b="0">
                <a:solidFill>
                  <a:srgbClr val="2E2E2E"/>
                </a:solidFill>
                <a:latin typeface="Calibri"/>
              </a:rPr>
              <a:t>2026E–2036F.</a:t>
            </a:r>
          </a:p>
        </p:txBody>
      </p:sp>
      <p:sp>
        <p:nvSpPr>
          <p:cNvPr id="160" name="TextBox 159"/>
          <p:cNvSpPr txBox="1"/>
          <p:nvPr/>
        </p:nvSpPr>
        <p:spPr>
          <a:xfrm>
            <a:off x="7715250" y="2679573"/>
            <a:ext cx="4091148" cy="194310"/>
          </a:xfrm>
          <a:prstGeom prst="rect">
            <a:avLst/>
          </a:prstGeom>
          <a:noFill/>
        </p:spPr>
        <p:txBody>
          <a:bodyPr wrap="none" lIns="0" rIns="0" tIns="0" bIns="0">
            <a:spAutoFit/>
          </a:bodyPr>
          <a:lstStyle/>
          <a:p>
            <a:r>
              <a:rPr sz="1150" b="0">
                <a:solidFill>
                  <a:srgbClr val="2E2E2E"/>
                </a:solidFill>
                <a:latin typeface="Calibri"/>
              </a:rPr>
              <a:t>Combined, the top three packaging type × distribution channel cells</a:t>
            </a:r>
          </a:p>
        </p:txBody>
      </p:sp>
      <p:sp>
        <p:nvSpPr>
          <p:cNvPr id="161" name="TextBox 160"/>
          <p:cNvSpPr txBox="1"/>
          <p:nvPr/>
        </p:nvSpPr>
        <p:spPr>
          <a:xfrm>
            <a:off x="7715250" y="2854832"/>
            <a:ext cx="2340545" cy="194310"/>
          </a:xfrm>
          <a:prstGeom prst="rect">
            <a:avLst/>
          </a:prstGeom>
          <a:noFill/>
        </p:spPr>
        <p:txBody>
          <a:bodyPr wrap="none" lIns="0" rIns="0" tIns="0" bIns="0">
            <a:spAutoFit/>
          </a:bodyPr>
          <a:lstStyle/>
          <a:p>
            <a:r>
              <a:rPr sz="1150" b="0">
                <a:solidFill>
                  <a:srgbClr val="2E2E2E"/>
                </a:solidFill>
                <a:latin typeface="Calibri"/>
              </a:rPr>
              <a:t>generate an absolute $ opportunity of</a:t>
            </a:r>
          </a:p>
        </p:txBody>
      </p:sp>
      <p:pic>
        <p:nvPicPr>
          <p:cNvPr id="162" name="Picture 161" descr="lock.png"/>
          <p:cNvPicPr>
            <a:picLocks noChangeAspect="1"/>
          </p:cNvPicPr>
          <p:nvPr/>
        </p:nvPicPr>
        <p:blipFill>
          <a:blip r:embed="rId4"/>
          <a:stretch>
            <a:fillRect/>
          </a:stretch>
        </p:blipFill>
        <p:spPr>
          <a:xfrm>
            <a:off x="10004949" y="2844609"/>
            <a:ext cx="134549" cy="195707"/>
          </a:xfrm>
          <a:prstGeom prst="rect">
            <a:avLst/>
          </a:prstGeom>
        </p:spPr>
      </p:pic>
      <p:sp>
        <p:nvSpPr>
          <p:cNvPr id="163" name="TextBox 162"/>
          <p:cNvSpPr txBox="1"/>
          <p:nvPr/>
        </p:nvSpPr>
        <p:spPr>
          <a:xfrm>
            <a:off x="10180058" y="2854832"/>
            <a:ext cx="1155386" cy="194310"/>
          </a:xfrm>
          <a:prstGeom prst="rect">
            <a:avLst/>
          </a:prstGeom>
          <a:noFill/>
        </p:spPr>
        <p:txBody>
          <a:bodyPr wrap="none" lIns="0" rIns="0" tIns="0" bIns="0">
            <a:spAutoFit/>
          </a:bodyPr>
          <a:lstStyle/>
          <a:p>
            <a:r>
              <a:rPr sz="1150" b="0">
                <a:solidFill>
                  <a:srgbClr val="2E2E2E"/>
                </a:solidFill>
                <a:latin typeface="Calibri"/>
              </a:rPr>
              <a:t>US$ Mn by 2036F.</a:t>
            </a:r>
          </a:p>
        </p:txBody>
      </p:sp>
    </p:spTree>
  </p:cSld>
  <p:clrMapOvr>
    <a:masterClrMapping/>
  </p:clrMapOvr>
</p:sld>
</file>

<file path=ppt/slides/slide21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Packaging Type × Distribution Channel, 2026E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distribution channel sub-segments</a:t>
            </a:r>
          </a:p>
        </p:txBody>
      </p:sp>
      <p:sp>
        <p:nvSpPr>
          <p:cNvPr id="10" name="Rounded Rectangle 9"/>
          <p:cNvSpPr/>
          <p:nvPr/>
        </p:nvSpPr>
        <p:spPr>
          <a:xfrm>
            <a:off x="142875" y="981075"/>
            <a:ext cx="11906250" cy="3371850"/>
          </a:xfrm>
          <a:prstGeom prst="roundRect">
            <a:avLst>
              <a:gd name="adj" fmla="val 22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 Value Share, Packaging Type × Distribution Channel, 2026E (% of each row)</a:t>
            </a:r>
          </a:p>
        </p:txBody>
      </p:sp>
      <p:graphicFrame>
        <p:nvGraphicFramePr>
          <p:cNvPr id="12" name="Table 11"/>
          <p:cNvGraphicFramePr>
            <a:graphicFrameLocks noGrp="1"/>
          </p:cNvGraphicFramePr>
          <p:nvPr/>
        </p:nvGraphicFramePr>
        <p:xfrm>
          <a:off x="152400" y="1238250"/>
          <a:ext cx="11889575" cy="2905122"/>
        </p:xfrm>
        <a:graphic>
          <a:graphicData uri="http://schemas.openxmlformats.org/drawingml/2006/table">
            <a:tbl>
              <a:tblPr>
                <a:tableStyleId>{5C22544A-7EE6-4342-B048-85BDC9FD1C3A}</a:tableStyleId>
              </a:tblPr>
              <a:tblGrid>
                <a:gridCol w="1648279"/>
                <a:gridCol w="1893350"/>
                <a:gridCol w="1696467"/>
                <a:gridCol w="1145925"/>
                <a:gridCol w="1743792"/>
                <a:gridCol w="745758"/>
                <a:gridCol w="1324377"/>
                <a:gridCol w="1147821"/>
                <a:gridCol w="543806"/>
              </a:tblGrid>
              <a:tr h="438912">
                <a:tc>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B2B / Institutional and Ingredient Sales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Supermarkets and Hypermarkets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Convenience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Specialty Tea and Health Food Stores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Online Retail</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Foodservice and HoReCa</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Other Retail Channels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r>
              <a:tr h="246621">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21">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2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1529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710992" y="2643566"/>
            <a:ext cx="366712" cy="533400"/>
          </a:xfrm>
          <a:prstGeom prst="rect">
            <a:avLst/>
          </a:prstGeom>
        </p:spPr>
      </p:pic>
    </p:spTree>
  </p:cSld>
  <p:clrMapOvr>
    <a:masterClrMapping/>
  </p:clrMapOvr>
</p:sld>
</file>

<file path=ppt/slides/slide21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Market Share Analysis: Packaging Type × Distribution Channel, 2026E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 share of North America market value, each row split across all distribution channel sub-segments</a:t>
            </a:r>
          </a:p>
        </p:txBody>
      </p:sp>
      <p:sp>
        <p:nvSpPr>
          <p:cNvPr id="10" name="Rounded Rectangle 9"/>
          <p:cNvSpPr/>
          <p:nvPr/>
        </p:nvSpPr>
        <p:spPr>
          <a:xfrm>
            <a:off x="142875" y="981075"/>
            <a:ext cx="7286625" cy="5648325"/>
          </a:xfrm>
          <a:prstGeom prst="roundRect">
            <a:avLst>
              <a:gd name="adj" fmla="val 13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70961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Distribution Channel Mix by Packaging Type, 2026E (% share)</a:t>
            </a:r>
          </a:p>
        </p:txBody>
      </p:sp>
      <p:graphicFrame>
        <p:nvGraphicFramePr>
          <p:cNvPr id="12" name="Chart 11"/>
          <p:cNvGraphicFramePr>
            <a:graphicFrameLocks noGrp="1"/>
          </p:cNvGraphicFramePr>
          <p:nvPr/>
        </p:nvGraphicFramePr>
        <p:xfrm>
          <a:off x="238125" y="1266825"/>
          <a:ext cx="7096125" cy="5305425"/>
        </p:xfrm>
        <a:graphic>
          <a:graphicData uri="http://schemas.openxmlformats.org/drawingml/2006/chart">
            <c:chart xmlns:c="http://schemas.openxmlformats.org/drawingml/2006/chart" r:id="rId3"/>
          </a:graphicData>
        </a:graphic>
      </p:graphicFrame>
      <p:sp>
        <p:nvSpPr>
          <p:cNvPr id="13" name="Rounded Rectangle 12"/>
          <p:cNvSpPr/>
          <p:nvPr/>
        </p:nvSpPr>
        <p:spPr>
          <a:xfrm>
            <a:off x="7581900" y="981075"/>
            <a:ext cx="4457700" cy="5648325"/>
          </a:xfrm>
          <a:prstGeom prst="roundRect">
            <a:avLst>
              <a:gd name="adj" fmla="val 170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7715250" y="1066800"/>
            <a:ext cx="4191000" cy="209550"/>
          </a:xfrm>
          <a:prstGeom prst="rect">
            <a:avLst/>
          </a:prstGeom>
          <a:noFill/>
        </p:spPr>
        <p:txBody>
          <a:bodyPr wrap="square" lIns="0" rIns="19050" tIns="9525" bIns="9525">
            <a:spAutoFit/>
          </a:bodyPr>
          <a:lstStyle/>
          <a:p>
            <a:pPr algn="l"/>
            <a:r>
              <a:rPr sz="1300" b="1">
                <a:solidFill>
                  <a:srgbClr val="0B2E4A"/>
                </a:solidFill>
                <a:latin typeface="Calibri"/>
              </a:rPr>
              <a:t>Share Insights</a:t>
            </a:r>
          </a:p>
        </p:txBody>
      </p:sp>
      <p:sp>
        <p:nvSpPr>
          <p:cNvPr id="15" name="Rectangle 14"/>
          <p:cNvSpPr/>
          <p:nvPr/>
        </p:nvSpPr>
        <p:spPr>
          <a:xfrm>
            <a:off x="7715250" y="1304925"/>
            <a:ext cx="4191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715250" y="1390650"/>
            <a:ext cx="4191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796562" y="2775901"/>
            <a:ext cx="269622" cy="392177"/>
          </a:xfrm>
          <a:prstGeom prst="rect">
            <a:avLst/>
          </a:prstGeom>
        </p:spPr>
      </p:pic>
      <p:sp>
        <p:nvSpPr>
          <p:cNvPr id="19" name="TextBox 18"/>
          <p:cNvSpPr txBox="1"/>
          <p:nvPr/>
        </p:nvSpPr>
        <p:spPr>
          <a:xfrm>
            <a:off x="7715250" y="1400175"/>
            <a:ext cx="4073462" cy="194310"/>
          </a:xfrm>
          <a:prstGeom prst="rect">
            <a:avLst/>
          </a:prstGeom>
          <a:noFill/>
        </p:spPr>
        <p:txBody>
          <a:bodyPr wrap="none" lIns="0" rIns="0" tIns="0" bIns="0">
            <a:spAutoFit/>
          </a:bodyPr>
          <a:lstStyle/>
          <a:p>
            <a:r>
              <a:rPr sz="1150" b="0">
                <a:solidFill>
                  <a:srgbClr val="2E2E2E"/>
                </a:solidFill>
                <a:latin typeface="Calibri"/>
              </a:rPr>
              <a:t>▪ 'Supermarkets and Hypermarkets' holds the highest share of 'Bulk</a:t>
            </a:r>
          </a:p>
        </p:txBody>
      </p:sp>
      <p:sp>
        <p:nvSpPr>
          <p:cNvPr id="20" name="TextBox 19"/>
          <p:cNvSpPr txBox="1"/>
          <p:nvPr/>
        </p:nvSpPr>
        <p:spPr>
          <a:xfrm>
            <a:off x="7715250" y="1575435"/>
            <a:ext cx="1446559" cy="194310"/>
          </a:xfrm>
          <a:prstGeom prst="rect">
            <a:avLst/>
          </a:prstGeom>
          <a:noFill/>
        </p:spPr>
        <p:txBody>
          <a:bodyPr wrap="none" lIns="0" rIns="0" tIns="0" bIns="0">
            <a:spAutoFit/>
          </a:bodyPr>
          <a:lstStyle/>
          <a:p>
            <a:r>
              <a:rPr sz="1150" b="0">
                <a:solidFill>
                  <a:srgbClr val="2E2E2E"/>
                </a:solidFill>
                <a:latin typeface="Calibri"/>
              </a:rPr>
              <a:t>Industrial Packaging' at</a:t>
            </a:r>
          </a:p>
        </p:txBody>
      </p:sp>
      <p:pic>
        <p:nvPicPr>
          <p:cNvPr id="21" name="Picture 20" descr="lock.png"/>
          <p:cNvPicPr>
            <a:picLocks noChangeAspect="1"/>
          </p:cNvPicPr>
          <p:nvPr/>
        </p:nvPicPr>
        <p:blipFill>
          <a:blip r:embed="rId5"/>
          <a:stretch>
            <a:fillRect/>
          </a:stretch>
        </p:blipFill>
        <p:spPr>
          <a:xfrm>
            <a:off x="9110963" y="1565211"/>
            <a:ext cx="134549" cy="195707"/>
          </a:xfrm>
          <a:prstGeom prst="rect">
            <a:avLst/>
          </a:prstGeom>
        </p:spPr>
      </p:pic>
      <p:sp>
        <p:nvSpPr>
          <p:cNvPr id="22" name="TextBox 21"/>
          <p:cNvSpPr txBox="1"/>
          <p:nvPr/>
        </p:nvSpPr>
        <p:spPr>
          <a:xfrm>
            <a:off x="9286072" y="1575435"/>
            <a:ext cx="569404" cy="194310"/>
          </a:xfrm>
          <a:prstGeom prst="rect">
            <a:avLst/>
          </a:prstGeom>
          <a:noFill/>
        </p:spPr>
        <p:txBody>
          <a:bodyPr wrap="none" lIns="0" rIns="0" tIns="0" bIns="0">
            <a:spAutoFit/>
          </a:bodyPr>
          <a:lstStyle/>
          <a:p>
            <a:r>
              <a:rPr sz="1150" b="0">
                <a:solidFill>
                  <a:srgbClr val="2E2E2E"/>
                </a:solidFill>
                <a:latin typeface="Calibri"/>
              </a:rPr>
              <a:t>(2026E).</a:t>
            </a:r>
          </a:p>
        </p:txBody>
      </p:sp>
      <p:sp>
        <p:nvSpPr>
          <p:cNvPr id="23" name="TextBox 22"/>
          <p:cNvSpPr txBox="1"/>
          <p:nvPr/>
        </p:nvSpPr>
        <p:spPr>
          <a:xfrm>
            <a:off x="7715250" y="1803273"/>
            <a:ext cx="4141638" cy="194310"/>
          </a:xfrm>
          <a:prstGeom prst="rect">
            <a:avLst/>
          </a:prstGeom>
          <a:noFill/>
        </p:spPr>
        <p:txBody>
          <a:bodyPr wrap="none" lIns="0" rIns="0" tIns="0" bIns="0">
            <a:spAutoFit/>
          </a:bodyPr>
          <a:lstStyle/>
          <a:p>
            <a:r>
              <a:rPr sz="1150" b="0">
                <a:solidFill>
                  <a:srgbClr val="2E2E2E"/>
                </a:solidFill>
                <a:latin typeface="Calibri"/>
              </a:rPr>
              <a:t>▪ 'Bulk Industrial Packaging' is the most concentrated packaging type</a:t>
            </a:r>
          </a:p>
        </p:txBody>
      </p:sp>
      <p:sp>
        <p:nvSpPr>
          <p:cNvPr id="24" name="TextBox 23"/>
          <p:cNvSpPr txBox="1"/>
          <p:nvPr/>
        </p:nvSpPr>
        <p:spPr>
          <a:xfrm>
            <a:off x="7715250" y="1978533"/>
            <a:ext cx="1178706" cy="194310"/>
          </a:xfrm>
          <a:prstGeom prst="rect">
            <a:avLst/>
          </a:prstGeom>
          <a:noFill/>
        </p:spPr>
        <p:txBody>
          <a:bodyPr wrap="none" lIns="0" rIns="0" tIns="0" bIns="0">
            <a:spAutoFit/>
          </a:bodyPr>
          <a:lstStyle/>
          <a:p>
            <a:r>
              <a:rPr sz="1150" b="0">
                <a:solidFill>
                  <a:srgbClr val="2E2E2E"/>
                </a:solidFill>
                <a:latin typeface="Calibri"/>
              </a:rPr>
              <a:t>sub-segment, with</a:t>
            </a:r>
          </a:p>
        </p:txBody>
      </p:sp>
      <p:pic>
        <p:nvPicPr>
          <p:cNvPr id="25" name="Picture 24" descr="lock.png"/>
          <p:cNvPicPr>
            <a:picLocks noChangeAspect="1"/>
          </p:cNvPicPr>
          <p:nvPr/>
        </p:nvPicPr>
        <p:blipFill>
          <a:blip r:embed="rId5"/>
          <a:stretch>
            <a:fillRect/>
          </a:stretch>
        </p:blipFill>
        <p:spPr>
          <a:xfrm>
            <a:off x="8843110" y="1968309"/>
            <a:ext cx="134549" cy="195707"/>
          </a:xfrm>
          <a:prstGeom prst="rect">
            <a:avLst/>
          </a:prstGeom>
        </p:spPr>
      </p:pic>
      <p:sp>
        <p:nvSpPr>
          <p:cNvPr id="26" name="TextBox 25"/>
          <p:cNvSpPr txBox="1"/>
          <p:nvPr/>
        </p:nvSpPr>
        <p:spPr>
          <a:xfrm>
            <a:off x="9018219" y="1978533"/>
            <a:ext cx="2074118" cy="194310"/>
          </a:xfrm>
          <a:prstGeom prst="rect">
            <a:avLst/>
          </a:prstGeom>
          <a:noFill/>
        </p:spPr>
        <p:txBody>
          <a:bodyPr wrap="none" lIns="0" rIns="0" tIns="0" bIns="0">
            <a:spAutoFit/>
          </a:bodyPr>
          <a:lstStyle/>
          <a:p>
            <a:r>
              <a:rPr sz="1150" b="0">
                <a:solidFill>
                  <a:srgbClr val="2E2E2E"/>
                </a:solidFill>
                <a:latin typeface="Calibri"/>
              </a:rPr>
              <a:t>of its value via 'Supermarkets and</a:t>
            </a:r>
          </a:p>
        </p:txBody>
      </p:sp>
      <p:sp>
        <p:nvSpPr>
          <p:cNvPr id="27" name="TextBox 26"/>
          <p:cNvSpPr txBox="1"/>
          <p:nvPr/>
        </p:nvSpPr>
        <p:spPr>
          <a:xfrm>
            <a:off x="7715250" y="2153793"/>
            <a:ext cx="985874" cy="194310"/>
          </a:xfrm>
          <a:prstGeom prst="rect">
            <a:avLst/>
          </a:prstGeom>
          <a:noFill/>
        </p:spPr>
        <p:txBody>
          <a:bodyPr wrap="none" lIns="0" rIns="0" tIns="0" bIns="0">
            <a:spAutoFit/>
          </a:bodyPr>
          <a:lstStyle/>
          <a:p>
            <a:r>
              <a:rPr sz="1150" b="0">
                <a:solidFill>
                  <a:srgbClr val="2E2E2E"/>
                </a:solidFill>
                <a:latin typeface="Calibri"/>
              </a:rPr>
              <a:t>Hypermarkets'.</a:t>
            </a:r>
          </a:p>
        </p:txBody>
      </p:sp>
      <p:sp>
        <p:nvSpPr>
          <p:cNvPr id="28" name="TextBox 27"/>
          <p:cNvSpPr txBox="1"/>
          <p:nvPr/>
        </p:nvSpPr>
        <p:spPr>
          <a:xfrm>
            <a:off x="7715250" y="2381631"/>
            <a:ext cx="1842206" cy="194310"/>
          </a:xfrm>
          <a:prstGeom prst="rect">
            <a:avLst/>
          </a:prstGeom>
          <a:noFill/>
        </p:spPr>
        <p:txBody>
          <a:bodyPr wrap="none" lIns="0" rIns="0" tIns="0" bIns="0">
            <a:spAutoFit/>
          </a:bodyPr>
          <a:lstStyle/>
          <a:p>
            <a:r>
              <a:rPr sz="1150" b="0">
                <a:solidFill>
                  <a:srgbClr val="2E2E2E"/>
                </a:solidFill>
                <a:latin typeface="Calibri"/>
              </a:rPr>
              <a:t>▪ 'Convenience Stores' gains +</a:t>
            </a:r>
          </a:p>
        </p:txBody>
      </p:sp>
      <p:pic>
        <p:nvPicPr>
          <p:cNvPr id="29" name="Picture 28" descr="lock.png"/>
          <p:cNvPicPr>
            <a:picLocks noChangeAspect="1"/>
          </p:cNvPicPr>
          <p:nvPr/>
        </p:nvPicPr>
        <p:blipFill>
          <a:blip r:embed="rId5"/>
          <a:stretch>
            <a:fillRect/>
          </a:stretch>
        </p:blipFill>
        <p:spPr>
          <a:xfrm>
            <a:off x="9506610" y="2371407"/>
            <a:ext cx="134549" cy="195707"/>
          </a:xfrm>
          <a:prstGeom prst="rect">
            <a:avLst/>
          </a:prstGeom>
        </p:spPr>
      </p:pic>
      <p:sp>
        <p:nvSpPr>
          <p:cNvPr id="30" name="TextBox 29"/>
          <p:cNvSpPr txBox="1"/>
          <p:nvPr/>
        </p:nvSpPr>
        <p:spPr>
          <a:xfrm>
            <a:off x="9681720" y="2381631"/>
            <a:ext cx="2104640" cy="194310"/>
          </a:xfrm>
          <a:prstGeom prst="rect">
            <a:avLst/>
          </a:prstGeom>
          <a:noFill/>
        </p:spPr>
        <p:txBody>
          <a:bodyPr wrap="none" lIns="0" rIns="0" tIns="0" bIns="0">
            <a:spAutoFit/>
          </a:bodyPr>
          <a:lstStyle/>
          <a:p>
            <a:r>
              <a:rPr sz="1150" b="0">
                <a:solidFill>
                  <a:srgbClr val="2E2E2E"/>
                </a:solidFill>
                <a:latin typeface="Calibri"/>
              </a:rPr>
              <a:t>BPS of share of the North America</a:t>
            </a:r>
          </a:p>
        </p:txBody>
      </p:sp>
      <p:sp>
        <p:nvSpPr>
          <p:cNvPr id="31" name="TextBox 30"/>
          <p:cNvSpPr txBox="1"/>
          <p:nvPr/>
        </p:nvSpPr>
        <p:spPr>
          <a:xfrm>
            <a:off x="7715250" y="2556891"/>
            <a:ext cx="1462605" cy="194310"/>
          </a:xfrm>
          <a:prstGeom prst="rect">
            <a:avLst/>
          </a:prstGeom>
          <a:noFill/>
        </p:spPr>
        <p:txBody>
          <a:bodyPr wrap="none" lIns="0" rIns="0" tIns="0" bIns="0">
            <a:spAutoFit/>
          </a:bodyPr>
          <a:lstStyle/>
          <a:p>
            <a:r>
              <a:rPr sz="1150" b="0">
                <a:solidFill>
                  <a:srgbClr val="2E2E2E"/>
                </a:solidFill>
                <a:latin typeface="Calibri"/>
              </a:rPr>
              <a:t>cross-section by 2036F.</a:t>
            </a:r>
          </a:p>
        </p:txBody>
      </p:sp>
      <p:sp>
        <p:nvSpPr>
          <p:cNvPr id="32" name="lockshield_12"/>
          <p:cNvSpPr/>
          <p:nvPr/>
        </p:nvSpPr>
        <p:spPr>
          <a:xfrm>
            <a:off x="238125" y="1266825"/>
            <a:ext cx="7096125" cy="53054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Packaging Type × Distribution Channel, 2026E–2036F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11906250" cy="3810000"/>
          </a:xfrm>
          <a:prstGeom prst="roundRect">
            <a:avLst>
              <a:gd name="adj" fmla="val 20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Incremental $ Opportunity (US$ Mn) and Value CAGR, Packaging Type × Distribution Channel, 2026E–2036F</a:t>
            </a:r>
          </a:p>
        </p:txBody>
      </p:sp>
      <p:graphicFrame>
        <p:nvGraphicFramePr>
          <p:cNvPr id="12" name="Table 11"/>
          <p:cNvGraphicFramePr>
            <a:graphicFrameLocks noGrp="1"/>
          </p:cNvGraphicFramePr>
          <p:nvPr/>
        </p:nvGraphicFramePr>
        <p:xfrm>
          <a:off x="152400" y="1238250"/>
          <a:ext cx="11887192" cy="3343274"/>
        </p:xfrm>
        <a:graphic>
          <a:graphicData uri="http://schemas.openxmlformats.org/drawingml/2006/table">
            <a:tbl>
              <a:tblPr>
                <a:tableStyleId>{5C22544A-7EE6-4342-B048-85BDC9FD1C3A}</a:tableStyleId>
              </a:tblPr>
              <a:tblGrid>
                <a:gridCol w="1749720"/>
                <a:gridCol w="633592"/>
                <a:gridCol w="633592"/>
                <a:gridCol w="633592"/>
                <a:gridCol w="633592"/>
                <a:gridCol w="633592"/>
                <a:gridCol w="633592"/>
                <a:gridCol w="633592"/>
                <a:gridCol w="633592"/>
                <a:gridCol w="633592"/>
                <a:gridCol w="633592"/>
                <a:gridCol w="633592"/>
                <a:gridCol w="633592"/>
                <a:gridCol w="633592"/>
                <a:gridCol w="633592"/>
                <a:gridCol w="633592"/>
                <a:gridCol w="633592"/>
              </a:tblGrid>
              <a:tr h="631697">
                <a:tc rowSpan="2">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B2B / Institutional</a:t>
                      </a:r>
                      <a:endParaRPr sz="1100"/>
                    </a:p>
                    <a:p>
                      <a:pPr algn="ctr"/>
                      <a:r>
                        <a:rPr sz="1100" b="1">
                          <a:solidFill>
                            <a:srgbClr val="0B2E4A"/>
                          </a:solidFill>
                          <a:latin typeface="Calibri"/>
                        </a:rPr>
                        <a:t>and Ingredient</a:t>
                      </a:r>
                      <a:endParaRPr sz="1100"/>
                    </a:p>
                    <a:p>
                      <a:pPr algn="ctr"/>
                      <a:r>
                        <a:rPr sz="1100" b="1">
                          <a:solidFill>
                            <a:srgbClr val="0B2E4A"/>
                          </a:solidFill>
                          <a:latin typeface="Calibri"/>
                        </a:rPr>
                        <a:t>Sales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Supermarkets and</a:t>
                      </a:r>
                      <a:endParaRPr sz="1100"/>
                    </a:p>
                    <a:p>
                      <a:pPr algn="ctr"/>
                      <a:r>
                        <a:rPr sz="1100" b="1">
                          <a:solidFill>
                            <a:srgbClr val="0B2E4A"/>
                          </a:solidFill>
                          <a:latin typeface="Calibri"/>
                        </a:rPr>
                        <a:t>Hypermarkets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Convenience</a:t>
                      </a:r>
                      <a:endParaRPr sz="1100"/>
                    </a:p>
                    <a:p>
                      <a:pPr algn="ctr"/>
                      <a:r>
                        <a:rPr sz="1100" b="1">
                          <a:solidFill>
                            <a:srgbClr val="0B2E4A"/>
                          </a:solidFill>
                          <a:latin typeface="Calibri"/>
                        </a:rPr>
                        <a:t>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Specialty Tea and</a:t>
                      </a:r>
                      <a:endParaRPr sz="1100"/>
                    </a:p>
                    <a:p>
                      <a:pPr algn="ctr"/>
                      <a:r>
                        <a:rPr sz="1100" b="1">
                          <a:solidFill>
                            <a:srgbClr val="0B2E4A"/>
                          </a:solidFill>
                          <a:latin typeface="Calibri"/>
                        </a:rPr>
                        <a:t>Health Food Stores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Online Retail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Foodservice and</a:t>
                      </a:r>
                      <a:endParaRPr sz="1100"/>
                    </a:p>
                    <a:p>
                      <a:pPr algn="ctr"/>
                      <a:r>
                        <a:rPr sz="1100" b="1">
                          <a:solidFill>
                            <a:srgbClr val="0B2E4A"/>
                          </a:solidFill>
                          <a:latin typeface="Calibri"/>
                        </a:rPr>
                        <a:t>HoReCa</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Other Retail</a:t>
                      </a:r>
                      <a:endParaRPr sz="1100"/>
                    </a:p>
                    <a:p>
                      <a:pPr algn="ctr"/>
                      <a:r>
                        <a:rPr sz="1100" b="1">
                          <a:solidFill>
                            <a:srgbClr val="0B2E4A"/>
                          </a:solidFill>
                          <a:latin typeface="Calibri"/>
                        </a:rPr>
                        <a:t>Channels</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c gridSpan="2">
                  <a:txBody>
                    <a:bodyPr wrap="none"/>
                    <a:lstStyle/>
                    <a:p>
                      <a:pPr algn="ctr"/>
                      <a:r>
                        <a:rPr sz="1100" b="1">
                          <a:solidFill>
                            <a:srgbClr val="0B2E4A"/>
                          </a:solidFill>
                          <a:latin typeface="Calibri"/>
                        </a:rPr>
                        <a:t>Total</a:t>
                      </a:r>
                      <a:endParaRPr sz="1100"/>
                    </a:p>
                  </a:txBody>
                  <a:tcPr marL="47625" marR="38100" marT="19050" marB="19050" anchor="ctr">
                    <a:solidFill>
                      <a:srgbClr val="E0E8EF"/>
                    </a:solidFill>
                  </a:tcPr>
                </a:tc>
                <a:tc hMerge="1">
                  <a:txBody>
                    <a:bodyPr wrap="none"/>
                    <a:lstStyle/>
                    <a:p>
                      <a:pPr algn="ctr"/>
                      <a:endParaRPr sz="1100"/>
                    </a:p>
                  </a:txBody>
                  <a:tcPr marL="47625" marR="38100" marT="19050" marB="19050" anchor="ctr">
                    <a:solidFill>
                      <a:srgbClr val="E0E8EF"/>
                    </a:solidFill>
                  </a:tcPr>
                </a:tc>
              </a:tr>
              <a:tr h="246507">
                <a:tc vMerge="1">
                  <a:txBody>
                    <a:bodyPr wrap="none"/>
                    <a:lstStyle/>
                    <a:p>
                      <a:pPr algn="l"/>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US$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45910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784165" y="3082289"/>
            <a:ext cx="366712" cy="533400"/>
          </a:xfrm>
          <a:prstGeom prst="rect">
            <a:avLst/>
          </a:prstGeom>
        </p:spPr>
      </p:pic>
    </p:spTree>
  </p:cSld>
  <p:clrMapOvr>
    <a:masterClrMapping/>
  </p:clrMapOvr>
</p:sld>
</file>

<file path=ppt/slides/slide21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North America Absolute $ Opportunity &amp; Attractiveness: Packaging Type × Distribution Channel, 2026E–2036F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Incremental value 2026E→2036F (US$ Mn) and value CAGR by cell; attractiveness index scored 1–5</a:t>
            </a:r>
          </a:p>
        </p:txBody>
      </p:sp>
      <p:sp>
        <p:nvSpPr>
          <p:cNvPr id="10" name="Rounded Rectangle 9"/>
          <p:cNvSpPr/>
          <p:nvPr/>
        </p:nvSpPr>
        <p:spPr>
          <a:xfrm>
            <a:off x="142875" y="981075"/>
            <a:ext cx="5600700" cy="5648325"/>
          </a:xfrm>
          <a:prstGeom prst="roundRect">
            <a:avLst>
              <a:gd name="adj" fmla="val 13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5334000" cy="209550"/>
          </a:xfrm>
          <a:prstGeom prst="rect">
            <a:avLst/>
          </a:prstGeom>
          <a:noFill/>
        </p:spPr>
        <p:txBody>
          <a:bodyPr wrap="square" lIns="0" rIns="19050" tIns="9525" bIns="9525">
            <a:spAutoFit/>
          </a:bodyPr>
          <a:lstStyle/>
          <a:p>
            <a:pPr algn="l"/>
            <a:r>
              <a:rPr sz="1300" b="1">
                <a:solidFill>
                  <a:srgbClr val="0B2E4A"/>
                </a:solidFill>
                <a:latin typeface="Calibri"/>
              </a:rPr>
              <a:t>Top 5 Opportunity Cells (US$ Mn · CAGR · Index)</a:t>
            </a:r>
          </a:p>
        </p:txBody>
      </p:sp>
      <p:sp>
        <p:nvSpPr>
          <p:cNvPr id="12" name="Rectangle 11"/>
          <p:cNvSpPr/>
          <p:nvPr/>
        </p:nvSpPr>
        <p:spPr>
          <a:xfrm>
            <a:off x="276225" y="1304925"/>
            <a:ext cx="53340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53340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4" name="Rounded Rectangle 13"/>
          <p:cNvSpPr/>
          <p:nvPr/>
        </p:nvSpPr>
        <p:spPr>
          <a:xfrm>
            <a:off x="5895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029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Largest Pool</a:t>
            </a:r>
          </a:p>
        </p:txBody>
      </p:sp>
      <p:sp>
        <p:nvSpPr>
          <p:cNvPr id="16" name="Rectangle 15"/>
          <p:cNvSpPr/>
          <p:nvPr/>
        </p:nvSpPr>
        <p:spPr>
          <a:xfrm>
            <a:off x="6029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029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Rounded Rectangle 17"/>
          <p:cNvSpPr/>
          <p:nvPr/>
        </p:nvSpPr>
        <p:spPr>
          <a:xfrm>
            <a:off x="79914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81248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Fastest Growth</a:t>
            </a:r>
          </a:p>
        </p:txBody>
      </p:sp>
      <p:sp>
        <p:nvSpPr>
          <p:cNvPr id="20" name="Rectangle 19"/>
          <p:cNvSpPr/>
          <p:nvPr/>
        </p:nvSpPr>
        <p:spPr>
          <a:xfrm>
            <a:off x="81248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81248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2" name="Rounded Rectangle 21"/>
          <p:cNvSpPr/>
          <p:nvPr/>
        </p:nvSpPr>
        <p:spPr>
          <a:xfrm>
            <a:off x="10086975" y="981075"/>
            <a:ext cx="1943100" cy="5648325"/>
          </a:xfrm>
          <a:prstGeom prst="roundRect">
            <a:avLst>
              <a:gd name="adj" fmla="val 392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0220325" y="1066800"/>
            <a:ext cx="1676400" cy="209550"/>
          </a:xfrm>
          <a:prstGeom prst="rect">
            <a:avLst/>
          </a:prstGeom>
          <a:noFill/>
        </p:spPr>
        <p:txBody>
          <a:bodyPr wrap="square" lIns="0" rIns="19050" tIns="9525" bIns="9525">
            <a:spAutoFit/>
          </a:bodyPr>
          <a:lstStyle/>
          <a:p>
            <a:pPr algn="l"/>
            <a:r>
              <a:rPr sz="1300" b="1">
                <a:solidFill>
                  <a:srgbClr val="0B2E4A"/>
                </a:solidFill>
                <a:latin typeface="Calibri"/>
              </a:rPr>
              <a:t>Where to Play</a:t>
            </a:r>
          </a:p>
        </p:txBody>
      </p:sp>
      <p:sp>
        <p:nvSpPr>
          <p:cNvPr id="24" name="Rectangle 23"/>
          <p:cNvSpPr/>
          <p:nvPr/>
        </p:nvSpPr>
        <p:spPr>
          <a:xfrm>
            <a:off x="10220325" y="1304925"/>
            <a:ext cx="16764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10220325" y="1390650"/>
            <a:ext cx="1676400" cy="51625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'Sachets and Stick Packs × Supermarkets and Hypermarkets' ranks highest (5/5); 'Tins and Cans × B2B / Institutional and Ingredient Sales' lowest (1/5), a deprioritised cell.</a:t>
            </a:r>
          </a:p>
        </p:txBody>
      </p:sp>
      <p:sp>
        <p:nvSpPr>
          <p:cNvPr id="26" name="TextBox 2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7" name="TextBox 26"/>
          <p:cNvSpPr txBox="1"/>
          <p:nvPr/>
        </p:nvSpPr>
        <p:spPr>
          <a:xfrm>
            <a:off x="276225" y="1400175"/>
            <a:ext cx="3982752" cy="194310"/>
          </a:xfrm>
          <a:prstGeom prst="rect">
            <a:avLst/>
          </a:prstGeom>
          <a:noFill/>
        </p:spPr>
        <p:txBody>
          <a:bodyPr wrap="none" lIns="0" rIns="0" tIns="0" bIns="0">
            <a:spAutoFit/>
          </a:bodyPr>
          <a:lstStyle/>
          <a:p>
            <a:r>
              <a:rPr sz="1150" b="0">
                <a:solidFill>
                  <a:srgbClr val="2E2E2E"/>
                </a:solidFill>
                <a:latin typeface="Calibri"/>
              </a:rPr>
              <a:t>▪ 1. Bulk Industrial Packaging × Supermarkets and Hypermarkets –</a:t>
            </a:r>
          </a:p>
        </p:txBody>
      </p:sp>
      <p:pic>
        <p:nvPicPr>
          <p:cNvPr id="28" name="Picture 27" descr="lock.png"/>
          <p:cNvPicPr>
            <a:picLocks noChangeAspect="1"/>
          </p:cNvPicPr>
          <p:nvPr/>
        </p:nvPicPr>
        <p:blipFill>
          <a:blip r:embed="rId4"/>
          <a:stretch>
            <a:fillRect/>
          </a:stretch>
        </p:blipFill>
        <p:spPr>
          <a:xfrm>
            <a:off x="4208131" y="1389951"/>
            <a:ext cx="134549" cy="195707"/>
          </a:xfrm>
          <a:prstGeom prst="rect">
            <a:avLst/>
          </a:prstGeom>
        </p:spPr>
      </p:pic>
      <p:sp>
        <p:nvSpPr>
          <p:cNvPr id="29" name="TextBox 28"/>
          <p:cNvSpPr txBox="1"/>
          <p:nvPr/>
        </p:nvSpPr>
        <p:spPr>
          <a:xfrm>
            <a:off x="4383240" y="1400175"/>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0" name="Picture 29" descr="lock.png"/>
          <p:cNvPicPr>
            <a:picLocks noChangeAspect="1"/>
          </p:cNvPicPr>
          <p:nvPr/>
        </p:nvPicPr>
        <p:blipFill>
          <a:blip r:embed="rId4"/>
          <a:stretch>
            <a:fillRect/>
          </a:stretch>
        </p:blipFill>
        <p:spPr>
          <a:xfrm>
            <a:off x="4445392" y="1389951"/>
            <a:ext cx="134549" cy="195707"/>
          </a:xfrm>
          <a:prstGeom prst="rect">
            <a:avLst/>
          </a:prstGeom>
        </p:spPr>
      </p:pic>
      <p:sp>
        <p:nvSpPr>
          <p:cNvPr id="31" name="TextBox 30"/>
          <p:cNvSpPr txBox="1"/>
          <p:nvPr/>
        </p:nvSpPr>
        <p:spPr>
          <a:xfrm>
            <a:off x="4620501" y="1400175"/>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32" name="TextBox 31"/>
          <p:cNvSpPr txBox="1"/>
          <p:nvPr/>
        </p:nvSpPr>
        <p:spPr>
          <a:xfrm>
            <a:off x="276225" y="1628013"/>
            <a:ext cx="2219312" cy="194310"/>
          </a:xfrm>
          <a:prstGeom prst="rect">
            <a:avLst/>
          </a:prstGeom>
          <a:noFill/>
        </p:spPr>
        <p:txBody>
          <a:bodyPr wrap="none" lIns="0" rIns="0" tIns="0" bIns="0">
            <a:spAutoFit/>
          </a:bodyPr>
          <a:lstStyle/>
          <a:p>
            <a:r>
              <a:rPr sz="1150" b="0">
                <a:solidFill>
                  <a:srgbClr val="2E2E2E"/>
                </a:solidFill>
                <a:latin typeface="Calibri"/>
              </a:rPr>
              <a:t>▪ 2. Pouches × Convenience Stores –</a:t>
            </a:r>
          </a:p>
        </p:txBody>
      </p:sp>
      <p:pic>
        <p:nvPicPr>
          <p:cNvPr id="33" name="Picture 32" descr="lock.png"/>
          <p:cNvPicPr>
            <a:picLocks noChangeAspect="1"/>
          </p:cNvPicPr>
          <p:nvPr/>
        </p:nvPicPr>
        <p:blipFill>
          <a:blip r:embed="rId4"/>
          <a:stretch>
            <a:fillRect/>
          </a:stretch>
        </p:blipFill>
        <p:spPr>
          <a:xfrm>
            <a:off x="2444691" y="1617789"/>
            <a:ext cx="134549" cy="195707"/>
          </a:xfrm>
          <a:prstGeom prst="rect">
            <a:avLst/>
          </a:prstGeom>
        </p:spPr>
      </p:pic>
      <p:sp>
        <p:nvSpPr>
          <p:cNvPr id="34" name="TextBox 33"/>
          <p:cNvSpPr txBox="1"/>
          <p:nvPr/>
        </p:nvSpPr>
        <p:spPr>
          <a:xfrm>
            <a:off x="2619800" y="1628013"/>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35" name="Picture 34" descr="lock.png"/>
          <p:cNvPicPr>
            <a:picLocks noChangeAspect="1"/>
          </p:cNvPicPr>
          <p:nvPr/>
        </p:nvPicPr>
        <p:blipFill>
          <a:blip r:embed="rId4"/>
          <a:stretch>
            <a:fillRect/>
          </a:stretch>
        </p:blipFill>
        <p:spPr>
          <a:xfrm>
            <a:off x="2681952" y="1617789"/>
            <a:ext cx="134549" cy="195707"/>
          </a:xfrm>
          <a:prstGeom prst="rect">
            <a:avLst/>
          </a:prstGeom>
        </p:spPr>
      </p:pic>
      <p:sp>
        <p:nvSpPr>
          <p:cNvPr id="36" name="TextBox 35"/>
          <p:cNvSpPr txBox="1"/>
          <p:nvPr/>
        </p:nvSpPr>
        <p:spPr>
          <a:xfrm>
            <a:off x="2857061" y="1628013"/>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37" name="TextBox 36"/>
          <p:cNvSpPr txBox="1"/>
          <p:nvPr/>
        </p:nvSpPr>
        <p:spPr>
          <a:xfrm>
            <a:off x="276225" y="1855851"/>
            <a:ext cx="3004901" cy="194310"/>
          </a:xfrm>
          <a:prstGeom prst="rect">
            <a:avLst/>
          </a:prstGeom>
          <a:noFill/>
        </p:spPr>
        <p:txBody>
          <a:bodyPr wrap="none" lIns="0" rIns="0" tIns="0" bIns="0">
            <a:spAutoFit/>
          </a:bodyPr>
          <a:lstStyle/>
          <a:p>
            <a:r>
              <a:rPr sz="1150" b="0">
                <a:solidFill>
                  <a:srgbClr val="2E2E2E"/>
                </a:solidFill>
                <a:latin typeface="Calibri"/>
              </a:rPr>
              <a:t>▪ 3. Pouches × Supermarkets and Hypermarkets –</a:t>
            </a:r>
          </a:p>
        </p:txBody>
      </p:sp>
      <p:pic>
        <p:nvPicPr>
          <p:cNvPr id="38" name="Picture 37" descr="lock.png"/>
          <p:cNvPicPr>
            <a:picLocks noChangeAspect="1"/>
          </p:cNvPicPr>
          <p:nvPr/>
        </p:nvPicPr>
        <p:blipFill>
          <a:blip r:embed="rId4"/>
          <a:stretch>
            <a:fillRect/>
          </a:stretch>
        </p:blipFill>
        <p:spPr>
          <a:xfrm>
            <a:off x="3230280" y="1845627"/>
            <a:ext cx="134549" cy="195707"/>
          </a:xfrm>
          <a:prstGeom prst="rect">
            <a:avLst/>
          </a:prstGeom>
        </p:spPr>
      </p:pic>
      <p:sp>
        <p:nvSpPr>
          <p:cNvPr id="39" name="TextBox 38"/>
          <p:cNvSpPr txBox="1"/>
          <p:nvPr/>
        </p:nvSpPr>
        <p:spPr>
          <a:xfrm>
            <a:off x="3405390" y="1855851"/>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0" name="Picture 39" descr="lock.png"/>
          <p:cNvPicPr>
            <a:picLocks noChangeAspect="1"/>
          </p:cNvPicPr>
          <p:nvPr/>
        </p:nvPicPr>
        <p:blipFill>
          <a:blip r:embed="rId4"/>
          <a:stretch>
            <a:fillRect/>
          </a:stretch>
        </p:blipFill>
        <p:spPr>
          <a:xfrm>
            <a:off x="3467541" y="1845627"/>
            <a:ext cx="134549" cy="195707"/>
          </a:xfrm>
          <a:prstGeom prst="rect">
            <a:avLst/>
          </a:prstGeom>
        </p:spPr>
      </p:pic>
      <p:sp>
        <p:nvSpPr>
          <p:cNvPr id="41" name="TextBox 40"/>
          <p:cNvSpPr txBox="1"/>
          <p:nvPr/>
        </p:nvSpPr>
        <p:spPr>
          <a:xfrm>
            <a:off x="3642651" y="1855851"/>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42" name="TextBox 41"/>
          <p:cNvSpPr txBox="1"/>
          <p:nvPr/>
        </p:nvSpPr>
        <p:spPr>
          <a:xfrm>
            <a:off x="276225" y="2083689"/>
            <a:ext cx="2009936" cy="194310"/>
          </a:xfrm>
          <a:prstGeom prst="rect">
            <a:avLst/>
          </a:prstGeom>
          <a:noFill/>
        </p:spPr>
        <p:txBody>
          <a:bodyPr wrap="none" lIns="0" rIns="0" tIns="0" bIns="0">
            <a:spAutoFit/>
          </a:bodyPr>
          <a:lstStyle/>
          <a:p>
            <a:r>
              <a:rPr sz="1150" b="0">
                <a:solidFill>
                  <a:srgbClr val="2E2E2E"/>
                </a:solidFill>
                <a:latin typeface="Calibri"/>
              </a:rPr>
              <a:t>▪ 4. Cups × Convenience Stores –</a:t>
            </a:r>
          </a:p>
        </p:txBody>
      </p:sp>
      <p:pic>
        <p:nvPicPr>
          <p:cNvPr id="43" name="Picture 42" descr="lock.png"/>
          <p:cNvPicPr>
            <a:picLocks noChangeAspect="1"/>
          </p:cNvPicPr>
          <p:nvPr/>
        </p:nvPicPr>
        <p:blipFill>
          <a:blip r:embed="rId4"/>
          <a:stretch>
            <a:fillRect/>
          </a:stretch>
        </p:blipFill>
        <p:spPr>
          <a:xfrm>
            <a:off x="2235315" y="2073465"/>
            <a:ext cx="134549" cy="195707"/>
          </a:xfrm>
          <a:prstGeom prst="rect">
            <a:avLst/>
          </a:prstGeom>
        </p:spPr>
      </p:pic>
      <p:sp>
        <p:nvSpPr>
          <p:cNvPr id="44" name="TextBox 43"/>
          <p:cNvSpPr txBox="1"/>
          <p:nvPr/>
        </p:nvSpPr>
        <p:spPr>
          <a:xfrm>
            <a:off x="2410424" y="2083689"/>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45" name="Picture 44" descr="lock.png"/>
          <p:cNvPicPr>
            <a:picLocks noChangeAspect="1"/>
          </p:cNvPicPr>
          <p:nvPr/>
        </p:nvPicPr>
        <p:blipFill>
          <a:blip r:embed="rId4"/>
          <a:stretch>
            <a:fillRect/>
          </a:stretch>
        </p:blipFill>
        <p:spPr>
          <a:xfrm>
            <a:off x="2472576" y="2073465"/>
            <a:ext cx="134549" cy="195707"/>
          </a:xfrm>
          <a:prstGeom prst="rect">
            <a:avLst/>
          </a:prstGeom>
        </p:spPr>
      </p:pic>
      <p:sp>
        <p:nvSpPr>
          <p:cNvPr id="46" name="TextBox 45"/>
          <p:cNvSpPr txBox="1"/>
          <p:nvPr/>
        </p:nvSpPr>
        <p:spPr>
          <a:xfrm>
            <a:off x="2647685" y="2083689"/>
            <a:ext cx="350899" cy="194310"/>
          </a:xfrm>
          <a:prstGeom prst="rect">
            <a:avLst/>
          </a:prstGeom>
          <a:noFill/>
        </p:spPr>
        <p:txBody>
          <a:bodyPr wrap="none" lIns="0" rIns="0" tIns="0" bIns="0">
            <a:spAutoFit/>
          </a:bodyPr>
          <a:lstStyle/>
          <a:p>
            <a:r>
              <a:rPr sz="1150" b="0">
                <a:solidFill>
                  <a:srgbClr val="2E2E2E"/>
                </a:solidFill>
                <a:latin typeface="Calibri"/>
              </a:rPr>
              <a:t>· 5/5</a:t>
            </a:r>
          </a:p>
        </p:txBody>
      </p:sp>
      <p:sp>
        <p:nvSpPr>
          <p:cNvPr id="47" name="TextBox 46"/>
          <p:cNvSpPr txBox="1"/>
          <p:nvPr/>
        </p:nvSpPr>
        <p:spPr>
          <a:xfrm>
            <a:off x="276225" y="2311527"/>
            <a:ext cx="3245910" cy="194310"/>
          </a:xfrm>
          <a:prstGeom prst="rect">
            <a:avLst/>
          </a:prstGeom>
          <a:noFill/>
        </p:spPr>
        <p:txBody>
          <a:bodyPr wrap="none" lIns="0" rIns="0" tIns="0" bIns="0">
            <a:spAutoFit/>
          </a:bodyPr>
          <a:lstStyle/>
          <a:p>
            <a:r>
              <a:rPr sz="1150" b="0">
                <a:solidFill>
                  <a:srgbClr val="2E2E2E"/>
                </a:solidFill>
                <a:latin typeface="Calibri"/>
              </a:rPr>
              <a:t>▪ 5. Pouches × Specialty Tea and Health Food Stores –</a:t>
            </a:r>
          </a:p>
        </p:txBody>
      </p:sp>
      <p:pic>
        <p:nvPicPr>
          <p:cNvPr id="48" name="Picture 47" descr="lock.png"/>
          <p:cNvPicPr>
            <a:picLocks noChangeAspect="1"/>
          </p:cNvPicPr>
          <p:nvPr/>
        </p:nvPicPr>
        <p:blipFill>
          <a:blip r:embed="rId4"/>
          <a:stretch>
            <a:fillRect/>
          </a:stretch>
        </p:blipFill>
        <p:spPr>
          <a:xfrm>
            <a:off x="3471289" y="2301303"/>
            <a:ext cx="134549" cy="195707"/>
          </a:xfrm>
          <a:prstGeom prst="rect">
            <a:avLst/>
          </a:prstGeom>
        </p:spPr>
      </p:pic>
      <p:sp>
        <p:nvSpPr>
          <p:cNvPr id="49" name="TextBox 48"/>
          <p:cNvSpPr txBox="1"/>
          <p:nvPr/>
        </p:nvSpPr>
        <p:spPr>
          <a:xfrm>
            <a:off x="3646398" y="2311527"/>
            <a:ext cx="112997" cy="194310"/>
          </a:xfrm>
          <a:prstGeom prst="rect">
            <a:avLst/>
          </a:prstGeom>
          <a:noFill/>
        </p:spPr>
        <p:txBody>
          <a:bodyPr wrap="none" lIns="0" rIns="0" tIns="0" bIns="0">
            <a:spAutoFit/>
          </a:bodyPr>
          <a:lstStyle/>
          <a:p>
            <a:r>
              <a:rPr sz="1150" b="0">
                <a:solidFill>
                  <a:srgbClr val="2E2E2E"/>
                </a:solidFill>
                <a:latin typeface="Calibri"/>
              </a:rPr>
              <a:t>·</a:t>
            </a:r>
          </a:p>
        </p:txBody>
      </p:sp>
      <p:pic>
        <p:nvPicPr>
          <p:cNvPr id="50" name="Picture 49" descr="lock.png"/>
          <p:cNvPicPr>
            <a:picLocks noChangeAspect="1"/>
          </p:cNvPicPr>
          <p:nvPr/>
        </p:nvPicPr>
        <p:blipFill>
          <a:blip r:embed="rId4"/>
          <a:stretch>
            <a:fillRect/>
          </a:stretch>
        </p:blipFill>
        <p:spPr>
          <a:xfrm>
            <a:off x="3708550" y="2301303"/>
            <a:ext cx="134549" cy="195707"/>
          </a:xfrm>
          <a:prstGeom prst="rect">
            <a:avLst/>
          </a:prstGeom>
        </p:spPr>
      </p:pic>
      <p:sp>
        <p:nvSpPr>
          <p:cNvPr id="51" name="TextBox 50"/>
          <p:cNvSpPr txBox="1"/>
          <p:nvPr/>
        </p:nvSpPr>
        <p:spPr>
          <a:xfrm>
            <a:off x="3883659" y="2311527"/>
            <a:ext cx="350899" cy="194310"/>
          </a:xfrm>
          <a:prstGeom prst="rect">
            <a:avLst/>
          </a:prstGeom>
          <a:noFill/>
        </p:spPr>
        <p:txBody>
          <a:bodyPr wrap="none" lIns="0" rIns="0" tIns="0" bIns="0">
            <a:spAutoFit/>
          </a:bodyPr>
          <a:lstStyle/>
          <a:p>
            <a:r>
              <a:rPr sz="1150" b="0">
                <a:solidFill>
                  <a:srgbClr val="2E2E2E"/>
                </a:solidFill>
                <a:latin typeface="Calibri"/>
              </a:rPr>
              <a:t>· 4/5</a:t>
            </a:r>
          </a:p>
        </p:txBody>
      </p:sp>
      <p:sp>
        <p:nvSpPr>
          <p:cNvPr id="52" name="TextBox 51"/>
          <p:cNvSpPr txBox="1"/>
          <p:nvPr/>
        </p:nvSpPr>
        <p:spPr>
          <a:xfrm>
            <a:off x="6029325" y="1400175"/>
            <a:ext cx="1657350" cy="194310"/>
          </a:xfrm>
          <a:prstGeom prst="rect">
            <a:avLst/>
          </a:prstGeom>
          <a:noFill/>
        </p:spPr>
        <p:txBody>
          <a:bodyPr wrap="none" lIns="0" rIns="0" tIns="0" bIns="0">
            <a:spAutoFit/>
          </a:bodyPr>
          <a:lstStyle/>
          <a:p>
            <a:r>
              <a:rPr sz="1150" b="0">
                <a:solidFill>
                  <a:srgbClr val="2E2E2E"/>
                </a:solidFill>
                <a:latin typeface="Calibri"/>
              </a:rPr>
              <a:t>▪ 'Bulk Industrial Packaging</a:t>
            </a:r>
          </a:p>
        </p:txBody>
      </p:sp>
      <p:sp>
        <p:nvSpPr>
          <p:cNvPr id="53" name="TextBox 52"/>
          <p:cNvSpPr txBox="1"/>
          <p:nvPr/>
        </p:nvSpPr>
        <p:spPr>
          <a:xfrm>
            <a:off x="6029325" y="1575435"/>
            <a:ext cx="1265708" cy="194310"/>
          </a:xfrm>
          <a:prstGeom prst="rect">
            <a:avLst/>
          </a:prstGeom>
          <a:noFill/>
        </p:spPr>
        <p:txBody>
          <a:bodyPr wrap="none" lIns="0" rIns="0" tIns="0" bIns="0">
            <a:spAutoFit/>
          </a:bodyPr>
          <a:lstStyle/>
          <a:p>
            <a:r>
              <a:rPr sz="1150" b="0">
                <a:solidFill>
                  <a:srgbClr val="2E2E2E"/>
                </a:solidFill>
                <a:latin typeface="Calibri"/>
              </a:rPr>
              <a:t>× Supermarkets and</a:t>
            </a:r>
          </a:p>
        </p:txBody>
      </p:sp>
      <p:sp>
        <p:nvSpPr>
          <p:cNvPr id="54" name="TextBox 53"/>
          <p:cNvSpPr txBox="1"/>
          <p:nvPr/>
        </p:nvSpPr>
        <p:spPr>
          <a:xfrm>
            <a:off x="6029325" y="1750695"/>
            <a:ext cx="1262570" cy="194310"/>
          </a:xfrm>
          <a:prstGeom prst="rect">
            <a:avLst/>
          </a:prstGeom>
          <a:noFill/>
        </p:spPr>
        <p:txBody>
          <a:bodyPr wrap="none" lIns="0" rIns="0" tIns="0" bIns="0">
            <a:spAutoFit/>
          </a:bodyPr>
          <a:lstStyle/>
          <a:p>
            <a:r>
              <a:rPr sz="1150" b="0">
                <a:solidFill>
                  <a:srgbClr val="2E2E2E"/>
                </a:solidFill>
                <a:latin typeface="Calibri"/>
              </a:rPr>
              <a:t>Hypermarkets' adds</a:t>
            </a:r>
          </a:p>
        </p:txBody>
      </p:sp>
      <p:pic>
        <p:nvPicPr>
          <p:cNvPr id="55" name="Picture 54" descr="lock.png"/>
          <p:cNvPicPr>
            <a:picLocks noChangeAspect="1"/>
          </p:cNvPicPr>
          <p:nvPr/>
        </p:nvPicPr>
        <p:blipFill>
          <a:blip r:embed="rId4"/>
          <a:stretch>
            <a:fillRect/>
          </a:stretch>
        </p:blipFill>
        <p:spPr>
          <a:xfrm>
            <a:off x="7241049" y="1740471"/>
            <a:ext cx="134549" cy="195707"/>
          </a:xfrm>
          <a:prstGeom prst="rect">
            <a:avLst/>
          </a:prstGeom>
        </p:spPr>
      </p:pic>
      <p:sp>
        <p:nvSpPr>
          <p:cNvPr id="56" name="TextBox 55"/>
          <p:cNvSpPr txBox="1"/>
          <p:nvPr/>
        </p:nvSpPr>
        <p:spPr>
          <a:xfrm>
            <a:off x="6029325" y="1925955"/>
            <a:ext cx="1224632" cy="194310"/>
          </a:xfrm>
          <a:prstGeom prst="rect">
            <a:avLst/>
          </a:prstGeom>
          <a:noFill/>
        </p:spPr>
        <p:txBody>
          <a:bodyPr wrap="none" lIns="0" rIns="0" tIns="0" bIns="0">
            <a:spAutoFit/>
          </a:bodyPr>
          <a:lstStyle/>
          <a:p>
            <a:r>
              <a:rPr sz="1150" b="0">
                <a:solidFill>
                  <a:srgbClr val="2E2E2E"/>
                </a:solidFill>
                <a:latin typeface="Calibri"/>
              </a:rPr>
              <a:t>US$ Mn by 2036F –</a:t>
            </a:r>
          </a:p>
        </p:txBody>
      </p:sp>
      <p:pic>
        <p:nvPicPr>
          <p:cNvPr id="57" name="Picture 56" descr="lock.png"/>
          <p:cNvPicPr>
            <a:picLocks noChangeAspect="1"/>
          </p:cNvPicPr>
          <p:nvPr/>
        </p:nvPicPr>
        <p:blipFill>
          <a:blip r:embed="rId4"/>
          <a:stretch>
            <a:fillRect/>
          </a:stretch>
        </p:blipFill>
        <p:spPr>
          <a:xfrm>
            <a:off x="7203111" y="1915731"/>
            <a:ext cx="134549" cy="195707"/>
          </a:xfrm>
          <a:prstGeom prst="rect">
            <a:avLst/>
          </a:prstGeom>
        </p:spPr>
      </p:pic>
      <p:sp>
        <p:nvSpPr>
          <p:cNvPr id="58" name="TextBox 57"/>
          <p:cNvSpPr txBox="1"/>
          <p:nvPr/>
        </p:nvSpPr>
        <p:spPr>
          <a:xfrm>
            <a:off x="7378220" y="1925955"/>
            <a:ext cx="197718" cy="194310"/>
          </a:xfrm>
          <a:prstGeom prst="rect">
            <a:avLst/>
          </a:prstGeom>
          <a:noFill/>
        </p:spPr>
        <p:txBody>
          <a:bodyPr wrap="none" lIns="0" rIns="0" tIns="0" bIns="0">
            <a:spAutoFit/>
          </a:bodyPr>
          <a:lstStyle/>
          <a:p>
            <a:r>
              <a:rPr sz="1150" b="0">
                <a:solidFill>
                  <a:srgbClr val="2E2E2E"/>
                </a:solidFill>
                <a:latin typeface="Calibri"/>
              </a:rPr>
              <a:t>of</a:t>
            </a:r>
          </a:p>
        </p:txBody>
      </p:sp>
      <p:sp>
        <p:nvSpPr>
          <p:cNvPr id="59" name="TextBox 58"/>
          <p:cNvSpPr txBox="1"/>
          <p:nvPr/>
        </p:nvSpPr>
        <p:spPr>
          <a:xfrm>
            <a:off x="6029325" y="2101215"/>
            <a:ext cx="1366403" cy="194310"/>
          </a:xfrm>
          <a:prstGeom prst="rect">
            <a:avLst/>
          </a:prstGeom>
          <a:noFill/>
        </p:spPr>
        <p:txBody>
          <a:bodyPr wrap="none" lIns="0" rIns="0" tIns="0" bIns="0">
            <a:spAutoFit/>
          </a:bodyPr>
          <a:lstStyle/>
          <a:p>
            <a:r>
              <a:rPr sz="1150" b="0">
                <a:solidFill>
                  <a:srgbClr val="2E2E2E"/>
                </a:solidFill>
                <a:latin typeface="Calibri"/>
              </a:rPr>
              <a:t>the total opportunity.</a:t>
            </a:r>
          </a:p>
        </p:txBody>
      </p:sp>
      <p:sp>
        <p:nvSpPr>
          <p:cNvPr id="60" name="TextBox 59"/>
          <p:cNvSpPr txBox="1"/>
          <p:nvPr/>
        </p:nvSpPr>
        <p:spPr>
          <a:xfrm>
            <a:off x="8124825" y="1400175"/>
            <a:ext cx="1657350" cy="194310"/>
          </a:xfrm>
          <a:prstGeom prst="rect">
            <a:avLst/>
          </a:prstGeom>
          <a:noFill/>
        </p:spPr>
        <p:txBody>
          <a:bodyPr wrap="none" lIns="0" rIns="0" tIns="0" bIns="0">
            <a:spAutoFit/>
          </a:bodyPr>
          <a:lstStyle/>
          <a:p>
            <a:r>
              <a:rPr sz="1150" b="0">
                <a:solidFill>
                  <a:srgbClr val="2E2E2E"/>
                </a:solidFill>
                <a:latin typeface="Calibri"/>
              </a:rPr>
              <a:t>▪ 'Sachets and Stick Packs ×</a:t>
            </a:r>
          </a:p>
        </p:txBody>
      </p:sp>
      <p:sp>
        <p:nvSpPr>
          <p:cNvPr id="61" name="TextBox 60"/>
          <p:cNvSpPr txBox="1"/>
          <p:nvPr/>
        </p:nvSpPr>
        <p:spPr>
          <a:xfrm>
            <a:off x="8124825" y="1575435"/>
            <a:ext cx="1407765" cy="194310"/>
          </a:xfrm>
          <a:prstGeom prst="rect">
            <a:avLst/>
          </a:prstGeom>
          <a:noFill/>
        </p:spPr>
        <p:txBody>
          <a:bodyPr wrap="none" lIns="0" rIns="0" tIns="0" bIns="0">
            <a:spAutoFit/>
          </a:bodyPr>
          <a:lstStyle/>
          <a:p>
            <a:r>
              <a:rPr sz="1150" b="0">
                <a:solidFill>
                  <a:srgbClr val="2E2E2E"/>
                </a:solidFill>
                <a:latin typeface="Calibri"/>
              </a:rPr>
              <a:t>B2B / Institutional and</a:t>
            </a:r>
          </a:p>
        </p:txBody>
      </p:sp>
      <p:sp>
        <p:nvSpPr>
          <p:cNvPr id="62" name="TextBox 61"/>
          <p:cNvSpPr txBox="1"/>
          <p:nvPr/>
        </p:nvSpPr>
        <p:spPr>
          <a:xfrm>
            <a:off x="8124825" y="1750695"/>
            <a:ext cx="1657350" cy="194310"/>
          </a:xfrm>
          <a:prstGeom prst="rect">
            <a:avLst/>
          </a:prstGeom>
          <a:noFill/>
        </p:spPr>
        <p:txBody>
          <a:bodyPr wrap="none" lIns="0" rIns="0" tIns="0" bIns="0">
            <a:spAutoFit/>
          </a:bodyPr>
          <a:lstStyle/>
          <a:p>
            <a:r>
              <a:rPr sz="1150" b="0">
                <a:solidFill>
                  <a:srgbClr val="2E2E2E"/>
                </a:solidFill>
                <a:latin typeface="Calibri"/>
              </a:rPr>
              <a:t>Ingredient Sales' grows at a</a:t>
            </a:r>
          </a:p>
        </p:txBody>
      </p:sp>
      <p:pic>
        <p:nvPicPr>
          <p:cNvPr id="63" name="Picture 62" descr="lock.png"/>
          <p:cNvPicPr>
            <a:picLocks noChangeAspect="1"/>
          </p:cNvPicPr>
          <p:nvPr/>
        </p:nvPicPr>
        <p:blipFill>
          <a:blip r:embed="rId4"/>
          <a:stretch>
            <a:fillRect/>
          </a:stretch>
        </p:blipFill>
        <p:spPr>
          <a:xfrm>
            <a:off x="8110745" y="1915731"/>
            <a:ext cx="134549" cy="195707"/>
          </a:xfrm>
          <a:prstGeom prst="rect">
            <a:avLst/>
          </a:prstGeom>
        </p:spPr>
      </p:pic>
      <p:sp>
        <p:nvSpPr>
          <p:cNvPr id="64" name="TextBox 63"/>
          <p:cNvSpPr txBox="1"/>
          <p:nvPr/>
        </p:nvSpPr>
        <p:spPr>
          <a:xfrm>
            <a:off x="8285854" y="1925955"/>
            <a:ext cx="446441" cy="194310"/>
          </a:xfrm>
          <a:prstGeom prst="rect">
            <a:avLst/>
          </a:prstGeom>
          <a:noFill/>
        </p:spPr>
        <p:txBody>
          <a:bodyPr wrap="none" lIns="0" rIns="0" tIns="0" bIns="0">
            <a:spAutoFit/>
          </a:bodyPr>
          <a:lstStyle/>
          <a:p>
            <a:r>
              <a:rPr sz="1150" b="0">
                <a:solidFill>
                  <a:srgbClr val="2E2E2E"/>
                </a:solidFill>
                <a:latin typeface="Calibri"/>
              </a:rPr>
              <a:t>CAGR,</a:t>
            </a:r>
          </a:p>
        </p:txBody>
      </p:sp>
      <p:pic>
        <p:nvPicPr>
          <p:cNvPr id="65" name="Picture 64" descr="lock.png"/>
          <p:cNvPicPr>
            <a:picLocks noChangeAspect="1"/>
          </p:cNvPicPr>
          <p:nvPr/>
        </p:nvPicPr>
        <p:blipFill>
          <a:blip r:embed="rId4"/>
          <a:stretch>
            <a:fillRect/>
          </a:stretch>
        </p:blipFill>
        <p:spPr>
          <a:xfrm>
            <a:off x="8681450" y="1915731"/>
            <a:ext cx="134549" cy="195707"/>
          </a:xfrm>
          <a:prstGeom prst="rect">
            <a:avLst/>
          </a:prstGeom>
        </p:spPr>
      </p:pic>
      <p:sp>
        <p:nvSpPr>
          <p:cNvPr id="66" name="TextBox 65"/>
          <p:cNvSpPr txBox="1"/>
          <p:nvPr/>
        </p:nvSpPr>
        <p:spPr>
          <a:xfrm>
            <a:off x="8856559" y="1925955"/>
            <a:ext cx="693774" cy="194310"/>
          </a:xfrm>
          <a:prstGeom prst="rect">
            <a:avLst/>
          </a:prstGeom>
          <a:noFill/>
        </p:spPr>
        <p:txBody>
          <a:bodyPr wrap="none" lIns="0" rIns="0" tIns="0" bIns="0">
            <a:spAutoFit/>
          </a:bodyPr>
          <a:lstStyle/>
          <a:p>
            <a:r>
              <a:rPr sz="1150" b="0">
                <a:solidFill>
                  <a:srgbClr val="2E2E2E"/>
                </a:solidFill>
                <a:latin typeface="Calibri"/>
              </a:rPr>
              <a:t>BPS above</a:t>
            </a:r>
          </a:p>
        </p:txBody>
      </p:sp>
      <p:sp>
        <p:nvSpPr>
          <p:cNvPr id="67" name="TextBox 66"/>
          <p:cNvSpPr txBox="1"/>
          <p:nvPr/>
        </p:nvSpPr>
        <p:spPr>
          <a:xfrm>
            <a:off x="8124825" y="2101215"/>
            <a:ext cx="1121655" cy="194310"/>
          </a:xfrm>
          <a:prstGeom prst="rect">
            <a:avLst/>
          </a:prstGeom>
          <a:noFill/>
        </p:spPr>
        <p:txBody>
          <a:bodyPr wrap="none" lIns="0" rIns="0" tIns="0" bIns="0">
            <a:spAutoFit/>
          </a:bodyPr>
          <a:lstStyle/>
          <a:p>
            <a:r>
              <a:rPr sz="1150" b="0">
                <a:solidFill>
                  <a:srgbClr val="2E2E2E"/>
                </a:solidFill>
                <a:latin typeface="Calibri"/>
              </a:rPr>
              <a:t>the cross-section.</a:t>
            </a:r>
          </a:p>
        </p:txBody>
      </p:sp>
    </p:spTree>
  </p:cSld>
  <p:clrMapOvr>
    <a:masterClrMapping/>
  </p:clrMapOvr>
</p:sld>
</file>

<file path=ppt/slides/slide216.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2094865"/>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2399665"/>
            <a:ext cx="7239000" cy="514350"/>
          </a:xfrm>
          <a:prstGeom prst="rect">
            <a:avLst/>
          </a:prstGeom>
          <a:noFill/>
        </p:spPr>
        <p:txBody>
          <a:bodyPr wrap="square" lIns="0" rIns="0" tIns="0">
            <a:spAutoFit/>
          </a:bodyPr>
          <a:lstStyle/>
          <a:p>
            <a:r>
              <a:rPr sz="3000" b="1" cap="all" spc="400">
                <a:solidFill>
                  <a:srgbClr val="FFFFFF"/>
                </a:solidFill>
                <a:latin typeface="Calibri"/>
              </a:rPr>
              <a:t>Country Market Outlook</a:t>
            </a:r>
          </a:p>
        </p:txBody>
      </p:sp>
      <p:sp>
        <p:nvSpPr>
          <p:cNvPr id="7" name="TextBox 6"/>
          <p:cNvSpPr txBox="1"/>
          <p:nvPr/>
        </p:nvSpPr>
        <p:spPr>
          <a:xfrm>
            <a:off x="914400" y="3104515"/>
            <a:ext cx="7124700" cy="308737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Overview (Volume &amp; Value)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Segment Overview (Volume &amp; Value)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Nature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Product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Form</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Flavour</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Packaging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Grade Type</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Application</a:t>
            </a:r>
          </a:p>
          <a:p>
            <a:pPr marL="685800" indent="-323850">
              <a:lnSpc>
                <a:spcPct val="100000"/>
              </a:lnSpc>
              <a:spcAft>
                <a:spcPts val="560"/>
              </a:spcAft>
            </a:pPr>
            <a:r>
              <a:rPr sz="1400" b="0">
                <a:solidFill>
                  <a:srgbClr val="FFD447"/>
                </a:solidFill>
                <a:latin typeface="Calibri"/>
              </a:rPr>
              <a:t>›	</a:t>
            </a:r>
            <a:r>
              <a:rPr sz="1400" b="0">
                <a:solidFill>
                  <a:srgbClr val="FFD447"/>
                </a:solidFill>
                <a:latin typeface="Calibri"/>
              </a:rPr>
              <a:t>Distribution Channel</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17.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Overview (Volume &amp; Value)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Volume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Overview</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Segments (Value)</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1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Volume Overview (MT)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volume: size, growth, YoY momentum and gap to the Global benchmark</a:t>
            </a:r>
          </a:p>
        </p:txBody>
      </p:sp>
      <p:sp>
        <p:nvSpPr>
          <p:cNvPr id="10" name="Rounded Rectangle 9"/>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1" name="Rounded Rectangle 10"/>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(MT)</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2" name="Rounded Rectangle 11"/>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3" name="Rounded Rectangle 12"/>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4" name="Rounded Rectangle 13"/>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(MT), 2021–2036</a:t>
            </a:r>
          </a:p>
        </p:txBody>
      </p:sp>
      <p:graphicFrame>
        <p:nvGraphicFramePr>
          <p:cNvPr id="16" name="Chart 15"/>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7" name="Rounded Rectangle 16"/>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19" name="Chart 18"/>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0" name="TextBox 19"/>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1" name="TextBox 20"/>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2" name="Rounded Rectangle 21"/>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(MT)</a:t>
            </a:r>
          </a:p>
        </p:txBody>
      </p:sp>
      <p:graphicFrame>
        <p:nvGraphicFramePr>
          <p:cNvPr id="24" name="Chart 23"/>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5" name="Rounded Rectangle 24"/>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7" name="Chart 26"/>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8" name="Rounded Rectangle 27"/>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9" name="Rounded Rectangle 28"/>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8"/>
          <a:stretch>
            <a:fillRect/>
          </a:stretch>
        </p:blipFill>
        <p:spPr>
          <a:xfrm>
            <a:off x="1493044" y="1219200"/>
            <a:ext cx="157162" cy="228600"/>
          </a:xfrm>
          <a:prstGeom prst="rect">
            <a:avLst/>
          </a:prstGeom>
        </p:spPr>
      </p:pic>
      <p:pic>
        <p:nvPicPr>
          <p:cNvPr id="32" name="Picture 31" descr="lock.png"/>
          <p:cNvPicPr>
            <a:picLocks noChangeAspect="1"/>
          </p:cNvPicPr>
          <p:nvPr/>
        </p:nvPicPr>
        <p:blipFill>
          <a:blip r:embed="rId8"/>
          <a:stretch>
            <a:fillRect/>
          </a:stretch>
        </p:blipFill>
        <p:spPr>
          <a:xfrm>
            <a:off x="45029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7512844" y="1303020"/>
            <a:ext cx="157162" cy="228600"/>
          </a:xfrm>
          <a:prstGeom prst="rect">
            <a:avLst/>
          </a:prstGeom>
        </p:spPr>
      </p:pic>
      <p:pic>
        <p:nvPicPr>
          <p:cNvPr id="34" name="Picture 33" descr="lock.png"/>
          <p:cNvPicPr>
            <a:picLocks noChangeAspect="1"/>
          </p:cNvPicPr>
          <p:nvPr/>
        </p:nvPicPr>
        <p:blipFill>
          <a:blip r:embed="rId8"/>
          <a:stretch>
            <a:fillRect/>
          </a:stretch>
        </p:blipFill>
        <p:spPr>
          <a:xfrm>
            <a:off x="105227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2554414" y="2661285"/>
            <a:ext cx="165021" cy="240030"/>
          </a:xfrm>
          <a:prstGeom prst="rect">
            <a:avLst/>
          </a:prstGeom>
        </p:spPr>
      </p:pic>
      <p:pic>
        <p:nvPicPr>
          <p:cNvPr id="36" name="Picture 35" descr="lock.png"/>
          <p:cNvPicPr>
            <a:picLocks noChangeAspect="1"/>
          </p:cNvPicPr>
          <p:nvPr/>
        </p:nvPicPr>
        <p:blipFill>
          <a:blip r:embed="rId8"/>
          <a:stretch>
            <a:fillRect/>
          </a:stretch>
        </p:blipFill>
        <p:spPr>
          <a:xfrm>
            <a:off x="6762365" y="2599095"/>
            <a:ext cx="191595" cy="278683"/>
          </a:xfrm>
          <a:prstGeom prst="rect">
            <a:avLst/>
          </a:prstGeom>
        </p:spPr>
      </p:pic>
      <p:pic>
        <p:nvPicPr>
          <p:cNvPr id="37" name="Picture 36" descr="lock.png"/>
          <p:cNvPicPr>
            <a:picLocks noChangeAspect="1"/>
          </p:cNvPicPr>
          <p:nvPr/>
        </p:nvPicPr>
        <p:blipFill>
          <a:blip r:embed="rId8"/>
          <a:stretch>
            <a:fillRect/>
          </a:stretch>
        </p:blipFill>
        <p:spPr>
          <a:xfrm>
            <a:off x="9878378" y="2141220"/>
            <a:ext cx="230504" cy="335279"/>
          </a:xfrm>
          <a:prstGeom prst="rect">
            <a:avLst/>
          </a:prstGeom>
        </p:spPr>
      </p:pic>
      <p:pic>
        <p:nvPicPr>
          <p:cNvPr id="38" name="Picture 37" descr="lock.png"/>
          <p:cNvPicPr>
            <a:picLocks noChangeAspect="1"/>
          </p:cNvPicPr>
          <p:nvPr/>
        </p:nvPicPr>
        <p:blipFill>
          <a:blip r:embed="rId8"/>
          <a:stretch>
            <a:fillRect/>
          </a:stretch>
        </p:blipFill>
        <p:spPr>
          <a:xfrm>
            <a:off x="2554414" y="4575810"/>
            <a:ext cx="165021" cy="240030"/>
          </a:xfrm>
          <a:prstGeom prst="rect">
            <a:avLst/>
          </a:prstGeom>
        </p:spPr>
      </p:pic>
      <p:pic>
        <p:nvPicPr>
          <p:cNvPr id="39" name="Picture 38" descr="lock.png"/>
          <p:cNvPicPr>
            <a:picLocks noChangeAspect="1"/>
          </p:cNvPicPr>
          <p:nvPr/>
        </p:nvPicPr>
        <p:blipFill>
          <a:blip r:embed="rId8"/>
          <a:stretch>
            <a:fillRect/>
          </a:stretch>
        </p:blipFill>
        <p:spPr>
          <a:xfrm>
            <a:off x="8715708" y="4462938"/>
            <a:ext cx="261282" cy="380047"/>
          </a:xfrm>
          <a:prstGeom prst="rect">
            <a:avLst/>
          </a:prstGeom>
        </p:spPr>
      </p:pic>
      <p:sp>
        <p:nvSpPr>
          <p:cNvPr id="40" name="TextBox 39"/>
          <p:cNvSpPr txBox="1"/>
          <p:nvPr/>
        </p:nvSpPr>
        <p:spPr>
          <a:xfrm>
            <a:off x="8071485" y="2876550"/>
            <a:ext cx="1930226" cy="186689"/>
          </a:xfrm>
          <a:prstGeom prst="rect">
            <a:avLst/>
          </a:prstGeom>
          <a:noFill/>
        </p:spPr>
        <p:txBody>
          <a:bodyPr wrap="none" lIns="0" rIns="0" tIns="0" bIns="0">
            <a:spAutoFit/>
          </a:bodyPr>
          <a:lstStyle/>
          <a:p>
            <a:r>
              <a:rPr sz="1100" b="0">
                <a:solidFill>
                  <a:srgbClr val="2E2E2E"/>
                </a:solidFill>
                <a:latin typeface="Calibri"/>
              </a:rPr>
              <a:t>U.S.'s matcha market expands at</a:t>
            </a:r>
          </a:p>
        </p:txBody>
      </p:sp>
      <p:pic>
        <p:nvPicPr>
          <p:cNvPr id="41" name="Picture 40" descr="lock.png"/>
          <p:cNvPicPr>
            <a:picLocks noChangeAspect="1"/>
          </p:cNvPicPr>
          <p:nvPr/>
        </p:nvPicPr>
        <p:blipFill>
          <a:blip r:embed="rId8"/>
          <a:stretch>
            <a:fillRect/>
          </a:stretch>
        </p:blipFill>
        <p:spPr>
          <a:xfrm>
            <a:off x="9949762" y="2866771"/>
            <a:ext cx="128699" cy="187198"/>
          </a:xfrm>
          <a:prstGeom prst="rect">
            <a:avLst/>
          </a:prstGeom>
        </p:spPr>
      </p:pic>
      <p:sp>
        <p:nvSpPr>
          <p:cNvPr id="42" name="TextBox 41"/>
          <p:cNvSpPr txBox="1"/>
          <p:nvPr/>
        </p:nvSpPr>
        <p:spPr>
          <a:xfrm>
            <a:off x="10117258" y="2876550"/>
            <a:ext cx="1662814" cy="186689"/>
          </a:xfrm>
          <a:prstGeom prst="rect">
            <a:avLst/>
          </a:prstGeom>
          <a:noFill/>
        </p:spPr>
        <p:txBody>
          <a:bodyPr wrap="none" lIns="0" rIns="0" tIns="0" bIns="0">
            <a:spAutoFit/>
          </a:bodyPr>
          <a:lstStyle/>
          <a:p>
            <a:r>
              <a:rPr sz="1100" b="0">
                <a:solidFill>
                  <a:srgbClr val="2E2E2E"/>
                </a:solidFill>
                <a:latin typeface="Calibri"/>
              </a:rPr>
              <a:t>CAGR through 2036, trailing</a:t>
            </a:r>
          </a:p>
        </p:txBody>
      </p:sp>
      <p:sp>
        <p:nvSpPr>
          <p:cNvPr id="43" name="TextBox 42"/>
          <p:cNvSpPr txBox="1"/>
          <p:nvPr/>
        </p:nvSpPr>
        <p:spPr>
          <a:xfrm>
            <a:off x="8071485" y="3044190"/>
            <a:ext cx="1950963" cy="186689"/>
          </a:xfrm>
          <a:prstGeom prst="rect">
            <a:avLst/>
          </a:prstGeom>
          <a:noFill/>
        </p:spPr>
        <p:txBody>
          <a:bodyPr wrap="none" lIns="0" rIns="0" tIns="0" bIns="0">
            <a:spAutoFit/>
          </a:bodyPr>
          <a:lstStyle/>
          <a:p>
            <a:r>
              <a:rPr sz="1100" b="0">
                <a:solidFill>
                  <a:srgbClr val="2E2E2E"/>
                </a:solidFill>
                <a:latin typeface="Calibri"/>
              </a:rPr>
              <a:t>the North America benchmark of</a:t>
            </a:r>
          </a:p>
        </p:txBody>
      </p:sp>
      <p:pic>
        <p:nvPicPr>
          <p:cNvPr id="44" name="Picture 43" descr="lock.png"/>
          <p:cNvPicPr>
            <a:picLocks noChangeAspect="1"/>
          </p:cNvPicPr>
          <p:nvPr/>
        </p:nvPicPr>
        <p:blipFill>
          <a:blip r:embed="rId8"/>
          <a:stretch>
            <a:fillRect/>
          </a:stretch>
        </p:blipFill>
        <p:spPr>
          <a:xfrm>
            <a:off x="9970499" y="3034411"/>
            <a:ext cx="128699" cy="187198"/>
          </a:xfrm>
          <a:prstGeom prst="rect">
            <a:avLst/>
          </a:prstGeom>
        </p:spPr>
      </p:pic>
      <p:sp>
        <p:nvSpPr>
          <p:cNvPr id="45" name="TextBox 44"/>
          <p:cNvSpPr txBox="1"/>
          <p:nvPr/>
        </p:nvSpPr>
        <p:spPr>
          <a:xfrm>
            <a:off x="10137995"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6" name="Picture 45" descr="lock.png"/>
          <p:cNvPicPr>
            <a:picLocks noChangeAspect="1"/>
          </p:cNvPicPr>
          <p:nvPr/>
        </p:nvPicPr>
        <p:blipFill>
          <a:blip r:embed="rId8"/>
          <a:stretch>
            <a:fillRect/>
          </a:stretch>
        </p:blipFill>
        <p:spPr>
          <a:xfrm>
            <a:off x="10298945" y="3034411"/>
            <a:ext cx="128699" cy="187198"/>
          </a:xfrm>
          <a:prstGeom prst="rect">
            <a:avLst/>
          </a:prstGeom>
        </p:spPr>
      </p:pic>
      <p:sp>
        <p:nvSpPr>
          <p:cNvPr id="47" name="TextBox 46"/>
          <p:cNvSpPr txBox="1"/>
          <p:nvPr/>
        </p:nvSpPr>
        <p:spPr>
          <a:xfrm>
            <a:off x="10466441" y="304419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8" name="TextBox 47"/>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49" name="Picture 48" descr="lock.png"/>
          <p:cNvPicPr>
            <a:picLocks noChangeAspect="1"/>
          </p:cNvPicPr>
          <p:nvPr/>
        </p:nvPicPr>
        <p:blipFill>
          <a:blip r:embed="rId8"/>
          <a:stretch>
            <a:fillRect/>
          </a:stretch>
        </p:blipFill>
        <p:spPr>
          <a:xfrm>
            <a:off x="844592" y="5956680"/>
            <a:ext cx="128699" cy="187198"/>
          </a:xfrm>
          <a:prstGeom prst="rect">
            <a:avLst/>
          </a:prstGeom>
        </p:spPr>
      </p:pic>
      <p:sp>
        <p:nvSpPr>
          <p:cNvPr id="50" name="TextBox 49"/>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1" name="Picture 50" descr="lock.png"/>
          <p:cNvPicPr>
            <a:picLocks noChangeAspect="1"/>
          </p:cNvPicPr>
          <p:nvPr/>
        </p:nvPicPr>
        <p:blipFill>
          <a:blip r:embed="rId8"/>
          <a:stretch>
            <a:fillRect/>
          </a:stretch>
        </p:blipFill>
        <p:spPr>
          <a:xfrm>
            <a:off x="1995140" y="5956680"/>
            <a:ext cx="128699" cy="187198"/>
          </a:xfrm>
          <a:prstGeom prst="rect">
            <a:avLst/>
          </a:prstGeom>
        </p:spPr>
      </p:pic>
      <p:sp>
        <p:nvSpPr>
          <p:cNvPr id="52" name="TextBox 51"/>
          <p:cNvSpPr txBox="1"/>
          <p:nvPr/>
        </p:nvSpPr>
        <p:spPr>
          <a:xfrm>
            <a:off x="2162635" y="5966460"/>
            <a:ext cx="3498577" cy="186689"/>
          </a:xfrm>
          <a:prstGeom prst="rect">
            <a:avLst/>
          </a:prstGeom>
          <a:noFill/>
        </p:spPr>
        <p:txBody>
          <a:bodyPr wrap="none" lIns="0" rIns="0" tIns="0" bIns="0">
            <a:spAutoFit/>
          </a:bodyPr>
          <a:lstStyle/>
          <a:p>
            <a:r>
              <a:rPr sz="1100" b="0">
                <a:solidFill>
                  <a:srgbClr val="2E2E2E"/>
                </a:solidFill>
                <a:latin typeface="Calibri"/>
              </a:rPr>
              <a:t>of the North America matcha market in 2026; by 2036 those</a:t>
            </a:r>
          </a:p>
        </p:txBody>
      </p:sp>
      <p:sp>
        <p:nvSpPr>
          <p:cNvPr id="53" name="TextBox 52"/>
          <p:cNvSpPr txBox="1"/>
          <p:nvPr/>
        </p:nvSpPr>
        <p:spPr>
          <a:xfrm>
            <a:off x="257175" y="6134100"/>
            <a:ext cx="945777" cy="186689"/>
          </a:xfrm>
          <a:prstGeom prst="rect">
            <a:avLst/>
          </a:prstGeom>
          <a:noFill/>
        </p:spPr>
        <p:txBody>
          <a:bodyPr wrap="none" lIns="0" rIns="0" tIns="0" bIns="0">
            <a:spAutoFit/>
          </a:bodyPr>
          <a:lstStyle/>
          <a:p>
            <a:r>
              <a:rPr sz="1100" b="0">
                <a:solidFill>
                  <a:srgbClr val="2E2E2E"/>
                </a:solidFill>
                <a:latin typeface="Calibri"/>
              </a:rPr>
              <a:t>shares move to</a:t>
            </a:r>
          </a:p>
        </p:txBody>
      </p:sp>
      <p:pic>
        <p:nvPicPr>
          <p:cNvPr id="54" name="Picture 53" descr="lock.png"/>
          <p:cNvPicPr>
            <a:picLocks noChangeAspect="1"/>
          </p:cNvPicPr>
          <p:nvPr/>
        </p:nvPicPr>
        <p:blipFill>
          <a:blip r:embed="rId8"/>
          <a:stretch>
            <a:fillRect/>
          </a:stretch>
        </p:blipFill>
        <p:spPr>
          <a:xfrm>
            <a:off x="1151004" y="6124320"/>
            <a:ext cx="128699" cy="187198"/>
          </a:xfrm>
          <a:prstGeom prst="rect">
            <a:avLst/>
          </a:prstGeom>
        </p:spPr>
      </p:pic>
      <p:sp>
        <p:nvSpPr>
          <p:cNvPr id="55" name="TextBox 54"/>
          <p:cNvSpPr txBox="1"/>
          <p:nvPr/>
        </p:nvSpPr>
        <p:spPr>
          <a:xfrm>
            <a:off x="1318500"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6" name="Picture 55" descr="lock.png"/>
          <p:cNvPicPr>
            <a:picLocks noChangeAspect="1"/>
          </p:cNvPicPr>
          <p:nvPr/>
        </p:nvPicPr>
        <p:blipFill>
          <a:blip r:embed="rId8"/>
          <a:stretch>
            <a:fillRect/>
          </a:stretch>
        </p:blipFill>
        <p:spPr>
          <a:xfrm>
            <a:off x="1556394" y="6124320"/>
            <a:ext cx="128699" cy="187198"/>
          </a:xfrm>
          <a:prstGeom prst="rect">
            <a:avLst/>
          </a:prstGeom>
        </p:spPr>
      </p:pic>
      <p:sp>
        <p:nvSpPr>
          <p:cNvPr id="57" name="TextBox 56"/>
          <p:cNvSpPr txBox="1"/>
          <p:nvPr/>
        </p:nvSpPr>
        <p:spPr>
          <a:xfrm>
            <a:off x="1723890"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8" name="TextBox 57"/>
          <p:cNvSpPr txBox="1"/>
          <p:nvPr/>
        </p:nvSpPr>
        <p:spPr>
          <a:xfrm>
            <a:off x="6286500" y="5966460"/>
            <a:ext cx="1586979" cy="186689"/>
          </a:xfrm>
          <a:prstGeom prst="rect">
            <a:avLst/>
          </a:prstGeom>
          <a:noFill/>
        </p:spPr>
        <p:txBody>
          <a:bodyPr wrap="none" lIns="0" rIns="0" tIns="0" bIns="0">
            <a:spAutoFit/>
          </a:bodyPr>
          <a:lstStyle/>
          <a:p>
            <a:r>
              <a:rPr sz="1100" b="0">
                <a:solidFill>
                  <a:srgbClr val="2E2E2E"/>
                </a:solidFill>
                <a:latin typeface="Calibri"/>
              </a:rPr>
              <a:t>The forecast build-up adds</a:t>
            </a:r>
          </a:p>
        </p:txBody>
      </p:sp>
      <p:pic>
        <p:nvPicPr>
          <p:cNvPr id="59" name="Picture 58" descr="lock.png"/>
          <p:cNvPicPr>
            <a:picLocks noChangeAspect="1"/>
          </p:cNvPicPr>
          <p:nvPr/>
        </p:nvPicPr>
        <p:blipFill>
          <a:blip r:embed="rId8"/>
          <a:stretch>
            <a:fillRect/>
          </a:stretch>
        </p:blipFill>
        <p:spPr>
          <a:xfrm>
            <a:off x="7821530" y="5956680"/>
            <a:ext cx="128699" cy="187198"/>
          </a:xfrm>
          <a:prstGeom prst="rect">
            <a:avLst/>
          </a:prstGeom>
        </p:spPr>
      </p:pic>
      <p:sp>
        <p:nvSpPr>
          <p:cNvPr id="60" name="TextBox 59"/>
          <p:cNvSpPr txBox="1"/>
          <p:nvPr/>
        </p:nvSpPr>
        <p:spPr>
          <a:xfrm>
            <a:off x="7989026" y="5966460"/>
            <a:ext cx="3117130" cy="186689"/>
          </a:xfrm>
          <a:prstGeom prst="rect">
            <a:avLst/>
          </a:prstGeom>
          <a:noFill/>
        </p:spPr>
        <p:txBody>
          <a:bodyPr wrap="none" lIns="0" rIns="0" tIns="0" bIns="0">
            <a:spAutoFit/>
          </a:bodyPr>
          <a:lstStyle/>
          <a:p>
            <a:r>
              <a:rPr sz="1100" b="0">
                <a:solidFill>
                  <a:srgbClr val="2E2E2E"/>
                </a:solidFill>
                <a:latin typeface="Calibri"/>
              </a:rPr>
              <a:t>MT between 2026 and 2036 the U.S. market grows to</a:t>
            </a:r>
          </a:p>
        </p:txBody>
      </p:sp>
      <p:pic>
        <p:nvPicPr>
          <p:cNvPr id="61" name="Picture 60" descr="lock.png"/>
          <p:cNvPicPr>
            <a:picLocks noChangeAspect="1"/>
          </p:cNvPicPr>
          <p:nvPr/>
        </p:nvPicPr>
        <p:blipFill>
          <a:blip r:embed="rId8"/>
          <a:stretch>
            <a:fillRect/>
          </a:stretch>
        </p:blipFill>
        <p:spPr>
          <a:xfrm>
            <a:off x="11054208" y="5956680"/>
            <a:ext cx="128699" cy="187198"/>
          </a:xfrm>
          <a:prstGeom prst="rect">
            <a:avLst/>
          </a:prstGeom>
        </p:spPr>
      </p:pic>
      <p:sp>
        <p:nvSpPr>
          <p:cNvPr id="62" name="TextBox 61"/>
          <p:cNvSpPr txBox="1"/>
          <p:nvPr/>
        </p:nvSpPr>
        <p:spPr>
          <a:xfrm>
            <a:off x="11221704" y="5966460"/>
            <a:ext cx="311125" cy="186689"/>
          </a:xfrm>
          <a:prstGeom prst="rect">
            <a:avLst/>
          </a:prstGeom>
          <a:noFill/>
        </p:spPr>
        <p:txBody>
          <a:bodyPr wrap="none" lIns="0" rIns="0" tIns="0" bIns="0">
            <a:spAutoFit/>
          </a:bodyPr>
          <a:lstStyle/>
          <a:p>
            <a:r>
              <a:rPr sz="1100" b="0">
                <a:solidFill>
                  <a:srgbClr val="2E2E2E"/>
                </a:solidFill>
                <a:latin typeface="Calibri"/>
              </a:rPr>
              <a:t>× its</a:t>
            </a:r>
          </a:p>
        </p:txBody>
      </p:sp>
      <p:sp>
        <p:nvSpPr>
          <p:cNvPr id="63" name="TextBox 62"/>
          <p:cNvSpPr txBox="1"/>
          <p:nvPr/>
        </p:nvSpPr>
        <p:spPr>
          <a:xfrm>
            <a:off x="6286500" y="6134100"/>
            <a:ext cx="1590253" cy="186689"/>
          </a:xfrm>
          <a:prstGeom prst="rect">
            <a:avLst/>
          </a:prstGeom>
          <a:noFill/>
        </p:spPr>
        <p:txBody>
          <a:bodyPr wrap="none" lIns="0" rIns="0" tIns="0" bIns="0">
            <a:spAutoFit/>
          </a:bodyPr>
          <a:lstStyle/>
          <a:p>
            <a:r>
              <a:rPr sz="1100" b="0">
                <a:solidFill>
                  <a:srgbClr val="2E2E2E"/>
                </a:solidFill>
                <a:latin typeface="Calibri"/>
              </a:rPr>
              <a:t>2026 size over the decade.</a:t>
            </a:r>
          </a:p>
        </p:txBody>
      </p:sp>
      <p:sp>
        <p:nvSpPr>
          <p:cNvPr id="64" name="lockshield_16"/>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lockshield_19"/>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lockshield_24"/>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lockshield_27"/>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1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Value Overview (US$ Mn)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the U.S. market in value: size, growth, YoY momentum and gap to the Global benchmark</a:t>
            </a:r>
          </a:p>
        </p:txBody>
      </p:sp>
      <p:sp>
        <p:nvSpPr>
          <p:cNvPr id="10" name="Rounded Rectangle 9"/>
          <p:cNvSpPr/>
          <p:nvPr/>
        </p:nvSpPr>
        <p:spPr>
          <a:xfrm>
            <a:off x="1428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2025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estimate year</a:t>
            </a:r>
          </a:p>
        </p:txBody>
      </p:sp>
      <p:sp>
        <p:nvSpPr>
          <p:cNvPr id="11" name="Rounded Rectangle 10"/>
          <p:cNvSpPr/>
          <p:nvPr/>
        </p:nvSpPr>
        <p:spPr>
          <a:xfrm>
            <a:off x="31527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2036 MARKET SIZE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forecast horizon</a:t>
            </a:r>
          </a:p>
        </p:txBody>
      </p:sp>
      <p:sp>
        <p:nvSpPr>
          <p:cNvPr id="12" name="Rounded Rectangle 11"/>
          <p:cNvSpPr/>
          <p:nvPr/>
        </p:nvSpPr>
        <p:spPr>
          <a:xfrm>
            <a:off x="61626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H-CAGR (2021–2025)</a:t>
            </a:r>
          </a:p>
          <a:p>
            <a:pPr algn="ctr">
              <a:lnSpc>
                <a:spcPct val="95000"/>
              </a:lnSpc>
            </a:pPr>
            <a:r>
              <a:rPr sz="1500" b="1">
                <a:solidFill>
                  <a:srgbClr val="0E72AE"/>
                </a:solidFill>
                <a:latin typeface="Calibri"/>
              </a:rPr>
              <a:t> </a:t>
            </a:r>
          </a:p>
        </p:txBody>
      </p:sp>
      <p:sp>
        <p:nvSpPr>
          <p:cNvPr id="13" name="Rounded Rectangle 12"/>
          <p:cNvSpPr/>
          <p:nvPr/>
        </p:nvSpPr>
        <p:spPr>
          <a:xfrm>
            <a:off x="9172575" y="981075"/>
            <a:ext cx="2857500" cy="704850"/>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F-CAGR (2026–2036)</a:t>
            </a:r>
          </a:p>
          <a:p>
            <a:pPr algn="ctr">
              <a:lnSpc>
                <a:spcPct val="95000"/>
              </a:lnSpc>
            </a:pPr>
            <a:r>
              <a:rPr sz="1500" b="1">
                <a:solidFill>
                  <a:srgbClr val="0E72AE"/>
                </a:solidFill>
                <a:latin typeface="Calibri"/>
              </a:rPr>
              <a:t> </a:t>
            </a:r>
          </a:p>
        </p:txBody>
      </p:sp>
      <p:sp>
        <p:nvSpPr>
          <p:cNvPr id="14" name="Rounded Rectangle 13"/>
          <p:cNvSpPr/>
          <p:nvPr/>
        </p:nvSpPr>
        <p:spPr>
          <a:xfrm>
            <a:off x="142875" y="1819275"/>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876425"/>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(US$ Mn), 2021–2036</a:t>
            </a:r>
          </a:p>
        </p:txBody>
      </p:sp>
      <p:graphicFrame>
        <p:nvGraphicFramePr>
          <p:cNvPr id="16" name="Chart 15"/>
          <p:cNvGraphicFramePr>
            <a:graphicFrameLocks noGrp="1"/>
          </p:cNvGraphicFramePr>
          <p:nvPr/>
        </p:nvGraphicFramePr>
        <p:xfrm>
          <a:off x="238125" y="2105025"/>
          <a:ext cx="4505325" cy="1438275"/>
        </p:xfrm>
        <a:graphic>
          <a:graphicData uri="http://schemas.openxmlformats.org/drawingml/2006/chart">
            <c:chart xmlns:c="http://schemas.openxmlformats.org/drawingml/2006/chart" r:id="rId3"/>
          </a:graphicData>
        </a:graphic>
      </p:graphicFrame>
      <p:sp>
        <p:nvSpPr>
          <p:cNvPr id="17" name="Rounded Rectangle 16"/>
          <p:cNvSpPr/>
          <p:nvPr/>
        </p:nvSpPr>
        <p:spPr>
          <a:xfrm>
            <a:off x="4991100" y="1819275"/>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5086350" y="1876425"/>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CAGR Comparison &amp; Growth Deviation from Regional Benchmark</a:t>
            </a:r>
          </a:p>
        </p:txBody>
      </p:sp>
      <p:graphicFrame>
        <p:nvGraphicFramePr>
          <p:cNvPr id="19" name="Chart 18"/>
          <p:cNvGraphicFramePr>
            <a:graphicFrameLocks noGrp="1"/>
          </p:cNvGraphicFramePr>
          <p:nvPr/>
        </p:nvGraphicFramePr>
        <p:xfrm>
          <a:off x="5086350" y="2105025"/>
          <a:ext cx="2880360" cy="1438275"/>
        </p:xfrm>
        <a:graphic>
          <a:graphicData uri="http://schemas.openxmlformats.org/drawingml/2006/chart">
            <c:chart xmlns:c="http://schemas.openxmlformats.org/drawingml/2006/chart" r:id="rId4"/>
          </a:graphicData>
        </a:graphic>
      </p:graphicFrame>
      <p:sp>
        <p:nvSpPr>
          <p:cNvPr id="20" name="TextBox 19"/>
          <p:cNvSpPr txBox="1"/>
          <p:nvPr/>
        </p:nvSpPr>
        <p:spPr>
          <a:xfrm>
            <a:off x="8042910" y="2124075"/>
            <a:ext cx="3901440" cy="704850"/>
          </a:xfrm>
          <a:prstGeom prst="rect">
            <a:avLst/>
          </a:prstGeom>
          <a:noFill/>
        </p:spPr>
        <p:txBody>
          <a:bodyPr wrap="square" lIns="28575" rIns="28575" tIns="9525" bIns="9525">
            <a:spAutoFit/>
          </a:bodyPr>
          <a:lstStyle/>
          <a:p>
            <a:pPr algn="ctr"/>
            <a:r>
              <a:rPr sz="2200" b="1">
                <a:solidFill>
                  <a:srgbClr val="E44D3A"/>
                </a:solidFill>
                <a:latin typeface="Calibri"/>
              </a:rPr>
              <a:t> </a:t>
            </a:r>
          </a:p>
          <a:p>
            <a:pPr algn="ctr"/>
            <a:r>
              <a:rPr sz="1100" b="0">
                <a:solidFill>
                  <a:srgbClr val="6C7A89"/>
                </a:solidFill>
                <a:latin typeface="Calibri"/>
              </a:rPr>
              <a:t>vs North America benchmark</a:t>
            </a:r>
          </a:p>
          <a:p>
            <a:pPr algn="ctr"/>
            <a:r>
              <a:rPr sz="1100" b="1">
                <a:solidFill>
                  <a:srgbClr val="E44D3A"/>
                </a:solidFill>
                <a:latin typeface="Calibri"/>
              </a:rPr>
              <a:t>▼ below benchmark</a:t>
            </a:r>
          </a:p>
        </p:txBody>
      </p:sp>
      <p:sp>
        <p:nvSpPr>
          <p:cNvPr id="21" name="TextBox 20"/>
          <p:cNvSpPr txBox="1"/>
          <p:nvPr/>
        </p:nvSpPr>
        <p:spPr>
          <a:xfrm>
            <a:off x="8042910" y="2867025"/>
            <a:ext cx="3901440" cy="638175"/>
          </a:xfrm>
          <a:prstGeom prst="rect">
            <a:avLst/>
          </a:prstGeom>
          <a:noFill/>
        </p:spPr>
        <p:txBody>
          <a:bodyPr wrap="square" lIns="28575" rIns="28575" tIns="9525" bIns="9525" anchor="t">
            <a:spAutoFit/>
          </a:bodyPr>
          <a:lstStyle/>
          <a:p>
            <a:pPr algn="l"/>
            <a:r>
              <a:rPr sz="1100" b="0">
                <a:solidFill>
                  <a:srgbClr val="2E2E2E"/>
                </a:solidFill>
                <a:latin typeface="Calibri"/>
              </a:rPr>
              <a:t/>
            </a:r>
          </a:p>
        </p:txBody>
      </p:sp>
      <p:sp>
        <p:nvSpPr>
          <p:cNvPr id="22" name="Rounded Rectangle 21"/>
          <p:cNvSpPr/>
          <p:nvPr/>
        </p:nvSpPr>
        <p:spPr>
          <a:xfrm>
            <a:off x="142875" y="3733800"/>
            <a:ext cx="4695825"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38125" y="3790950"/>
            <a:ext cx="45053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Forecast Build-up 2026–2036 (US$ Mn)</a:t>
            </a:r>
          </a:p>
        </p:txBody>
      </p:sp>
      <p:graphicFrame>
        <p:nvGraphicFramePr>
          <p:cNvPr id="24" name="Chart 23"/>
          <p:cNvGraphicFramePr>
            <a:graphicFrameLocks noGrp="1"/>
          </p:cNvGraphicFramePr>
          <p:nvPr/>
        </p:nvGraphicFramePr>
        <p:xfrm>
          <a:off x="238125" y="4019550"/>
          <a:ext cx="4505325" cy="1438275"/>
        </p:xfrm>
        <a:graphic>
          <a:graphicData uri="http://schemas.openxmlformats.org/drawingml/2006/chart">
            <c:chart xmlns:c="http://schemas.openxmlformats.org/drawingml/2006/chart" r:id="rId5"/>
          </a:graphicData>
        </a:graphic>
      </p:graphicFrame>
      <p:sp>
        <p:nvSpPr>
          <p:cNvPr id="25" name="Rounded Rectangle 24"/>
          <p:cNvSpPr/>
          <p:nvPr/>
        </p:nvSpPr>
        <p:spPr>
          <a:xfrm>
            <a:off x="4991100" y="3733800"/>
            <a:ext cx="7048500" cy="1781175"/>
          </a:xfrm>
          <a:prstGeom prst="roundRect">
            <a:avLst>
              <a:gd name="adj" fmla="val 42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5086350" y="3790950"/>
            <a:ext cx="6858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Market Share, 2026</a:t>
            </a:r>
          </a:p>
        </p:txBody>
      </p:sp>
      <p:graphicFrame>
        <p:nvGraphicFramePr>
          <p:cNvPr id="27" name="Chart 26"/>
          <p:cNvGraphicFramePr>
            <a:graphicFrameLocks noGrp="1"/>
          </p:cNvGraphicFramePr>
          <p:nvPr/>
        </p:nvGraphicFramePr>
        <p:xfrm>
          <a:off x="5086350" y="4019550"/>
          <a:ext cx="6858000" cy="1438275"/>
        </p:xfrm>
        <a:graphic>
          <a:graphicData uri="http://schemas.openxmlformats.org/drawingml/2006/chart">
            <c:chart xmlns:c="http://schemas.openxmlformats.org/drawingml/2006/chart" r:id="rId6"/>
          </a:graphicData>
        </a:graphic>
      </p:graphicFrame>
      <p:sp>
        <p:nvSpPr>
          <p:cNvPr id="28" name="Rounded Rectangle 27"/>
          <p:cNvSpPr/>
          <p:nvPr/>
        </p:nvSpPr>
        <p:spPr>
          <a:xfrm>
            <a:off x="142875"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29" name="Rounded Rectangle 28"/>
          <p:cNvSpPr/>
          <p:nvPr/>
        </p:nvSpPr>
        <p:spPr>
          <a:xfrm>
            <a:off x="6172200" y="5648325"/>
            <a:ext cx="5876925" cy="971550"/>
          </a:xfrm>
          <a:prstGeom prst="roundRect">
            <a:avLst>
              <a:gd name="adj" fmla="val 7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
            </a:r>
          </a:p>
        </p:txBody>
      </p:sp>
      <p:sp>
        <p:nvSpPr>
          <p:cNvPr id="30" name="TextBox 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1" name="Picture 30" descr="lock.png"/>
          <p:cNvPicPr>
            <a:picLocks noChangeAspect="1"/>
          </p:cNvPicPr>
          <p:nvPr/>
        </p:nvPicPr>
        <p:blipFill>
          <a:blip r:embed="rId8"/>
          <a:stretch>
            <a:fillRect/>
          </a:stretch>
        </p:blipFill>
        <p:spPr>
          <a:xfrm>
            <a:off x="1493044" y="1219200"/>
            <a:ext cx="157162" cy="228600"/>
          </a:xfrm>
          <a:prstGeom prst="rect">
            <a:avLst/>
          </a:prstGeom>
        </p:spPr>
      </p:pic>
      <p:pic>
        <p:nvPicPr>
          <p:cNvPr id="32" name="Picture 31" descr="lock.png"/>
          <p:cNvPicPr>
            <a:picLocks noChangeAspect="1"/>
          </p:cNvPicPr>
          <p:nvPr/>
        </p:nvPicPr>
        <p:blipFill>
          <a:blip r:embed="rId8"/>
          <a:stretch>
            <a:fillRect/>
          </a:stretch>
        </p:blipFill>
        <p:spPr>
          <a:xfrm>
            <a:off x="4502944" y="1219200"/>
            <a:ext cx="157162" cy="228600"/>
          </a:xfrm>
          <a:prstGeom prst="rect">
            <a:avLst/>
          </a:prstGeom>
        </p:spPr>
      </p:pic>
      <p:pic>
        <p:nvPicPr>
          <p:cNvPr id="33" name="Picture 32" descr="lock.png"/>
          <p:cNvPicPr>
            <a:picLocks noChangeAspect="1"/>
          </p:cNvPicPr>
          <p:nvPr/>
        </p:nvPicPr>
        <p:blipFill>
          <a:blip r:embed="rId8"/>
          <a:stretch>
            <a:fillRect/>
          </a:stretch>
        </p:blipFill>
        <p:spPr>
          <a:xfrm>
            <a:off x="7512844" y="1303020"/>
            <a:ext cx="157162" cy="228600"/>
          </a:xfrm>
          <a:prstGeom prst="rect">
            <a:avLst/>
          </a:prstGeom>
        </p:spPr>
      </p:pic>
      <p:pic>
        <p:nvPicPr>
          <p:cNvPr id="34" name="Picture 33" descr="lock.png"/>
          <p:cNvPicPr>
            <a:picLocks noChangeAspect="1"/>
          </p:cNvPicPr>
          <p:nvPr/>
        </p:nvPicPr>
        <p:blipFill>
          <a:blip r:embed="rId8"/>
          <a:stretch>
            <a:fillRect/>
          </a:stretch>
        </p:blipFill>
        <p:spPr>
          <a:xfrm>
            <a:off x="10522744" y="1303020"/>
            <a:ext cx="157162" cy="228600"/>
          </a:xfrm>
          <a:prstGeom prst="rect">
            <a:avLst/>
          </a:prstGeom>
        </p:spPr>
      </p:pic>
      <p:pic>
        <p:nvPicPr>
          <p:cNvPr id="35" name="Picture 34" descr="lock.png"/>
          <p:cNvPicPr>
            <a:picLocks noChangeAspect="1"/>
          </p:cNvPicPr>
          <p:nvPr/>
        </p:nvPicPr>
        <p:blipFill>
          <a:blip r:embed="rId8"/>
          <a:stretch>
            <a:fillRect/>
          </a:stretch>
        </p:blipFill>
        <p:spPr>
          <a:xfrm>
            <a:off x="2554414" y="2661285"/>
            <a:ext cx="165021" cy="240030"/>
          </a:xfrm>
          <a:prstGeom prst="rect">
            <a:avLst/>
          </a:prstGeom>
        </p:spPr>
      </p:pic>
      <p:pic>
        <p:nvPicPr>
          <p:cNvPr id="36" name="Picture 35" descr="lock.png"/>
          <p:cNvPicPr>
            <a:picLocks noChangeAspect="1"/>
          </p:cNvPicPr>
          <p:nvPr/>
        </p:nvPicPr>
        <p:blipFill>
          <a:blip r:embed="rId8"/>
          <a:stretch>
            <a:fillRect/>
          </a:stretch>
        </p:blipFill>
        <p:spPr>
          <a:xfrm>
            <a:off x="6762365" y="2599095"/>
            <a:ext cx="191595" cy="278683"/>
          </a:xfrm>
          <a:prstGeom prst="rect">
            <a:avLst/>
          </a:prstGeom>
        </p:spPr>
      </p:pic>
      <p:pic>
        <p:nvPicPr>
          <p:cNvPr id="37" name="Picture 36" descr="lock.png"/>
          <p:cNvPicPr>
            <a:picLocks noChangeAspect="1"/>
          </p:cNvPicPr>
          <p:nvPr/>
        </p:nvPicPr>
        <p:blipFill>
          <a:blip r:embed="rId8"/>
          <a:stretch>
            <a:fillRect/>
          </a:stretch>
        </p:blipFill>
        <p:spPr>
          <a:xfrm>
            <a:off x="9878378" y="2141220"/>
            <a:ext cx="230504" cy="335279"/>
          </a:xfrm>
          <a:prstGeom prst="rect">
            <a:avLst/>
          </a:prstGeom>
        </p:spPr>
      </p:pic>
      <p:pic>
        <p:nvPicPr>
          <p:cNvPr id="38" name="Picture 37" descr="lock.png"/>
          <p:cNvPicPr>
            <a:picLocks noChangeAspect="1"/>
          </p:cNvPicPr>
          <p:nvPr/>
        </p:nvPicPr>
        <p:blipFill>
          <a:blip r:embed="rId8"/>
          <a:stretch>
            <a:fillRect/>
          </a:stretch>
        </p:blipFill>
        <p:spPr>
          <a:xfrm>
            <a:off x="2554414" y="4575810"/>
            <a:ext cx="165021" cy="240030"/>
          </a:xfrm>
          <a:prstGeom prst="rect">
            <a:avLst/>
          </a:prstGeom>
        </p:spPr>
      </p:pic>
      <p:pic>
        <p:nvPicPr>
          <p:cNvPr id="39" name="Picture 38" descr="lock.png"/>
          <p:cNvPicPr>
            <a:picLocks noChangeAspect="1"/>
          </p:cNvPicPr>
          <p:nvPr/>
        </p:nvPicPr>
        <p:blipFill>
          <a:blip r:embed="rId8"/>
          <a:stretch>
            <a:fillRect/>
          </a:stretch>
        </p:blipFill>
        <p:spPr>
          <a:xfrm>
            <a:off x="8715708" y="4462938"/>
            <a:ext cx="261282" cy="380047"/>
          </a:xfrm>
          <a:prstGeom prst="rect">
            <a:avLst/>
          </a:prstGeom>
        </p:spPr>
      </p:pic>
      <p:sp>
        <p:nvSpPr>
          <p:cNvPr id="40" name="TextBox 39"/>
          <p:cNvSpPr txBox="1"/>
          <p:nvPr/>
        </p:nvSpPr>
        <p:spPr>
          <a:xfrm>
            <a:off x="8071485" y="2876550"/>
            <a:ext cx="1930226" cy="186689"/>
          </a:xfrm>
          <a:prstGeom prst="rect">
            <a:avLst/>
          </a:prstGeom>
          <a:noFill/>
        </p:spPr>
        <p:txBody>
          <a:bodyPr wrap="none" lIns="0" rIns="0" tIns="0" bIns="0">
            <a:spAutoFit/>
          </a:bodyPr>
          <a:lstStyle/>
          <a:p>
            <a:r>
              <a:rPr sz="1100" b="0">
                <a:solidFill>
                  <a:srgbClr val="2E2E2E"/>
                </a:solidFill>
                <a:latin typeface="Calibri"/>
              </a:rPr>
              <a:t>U.S.'s matcha market expands at</a:t>
            </a:r>
          </a:p>
        </p:txBody>
      </p:sp>
      <p:pic>
        <p:nvPicPr>
          <p:cNvPr id="41" name="Picture 40" descr="lock.png"/>
          <p:cNvPicPr>
            <a:picLocks noChangeAspect="1"/>
          </p:cNvPicPr>
          <p:nvPr/>
        </p:nvPicPr>
        <p:blipFill>
          <a:blip r:embed="rId8"/>
          <a:stretch>
            <a:fillRect/>
          </a:stretch>
        </p:blipFill>
        <p:spPr>
          <a:xfrm>
            <a:off x="9949762" y="2866771"/>
            <a:ext cx="128699" cy="187198"/>
          </a:xfrm>
          <a:prstGeom prst="rect">
            <a:avLst/>
          </a:prstGeom>
        </p:spPr>
      </p:pic>
      <p:sp>
        <p:nvSpPr>
          <p:cNvPr id="42" name="TextBox 41"/>
          <p:cNvSpPr txBox="1"/>
          <p:nvPr/>
        </p:nvSpPr>
        <p:spPr>
          <a:xfrm>
            <a:off x="10117258" y="2876550"/>
            <a:ext cx="1662814" cy="186689"/>
          </a:xfrm>
          <a:prstGeom prst="rect">
            <a:avLst/>
          </a:prstGeom>
          <a:noFill/>
        </p:spPr>
        <p:txBody>
          <a:bodyPr wrap="none" lIns="0" rIns="0" tIns="0" bIns="0">
            <a:spAutoFit/>
          </a:bodyPr>
          <a:lstStyle/>
          <a:p>
            <a:r>
              <a:rPr sz="1100" b="0">
                <a:solidFill>
                  <a:srgbClr val="2E2E2E"/>
                </a:solidFill>
                <a:latin typeface="Calibri"/>
              </a:rPr>
              <a:t>CAGR through 2036, trailing</a:t>
            </a:r>
          </a:p>
        </p:txBody>
      </p:sp>
      <p:sp>
        <p:nvSpPr>
          <p:cNvPr id="43" name="TextBox 42"/>
          <p:cNvSpPr txBox="1"/>
          <p:nvPr/>
        </p:nvSpPr>
        <p:spPr>
          <a:xfrm>
            <a:off x="8071485" y="3044190"/>
            <a:ext cx="1950963" cy="186689"/>
          </a:xfrm>
          <a:prstGeom prst="rect">
            <a:avLst/>
          </a:prstGeom>
          <a:noFill/>
        </p:spPr>
        <p:txBody>
          <a:bodyPr wrap="none" lIns="0" rIns="0" tIns="0" bIns="0">
            <a:spAutoFit/>
          </a:bodyPr>
          <a:lstStyle/>
          <a:p>
            <a:r>
              <a:rPr sz="1100" b="0">
                <a:solidFill>
                  <a:srgbClr val="2E2E2E"/>
                </a:solidFill>
                <a:latin typeface="Calibri"/>
              </a:rPr>
              <a:t>the North America benchmark of</a:t>
            </a:r>
          </a:p>
        </p:txBody>
      </p:sp>
      <p:pic>
        <p:nvPicPr>
          <p:cNvPr id="44" name="Picture 43" descr="lock.png"/>
          <p:cNvPicPr>
            <a:picLocks noChangeAspect="1"/>
          </p:cNvPicPr>
          <p:nvPr/>
        </p:nvPicPr>
        <p:blipFill>
          <a:blip r:embed="rId8"/>
          <a:stretch>
            <a:fillRect/>
          </a:stretch>
        </p:blipFill>
        <p:spPr>
          <a:xfrm>
            <a:off x="9970499" y="3034411"/>
            <a:ext cx="128699" cy="187198"/>
          </a:xfrm>
          <a:prstGeom prst="rect">
            <a:avLst/>
          </a:prstGeom>
        </p:spPr>
      </p:pic>
      <p:sp>
        <p:nvSpPr>
          <p:cNvPr id="45" name="TextBox 44"/>
          <p:cNvSpPr txBox="1"/>
          <p:nvPr/>
        </p:nvSpPr>
        <p:spPr>
          <a:xfrm>
            <a:off x="10137995" y="3044190"/>
            <a:ext cx="212898" cy="186689"/>
          </a:xfrm>
          <a:prstGeom prst="rect">
            <a:avLst/>
          </a:prstGeom>
          <a:noFill/>
        </p:spPr>
        <p:txBody>
          <a:bodyPr wrap="none" lIns="0" rIns="0" tIns="0" bIns="0">
            <a:spAutoFit/>
          </a:bodyPr>
          <a:lstStyle/>
          <a:p>
            <a:r>
              <a:rPr sz="1100" b="0">
                <a:solidFill>
                  <a:srgbClr val="2E2E2E"/>
                </a:solidFill>
                <a:latin typeface="Calibri"/>
              </a:rPr>
              <a:t>by</a:t>
            </a:r>
          </a:p>
        </p:txBody>
      </p:sp>
      <p:pic>
        <p:nvPicPr>
          <p:cNvPr id="46" name="Picture 45" descr="lock.png"/>
          <p:cNvPicPr>
            <a:picLocks noChangeAspect="1"/>
          </p:cNvPicPr>
          <p:nvPr/>
        </p:nvPicPr>
        <p:blipFill>
          <a:blip r:embed="rId8"/>
          <a:stretch>
            <a:fillRect/>
          </a:stretch>
        </p:blipFill>
        <p:spPr>
          <a:xfrm>
            <a:off x="10298945" y="3034411"/>
            <a:ext cx="128699" cy="187198"/>
          </a:xfrm>
          <a:prstGeom prst="rect">
            <a:avLst/>
          </a:prstGeom>
        </p:spPr>
      </p:pic>
      <p:sp>
        <p:nvSpPr>
          <p:cNvPr id="47" name="TextBox 46"/>
          <p:cNvSpPr txBox="1"/>
          <p:nvPr/>
        </p:nvSpPr>
        <p:spPr>
          <a:xfrm>
            <a:off x="10466441" y="3044190"/>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48" name="TextBox 47"/>
          <p:cNvSpPr txBox="1"/>
          <p:nvPr/>
        </p:nvSpPr>
        <p:spPr>
          <a:xfrm>
            <a:off x="257175" y="5966460"/>
            <a:ext cx="639365" cy="186689"/>
          </a:xfrm>
          <a:prstGeom prst="rect">
            <a:avLst/>
          </a:prstGeom>
          <a:noFill/>
        </p:spPr>
        <p:txBody>
          <a:bodyPr wrap="none" lIns="0" rIns="0" tIns="0" bIns="0">
            <a:spAutoFit/>
          </a:bodyPr>
          <a:lstStyle/>
          <a:p>
            <a:r>
              <a:rPr sz="1100" b="0">
                <a:solidFill>
                  <a:srgbClr val="2E2E2E"/>
                </a:solidFill>
                <a:latin typeface="Calibri"/>
              </a:rPr>
              <a:t>U.S. holds</a:t>
            </a:r>
          </a:p>
        </p:txBody>
      </p:sp>
      <p:pic>
        <p:nvPicPr>
          <p:cNvPr id="49" name="Picture 48" descr="lock.png"/>
          <p:cNvPicPr>
            <a:picLocks noChangeAspect="1"/>
          </p:cNvPicPr>
          <p:nvPr/>
        </p:nvPicPr>
        <p:blipFill>
          <a:blip r:embed="rId8"/>
          <a:stretch>
            <a:fillRect/>
          </a:stretch>
        </p:blipFill>
        <p:spPr>
          <a:xfrm>
            <a:off x="844592" y="5956680"/>
            <a:ext cx="128699" cy="187198"/>
          </a:xfrm>
          <a:prstGeom prst="rect">
            <a:avLst/>
          </a:prstGeom>
        </p:spPr>
      </p:pic>
      <p:sp>
        <p:nvSpPr>
          <p:cNvPr id="50" name="TextBox 49"/>
          <p:cNvSpPr txBox="1"/>
          <p:nvPr/>
        </p:nvSpPr>
        <p:spPr>
          <a:xfrm>
            <a:off x="1012088" y="5966460"/>
            <a:ext cx="1035000" cy="186689"/>
          </a:xfrm>
          <a:prstGeom prst="rect">
            <a:avLst/>
          </a:prstGeom>
          <a:noFill/>
        </p:spPr>
        <p:txBody>
          <a:bodyPr wrap="none" lIns="0" rIns="0" tIns="0" bIns="0">
            <a:spAutoFit/>
          </a:bodyPr>
          <a:lstStyle/>
          <a:p>
            <a:r>
              <a:rPr sz="1100" b="0">
                <a:solidFill>
                  <a:srgbClr val="2E2E2E"/>
                </a:solidFill>
                <a:latin typeface="Calibri"/>
              </a:rPr>
              <a:t>of the global and</a:t>
            </a:r>
          </a:p>
        </p:txBody>
      </p:sp>
      <p:pic>
        <p:nvPicPr>
          <p:cNvPr id="51" name="Picture 50" descr="lock.png"/>
          <p:cNvPicPr>
            <a:picLocks noChangeAspect="1"/>
          </p:cNvPicPr>
          <p:nvPr/>
        </p:nvPicPr>
        <p:blipFill>
          <a:blip r:embed="rId8"/>
          <a:stretch>
            <a:fillRect/>
          </a:stretch>
        </p:blipFill>
        <p:spPr>
          <a:xfrm>
            <a:off x="1995140" y="5956680"/>
            <a:ext cx="128699" cy="187198"/>
          </a:xfrm>
          <a:prstGeom prst="rect">
            <a:avLst/>
          </a:prstGeom>
        </p:spPr>
      </p:pic>
      <p:sp>
        <p:nvSpPr>
          <p:cNvPr id="52" name="TextBox 51"/>
          <p:cNvSpPr txBox="1"/>
          <p:nvPr/>
        </p:nvSpPr>
        <p:spPr>
          <a:xfrm>
            <a:off x="2162635" y="5966460"/>
            <a:ext cx="3498577" cy="186689"/>
          </a:xfrm>
          <a:prstGeom prst="rect">
            <a:avLst/>
          </a:prstGeom>
          <a:noFill/>
        </p:spPr>
        <p:txBody>
          <a:bodyPr wrap="none" lIns="0" rIns="0" tIns="0" bIns="0">
            <a:spAutoFit/>
          </a:bodyPr>
          <a:lstStyle/>
          <a:p>
            <a:r>
              <a:rPr sz="1100" b="0">
                <a:solidFill>
                  <a:srgbClr val="2E2E2E"/>
                </a:solidFill>
                <a:latin typeface="Calibri"/>
              </a:rPr>
              <a:t>of the North America matcha market in 2026; by 2036 those</a:t>
            </a:r>
          </a:p>
        </p:txBody>
      </p:sp>
      <p:sp>
        <p:nvSpPr>
          <p:cNvPr id="53" name="TextBox 52"/>
          <p:cNvSpPr txBox="1"/>
          <p:nvPr/>
        </p:nvSpPr>
        <p:spPr>
          <a:xfrm>
            <a:off x="257175" y="6134100"/>
            <a:ext cx="945777" cy="186689"/>
          </a:xfrm>
          <a:prstGeom prst="rect">
            <a:avLst/>
          </a:prstGeom>
          <a:noFill/>
        </p:spPr>
        <p:txBody>
          <a:bodyPr wrap="none" lIns="0" rIns="0" tIns="0" bIns="0">
            <a:spAutoFit/>
          </a:bodyPr>
          <a:lstStyle/>
          <a:p>
            <a:r>
              <a:rPr sz="1100" b="0">
                <a:solidFill>
                  <a:srgbClr val="2E2E2E"/>
                </a:solidFill>
                <a:latin typeface="Calibri"/>
              </a:rPr>
              <a:t>shares move to</a:t>
            </a:r>
          </a:p>
        </p:txBody>
      </p:sp>
      <p:pic>
        <p:nvPicPr>
          <p:cNvPr id="54" name="Picture 53" descr="lock.png"/>
          <p:cNvPicPr>
            <a:picLocks noChangeAspect="1"/>
          </p:cNvPicPr>
          <p:nvPr/>
        </p:nvPicPr>
        <p:blipFill>
          <a:blip r:embed="rId8"/>
          <a:stretch>
            <a:fillRect/>
          </a:stretch>
        </p:blipFill>
        <p:spPr>
          <a:xfrm>
            <a:off x="1151004" y="6124320"/>
            <a:ext cx="128699" cy="187198"/>
          </a:xfrm>
          <a:prstGeom prst="rect">
            <a:avLst/>
          </a:prstGeom>
        </p:spPr>
      </p:pic>
      <p:sp>
        <p:nvSpPr>
          <p:cNvPr id="55" name="TextBox 54"/>
          <p:cNvSpPr txBox="1"/>
          <p:nvPr/>
        </p:nvSpPr>
        <p:spPr>
          <a:xfrm>
            <a:off x="1318500" y="6134100"/>
            <a:ext cx="289842" cy="186689"/>
          </a:xfrm>
          <a:prstGeom prst="rect">
            <a:avLst/>
          </a:prstGeom>
          <a:noFill/>
        </p:spPr>
        <p:txBody>
          <a:bodyPr wrap="none" lIns="0" rIns="0" tIns="0" bIns="0">
            <a:spAutoFit/>
          </a:bodyPr>
          <a:lstStyle/>
          <a:p>
            <a:r>
              <a:rPr sz="1100" b="0">
                <a:solidFill>
                  <a:srgbClr val="2E2E2E"/>
                </a:solidFill>
                <a:latin typeface="Calibri"/>
              </a:rPr>
              <a:t>and</a:t>
            </a:r>
          </a:p>
        </p:txBody>
      </p:sp>
      <p:pic>
        <p:nvPicPr>
          <p:cNvPr id="56" name="Picture 55" descr="lock.png"/>
          <p:cNvPicPr>
            <a:picLocks noChangeAspect="1"/>
          </p:cNvPicPr>
          <p:nvPr/>
        </p:nvPicPr>
        <p:blipFill>
          <a:blip r:embed="rId8"/>
          <a:stretch>
            <a:fillRect/>
          </a:stretch>
        </p:blipFill>
        <p:spPr>
          <a:xfrm>
            <a:off x="1556394" y="6124320"/>
            <a:ext cx="128699" cy="187198"/>
          </a:xfrm>
          <a:prstGeom prst="rect">
            <a:avLst/>
          </a:prstGeom>
        </p:spPr>
      </p:pic>
      <p:sp>
        <p:nvSpPr>
          <p:cNvPr id="57" name="TextBox 56"/>
          <p:cNvSpPr txBox="1"/>
          <p:nvPr/>
        </p:nvSpPr>
        <p:spPr>
          <a:xfrm>
            <a:off x="1723890" y="6134100"/>
            <a:ext cx="793799" cy="186689"/>
          </a:xfrm>
          <a:prstGeom prst="rect">
            <a:avLst/>
          </a:prstGeom>
          <a:noFill/>
        </p:spPr>
        <p:txBody>
          <a:bodyPr wrap="none" lIns="0" rIns="0" tIns="0" bIns="0">
            <a:spAutoFit/>
          </a:bodyPr>
          <a:lstStyle/>
          <a:p>
            <a:r>
              <a:rPr sz="1100" b="0">
                <a:solidFill>
                  <a:srgbClr val="2E2E2E"/>
                </a:solidFill>
                <a:latin typeface="Calibri"/>
              </a:rPr>
              <a:t>respectively.</a:t>
            </a:r>
          </a:p>
        </p:txBody>
      </p:sp>
      <p:sp>
        <p:nvSpPr>
          <p:cNvPr id="58" name="TextBox 57"/>
          <p:cNvSpPr txBox="1"/>
          <p:nvPr/>
        </p:nvSpPr>
        <p:spPr>
          <a:xfrm>
            <a:off x="6286500" y="5882640"/>
            <a:ext cx="3103215" cy="186689"/>
          </a:xfrm>
          <a:prstGeom prst="rect">
            <a:avLst/>
          </a:prstGeom>
          <a:noFill/>
        </p:spPr>
        <p:txBody>
          <a:bodyPr wrap="none" lIns="0" rIns="0" tIns="0" bIns="0">
            <a:spAutoFit/>
          </a:bodyPr>
          <a:lstStyle/>
          <a:p>
            <a:r>
              <a:rPr sz="1100" b="0">
                <a:solidFill>
                  <a:srgbClr val="2E2E2E"/>
                </a:solidFill>
                <a:latin typeface="Calibri"/>
              </a:rPr>
              <a:t>The market in the U.S. is expected to account for US$</a:t>
            </a:r>
          </a:p>
        </p:txBody>
      </p:sp>
      <p:pic>
        <p:nvPicPr>
          <p:cNvPr id="59" name="Picture 58" descr="lock.png"/>
          <p:cNvPicPr>
            <a:picLocks noChangeAspect="1"/>
          </p:cNvPicPr>
          <p:nvPr/>
        </p:nvPicPr>
        <p:blipFill>
          <a:blip r:embed="rId8"/>
          <a:stretch>
            <a:fillRect/>
          </a:stretch>
        </p:blipFill>
        <p:spPr>
          <a:xfrm>
            <a:off x="9337766" y="5872860"/>
            <a:ext cx="128699" cy="187198"/>
          </a:xfrm>
          <a:prstGeom prst="rect">
            <a:avLst/>
          </a:prstGeom>
        </p:spPr>
      </p:pic>
      <p:sp>
        <p:nvSpPr>
          <p:cNvPr id="60" name="TextBox 59"/>
          <p:cNvSpPr txBox="1"/>
          <p:nvPr/>
        </p:nvSpPr>
        <p:spPr>
          <a:xfrm>
            <a:off x="9505262" y="5882640"/>
            <a:ext cx="1495556" cy="186689"/>
          </a:xfrm>
          <a:prstGeom prst="rect">
            <a:avLst/>
          </a:prstGeom>
          <a:noFill/>
        </p:spPr>
        <p:txBody>
          <a:bodyPr wrap="none" lIns="0" rIns="0" tIns="0" bIns="0">
            <a:spAutoFit/>
          </a:bodyPr>
          <a:lstStyle/>
          <a:p>
            <a:r>
              <a:rPr sz="1100" b="0">
                <a:solidFill>
                  <a:srgbClr val="2E2E2E"/>
                </a:solidFill>
                <a:latin typeface="Calibri"/>
              </a:rPr>
              <a:t>Mn by 2036 at a CAGR of</a:t>
            </a:r>
          </a:p>
        </p:txBody>
      </p:sp>
      <p:pic>
        <p:nvPicPr>
          <p:cNvPr id="61" name="Picture 60" descr="lock.png"/>
          <p:cNvPicPr>
            <a:picLocks noChangeAspect="1"/>
          </p:cNvPicPr>
          <p:nvPr/>
        </p:nvPicPr>
        <p:blipFill>
          <a:blip r:embed="rId8"/>
          <a:stretch>
            <a:fillRect/>
          </a:stretch>
        </p:blipFill>
        <p:spPr>
          <a:xfrm>
            <a:off x="10948871" y="5872860"/>
            <a:ext cx="128699" cy="187198"/>
          </a:xfrm>
          <a:prstGeom prst="rect">
            <a:avLst/>
          </a:prstGeom>
        </p:spPr>
      </p:pic>
      <p:sp>
        <p:nvSpPr>
          <p:cNvPr id="62" name="TextBox 61"/>
          <p:cNvSpPr txBox="1"/>
          <p:nvPr/>
        </p:nvSpPr>
        <p:spPr>
          <a:xfrm>
            <a:off x="11116366" y="5882640"/>
            <a:ext cx="552871" cy="186689"/>
          </a:xfrm>
          <a:prstGeom prst="rect">
            <a:avLst/>
          </a:prstGeom>
          <a:noFill/>
        </p:spPr>
        <p:txBody>
          <a:bodyPr wrap="none" lIns="0" rIns="0" tIns="0" bIns="0">
            <a:spAutoFit/>
          </a:bodyPr>
          <a:lstStyle/>
          <a:p>
            <a:r>
              <a:rPr sz="1100" b="0">
                <a:solidFill>
                  <a:srgbClr val="2E2E2E"/>
                </a:solidFill>
                <a:latin typeface="Calibri"/>
              </a:rPr>
              <a:t>over the</a:t>
            </a:r>
          </a:p>
        </p:txBody>
      </p:sp>
      <p:sp>
        <p:nvSpPr>
          <p:cNvPr id="63" name="TextBox 62"/>
          <p:cNvSpPr txBox="1"/>
          <p:nvPr/>
        </p:nvSpPr>
        <p:spPr>
          <a:xfrm>
            <a:off x="6286500" y="6050280"/>
            <a:ext cx="4694758" cy="186689"/>
          </a:xfrm>
          <a:prstGeom prst="rect">
            <a:avLst/>
          </a:prstGeom>
          <a:noFill/>
        </p:spPr>
        <p:txBody>
          <a:bodyPr wrap="none" lIns="0" rIns="0" tIns="0" bIns="0">
            <a:spAutoFit/>
          </a:bodyPr>
          <a:lstStyle/>
          <a:p>
            <a:r>
              <a:rPr sz="1100" b="0">
                <a:solidFill>
                  <a:srgbClr val="2E2E2E"/>
                </a:solidFill>
                <a:latin typeface="Calibri"/>
              </a:rPr>
              <a:t>forecast period. The U.S. is expected to create an incremental opportunity of US$</a:t>
            </a:r>
          </a:p>
        </p:txBody>
      </p:sp>
      <p:pic>
        <p:nvPicPr>
          <p:cNvPr id="64" name="Picture 63" descr="lock.png"/>
          <p:cNvPicPr>
            <a:picLocks noChangeAspect="1"/>
          </p:cNvPicPr>
          <p:nvPr/>
        </p:nvPicPr>
        <p:blipFill>
          <a:blip r:embed="rId8"/>
          <a:stretch>
            <a:fillRect/>
          </a:stretch>
        </p:blipFill>
        <p:spPr>
          <a:xfrm>
            <a:off x="10929309" y="6040501"/>
            <a:ext cx="128699" cy="187198"/>
          </a:xfrm>
          <a:prstGeom prst="rect">
            <a:avLst/>
          </a:prstGeom>
        </p:spPr>
      </p:pic>
      <p:sp>
        <p:nvSpPr>
          <p:cNvPr id="65" name="TextBox 64"/>
          <p:cNvSpPr txBox="1"/>
          <p:nvPr/>
        </p:nvSpPr>
        <p:spPr>
          <a:xfrm>
            <a:off x="11096805" y="6050280"/>
            <a:ext cx="687387" cy="186689"/>
          </a:xfrm>
          <a:prstGeom prst="rect">
            <a:avLst/>
          </a:prstGeom>
          <a:noFill/>
        </p:spPr>
        <p:txBody>
          <a:bodyPr wrap="none" lIns="0" rIns="0" tIns="0" bIns="0">
            <a:spAutoFit/>
          </a:bodyPr>
          <a:lstStyle/>
          <a:p>
            <a:r>
              <a:rPr sz="1100" b="0">
                <a:solidFill>
                  <a:srgbClr val="2E2E2E"/>
                </a:solidFill>
                <a:latin typeface="Calibri"/>
              </a:rPr>
              <a:t>Mn for the</a:t>
            </a:r>
          </a:p>
        </p:txBody>
      </p:sp>
      <p:sp>
        <p:nvSpPr>
          <p:cNvPr id="66" name="TextBox 65"/>
          <p:cNvSpPr txBox="1"/>
          <p:nvPr/>
        </p:nvSpPr>
        <p:spPr>
          <a:xfrm>
            <a:off x="6286500" y="6217920"/>
            <a:ext cx="2484660" cy="186689"/>
          </a:xfrm>
          <a:prstGeom prst="rect">
            <a:avLst/>
          </a:prstGeom>
          <a:noFill/>
        </p:spPr>
        <p:txBody>
          <a:bodyPr wrap="none" lIns="0" rIns="0" tIns="0" bIns="0">
            <a:spAutoFit/>
          </a:bodyPr>
          <a:lstStyle/>
          <a:p>
            <a:r>
              <a:rPr sz="1100" b="0">
                <a:solidFill>
                  <a:srgbClr val="2E2E2E"/>
                </a:solidFill>
                <a:latin typeface="Calibri"/>
              </a:rPr>
              <a:t>overall matcha market from 2025 to 2036.</a:t>
            </a:r>
          </a:p>
        </p:txBody>
      </p:sp>
      <p:sp>
        <p:nvSpPr>
          <p:cNvPr id="67" name="lockshield_16"/>
          <p:cNvSpPr/>
          <p:nvPr/>
        </p:nvSpPr>
        <p:spPr>
          <a:xfrm>
            <a:off x="238125" y="2105025"/>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lockshield_19"/>
          <p:cNvSpPr/>
          <p:nvPr/>
        </p:nvSpPr>
        <p:spPr>
          <a:xfrm>
            <a:off x="5086350" y="2105025"/>
            <a:ext cx="288036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lockshield_24"/>
          <p:cNvSpPr/>
          <p:nvPr/>
        </p:nvSpPr>
        <p:spPr>
          <a:xfrm>
            <a:off x="238125" y="4019550"/>
            <a:ext cx="4505325"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lockshield_27"/>
          <p:cNvSpPr/>
          <p:nvPr/>
        </p:nvSpPr>
        <p:spPr>
          <a:xfrm>
            <a:off x="5086350" y="4019550"/>
            <a:ext cx="6858000" cy="14382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Key Segments Overview, By Value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Nature  (US$ Mn)</a:t>
            </a:r>
          </a:p>
        </p:txBody>
      </p:sp>
      <p:graphicFrame>
        <p:nvGraphicFramePr>
          <p:cNvPr id="12" name="Chart 11"/>
          <p:cNvGraphicFramePr>
            <a:graphicFrameLocks noGrp="1"/>
          </p:cNvGraphicFramePr>
          <p:nvPr/>
        </p:nvGraphicFramePr>
        <p:xfrm>
          <a:off x="238125" y="1266825"/>
          <a:ext cx="2667000" cy="1704975"/>
        </p:xfrm>
        <a:graphic>
          <a:graphicData uri="http://schemas.openxmlformats.org/drawingml/2006/chart">
            <c:chart xmlns:c="http://schemas.openxmlformats.org/drawingml/2006/chart" r:id="rId3"/>
          </a:graphicData>
        </a:graphic>
      </p:graphicFrame>
      <p:sp>
        <p:nvSpPr>
          <p:cNvPr id="13" name="Rounded Rectangle 12"/>
          <p:cNvSpPr/>
          <p:nvPr/>
        </p:nvSpPr>
        <p:spPr>
          <a:xfrm>
            <a:off x="31527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32480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Product Type  (US$ Mn)</a:t>
            </a:r>
          </a:p>
        </p:txBody>
      </p:sp>
      <p:graphicFrame>
        <p:nvGraphicFramePr>
          <p:cNvPr id="15" name="Chart 14"/>
          <p:cNvGraphicFramePr>
            <a:graphicFrameLocks noGrp="1"/>
          </p:cNvGraphicFramePr>
          <p:nvPr/>
        </p:nvGraphicFramePr>
        <p:xfrm>
          <a:off x="3248025" y="1266825"/>
          <a:ext cx="2667000" cy="1704975"/>
        </p:xfrm>
        <a:graphic>
          <a:graphicData uri="http://schemas.openxmlformats.org/drawingml/2006/chart">
            <c:chart xmlns:c="http://schemas.openxmlformats.org/drawingml/2006/chart" r:id="rId4"/>
          </a:graphicData>
        </a:graphic>
      </p:graphicFrame>
      <p:sp>
        <p:nvSpPr>
          <p:cNvPr id="16" name="Rounded Rectangle 15"/>
          <p:cNvSpPr/>
          <p:nvPr/>
        </p:nvSpPr>
        <p:spPr>
          <a:xfrm>
            <a:off x="61626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62579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Form  (US$ Mn)</a:t>
            </a:r>
          </a:p>
        </p:txBody>
      </p:sp>
      <p:graphicFrame>
        <p:nvGraphicFramePr>
          <p:cNvPr id="18" name="Chart 17"/>
          <p:cNvGraphicFramePr>
            <a:graphicFrameLocks noGrp="1"/>
          </p:cNvGraphicFramePr>
          <p:nvPr/>
        </p:nvGraphicFramePr>
        <p:xfrm>
          <a:off x="6257925" y="1266825"/>
          <a:ext cx="2667000" cy="1704975"/>
        </p:xfrm>
        <a:graphic>
          <a:graphicData uri="http://schemas.openxmlformats.org/drawingml/2006/chart">
            <c:chart xmlns:c="http://schemas.openxmlformats.org/drawingml/2006/chart" r:id="rId5"/>
          </a:graphicData>
        </a:graphic>
      </p:graphicFrame>
      <p:sp>
        <p:nvSpPr>
          <p:cNvPr id="19" name="Rounded Rectangle 18"/>
          <p:cNvSpPr/>
          <p:nvPr/>
        </p:nvSpPr>
        <p:spPr>
          <a:xfrm>
            <a:off x="9172575" y="981075"/>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9267825" y="1038225"/>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Flavour  (US$ Mn)</a:t>
            </a:r>
          </a:p>
        </p:txBody>
      </p:sp>
      <p:graphicFrame>
        <p:nvGraphicFramePr>
          <p:cNvPr id="21" name="Chart 20"/>
          <p:cNvGraphicFramePr>
            <a:graphicFrameLocks noGrp="1"/>
          </p:cNvGraphicFramePr>
          <p:nvPr/>
        </p:nvGraphicFramePr>
        <p:xfrm>
          <a:off x="9267825" y="1266825"/>
          <a:ext cx="2667000" cy="1704975"/>
        </p:xfrm>
        <a:graphic>
          <a:graphicData uri="http://schemas.openxmlformats.org/drawingml/2006/chart">
            <c:chart xmlns:c="http://schemas.openxmlformats.org/drawingml/2006/chart" r:id="rId6"/>
          </a:graphicData>
        </a:graphic>
      </p:graphicFrame>
      <p:sp>
        <p:nvSpPr>
          <p:cNvPr id="22" name="Rounded Rectangle 21"/>
          <p:cNvSpPr/>
          <p:nvPr/>
        </p:nvSpPr>
        <p:spPr>
          <a:xfrm>
            <a:off x="142875" y="3162300"/>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38125" y="3219450"/>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Packaging Type  (US$ Mn)</a:t>
            </a:r>
          </a:p>
        </p:txBody>
      </p:sp>
      <p:graphicFrame>
        <p:nvGraphicFramePr>
          <p:cNvPr id="24" name="Chart 23"/>
          <p:cNvGraphicFramePr>
            <a:graphicFrameLocks noGrp="1"/>
          </p:cNvGraphicFramePr>
          <p:nvPr/>
        </p:nvGraphicFramePr>
        <p:xfrm>
          <a:off x="238125" y="3448050"/>
          <a:ext cx="2667000" cy="1704975"/>
        </p:xfrm>
        <a:graphic>
          <a:graphicData uri="http://schemas.openxmlformats.org/drawingml/2006/chart">
            <c:chart xmlns:c="http://schemas.openxmlformats.org/drawingml/2006/chart" r:id="rId7"/>
          </a:graphicData>
        </a:graphic>
      </p:graphicFrame>
      <p:sp>
        <p:nvSpPr>
          <p:cNvPr id="25" name="Rounded Rectangle 24"/>
          <p:cNvSpPr/>
          <p:nvPr/>
        </p:nvSpPr>
        <p:spPr>
          <a:xfrm>
            <a:off x="3152775" y="3162300"/>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3248025" y="3219450"/>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Grade Type  (US$ Mn)</a:t>
            </a:r>
          </a:p>
        </p:txBody>
      </p:sp>
      <p:graphicFrame>
        <p:nvGraphicFramePr>
          <p:cNvPr id="27" name="Chart 26"/>
          <p:cNvGraphicFramePr>
            <a:graphicFrameLocks noGrp="1"/>
          </p:cNvGraphicFramePr>
          <p:nvPr/>
        </p:nvGraphicFramePr>
        <p:xfrm>
          <a:off x="3248025" y="3448050"/>
          <a:ext cx="2667000" cy="1704975"/>
        </p:xfrm>
        <a:graphic>
          <a:graphicData uri="http://schemas.openxmlformats.org/drawingml/2006/chart">
            <c:chart xmlns:c="http://schemas.openxmlformats.org/drawingml/2006/chart" r:id="rId8"/>
          </a:graphicData>
        </a:graphic>
      </p:graphicFrame>
      <p:sp>
        <p:nvSpPr>
          <p:cNvPr id="28" name="Rounded Rectangle 27"/>
          <p:cNvSpPr/>
          <p:nvPr/>
        </p:nvSpPr>
        <p:spPr>
          <a:xfrm>
            <a:off x="6162675" y="3162300"/>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6257925" y="3219450"/>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Application  (US$ Mn)</a:t>
            </a:r>
          </a:p>
        </p:txBody>
      </p:sp>
      <p:graphicFrame>
        <p:nvGraphicFramePr>
          <p:cNvPr id="30" name="Chart 29"/>
          <p:cNvGraphicFramePr>
            <a:graphicFrameLocks noGrp="1"/>
          </p:cNvGraphicFramePr>
          <p:nvPr/>
        </p:nvGraphicFramePr>
        <p:xfrm>
          <a:off x="6257925" y="3448050"/>
          <a:ext cx="2667000" cy="1704975"/>
        </p:xfrm>
        <a:graphic>
          <a:graphicData uri="http://schemas.openxmlformats.org/drawingml/2006/chart">
            <c:chart xmlns:c="http://schemas.openxmlformats.org/drawingml/2006/chart" r:id="rId9"/>
          </a:graphicData>
        </a:graphic>
      </p:graphicFrame>
      <p:sp>
        <p:nvSpPr>
          <p:cNvPr id="31" name="Rounded Rectangle 30"/>
          <p:cNvSpPr/>
          <p:nvPr/>
        </p:nvSpPr>
        <p:spPr>
          <a:xfrm>
            <a:off x="9172575" y="3162300"/>
            <a:ext cx="2857500" cy="2047875"/>
          </a:xfrm>
          <a:prstGeom prst="roundRect">
            <a:avLst>
              <a:gd name="adj" fmla="val 372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9267825" y="3219450"/>
            <a:ext cx="2667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By Distribution Channel  (US$ Mn)</a:t>
            </a:r>
          </a:p>
        </p:txBody>
      </p:sp>
      <p:graphicFrame>
        <p:nvGraphicFramePr>
          <p:cNvPr id="33" name="Chart 32"/>
          <p:cNvGraphicFramePr>
            <a:graphicFrameLocks noGrp="1"/>
          </p:cNvGraphicFramePr>
          <p:nvPr/>
        </p:nvGraphicFramePr>
        <p:xfrm>
          <a:off x="9267825" y="3448050"/>
          <a:ext cx="2667000" cy="1704975"/>
        </p:xfrm>
        <a:graphic>
          <a:graphicData uri="http://schemas.openxmlformats.org/drawingml/2006/chart">
            <c:chart xmlns:c="http://schemas.openxmlformats.org/drawingml/2006/chart" r:id="rId10"/>
          </a:graphicData>
        </a:graphic>
      </p:graphicFrame>
      <p:sp>
        <p:nvSpPr>
          <p:cNvPr id="34" name="Rounded Rectangle 33"/>
          <p:cNvSpPr/>
          <p:nvPr/>
        </p:nvSpPr>
        <p:spPr>
          <a:xfrm>
            <a:off x="142875" y="5343525"/>
            <a:ext cx="11906250" cy="1276350"/>
          </a:xfrm>
          <a:prstGeom prst="roundRect">
            <a:avLst>
              <a:gd name="adj" fmla="val 597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276225" y="542925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36" name="Rectangle 35"/>
          <p:cNvSpPr/>
          <p:nvPr/>
        </p:nvSpPr>
        <p:spPr>
          <a:xfrm>
            <a:off x="276225" y="566737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76225" y="5753100"/>
            <a:ext cx="11639550" cy="7905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38" name="TextBox 3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9" name="Picture 38" descr="lock.png"/>
          <p:cNvPicPr>
            <a:picLocks noChangeAspect="1"/>
          </p:cNvPicPr>
          <p:nvPr/>
        </p:nvPicPr>
        <p:blipFill>
          <a:blip r:embed="rId12"/>
          <a:stretch>
            <a:fillRect/>
          </a:stretch>
        </p:blipFill>
        <p:spPr>
          <a:xfrm>
            <a:off x="1811655" y="1900237"/>
            <a:ext cx="183356" cy="266700"/>
          </a:xfrm>
          <a:prstGeom prst="rect">
            <a:avLst/>
          </a:prstGeom>
        </p:spPr>
      </p:pic>
      <p:pic>
        <p:nvPicPr>
          <p:cNvPr id="40" name="Picture 39" descr="lock.png"/>
          <p:cNvPicPr>
            <a:picLocks noChangeAspect="1"/>
          </p:cNvPicPr>
          <p:nvPr/>
        </p:nvPicPr>
        <p:blipFill>
          <a:blip r:embed="rId12"/>
          <a:stretch>
            <a:fillRect/>
          </a:stretch>
        </p:blipFill>
        <p:spPr>
          <a:xfrm>
            <a:off x="4821555" y="1900237"/>
            <a:ext cx="183356" cy="266700"/>
          </a:xfrm>
          <a:prstGeom prst="rect">
            <a:avLst/>
          </a:prstGeom>
        </p:spPr>
      </p:pic>
      <p:pic>
        <p:nvPicPr>
          <p:cNvPr id="41" name="Picture 40" descr="lock.png"/>
          <p:cNvPicPr>
            <a:picLocks noChangeAspect="1"/>
          </p:cNvPicPr>
          <p:nvPr/>
        </p:nvPicPr>
        <p:blipFill>
          <a:blip r:embed="rId12"/>
          <a:stretch>
            <a:fillRect/>
          </a:stretch>
        </p:blipFill>
        <p:spPr>
          <a:xfrm>
            <a:off x="7831455" y="1900237"/>
            <a:ext cx="183356" cy="266700"/>
          </a:xfrm>
          <a:prstGeom prst="rect">
            <a:avLst/>
          </a:prstGeom>
        </p:spPr>
      </p:pic>
      <p:pic>
        <p:nvPicPr>
          <p:cNvPr id="42" name="Picture 41" descr="lock.png"/>
          <p:cNvPicPr>
            <a:picLocks noChangeAspect="1"/>
          </p:cNvPicPr>
          <p:nvPr/>
        </p:nvPicPr>
        <p:blipFill>
          <a:blip r:embed="rId12"/>
          <a:stretch>
            <a:fillRect/>
          </a:stretch>
        </p:blipFill>
        <p:spPr>
          <a:xfrm>
            <a:off x="10841355" y="1900237"/>
            <a:ext cx="183356" cy="266700"/>
          </a:xfrm>
          <a:prstGeom prst="rect">
            <a:avLst/>
          </a:prstGeom>
        </p:spPr>
      </p:pic>
      <p:pic>
        <p:nvPicPr>
          <p:cNvPr id="43" name="Picture 42" descr="lock.png"/>
          <p:cNvPicPr>
            <a:picLocks noChangeAspect="1"/>
          </p:cNvPicPr>
          <p:nvPr/>
        </p:nvPicPr>
        <p:blipFill>
          <a:blip r:embed="rId12"/>
          <a:stretch>
            <a:fillRect/>
          </a:stretch>
        </p:blipFill>
        <p:spPr>
          <a:xfrm>
            <a:off x="1811655" y="4081462"/>
            <a:ext cx="183356" cy="266700"/>
          </a:xfrm>
          <a:prstGeom prst="rect">
            <a:avLst/>
          </a:prstGeom>
        </p:spPr>
      </p:pic>
      <p:pic>
        <p:nvPicPr>
          <p:cNvPr id="44" name="Picture 43" descr="lock.png"/>
          <p:cNvPicPr>
            <a:picLocks noChangeAspect="1"/>
          </p:cNvPicPr>
          <p:nvPr/>
        </p:nvPicPr>
        <p:blipFill>
          <a:blip r:embed="rId12"/>
          <a:stretch>
            <a:fillRect/>
          </a:stretch>
        </p:blipFill>
        <p:spPr>
          <a:xfrm>
            <a:off x="4821555" y="4081462"/>
            <a:ext cx="183356" cy="266700"/>
          </a:xfrm>
          <a:prstGeom prst="rect">
            <a:avLst/>
          </a:prstGeom>
        </p:spPr>
      </p:pic>
      <p:pic>
        <p:nvPicPr>
          <p:cNvPr id="45" name="Picture 44" descr="lock.png"/>
          <p:cNvPicPr>
            <a:picLocks noChangeAspect="1"/>
          </p:cNvPicPr>
          <p:nvPr/>
        </p:nvPicPr>
        <p:blipFill>
          <a:blip r:embed="rId12"/>
          <a:stretch>
            <a:fillRect/>
          </a:stretch>
        </p:blipFill>
        <p:spPr>
          <a:xfrm>
            <a:off x="7831455" y="4081462"/>
            <a:ext cx="183356" cy="266700"/>
          </a:xfrm>
          <a:prstGeom prst="rect">
            <a:avLst/>
          </a:prstGeom>
        </p:spPr>
      </p:pic>
      <p:pic>
        <p:nvPicPr>
          <p:cNvPr id="46" name="Picture 45" descr="lock.png"/>
          <p:cNvPicPr>
            <a:picLocks noChangeAspect="1"/>
          </p:cNvPicPr>
          <p:nvPr/>
        </p:nvPicPr>
        <p:blipFill>
          <a:blip r:embed="rId12"/>
          <a:stretch>
            <a:fillRect/>
          </a:stretch>
        </p:blipFill>
        <p:spPr>
          <a:xfrm>
            <a:off x="10841355" y="4081462"/>
            <a:ext cx="183356" cy="266700"/>
          </a:xfrm>
          <a:prstGeom prst="rect">
            <a:avLst/>
          </a:prstGeom>
        </p:spPr>
      </p:pic>
      <p:sp>
        <p:nvSpPr>
          <p:cNvPr id="47" name="TextBox 46"/>
          <p:cNvSpPr txBox="1"/>
          <p:nvPr/>
        </p:nvSpPr>
        <p:spPr>
          <a:xfrm>
            <a:off x="276225" y="543877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48" name="Picture 47" descr="lock.png"/>
          <p:cNvPicPr>
            <a:picLocks noChangeAspect="1"/>
          </p:cNvPicPr>
          <p:nvPr/>
        </p:nvPicPr>
        <p:blipFill>
          <a:blip r:embed="rId12"/>
          <a:stretch>
            <a:fillRect/>
          </a:stretch>
        </p:blipFill>
        <p:spPr>
          <a:xfrm>
            <a:off x="1688698" y="5430453"/>
            <a:ext cx="109510" cy="159288"/>
          </a:xfrm>
          <a:prstGeom prst="rect">
            <a:avLst/>
          </a:prstGeom>
        </p:spPr>
      </p:pic>
      <p:sp>
        <p:nvSpPr>
          <p:cNvPr id="49" name="TextBox 48"/>
          <p:cNvSpPr txBox="1"/>
          <p:nvPr/>
        </p:nvSpPr>
        <p:spPr>
          <a:xfrm>
            <a:off x="1831222" y="543877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50" name="TextBox 49"/>
          <p:cNvSpPr txBox="1"/>
          <p:nvPr/>
        </p:nvSpPr>
        <p:spPr>
          <a:xfrm>
            <a:off x="276225" y="5762625"/>
            <a:ext cx="1841614" cy="194310"/>
          </a:xfrm>
          <a:prstGeom prst="rect">
            <a:avLst/>
          </a:prstGeom>
          <a:noFill/>
        </p:spPr>
        <p:txBody>
          <a:bodyPr wrap="none" lIns="0" rIns="0" tIns="0" bIns="0">
            <a:spAutoFit/>
          </a:bodyPr>
          <a:lstStyle/>
          <a:p>
            <a:r>
              <a:rPr sz="1150" b="0">
                <a:solidFill>
                  <a:srgbClr val="2E2E2E"/>
                </a:solidFill>
                <a:latin typeface="Calibri"/>
              </a:rPr>
              <a:t>▪ By Nature, 'Organic' leads at</a:t>
            </a:r>
          </a:p>
        </p:txBody>
      </p:sp>
      <p:pic>
        <p:nvPicPr>
          <p:cNvPr id="51" name="Picture 50" descr="lock.png"/>
          <p:cNvPicPr>
            <a:picLocks noChangeAspect="1"/>
          </p:cNvPicPr>
          <p:nvPr/>
        </p:nvPicPr>
        <p:blipFill>
          <a:blip r:embed="rId12"/>
          <a:stretch>
            <a:fillRect/>
          </a:stretch>
        </p:blipFill>
        <p:spPr>
          <a:xfrm>
            <a:off x="2066993" y="5752401"/>
            <a:ext cx="134549" cy="195707"/>
          </a:xfrm>
          <a:prstGeom prst="rect">
            <a:avLst/>
          </a:prstGeom>
        </p:spPr>
      </p:pic>
      <p:sp>
        <p:nvSpPr>
          <p:cNvPr id="52" name="TextBox 51"/>
          <p:cNvSpPr txBox="1"/>
          <p:nvPr/>
        </p:nvSpPr>
        <p:spPr>
          <a:xfrm>
            <a:off x="2242102" y="5762625"/>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53" name="Picture 52" descr="lock.png"/>
          <p:cNvPicPr>
            <a:picLocks noChangeAspect="1"/>
          </p:cNvPicPr>
          <p:nvPr/>
        </p:nvPicPr>
        <p:blipFill>
          <a:blip r:embed="rId12"/>
          <a:stretch>
            <a:fillRect/>
          </a:stretch>
        </p:blipFill>
        <p:spPr>
          <a:xfrm>
            <a:off x="2814573" y="5752401"/>
            <a:ext cx="134549" cy="195707"/>
          </a:xfrm>
          <a:prstGeom prst="rect">
            <a:avLst/>
          </a:prstGeom>
        </p:spPr>
      </p:pic>
      <p:sp>
        <p:nvSpPr>
          <p:cNvPr id="54" name="TextBox 53"/>
          <p:cNvSpPr txBox="1"/>
          <p:nvPr/>
        </p:nvSpPr>
        <p:spPr>
          <a:xfrm>
            <a:off x="2989682" y="5762625"/>
            <a:ext cx="1999952" cy="194310"/>
          </a:xfrm>
          <a:prstGeom prst="rect">
            <a:avLst/>
          </a:prstGeom>
          <a:noFill/>
        </p:spPr>
        <p:txBody>
          <a:bodyPr wrap="none" lIns="0" rIns="0" tIns="0" bIns="0">
            <a:spAutoFit/>
          </a:bodyPr>
          <a:lstStyle/>
          <a:p>
            <a:r>
              <a:rPr sz="1150" b="0">
                <a:solidFill>
                  <a:srgbClr val="2E2E2E"/>
                </a:solidFill>
                <a:latin typeface="Calibri"/>
              </a:rPr>
              <a:t>share), ahead of 'Conventional' (</a:t>
            </a:r>
          </a:p>
        </p:txBody>
      </p:sp>
      <p:pic>
        <p:nvPicPr>
          <p:cNvPr id="55" name="Picture 54" descr="lock.png"/>
          <p:cNvPicPr>
            <a:picLocks noChangeAspect="1"/>
          </p:cNvPicPr>
          <p:nvPr/>
        </p:nvPicPr>
        <p:blipFill>
          <a:blip r:embed="rId12"/>
          <a:stretch>
            <a:fillRect/>
          </a:stretch>
        </p:blipFill>
        <p:spPr>
          <a:xfrm>
            <a:off x="4938788" y="5752401"/>
            <a:ext cx="134549" cy="195707"/>
          </a:xfrm>
          <a:prstGeom prst="rect">
            <a:avLst/>
          </a:prstGeom>
        </p:spPr>
      </p:pic>
      <p:sp>
        <p:nvSpPr>
          <p:cNvPr id="56" name="TextBox 55"/>
          <p:cNvSpPr txBox="1"/>
          <p:nvPr/>
        </p:nvSpPr>
        <p:spPr>
          <a:xfrm>
            <a:off x="5113898" y="5762625"/>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57" name="TextBox 56"/>
          <p:cNvSpPr txBox="1"/>
          <p:nvPr/>
        </p:nvSpPr>
        <p:spPr>
          <a:xfrm>
            <a:off x="276225" y="5990463"/>
            <a:ext cx="2456621" cy="194310"/>
          </a:xfrm>
          <a:prstGeom prst="rect">
            <a:avLst/>
          </a:prstGeom>
          <a:noFill/>
        </p:spPr>
        <p:txBody>
          <a:bodyPr wrap="none" lIns="0" rIns="0" tIns="0" bIns="0">
            <a:spAutoFit/>
          </a:bodyPr>
          <a:lstStyle/>
          <a:p>
            <a:r>
              <a:rPr sz="1150" b="0">
                <a:solidFill>
                  <a:srgbClr val="2E2E2E"/>
                </a:solidFill>
                <a:latin typeface="Calibri"/>
              </a:rPr>
              <a:t>▪ By Product Type, 'Matcha Tea' leads at</a:t>
            </a:r>
          </a:p>
        </p:txBody>
      </p:sp>
      <p:pic>
        <p:nvPicPr>
          <p:cNvPr id="58" name="Picture 57" descr="lock.png"/>
          <p:cNvPicPr>
            <a:picLocks noChangeAspect="1"/>
          </p:cNvPicPr>
          <p:nvPr/>
        </p:nvPicPr>
        <p:blipFill>
          <a:blip r:embed="rId12"/>
          <a:stretch>
            <a:fillRect/>
          </a:stretch>
        </p:blipFill>
        <p:spPr>
          <a:xfrm>
            <a:off x="2682000" y="5980239"/>
            <a:ext cx="134549" cy="195707"/>
          </a:xfrm>
          <a:prstGeom prst="rect">
            <a:avLst/>
          </a:prstGeom>
        </p:spPr>
      </p:pic>
      <p:sp>
        <p:nvSpPr>
          <p:cNvPr id="59" name="TextBox 58"/>
          <p:cNvSpPr txBox="1"/>
          <p:nvPr/>
        </p:nvSpPr>
        <p:spPr>
          <a:xfrm>
            <a:off x="2857109" y="5990463"/>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60" name="Picture 59" descr="lock.png"/>
          <p:cNvPicPr>
            <a:picLocks noChangeAspect="1"/>
          </p:cNvPicPr>
          <p:nvPr/>
        </p:nvPicPr>
        <p:blipFill>
          <a:blip r:embed="rId12"/>
          <a:stretch>
            <a:fillRect/>
          </a:stretch>
        </p:blipFill>
        <p:spPr>
          <a:xfrm>
            <a:off x="3429580" y="5980239"/>
            <a:ext cx="134549" cy="195707"/>
          </a:xfrm>
          <a:prstGeom prst="rect">
            <a:avLst/>
          </a:prstGeom>
        </p:spPr>
      </p:pic>
      <p:sp>
        <p:nvSpPr>
          <p:cNvPr id="61" name="TextBox 60"/>
          <p:cNvSpPr txBox="1"/>
          <p:nvPr/>
        </p:nvSpPr>
        <p:spPr>
          <a:xfrm>
            <a:off x="3604689" y="5990463"/>
            <a:ext cx="2155986" cy="194310"/>
          </a:xfrm>
          <a:prstGeom prst="rect">
            <a:avLst/>
          </a:prstGeom>
          <a:noFill/>
        </p:spPr>
        <p:txBody>
          <a:bodyPr wrap="none" lIns="0" rIns="0" tIns="0" bIns="0">
            <a:spAutoFit/>
          </a:bodyPr>
          <a:lstStyle/>
          <a:p>
            <a:r>
              <a:rPr sz="1150" b="0">
                <a:solidFill>
                  <a:srgbClr val="2E2E2E"/>
                </a:solidFill>
                <a:latin typeface="Calibri"/>
              </a:rPr>
              <a:t>share), ahead of 'Matcha Powder' (</a:t>
            </a:r>
          </a:p>
        </p:txBody>
      </p:sp>
      <p:pic>
        <p:nvPicPr>
          <p:cNvPr id="62" name="Picture 61" descr="lock.png"/>
          <p:cNvPicPr>
            <a:picLocks noChangeAspect="1"/>
          </p:cNvPicPr>
          <p:nvPr/>
        </p:nvPicPr>
        <p:blipFill>
          <a:blip r:embed="rId12"/>
          <a:stretch>
            <a:fillRect/>
          </a:stretch>
        </p:blipFill>
        <p:spPr>
          <a:xfrm>
            <a:off x="5709830" y="5980239"/>
            <a:ext cx="134549" cy="195707"/>
          </a:xfrm>
          <a:prstGeom prst="rect">
            <a:avLst/>
          </a:prstGeom>
        </p:spPr>
      </p:pic>
      <p:sp>
        <p:nvSpPr>
          <p:cNvPr id="63" name="TextBox 62"/>
          <p:cNvSpPr txBox="1"/>
          <p:nvPr/>
        </p:nvSpPr>
        <p:spPr>
          <a:xfrm>
            <a:off x="5884939" y="5990463"/>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64" name="TextBox 63"/>
          <p:cNvSpPr txBox="1"/>
          <p:nvPr/>
        </p:nvSpPr>
        <p:spPr>
          <a:xfrm>
            <a:off x="276225" y="6218300"/>
            <a:ext cx="1639623" cy="194310"/>
          </a:xfrm>
          <a:prstGeom prst="rect">
            <a:avLst/>
          </a:prstGeom>
          <a:noFill/>
        </p:spPr>
        <p:txBody>
          <a:bodyPr wrap="none" lIns="0" rIns="0" tIns="0" bIns="0">
            <a:spAutoFit/>
          </a:bodyPr>
          <a:lstStyle/>
          <a:p>
            <a:r>
              <a:rPr sz="1150" b="0">
                <a:solidFill>
                  <a:srgbClr val="2E2E2E"/>
                </a:solidFill>
                <a:latin typeface="Calibri"/>
              </a:rPr>
              <a:t>▪ By Form, 'Liquid' leads at</a:t>
            </a:r>
          </a:p>
        </p:txBody>
      </p:sp>
      <p:pic>
        <p:nvPicPr>
          <p:cNvPr id="65" name="Picture 64" descr="lock.png"/>
          <p:cNvPicPr>
            <a:picLocks noChangeAspect="1"/>
          </p:cNvPicPr>
          <p:nvPr/>
        </p:nvPicPr>
        <p:blipFill>
          <a:blip r:embed="rId12"/>
          <a:stretch>
            <a:fillRect/>
          </a:stretch>
        </p:blipFill>
        <p:spPr>
          <a:xfrm>
            <a:off x="1865002" y="6208077"/>
            <a:ext cx="134549" cy="195707"/>
          </a:xfrm>
          <a:prstGeom prst="rect">
            <a:avLst/>
          </a:prstGeom>
        </p:spPr>
      </p:pic>
      <p:sp>
        <p:nvSpPr>
          <p:cNvPr id="66" name="TextBox 65"/>
          <p:cNvSpPr txBox="1"/>
          <p:nvPr/>
        </p:nvSpPr>
        <p:spPr>
          <a:xfrm>
            <a:off x="2040111" y="6218300"/>
            <a:ext cx="623316" cy="194310"/>
          </a:xfrm>
          <a:prstGeom prst="rect">
            <a:avLst/>
          </a:prstGeom>
          <a:noFill/>
        </p:spPr>
        <p:txBody>
          <a:bodyPr wrap="none" lIns="0" rIns="0" tIns="0" bIns="0">
            <a:spAutoFit/>
          </a:bodyPr>
          <a:lstStyle/>
          <a:p>
            <a:r>
              <a:rPr sz="1150" b="0">
                <a:solidFill>
                  <a:srgbClr val="2E2E2E"/>
                </a:solidFill>
                <a:latin typeface="Calibri"/>
              </a:rPr>
              <a:t>US$ Mn (</a:t>
            </a:r>
          </a:p>
        </p:txBody>
      </p:sp>
      <p:pic>
        <p:nvPicPr>
          <p:cNvPr id="67" name="Picture 66" descr="lock.png"/>
          <p:cNvPicPr>
            <a:picLocks noChangeAspect="1"/>
          </p:cNvPicPr>
          <p:nvPr/>
        </p:nvPicPr>
        <p:blipFill>
          <a:blip r:embed="rId12"/>
          <a:stretch>
            <a:fillRect/>
          </a:stretch>
        </p:blipFill>
        <p:spPr>
          <a:xfrm>
            <a:off x="2612582" y="6208077"/>
            <a:ext cx="134549" cy="195707"/>
          </a:xfrm>
          <a:prstGeom prst="rect">
            <a:avLst/>
          </a:prstGeom>
        </p:spPr>
      </p:pic>
      <p:sp>
        <p:nvSpPr>
          <p:cNvPr id="68" name="TextBox 67"/>
          <p:cNvSpPr txBox="1"/>
          <p:nvPr/>
        </p:nvSpPr>
        <p:spPr>
          <a:xfrm>
            <a:off x="2787691" y="6218300"/>
            <a:ext cx="1701862" cy="194310"/>
          </a:xfrm>
          <a:prstGeom prst="rect">
            <a:avLst/>
          </a:prstGeom>
          <a:noFill/>
        </p:spPr>
        <p:txBody>
          <a:bodyPr wrap="none" lIns="0" rIns="0" tIns="0" bIns="0">
            <a:spAutoFit/>
          </a:bodyPr>
          <a:lstStyle/>
          <a:p>
            <a:r>
              <a:rPr sz="1150" b="0">
                <a:solidFill>
                  <a:srgbClr val="2E2E2E"/>
                </a:solidFill>
                <a:latin typeface="Calibri"/>
              </a:rPr>
              <a:t>share), ahead of 'Blended' (</a:t>
            </a:r>
          </a:p>
        </p:txBody>
      </p:sp>
      <p:pic>
        <p:nvPicPr>
          <p:cNvPr id="69" name="Picture 68" descr="lock.png"/>
          <p:cNvPicPr>
            <a:picLocks noChangeAspect="1"/>
          </p:cNvPicPr>
          <p:nvPr/>
        </p:nvPicPr>
        <p:blipFill>
          <a:blip r:embed="rId12"/>
          <a:stretch>
            <a:fillRect/>
          </a:stretch>
        </p:blipFill>
        <p:spPr>
          <a:xfrm>
            <a:off x="4438707" y="6208077"/>
            <a:ext cx="134549" cy="195707"/>
          </a:xfrm>
          <a:prstGeom prst="rect">
            <a:avLst/>
          </a:prstGeom>
        </p:spPr>
      </p:pic>
      <p:sp>
        <p:nvSpPr>
          <p:cNvPr id="70" name="TextBox 69"/>
          <p:cNvSpPr txBox="1"/>
          <p:nvPr/>
        </p:nvSpPr>
        <p:spPr>
          <a:xfrm>
            <a:off x="4613816" y="6218300"/>
            <a:ext cx="627025" cy="194310"/>
          </a:xfrm>
          <a:prstGeom prst="rect">
            <a:avLst/>
          </a:prstGeom>
          <a:noFill/>
        </p:spPr>
        <p:txBody>
          <a:bodyPr wrap="none" lIns="0" rIns="0" tIns="0" bIns="0">
            <a:spAutoFit/>
          </a:bodyPr>
          <a:lstStyle/>
          <a:p>
            <a:r>
              <a:rPr sz="1150" b="0">
                <a:solidFill>
                  <a:srgbClr val="2E2E2E"/>
                </a:solidFill>
                <a:latin typeface="Calibri"/>
              </a:rPr>
              <a:t>US$ Mn).</a:t>
            </a:r>
          </a:p>
        </p:txBody>
      </p:sp>
      <p:sp>
        <p:nvSpPr>
          <p:cNvPr id="71" name="lockshield_12"/>
          <p:cNvSpPr/>
          <p:nvPr/>
        </p:nvSpPr>
        <p:spPr>
          <a:xfrm>
            <a:off x="2381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lockshield_15"/>
          <p:cNvSpPr/>
          <p:nvPr/>
        </p:nvSpPr>
        <p:spPr>
          <a:xfrm>
            <a:off x="32480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lockshield_18"/>
          <p:cNvSpPr/>
          <p:nvPr/>
        </p:nvSpPr>
        <p:spPr>
          <a:xfrm>
            <a:off x="62579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lockshield_21"/>
          <p:cNvSpPr/>
          <p:nvPr/>
        </p:nvSpPr>
        <p:spPr>
          <a:xfrm>
            <a:off x="9267825" y="1266825"/>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lockshield_24"/>
          <p:cNvSpPr/>
          <p:nvPr/>
        </p:nvSpPr>
        <p:spPr>
          <a:xfrm>
            <a:off x="238125" y="3448050"/>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lockshield_27"/>
          <p:cNvSpPr/>
          <p:nvPr/>
        </p:nvSpPr>
        <p:spPr>
          <a:xfrm>
            <a:off x="3248025" y="3448050"/>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lockshield_30"/>
          <p:cNvSpPr/>
          <p:nvPr/>
        </p:nvSpPr>
        <p:spPr>
          <a:xfrm>
            <a:off x="6257925" y="3448050"/>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lockshield_33"/>
          <p:cNvSpPr/>
          <p:nvPr/>
        </p:nvSpPr>
        <p:spPr>
          <a:xfrm>
            <a:off x="9267825" y="3448050"/>
            <a:ext cx="2667000" cy="170497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Key Segments Overview, By Value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U.S.'s key segments by value, highlighting the leading sub-segment of every segmentation</a:t>
            </a:r>
          </a:p>
        </p:txBody>
      </p:sp>
      <p:sp>
        <p:nvSpPr>
          <p:cNvPr id="10" name="Rounded Rectangle 9"/>
          <p:cNvSpPr/>
          <p:nvPr/>
        </p:nvSpPr>
        <p:spPr>
          <a:xfrm>
            <a:off x="142875" y="981075"/>
            <a:ext cx="11906250" cy="2019300"/>
          </a:xfrm>
          <a:prstGeom prst="roundRect">
            <a:avLst>
              <a:gd name="adj" fmla="val 37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76225" y="1066800"/>
            <a:ext cx="11639550" cy="209550"/>
          </a:xfrm>
          <a:prstGeom prst="rect">
            <a:avLst/>
          </a:prstGeom>
          <a:noFill/>
        </p:spPr>
        <p:txBody>
          <a:bodyPr wrap="square" lIns="0" rIns="19050" tIns="9525" bIns="9525">
            <a:spAutoFit/>
          </a:bodyPr>
          <a:lstStyle/>
          <a:p>
            <a:pPr algn="l"/>
            <a:r>
              <a:rPr sz="1300" b="1">
                <a:solidFill>
                  <a:srgbClr val="0B2E4A"/>
                </a:solidFill>
                <a:latin typeface="Calibri"/>
              </a:rPr>
              <a:t/>
            </a:r>
          </a:p>
        </p:txBody>
      </p:sp>
      <p:sp>
        <p:nvSpPr>
          <p:cNvPr id="12" name="Rectangle 11"/>
          <p:cNvSpPr/>
          <p:nvPr/>
        </p:nvSpPr>
        <p:spPr>
          <a:xfrm>
            <a:off x="276225" y="13049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650"/>
            <a:ext cx="11639550" cy="15335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5" name="TextBox 14"/>
          <p:cNvSpPr txBox="1"/>
          <p:nvPr/>
        </p:nvSpPr>
        <p:spPr>
          <a:xfrm>
            <a:off x="276225" y="1076325"/>
            <a:ext cx="1468037" cy="161696"/>
          </a:xfrm>
          <a:prstGeom prst="rect">
            <a:avLst/>
          </a:prstGeom>
          <a:noFill/>
        </p:spPr>
        <p:txBody>
          <a:bodyPr wrap="none" lIns="0" rIns="0" tIns="0" bIns="0">
            <a:spAutoFit/>
          </a:bodyPr>
          <a:lstStyle/>
          <a:p>
            <a:r>
              <a:rPr sz="935" b="1">
                <a:solidFill>
                  <a:srgbClr val="0B2E4A"/>
                </a:solidFill>
                <a:latin typeface="Calibri"/>
              </a:rPr>
              <a:t>Key Takeaways · 2026 Total:</a:t>
            </a:r>
          </a:p>
        </p:txBody>
      </p:sp>
      <p:pic>
        <p:nvPicPr>
          <p:cNvPr id="16" name="Picture 15" descr="lock.png"/>
          <p:cNvPicPr>
            <a:picLocks noChangeAspect="1"/>
          </p:cNvPicPr>
          <p:nvPr/>
        </p:nvPicPr>
        <p:blipFill>
          <a:blip r:embed="rId4"/>
          <a:stretch>
            <a:fillRect/>
          </a:stretch>
        </p:blipFill>
        <p:spPr>
          <a:xfrm>
            <a:off x="1688698" y="1068003"/>
            <a:ext cx="109510" cy="159288"/>
          </a:xfrm>
          <a:prstGeom prst="rect">
            <a:avLst/>
          </a:prstGeom>
        </p:spPr>
      </p:pic>
      <p:sp>
        <p:nvSpPr>
          <p:cNvPr id="17" name="TextBox 16"/>
          <p:cNvSpPr txBox="1"/>
          <p:nvPr/>
        </p:nvSpPr>
        <p:spPr>
          <a:xfrm>
            <a:off x="1831222" y="1076325"/>
            <a:ext cx="465087" cy="161696"/>
          </a:xfrm>
          <a:prstGeom prst="rect">
            <a:avLst/>
          </a:prstGeom>
          <a:noFill/>
        </p:spPr>
        <p:txBody>
          <a:bodyPr wrap="none" lIns="0" rIns="0" tIns="0" bIns="0">
            <a:spAutoFit/>
          </a:bodyPr>
          <a:lstStyle/>
          <a:p>
            <a:r>
              <a:rPr sz="935" b="1">
                <a:solidFill>
                  <a:srgbClr val="0B2E4A"/>
                </a:solidFill>
                <a:latin typeface="Calibri"/>
              </a:rPr>
              <a:t>US$ Mn</a:t>
            </a:r>
          </a:p>
        </p:txBody>
      </p:sp>
      <p:sp>
        <p:nvSpPr>
          <p:cNvPr id="18" name="TextBox 17"/>
          <p:cNvSpPr txBox="1"/>
          <p:nvPr/>
        </p:nvSpPr>
        <p:spPr>
          <a:xfrm>
            <a:off x="276225" y="1400175"/>
            <a:ext cx="1735389" cy="186689"/>
          </a:xfrm>
          <a:prstGeom prst="rect">
            <a:avLst/>
          </a:prstGeom>
          <a:noFill/>
        </p:spPr>
        <p:txBody>
          <a:bodyPr wrap="none" lIns="0" rIns="0" tIns="0" bIns="0">
            <a:spAutoFit/>
          </a:bodyPr>
          <a:lstStyle/>
          <a:p>
            <a:r>
              <a:rPr sz="1100" b="0">
                <a:solidFill>
                  <a:srgbClr val="2E2E2E"/>
                </a:solidFill>
                <a:latin typeface="Calibri"/>
              </a:rPr>
              <a:t>▪ By Flavour, 'Vanilla' leads at</a:t>
            </a:r>
          </a:p>
        </p:txBody>
      </p:sp>
      <p:pic>
        <p:nvPicPr>
          <p:cNvPr id="19" name="Picture 18" descr="lock.png"/>
          <p:cNvPicPr>
            <a:picLocks noChangeAspect="1"/>
          </p:cNvPicPr>
          <p:nvPr/>
        </p:nvPicPr>
        <p:blipFill>
          <a:blip r:embed="rId4"/>
          <a:stretch>
            <a:fillRect/>
          </a:stretch>
        </p:blipFill>
        <p:spPr>
          <a:xfrm>
            <a:off x="1959665" y="1390396"/>
            <a:ext cx="128699" cy="187198"/>
          </a:xfrm>
          <a:prstGeom prst="rect">
            <a:avLst/>
          </a:prstGeom>
        </p:spPr>
      </p:pic>
      <p:sp>
        <p:nvSpPr>
          <p:cNvPr id="20" name="TextBox 19"/>
          <p:cNvSpPr txBox="1"/>
          <p:nvPr/>
        </p:nvSpPr>
        <p:spPr>
          <a:xfrm>
            <a:off x="2127161" y="1400175"/>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21" name="Picture 20" descr="lock.png"/>
          <p:cNvPicPr>
            <a:picLocks noChangeAspect="1"/>
          </p:cNvPicPr>
          <p:nvPr/>
        </p:nvPicPr>
        <p:blipFill>
          <a:blip r:embed="rId4"/>
          <a:stretch>
            <a:fillRect/>
          </a:stretch>
        </p:blipFill>
        <p:spPr>
          <a:xfrm>
            <a:off x="2674742" y="1390396"/>
            <a:ext cx="128699" cy="187198"/>
          </a:xfrm>
          <a:prstGeom prst="rect">
            <a:avLst/>
          </a:prstGeom>
        </p:spPr>
      </p:pic>
      <p:sp>
        <p:nvSpPr>
          <p:cNvPr id="22" name="TextBox 21"/>
          <p:cNvSpPr txBox="1"/>
          <p:nvPr/>
        </p:nvSpPr>
        <p:spPr>
          <a:xfrm>
            <a:off x="2842238" y="1400175"/>
            <a:ext cx="1550416" cy="186689"/>
          </a:xfrm>
          <a:prstGeom prst="rect">
            <a:avLst/>
          </a:prstGeom>
          <a:noFill/>
        </p:spPr>
        <p:txBody>
          <a:bodyPr wrap="none" lIns="0" rIns="0" tIns="0" bIns="0">
            <a:spAutoFit/>
          </a:bodyPr>
          <a:lstStyle/>
          <a:p>
            <a:r>
              <a:rPr sz="1100" b="0">
                <a:solidFill>
                  <a:srgbClr val="2E2E2E"/>
                </a:solidFill>
                <a:latin typeface="Calibri"/>
              </a:rPr>
              <a:t>share), ahead of 'Lemon' (</a:t>
            </a:r>
          </a:p>
        </p:txBody>
      </p:sp>
      <p:pic>
        <p:nvPicPr>
          <p:cNvPr id="23" name="Picture 22" descr="lock.png"/>
          <p:cNvPicPr>
            <a:picLocks noChangeAspect="1"/>
          </p:cNvPicPr>
          <p:nvPr/>
        </p:nvPicPr>
        <p:blipFill>
          <a:blip r:embed="rId4"/>
          <a:stretch>
            <a:fillRect/>
          </a:stretch>
        </p:blipFill>
        <p:spPr>
          <a:xfrm>
            <a:off x="4340706" y="1390396"/>
            <a:ext cx="128699" cy="187198"/>
          </a:xfrm>
          <a:prstGeom prst="rect">
            <a:avLst/>
          </a:prstGeom>
        </p:spPr>
      </p:pic>
      <p:sp>
        <p:nvSpPr>
          <p:cNvPr id="24" name="TextBox 23"/>
          <p:cNvSpPr txBox="1"/>
          <p:nvPr/>
        </p:nvSpPr>
        <p:spPr>
          <a:xfrm>
            <a:off x="4508202" y="1400175"/>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25" name="TextBox 24"/>
          <p:cNvSpPr txBox="1"/>
          <p:nvPr/>
        </p:nvSpPr>
        <p:spPr>
          <a:xfrm>
            <a:off x="276225" y="1618107"/>
            <a:ext cx="2278363" cy="186689"/>
          </a:xfrm>
          <a:prstGeom prst="rect">
            <a:avLst/>
          </a:prstGeom>
          <a:noFill/>
        </p:spPr>
        <p:txBody>
          <a:bodyPr wrap="none" lIns="0" rIns="0" tIns="0" bIns="0">
            <a:spAutoFit/>
          </a:bodyPr>
          <a:lstStyle/>
          <a:p>
            <a:r>
              <a:rPr sz="1100" b="0">
                <a:solidFill>
                  <a:srgbClr val="2E2E2E"/>
                </a:solidFill>
                <a:latin typeface="Calibri"/>
              </a:rPr>
              <a:t>▪ By Packaging Type, 'Pouches' leads at</a:t>
            </a:r>
          </a:p>
        </p:txBody>
      </p:sp>
      <p:pic>
        <p:nvPicPr>
          <p:cNvPr id="26" name="Picture 25" descr="lock.png"/>
          <p:cNvPicPr>
            <a:picLocks noChangeAspect="1"/>
          </p:cNvPicPr>
          <p:nvPr/>
        </p:nvPicPr>
        <p:blipFill>
          <a:blip r:embed="rId4"/>
          <a:stretch>
            <a:fillRect/>
          </a:stretch>
        </p:blipFill>
        <p:spPr>
          <a:xfrm>
            <a:off x="2502640" y="1608328"/>
            <a:ext cx="128699" cy="187198"/>
          </a:xfrm>
          <a:prstGeom prst="rect">
            <a:avLst/>
          </a:prstGeom>
        </p:spPr>
      </p:pic>
      <p:sp>
        <p:nvSpPr>
          <p:cNvPr id="27" name="TextBox 26"/>
          <p:cNvSpPr txBox="1"/>
          <p:nvPr/>
        </p:nvSpPr>
        <p:spPr>
          <a:xfrm>
            <a:off x="2670136" y="1618107"/>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28" name="Picture 27" descr="lock.png"/>
          <p:cNvPicPr>
            <a:picLocks noChangeAspect="1"/>
          </p:cNvPicPr>
          <p:nvPr/>
        </p:nvPicPr>
        <p:blipFill>
          <a:blip r:embed="rId4"/>
          <a:stretch>
            <a:fillRect/>
          </a:stretch>
        </p:blipFill>
        <p:spPr>
          <a:xfrm>
            <a:off x="3217716" y="1608328"/>
            <a:ext cx="128699" cy="187198"/>
          </a:xfrm>
          <a:prstGeom prst="rect">
            <a:avLst/>
          </a:prstGeom>
        </p:spPr>
      </p:pic>
      <p:sp>
        <p:nvSpPr>
          <p:cNvPr id="29" name="TextBox 28"/>
          <p:cNvSpPr txBox="1"/>
          <p:nvPr/>
        </p:nvSpPr>
        <p:spPr>
          <a:xfrm>
            <a:off x="3385212" y="1618107"/>
            <a:ext cx="2574974" cy="186689"/>
          </a:xfrm>
          <a:prstGeom prst="rect">
            <a:avLst/>
          </a:prstGeom>
          <a:noFill/>
        </p:spPr>
        <p:txBody>
          <a:bodyPr wrap="none" lIns="0" rIns="0" tIns="0" bIns="0">
            <a:spAutoFit/>
          </a:bodyPr>
          <a:lstStyle/>
          <a:p>
            <a:r>
              <a:rPr sz="1100" b="0">
                <a:solidFill>
                  <a:srgbClr val="2E2E2E"/>
                </a:solidFill>
                <a:latin typeface="Calibri"/>
              </a:rPr>
              <a:t>share), ahead of 'Bulk Industrial Packaging' (</a:t>
            </a:r>
          </a:p>
        </p:txBody>
      </p:sp>
      <p:pic>
        <p:nvPicPr>
          <p:cNvPr id="30" name="Picture 29" descr="lock.png"/>
          <p:cNvPicPr>
            <a:picLocks noChangeAspect="1"/>
          </p:cNvPicPr>
          <p:nvPr/>
        </p:nvPicPr>
        <p:blipFill>
          <a:blip r:embed="rId4"/>
          <a:stretch>
            <a:fillRect/>
          </a:stretch>
        </p:blipFill>
        <p:spPr>
          <a:xfrm>
            <a:off x="5908238" y="1608328"/>
            <a:ext cx="128699" cy="187198"/>
          </a:xfrm>
          <a:prstGeom prst="rect">
            <a:avLst/>
          </a:prstGeom>
        </p:spPr>
      </p:pic>
      <p:sp>
        <p:nvSpPr>
          <p:cNvPr id="31" name="TextBox 30"/>
          <p:cNvSpPr txBox="1"/>
          <p:nvPr/>
        </p:nvSpPr>
        <p:spPr>
          <a:xfrm>
            <a:off x="6075734" y="1618107"/>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2" name="TextBox 31"/>
          <p:cNvSpPr txBox="1"/>
          <p:nvPr/>
        </p:nvSpPr>
        <p:spPr>
          <a:xfrm>
            <a:off x="276225" y="1836039"/>
            <a:ext cx="2426249" cy="186689"/>
          </a:xfrm>
          <a:prstGeom prst="rect">
            <a:avLst/>
          </a:prstGeom>
          <a:noFill/>
        </p:spPr>
        <p:txBody>
          <a:bodyPr wrap="none" lIns="0" rIns="0" tIns="0" bIns="0">
            <a:spAutoFit/>
          </a:bodyPr>
          <a:lstStyle/>
          <a:p>
            <a:r>
              <a:rPr sz="1100" b="0">
                <a:solidFill>
                  <a:srgbClr val="2E2E2E"/>
                </a:solidFill>
                <a:latin typeface="Calibri"/>
              </a:rPr>
              <a:t>▪ By Grade Type, 'Culinary Grade' leads at</a:t>
            </a:r>
          </a:p>
        </p:txBody>
      </p:sp>
      <p:pic>
        <p:nvPicPr>
          <p:cNvPr id="33" name="Picture 32" descr="lock.png"/>
          <p:cNvPicPr>
            <a:picLocks noChangeAspect="1"/>
          </p:cNvPicPr>
          <p:nvPr/>
        </p:nvPicPr>
        <p:blipFill>
          <a:blip r:embed="rId4"/>
          <a:stretch>
            <a:fillRect/>
          </a:stretch>
        </p:blipFill>
        <p:spPr>
          <a:xfrm>
            <a:off x="2650525" y="1826260"/>
            <a:ext cx="128699" cy="187198"/>
          </a:xfrm>
          <a:prstGeom prst="rect">
            <a:avLst/>
          </a:prstGeom>
        </p:spPr>
      </p:pic>
      <p:sp>
        <p:nvSpPr>
          <p:cNvPr id="34" name="TextBox 33"/>
          <p:cNvSpPr txBox="1"/>
          <p:nvPr/>
        </p:nvSpPr>
        <p:spPr>
          <a:xfrm>
            <a:off x="2818021" y="1836039"/>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35" name="Picture 34" descr="lock.png"/>
          <p:cNvPicPr>
            <a:picLocks noChangeAspect="1"/>
          </p:cNvPicPr>
          <p:nvPr/>
        </p:nvPicPr>
        <p:blipFill>
          <a:blip r:embed="rId4"/>
          <a:stretch>
            <a:fillRect/>
          </a:stretch>
        </p:blipFill>
        <p:spPr>
          <a:xfrm>
            <a:off x="3365602" y="1826260"/>
            <a:ext cx="128699" cy="187198"/>
          </a:xfrm>
          <a:prstGeom prst="rect">
            <a:avLst/>
          </a:prstGeom>
        </p:spPr>
      </p:pic>
      <p:sp>
        <p:nvSpPr>
          <p:cNvPr id="36" name="TextBox 35"/>
          <p:cNvSpPr txBox="1"/>
          <p:nvPr/>
        </p:nvSpPr>
        <p:spPr>
          <a:xfrm>
            <a:off x="3533098" y="1836039"/>
            <a:ext cx="2078930" cy="186689"/>
          </a:xfrm>
          <a:prstGeom prst="rect">
            <a:avLst/>
          </a:prstGeom>
          <a:noFill/>
        </p:spPr>
        <p:txBody>
          <a:bodyPr wrap="none" lIns="0" rIns="0" tIns="0" bIns="0">
            <a:spAutoFit/>
          </a:bodyPr>
          <a:lstStyle/>
          <a:p>
            <a:r>
              <a:rPr sz="1100" b="0">
                <a:solidFill>
                  <a:srgbClr val="2E2E2E"/>
                </a:solidFill>
                <a:latin typeface="Calibri"/>
              </a:rPr>
              <a:t>share), ahead of 'Industrial Grade' (</a:t>
            </a:r>
          </a:p>
        </p:txBody>
      </p:sp>
      <p:pic>
        <p:nvPicPr>
          <p:cNvPr id="37" name="Picture 36" descr="lock.png"/>
          <p:cNvPicPr>
            <a:picLocks noChangeAspect="1"/>
          </p:cNvPicPr>
          <p:nvPr/>
        </p:nvPicPr>
        <p:blipFill>
          <a:blip r:embed="rId4"/>
          <a:stretch>
            <a:fillRect/>
          </a:stretch>
        </p:blipFill>
        <p:spPr>
          <a:xfrm>
            <a:off x="5560080" y="1826260"/>
            <a:ext cx="128699" cy="187198"/>
          </a:xfrm>
          <a:prstGeom prst="rect">
            <a:avLst/>
          </a:prstGeom>
        </p:spPr>
      </p:pic>
      <p:sp>
        <p:nvSpPr>
          <p:cNvPr id="38" name="TextBox 37"/>
          <p:cNvSpPr txBox="1"/>
          <p:nvPr/>
        </p:nvSpPr>
        <p:spPr>
          <a:xfrm>
            <a:off x="5727576" y="1836039"/>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39" name="TextBox 38"/>
          <p:cNvSpPr txBox="1"/>
          <p:nvPr/>
        </p:nvSpPr>
        <p:spPr>
          <a:xfrm>
            <a:off x="276225" y="2053970"/>
            <a:ext cx="2158308" cy="186689"/>
          </a:xfrm>
          <a:prstGeom prst="rect">
            <a:avLst/>
          </a:prstGeom>
          <a:noFill/>
        </p:spPr>
        <p:txBody>
          <a:bodyPr wrap="none" lIns="0" rIns="0" tIns="0" bIns="0">
            <a:spAutoFit/>
          </a:bodyPr>
          <a:lstStyle/>
          <a:p>
            <a:r>
              <a:rPr sz="1100" b="0">
                <a:solidFill>
                  <a:srgbClr val="2E2E2E"/>
                </a:solidFill>
                <a:latin typeface="Calibri"/>
              </a:rPr>
              <a:t>▪ By Application, 'Beverages' leads at</a:t>
            </a:r>
          </a:p>
        </p:txBody>
      </p:sp>
      <p:pic>
        <p:nvPicPr>
          <p:cNvPr id="40" name="Picture 39" descr="lock.png"/>
          <p:cNvPicPr>
            <a:picLocks noChangeAspect="1"/>
          </p:cNvPicPr>
          <p:nvPr/>
        </p:nvPicPr>
        <p:blipFill>
          <a:blip r:embed="rId4"/>
          <a:stretch>
            <a:fillRect/>
          </a:stretch>
        </p:blipFill>
        <p:spPr>
          <a:xfrm>
            <a:off x="2382585" y="2044192"/>
            <a:ext cx="128699" cy="187198"/>
          </a:xfrm>
          <a:prstGeom prst="rect">
            <a:avLst/>
          </a:prstGeom>
        </p:spPr>
      </p:pic>
      <p:sp>
        <p:nvSpPr>
          <p:cNvPr id="41" name="TextBox 40"/>
          <p:cNvSpPr txBox="1"/>
          <p:nvPr/>
        </p:nvSpPr>
        <p:spPr>
          <a:xfrm>
            <a:off x="2550081" y="2053970"/>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42" name="Picture 41" descr="lock.png"/>
          <p:cNvPicPr>
            <a:picLocks noChangeAspect="1"/>
          </p:cNvPicPr>
          <p:nvPr/>
        </p:nvPicPr>
        <p:blipFill>
          <a:blip r:embed="rId4"/>
          <a:stretch>
            <a:fillRect/>
          </a:stretch>
        </p:blipFill>
        <p:spPr>
          <a:xfrm>
            <a:off x="3097662" y="2044192"/>
            <a:ext cx="128699" cy="187198"/>
          </a:xfrm>
          <a:prstGeom prst="rect">
            <a:avLst/>
          </a:prstGeom>
        </p:spPr>
      </p:pic>
      <p:sp>
        <p:nvSpPr>
          <p:cNvPr id="43" name="TextBox 42"/>
          <p:cNvSpPr txBox="1"/>
          <p:nvPr/>
        </p:nvSpPr>
        <p:spPr>
          <a:xfrm>
            <a:off x="3265158" y="2053970"/>
            <a:ext cx="2225178" cy="186689"/>
          </a:xfrm>
          <a:prstGeom prst="rect">
            <a:avLst/>
          </a:prstGeom>
          <a:noFill/>
        </p:spPr>
        <p:txBody>
          <a:bodyPr wrap="none" lIns="0" rIns="0" tIns="0" bIns="0">
            <a:spAutoFit/>
          </a:bodyPr>
          <a:lstStyle/>
          <a:p>
            <a:r>
              <a:rPr sz="1100" b="0">
                <a:solidFill>
                  <a:srgbClr val="2E2E2E"/>
                </a:solidFill>
                <a:latin typeface="Calibri"/>
              </a:rPr>
              <a:t>share), ahead of 'Other Applications' (</a:t>
            </a:r>
          </a:p>
        </p:txBody>
      </p:sp>
      <p:pic>
        <p:nvPicPr>
          <p:cNvPr id="44" name="Picture 43" descr="lock.png"/>
          <p:cNvPicPr>
            <a:picLocks noChangeAspect="1"/>
          </p:cNvPicPr>
          <p:nvPr/>
        </p:nvPicPr>
        <p:blipFill>
          <a:blip r:embed="rId4"/>
          <a:stretch>
            <a:fillRect/>
          </a:stretch>
        </p:blipFill>
        <p:spPr>
          <a:xfrm>
            <a:off x="5438388" y="2044192"/>
            <a:ext cx="128699" cy="187198"/>
          </a:xfrm>
          <a:prstGeom prst="rect">
            <a:avLst/>
          </a:prstGeom>
        </p:spPr>
      </p:pic>
      <p:sp>
        <p:nvSpPr>
          <p:cNvPr id="45" name="TextBox 44"/>
          <p:cNvSpPr txBox="1"/>
          <p:nvPr/>
        </p:nvSpPr>
        <p:spPr>
          <a:xfrm>
            <a:off x="5605884" y="2053970"/>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46" name="TextBox 45"/>
          <p:cNvSpPr txBox="1"/>
          <p:nvPr/>
        </p:nvSpPr>
        <p:spPr>
          <a:xfrm>
            <a:off x="276225" y="2271903"/>
            <a:ext cx="3971134" cy="186689"/>
          </a:xfrm>
          <a:prstGeom prst="rect">
            <a:avLst/>
          </a:prstGeom>
          <a:noFill/>
        </p:spPr>
        <p:txBody>
          <a:bodyPr wrap="none" lIns="0" rIns="0" tIns="0" bIns="0">
            <a:spAutoFit/>
          </a:bodyPr>
          <a:lstStyle/>
          <a:p>
            <a:r>
              <a:rPr sz="1100" b="0">
                <a:solidFill>
                  <a:srgbClr val="2E2E2E"/>
                </a:solidFill>
                <a:latin typeface="Calibri"/>
              </a:rPr>
              <a:t>▪ By Distribution Channel, 'Supermarkets and Hypermarkets' leads at</a:t>
            </a:r>
          </a:p>
        </p:txBody>
      </p:sp>
      <p:pic>
        <p:nvPicPr>
          <p:cNvPr id="47" name="Picture 46" descr="lock.png"/>
          <p:cNvPicPr>
            <a:picLocks noChangeAspect="1"/>
          </p:cNvPicPr>
          <p:nvPr/>
        </p:nvPicPr>
        <p:blipFill>
          <a:blip r:embed="rId4"/>
          <a:stretch>
            <a:fillRect/>
          </a:stretch>
        </p:blipFill>
        <p:spPr>
          <a:xfrm>
            <a:off x="4195411" y="2262124"/>
            <a:ext cx="128699" cy="187198"/>
          </a:xfrm>
          <a:prstGeom prst="rect">
            <a:avLst/>
          </a:prstGeom>
        </p:spPr>
      </p:pic>
      <p:sp>
        <p:nvSpPr>
          <p:cNvPr id="48" name="TextBox 47"/>
          <p:cNvSpPr txBox="1"/>
          <p:nvPr/>
        </p:nvSpPr>
        <p:spPr>
          <a:xfrm>
            <a:off x="4362907" y="2271903"/>
            <a:ext cx="599529" cy="186689"/>
          </a:xfrm>
          <a:prstGeom prst="rect">
            <a:avLst/>
          </a:prstGeom>
          <a:noFill/>
        </p:spPr>
        <p:txBody>
          <a:bodyPr wrap="none" lIns="0" rIns="0" tIns="0" bIns="0">
            <a:spAutoFit/>
          </a:bodyPr>
          <a:lstStyle/>
          <a:p>
            <a:r>
              <a:rPr sz="1100" b="0">
                <a:solidFill>
                  <a:srgbClr val="2E2E2E"/>
                </a:solidFill>
                <a:latin typeface="Calibri"/>
              </a:rPr>
              <a:t>US$ Mn (</a:t>
            </a:r>
          </a:p>
        </p:txBody>
      </p:sp>
      <p:pic>
        <p:nvPicPr>
          <p:cNvPr id="49" name="Picture 48" descr="lock.png"/>
          <p:cNvPicPr>
            <a:picLocks noChangeAspect="1"/>
          </p:cNvPicPr>
          <p:nvPr/>
        </p:nvPicPr>
        <p:blipFill>
          <a:blip r:embed="rId4"/>
          <a:stretch>
            <a:fillRect/>
          </a:stretch>
        </p:blipFill>
        <p:spPr>
          <a:xfrm>
            <a:off x="4910488" y="2262124"/>
            <a:ext cx="128699" cy="187198"/>
          </a:xfrm>
          <a:prstGeom prst="rect">
            <a:avLst/>
          </a:prstGeom>
        </p:spPr>
      </p:pic>
      <p:sp>
        <p:nvSpPr>
          <p:cNvPr id="50" name="TextBox 49"/>
          <p:cNvSpPr txBox="1"/>
          <p:nvPr/>
        </p:nvSpPr>
        <p:spPr>
          <a:xfrm>
            <a:off x="5077983" y="2271903"/>
            <a:ext cx="2284387" cy="186689"/>
          </a:xfrm>
          <a:prstGeom prst="rect">
            <a:avLst/>
          </a:prstGeom>
          <a:noFill/>
        </p:spPr>
        <p:txBody>
          <a:bodyPr wrap="none" lIns="0" rIns="0" tIns="0" bIns="0">
            <a:spAutoFit/>
          </a:bodyPr>
          <a:lstStyle/>
          <a:p>
            <a:r>
              <a:rPr sz="1100" b="0">
                <a:solidFill>
                  <a:srgbClr val="2E2E2E"/>
                </a:solidFill>
                <a:latin typeface="Calibri"/>
              </a:rPr>
              <a:t>share), ahead of 'Convenience Stores' (</a:t>
            </a:r>
          </a:p>
        </p:txBody>
      </p:sp>
      <p:pic>
        <p:nvPicPr>
          <p:cNvPr id="51" name="Picture 50" descr="lock.png"/>
          <p:cNvPicPr>
            <a:picLocks noChangeAspect="1"/>
          </p:cNvPicPr>
          <p:nvPr/>
        </p:nvPicPr>
        <p:blipFill>
          <a:blip r:embed="rId4"/>
          <a:stretch>
            <a:fillRect/>
          </a:stretch>
        </p:blipFill>
        <p:spPr>
          <a:xfrm>
            <a:off x="7310423" y="2262124"/>
            <a:ext cx="128699" cy="187198"/>
          </a:xfrm>
          <a:prstGeom prst="rect">
            <a:avLst/>
          </a:prstGeom>
        </p:spPr>
      </p:pic>
      <p:sp>
        <p:nvSpPr>
          <p:cNvPr id="52" name="TextBox 51"/>
          <p:cNvSpPr txBox="1"/>
          <p:nvPr/>
        </p:nvSpPr>
        <p:spPr>
          <a:xfrm>
            <a:off x="7477918" y="2271903"/>
            <a:ext cx="60307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53" name="TextBox 52"/>
          <p:cNvSpPr txBox="1"/>
          <p:nvPr/>
        </p:nvSpPr>
        <p:spPr>
          <a:xfrm>
            <a:off x="276225" y="2489835"/>
            <a:ext cx="6677843" cy="186689"/>
          </a:xfrm>
          <a:prstGeom prst="rect">
            <a:avLst/>
          </a:prstGeom>
          <a:noFill/>
        </p:spPr>
        <p:txBody>
          <a:bodyPr wrap="none" lIns="0" rIns="0" tIns="0" bIns="0">
            <a:spAutoFit/>
          </a:bodyPr>
          <a:lstStyle/>
          <a:p>
            <a:r>
              <a:rPr sz="1100" b="0">
                <a:solidFill>
                  <a:srgbClr val="2E2E2E"/>
                </a:solidFill>
                <a:latin typeface="Calibri"/>
              </a:rPr>
              <a:t>▪ Use the Country slicer in the top band to switch country the selection stays synced across every page of the report.</a:t>
            </a:r>
          </a:p>
        </p:txBody>
      </p:sp>
    </p:spTree>
  </p:cSld>
  <p:clrMapOvr>
    <a:masterClrMapping/>
  </p:clrMapOvr>
</p:sld>
</file>

<file path=ppt/slides/slide22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176847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111375"/>
            <a:ext cx="8572500" cy="514350"/>
          </a:xfrm>
          <a:prstGeom prst="rect">
            <a:avLst/>
          </a:prstGeom>
          <a:noFill/>
        </p:spPr>
        <p:txBody>
          <a:bodyPr wrap="square" lIns="0" rIns="0" tIns="0">
            <a:spAutoFit/>
          </a:bodyPr>
          <a:lstStyle/>
          <a:p>
            <a:r>
              <a:rPr sz="3000" b="1">
                <a:solidFill>
                  <a:srgbClr val="0B3C8C"/>
                </a:solidFill>
                <a:latin typeface="Calibri"/>
              </a:rPr>
              <a:t>Segment Overview (Volume &amp; Value)</a:t>
            </a:r>
          </a:p>
        </p:txBody>
      </p:sp>
      <p:sp>
        <p:nvSpPr>
          <p:cNvPr id="11" name="TextBox 10"/>
          <p:cNvSpPr txBox="1"/>
          <p:nvPr/>
        </p:nvSpPr>
        <p:spPr>
          <a:xfrm>
            <a:off x="914400" y="2797175"/>
            <a:ext cx="8458200" cy="32448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Nature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Form</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Flavour</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Packaging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Grade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Application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Distribution Channel</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3.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14.1</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Nature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Nature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Nature: growth contribution, share variance and absolute $ opportunity</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Nature (US$ Mn)</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Nature</a:t>
            </a:r>
          </a:p>
        </p:txBody>
      </p:sp>
      <p:graphicFrame>
        <p:nvGraphicFramePr>
          <p:cNvPr id="15" name="Table 14"/>
          <p:cNvGraphicFramePr>
            <a:graphicFrameLocks noGrp="1"/>
          </p:cNvGraphicFramePr>
          <p:nvPr/>
        </p:nvGraphicFramePr>
        <p:xfrm>
          <a:off x="6181725" y="1238250"/>
          <a:ext cx="5857873" cy="2286000"/>
        </p:xfrm>
        <a:graphic>
          <a:graphicData uri="http://schemas.openxmlformats.org/drawingml/2006/table">
            <a:tbl>
              <a:tblPr>
                <a:tableStyleId>{5C22544A-7EE6-4342-B048-85BDC9FD1C3A}</a:tableStyleId>
              </a:tblPr>
              <a:tblGrid>
                <a:gridCol w="1099977"/>
                <a:gridCol w="1189474"/>
                <a:gridCol w="1189474"/>
                <a:gridCol w="1189474"/>
                <a:gridCol w="1189474"/>
              </a:tblGrid>
              <a:tr h="246126">
                <a:tc>
                  <a:txBody>
                    <a:bodyPr wrap="none"/>
                    <a:lstStyle/>
                    <a:p>
                      <a:pPr algn="l"/>
                      <a:r>
                        <a:rPr sz="1100" b="1">
                          <a:solidFill>
                            <a:srgbClr val="0B2E4A"/>
                          </a:solidFill>
                          <a:latin typeface="Calibri"/>
                        </a:rPr>
                        <a:t>Nature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Organic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Conventional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6" name="TextBox 15"/>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Nature (US$ Mn), between 2026–2036</a:t>
            </a:r>
          </a:p>
        </p:txBody>
      </p:sp>
      <p:graphicFrame>
        <p:nvGraphicFramePr>
          <p:cNvPr id="19" name="Chart 18"/>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6"/>
          <a:stretch>
            <a:fillRect/>
          </a:stretch>
        </p:blipFill>
        <p:spPr>
          <a:xfrm>
            <a:off x="9473960" y="2237613"/>
            <a:ext cx="366712" cy="533400"/>
          </a:xfrm>
          <a:prstGeom prst="rect">
            <a:avLst/>
          </a:prstGeom>
        </p:spPr>
      </p:pic>
      <p:pic>
        <p:nvPicPr>
          <p:cNvPr id="27" name="Picture 26" descr="lock.png"/>
          <p:cNvPicPr>
            <a:picLocks noChangeAspect="1"/>
          </p:cNvPicPr>
          <p:nvPr/>
        </p:nvPicPr>
        <p:blipFill>
          <a:blip r:embed="rId6"/>
          <a:stretch>
            <a:fillRect/>
          </a:stretch>
        </p:blipFill>
        <p:spPr>
          <a:xfrm>
            <a:off x="5964247" y="5123309"/>
            <a:ext cx="263506" cy="383281"/>
          </a:xfrm>
          <a:prstGeom prst="rect">
            <a:avLst/>
          </a:prstGeom>
        </p:spPr>
      </p:pic>
      <p:sp>
        <p:nvSpPr>
          <p:cNvPr id="29"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11520309"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Nature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Nature, 2021–2036</a:t>
            </a:r>
          </a:p>
        </p:txBody>
      </p:sp>
      <p:sp>
        <p:nvSpPr>
          <p:cNvPr id="14" name="Rounded Rectangle 13"/>
          <p:cNvSpPr/>
          <p:nvPr/>
        </p:nvSpPr>
        <p:spPr>
          <a:xfrm>
            <a:off x="142875" y="981075"/>
            <a:ext cx="11906250" cy="1457325"/>
          </a:xfrm>
          <a:prstGeom prst="roundRect">
            <a:avLst>
              <a:gd name="adj" fmla="val 522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Nature (US$ Mn)</a:t>
            </a:r>
          </a:p>
        </p:txBody>
      </p:sp>
      <p:graphicFrame>
        <p:nvGraphicFramePr>
          <p:cNvPr id="16" name="Table 15"/>
          <p:cNvGraphicFramePr>
            <a:graphicFrameLocks noGrp="1"/>
          </p:cNvGraphicFramePr>
          <p:nvPr/>
        </p:nvGraphicFramePr>
        <p:xfrm>
          <a:off x="152400" y="1238250"/>
          <a:ext cx="11887204" cy="990600"/>
        </p:xfrm>
        <a:graphic>
          <a:graphicData uri="http://schemas.openxmlformats.org/drawingml/2006/table">
            <a:tbl>
              <a:tblPr>
                <a:tableStyleId>{5C22544A-7EE6-4342-B048-85BDC9FD1C3A}</a:tableStyleId>
              </a:tblPr>
              <a:tblGrid>
                <a:gridCol w="1042173"/>
                <a:gridCol w="637943"/>
                <a:gridCol w="637943"/>
                <a:gridCol w="637943"/>
                <a:gridCol w="637943"/>
                <a:gridCol w="637943"/>
                <a:gridCol w="637943"/>
                <a:gridCol w="637943"/>
                <a:gridCol w="637943"/>
                <a:gridCol w="637943"/>
                <a:gridCol w="637943"/>
                <a:gridCol w="637943"/>
                <a:gridCol w="637943"/>
                <a:gridCol w="637943"/>
                <a:gridCol w="637943"/>
                <a:gridCol w="637943"/>
                <a:gridCol w="637943"/>
                <a:gridCol w="637943"/>
              </a:tblGrid>
              <a:tr h="246126">
                <a:tc>
                  <a:txBody>
                    <a:bodyPr wrap="none"/>
                    <a:lstStyle/>
                    <a:p>
                      <a:pPr algn="l"/>
                      <a:r>
                        <a:rPr sz="1100" b="1">
                          <a:solidFill>
                            <a:srgbClr val="0B2E4A"/>
                          </a:solidFill>
                          <a:latin typeface="Calibri"/>
                        </a:rPr>
                        <a:t>Nature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8158">
                <a:tc>
                  <a:txBody>
                    <a:bodyPr wrap="none"/>
                    <a:lstStyle/>
                    <a:p>
                      <a:pPr algn="l"/>
                      <a:r>
                        <a:rPr sz="1100" b="1">
                          <a:solidFill>
                            <a:srgbClr val="2E2E2E"/>
                          </a:solidFill>
                          <a:latin typeface="Calibri"/>
                        </a:rPr>
                        <a:t>Organic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8158">
                <a:tc>
                  <a:txBody>
                    <a:bodyPr wrap="none"/>
                    <a:lstStyle/>
                    <a:p>
                      <a:pPr algn="l"/>
                      <a:r>
                        <a:rPr sz="1100" b="1">
                          <a:solidFill>
                            <a:srgbClr val="2E2E2E"/>
                          </a:solidFill>
                          <a:latin typeface="Calibri"/>
                        </a:rPr>
                        <a:t>Conventional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8158">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7" name="TextBox 16"/>
          <p:cNvSpPr txBox="1"/>
          <p:nvPr/>
        </p:nvSpPr>
        <p:spPr>
          <a:xfrm>
            <a:off x="219075" y="22383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430398" y="1589912"/>
            <a:ext cx="366712" cy="533400"/>
          </a:xfrm>
          <a:prstGeom prst="rect">
            <a:avLst/>
          </a:prstGeom>
        </p:spPr>
      </p:pic>
    </p:spTree>
  </p:cSld>
  <p:clrMapOvr>
    <a:masterClrMapping/>
  </p:clrMapOvr>
</p:sld>
</file>

<file path=ppt/slides/slide226.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14.2</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Product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2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Product Type: growth contribution, share variance and absolute $ opportunity</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Product Type (US$ Mn)</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Product Type</a:t>
            </a:r>
          </a:p>
        </p:txBody>
      </p:sp>
      <p:graphicFrame>
        <p:nvGraphicFramePr>
          <p:cNvPr id="15" name="Table 14"/>
          <p:cNvGraphicFramePr>
            <a:graphicFrameLocks noGrp="1"/>
          </p:cNvGraphicFramePr>
          <p:nvPr/>
        </p:nvGraphicFramePr>
        <p:xfrm>
          <a:off x="6181725" y="1238250"/>
          <a:ext cx="5857874" cy="2286000"/>
        </p:xfrm>
        <a:graphic>
          <a:graphicData uri="http://schemas.openxmlformats.org/drawingml/2006/table">
            <a:tbl>
              <a:tblPr>
                <a:tableStyleId>{5C22544A-7EE6-4342-B048-85BDC9FD1C3A}</a:tableStyleId>
              </a:tblPr>
              <a:tblGrid>
                <a:gridCol w="1250158"/>
                <a:gridCol w="1151929"/>
                <a:gridCol w="1151929"/>
                <a:gridCol w="1151929"/>
                <a:gridCol w="1151929"/>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1019937">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1019937">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6" name="TextBox 15"/>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Product Type (US$ Mn), between 2026–2036</a:t>
            </a:r>
          </a:p>
        </p:txBody>
      </p:sp>
      <p:graphicFrame>
        <p:nvGraphicFramePr>
          <p:cNvPr id="19" name="Chart 18"/>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6"/>
          <a:stretch>
            <a:fillRect/>
          </a:stretch>
        </p:blipFill>
        <p:spPr>
          <a:xfrm>
            <a:off x="9549051" y="2237613"/>
            <a:ext cx="366712" cy="533400"/>
          </a:xfrm>
          <a:prstGeom prst="rect">
            <a:avLst/>
          </a:prstGeom>
        </p:spPr>
      </p:pic>
      <p:pic>
        <p:nvPicPr>
          <p:cNvPr id="27" name="Picture 26" descr="lock.png"/>
          <p:cNvPicPr>
            <a:picLocks noChangeAspect="1"/>
          </p:cNvPicPr>
          <p:nvPr/>
        </p:nvPicPr>
        <p:blipFill>
          <a:blip r:embed="rId6"/>
          <a:stretch>
            <a:fillRect/>
          </a:stretch>
        </p:blipFill>
        <p:spPr>
          <a:xfrm>
            <a:off x="5964247" y="5123309"/>
            <a:ext cx="263506" cy="383281"/>
          </a:xfrm>
          <a:prstGeom prst="rect">
            <a:avLst/>
          </a:prstGeom>
        </p:spPr>
      </p:pic>
      <p:sp>
        <p:nvSpPr>
          <p:cNvPr id="29"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11520309"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2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Product Type, 2021–2036</a:t>
            </a:r>
          </a:p>
        </p:txBody>
      </p:sp>
      <p:sp>
        <p:nvSpPr>
          <p:cNvPr id="14" name="Rounded Rectangle 13"/>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Product Type (US$ Mn)</a:t>
            </a:r>
          </a:p>
        </p:txBody>
      </p:sp>
      <p:graphicFrame>
        <p:nvGraphicFramePr>
          <p:cNvPr id="16" name="Table 15"/>
          <p:cNvGraphicFramePr>
            <a:graphicFrameLocks noGrp="1"/>
          </p:cNvGraphicFramePr>
          <p:nvPr/>
        </p:nvGraphicFramePr>
        <p:xfrm>
          <a:off x="152400" y="1238250"/>
          <a:ext cx="11887206" cy="2219326"/>
        </p:xfrm>
        <a:graphic>
          <a:graphicData uri="http://schemas.openxmlformats.org/drawingml/2006/table">
            <a:tbl>
              <a:tblPr>
                <a:tableStyleId>{5C22544A-7EE6-4342-B048-85BDC9FD1C3A}</a:tableStyleId>
              </a:tblPr>
              <a:tblGrid>
                <a:gridCol w="1766511"/>
                <a:gridCol w="595335"/>
                <a:gridCol w="595335"/>
                <a:gridCol w="595335"/>
                <a:gridCol w="595335"/>
                <a:gridCol w="595335"/>
                <a:gridCol w="595335"/>
                <a:gridCol w="595335"/>
                <a:gridCol w="595335"/>
                <a:gridCol w="595335"/>
                <a:gridCol w="595335"/>
                <a:gridCol w="595335"/>
                <a:gridCol w="595335"/>
                <a:gridCol w="595335"/>
                <a:gridCol w="595335"/>
                <a:gridCol w="595335"/>
                <a:gridCol w="595335"/>
                <a:gridCol w="595335"/>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Matcha 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Caffeine Added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Decaffeinated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High Caffeine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 Naturally Caffeinated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 Naturally Decaffeinated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7" name="TextBox 16"/>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92568" y="2204276"/>
            <a:ext cx="366712" cy="533400"/>
          </a:xfrm>
          <a:prstGeom prst="rect">
            <a:avLst/>
          </a:prstGeom>
        </p:spPr>
      </p:pic>
    </p:spTree>
  </p:cSld>
  <p:clrMapOvr>
    <a:masterClrMapping/>
  </p:clrMapOvr>
</p:sld>
</file>

<file path=ppt/slides/slide22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14.3</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Form</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Form</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Form: growth contribution, share variance and absolute $ opportunity</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Form (US$ Mn)</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Form</a:t>
            </a:r>
          </a:p>
        </p:txBody>
      </p:sp>
      <p:graphicFrame>
        <p:nvGraphicFramePr>
          <p:cNvPr id="15" name="Table 14"/>
          <p:cNvGraphicFramePr>
            <a:graphicFrameLocks noGrp="1"/>
          </p:cNvGraphicFramePr>
          <p:nvPr/>
        </p:nvGraphicFramePr>
        <p:xfrm>
          <a:off x="6181725" y="1238250"/>
          <a:ext cx="5857877" cy="2286000"/>
        </p:xfrm>
        <a:graphic>
          <a:graphicData uri="http://schemas.openxmlformats.org/drawingml/2006/table">
            <a:tbl>
              <a:tblPr>
                <a:tableStyleId>{5C22544A-7EE6-4342-B048-85BDC9FD1C3A}</a:tableStyleId>
              </a:tblPr>
              <a:tblGrid>
                <a:gridCol w="828477"/>
                <a:gridCol w="1257350"/>
                <a:gridCol w="1257350"/>
                <a:gridCol w="1257350"/>
                <a:gridCol w="1257350"/>
              </a:tblGrid>
              <a:tr h="246126">
                <a:tc>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339979">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9979">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9979">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9979">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6" name="TextBox 15"/>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Form (US$ Mn), between 2026–2036</a:t>
            </a:r>
          </a:p>
        </p:txBody>
      </p:sp>
      <p:graphicFrame>
        <p:nvGraphicFramePr>
          <p:cNvPr id="19" name="Chart 18"/>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6"/>
          <a:stretch>
            <a:fillRect/>
          </a:stretch>
        </p:blipFill>
        <p:spPr>
          <a:xfrm>
            <a:off x="9338212" y="2237613"/>
            <a:ext cx="366712" cy="533400"/>
          </a:xfrm>
          <a:prstGeom prst="rect">
            <a:avLst/>
          </a:prstGeom>
        </p:spPr>
      </p:pic>
      <p:pic>
        <p:nvPicPr>
          <p:cNvPr id="27" name="Picture 26" descr="lock.png"/>
          <p:cNvPicPr>
            <a:picLocks noChangeAspect="1"/>
          </p:cNvPicPr>
          <p:nvPr/>
        </p:nvPicPr>
        <p:blipFill>
          <a:blip r:embed="rId6"/>
          <a:stretch>
            <a:fillRect/>
          </a:stretch>
        </p:blipFill>
        <p:spPr>
          <a:xfrm>
            <a:off x="5964247" y="5123309"/>
            <a:ext cx="263506" cy="383281"/>
          </a:xfrm>
          <a:prstGeom prst="rect">
            <a:avLst/>
          </a:prstGeom>
        </p:spPr>
      </p:pic>
      <p:sp>
        <p:nvSpPr>
          <p:cNvPr id="29"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11520309"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Form</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Form, 2021–2036</a:t>
            </a:r>
          </a:p>
        </p:txBody>
      </p:sp>
      <p:sp>
        <p:nvSpPr>
          <p:cNvPr id="14" name="Rounded Rectangle 13"/>
          <p:cNvSpPr/>
          <p:nvPr/>
        </p:nvSpPr>
        <p:spPr>
          <a:xfrm>
            <a:off x="142875" y="981075"/>
            <a:ext cx="11906250" cy="2438400"/>
          </a:xfrm>
          <a:prstGeom prst="roundRect">
            <a:avLst>
              <a:gd name="adj" fmla="val 312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Form (US$ Mn)</a:t>
            </a:r>
          </a:p>
        </p:txBody>
      </p:sp>
      <p:graphicFrame>
        <p:nvGraphicFramePr>
          <p:cNvPr id="16" name="Table 15"/>
          <p:cNvGraphicFramePr>
            <a:graphicFrameLocks noGrp="1"/>
          </p:cNvGraphicFramePr>
          <p:nvPr/>
        </p:nvGraphicFramePr>
        <p:xfrm>
          <a:off x="152400" y="1238250"/>
          <a:ext cx="11887195" cy="1971675"/>
        </p:xfrm>
        <a:graphic>
          <a:graphicData uri="http://schemas.openxmlformats.org/drawingml/2006/table">
            <a:tbl>
              <a:tblPr>
                <a:tableStyleId>{5C22544A-7EE6-4342-B048-85BDC9FD1C3A}</a:tableStyleId>
              </a:tblPr>
              <a:tblGrid>
                <a:gridCol w="761766"/>
                <a:gridCol w="654437"/>
                <a:gridCol w="654437"/>
                <a:gridCol w="654437"/>
                <a:gridCol w="654437"/>
                <a:gridCol w="654437"/>
                <a:gridCol w="654437"/>
                <a:gridCol w="654437"/>
                <a:gridCol w="654437"/>
                <a:gridCol w="654437"/>
                <a:gridCol w="654437"/>
                <a:gridCol w="654437"/>
                <a:gridCol w="654437"/>
                <a:gridCol w="654437"/>
                <a:gridCol w="654437"/>
                <a:gridCol w="654437"/>
                <a:gridCol w="654437"/>
                <a:gridCol w="654437"/>
              </a:tblGrid>
              <a:tr h="246126">
                <a:tc>
                  <a:txBody>
                    <a:bodyPr wrap="none"/>
                    <a:lstStyle/>
                    <a:p>
                      <a:pPr algn="l"/>
                      <a:r>
                        <a:rPr sz="1100" b="1">
                          <a:solidFill>
                            <a:srgbClr val="0B2E4A"/>
                          </a:solidFill>
                          <a:latin typeface="Calibri"/>
                        </a:rPr>
                        <a:t>Form</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507">
                <a:tc>
                  <a:txBody>
                    <a:bodyPr wrap="none"/>
                    <a:lstStyle/>
                    <a:p>
                      <a:pPr algn="l"/>
                      <a:r>
                        <a:rPr sz="1100" b="1">
                          <a:solidFill>
                            <a:srgbClr val="2E2E2E"/>
                          </a:solidFill>
                          <a:latin typeface="Calibri"/>
                        </a:rPr>
                        <a:t>Powder</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Liquid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Granules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Blended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Ground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507">
                <a:tc>
                  <a:txBody>
                    <a:bodyPr wrap="none"/>
                    <a:lstStyle/>
                    <a:p>
                      <a:pPr algn="l"/>
                      <a:r>
                        <a:rPr sz="1100" b="1">
                          <a:solidFill>
                            <a:srgbClr val="2E2E2E"/>
                          </a:solidFill>
                          <a:latin typeface="Calibri"/>
                        </a:rPr>
                        <a:t>Whole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507">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7" name="TextBox 16"/>
          <p:cNvSpPr txBox="1"/>
          <p:nvPr/>
        </p:nvSpPr>
        <p:spPr>
          <a:xfrm>
            <a:off x="219075" y="32194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290190" y="2080450"/>
            <a:ext cx="366712" cy="533399"/>
          </a:xfrm>
          <a:prstGeom prst="rect">
            <a:avLst/>
          </a:prstGeom>
        </p:spPr>
      </p:pic>
    </p:spTree>
  </p:cSld>
  <p:clrMapOvr>
    <a:masterClrMapping/>
  </p:clrMapOvr>
</p:sld>
</file>

<file path=ppt/slides/slide23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14.4</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Flavour</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Flavour: growth contribution, share variance and absolute $ opportunity</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Flavour (US$ Mn)</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Flavour</a:t>
            </a:r>
          </a:p>
        </p:txBody>
      </p:sp>
      <p:graphicFrame>
        <p:nvGraphicFramePr>
          <p:cNvPr id="15" name="Table 14"/>
          <p:cNvGraphicFramePr>
            <a:graphicFrameLocks noGrp="1"/>
          </p:cNvGraphicFramePr>
          <p:nvPr/>
        </p:nvGraphicFramePr>
        <p:xfrm>
          <a:off x="6181725" y="1238250"/>
          <a:ext cx="5857876" cy="2285998"/>
        </p:xfrm>
        <a:graphic>
          <a:graphicData uri="http://schemas.openxmlformats.org/drawingml/2006/table">
            <a:tbl>
              <a:tblPr>
                <a:tableStyleId>{5C22544A-7EE6-4342-B048-85BDC9FD1C3A}</a:tableStyleId>
              </a:tblPr>
              <a:tblGrid>
                <a:gridCol w="1187972"/>
                <a:gridCol w="1167476"/>
                <a:gridCol w="1167476"/>
                <a:gridCol w="1167476"/>
                <a:gridCol w="1167476"/>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54984">
                <a:tc>
                  <a:txBody>
                    <a:bodyPr wrap="none"/>
                    <a:lstStyle/>
                    <a:p>
                      <a:pPr algn="l"/>
                      <a:r>
                        <a:rPr sz="1100" b="1">
                          <a:solidFill>
                            <a:srgbClr val="2E2E2E"/>
                          </a:solidFill>
                          <a:latin typeface="Calibri"/>
                        </a:rPr>
                        <a:t>Unflavoured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Vanilla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Lemon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Orange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Mocha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Cinnamon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54984">
                <a:tc>
                  <a:txBody>
                    <a:bodyPr wrap="none"/>
                    <a:lstStyle/>
                    <a:p>
                      <a:pPr algn="l"/>
                      <a:r>
                        <a:rPr sz="1100" b="1">
                          <a:solidFill>
                            <a:srgbClr val="2E2E2E"/>
                          </a:solidFill>
                          <a:latin typeface="Calibri"/>
                        </a:rPr>
                        <a:t>Pumpkin Spice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54984">
                <a:tc>
                  <a:txBody>
                    <a:bodyPr wrap="none"/>
                    <a:lstStyle/>
                    <a:p>
                      <a:pPr algn="l"/>
                      <a:r>
                        <a:rPr sz="1100" b="1">
                          <a:solidFill>
                            <a:srgbClr val="2E2E2E"/>
                          </a:solidFill>
                          <a:latin typeface="Calibri"/>
                        </a:rPr>
                        <a:t>Other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6" name="TextBox 15"/>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Flavour (US$ Mn), between 2026–2036</a:t>
            </a:r>
          </a:p>
        </p:txBody>
      </p:sp>
      <p:graphicFrame>
        <p:nvGraphicFramePr>
          <p:cNvPr id="19" name="Chart 18"/>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6"/>
          <a:stretch>
            <a:fillRect/>
          </a:stretch>
        </p:blipFill>
        <p:spPr>
          <a:xfrm>
            <a:off x="9517958" y="2237612"/>
            <a:ext cx="366712" cy="533400"/>
          </a:xfrm>
          <a:prstGeom prst="rect">
            <a:avLst/>
          </a:prstGeom>
        </p:spPr>
      </p:pic>
      <p:pic>
        <p:nvPicPr>
          <p:cNvPr id="27" name="Picture 26" descr="lock.png"/>
          <p:cNvPicPr>
            <a:picLocks noChangeAspect="1"/>
          </p:cNvPicPr>
          <p:nvPr/>
        </p:nvPicPr>
        <p:blipFill>
          <a:blip r:embed="rId6"/>
          <a:stretch>
            <a:fillRect/>
          </a:stretch>
        </p:blipFill>
        <p:spPr>
          <a:xfrm>
            <a:off x="5964247" y="5123309"/>
            <a:ext cx="263506" cy="383281"/>
          </a:xfrm>
          <a:prstGeom prst="rect">
            <a:avLst/>
          </a:prstGeom>
        </p:spPr>
      </p:pic>
      <p:sp>
        <p:nvSpPr>
          <p:cNvPr id="29"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11520309"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Flavour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Flavour, 2021–2036</a:t>
            </a:r>
          </a:p>
        </p:txBody>
      </p:sp>
      <p:sp>
        <p:nvSpPr>
          <p:cNvPr id="10" name="Rounded Rectangle 9"/>
          <p:cNvSpPr/>
          <p:nvPr/>
        </p:nvSpPr>
        <p:spPr>
          <a:xfrm>
            <a:off x="142875" y="981075"/>
            <a:ext cx="11906250"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Flavour (US$ Mn)</a:t>
            </a:r>
          </a:p>
        </p:txBody>
      </p:sp>
      <p:graphicFrame>
        <p:nvGraphicFramePr>
          <p:cNvPr id="12" name="Table 11"/>
          <p:cNvGraphicFramePr>
            <a:graphicFrameLocks noGrp="1"/>
          </p:cNvGraphicFramePr>
          <p:nvPr/>
        </p:nvGraphicFramePr>
        <p:xfrm>
          <a:off x="152400" y="1238250"/>
          <a:ext cx="11887194" cy="2466975"/>
        </p:xfrm>
        <a:graphic>
          <a:graphicData uri="http://schemas.openxmlformats.org/drawingml/2006/table">
            <a:tbl>
              <a:tblPr>
                <a:tableStyleId>{5C22544A-7EE6-4342-B048-85BDC9FD1C3A}</a:tableStyleId>
              </a:tblPr>
              <a:tblGrid>
                <a:gridCol w="1136751"/>
                <a:gridCol w="632379"/>
                <a:gridCol w="632379"/>
                <a:gridCol w="632379"/>
                <a:gridCol w="632379"/>
                <a:gridCol w="632379"/>
                <a:gridCol w="632379"/>
                <a:gridCol w="632379"/>
                <a:gridCol w="632379"/>
                <a:gridCol w="632379"/>
                <a:gridCol w="632379"/>
                <a:gridCol w="632379"/>
                <a:gridCol w="632379"/>
                <a:gridCol w="632379"/>
                <a:gridCol w="632379"/>
                <a:gridCol w="632379"/>
                <a:gridCol w="632379"/>
                <a:gridCol w="632379"/>
              </a:tblGrid>
              <a:tr h="246126">
                <a:tc>
                  <a:txBody>
                    <a:bodyPr wrap="none"/>
                    <a:lstStyle/>
                    <a:p>
                      <a:pPr algn="l"/>
                      <a:r>
                        <a:rPr sz="1100" b="1">
                          <a:solidFill>
                            <a:srgbClr val="0B2E4A"/>
                          </a:solidFill>
                          <a:latin typeface="Calibri"/>
                        </a:rPr>
                        <a:t>Flavour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Unflavoured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Vanilla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Lemon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Orange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Mocha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Cinnamon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Pumpkin Spice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Other Flavours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7147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477682" y="2328100"/>
            <a:ext cx="366712" cy="533400"/>
          </a:xfrm>
          <a:prstGeom prst="rect">
            <a:avLst/>
          </a:prstGeom>
        </p:spPr>
      </p:pic>
    </p:spTree>
  </p:cSld>
  <p:clrMapOvr>
    <a:masterClrMapping/>
  </p:clrMapOvr>
</p:sld>
</file>

<file path=ppt/slides/slide23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Packaging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3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Packaging Type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Packaging Type: growth contribution, share variance and absolute $ opportunity</a:t>
            </a:r>
          </a:p>
        </p:txBody>
      </p:sp>
      <p:sp>
        <p:nvSpPr>
          <p:cNvPr id="10" name="Rounded Rectangle 9"/>
          <p:cNvSpPr/>
          <p:nvPr/>
        </p:nvSpPr>
        <p:spPr>
          <a:xfrm>
            <a:off x="142875" y="981075"/>
            <a:ext cx="58769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Packaging Type (US$ Mn)</a:t>
            </a:r>
          </a:p>
        </p:txBody>
      </p:sp>
      <p:graphicFrame>
        <p:nvGraphicFramePr>
          <p:cNvPr id="12" name="Chart 11"/>
          <p:cNvGraphicFramePr>
            <a:graphicFrameLocks noGrp="1"/>
          </p:cNvGraphicFramePr>
          <p:nvPr/>
        </p:nvGraphicFramePr>
        <p:xfrm>
          <a:off x="238125" y="1266825"/>
          <a:ext cx="5686425" cy="2590800"/>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Packaging Type</a:t>
            </a:r>
          </a:p>
        </p:txBody>
      </p:sp>
      <p:graphicFrame>
        <p:nvGraphicFramePr>
          <p:cNvPr id="15" name="Table 14"/>
          <p:cNvGraphicFramePr>
            <a:graphicFrameLocks noGrp="1"/>
          </p:cNvGraphicFramePr>
          <p:nvPr/>
        </p:nvGraphicFramePr>
        <p:xfrm>
          <a:off x="6181725" y="1238250"/>
          <a:ext cx="5857874" cy="2466975"/>
        </p:xfrm>
        <a:graphic>
          <a:graphicData uri="http://schemas.openxmlformats.org/drawingml/2006/table">
            <a:tbl>
              <a:tblPr>
                <a:tableStyleId>{5C22544A-7EE6-4342-B048-85BDC9FD1C3A}</a:tableStyleId>
              </a:tblPr>
              <a:tblGrid>
                <a:gridCol w="1703022"/>
                <a:gridCol w="1038713"/>
                <a:gridCol w="1038713"/>
                <a:gridCol w="1038713"/>
                <a:gridCol w="1038713"/>
              </a:tblGrid>
              <a:tr h="246126">
                <a:tc>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7147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89348" y="2319896"/>
            <a:ext cx="274265" cy="398931"/>
          </a:xfrm>
          <a:prstGeom prst="rect">
            <a:avLst/>
          </a:prstGeom>
        </p:spPr>
      </p:pic>
      <p:pic>
        <p:nvPicPr>
          <p:cNvPr id="19" name="Picture 18" descr="lock.png"/>
          <p:cNvPicPr>
            <a:picLocks noChangeAspect="1"/>
          </p:cNvPicPr>
          <p:nvPr/>
        </p:nvPicPr>
        <p:blipFill>
          <a:blip r:embed="rId5"/>
          <a:stretch>
            <a:fillRect/>
          </a:stretch>
        </p:blipFill>
        <p:spPr>
          <a:xfrm>
            <a:off x="9775483" y="2328100"/>
            <a:ext cx="366712" cy="533400"/>
          </a:xfrm>
          <a:prstGeom prst="rect">
            <a:avLst/>
          </a:prstGeom>
        </p:spPr>
      </p:pic>
      <p:sp>
        <p:nvSpPr>
          <p:cNvPr id="20" name="lockshield_12"/>
          <p:cNvSpPr/>
          <p:nvPr/>
        </p:nvSpPr>
        <p:spPr>
          <a:xfrm>
            <a:off x="238125" y="1266825"/>
            <a:ext cx="56864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Packaging Type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Packaging Type: growth contribution, share variance and absolute $ opportunity</a:t>
            </a:r>
          </a:p>
        </p:txBody>
      </p:sp>
      <p:sp>
        <p:nvSpPr>
          <p:cNvPr id="10" name="Rounded Rectangle 9"/>
          <p:cNvSpPr/>
          <p:nvPr/>
        </p:nvSpPr>
        <p:spPr>
          <a:xfrm>
            <a:off x="142875" y="981075"/>
            <a:ext cx="58769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Packaging Type (US$ Mn), between 2026–2036</a:t>
            </a:r>
          </a:p>
        </p:txBody>
      </p:sp>
      <p:graphicFrame>
        <p:nvGraphicFramePr>
          <p:cNvPr id="12" name="Chart 11"/>
          <p:cNvGraphicFramePr>
            <a:graphicFrameLocks noGrp="1"/>
          </p:cNvGraphicFramePr>
          <p:nvPr/>
        </p:nvGraphicFramePr>
        <p:xfrm>
          <a:off x="238125" y="1266825"/>
          <a:ext cx="5686425" cy="2590800"/>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933700"/>
          </a:xfrm>
          <a:prstGeom prst="roundRect">
            <a:avLst>
              <a:gd name="adj" fmla="val 259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Volume Shares &amp; Variance, By Packaging Type</a:t>
            </a:r>
          </a:p>
        </p:txBody>
      </p:sp>
      <p:graphicFrame>
        <p:nvGraphicFramePr>
          <p:cNvPr id="15" name="Table 14"/>
          <p:cNvGraphicFramePr>
            <a:graphicFrameLocks noGrp="1"/>
          </p:cNvGraphicFramePr>
          <p:nvPr/>
        </p:nvGraphicFramePr>
        <p:xfrm>
          <a:off x="6181725" y="1238250"/>
          <a:ext cx="5857874" cy="2466975"/>
        </p:xfrm>
        <a:graphic>
          <a:graphicData uri="http://schemas.openxmlformats.org/drawingml/2006/table">
            <a:tbl>
              <a:tblPr>
                <a:tableStyleId>{5C22544A-7EE6-4342-B048-85BDC9FD1C3A}</a:tableStyleId>
              </a:tblPr>
              <a:tblGrid>
                <a:gridCol w="1703022"/>
                <a:gridCol w="1038713"/>
                <a:gridCol w="1038713"/>
                <a:gridCol w="1038713"/>
                <a:gridCol w="1038713"/>
              </a:tblGrid>
              <a:tr h="246126">
                <a:tc>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761">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761">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761">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714750"/>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TextBox 1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8" name="Picture 17" descr="lock.png"/>
          <p:cNvPicPr>
            <a:picLocks noChangeAspect="1"/>
          </p:cNvPicPr>
          <p:nvPr/>
        </p:nvPicPr>
        <p:blipFill>
          <a:blip r:embed="rId5"/>
          <a:stretch>
            <a:fillRect/>
          </a:stretch>
        </p:blipFill>
        <p:spPr>
          <a:xfrm>
            <a:off x="3089348" y="2319896"/>
            <a:ext cx="274265" cy="398931"/>
          </a:xfrm>
          <a:prstGeom prst="rect">
            <a:avLst/>
          </a:prstGeom>
        </p:spPr>
      </p:pic>
      <p:pic>
        <p:nvPicPr>
          <p:cNvPr id="19" name="Picture 18" descr="lock.png"/>
          <p:cNvPicPr>
            <a:picLocks noChangeAspect="1"/>
          </p:cNvPicPr>
          <p:nvPr/>
        </p:nvPicPr>
        <p:blipFill>
          <a:blip r:embed="rId5"/>
          <a:stretch>
            <a:fillRect/>
          </a:stretch>
        </p:blipFill>
        <p:spPr>
          <a:xfrm>
            <a:off x="9775483" y="2328100"/>
            <a:ext cx="366712" cy="533400"/>
          </a:xfrm>
          <a:prstGeom prst="rect">
            <a:avLst/>
          </a:prstGeom>
        </p:spPr>
      </p:pic>
      <p:sp>
        <p:nvSpPr>
          <p:cNvPr id="20" name="lockshield_12"/>
          <p:cNvSpPr/>
          <p:nvPr/>
        </p:nvSpPr>
        <p:spPr>
          <a:xfrm>
            <a:off x="238125" y="1266825"/>
            <a:ext cx="5686425" cy="2590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3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Packaging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Packaging Type, 2021–2036</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Packaging Type (US$ Mn)</a:t>
            </a:r>
          </a:p>
        </p:txBody>
      </p:sp>
      <p:graphicFrame>
        <p:nvGraphicFramePr>
          <p:cNvPr id="12" name="Table 11"/>
          <p:cNvGraphicFramePr>
            <a:graphicFrameLocks noGrp="1"/>
          </p:cNvGraphicFramePr>
          <p:nvPr/>
        </p:nvGraphicFramePr>
        <p:xfrm>
          <a:off x="152400" y="1238250"/>
          <a:ext cx="11887204" cy="2714626"/>
        </p:xfrm>
        <a:graphic>
          <a:graphicData uri="http://schemas.openxmlformats.org/drawingml/2006/table">
            <a:tbl>
              <a:tblPr>
                <a:tableStyleId>{5C22544A-7EE6-4342-B048-85BDC9FD1C3A}</a:tableStyleId>
              </a:tblPr>
              <a:tblGrid>
                <a:gridCol w="1730452"/>
                <a:gridCol w="597456"/>
                <a:gridCol w="597456"/>
                <a:gridCol w="597456"/>
                <a:gridCol w="597456"/>
                <a:gridCol w="597456"/>
                <a:gridCol w="597456"/>
                <a:gridCol w="597456"/>
                <a:gridCol w="597456"/>
                <a:gridCol w="597456"/>
                <a:gridCol w="597456"/>
                <a:gridCol w="597456"/>
                <a:gridCol w="597456"/>
                <a:gridCol w="597456"/>
                <a:gridCol w="597456"/>
                <a:gridCol w="597456"/>
                <a:gridCol w="597456"/>
                <a:gridCol w="597456"/>
              </a:tblGrid>
              <a:tr h="246126">
                <a:tc>
                  <a:txBody>
                    <a:bodyPr wrap="none"/>
                    <a:lstStyle/>
                    <a:p>
                      <a:pPr algn="l"/>
                      <a:r>
                        <a:rPr sz="1100" b="1">
                          <a:solidFill>
                            <a:srgbClr val="0B2E4A"/>
                          </a:solidFill>
                          <a:latin typeface="Calibri"/>
                        </a:rPr>
                        <a:t>Packaging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Pouches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Tins and Cans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Jars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Boxes and Cartons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Sachets and Stick Packs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Bottles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Cups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Bulk Industrial Packaging</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Other Packaging Types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6774537" y="2451926"/>
            <a:ext cx="366712" cy="533400"/>
          </a:xfrm>
          <a:prstGeom prst="rect">
            <a:avLst/>
          </a:prstGeom>
        </p:spPr>
      </p:pic>
    </p:spTree>
  </p:cSld>
  <p:clrMapOvr>
    <a:masterClrMapping/>
  </p:clrMapOvr>
</p:sld>
</file>

<file path=ppt/slides/slide23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Grade Type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Grade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Grade Type: growth contribution, share variance and absolute $ opportunity</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Grade Type (US$ Mn)</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Grade Type</a:t>
            </a:r>
          </a:p>
        </p:txBody>
      </p:sp>
      <p:graphicFrame>
        <p:nvGraphicFramePr>
          <p:cNvPr id="15" name="Table 14"/>
          <p:cNvGraphicFramePr>
            <a:graphicFrameLocks noGrp="1"/>
          </p:cNvGraphicFramePr>
          <p:nvPr/>
        </p:nvGraphicFramePr>
        <p:xfrm>
          <a:off x="6181725" y="1238250"/>
          <a:ext cx="5857873" cy="2286001"/>
        </p:xfrm>
        <a:graphic>
          <a:graphicData uri="http://schemas.openxmlformats.org/drawingml/2006/table">
            <a:tbl>
              <a:tblPr>
                <a:tableStyleId>{5C22544A-7EE6-4342-B048-85BDC9FD1C3A}</a:tableStyleId>
              </a:tblPr>
              <a:tblGrid>
                <a:gridCol w="1691905"/>
                <a:gridCol w="1041492"/>
                <a:gridCol w="1041492"/>
                <a:gridCol w="1041492"/>
                <a:gridCol w="1041492"/>
              </a:tblGrid>
              <a:tr h="246126">
                <a:tc>
                  <a:txBody>
                    <a:bodyPr wrap="none"/>
                    <a:lstStyle/>
                    <a:p>
                      <a:pPr algn="l"/>
                      <a:r>
                        <a:rPr sz="1100" b="1">
                          <a:solidFill>
                            <a:srgbClr val="0B2E4A"/>
                          </a:solidFill>
                          <a:latin typeface="Calibri"/>
                        </a:rPr>
                        <a:t>Grade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407975">
                <a:tc>
                  <a:txBody>
                    <a:bodyPr wrap="none"/>
                    <a:lstStyle/>
                    <a:p>
                      <a:pPr algn="l"/>
                      <a:r>
                        <a:rPr sz="1100" b="1">
                          <a:solidFill>
                            <a:srgbClr val="2E2E2E"/>
                          </a:solidFill>
                          <a:latin typeface="Calibri"/>
                        </a:rPr>
                        <a:t>Ceremonial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07975">
                <a:tc>
                  <a:txBody>
                    <a:bodyPr wrap="none"/>
                    <a:lstStyle/>
                    <a:p>
                      <a:pPr algn="l"/>
                      <a:r>
                        <a:rPr sz="1100" b="1">
                          <a:solidFill>
                            <a:srgbClr val="2E2E2E"/>
                          </a:solidFill>
                          <a:latin typeface="Calibri"/>
                        </a:rPr>
                        <a:t>Premium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07975">
                <a:tc>
                  <a:txBody>
                    <a:bodyPr wrap="none"/>
                    <a:lstStyle/>
                    <a:p>
                      <a:pPr algn="l"/>
                      <a:r>
                        <a:rPr sz="1100" b="1">
                          <a:solidFill>
                            <a:srgbClr val="2E2E2E"/>
                          </a:solidFill>
                          <a:latin typeface="Calibri"/>
                        </a:rPr>
                        <a:t>Standard Drinking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07975">
                <a:tc>
                  <a:txBody>
                    <a:bodyPr wrap="none"/>
                    <a:lstStyle/>
                    <a:p>
                      <a:pPr algn="l"/>
                      <a:r>
                        <a:rPr sz="1100" b="1">
                          <a:solidFill>
                            <a:srgbClr val="2E2E2E"/>
                          </a:solidFill>
                          <a:latin typeface="Calibri"/>
                        </a:rPr>
                        <a:t>Culinary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07975">
                <a:tc>
                  <a:txBody>
                    <a:bodyPr wrap="none"/>
                    <a:lstStyle/>
                    <a:p>
                      <a:pPr algn="l"/>
                      <a:r>
                        <a:rPr sz="1100" b="1">
                          <a:solidFill>
                            <a:srgbClr val="2E2E2E"/>
                          </a:solidFill>
                          <a:latin typeface="Calibri"/>
                        </a:rPr>
                        <a:t>Industrial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Grade Type (US$ Mn), between 2026–2036</a:t>
            </a:r>
          </a:p>
        </p:txBody>
      </p:sp>
      <p:graphicFrame>
        <p:nvGraphicFramePr>
          <p:cNvPr id="19" name="Chart 18"/>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6"/>
          <a:stretch>
            <a:fillRect/>
          </a:stretch>
        </p:blipFill>
        <p:spPr>
          <a:xfrm>
            <a:off x="9769924" y="2237613"/>
            <a:ext cx="366712" cy="533400"/>
          </a:xfrm>
          <a:prstGeom prst="rect">
            <a:avLst/>
          </a:prstGeom>
        </p:spPr>
      </p:pic>
      <p:pic>
        <p:nvPicPr>
          <p:cNvPr id="27" name="Picture 26" descr="lock.png"/>
          <p:cNvPicPr>
            <a:picLocks noChangeAspect="1"/>
          </p:cNvPicPr>
          <p:nvPr/>
        </p:nvPicPr>
        <p:blipFill>
          <a:blip r:embed="rId6"/>
          <a:stretch>
            <a:fillRect/>
          </a:stretch>
        </p:blipFill>
        <p:spPr>
          <a:xfrm>
            <a:off x="5964247" y="5123309"/>
            <a:ext cx="263506" cy="383281"/>
          </a:xfrm>
          <a:prstGeom prst="rect">
            <a:avLst/>
          </a:prstGeom>
        </p:spPr>
      </p:pic>
      <p:sp>
        <p:nvSpPr>
          <p:cNvPr id="29"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11520309"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Grade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Grade Type, 2021–2036</a:t>
            </a:r>
          </a:p>
        </p:txBody>
      </p:sp>
      <p:sp>
        <p:nvSpPr>
          <p:cNvPr id="14" name="Rounded Rectangle 13"/>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Grade Type (US$ Mn)</a:t>
            </a:r>
          </a:p>
        </p:txBody>
      </p:sp>
      <p:graphicFrame>
        <p:nvGraphicFramePr>
          <p:cNvPr id="16" name="Table 15"/>
          <p:cNvGraphicFramePr>
            <a:graphicFrameLocks noGrp="1"/>
          </p:cNvGraphicFramePr>
          <p:nvPr/>
        </p:nvGraphicFramePr>
        <p:xfrm>
          <a:off x="152400" y="1238250"/>
          <a:ext cx="11887198" cy="1724022"/>
        </p:xfrm>
        <a:graphic>
          <a:graphicData uri="http://schemas.openxmlformats.org/drawingml/2006/table">
            <a:tbl>
              <a:tblPr>
                <a:tableStyleId>{5C22544A-7EE6-4342-B048-85BDC9FD1C3A}</a:tableStyleId>
              </a:tblPr>
              <a:tblGrid>
                <a:gridCol w="1716863"/>
                <a:gridCol w="598255"/>
                <a:gridCol w="598255"/>
                <a:gridCol w="598255"/>
                <a:gridCol w="598255"/>
                <a:gridCol w="598255"/>
                <a:gridCol w="598255"/>
                <a:gridCol w="598255"/>
                <a:gridCol w="598255"/>
                <a:gridCol w="598255"/>
                <a:gridCol w="598255"/>
                <a:gridCol w="598255"/>
                <a:gridCol w="598255"/>
                <a:gridCol w="598255"/>
                <a:gridCol w="598255"/>
                <a:gridCol w="598255"/>
                <a:gridCol w="598255"/>
                <a:gridCol w="598255"/>
              </a:tblGrid>
              <a:tr h="246126">
                <a:tc>
                  <a:txBody>
                    <a:bodyPr wrap="none"/>
                    <a:lstStyle/>
                    <a:p>
                      <a:pPr algn="l"/>
                      <a:r>
                        <a:rPr sz="1100" b="1">
                          <a:solidFill>
                            <a:srgbClr val="0B2E4A"/>
                          </a:solidFill>
                          <a:latin typeface="Calibri"/>
                        </a:rPr>
                        <a:t>Grade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6">
                <a:tc>
                  <a:txBody>
                    <a:bodyPr wrap="none"/>
                    <a:lstStyle/>
                    <a:p>
                      <a:pPr algn="l"/>
                      <a:r>
                        <a:rPr sz="1100" b="1">
                          <a:solidFill>
                            <a:srgbClr val="2E2E2E"/>
                          </a:solidFill>
                          <a:latin typeface="Calibri"/>
                        </a:rPr>
                        <a:t>Ceremonial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Premium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Standard Drinking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Culinary Grade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Industrial Grade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7" name="TextBox 16"/>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6767740" y="1956623"/>
            <a:ext cx="366712" cy="533399"/>
          </a:xfrm>
          <a:prstGeom prst="rect">
            <a:avLst/>
          </a:prstGeom>
        </p:spPr>
      </p:pic>
    </p:spTree>
  </p:cSld>
  <p:clrMapOvr>
    <a:masterClrMapping/>
  </p:clrMapOvr>
</p:sld>
</file>

<file path=ppt/slides/slide24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Application</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Application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Application: growth contribution, share variance and absolute $ opportunity</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Application (US$ Mn)</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Application</a:t>
            </a:r>
          </a:p>
        </p:txBody>
      </p:sp>
      <p:graphicFrame>
        <p:nvGraphicFramePr>
          <p:cNvPr id="15" name="Table 14"/>
          <p:cNvGraphicFramePr>
            <a:graphicFrameLocks noGrp="1"/>
          </p:cNvGraphicFramePr>
          <p:nvPr/>
        </p:nvGraphicFramePr>
        <p:xfrm>
          <a:off x="6181725" y="1238250"/>
          <a:ext cx="5857875" cy="2286000"/>
        </p:xfrm>
        <a:graphic>
          <a:graphicData uri="http://schemas.openxmlformats.org/drawingml/2006/table">
            <a:tbl>
              <a:tblPr>
                <a:tableStyleId>{5C22544A-7EE6-4342-B048-85BDC9FD1C3A}</a:tableStyleId>
              </a:tblPr>
              <a:tblGrid>
                <a:gridCol w="2868954"/>
                <a:gridCol w="748092"/>
                <a:gridCol w="748092"/>
                <a:gridCol w="948539"/>
                <a:gridCol w="544198"/>
              </a:tblGrid>
              <a:tr h="438912">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47625" marR="38100" marT="19050" marB="19050" anchor="ctr">
                    <a:solidFill>
                      <a:srgbClr val="E0E8EF"/>
                    </a:solidFill>
                  </a:tcPr>
                </a:tc>
              </a:tr>
              <a:tr h="307848">
                <a:tc>
                  <a:txBody>
                    <a:bodyPr wrap="none"/>
                    <a:lstStyle/>
                    <a:p>
                      <a:pPr algn="l"/>
                      <a:r>
                        <a:rPr sz="1100" b="1">
                          <a:solidFill>
                            <a:srgbClr val="2E2E2E"/>
                          </a:solidFill>
                          <a:latin typeface="Calibri"/>
                        </a:rPr>
                        <a:t>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7848">
                <a:tc>
                  <a:txBody>
                    <a:bodyPr wrap="none"/>
                    <a:lstStyle/>
                    <a:p>
                      <a:pPr algn="l"/>
                      <a:r>
                        <a:rPr sz="1100" b="1">
                          <a:solidFill>
                            <a:srgbClr val="2E2E2E"/>
                          </a:solidFill>
                          <a:latin typeface="Calibri"/>
                        </a:rPr>
                        <a:t>Bakery and Confectionery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7848">
                <a:tc>
                  <a:txBody>
                    <a:bodyPr wrap="none"/>
                    <a:lstStyle/>
                    <a:p>
                      <a:pPr algn="l"/>
                      <a:r>
                        <a:rPr sz="1100" b="1">
                          <a:solidFill>
                            <a:srgbClr val="2E2E2E"/>
                          </a:solidFill>
                          <a:latin typeface="Calibri"/>
                        </a:rPr>
                        <a:t>Dairy and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7848">
                <a:tc>
                  <a:txBody>
                    <a:bodyPr wrap="none"/>
                    <a:lstStyle/>
                    <a:p>
                      <a:pPr algn="l"/>
                      <a:r>
                        <a:rPr sz="1100" b="1">
                          <a:solidFill>
                            <a:srgbClr val="2E2E2E"/>
                          </a:solidFill>
                          <a:latin typeface="Calibri"/>
                        </a:rPr>
                        <a:t>Other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7848">
                <a:tc>
                  <a:txBody>
                    <a:bodyPr wrap="none"/>
                    <a:lstStyle/>
                    <a:p>
                      <a:pPr algn="l"/>
                      <a:r>
                        <a:rPr sz="1100" b="1">
                          <a:solidFill>
                            <a:srgbClr val="2E2E2E"/>
                          </a:solidFill>
                          <a:latin typeface="Calibri"/>
                        </a:rPr>
                        <a:t>Dietary Supplements and Functional Nutrition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7848">
                <a:tc>
                  <a:txBody>
                    <a:bodyPr wrap="none"/>
                    <a:lstStyle/>
                    <a:p>
                      <a:pPr algn="l"/>
                      <a:r>
                        <a:rPr sz="1100" b="1">
                          <a:solidFill>
                            <a:srgbClr val="2E2E2E"/>
                          </a:solidFill>
                          <a:latin typeface="Calibri"/>
                        </a:rPr>
                        <a:t>Other Applications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6" name="TextBox 15"/>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Application (US$ Mn), between 2026–2036</a:t>
            </a:r>
          </a:p>
        </p:txBody>
      </p:sp>
      <p:graphicFrame>
        <p:nvGraphicFramePr>
          <p:cNvPr id="19" name="Chart 18"/>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6"/>
          <a:stretch>
            <a:fillRect/>
          </a:stretch>
        </p:blipFill>
        <p:spPr>
          <a:xfrm>
            <a:off x="10374908" y="2357518"/>
            <a:ext cx="334383" cy="486375"/>
          </a:xfrm>
          <a:prstGeom prst="rect">
            <a:avLst/>
          </a:prstGeom>
        </p:spPr>
      </p:pic>
      <p:pic>
        <p:nvPicPr>
          <p:cNvPr id="27" name="Picture 26" descr="lock.png"/>
          <p:cNvPicPr>
            <a:picLocks noChangeAspect="1"/>
          </p:cNvPicPr>
          <p:nvPr/>
        </p:nvPicPr>
        <p:blipFill>
          <a:blip r:embed="rId6"/>
          <a:stretch>
            <a:fillRect/>
          </a:stretch>
        </p:blipFill>
        <p:spPr>
          <a:xfrm>
            <a:off x="5964247" y="5123309"/>
            <a:ext cx="263506" cy="383281"/>
          </a:xfrm>
          <a:prstGeom prst="rect">
            <a:avLst/>
          </a:prstGeom>
        </p:spPr>
      </p:pic>
      <p:sp>
        <p:nvSpPr>
          <p:cNvPr id="29"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11520309"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4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Application (1/4)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Application, 2021–2036</a:t>
            </a:r>
          </a:p>
        </p:txBody>
      </p:sp>
      <p:sp>
        <p:nvSpPr>
          <p:cNvPr id="10" name="Rounded Rectangle 9"/>
          <p:cNvSpPr/>
          <p:nvPr/>
        </p:nvSpPr>
        <p:spPr>
          <a:xfrm>
            <a:off x="142875" y="981075"/>
            <a:ext cx="11906250" cy="5638800"/>
          </a:xfrm>
          <a:prstGeom prst="roundRect">
            <a:avLst>
              <a:gd name="adj" fmla="val 135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Application (MT)</a:t>
            </a:r>
          </a:p>
        </p:txBody>
      </p:sp>
      <p:graphicFrame>
        <p:nvGraphicFramePr>
          <p:cNvPr id="12" name="Table 11"/>
          <p:cNvGraphicFramePr>
            <a:graphicFrameLocks noGrp="1"/>
          </p:cNvGraphicFramePr>
          <p:nvPr/>
        </p:nvGraphicFramePr>
        <p:xfrm>
          <a:off x="152400" y="1238250"/>
          <a:ext cx="11887192" cy="5172066"/>
        </p:xfrm>
        <a:graphic>
          <a:graphicData uri="http://schemas.openxmlformats.org/drawingml/2006/table">
            <a:tbl>
              <a:tblPr>
                <a:tableStyleId>{5C22544A-7EE6-4342-B048-85BDC9FD1C3A}</a:tableStyleId>
              </a:tblPr>
              <a:tblGrid>
                <a:gridCol w="2792398"/>
                <a:gridCol w="532277"/>
                <a:gridCol w="532277"/>
                <a:gridCol w="532277"/>
                <a:gridCol w="532277"/>
                <a:gridCol w="532277"/>
                <a:gridCol w="532277"/>
                <a:gridCol w="532277"/>
                <a:gridCol w="532277"/>
                <a:gridCol w="532277"/>
                <a:gridCol w="532277"/>
                <a:gridCol w="532277"/>
                <a:gridCol w="532277"/>
                <a:gridCol w="532277"/>
                <a:gridCol w="532277"/>
                <a:gridCol w="532277"/>
                <a:gridCol w="532277"/>
                <a:gridCol w="578362"/>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297">
                <a:tc>
                  <a:txBody>
                    <a:bodyPr wrap="none"/>
                    <a:lstStyle/>
                    <a:p>
                      <a:pPr algn="l"/>
                      <a:r>
                        <a:rPr sz="1100" b="1">
                          <a:solidFill>
                            <a:srgbClr val="2E2E2E"/>
                          </a:solidFill>
                          <a:latin typeface="Calibri"/>
                        </a:rPr>
                        <a:t>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Traditional 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Matcha Lattes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Bubble Tea and Milk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Ready-to-Drink 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Smoothies and Functional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Bakery and Confectionery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Cakes and Pastries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Cookies and Biscuits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Bread and Bakery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Chocolate and Candies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Other Confectionery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Dairy and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Ice Cream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Yogurt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Milk-Based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Frozen Yogurt and Other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Other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297">
                <a:tc>
                  <a:txBody>
                    <a:bodyPr wrap="none"/>
                    <a:lstStyle/>
                    <a:p>
                      <a:pPr algn="l"/>
                      <a:r>
                        <a:rPr sz="1100" b="1">
                          <a:solidFill>
                            <a:srgbClr val="2E2E2E"/>
                          </a:solidFill>
                          <a:latin typeface="Calibri"/>
                        </a:rPr>
                        <a:t>– Snacks and Nutrition Bars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297">
                <a:tc>
                  <a:txBody>
                    <a:bodyPr wrap="none"/>
                    <a:lstStyle/>
                    <a:p>
                      <a:pPr algn="l"/>
                      <a:r>
                        <a:rPr sz="1100" b="1">
                          <a:solidFill>
                            <a:srgbClr val="2E2E2E"/>
                          </a:solidFill>
                          <a:latin typeface="Calibri"/>
                        </a:rPr>
                        <a:t>– Breakfast Cereals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64198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05505" y="3680645"/>
            <a:ext cx="366712" cy="533400"/>
          </a:xfrm>
          <a:prstGeom prst="rect">
            <a:avLst/>
          </a:prstGeom>
        </p:spPr>
      </p:pic>
    </p:spTree>
  </p:cSld>
  <p:clrMapOvr>
    <a:masterClrMapping/>
  </p:clrMapOvr>
</p:sld>
</file>

<file path=ppt/slides/slide24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Application (2/4)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Application, 2021–2036</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Volume, By Application (MT)</a:t>
            </a:r>
          </a:p>
        </p:txBody>
      </p:sp>
      <p:graphicFrame>
        <p:nvGraphicFramePr>
          <p:cNvPr id="12" name="Table 11"/>
          <p:cNvGraphicFramePr>
            <a:graphicFrameLocks noGrp="1"/>
          </p:cNvGraphicFramePr>
          <p:nvPr/>
        </p:nvGraphicFramePr>
        <p:xfrm>
          <a:off x="152400" y="1238250"/>
          <a:ext cx="11890739" cy="2714626"/>
        </p:xfrm>
        <a:graphic>
          <a:graphicData uri="http://schemas.openxmlformats.org/drawingml/2006/table">
            <a:tbl>
              <a:tblPr>
                <a:tableStyleId>{5C22544A-7EE6-4342-B048-85BDC9FD1C3A}</a:tableStyleId>
              </a:tblPr>
              <a:tblGrid>
                <a:gridCol w="2885621"/>
                <a:gridCol w="531627"/>
                <a:gridCol w="531627"/>
                <a:gridCol w="531627"/>
                <a:gridCol w="531627"/>
                <a:gridCol w="531627"/>
                <a:gridCol w="531627"/>
                <a:gridCol w="531627"/>
                <a:gridCol w="531627"/>
                <a:gridCol w="531627"/>
                <a:gridCol w="531627"/>
                <a:gridCol w="531627"/>
                <a:gridCol w="531627"/>
                <a:gridCol w="531627"/>
                <a:gridCol w="531627"/>
                <a:gridCol w="531627"/>
                <a:gridCol w="531627"/>
                <a:gridCol w="499086"/>
              </a:tblGrid>
              <a:tr h="246126">
                <a:tc>
                  <a:txBody>
                    <a:bodyPr wrap="none"/>
                    <a:lstStyle/>
                    <a:p>
                      <a:pPr algn="l"/>
                      <a:r>
                        <a:rPr sz="1100" b="1">
                          <a:solidFill>
                            <a:srgbClr val="0B2E4A"/>
                          </a:solidFill>
                          <a:latin typeface="Calibri"/>
                        </a:rPr>
                        <a:t>Application</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2021A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2022A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2023A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2024A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2025A</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2026E</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2027F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2028F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2029F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2030F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2031F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2032F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2033F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2034F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2035F</a:t>
                      </a:r>
                      <a:endParaRPr sz="1100"/>
                    </a:p>
                  </a:txBody>
                  <a:tcPr marL="19050" marR="19050" marT="19050" marB="19050" anchor="ctr">
                    <a:solidFill>
                      <a:srgbClr val="E0E8EF"/>
                    </a:solidFill>
                  </a:tcPr>
                </a:tc>
                <a:tc>
                  <a:txBody>
                    <a:bodyPr wrap="none"/>
                    <a:lstStyle/>
                    <a:p>
                      <a:pPr algn="ctr"/>
                      <a:r>
                        <a:rPr sz="1100" b="1">
                          <a:solidFill>
                            <a:srgbClr val="0B2E4A"/>
                          </a:solidFill>
                          <a:latin typeface="Calibri"/>
                        </a:rPr>
                        <a:t>2036F</a:t>
                      </a:r>
                      <a:endParaRPr sz="1100"/>
                    </a:p>
                  </a:txBody>
                  <a:tcPr marL="19050" marR="19050" marT="19050" marB="19050" anchor="ctr">
                    <a:solidFill>
                      <a:srgbClr val="E0E8EF"/>
                    </a:solidFill>
                  </a:tcPr>
                </a:tc>
                <a:tc>
                  <a:txBody>
                    <a:bodyPr wrap="square"/>
                    <a:lstStyle/>
                    <a:p>
                      <a:pPr algn="ctr"/>
                      <a:r>
                        <a:rPr sz="1100" b="1">
                          <a:solidFill>
                            <a:srgbClr val="0B2E4A"/>
                          </a:solidFill>
                          <a:latin typeface="Calibri"/>
                        </a:rPr>
                        <a:t>F-CAGR</a:t>
                      </a:r>
                      <a:endParaRPr sz="1100"/>
                    </a:p>
                  </a:txBody>
                  <a:tcPr marL="19050" marR="19050" marT="19050" marB="19050" anchor="ctr">
                    <a:solidFill>
                      <a:srgbClr val="E0E8EF"/>
                    </a:solidFill>
                  </a:tcPr>
                </a:tc>
              </a:tr>
              <a:tr h="246850">
                <a:tc>
                  <a:txBody>
                    <a:bodyPr wrap="none"/>
                    <a:lstStyle/>
                    <a:p>
                      <a:pPr algn="l"/>
                      <a:r>
                        <a:rPr sz="1100" b="1">
                          <a:solidFill>
                            <a:srgbClr val="2E2E2E"/>
                          </a:solidFill>
                          <a:latin typeface="Calibri"/>
                        </a:rPr>
                        <a:t>– Packaged Desserts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6850">
                <a:tc>
                  <a:txBody>
                    <a:bodyPr wrap="none"/>
                    <a:lstStyle/>
                    <a:p>
                      <a:pPr algn="l"/>
                      <a:r>
                        <a:rPr sz="1100" b="1">
                          <a:solidFill>
                            <a:srgbClr val="2E2E2E"/>
                          </a:solidFill>
                          <a:latin typeface="Calibri"/>
                        </a:rPr>
                        <a:t>– Other Matcha-Containing Food Products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6850">
                <a:tc>
                  <a:txBody>
                    <a:bodyPr wrap="none"/>
                    <a:lstStyle/>
                    <a:p>
                      <a:pPr algn="l"/>
                      <a:r>
                        <a:rPr sz="1100" b="1">
                          <a:solidFill>
                            <a:srgbClr val="2E2E2E"/>
                          </a:solidFill>
                          <a:latin typeface="Calibri"/>
                        </a:rPr>
                        <a:t>Dietary Supplements and Functional Nutrition</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6850">
                <a:tc>
                  <a:txBody>
                    <a:bodyPr wrap="none"/>
                    <a:lstStyle/>
                    <a:p>
                      <a:pPr algn="l"/>
                      <a:r>
                        <a:rPr sz="1100" b="1">
                          <a:solidFill>
                            <a:srgbClr val="2E2E2E"/>
                          </a:solidFill>
                          <a:latin typeface="Calibri"/>
                        </a:rPr>
                        <a:t>– Matcha-Based Dietary Supplements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6850">
                <a:tc>
                  <a:txBody>
                    <a:bodyPr wrap="none"/>
                    <a:lstStyle/>
                    <a:p>
                      <a:pPr algn="l"/>
                      <a:r>
                        <a:rPr sz="1100" b="1">
                          <a:solidFill>
                            <a:srgbClr val="2E2E2E"/>
                          </a:solidFill>
                          <a:latin typeface="Calibri"/>
                        </a:rPr>
                        <a:t>– Functional Nutrition Powders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6850">
                <a:tc>
                  <a:txBody>
                    <a:bodyPr wrap="none"/>
                    <a:lstStyle/>
                    <a:p>
                      <a:pPr algn="l"/>
                      <a:r>
                        <a:rPr sz="1100" b="1">
                          <a:solidFill>
                            <a:srgbClr val="2E2E2E"/>
                          </a:solidFill>
                          <a:latin typeface="Calibri"/>
                        </a:rPr>
                        <a:t>– Other Matcha-Based Nutritional Products</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6850">
                <a:tc>
                  <a:txBody>
                    <a:bodyPr wrap="none"/>
                    <a:lstStyle/>
                    <a:p>
                      <a:pPr algn="l"/>
                      <a:r>
                        <a:rPr sz="1100" b="1">
                          <a:solidFill>
                            <a:srgbClr val="2E2E2E"/>
                          </a:solidFill>
                          <a:latin typeface="Calibri"/>
                        </a:rPr>
                        <a:t>Other Applications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6850">
                <a:tc>
                  <a:txBody>
                    <a:bodyPr wrap="none"/>
                    <a:lstStyle/>
                    <a:p>
                      <a:pPr algn="l"/>
                      <a:r>
                        <a:rPr sz="1100" b="1">
                          <a:solidFill>
                            <a:srgbClr val="2E2E2E"/>
                          </a:solidFill>
                          <a:latin typeface="Calibri"/>
                        </a:rPr>
                        <a:t>– Cosmetics and Personal Care</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c>
                  <a:txBody>
                    <a:bodyPr wrap="none"/>
                    <a:lstStyle/>
                    <a:p>
                      <a:pPr algn="ctr"/>
                      <a:r>
                        <a:rPr sz="1100"/>
                        <a:t> </a:t>
                      </a:r>
                      <a:endParaRPr sz="1100"/>
                    </a:p>
                  </a:txBody>
                  <a:tcPr marL="19050" marR="19050" marT="19050" marB="19050" anchor="ctr">
                    <a:solidFill>
                      <a:srgbClr val="F5F8FA"/>
                    </a:solidFill>
                  </a:tcPr>
                </a:tc>
              </a:tr>
              <a:tr h="246850">
                <a:tc>
                  <a:txBody>
                    <a:bodyPr wrap="none"/>
                    <a:lstStyle/>
                    <a:p>
                      <a:pPr algn="l"/>
                      <a:r>
                        <a:rPr sz="1100" b="1">
                          <a:solidFill>
                            <a:srgbClr val="2E2E2E"/>
                          </a:solidFill>
                          <a:latin typeface="Calibri"/>
                        </a:rPr>
                        <a:t>– Other Specialized Applications</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c>
                  <a:txBody>
                    <a:bodyPr wrap="none"/>
                    <a:lstStyle/>
                    <a:p>
                      <a:pPr algn="ctr"/>
                      <a:r>
                        <a:rPr sz="1100"/>
                        <a:t> </a:t>
                      </a:r>
                      <a:endParaRPr sz="1100"/>
                    </a:p>
                  </a:txBody>
                  <a:tcPr marL="19050" marR="19050" marT="19050" marB="19050" anchor="ctr">
                    <a:solidFill>
                      <a:srgbClr val="FFFFFF"/>
                    </a:solidFill>
                  </a:tcPr>
                </a:tc>
              </a:tr>
              <a:tr h="246850">
                <a:tc>
                  <a:txBody>
                    <a:bodyPr wrap="none"/>
                    <a:lstStyle/>
                    <a:p>
                      <a:pPr algn="l"/>
                      <a:r>
                        <a:rPr sz="1100" b="1">
                          <a:solidFill>
                            <a:srgbClr val="2E2E2E"/>
                          </a:solidFill>
                          <a:latin typeface="Calibri"/>
                        </a:rPr>
                        <a:t>Total</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c>
                  <a:txBody>
                    <a:bodyPr wrap="none"/>
                    <a:lstStyle/>
                    <a:p>
                      <a:pPr algn="ctr"/>
                      <a:r>
                        <a:rPr sz="1100"/>
                        <a:t> </a:t>
                      </a:r>
                      <a:endParaRPr sz="1100"/>
                    </a:p>
                  </a:txBody>
                  <a:tcPr marL="19050" marR="19050" marT="19050" marB="19050" anchor="ctr">
                    <a:solidFill>
                      <a:srgbClr val="E0E8EF"/>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38125" y="43529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Application (US$ Mn)</a:t>
            </a:r>
          </a:p>
        </p:txBody>
      </p:sp>
      <p:graphicFrame>
        <p:nvGraphicFramePr>
          <p:cNvPr id="16" name="Table 15"/>
          <p:cNvGraphicFramePr>
            <a:graphicFrameLocks noGrp="1"/>
          </p:cNvGraphicFramePr>
          <p:nvPr/>
        </p:nvGraphicFramePr>
        <p:xfrm>
          <a:off x="152400" y="4552950"/>
          <a:ext cx="11888087" cy="1724022"/>
        </p:xfrm>
        <a:graphic>
          <a:graphicData uri="http://schemas.openxmlformats.org/drawingml/2006/table">
            <a:tbl>
              <a:tblPr>
                <a:tableStyleId>{5C22544A-7EE6-4342-B048-85BDC9FD1C3A}</a:tableStyleId>
              </a:tblPr>
              <a:tblGrid>
                <a:gridCol w="2446564"/>
                <a:gridCol w="555332"/>
                <a:gridCol w="555332"/>
                <a:gridCol w="555332"/>
                <a:gridCol w="555332"/>
                <a:gridCol w="555332"/>
                <a:gridCol w="555332"/>
                <a:gridCol w="555332"/>
                <a:gridCol w="555332"/>
                <a:gridCol w="555332"/>
                <a:gridCol w="555332"/>
                <a:gridCol w="555332"/>
                <a:gridCol w="555332"/>
                <a:gridCol w="555332"/>
                <a:gridCol w="555332"/>
                <a:gridCol w="555332"/>
                <a:gridCol w="555332"/>
                <a:gridCol w="556211"/>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6">
                <a:tc>
                  <a:txBody>
                    <a:bodyPr wrap="none"/>
                    <a:lstStyle/>
                    <a:p>
                      <a:pPr algn="l"/>
                      <a:r>
                        <a:rPr sz="1100" b="1">
                          <a:solidFill>
                            <a:srgbClr val="2E2E2E"/>
                          </a:solidFill>
                          <a:latin typeface="Calibri"/>
                        </a:rPr>
                        <a:t>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 Traditional Matcha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 Matcha Lattes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 Bubble Tea and Milk Tea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 Ready-to-Drink Beverages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 Smoothies and Functional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7" name="TextBox 16"/>
          <p:cNvSpPr txBox="1"/>
          <p:nvPr/>
        </p:nvSpPr>
        <p:spPr>
          <a:xfrm>
            <a:off x="219075" y="6286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7319974" y="2451926"/>
            <a:ext cx="366712" cy="533400"/>
          </a:xfrm>
          <a:prstGeom prst="rect">
            <a:avLst/>
          </a:prstGeom>
        </p:spPr>
      </p:pic>
      <p:pic>
        <p:nvPicPr>
          <p:cNvPr id="20" name="Picture 19" descr="lock.png"/>
          <p:cNvPicPr>
            <a:picLocks noChangeAspect="1"/>
          </p:cNvPicPr>
          <p:nvPr/>
        </p:nvPicPr>
        <p:blipFill>
          <a:blip r:embed="rId4"/>
          <a:stretch>
            <a:fillRect/>
          </a:stretch>
        </p:blipFill>
        <p:spPr>
          <a:xfrm>
            <a:off x="7125122" y="5271324"/>
            <a:ext cx="366712" cy="533400"/>
          </a:xfrm>
          <a:prstGeom prst="rect">
            <a:avLst/>
          </a:prstGeom>
        </p:spPr>
      </p:pic>
    </p:spTree>
  </p:cSld>
  <p:clrMapOvr>
    <a:masterClrMapping/>
  </p:clrMapOvr>
</p:sld>
</file>

<file path=ppt/slides/slide24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Application (3/4)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Application, 2021–2036</a:t>
            </a:r>
          </a:p>
        </p:txBody>
      </p:sp>
      <p:sp>
        <p:nvSpPr>
          <p:cNvPr id="10" name="Rounded Rectangle 9"/>
          <p:cNvSpPr/>
          <p:nvPr/>
        </p:nvSpPr>
        <p:spPr>
          <a:xfrm>
            <a:off x="142875" y="981075"/>
            <a:ext cx="11906250" cy="5143500"/>
          </a:xfrm>
          <a:prstGeom prst="roundRect">
            <a:avLst>
              <a:gd name="adj" fmla="val 148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Application (US$ Mn)</a:t>
            </a:r>
          </a:p>
        </p:txBody>
      </p:sp>
      <p:graphicFrame>
        <p:nvGraphicFramePr>
          <p:cNvPr id="12" name="Table 11"/>
          <p:cNvGraphicFramePr>
            <a:graphicFrameLocks noGrp="1"/>
          </p:cNvGraphicFramePr>
          <p:nvPr/>
        </p:nvGraphicFramePr>
        <p:xfrm>
          <a:off x="152400" y="1238250"/>
          <a:ext cx="11887200" cy="4676772"/>
        </p:xfrm>
        <a:graphic>
          <a:graphicData uri="http://schemas.openxmlformats.org/drawingml/2006/table">
            <a:tbl>
              <a:tblPr>
                <a:tableStyleId>{5C22544A-7EE6-4342-B048-85BDC9FD1C3A}</a:tableStyleId>
              </a:tblPr>
              <a:tblGrid>
                <a:gridCol w="3105167"/>
                <a:gridCol w="527523"/>
                <a:gridCol w="527523"/>
                <a:gridCol w="527523"/>
                <a:gridCol w="527523"/>
                <a:gridCol w="527523"/>
                <a:gridCol w="508941"/>
                <a:gridCol w="503632"/>
                <a:gridCol w="503632"/>
                <a:gridCol w="503632"/>
                <a:gridCol w="503632"/>
                <a:gridCol w="503632"/>
                <a:gridCol w="503632"/>
                <a:gridCol w="503632"/>
                <a:gridCol w="503632"/>
                <a:gridCol w="503632"/>
                <a:gridCol w="503632"/>
                <a:gridCol w="599157"/>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147">
                <a:tc>
                  <a:txBody>
                    <a:bodyPr wrap="none"/>
                    <a:lstStyle/>
                    <a:p>
                      <a:pPr algn="l"/>
                      <a:r>
                        <a:rPr sz="1100" b="1">
                          <a:solidFill>
                            <a:srgbClr val="2E2E2E"/>
                          </a:solidFill>
                          <a:latin typeface="Calibri"/>
                        </a:rPr>
                        <a:t>Bakery and Confectionery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Cakes and Pastries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 Cookies and Biscuits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Bread and Bakery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 Chocolate and Candies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Other Confectionery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Dairy and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Ice Cream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 Yogurt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Milk-Based Beverages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 Frozen Yogurt and Other Frozen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Other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 Snacks and Nutrition Bars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Breakfast Cereals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 Packaged Desserts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Other Matcha-Containing Food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147">
                <a:tc>
                  <a:txBody>
                    <a:bodyPr wrap="none"/>
                    <a:lstStyle/>
                    <a:p>
                      <a:pPr algn="l"/>
                      <a:r>
                        <a:rPr sz="1100" b="1">
                          <a:solidFill>
                            <a:srgbClr val="2E2E2E"/>
                          </a:solidFill>
                          <a:latin typeface="Calibri"/>
                        </a:rPr>
                        <a:t>Dietary Supplements and Functional Nutrition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147">
                <a:tc>
                  <a:txBody>
                    <a:bodyPr wrap="none"/>
                    <a:lstStyle/>
                    <a:p>
                      <a:pPr algn="l"/>
                      <a:r>
                        <a:rPr sz="1100" b="1">
                          <a:solidFill>
                            <a:srgbClr val="2E2E2E"/>
                          </a:solidFill>
                          <a:latin typeface="Calibri"/>
                        </a:rPr>
                        <a:t>– Matcha-Based Dietary Supplements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92455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461893" y="3432998"/>
            <a:ext cx="366712" cy="533400"/>
          </a:xfrm>
          <a:prstGeom prst="rect">
            <a:avLst/>
          </a:prstGeom>
        </p:spPr>
      </p:pic>
    </p:spTree>
  </p:cSld>
  <p:clrMapOvr>
    <a:masterClrMapping/>
  </p:clrMapOvr>
</p:sld>
</file>

<file path=ppt/slides/slide24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Application (4/4)</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volume and value of the U.S. market by Application, 2021–2036</a:t>
            </a:r>
          </a:p>
        </p:txBody>
      </p:sp>
      <p:sp>
        <p:nvSpPr>
          <p:cNvPr id="10" name="Rounded Rectangle 9"/>
          <p:cNvSpPr/>
          <p:nvPr/>
        </p:nvSpPr>
        <p:spPr>
          <a:xfrm>
            <a:off x="142875" y="981075"/>
            <a:ext cx="11906250" cy="2190750"/>
          </a:xfrm>
          <a:prstGeom prst="roundRect">
            <a:avLst>
              <a:gd name="adj" fmla="val 347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Application (US$ Mn)</a:t>
            </a:r>
          </a:p>
        </p:txBody>
      </p:sp>
      <p:graphicFrame>
        <p:nvGraphicFramePr>
          <p:cNvPr id="12" name="Table 11"/>
          <p:cNvGraphicFramePr>
            <a:graphicFrameLocks noGrp="1"/>
          </p:cNvGraphicFramePr>
          <p:nvPr/>
        </p:nvGraphicFramePr>
        <p:xfrm>
          <a:off x="152400" y="1238250"/>
          <a:ext cx="11887202" cy="1724022"/>
        </p:xfrm>
        <a:graphic>
          <a:graphicData uri="http://schemas.openxmlformats.org/drawingml/2006/table">
            <a:tbl>
              <a:tblPr>
                <a:tableStyleId>{5C22544A-7EE6-4342-B048-85BDC9FD1C3A}</a:tableStyleId>
              </a:tblPr>
              <a:tblGrid>
                <a:gridCol w="2973792"/>
                <a:gridCol w="535415"/>
                <a:gridCol w="535415"/>
                <a:gridCol w="535415"/>
                <a:gridCol w="535415"/>
                <a:gridCol w="535415"/>
                <a:gridCol w="516555"/>
                <a:gridCol w="511166"/>
                <a:gridCol w="511166"/>
                <a:gridCol w="511166"/>
                <a:gridCol w="511166"/>
                <a:gridCol w="511166"/>
                <a:gridCol w="511166"/>
                <a:gridCol w="511166"/>
                <a:gridCol w="511166"/>
                <a:gridCol w="511166"/>
                <a:gridCol w="511166"/>
                <a:gridCol w="608120"/>
              </a:tblGrid>
              <a:tr h="246126">
                <a:tc>
                  <a:txBody>
                    <a:bodyPr wrap="none"/>
                    <a:lstStyle/>
                    <a:p>
                      <a:pPr algn="l"/>
                      <a:r>
                        <a:rPr sz="1100" b="1">
                          <a:solidFill>
                            <a:srgbClr val="0B2E4A"/>
                          </a:solidFill>
                          <a:latin typeface="Calibri"/>
                        </a:rPr>
                        <a:t>Application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316">
                <a:tc>
                  <a:txBody>
                    <a:bodyPr wrap="none"/>
                    <a:lstStyle/>
                    <a:p>
                      <a:pPr algn="l"/>
                      <a:r>
                        <a:rPr sz="1100" b="1">
                          <a:solidFill>
                            <a:srgbClr val="2E2E2E"/>
                          </a:solidFill>
                          <a:latin typeface="Calibri"/>
                        </a:rPr>
                        <a:t>– Functional Nutrition Powders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 Other Matcha-Based Nutritional Products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Other Applications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 Cosmetics and Personal Care</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316">
                <a:tc>
                  <a:txBody>
                    <a:bodyPr wrap="none"/>
                    <a:lstStyle/>
                    <a:p>
                      <a:pPr algn="l"/>
                      <a:r>
                        <a:rPr sz="1100" b="1">
                          <a:solidFill>
                            <a:srgbClr val="2E2E2E"/>
                          </a:solidFill>
                          <a:latin typeface="Calibri"/>
                        </a:rPr>
                        <a:t>– Other Specialized Applications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316">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29718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396207" y="1956623"/>
            <a:ext cx="366712" cy="533400"/>
          </a:xfrm>
          <a:prstGeom prst="rect">
            <a:avLst/>
          </a:prstGeom>
        </p:spPr>
      </p:pic>
    </p:spTree>
  </p:cSld>
  <p:clrMapOvr>
    <a:masterClrMapping/>
  </p:clrMapOvr>
</p:sld>
</file>

<file path=ppt/slides/slide248.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14.8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Distribution Channel</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Segmental</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Table (Volume &amp; Value)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YoY</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4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Segmental Analysis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U.S. segmental analysis by Distribution Channel: growth contribution, share variance and absolute $ opportunity</a:t>
            </a:r>
          </a:p>
        </p:txBody>
      </p:sp>
      <p:sp>
        <p:nvSpPr>
          <p:cNvPr id="10" name="Rounded Rectangle 9"/>
          <p:cNvSpPr/>
          <p:nvPr/>
        </p:nvSpPr>
        <p:spPr>
          <a:xfrm>
            <a:off x="142875"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Growth Contribution 2026 → 2036, By Distribution Channel (US$ Mn)</a:t>
            </a:r>
          </a:p>
        </p:txBody>
      </p:sp>
      <p:graphicFrame>
        <p:nvGraphicFramePr>
          <p:cNvPr id="12" name="Chart 11"/>
          <p:cNvGraphicFramePr>
            <a:graphicFrameLocks noGrp="1"/>
          </p:cNvGraphicFramePr>
          <p:nvPr/>
        </p:nvGraphicFramePr>
        <p:xfrm>
          <a:off x="238125" y="1266825"/>
          <a:ext cx="5686425" cy="2409825"/>
        </p:xfrm>
        <a:graphic>
          <a:graphicData uri="http://schemas.openxmlformats.org/drawingml/2006/chart">
            <c:chart xmlns:c="http://schemas.openxmlformats.org/drawingml/2006/chart" r:id="rId3"/>
          </a:graphicData>
        </a:graphic>
      </p:graphicFrame>
      <p:sp>
        <p:nvSpPr>
          <p:cNvPr id="13" name="Rounded Rectangle 12"/>
          <p:cNvSpPr/>
          <p:nvPr/>
        </p:nvSpPr>
        <p:spPr>
          <a:xfrm>
            <a:off x="6172200" y="981075"/>
            <a:ext cx="5876925"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6267450" y="1038225"/>
            <a:ext cx="5686425"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Value Shares &amp; Variance, By Distribution Channel</a:t>
            </a:r>
          </a:p>
        </p:txBody>
      </p:sp>
      <p:graphicFrame>
        <p:nvGraphicFramePr>
          <p:cNvPr id="15" name="Table 14"/>
          <p:cNvGraphicFramePr>
            <a:graphicFrameLocks noGrp="1"/>
          </p:cNvGraphicFramePr>
          <p:nvPr/>
        </p:nvGraphicFramePr>
        <p:xfrm>
          <a:off x="6181725" y="1238250"/>
          <a:ext cx="5857874" cy="2286003"/>
        </p:xfrm>
        <a:graphic>
          <a:graphicData uri="http://schemas.openxmlformats.org/drawingml/2006/table">
            <a:tbl>
              <a:tblPr>
                <a:tableStyleId>{5C22544A-7EE6-4342-B048-85BDC9FD1C3A}</a:tableStyleId>
              </a:tblPr>
              <a:tblGrid>
                <a:gridCol w="2597777"/>
                <a:gridCol w="819577"/>
                <a:gridCol w="819577"/>
                <a:gridCol w="1035038"/>
                <a:gridCol w="585905"/>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2026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Share 2036</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Variance (BPS)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91411">
                <a:tc>
                  <a:txBody>
                    <a:bodyPr wrap="none"/>
                    <a:lstStyle/>
                    <a:p>
                      <a:pPr algn="l"/>
                      <a:r>
                        <a:rPr sz="1100" b="1">
                          <a:solidFill>
                            <a:srgbClr val="2E2E2E"/>
                          </a:solidFill>
                          <a:latin typeface="Calibri"/>
                        </a:rPr>
                        <a:t>B2B / Institutional and Ingredient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Supermarkets and Hypermarkets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Convenience Stores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Specialty Tea and Health Food Stores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Online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91411">
                <a:tc>
                  <a:txBody>
                    <a:bodyPr wrap="none"/>
                    <a:lstStyle/>
                    <a:p>
                      <a:pPr algn="l"/>
                      <a:r>
                        <a:rPr sz="1100" b="1">
                          <a:solidFill>
                            <a:srgbClr val="2E2E2E"/>
                          </a:solidFill>
                          <a:latin typeface="Calibri"/>
                        </a:rPr>
                        <a:t>Foodservice and HoReCa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91411">
                <a:tc>
                  <a:txBody>
                    <a:bodyPr wrap="none"/>
                    <a:lstStyle/>
                    <a:p>
                      <a:pPr algn="l"/>
                      <a:r>
                        <a:rPr sz="1100" b="1">
                          <a:solidFill>
                            <a:srgbClr val="2E2E2E"/>
                          </a:solidFill>
                          <a:latin typeface="Calibri"/>
                        </a:rPr>
                        <a:t>Other Retail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6" name="TextBox 15"/>
          <p:cNvSpPr txBox="1"/>
          <p:nvPr/>
        </p:nvSpPr>
        <p:spPr>
          <a:xfrm>
            <a:off x="6248400" y="3533775"/>
            <a:ext cx="5724525"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7" name="Rounded Rectangle 16"/>
          <p:cNvSpPr/>
          <p:nvPr/>
        </p:nvSpPr>
        <p:spPr>
          <a:xfrm>
            <a:off x="142875" y="3867150"/>
            <a:ext cx="11906250" cy="2752725"/>
          </a:xfrm>
          <a:prstGeom prst="roundRect">
            <a:avLst>
              <a:gd name="adj" fmla="val 276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38125" y="3924300"/>
            <a:ext cx="11520309"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Absolute $ Opportunity, By Distribution Channel (US$ Mn), between 2026–2036</a:t>
            </a:r>
          </a:p>
        </p:txBody>
      </p:sp>
      <p:graphicFrame>
        <p:nvGraphicFramePr>
          <p:cNvPr id="19" name="Chart 18"/>
          <p:cNvGraphicFramePr>
            <a:graphicFrameLocks noGrp="1"/>
          </p:cNvGraphicFramePr>
          <p:nvPr/>
        </p:nvGraphicFramePr>
        <p:xfrm>
          <a:off x="238125" y="4152900"/>
          <a:ext cx="11520309" cy="2409825"/>
        </p:xfrm>
        <a:graphic>
          <a:graphicData uri="http://schemas.openxmlformats.org/drawingml/2006/chart">
            <c:chart xmlns:c="http://schemas.openxmlformats.org/drawingml/2006/chart" r:id="rId4"/>
          </a:graphicData>
        </a:graphic>
      </p:graphicFrame>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6"/>
          <a:stretch>
            <a:fillRect/>
          </a:stretch>
        </p:blipFill>
        <p:spPr>
          <a:xfrm>
            <a:off x="3094826" y="2237234"/>
            <a:ext cx="263506" cy="383281"/>
          </a:xfrm>
          <a:prstGeom prst="rect">
            <a:avLst/>
          </a:prstGeom>
        </p:spPr>
      </p:pic>
      <p:pic>
        <p:nvPicPr>
          <p:cNvPr id="26" name="Picture 25" descr="lock.png"/>
          <p:cNvPicPr>
            <a:picLocks noChangeAspect="1"/>
          </p:cNvPicPr>
          <p:nvPr/>
        </p:nvPicPr>
        <p:blipFill>
          <a:blip r:embed="rId6"/>
          <a:stretch>
            <a:fillRect/>
          </a:stretch>
        </p:blipFill>
        <p:spPr>
          <a:xfrm>
            <a:off x="10222860" y="2237614"/>
            <a:ext cx="366712" cy="533400"/>
          </a:xfrm>
          <a:prstGeom prst="rect">
            <a:avLst/>
          </a:prstGeom>
        </p:spPr>
      </p:pic>
      <p:pic>
        <p:nvPicPr>
          <p:cNvPr id="27" name="Picture 26" descr="lock.png"/>
          <p:cNvPicPr>
            <a:picLocks noChangeAspect="1"/>
          </p:cNvPicPr>
          <p:nvPr/>
        </p:nvPicPr>
        <p:blipFill>
          <a:blip r:embed="rId6"/>
          <a:stretch>
            <a:fillRect/>
          </a:stretch>
        </p:blipFill>
        <p:spPr>
          <a:xfrm>
            <a:off x="5964247" y="5123309"/>
            <a:ext cx="263506" cy="383281"/>
          </a:xfrm>
          <a:prstGeom prst="rect">
            <a:avLst/>
          </a:prstGeom>
        </p:spPr>
      </p:pic>
      <p:sp>
        <p:nvSpPr>
          <p:cNvPr id="29" name="lockshield_12"/>
          <p:cNvSpPr/>
          <p:nvPr/>
        </p:nvSpPr>
        <p:spPr>
          <a:xfrm>
            <a:off x="238125" y="1266825"/>
            <a:ext cx="5686425"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lockshield_19"/>
          <p:cNvSpPr/>
          <p:nvPr/>
        </p:nvSpPr>
        <p:spPr>
          <a:xfrm>
            <a:off x="238125" y="4152900"/>
            <a:ext cx="11520309" cy="2409825"/>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U.S. Matcha Market Tables Distribution Channel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Year-by-year value of the U.S. market by Distribution Channel, 2021–2036</a:t>
            </a:r>
          </a:p>
        </p:txBody>
      </p:sp>
      <p:sp>
        <p:nvSpPr>
          <p:cNvPr id="10" name="Rounded Rectangle 9"/>
          <p:cNvSpPr/>
          <p:nvPr/>
        </p:nvSpPr>
        <p:spPr>
          <a:xfrm>
            <a:off x="142875" y="981075"/>
            <a:ext cx="11906250" cy="2686050"/>
          </a:xfrm>
          <a:prstGeom prst="roundRect">
            <a:avLst>
              <a:gd name="adj" fmla="val 28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U.S. Value, By Distribution Channel (US$ Mn)</a:t>
            </a:r>
          </a:p>
        </p:txBody>
      </p:sp>
      <p:graphicFrame>
        <p:nvGraphicFramePr>
          <p:cNvPr id="12" name="Table 11"/>
          <p:cNvGraphicFramePr>
            <a:graphicFrameLocks noGrp="1"/>
          </p:cNvGraphicFramePr>
          <p:nvPr/>
        </p:nvGraphicFramePr>
        <p:xfrm>
          <a:off x="152400" y="1238250"/>
          <a:ext cx="11888824" cy="2219326"/>
        </p:xfrm>
        <a:graphic>
          <a:graphicData uri="http://schemas.openxmlformats.org/drawingml/2006/table">
            <a:tbl>
              <a:tblPr>
                <a:tableStyleId>{5C22544A-7EE6-4342-B048-85BDC9FD1C3A}</a:tableStyleId>
              </a:tblPr>
              <a:tblGrid>
                <a:gridCol w="2486479"/>
                <a:gridCol w="552984"/>
                <a:gridCol w="552984"/>
                <a:gridCol w="552984"/>
                <a:gridCol w="552984"/>
                <a:gridCol w="552984"/>
                <a:gridCol w="552984"/>
                <a:gridCol w="552984"/>
                <a:gridCol w="552984"/>
                <a:gridCol w="552984"/>
                <a:gridCol w="552984"/>
                <a:gridCol w="552984"/>
                <a:gridCol w="552984"/>
                <a:gridCol w="552984"/>
                <a:gridCol w="552984"/>
                <a:gridCol w="552984"/>
                <a:gridCol w="552984"/>
                <a:gridCol w="554601"/>
              </a:tblGrid>
              <a:tr h="246126">
                <a:tc>
                  <a:txBody>
                    <a:bodyPr wrap="none"/>
                    <a:lstStyle/>
                    <a:p>
                      <a:pPr algn="l"/>
                      <a:r>
                        <a:rPr sz="1100" b="1">
                          <a:solidFill>
                            <a:srgbClr val="0B2E4A"/>
                          </a:solidFill>
                          <a:latin typeface="Calibri"/>
                        </a:rPr>
                        <a:t>Distribution Channel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2025A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2027F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2031F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2033F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2035F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F-CAGR</a:t>
                      </a:r>
                      <a:endParaRPr sz="1100"/>
                    </a:p>
                  </a:txBody>
                  <a:tcPr marL="47625" marR="38100" marT="19050" marB="19050" anchor="ctr">
                    <a:solidFill>
                      <a:srgbClr val="E0E8EF"/>
                    </a:solidFill>
                  </a:tcPr>
                </a:tc>
              </a:tr>
              <a:tr h="246650">
                <a:tc>
                  <a:txBody>
                    <a:bodyPr wrap="none"/>
                    <a:lstStyle/>
                    <a:p>
                      <a:pPr algn="l"/>
                      <a:r>
                        <a:rPr sz="1100" b="1">
                          <a:solidFill>
                            <a:srgbClr val="2E2E2E"/>
                          </a:solidFill>
                          <a:latin typeface="Calibri"/>
                        </a:rPr>
                        <a:t>B2B / Institutional and Ingredient Sales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Supermarkets and Hypermarkets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Convenience Stores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Specialty Tea and Health Food Stores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Online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Foodservice and HoReCa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246650">
                <a:tc>
                  <a:txBody>
                    <a:bodyPr wrap="none"/>
                    <a:lstStyle/>
                    <a:p>
                      <a:pPr algn="l"/>
                      <a:r>
                        <a:rPr sz="1100" b="1">
                          <a:solidFill>
                            <a:srgbClr val="2E2E2E"/>
                          </a:solidFill>
                          <a:latin typeface="Calibri"/>
                        </a:rPr>
                        <a:t>Other Retail Channels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46650">
                <a:tc>
                  <a:txBody>
                    <a:bodyPr wrap="none"/>
                    <a:lstStyle/>
                    <a:p>
                      <a:pPr algn="l"/>
                      <a:r>
                        <a:rPr sz="1100" b="1">
                          <a:solidFill>
                            <a:srgbClr val="2E2E2E"/>
                          </a:solidFill>
                          <a:latin typeface="Calibri"/>
                        </a:rPr>
                        <a:t>Total</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c>
                  <a:txBody>
                    <a:bodyPr wrap="none"/>
                    <a:lstStyle/>
                    <a:p>
                      <a:pPr algn="ctr"/>
                      <a:r>
                        <a:rPr sz="1100"/>
                        <a:t> </a:t>
                      </a:r>
                      <a:endParaRPr sz="1100"/>
                    </a:p>
                  </a:txBody>
                  <a:tcPr marL="47625" marR="38100" marT="19050" marB="19050" anchor="ctr">
                    <a:solidFill>
                      <a:srgbClr val="E0E8EF"/>
                    </a:solidFill>
                  </a:tcPr>
                </a:tc>
              </a:tr>
            </a:tbl>
          </a:graphicData>
        </a:graphic>
      </p:graphicFrame>
      <p:sp>
        <p:nvSpPr>
          <p:cNvPr id="13" name="TextBox 12"/>
          <p:cNvSpPr txBox="1"/>
          <p:nvPr/>
        </p:nvSpPr>
        <p:spPr>
          <a:xfrm>
            <a:off x="219075" y="34671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TextBox 1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 name="Picture 14" descr="lock.png"/>
          <p:cNvPicPr>
            <a:picLocks noChangeAspect="1"/>
          </p:cNvPicPr>
          <p:nvPr/>
        </p:nvPicPr>
        <p:blipFill>
          <a:blip r:embed="rId4"/>
          <a:stretch>
            <a:fillRect/>
          </a:stretch>
        </p:blipFill>
        <p:spPr>
          <a:xfrm>
            <a:off x="7138801" y="2204276"/>
            <a:ext cx="366712" cy="533400"/>
          </a:xfrm>
          <a:prstGeom prst="rect">
            <a:avLst/>
          </a:prstGeom>
        </p:spPr>
      </p:pic>
    </p:spTree>
  </p:cSld>
  <p:clrMapOvr>
    <a:masterClrMapping/>
  </p:clrMapOvr>
</p:sld>
</file>

<file path=ppt/slides/slide251.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Pricing Assessment</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Pricing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52.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15</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Pricing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Product Pricing &amp; Regional Price Index Trends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Global Pricing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Price Positioning &amp; Key Findings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Key Pricing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Factors Impacting Pricing</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5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Product Pricing &amp; Regional Price Index Trends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range by sub-segment and indexed regional price movement, highlighting dispersion and structural shifts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average USD pricing by product type and indexed regional price movement with base-year inflation adjustments.</a:t>
            </a:r>
          </a:p>
        </p:txBody>
      </p:sp>
      <p:sp>
        <p:nvSpPr>
          <p:cNvPr id="11" name="Rounded Rectangle 10"/>
          <p:cNvSpPr/>
          <p:nvPr/>
        </p:nvSpPr>
        <p:spPr>
          <a:xfrm>
            <a:off x="142875" y="1317574"/>
            <a:ext cx="7696200"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Pricing by Product Type</a:t>
            </a:r>
          </a:p>
        </p:txBody>
      </p:sp>
      <p:sp>
        <p:nvSpPr>
          <p:cNvPr id="13" name="TextBox 12"/>
          <p:cNvSpPr txBox="1"/>
          <p:nvPr/>
        </p:nvSpPr>
        <p:spPr>
          <a:xfrm>
            <a:off x="111919" y="3471051"/>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3383.2</a:t>
            </a:r>
          </a:p>
        </p:txBody>
      </p:sp>
      <p:sp>
        <p:nvSpPr>
          <p:cNvPr id="14" name="TextBox 13"/>
          <p:cNvSpPr txBox="1"/>
          <p:nvPr/>
        </p:nvSpPr>
        <p:spPr>
          <a:xfrm>
            <a:off x="111919" y="2561000"/>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4500.1</a:t>
            </a:r>
          </a:p>
        </p:txBody>
      </p:sp>
      <p:sp>
        <p:nvSpPr>
          <p:cNvPr id="15" name="TextBox 14"/>
          <p:cNvSpPr txBox="1"/>
          <p:nvPr/>
        </p:nvSpPr>
        <p:spPr>
          <a:xfrm>
            <a:off x="111919" y="1650949"/>
            <a:ext cx="488156" cy="133350"/>
          </a:xfrm>
          <a:prstGeom prst="rect">
            <a:avLst/>
          </a:prstGeom>
          <a:noFill/>
        </p:spPr>
        <p:txBody>
          <a:bodyPr wrap="square" lIns="28575" rIns="28575" tIns="9525" bIns="9525" anchor="ctr">
            <a:spAutoFit/>
          </a:bodyPr>
          <a:lstStyle/>
          <a:p>
            <a:pPr algn="r"/>
            <a:r>
              <a:rPr sz="1100" b="0">
                <a:solidFill>
                  <a:srgbClr val="6C7A89"/>
                </a:solidFill>
                <a:latin typeface="Calibri"/>
              </a:rPr>
              <a:t>5616.9</a:t>
            </a:r>
          </a:p>
        </p:txBody>
      </p:sp>
      <p:cxnSp>
        <p:nvCxnSpPr>
          <p:cNvPr id="16" name="Connector 15"/>
          <p:cNvCxnSpPr/>
          <p:nvPr/>
        </p:nvCxnSpPr>
        <p:spPr>
          <a:xfrm>
            <a:off x="2409825" y="3079990"/>
            <a:ext cx="0" cy="247724"/>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17" name="Rectangle 16"/>
          <p:cNvSpPr/>
          <p:nvPr/>
        </p:nvSpPr>
        <p:spPr>
          <a:xfrm>
            <a:off x="2190750" y="3079990"/>
            <a:ext cx="438150" cy="247724"/>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57225" y="2927590"/>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19" name="TextBox 18"/>
          <p:cNvSpPr txBox="1"/>
          <p:nvPr/>
        </p:nvSpPr>
        <p:spPr>
          <a:xfrm>
            <a:off x="6572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Organic</a:t>
            </a:r>
          </a:p>
        </p:txBody>
      </p:sp>
      <p:cxnSp>
        <p:nvCxnSpPr>
          <p:cNvPr id="20" name="Connector 19"/>
          <p:cNvCxnSpPr/>
          <p:nvPr/>
        </p:nvCxnSpPr>
        <p:spPr>
          <a:xfrm>
            <a:off x="5915025" y="1927636"/>
            <a:ext cx="0" cy="320402"/>
          </a:xfrm>
          <a:prstGeom prst="line">
            <a:avLst/>
          </a:prstGeom>
          <a:ln w="17780">
            <a:solidFill>
              <a:srgbClr val="7C8B96"/>
            </a:solidFill>
          </a:ln>
          <a:effectLst/>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695950" y="1927636"/>
            <a:ext cx="438150" cy="320402"/>
          </a:xfrm>
          <a:prstGeom prst="rect">
            <a:avLst/>
          </a:prstGeom>
          <a:solidFill>
            <a:srgbClr val="C9D9E8"/>
          </a:solidFill>
          <a:ln w="15875">
            <a:solidFill>
              <a:srgbClr val="7C8B9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4162425" y="1775236"/>
            <a:ext cx="3505200" cy="133350"/>
          </a:xfrm>
          <a:prstGeom prst="rect">
            <a:avLst/>
          </a:prstGeom>
          <a:noFill/>
        </p:spPr>
        <p:txBody>
          <a:bodyPr wrap="square" lIns="28575" rIns="28575" tIns="9525" bIns="9525">
            <a:spAutoFit/>
          </a:bodyPr>
          <a:lstStyle/>
          <a:p>
            <a:pPr algn="ctr"/>
            <a:r>
              <a:rPr sz="1100" b="1">
                <a:solidFill>
                  <a:srgbClr val="0B2E4A"/>
                </a:solidFill>
                <a:latin typeface="Calibri"/>
              </a:rPr>
              <a:t> </a:t>
            </a:r>
          </a:p>
        </p:txBody>
      </p:sp>
      <p:sp>
        <p:nvSpPr>
          <p:cNvPr id="23" name="TextBox 22"/>
          <p:cNvSpPr txBox="1"/>
          <p:nvPr/>
        </p:nvSpPr>
        <p:spPr>
          <a:xfrm>
            <a:off x="4162425" y="3566301"/>
            <a:ext cx="3505200" cy="285750"/>
          </a:xfrm>
          <a:prstGeom prst="rect">
            <a:avLst/>
          </a:prstGeom>
          <a:noFill/>
        </p:spPr>
        <p:txBody>
          <a:bodyPr wrap="square" lIns="28575" rIns="28575" tIns="9525" bIns="9525">
            <a:spAutoFit/>
          </a:bodyPr>
          <a:lstStyle/>
          <a:p>
            <a:pPr algn="ctr"/>
            <a:r>
              <a:rPr sz="1100" b="0">
                <a:solidFill>
                  <a:srgbClr val="2E2E2E"/>
                </a:solidFill>
                <a:latin typeface="Calibri"/>
              </a:rPr>
              <a:t>Conventional</a:t>
            </a:r>
          </a:p>
        </p:txBody>
      </p:sp>
      <p:sp>
        <p:nvSpPr>
          <p:cNvPr id="24" name="Rounded Rectangle 23"/>
          <p:cNvSpPr/>
          <p:nvPr/>
        </p:nvSpPr>
        <p:spPr>
          <a:xfrm>
            <a:off x="142875" y="3991741"/>
            <a:ext cx="7696200" cy="2564645"/>
          </a:xfrm>
          <a:prstGeom prst="roundRect">
            <a:avLst>
              <a:gd name="adj" fmla="val 29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38125" y="4048891"/>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Variation by Region vs Global Price Trend (2026–2036)</a:t>
            </a:r>
          </a:p>
        </p:txBody>
      </p:sp>
      <p:cxnSp>
        <p:nvCxnSpPr>
          <p:cNvPr id="26" name="Connector 25"/>
          <p:cNvCxnSpPr/>
          <p:nvPr/>
        </p:nvCxnSpPr>
        <p:spPr>
          <a:xfrm>
            <a:off x="619125" y="4522840"/>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619125" y="4886069"/>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19125" y="5249298"/>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619125" y="5612527"/>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619125" y="5975755"/>
            <a:ext cx="7048500" cy="0"/>
          </a:xfrm>
          <a:prstGeom prst="line">
            <a:avLst/>
          </a:prstGeom>
          <a:ln w="6350">
            <a:solidFill>
              <a:srgbClr val="E4EAEF"/>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619125" y="4522840"/>
            <a:ext cx="0" cy="1452915"/>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590550" y="4522840"/>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590550" y="4886069"/>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590550" y="5249298"/>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5" name="Connector 34"/>
          <p:cNvCxnSpPr/>
          <p:nvPr/>
        </p:nvCxnSpPr>
        <p:spPr>
          <a:xfrm>
            <a:off x="590550" y="5612527"/>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590550" y="5975755"/>
            <a:ext cx="28575" cy="0"/>
          </a:xfrm>
          <a:prstGeom prst="line">
            <a:avLst/>
          </a:prstGeom>
          <a:ln w="9525">
            <a:solidFill>
              <a:srgbClr val="6C7A89"/>
            </a:solidFill>
          </a:ln>
          <a:effectLst/>
        </p:spPr>
        <p:style>
          <a:lnRef idx="2">
            <a:schemeClr val="accent1"/>
          </a:lnRef>
          <a:fillRef idx="0">
            <a:schemeClr val="accent1"/>
          </a:fillRef>
          <a:effectRef idx="1">
            <a:schemeClr val="accent1"/>
          </a:effectRef>
          <a:fontRef idx="minor">
            <a:schemeClr val="tx1"/>
          </a:fontRef>
        </p:style>
      </p:cxnSp>
      <p:sp>
        <p:nvSpPr>
          <p:cNvPr id="37" name="FMI Scale tick"/>
          <p:cNvSpPr txBox="1"/>
          <p:nvPr/>
        </p:nvSpPr>
        <p:spPr>
          <a:xfrm>
            <a:off x="219075" y="4456165"/>
            <a:ext cx="361950" cy="133350"/>
          </a:xfrm>
          <a:prstGeom prst="rect">
            <a:avLst/>
          </a:prstGeom>
          <a:noFill/>
        </p:spPr>
        <p:txBody>
          <a:bodyPr wrap="none" lIns="0" rIns="0" tIns="0" bIns="0" anchor="ctr">
            <a:spAutoFit/>
          </a:bodyPr>
          <a:lstStyle/>
          <a:p>
            <a:pPr algn="r"/>
            <a:r>
              <a:rPr sz="1100" b="0">
                <a:solidFill>
                  <a:srgbClr val="6C7A89"/>
                </a:solidFill>
                <a:latin typeface="Calibri"/>
              </a:rPr>
              <a:t>+11%</a:t>
            </a:r>
          </a:p>
        </p:txBody>
      </p:sp>
      <p:sp>
        <p:nvSpPr>
          <p:cNvPr id="38" name="FMI Scale tick"/>
          <p:cNvSpPr txBox="1"/>
          <p:nvPr/>
        </p:nvSpPr>
        <p:spPr>
          <a:xfrm>
            <a:off x="219075" y="4819394"/>
            <a:ext cx="361950" cy="133350"/>
          </a:xfrm>
          <a:prstGeom prst="rect">
            <a:avLst/>
          </a:prstGeom>
          <a:noFill/>
        </p:spPr>
        <p:txBody>
          <a:bodyPr wrap="none" lIns="0" rIns="0" tIns="0" bIns="0" anchor="ctr">
            <a:spAutoFit/>
          </a:bodyPr>
          <a:lstStyle/>
          <a:p>
            <a:pPr algn="r"/>
            <a:r>
              <a:rPr sz="1100" b="0">
                <a:solidFill>
                  <a:srgbClr val="6C7A89"/>
                </a:solidFill>
                <a:latin typeface="Calibri"/>
              </a:rPr>
              <a:t>+5%</a:t>
            </a:r>
          </a:p>
        </p:txBody>
      </p:sp>
      <p:sp>
        <p:nvSpPr>
          <p:cNvPr id="39" name="FMI Scale tick"/>
          <p:cNvSpPr txBox="1"/>
          <p:nvPr/>
        </p:nvSpPr>
        <p:spPr>
          <a:xfrm>
            <a:off x="219075" y="5182623"/>
            <a:ext cx="361950" cy="13335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0" name="FMI Scale tick"/>
          <p:cNvSpPr txBox="1"/>
          <p:nvPr/>
        </p:nvSpPr>
        <p:spPr>
          <a:xfrm>
            <a:off x="219075" y="5545852"/>
            <a:ext cx="361950" cy="133350"/>
          </a:xfrm>
          <a:prstGeom prst="rect">
            <a:avLst/>
          </a:prstGeom>
          <a:noFill/>
        </p:spPr>
        <p:txBody>
          <a:bodyPr wrap="none" lIns="0" rIns="0" tIns="0" bIns="0" anchor="ctr">
            <a:spAutoFit/>
          </a:bodyPr>
          <a:lstStyle/>
          <a:p>
            <a:pPr algn="r"/>
            <a:r>
              <a:rPr sz="1100" b="0">
                <a:solidFill>
                  <a:srgbClr val="6C7A89"/>
                </a:solidFill>
                <a:latin typeface="Calibri"/>
              </a:rPr>
              <a:t>-5%</a:t>
            </a:r>
          </a:p>
        </p:txBody>
      </p:sp>
      <p:sp>
        <p:nvSpPr>
          <p:cNvPr id="41" name="FMI Scale tick"/>
          <p:cNvSpPr txBox="1"/>
          <p:nvPr/>
        </p:nvSpPr>
        <p:spPr>
          <a:xfrm>
            <a:off x="219075" y="5909080"/>
            <a:ext cx="361950" cy="133350"/>
          </a:xfrm>
          <a:prstGeom prst="rect">
            <a:avLst/>
          </a:prstGeom>
          <a:noFill/>
        </p:spPr>
        <p:txBody>
          <a:bodyPr wrap="none" lIns="0" rIns="0" tIns="0" bIns="0" anchor="ctr">
            <a:spAutoFit/>
          </a:bodyPr>
          <a:lstStyle/>
          <a:p>
            <a:pPr algn="r"/>
            <a:r>
              <a:rPr sz="1100" b="0">
                <a:solidFill>
                  <a:srgbClr val="6C7A89"/>
                </a:solidFill>
                <a:latin typeface="Calibri"/>
              </a:rPr>
              <a:t>-11%</a:t>
            </a:r>
          </a:p>
        </p:txBody>
      </p:sp>
      <p:cxnSp>
        <p:nvCxnSpPr>
          <p:cNvPr id="42" name="Connector 41"/>
          <p:cNvCxnSpPr/>
          <p:nvPr/>
        </p:nvCxnSpPr>
        <p:spPr>
          <a:xfrm>
            <a:off x="619125" y="5249298"/>
            <a:ext cx="7048500" cy="0"/>
          </a:xfrm>
          <a:prstGeom prst="line">
            <a:avLst/>
          </a:prstGeom>
          <a:ln w="13970">
            <a:solidFill>
              <a:srgbClr val="6C7A89"/>
            </a:solidFill>
            <a:prstDash val="dash"/>
          </a:ln>
          <a:effectLst/>
        </p:spPr>
        <p:style>
          <a:lnRef idx="2">
            <a:schemeClr val="accent1"/>
          </a:lnRef>
          <a:fillRef idx="0">
            <a:schemeClr val="accent1"/>
          </a:fillRef>
          <a:effectRef idx="1">
            <a:schemeClr val="accent1"/>
          </a:effectRef>
          <a:fontRef idx="minor">
            <a:schemeClr val="tx1"/>
          </a:fontRef>
        </p:style>
      </p:cxnSp>
      <p:sp>
        <p:nvSpPr>
          <p:cNvPr id="43" name="Rectangle 42"/>
          <p:cNvSpPr/>
          <p:nvPr/>
        </p:nvSpPr>
        <p:spPr>
          <a:xfrm>
            <a:off x="977900" y="4614107"/>
            <a:ext cx="457200" cy="635191"/>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FMI Data Label"/>
          <p:cNvSpPr txBox="1"/>
          <p:nvPr/>
        </p:nvSpPr>
        <p:spPr>
          <a:xfrm>
            <a:off x="619125" y="4471232"/>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5" name="Rectangle 44"/>
          <p:cNvSpPr/>
          <p:nvPr/>
        </p:nvSpPr>
        <p:spPr>
          <a:xfrm>
            <a:off x="2152650" y="5205236"/>
            <a:ext cx="457200" cy="44062"/>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MI Data Label"/>
          <p:cNvSpPr txBox="1"/>
          <p:nvPr/>
        </p:nvSpPr>
        <p:spPr>
          <a:xfrm>
            <a:off x="1793875" y="5062361"/>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7" name="Rectangle 46"/>
          <p:cNvSpPr/>
          <p:nvPr/>
        </p:nvSpPr>
        <p:spPr>
          <a:xfrm>
            <a:off x="3327400" y="4769275"/>
            <a:ext cx="457200" cy="480023"/>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MI Data Label"/>
          <p:cNvSpPr txBox="1"/>
          <p:nvPr/>
        </p:nvSpPr>
        <p:spPr>
          <a:xfrm>
            <a:off x="2968625" y="462640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49" name="Rectangle 48"/>
          <p:cNvSpPr/>
          <p:nvPr/>
        </p:nvSpPr>
        <p:spPr>
          <a:xfrm>
            <a:off x="4502150" y="5249298"/>
            <a:ext cx="457200" cy="379717"/>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FMI Data Label"/>
          <p:cNvSpPr txBox="1"/>
          <p:nvPr/>
        </p:nvSpPr>
        <p:spPr>
          <a:xfrm>
            <a:off x="4143375" y="5638540"/>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1" name="Rectangle 50"/>
          <p:cNvSpPr/>
          <p:nvPr/>
        </p:nvSpPr>
        <p:spPr>
          <a:xfrm>
            <a:off x="5676900" y="5249298"/>
            <a:ext cx="457200" cy="378965"/>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MI Data Label"/>
          <p:cNvSpPr txBox="1"/>
          <p:nvPr/>
        </p:nvSpPr>
        <p:spPr>
          <a:xfrm>
            <a:off x="5318125" y="5637788"/>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3" name="Rectangle 52"/>
          <p:cNvSpPr/>
          <p:nvPr/>
        </p:nvSpPr>
        <p:spPr>
          <a:xfrm>
            <a:off x="6851650" y="5249298"/>
            <a:ext cx="457200" cy="76673"/>
          </a:xfrm>
          <a:prstGeom prst="rect">
            <a:avLst/>
          </a:prstGeom>
          <a:solidFill>
            <a:srgbClr val="E44D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MI Data Label"/>
          <p:cNvSpPr txBox="1"/>
          <p:nvPr/>
        </p:nvSpPr>
        <p:spPr>
          <a:xfrm>
            <a:off x="6492875" y="5335495"/>
            <a:ext cx="1174750" cy="133350"/>
          </a:xfrm>
          <a:prstGeom prst="rect">
            <a:avLst/>
          </a:prstGeom>
          <a:noFill/>
        </p:spPr>
        <p:txBody>
          <a:bodyPr wrap="square" lIns="28575" rIns="28575" tIns="9525" bIns="9525">
            <a:spAutoFit/>
          </a:bodyPr>
          <a:lstStyle/>
          <a:p>
            <a:pPr algn="ctr"/>
            <a:r>
              <a:rPr sz="1100" b="1">
                <a:solidFill>
                  <a:srgbClr val="2E2E2E"/>
                </a:solidFill>
                <a:latin typeface="Calibri"/>
              </a:rPr>
              <a:t> </a:t>
            </a:r>
          </a:p>
        </p:txBody>
      </p:sp>
      <p:sp>
        <p:nvSpPr>
          <p:cNvPr id="55" name="TextBox 54"/>
          <p:cNvSpPr txBox="1"/>
          <p:nvPr/>
        </p:nvSpPr>
        <p:spPr>
          <a:xfrm>
            <a:off x="619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North America</a:t>
            </a:r>
          </a:p>
        </p:txBody>
      </p:sp>
      <p:sp>
        <p:nvSpPr>
          <p:cNvPr id="56" name="TextBox 55"/>
          <p:cNvSpPr txBox="1"/>
          <p:nvPr/>
        </p:nvSpPr>
        <p:spPr>
          <a:xfrm>
            <a:off x="1793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Latin America</a:t>
            </a:r>
          </a:p>
        </p:txBody>
      </p:sp>
      <p:sp>
        <p:nvSpPr>
          <p:cNvPr id="57" name="TextBox 56"/>
          <p:cNvSpPr txBox="1"/>
          <p:nvPr/>
        </p:nvSpPr>
        <p:spPr>
          <a:xfrm>
            <a:off x="29686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Europe</a:t>
            </a:r>
          </a:p>
        </p:txBody>
      </p:sp>
      <p:sp>
        <p:nvSpPr>
          <p:cNvPr id="58" name="TextBox 57"/>
          <p:cNvSpPr txBox="1"/>
          <p:nvPr/>
        </p:nvSpPr>
        <p:spPr>
          <a:xfrm>
            <a:off x="41433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East Asia</a:t>
            </a:r>
          </a:p>
        </p:txBody>
      </p:sp>
      <p:sp>
        <p:nvSpPr>
          <p:cNvPr id="59" name="TextBox 58"/>
          <p:cNvSpPr txBox="1"/>
          <p:nvPr/>
        </p:nvSpPr>
        <p:spPr>
          <a:xfrm>
            <a:off x="531812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South Asia &amp; Pacific</a:t>
            </a:r>
          </a:p>
        </p:txBody>
      </p:sp>
      <p:sp>
        <p:nvSpPr>
          <p:cNvPr id="60" name="TextBox 59"/>
          <p:cNvSpPr txBox="1"/>
          <p:nvPr/>
        </p:nvSpPr>
        <p:spPr>
          <a:xfrm>
            <a:off x="6492875" y="6135380"/>
            <a:ext cx="1174750" cy="247650"/>
          </a:xfrm>
          <a:prstGeom prst="rect">
            <a:avLst/>
          </a:prstGeom>
          <a:noFill/>
        </p:spPr>
        <p:txBody>
          <a:bodyPr wrap="square" lIns="28575" rIns="28575" tIns="9525" bIns="9525">
            <a:spAutoFit/>
          </a:bodyPr>
          <a:lstStyle/>
          <a:p>
            <a:pPr algn="ctr"/>
            <a:r>
              <a:rPr sz="1100" b="0">
                <a:solidFill>
                  <a:srgbClr val="2E2E2E"/>
                </a:solidFill>
                <a:latin typeface="Calibri"/>
              </a:rPr>
              <a:t>Middle East &amp; Africa</a:t>
            </a:r>
          </a:p>
        </p:txBody>
      </p:sp>
      <p:sp>
        <p:nvSpPr>
          <p:cNvPr id="61" name="Rounded Rectangle 60"/>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63" name="Rectangle 62"/>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65" name="TextBox 6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6" name="Picture 65" descr="lock.png"/>
          <p:cNvPicPr>
            <a:picLocks noChangeAspect="1"/>
          </p:cNvPicPr>
          <p:nvPr/>
        </p:nvPicPr>
        <p:blipFill>
          <a:blip r:embed="rId4"/>
          <a:stretch>
            <a:fillRect/>
          </a:stretch>
        </p:blipFill>
        <p:spPr>
          <a:xfrm>
            <a:off x="2345475" y="2900666"/>
            <a:ext cx="128699" cy="187198"/>
          </a:xfrm>
          <a:prstGeom prst="rect">
            <a:avLst/>
          </a:prstGeom>
        </p:spPr>
      </p:pic>
      <p:pic>
        <p:nvPicPr>
          <p:cNvPr id="67" name="Picture 66" descr="lock.png"/>
          <p:cNvPicPr>
            <a:picLocks noChangeAspect="1"/>
          </p:cNvPicPr>
          <p:nvPr/>
        </p:nvPicPr>
        <p:blipFill>
          <a:blip r:embed="rId4"/>
          <a:stretch>
            <a:fillRect/>
          </a:stretch>
        </p:blipFill>
        <p:spPr>
          <a:xfrm>
            <a:off x="5850675" y="1748312"/>
            <a:ext cx="128699" cy="187198"/>
          </a:xfrm>
          <a:prstGeom prst="rect">
            <a:avLst/>
          </a:prstGeom>
        </p:spPr>
      </p:pic>
      <p:pic>
        <p:nvPicPr>
          <p:cNvPr id="68" name="Picture 67" descr="lock.png"/>
          <p:cNvPicPr>
            <a:picLocks noChangeAspect="1"/>
          </p:cNvPicPr>
          <p:nvPr/>
        </p:nvPicPr>
        <p:blipFill>
          <a:blip r:embed="rId4"/>
          <a:stretch>
            <a:fillRect/>
          </a:stretch>
        </p:blipFill>
        <p:spPr>
          <a:xfrm>
            <a:off x="1142150" y="4444308"/>
            <a:ext cx="128699" cy="187198"/>
          </a:xfrm>
          <a:prstGeom prst="rect">
            <a:avLst/>
          </a:prstGeom>
        </p:spPr>
      </p:pic>
      <p:pic>
        <p:nvPicPr>
          <p:cNvPr id="69" name="Picture 68" descr="lock.png"/>
          <p:cNvPicPr>
            <a:picLocks noChangeAspect="1"/>
          </p:cNvPicPr>
          <p:nvPr/>
        </p:nvPicPr>
        <p:blipFill>
          <a:blip r:embed="rId4"/>
          <a:stretch>
            <a:fillRect/>
          </a:stretch>
        </p:blipFill>
        <p:spPr>
          <a:xfrm>
            <a:off x="2316900" y="5035436"/>
            <a:ext cx="128699" cy="187198"/>
          </a:xfrm>
          <a:prstGeom prst="rect">
            <a:avLst/>
          </a:prstGeom>
        </p:spPr>
      </p:pic>
      <p:pic>
        <p:nvPicPr>
          <p:cNvPr id="70" name="Picture 69" descr="lock.png"/>
          <p:cNvPicPr>
            <a:picLocks noChangeAspect="1"/>
          </p:cNvPicPr>
          <p:nvPr/>
        </p:nvPicPr>
        <p:blipFill>
          <a:blip r:embed="rId4"/>
          <a:stretch>
            <a:fillRect/>
          </a:stretch>
        </p:blipFill>
        <p:spPr>
          <a:xfrm>
            <a:off x="3491650" y="4599476"/>
            <a:ext cx="128699" cy="187198"/>
          </a:xfrm>
          <a:prstGeom prst="rect">
            <a:avLst/>
          </a:prstGeom>
        </p:spPr>
      </p:pic>
      <p:pic>
        <p:nvPicPr>
          <p:cNvPr id="71" name="Picture 70" descr="lock.png"/>
          <p:cNvPicPr>
            <a:picLocks noChangeAspect="1"/>
          </p:cNvPicPr>
          <p:nvPr/>
        </p:nvPicPr>
        <p:blipFill>
          <a:blip r:embed="rId4"/>
          <a:stretch>
            <a:fillRect/>
          </a:stretch>
        </p:blipFill>
        <p:spPr>
          <a:xfrm>
            <a:off x="4666400" y="5611616"/>
            <a:ext cx="128699" cy="187198"/>
          </a:xfrm>
          <a:prstGeom prst="rect">
            <a:avLst/>
          </a:prstGeom>
        </p:spPr>
      </p:pic>
      <p:pic>
        <p:nvPicPr>
          <p:cNvPr id="72" name="Picture 71" descr="lock.png"/>
          <p:cNvPicPr>
            <a:picLocks noChangeAspect="1"/>
          </p:cNvPicPr>
          <p:nvPr/>
        </p:nvPicPr>
        <p:blipFill>
          <a:blip r:embed="rId4"/>
          <a:stretch>
            <a:fillRect/>
          </a:stretch>
        </p:blipFill>
        <p:spPr>
          <a:xfrm>
            <a:off x="5841150" y="5610863"/>
            <a:ext cx="128699" cy="187198"/>
          </a:xfrm>
          <a:prstGeom prst="rect">
            <a:avLst/>
          </a:prstGeom>
        </p:spPr>
      </p:pic>
      <p:pic>
        <p:nvPicPr>
          <p:cNvPr id="73" name="Picture 72" descr="lock.png"/>
          <p:cNvPicPr>
            <a:picLocks noChangeAspect="1"/>
          </p:cNvPicPr>
          <p:nvPr/>
        </p:nvPicPr>
        <p:blipFill>
          <a:blip r:embed="rId4"/>
          <a:stretch>
            <a:fillRect/>
          </a:stretch>
        </p:blipFill>
        <p:spPr>
          <a:xfrm>
            <a:off x="7015900" y="5308570"/>
            <a:ext cx="128699" cy="187198"/>
          </a:xfrm>
          <a:prstGeom prst="rect">
            <a:avLst/>
          </a:prstGeom>
        </p:spPr>
      </p:pic>
      <p:sp>
        <p:nvSpPr>
          <p:cNvPr id="74" name="TextBox 73"/>
          <p:cNvSpPr txBox="1"/>
          <p:nvPr/>
        </p:nvSpPr>
        <p:spPr>
          <a:xfrm>
            <a:off x="8048625" y="1736673"/>
            <a:ext cx="3781933" cy="194310"/>
          </a:xfrm>
          <a:prstGeom prst="rect">
            <a:avLst/>
          </a:prstGeom>
          <a:noFill/>
        </p:spPr>
        <p:txBody>
          <a:bodyPr wrap="none" lIns="0" rIns="0" tIns="0" bIns="0">
            <a:spAutoFit/>
          </a:bodyPr>
          <a:lstStyle/>
          <a:p>
            <a:r>
              <a:rPr sz="1150" b="0">
                <a:solidFill>
                  <a:srgbClr val="2E2E2E"/>
                </a:solidFill>
                <a:latin typeface="Calibri"/>
              </a:rPr>
              <a:t>▪ The chart shows global average pricing of key nature types in</a:t>
            </a:r>
          </a:p>
        </p:txBody>
      </p:sp>
      <p:sp>
        <p:nvSpPr>
          <p:cNvPr id="75" name="TextBox 74"/>
          <p:cNvSpPr txBox="1"/>
          <p:nvPr/>
        </p:nvSpPr>
        <p:spPr>
          <a:xfrm>
            <a:off x="8048625" y="1911934"/>
            <a:ext cx="3626657" cy="194310"/>
          </a:xfrm>
          <a:prstGeom prst="rect">
            <a:avLst/>
          </a:prstGeom>
          <a:noFill/>
        </p:spPr>
        <p:txBody>
          <a:bodyPr wrap="none" lIns="0" rIns="0" tIns="0" bIns="0">
            <a:spAutoFit/>
          </a:bodyPr>
          <a:lstStyle/>
          <a:p>
            <a:r>
              <a:rPr sz="1150" b="0">
                <a:solidFill>
                  <a:srgbClr val="2E2E2E"/>
                </a:solidFill>
                <a:latin typeface="Calibri"/>
              </a:rPr>
              <a:t>USD, harmonised across regions. Each candlestick spans the</a:t>
            </a:r>
          </a:p>
        </p:txBody>
      </p:sp>
      <p:sp>
        <p:nvSpPr>
          <p:cNvPr id="76" name="TextBox 75"/>
          <p:cNvSpPr txBox="1"/>
          <p:nvPr/>
        </p:nvSpPr>
        <p:spPr>
          <a:xfrm>
            <a:off x="8048625" y="2087194"/>
            <a:ext cx="3646437" cy="194310"/>
          </a:xfrm>
          <a:prstGeom prst="rect">
            <a:avLst/>
          </a:prstGeom>
          <a:noFill/>
        </p:spPr>
        <p:txBody>
          <a:bodyPr wrap="none" lIns="0" rIns="0" tIns="0" bIns="0">
            <a:spAutoFit/>
          </a:bodyPr>
          <a:lstStyle/>
          <a:p>
            <a:r>
              <a:rPr sz="1150" b="0">
                <a:solidFill>
                  <a:srgbClr val="2E2E2E"/>
                </a:solidFill>
                <a:latin typeface="Calibri"/>
              </a:rPr>
              <a:t>minimum-to-maximum observed price within the base year,</a:t>
            </a:r>
          </a:p>
        </p:txBody>
      </p:sp>
      <p:sp>
        <p:nvSpPr>
          <p:cNvPr id="77" name="TextBox 76"/>
          <p:cNvSpPr txBox="1"/>
          <p:nvPr/>
        </p:nvSpPr>
        <p:spPr>
          <a:xfrm>
            <a:off x="8048625" y="2262454"/>
            <a:ext cx="3406254" cy="194310"/>
          </a:xfrm>
          <a:prstGeom prst="rect">
            <a:avLst/>
          </a:prstGeom>
          <a:noFill/>
        </p:spPr>
        <p:txBody>
          <a:bodyPr wrap="none" lIns="0" rIns="0" tIns="0" bIns="0">
            <a:spAutoFit/>
          </a:bodyPr>
          <a:lstStyle/>
          <a:p>
            <a:r>
              <a:rPr sz="1150" b="0">
                <a:solidFill>
                  <a:srgbClr val="2E2E2E"/>
                </a:solidFill>
                <a:latin typeface="Calibri"/>
              </a:rPr>
              <a:t>giving a clear read of price range and market dispersion.</a:t>
            </a:r>
          </a:p>
        </p:txBody>
      </p:sp>
      <p:sp>
        <p:nvSpPr>
          <p:cNvPr id="78" name="TextBox 77"/>
          <p:cNvSpPr txBox="1"/>
          <p:nvPr/>
        </p:nvSpPr>
        <p:spPr>
          <a:xfrm>
            <a:off x="8048625" y="2490292"/>
            <a:ext cx="3793058" cy="194310"/>
          </a:xfrm>
          <a:prstGeom prst="rect">
            <a:avLst/>
          </a:prstGeom>
          <a:noFill/>
        </p:spPr>
        <p:txBody>
          <a:bodyPr wrap="none" lIns="0" rIns="0" tIns="0" bIns="0">
            <a:spAutoFit/>
          </a:bodyPr>
          <a:lstStyle/>
          <a:p>
            <a:r>
              <a:rPr sz="1150" b="0">
                <a:solidFill>
                  <a:srgbClr val="2E2E2E"/>
                </a:solidFill>
                <a:latin typeface="Calibri"/>
              </a:rPr>
              <a:t>▪ Wider bodies mark a larger gap between opening and closing</a:t>
            </a:r>
          </a:p>
        </p:txBody>
      </p:sp>
      <p:sp>
        <p:nvSpPr>
          <p:cNvPr id="79" name="TextBox 78"/>
          <p:cNvSpPr txBox="1"/>
          <p:nvPr/>
        </p:nvSpPr>
        <p:spPr>
          <a:xfrm>
            <a:off x="8048625" y="2665551"/>
            <a:ext cx="3097894" cy="194310"/>
          </a:xfrm>
          <a:prstGeom prst="rect">
            <a:avLst/>
          </a:prstGeom>
          <a:noFill/>
        </p:spPr>
        <p:txBody>
          <a:bodyPr wrap="none" lIns="0" rIns="0" tIns="0" bIns="0">
            <a:spAutoFit/>
          </a:bodyPr>
          <a:lstStyle/>
          <a:p>
            <a:r>
              <a:rPr sz="1150" b="0">
                <a:solidFill>
                  <a:srgbClr val="2E2E2E"/>
                </a:solidFill>
                <a:latin typeface="Calibri"/>
              </a:rPr>
              <a:t>price levels 'Organic' shows the most movement (+</a:t>
            </a:r>
          </a:p>
        </p:txBody>
      </p:sp>
      <p:pic>
        <p:nvPicPr>
          <p:cNvPr id="80" name="Picture 79" descr="lock.png"/>
          <p:cNvPicPr>
            <a:picLocks noChangeAspect="1"/>
          </p:cNvPicPr>
          <p:nvPr/>
        </p:nvPicPr>
        <p:blipFill>
          <a:blip r:embed="rId4"/>
          <a:stretch>
            <a:fillRect/>
          </a:stretch>
        </p:blipFill>
        <p:spPr>
          <a:xfrm>
            <a:off x="11095673" y="2655328"/>
            <a:ext cx="134549" cy="195707"/>
          </a:xfrm>
          <a:prstGeom prst="rect">
            <a:avLst/>
          </a:prstGeom>
        </p:spPr>
      </p:pic>
      <p:sp>
        <p:nvSpPr>
          <p:cNvPr id="81" name="TextBox 80"/>
          <p:cNvSpPr txBox="1"/>
          <p:nvPr/>
        </p:nvSpPr>
        <p:spPr>
          <a:xfrm>
            <a:off x="11270782" y="2665551"/>
            <a:ext cx="376857" cy="194310"/>
          </a:xfrm>
          <a:prstGeom prst="rect">
            <a:avLst/>
          </a:prstGeom>
          <a:noFill/>
        </p:spPr>
        <p:txBody>
          <a:bodyPr wrap="none" lIns="0" rIns="0" tIns="0" bIns="0">
            <a:spAutoFit/>
          </a:bodyPr>
          <a:lstStyle/>
          <a:p>
            <a:r>
              <a:rPr sz="1150" b="0">
                <a:solidFill>
                  <a:srgbClr val="2E2E2E"/>
                </a:solidFill>
                <a:latin typeface="Calibri"/>
              </a:rPr>
              <a:t>) and</a:t>
            </a:r>
          </a:p>
        </p:txBody>
      </p:sp>
      <p:sp>
        <p:nvSpPr>
          <p:cNvPr id="82" name="TextBox 81"/>
          <p:cNvSpPr txBox="1"/>
          <p:nvPr/>
        </p:nvSpPr>
        <p:spPr>
          <a:xfrm>
            <a:off x="8048625" y="2840811"/>
            <a:ext cx="1624843" cy="194310"/>
          </a:xfrm>
          <a:prstGeom prst="rect">
            <a:avLst/>
          </a:prstGeom>
          <a:noFill/>
        </p:spPr>
        <p:txBody>
          <a:bodyPr wrap="none" lIns="0" rIns="0" tIns="0" bIns="0">
            <a:spAutoFit/>
          </a:bodyPr>
          <a:lstStyle/>
          <a:p>
            <a:r>
              <a:rPr sz="1150" b="0">
                <a:solidFill>
                  <a:srgbClr val="2E2E2E"/>
                </a:solidFill>
                <a:latin typeface="Calibri"/>
              </a:rPr>
              <a:t>'Conventional' the least (+</a:t>
            </a:r>
          </a:p>
        </p:txBody>
      </p:sp>
      <p:pic>
        <p:nvPicPr>
          <p:cNvPr id="83" name="Picture 82" descr="lock.png"/>
          <p:cNvPicPr>
            <a:picLocks noChangeAspect="1"/>
          </p:cNvPicPr>
          <p:nvPr/>
        </p:nvPicPr>
        <p:blipFill>
          <a:blip r:embed="rId4"/>
          <a:stretch>
            <a:fillRect/>
          </a:stretch>
        </p:blipFill>
        <p:spPr>
          <a:xfrm>
            <a:off x="9622622" y="2830588"/>
            <a:ext cx="134549" cy="195707"/>
          </a:xfrm>
          <a:prstGeom prst="rect">
            <a:avLst/>
          </a:prstGeom>
        </p:spPr>
      </p:pic>
      <p:sp>
        <p:nvSpPr>
          <p:cNvPr id="84" name="TextBox 83"/>
          <p:cNvSpPr txBox="1"/>
          <p:nvPr/>
        </p:nvSpPr>
        <p:spPr>
          <a:xfrm>
            <a:off x="9797731" y="2840811"/>
            <a:ext cx="1961157" cy="194310"/>
          </a:xfrm>
          <a:prstGeom prst="rect">
            <a:avLst/>
          </a:prstGeom>
          <a:noFill/>
        </p:spPr>
        <p:txBody>
          <a:bodyPr wrap="none" lIns="0" rIns="0" tIns="0" bIns="0">
            <a:spAutoFit/>
          </a:bodyPr>
          <a:lstStyle/>
          <a:p>
            <a:r>
              <a:rPr sz="1150" b="0">
                <a:solidFill>
                  <a:srgbClr val="2E2E2E"/>
                </a:solidFill>
                <a:latin typeface="Calibri"/>
              </a:rPr>
              <a:t>) variability stakeholders should</a:t>
            </a:r>
          </a:p>
        </p:txBody>
      </p:sp>
      <p:sp>
        <p:nvSpPr>
          <p:cNvPr id="85" name="TextBox 84"/>
          <p:cNvSpPr txBox="1"/>
          <p:nvPr/>
        </p:nvSpPr>
        <p:spPr>
          <a:xfrm>
            <a:off x="8048625" y="3016071"/>
            <a:ext cx="2916187" cy="194310"/>
          </a:xfrm>
          <a:prstGeom prst="rect">
            <a:avLst/>
          </a:prstGeom>
          <a:noFill/>
        </p:spPr>
        <p:txBody>
          <a:bodyPr wrap="none" lIns="0" rIns="0" tIns="0" bIns="0">
            <a:spAutoFit/>
          </a:bodyPr>
          <a:lstStyle/>
          <a:p>
            <a:r>
              <a:rPr sz="1150" b="0">
                <a:solidFill>
                  <a:srgbClr val="2E2E2E"/>
                </a:solidFill>
                <a:latin typeface="Calibri"/>
              </a:rPr>
              <a:t>monitor when planning procurement or pricing.</a:t>
            </a:r>
          </a:p>
        </p:txBody>
      </p:sp>
      <p:sp>
        <p:nvSpPr>
          <p:cNvPr id="86" name="TextBox 85"/>
          <p:cNvSpPr txBox="1"/>
          <p:nvPr/>
        </p:nvSpPr>
        <p:spPr>
          <a:xfrm>
            <a:off x="8048625" y="3243909"/>
            <a:ext cx="3718607" cy="194310"/>
          </a:xfrm>
          <a:prstGeom prst="rect">
            <a:avLst/>
          </a:prstGeom>
          <a:noFill/>
        </p:spPr>
        <p:txBody>
          <a:bodyPr wrap="none" lIns="0" rIns="0" tIns="0" bIns="0">
            <a:spAutoFit/>
          </a:bodyPr>
          <a:lstStyle/>
          <a:p>
            <a:r>
              <a:rPr sz="1150" b="0">
                <a:solidFill>
                  <a:srgbClr val="2E2E2E"/>
                </a:solidFill>
                <a:latin typeface="Calibri"/>
              </a:rPr>
              <a:t>▪ The lower chart indexes region-level price movement to the</a:t>
            </a:r>
          </a:p>
        </p:txBody>
      </p:sp>
      <p:sp>
        <p:nvSpPr>
          <p:cNvPr id="87" name="TextBox 86"/>
          <p:cNvSpPr txBox="1"/>
          <p:nvPr/>
        </p:nvSpPr>
        <p:spPr>
          <a:xfrm>
            <a:off x="8048625" y="3419169"/>
            <a:ext cx="3716610" cy="194310"/>
          </a:xfrm>
          <a:prstGeom prst="rect">
            <a:avLst/>
          </a:prstGeom>
          <a:noFill/>
        </p:spPr>
        <p:txBody>
          <a:bodyPr wrap="none" lIns="0" rIns="0" tIns="0" bIns="0">
            <a:spAutoFit/>
          </a:bodyPr>
          <a:lstStyle/>
          <a:p>
            <a:r>
              <a:rPr sz="1150" b="0">
                <a:solidFill>
                  <a:srgbClr val="2E2E2E"/>
                </a:solidFill>
                <a:latin typeface="Calibri"/>
              </a:rPr>
              <a:t>base year, applied consistently across the horizon to strip out</a:t>
            </a:r>
          </a:p>
        </p:txBody>
      </p:sp>
      <p:sp>
        <p:nvSpPr>
          <p:cNvPr id="88" name="TextBox 87"/>
          <p:cNvSpPr txBox="1"/>
          <p:nvPr/>
        </p:nvSpPr>
        <p:spPr>
          <a:xfrm>
            <a:off x="8048625" y="3594429"/>
            <a:ext cx="3693219" cy="194310"/>
          </a:xfrm>
          <a:prstGeom prst="rect">
            <a:avLst/>
          </a:prstGeom>
          <a:noFill/>
        </p:spPr>
        <p:txBody>
          <a:bodyPr wrap="none" lIns="0" rIns="0" tIns="0" bIns="0">
            <a:spAutoFit/>
          </a:bodyPr>
          <a:lstStyle/>
          <a:p>
            <a:r>
              <a:rPr sz="1150" b="0">
                <a:solidFill>
                  <a:srgbClr val="2E2E2E"/>
                </a:solidFill>
                <a:latin typeface="Calibri"/>
              </a:rPr>
              <a:t>year-on-year inflationary volatility and reveal structural price</a:t>
            </a:r>
          </a:p>
        </p:txBody>
      </p:sp>
      <p:sp>
        <p:nvSpPr>
          <p:cNvPr id="89" name="TextBox 88"/>
          <p:cNvSpPr txBox="1"/>
          <p:nvPr/>
        </p:nvSpPr>
        <p:spPr>
          <a:xfrm>
            <a:off x="8048625" y="3769689"/>
            <a:ext cx="431055" cy="194310"/>
          </a:xfrm>
          <a:prstGeom prst="rect">
            <a:avLst/>
          </a:prstGeom>
          <a:noFill/>
        </p:spPr>
        <p:txBody>
          <a:bodyPr wrap="none" lIns="0" rIns="0" tIns="0" bIns="0">
            <a:spAutoFit/>
          </a:bodyPr>
          <a:lstStyle/>
          <a:p>
            <a:r>
              <a:rPr sz="1150" b="0">
                <a:solidFill>
                  <a:srgbClr val="2E2E2E"/>
                </a:solidFill>
                <a:latin typeface="Calibri"/>
              </a:rPr>
              <a:t>shifts.</a:t>
            </a:r>
          </a:p>
        </p:txBody>
      </p:sp>
      <p:sp>
        <p:nvSpPr>
          <p:cNvPr id="90" name="TextBox 89"/>
          <p:cNvSpPr txBox="1"/>
          <p:nvPr/>
        </p:nvSpPr>
        <p:spPr>
          <a:xfrm>
            <a:off x="8048625" y="3997527"/>
            <a:ext cx="2340260" cy="194310"/>
          </a:xfrm>
          <a:prstGeom prst="rect">
            <a:avLst/>
          </a:prstGeom>
          <a:noFill/>
        </p:spPr>
        <p:txBody>
          <a:bodyPr wrap="none" lIns="0" rIns="0" tIns="0" bIns="0">
            <a:spAutoFit/>
          </a:bodyPr>
          <a:lstStyle/>
          <a:p>
            <a:r>
              <a:rPr sz="1150" b="0">
                <a:solidFill>
                  <a:srgbClr val="2E2E2E"/>
                </a:solidFill>
                <a:latin typeface="Calibri"/>
              </a:rPr>
              <a:t>▪ Region price indices diverge by up to</a:t>
            </a:r>
          </a:p>
        </p:txBody>
      </p:sp>
      <p:pic>
        <p:nvPicPr>
          <p:cNvPr id="91" name="Picture 90" descr="lock.png"/>
          <p:cNvPicPr>
            <a:picLocks noChangeAspect="1"/>
          </p:cNvPicPr>
          <p:nvPr/>
        </p:nvPicPr>
        <p:blipFill>
          <a:blip r:embed="rId4"/>
          <a:stretch>
            <a:fillRect/>
          </a:stretch>
        </p:blipFill>
        <p:spPr>
          <a:xfrm>
            <a:off x="10338039" y="3987304"/>
            <a:ext cx="134549" cy="195707"/>
          </a:xfrm>
          <a:prstGeom prst="rect">
            <a:avLst/>
          </a:prstGeom>
        </p:spPr>
      </p:pic>
      <p:sp>
        <p:nvSpPr>
          <p:cNvPr id="92" name="TextBox 91"/>
          <p:cNvSpPr txBox="1"/>
          <p:nvPr/>
        </p:nvSpPr>
        <p:spPr>
          <a:xfrm>
            <a:off x="10513148" y="3997527"/>
            <a:ext cx="1187549" cy="194310"/>
          </a:xfrm>
          <a:prstGeom prst="rect">
            <a:avLst/>
          </a:prstGeom>
          <a:noFill/>
        </p:spPr>
        <p:txBody>
          <a:bodyPr wrap="none" lIns="0" rIns="0" tIns="0" bIns="0">
            <a:spAutoFit/>
          </a:bodyPr>
          <a:lstStyle/>
          <a:p>
            <a:r>
              <a:rPr sz="1150" b="0">
                <a:solidFill>
                  <a:srgbClr val="2E2E2E"/>
                </a:solidFill>
                <a:latin typeface="Calibri"/>
              </a:rPr>
              <a:t>between 2026 and</a:t>
            </a:r>
          </a:p>
        </p:txBody>
      </p:sp>
      <p:sp>
        <p:nvSpPr>
          <p:cNvPr id="93" name="TextBox 92"/>
          <p:cNvSpPr txBox="1"/>
          <p:nvPr/>
        </p:nvSpPr>
        <p:spPr>
          <a:xfrm>
            <a:off x="8048625" y="4172787"/>
            <a:ext cx="3848100" cy="194310"/>
          </a:xfrm>
          <a:prstGeom prst="rect">
            <a:avLst/>
          </a:prstGeom>
          <a:noFill/>
        </p:spPr>
        <p:txBody>
          <a:bodyPr wrap="none" lIns="0" rIns="0" tIns="0" bIns="0">
            <a:spAutoFit/>
          </a:bodyPr>
          <a:lstStyle/>
          <a:p>
            <a:r>
              <a:rPr sz="1150" b="0">
                <a:solidFill>
                  <a:srgbClr val="2E2E2E"/>
                </a:solidFill>
                <a:latin typeface="Calibri"/>
              </a:rPr>
              <a:t>2036: higher-priced regions start higher and grow steadily, while</a:t>
            </a:r>
          </a:p>
        </p:txBody>
      </p:sp>
      <p:sp>
        <p:nvSpPr>
          <p:cNvPr id="94" name="TextBox 93"/>
          <p:cNvSpPr txBox="1"/>
          <p:nvPr/>
        </p:nvSpPr>
        <p:spPr>
          <a:xfrm>
            <a:off x="8048625" y="4348047"/>
            <a:ext cx="3454747" cy="194310"/>
          </a:xfrm>
          <a:prstGeom prst="rect">
            <a:avLst/>
          </a:prstGeom>
          <a:noFill/>
        </p:spPr>
        <p:txBody>
          <a:bodyPr wrap="none" lIns="0" rIns="0" tIns="0" bIns="0">
            <a:spAutoFit/>
          </a:bodyPr>
          <a:lstStyle/>
          <a:p>
            <a:r>
              <a:rPr sz="1150" b="0">
                <a:solidFill>
                  <a:srgbClr val="2E2E2E"/>
                </a:solidFill>
                <a:latin typeface="Calibri"/>
              </a:rPr>
              <a:t>lower-priced regions start lower and converge, reflecting</a:t>
            </a:r>
          </a:p>
        </p:txBody>
      </p:sp>
      <p:sp>
        <p:nvSpPr>
          <p:cNvPr id="95" name="TextBox 94"/>
          <p:cNvSpPr txBox="1"/>
          <p:nvPr/>
        </p:nvSpPr>
        <p:spPr>
          <a:xfrm>
            <a:off x="8048625" y="4523307"/>
            <a:ext cx="1090848" cy="194310"/>
          </a:xfrm>
          <a:prstGeom prst="rect">
            <a:avLst/>
          </a:prstGeom>
          <a:noFill/>
        </p:spPr>
        <p:txBody>
          <a:bodyPr wrap="none" lIns="0" rIns="0" tIns="0" bIns="0">
            <a:spAutoFit/>
          </a:bodyPr>
          <a:lstStyle/>
          <a:p>
            <a:r>
              <a:rPr sz="1150" b="0">
                <a:solidFill>
                  <a:srgbClr val="2E2E2E"/>
                </a:solidFill>
                <a:latin typeface="Calibri"/>
              </a:rPr>
              <a:t>catch-up growth.</a:t>
            </a:r>
          </a:p>
        </p:txBody>
      </p:sp>
    </p:spTree>
  </p:cSld>
  <p:clrMapOvr>
    <a:masterClrMapping/>
  </p:clrMapOvr>
</p:sld>
</file>

<file path=ppt/slides/slide25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Pricing Assessment: By Product Type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by product type, 2021 to 2036, with 2026 price index and growth outlook</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644652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621792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Trend by Product Type, 2021 to 2036 (US$/MT)</a:t>
            </a:r>
          </a:p>
        </p:txBody>
      </p:sp>
      <p:graphicFrame>
        <p:nvGraphicFramePr>
          <p:cNvPr id="13" name="FMI Price Chart"/>
          <p:cNvGraphicFramePr>
            <a:graphicFrameLocks noGrp="1"/>
          </p:cNvGraphicFramePr>
          <p:nvPr/>
        </p:nvGraphicFramePr>
        <p:xfrm>
          <a:off x="347472" y="1831467"/>
          <a:ext cx="6309360" cy="3182112"/>
        </p:xfrm>
        <a:graphic>
          <a:graphicData uri="http://schemas.openxmlformats.org/drawingml/2006/chart">
            <c:chart xmlns:c="http://schemas.openxmlformats.org/drawingml/2006/chart" r:id="rId3"/>
          </a:graphicData>
        </a:graphic>
      </p:graphicFrame>
      <p:sp>
        <p:nvSpPr>
          <p:cNvPr id="14" name="TextBox 13"/>
          <p:cNvSpPr txBox="1"/>
          <p:nvPr/>
        </p:nvSpPr>
        <p:spPr>
          <a:xfrm>
            <a:off x="4572000" y="1593723"/>
            <a:ext cx="2103120" cy="228600"/>
          </a:xfrm>
          <a:prstGeom prst="rect">
            <a:avLst/>
          </a:prstGeom>
          <a:noFill/>
        </p:spPr>
        <p:txBody>
          <a:bodyPr wrap="square" anchor="t" lIns="27432" rIns="27432" tIns="27432" bIns="27432">
            <a:spAutoFit/>
          </a:bodyPr>
          <a:lstStyle/>
          <a:p>
            <a:pPr algn="r"/>
            <a:r>
              <a:rPr sz="850" b="0" i="1">
                <a:solidFill>
                  <a:srgbClr val="59636E"/>
                </a:solidFill>
                <a:latin typeface="Calibri"/>
              </a:rPr>
              <a:t>Forecast period: 2026 to 2036</a:t>
            </a:r>
          </a:p>
        </p:txBody>
      </p:sp>
      <p:sp>
        <p:nvSpPr>
          <p:cNvPr id="15" name="Rectangle 14"/>
          <p:cNvSpPr/>
          <p:nvPr/>
        </p:nvSpPr>
        <p:spPr>
          <a:xfrm>
            <a:off x="6858000" y="1529715"/>
            <a:ext cx="5056632" cy="160020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6967728" y="1575435"/>
            <a:ext cx="4846320" cy="257175"/>
          </a:xfrm>
          <a:prstGeom prst="rect">
            <a:avLst/>
          </a:prstGeom>
          <a:noFill/>
        </p:spPr>
        <p:txBody>
          <a:bodyPr wrap="square" anchor="t" lIns="27432" rIns="27432" tIns="27432" bIns="27432">
            <a:spAutoFit/>
          </a:bodyPr>
          <a:lstStyle/>
          <a:p>
            <a:pPr algn="l"/>
            <a:r>
              <a:rPr sz="1150" b="1" i="0">
                <a:solidFill>
                  <a:srgbClr val="0B2E4A"/>
                </a:solidFill>
                <a:latin typeface="Calibri"/>
              </a:rPr>
              <a:t/>
            </a:r>
          </a:p>
        </p:txBody>
      </p:sp>
      <p:graphicFrame>
        <p:nvGraphicFramePr>
          <p:cNvPr id="17" name="FMI Open Chart"/>
          <p:cNvGraphicFramePr>
            <a:graphicFrameLocks noGrp="1"/>
          </p:cNvGraphicFramePr>
          <p:nvPr/>
        </p:nvGraphicFramePr>
        <p:xfrm>
          <a:off x="6903720" y="1785747"/>
          <a:ext cx="4965192" cy="1325880"/>
        </p:xfrm>
        <a:graphic>
          <a:graphicData uri="http://schemas.openxmlformats.org/drawingml/2006/chart">
            <c:chart xmlns:c="http://schemas.openxmlformats.org/drawingml/2006/chart" r:id="rId4"/>
          </a:graphicData>
        </a:graphic>
      </p:graphicFrame>
      <p:graphicFrame>
        <p:nvGraphicFramePr>
          <p:cNvPr id="18" name="Table 17"/>
          <p:cNvGraphicFramePr>
            <a:graphicFrameLocks noGrp="1"/>
          </p:cNvGraphicFramePr>
          <p:nvPr/>
        </p:nvGraphicFramePr>
        <p:xfrm>
          <a:off x="6858000" y="3203067"/>
          <a:ext cx="5056632" cy="1847088"/>
        </p:xfrm>
        <a:graphic>
          <a:graphicData uri="http://schemas.openxmlformats.org/drawingml/2006/table">
            <a:tbl>
              <a:tblPr firstRow="1" bandRow="1">
                <a:tableStyleId>{5C22544A-7EE6-4342-B048-85BDC9FD1C3A}</a:tableStyleId>
              </a:tblPr>
              <a:tblGrid>
                <a:gridCol w="2130552"/>
                <a:gridCol w="548640"/>
                <a:gridCol w="548640"/>
                <a:gridCol w="548640"/>
                <a:gridCol w="777240"/>
                <a:gridCol w="502920"/>
              </a:tblGrid>
              <a:tr h="461772">
                <a:tc>
                  <a:txBody>
                    <a:bodyPr wrap="square"/>
                    <a:lstStyle/>
                    <a:p>
                      <a:pPr algn="l"/>
                      <a:r>
                        <a:rPr sz="850" b="1">
                          <a:solidFill>
                            <a:srgbClr val="FFFFFF"/>
                          </a:solidFill>
                          <a:latin typeface="Calibri"/>
                        </a:rPr>
                        <a:t>Product Type</a:t>
                      </a:r>
                    </a:p>
                  </a:txBody>
                  <a:tcPr marL="36576" marR="36576" marT="9144" marB="9144" anchor="ctr">
                    <a:solidFill>
                      <a:srgbClr val="0B2E4A"/>
                    </a:solidFill>
                  </a:tcPr>
                </a:tc>
                <a:tc>
                  <a:txBody>
                    <a:bodyPr wrap="square"/>
                    <a:lstStyle/>
                    <a:p>
                      <a:pPr algn="ctr"/>
                      <a:r>
                        <a:rPr sz="850" b="1">
                          <a:solidFill>
                            <a:srgbClr val="FFFFFF"/>
                          </a:solidFill>
                          <a:latin typeface="Calibri"/>
                        </a:rPr>
                        <a:t>2021</a:t>
                      </a:r>
                    </a:p>
                  </a:txBody>
                  <a:tcPr marL="36576" marR="36576" marT="9144" marB="9144" anchor="ctr">
                    <a:solidFill>
                      <a:srgbClr val="0B2E4A"/>
                    </a:solidFill>
                  </a:tcPr>
                </a:tc>
                <a:tc>
                  <a:txBody>
                    <a:bodyPr wrap="square"/>
                    <a:lstStyle/>
                    <a:p>
                      <a:pPr algn="ctr"/>
                      <a:r>
                        <a:rPr sz="850" b="1">
                          <a:solidFill>
                            <a:srgbClr val="FFFFFF"/>
                          </a:solidFill>
                          <a:latin typeface="Calibri"/>
                        </a:rPr>
                        <a:t>2026</a:t>
                      </a:r>
                    </a:p>
                  </a:txBody>
                  <a:tcPr marL="36576" marR="36576" marT="9144" marB="9144" anchor="ctr">
                    <a:solidFill>
                      <a:srgbClr val="0B2E4A"/>
                    </a:solidFill>
                  </a:tcPr>
                </a:tc>
                <a:tc>
                  <a:txBody>
                    <a:bodyPr wrap="square"/>
                    <a:lstStyle/>
                    <a:p>
                      <a:pPr algn="ctr"/>
                      <a:r>
                        <a:rPr sz="850" b="1">
                          <a:solidFill>
                            <a:srgbClr val="FFFFFF"/>
                          </a:solidFill>
                          <a:latin typeface="Calibri"/>
                        </a:rPr>
                        <a:t>2036</a:t>
                      </a:r>
                    </a:p>
                  </a:txBody>
                  <a:tcPr marL="36576" marR="36576" marT="9144" marB="9144" anchor="ctr">
                    <a:solidFill>
                      <a:srgbClr val="0B2E4A"/>
                    </a:solidFill>
                  </a:tcPr>
                </a:tc>
                <a:tc>
                  <a:txBody>
                    <a:bodyPr wrap="square"/>
                    <a:lstStyle/>
                    <a:p>
                      <a:pPr algn="ctr"/>
                      <a:r>
                        <a:rPr sz="850" b="1">
                          <a:solidFill>
                            <a:srgbClr val="FFFFFF"/>
                          </a:solidFill>
                          <a:latin typeface="Calibri"/>
                        </a:rPr>
                        <a:t>CAGR 2026 to 2036</a:t>
                      </a:r>
                    </a:p>
                  </a:txBody>
                  <a:tcPr marL="36576" marR="36576" marT="9144" marB="9144" anchor="ctr">
                    <a:solidFill>
                      <a:srgbClr val="0B2E4A"/>
                    </a:solidFill>
                  </a:tcPr>
                </a:tc>
                <a:tc>
                  <a:txBody>
                    <a:bodyPr wrap="square"/>
                    <a:lstStyle/>
                    <a:p>
                      <a:pPr algn="ctr"/>
                      <a:r>
                        <a:rPr sz="850" b="1">
                          <a:solidFill>
                            <a:srgbClr val="FFFFFF"/>
                          </a:solidFill>
                          <a:latin typeface="Calibri"/>
                        </a:rPr>
                        <a:t>Index</a:t>
                      </a:r>
                    </a:p>
                  </a:txBody>
                  <a:tcPr marL="36576" marR="36576" marT="9144" marB="9144" anchor="ctr">
                    <a:solidFill>
                      <a:srgbClr val="0B2E4A"/>
                    </a:solidFill>
                  </a:tcPr>
                </a:tc>
              </a:tr>
              <a:tr h="461772">
                <a:tc>
                  <a:txBody>
                    <a:bodyPr wrap="square"/>
                    <a:lstStyle/>
                    <a:p>
                      <a:pPr algn="l"/>
                      <a:r>
                        <a:rPr sz="850" b="1">
                          <a:solidFill>
                            <a:srgbClr val="1F1F1F"/>
                          </a:solidFill>
                          <a:latin typeface="Calibri"/>
                        </a:rPr>
                        <a:t>Matcha Tea</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FFFFF"/>
                    </a:solidFill>
                  </a:tcPr>
                </a:tc>
                <a:tc>
                  <a:txBody>
                    <a:bodyPr wrap="square"/>
                    <a:lstStyle/>
                    <a:p>
                      <a:pPr algn="ctr"/>
                      <a:r>
                        <a:rPr sz="850"/>
                        <a:t> </a:t>
                      </a:r>
                    </a:p>
                  </a:txBody>
                  <a:tcPr marL="36576" marR="36576" marT="9144" marB="9144" anchor="ctr">
                    <a:solidFill>
                      <a:srgbClr val="FBE3D3"/>
                    </a:solidFill>
                  </a:tcPr>
                </a:tc>
              </a:tr>
              <a:tr h="461772">
                <a:tc>
                  <a:txBody>
                    <a:bodyPr wrap="square"/>
                    <a:lstStyle/>
                    <a:p>
                      <a:pPr algn="l"/>
                      <a:r>
                        <a:rPr sz="850" b="1">
                          <a:solidFill>
                            <a:srgbClr val="1F1F1F"/>
                          </a:solidFill>
                          <a:latin typeface="Calibri"/>
                        </a:rPr>
                        <a:t>Matcha Powder</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9DC0E0"/>
                    </a:solidFill>
                  </a:tcPr>
                </a:tc>
              </a:tr>
              <a:tr h="461772">
                <a:tc>
                  <a:txBody>
                    <a:bodyPr wrap="square"/>
                    <a:lstStyle/>
                    <a:p>
                      <a:pPr algn="l"/>
                      <a:r>
                        <a:rPr sz="850" b="1">
                          <a:solidFill>
                            <a:srgbClr val="1F1F1F"/>
                          </a:solidFill>
                          <a:latin typeface="Calibri"/>
                        </a:rPr>
                        <a:t>Global Average</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c>
                  <a:txBody>
                    <a:bodyPr wrap="square"/>
                    <a:lstStyle/>
                    <a:p>
                      <a:pPr algn="ctr"/>
                      <a:r>
                        <a:rPr sz="850"/>
                        <a:t> </a:t>
                      </a:r>
                    </a:p>
                  </a:txBody>
                  <a:tcPr marL="36576" marR="36576" marT="9144" marB="9144" anchor="ctr">
                    <a:solidFill>
                      <a:srgbClr val="F3F6F9"/>
                    </a:solidFill>
                  </a:tcPr>
                </a:tc>
              </a:tr>
            </a:tbl>
          </a:graphicData>
        </a:graphic>
      </p:graphicFrame>
      <p:sp>
        <p:nvSpPr>
          <p:cNvPr id="19" name="Rectangle 18"/>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0" name="Oval 19"/>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1" name="TextBox 20"/>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Hierarchy</a:t>
            </a:r>
          </a:p>
        </p:txBody>
      </p:sp>
      <p:sp>
        <p:nvSpPr>
          <p:cNvPr id="22" name="TextBox 21"/>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3" name="Rectangle 22"/>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4" name="Oval 23"/>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5" name="TextBox 24"/>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Price Momentum</a:t>
            </a:r>
          </a:p>
        </p:txBody>
      </p:sp>
      <p:sp>
        <p:nvSpPr>
          <p:cNvPr id="26" name="TextBox 25"/>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7" name="Rectangle 26"/>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8" name="Oval 27"/>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9" name="TextBox 28"/>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Outlook</a:t>
            </a:r>
          </a:p>
        </p:txBody>
      </p:sp>
      <p:sp>
        <p:nvSpPr>
          <p:cNvPr id="30" name="TextBox 29"/>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1" name="TextBox 30"/>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Average price = market value (US$) / market volume (MT). 2021 to 2025 historical, 2026 to 2036 forecast.</a:t>
            </a:r>
          </a:p>
        </p:txBody>
      </p:sp>
      <p:sp>
        <p:nvSpPr>
          <p:cNvPr id="32" name="TextBox 3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3" name="Picture 32" descr="lock.png"/>
          <p:cNvPicPr>
            <a:picLocks noChangeAspect="1"/>
          </p:cNvPicPr>
          <p:nvPr/>
        </p:nvPicPr>
        <p:blipFill>
          <a:blip r:embed="rId6"/>
          <a:stretch>
            <a:fillRect/>
          </a:stretch>
        </p:blipFill>
        <p:spPr>
          <a:xfrm>
            <a:off x="10283571" y="4117466"/>
            <a:ext cx="330041" cy="480060"/>
          </a:xfrm>
          <a:prstGeom prst="rect">
            <a:avLst/>
          </a:prstGeom>
        </p:spPr>
      </p:pic>
      <p:sp>
        <p:nvSpPr>
          <p:cNvPr id="34" name="TextBox 33"/>
          <p:cNvSpPr txBox="1"/>
          <p:nvPr/>
        </p:nvSpPr>
        <p:spPr>
          <a:xfrm>
            <a:off x="411480" y="1110615"/>
            <a:ext cx="4113733" cy="217169"/>
          </a:xfrm>
          <a:prstGeom prst="rect">
            <a:avLst/>
          </a:prstGeom>
          <a:noFill/>
        </p:spPr>
        <p:txBody>
          <a:bodyPr wrap="none" lIns="0" rIns="0" tIns="0" bIns="0">
            <a:spAutoFit/>
          </a:bodyPr>
          <a:lstStyle/>
          <a:p>
            <a:r>
              <a:rPr sz="1300" b="1">
                <a:solidFill>
                  <a:srgbClr val="FFFFFF"/>
                </a:solidFill>
                <a:latin typeface="Calibri"/>
              </a:rPr>
              <a:t>Matcha Tea commands the highest 2026 price point at US$</a:t>
            </a:r>
          </a:p>
        </p:txBody>
      </p:sp>
      <p:pic>
        <p:nvPicPr>
          <p:cNvPr id="35" name="Picture 34" descr="lock.png"/>
          <p:cNvPicPr>
            <a:picLocks noChangeAspect="1"/>
          </p:cNvPicPr>
          <p:nvPr/>
        </p:nvPicPr>
        <p:blipFill>
          <a:blip r:embed="rId6"/>
          <a:stretch>
            <a:fillRect/>
          </a:stretch>
        </p:blipFill>
        <p:spPr>
          <a:xfrm>
            <a:off x="4477674" y="1099058"/>
            <a:ext cx="152098" cy="221234"/>
          </a:xfrm>
          <a:prstGeom prst="rect">
            <a:avLst/>
          </a:prstGeom>
        </p:spPr>
      </p:pic>
      <p:sp>
        <p:nvSpPr>
          <p:cNvPr id="36" name="TextBox 35"/>
          <p:cNvSpPr txBox="1"/>
          <p:nvPr/>
        </p:nvSpPr>
        <p:spPr>
          <a:xfrm>
            <a:off x="4675623" y="1110615"/>
            <a:ext cx="535061" cy="217169"/>
          </a:xfrm>
          <a:prstGeom prst="rect">
            <a:avLst/>
          </a:prstGeom>
          <a:noFill/>
        </p:spPr>
        <p:txBody>
          <a:bodyPr wrap="none" lIns="0" rIns="0" tIns="0" bIns="0">
            <a:spAutoFit/>
          </a:bodyPr>
          <a:lstStyle/>
          <a:p>
            <a:r>
              <a:rPr sz="1300" b="1">
                <a:solidFill>
                  <a:srgbClr val="FFFFFF"/>
                </a:solidFill>
                <a:latin typeface="Calibri"/>
              </a:rPr>
              <a:t>/MT, a</a:t>
            </a:r>
          </a:p>
        </p:txBody>
      </p:sp>
      <p:pic>
        <p:nvPicPr>
          <p:cNvPr id="37" name="Picture 36" descr="lock.png"/>
          <p:cNvPicPr>
            <a:picLocks noChangeAspect="1"/>
          </p:cNvPicPr>
          <p:nvPr/>
        </p:nvPicPr>
        <p:blipFill>
          <a:blip r:embed="rId6"/>
          <a:stretch>
            <a:fillRect/>
          </a:stretch>
        </p:blipFill>
        <p:spPr>
          <a:xfrm>
            <a:off x="5163146" y="1099058"/>
            <a:ext cx="152098" cy="221234"/>
          </a:xfrm>
          <a:prstGeom prst="rect">
            <a:avLst/>
          </a:prstGeom>
        </p:spPr>
      </p:pic>
      <p:sp>
        <p:nvSpPr>
          <p:cNvPr id="38" name="TextBox 37"/>
          <p:cNvSpPr txBox="1"/>
          <p:nvPr/>
        </p:nvSpPr>
        <p:spPr>
          <a:xfrm>
            <a:off x="5361096" y="1110615"/>
            <a:ext cx="2223144" cy="217169"/>
          </a:xfrm>
          <a:prstGeom prst="rect">
            <a:avLst/>
          </a:prstGeom>
          <a:noFill/>
        </p:spPr>
        <p:txBody>
          <a:bodyPr wrap="none" lIns="0" rIns="0" tIns="0" bIns="0">
            <a:spAutoFit/>
          </a:bodyPr>
          <a:lstStyle/>
          <a:p>
            <a:r>
              <a:rPr sz="1300" b="1">
                <a:solidFill>
                  <a:srgbClr val="FFFFFF"/>
                </a:solidFill>
                <a:latin typeface="Calibri"/>
              </a:rPr>
              <a:t>premium over Matcha Powder.</a:t>
            </a:r>
          </a:p>
        </p:txBody>
      </p:sp>
      <p:sp>
        <p:nvSpPr>
          <p:cNvPr id="39" name="TextBox 38"/>
          <p:cNvSpPr txBox="1"/>
          <p:nvPr/>
        </p:nvSpPr>
        <p:spPr>
          <a:xfrm>
            <a:off x="6995160" y="1602867"/>
            <a:ext cx="2164334" cy="180289"/>
          </a:xfrm>
          <a:prstGeom prst="rect">
            <a:avLst/>
          </a:prstGeom>
          <a:noFill/>
        </p:spPr>
        <p:txBody>
          <a:bodyPr wrap="none" lIns="0" rIns="0" tIns="0" bIns="0">
            <a:spAutoFit/>
          </a:bodyPr>
          <a:lstStyle/>
          <a:p>
            <a:r>
              <a:rPr sz="1057" b="1">
                <a:solidFill>
                  <a:srgbClr val="0B2E4A"/>
                </a:solidFill>
                <a:latin typeface="Calibri"/>
              </a:rPr>
              <a:t>2026 Price Index vs Global Average (=</a:t>
            </a:r>
          </a:p>
        </p:txBody>
      </p:sp>
      <p:pic>
        <p:nvPicPr>
          <p:cNvPr id="40" name="Picture 39" descr="lock.png"/>
          <p:cNvPicPr>
            <a:picLocks noChangeAspect="1"/>
          </p:cNvPicPr>
          <p:nvPr/>
        </p:nvPicPr>
        <p:blipFill>
          <a:blip r:embed="rId6"/>
          <a:stretch>
            <a:fillRect/>
          </a:stretch>
        </p:blipFill>
        <p:spPr>
          <a:xfrm>
            <a:off x="9106620" y="1593461"/>
            <a:ext cx="123784" cy="180050"/>
          </a:xfrm>
          <a:prstGeom prst="rect">
            <a:avLst/>
          </a:prstGeom>
        </p:spPr>
      </p:pic>
      <p:sp>
        <p:nvSpPr>
          <p:cNvPr id="41" name="TextBox 40"/>
          <p:cNvSpPr txBox="1"/>
          <p:nvPr/>
        </p:nvSpPr>
        <p:spPr>
          <a:xfrm>
            <a:off x="9267721" y="1602867"/>
            <a:ext cx="118189" cy="180289"/>
          </a:xfrm>
          <a:prstGeom prst="rect">
            <a:avLst/>
          </a:prstGeom>
          <a:noFill/>
        </p:spPr>
        <p:txBody>
          <a:bodyPr wrap="none" lIns="0" rIns="0" tIns="0" bIns="0">
            <a:spAutoFit/>
          </a:bodyPr>
          <a:lstStyle/>
          <a:p>
            <a:r>
              <a:rPr sz="1057" b="1">
                <a:solidFill>
                  <a:srgbClr val="0B2E4A"/>
                </a:solidFill>
                <a:latin typeface="Calibri"/>
              </a:rPr>
              <a:t>)</a:t>
            </a:r>
          </a:p>
        </p:txBody>
      </p:sp>
      <p:sp>
        <p:nvSpPr>
          <p:cNvPr id="42" name="TextBox 41"/>
          <p:cNvSpPr txBox="1"/>
          <p:nvPr/>
        </p:nvSpPr>
        <p:spPr>
          <a:xfrm>
            <a:off x="806576" y="5530976"/>
            <a:ext cx="3125539" cy="179069"/>
          </a:xfrm>
          <a:prstGeom prst="rect">
            <a:avLst/>
          </a:prstGeom>
          <a:noFill/>
        </p:spPr>
        <p:txBody>
          <a:bodyPr wrap="none" lIns="0" rIns="0" tIns="0" bIns="0">
            <a:spAutoFit/>
          </a:bodyPr>
          <a:lstStyle/>
          <a:p>
            <a:r>
              <a:rPr sz="1050" b="0">
                <a:solidFill>
                  <a:srgbClr val="1F1F1F"/>
                </a:solidFill>
                <a:latin typeface="Calibri"/>
              </a:rPr>
              <a:t>Matcha Tea sits at the top of the 2026 price ladder at an</a:t>
            </a:r>
          </a:p>
        </p:txBody>
      </p:sp>
      <p:sp>
        <p:nvSpPr>
          <p:cNvPr id="43" name="TextBox 42"/>
          <p:cNvSpPr txBox="1"/>
          <p:nvPr/>
        </p:nvSpPr>
        <p:spPr>
          <a:xfrm>
            <a:off x="806576" y="5690996"/>
            <a:ext cx="512452" cy="179069"/>
          </a:xfrm>
          <a:prstGeom prst="rect">
            <a:avLst/>
          </a:prstGeom>
          <a:noFill/>
        </p:spPr>
        <p:txBody>
          <a:bodyPr wrap="none" lIns="0" rIns="0" tIns="0" bIns="0">
            <a:spAutoFit/>
          </a:bodyPr>
          <a:lstStyle/>
          <a:p>
            <a:r>
              <a:rPr sz="1050" b="0">
                <a:solidFill>
                  <a:srgbClr val="1F1F1F"/>
                </a:solidFill>
                <a:latin typeface="Calibri"/>
              </a:rPr>
              <a:t>index of</a:t>
            </a:r>
          </a:p>
        </p:txBody>
      </p:sp>
      <p:pic>
        <p:nvPicPr>
          <p:cNvPr id="44" name="Picture 43" descr="lock.png"/>
          <p:cNvPicPr>
            <a:picLocks noChangeAspect="1"/>
          </p:cNvPicPr>
          <p:nvPr/>
        </p:nvPicPr>
        <p:blipFill>
          <a:blip r:embed="rId6"/>
          <a:stretch>
            <a:fillRect/>
          </a:stretch>
        </p:blipFill>
        <p:spPr>
          <a:xfrm>
            <a:off x="1265978" y="5681662"/>
            <a:ext cx="122849" cy="178689"/>
          </a:xfrm>
          <a:prstGeom prst="rect">
            <a:avLst/>
          </a:prstGeom>
        </p:spPr>
      </p:pic>
      <p:sp>
        <p:nvSpPr>
          <p:cNvPr id="45" name="TextBox 44"/>
          <p:cNvSpPr txBox="1"/>
          <p:nvPr/>
        </p:nvSpPr>
        <p:spPr>
          <a:xfrm>
            <a:off x="1425861" y="5690996"/>
            <a:ext cx="1837097" cy="179069"/>
          </a:xfrm>
          <a:prstGeom prst="rect">
            <a:avLst/>
          </a:prstGeom>
          <a:noFill/>
        </p:spPr>
        <p:txBody>
          <a:bodyPr wrap="none" lIns="0" rIns="0" tIns="0" bIns="0">
            <a:spAutoFit/>
          </a:bodyPr>
          <a:lstStyle/>
          <a:p>
            <a:r>
              <a:rPr sz="1050" b="0">
                <a:solidFill>
                  <a:srgbClr val="1F1F1F"/>
                </a:solidFill>
                <a:latin typeface="Calibri"/>
              </a:rPr>
              <a:t>, while Matcha Powder trades at</a:t>
            </a:r>
          </a:p>
        </p:txBody>
      </p:sp>
      <p:pic>
        <p:nvPicPr>
          <p:cNvPr id="46" name="Picture 45" descr="lock.png"/>
          <p:cNvPicPr>
            <a:picLocks noChangeAspect="1"/>
          </p:cNvPicPr>
          <p:nvPr/>
        </p:nvPicPr>
        <p:blipFill>
          <a:blip r:embed="rId6"/>
          <a:stretch>
            <a:fillRect/>
          </a:stretch>
        </p:blipFill>
        <p:spPr>
          <a:xfrm>
            <a:off x="3209907" y="5681662"/>
            <a:ext cx="122849" cy="178689"/>
          </a:xfrm>
          <a:prstGeom prst="rect">
            <a:avLst/>
          </a:prstGeom>
        </p:spPr>
      </p:pic>
      <p:sp>
        <p:nvSpPr>
          <p:cNvPr id="47" name="TextBox 46"/>
          <p:cNvSpPr txBox="1"/>
          <p:nvPr/>
        </p:nvSpPr>
        <p:spPr>
          <a:xfrm>
            <a:off x="3369789" y="5690996"/>
            <a:ext cx="462446" cy="179069"/>
          </a:xfrm>
          <a:prstGeom prst="rect">
            <a:avLst/>
          </a:prstGeom>
          <a:noFill/>
        </p:spPr>
        <p:txBody>
          <a:bodyPr wrap="none" lIns="0" rIns="0" tIns="0" bIns="0">
            <a:spAutoFit/>
          </a:bodyPr>
          <a:lstStyle/>
          <a:p>
            <a:r>
              <a:rPr sz="1050" b="0">
                <a:solidFill>
                  <a:srgbClr val="1F1F1F"/>
                </a:solidFill>
                <a:latin typeface="Calibri"/>
              </a:rPr>
              <a:t>, which</a:t>
            </a:r>
          </a:p>
        </p:txBody>
      </p:sp>
      <p:sp>
        <p:nvSpPr>
          <p:cNvPr id="48" name="TextBox 47"/>
          <p:cNvSpPr txBox="1"/>
          <p:nvPr/>
        </p:nvSpPr>
        <p:spPr>
          <a:xfrm>
            <a:off x="806576" y="5851016"/>
            <a:ext cx="2307468" cy="179069"/>
          </a:xfrm>
          <a:prstGeom prst="rect">
            <a:avLst/>
          </a:prstGeom>
          <a:noFill/>
        </p:spPr>
        <p:txBody>
          <a:bodyPr wrap="none" lIns="0" rIns="0" tIns="0" bIns="0">
            <a:spAutoFit/>
          </a:bodyPr>
          <a:lstStyle/>
          <a:p>
            <a:r>
              <a:rPr sz="1050" b="0">
                <a:solidFill>
                  <a:srgbClr val="1F1F1F"/>
                </a:solidFill>
                <a:latin typeface="Calibri"/>
              </a:rPr>
              <a:t>keeps the full product type spread within</a:t>
            </a:r>
          </a:p>
        </p:txBody>
      </p:sp>
      <p:pic>
        <p:nvPicPr>
          <p:cNvPr id="49" name="Picture 48" descr="lock.png"/>
          <p:cNvPicPr>
            <a:picLocks noChangeAspect="1"/>
          </p:cNvPicPr>
          <p:nvPr/>
        </p:nvPicPr>
        <p:blipFill>
          <a:blip r:embed="rId6"/>
          <a:stretch>
            <a:fillRect/>
          </a:stretch>
        </p:blipFill>
        <p:spPr>
          <a:xfrm>
            <a:off x="3060994" y="5841682"/>
            <a:ext cx="122849" cy="178689"/>
          </a:xfrm>
          <a:prstGeom prst="rect">
            <a:avLst/>
          </a:prstGeom>
        </p:spPr>
      </p:pic>
      <p:sp>
        <p:nvSpPr>
          <p:cNvPr id="50" name="TextBox 49"/>
          <p:cNvSpPr txBox="1"/>
          <p:nvPr/>
        </p:nvSpPr>
        <p:spPr>
          <a:xfrm>
            <a:off x="3220877" y="5851016"/>
            <a:ext cx="109797" cy="179069"/>
          </a:xfrm>
          <a:prstGeom prst="rect">
            <a:avLst/>
          </a:prstGeom>
          <a:noFill/>
        </p:spPr>
        <p:txBody>
          <a:bodyPr wrap="none" lIns="0" rIns="0" tIns="0" bIns="0">
            <a:spAutoFit/>
          </a:bodyPr>
          <a:lstStyle/>
          <a:p>
            <a:r>
              <a:rPr sz="1050" b="0">
                <a:solidFill>
                  <a:srgbClr val="1F1F1F"/>
                </a:solidFill>
                <a:latin typeface="Calibri"/>
              </a:rPr>
              <a:t>.</a:t>
            </a:r>
          </a:p>
        </p:txBody>
      </p:sp>
      <p:sp>
        <p:nvSpPr>
          <p:cNvPr id="51" name="TextBox 50"/>
          <p:cNvSpPr txBox="1"/>
          <p:nvPr/>
        </p:nvSpPr>
        <p:spPr>
          <a:xfrm>
            <a:off x="4732401" y="5530976"/>
            <a:ext cx="2594223" cy="179069"/>
          </a:xfrm>
          <a:prstGeom prst="rect">
            <a:avLst/>
          </a:prstGeom>
          <a:noFill/>
        </p:spPr>
        <p:txBody>
          <a:bodyPr wrap="none" lIns="0" rIns="0" tIns="0" bIns="0">
            <a:spAutoFit/>
          </a:bodyPr>
          <a:lstStyle/>
          <a:p>
            <a:r>
              <a:rPr sz="1050" b="0">
                <a:solidFill>
                  <a:srgbClr val="1F1F1F"/>
                </a:solidFill>
                <a:latin typeface="Calibri"/>
              </a:rPr>
              <a:t>Matcha Tea posts the fastest price growth at a</a:t>
            </a:r>
          </a:p>
        </p:txBody>
      </p:sp>
      <p:pic>
        <p:nvPicPr>
          <p:cNvPr id="52" name="Picture 51" descr="lock.png"/>
          <p:cNvPicPr>
            <a:picLocks noChangeAspect="1"/>
          </p:cNvPicPr>
          <p:nvPr/>
        </p:nvPicPr>
        <p:blipFill>
          <a:blip r:embed="rId6"/>
          <a:stretch>
            <a:fillRect/>
          </a:stretch>
        </p:blipFill>
        <p:spPr>
          <a:xfrm>
            <a:off x="7273573" y="5521642"/>
            <a:ext cx="122849" cy="178689"/>
          </a:xfrm>
          <a:prstGeom prst="rect">
            <a:avLst/>
          </a:prstGeom>
        </p:spPr>
      </p:pic>
      <p:sp>
        <p:nvSpPr>
          <p:cNvPr id="53" name="TextBox 52"/>
          <p:cNvSpPr txBox="1"/>
          <p:nvPr/>
        </p:nvSpPr>
        <p:spPr>
          <a:xfrm>
            <a:off x="7433455" y="5530976"/>
            <a:ext cx="380909" cy="179069"/>
          </a:xfrm>
          <a:prstGeom prst="rect">
            <a:avLst/>
          </a:prstGeom>
          <a:noFill/>
        </p:spPr>
        <p:txBody>
          <a:bodyPr wrap="none" lIns="0" rIns="0" tIns="0" bIns="0">
            <a:spAutoFit/>
          </a:bodyPr>
          <a:lstStyle/>
          <a:p>
            <a:r>
              <a:rPr sz="1050" b="0">
                <a:solidFill>
                  <a:srgbClr val="1F1F1F"/>
                </a:solidFill>
                <a:latin typeface="Calibri"/>
              </a:rPr>
              <a:t>CAGR</a:t>
            </a:r>
          </a:p>
        </p:txBody>
      </p:sp>
      <p:sp>
        <p:nvSpPr>
          <p:cNvPr id="54" name="TextBox 53"/>
          <p:cNvSpPr txBox="1"/>
          <p:nvPr/>
        </p:nvSpPr>
        <p:spPr>
          <a:xfrm>
            <a:off x="4732401" y="5690996"/>
            <a:ext cx="2276995" cy="179069"/>
          </a:xfrm>
          <a:prstGeom prst="rect">
            <a:avLst/>
          </a:prstGeom>
          <a:noFill/>
        </p:spPr>
        <p:txBody>
          <a:bodyPr wrap="none" lIns="0" rIns="0" tIns="0" bIns="0">
            <a:spAutoFit/>
          </a:bodyPr>
          <a:lstStyle/>
          <a:p>
            <a:r>
              <a:rPr sz="1050" b="0">
                <a:solidFill>
                  <a:srgbClr val="1F1F1F"/>
                </a:solidFill>
                <a:latin typeface="Calibri"/>
              </a:rPr>
              <a:t>between 2026 and 2036, compared with</a:t>
            </a:r>
          </a:p>
        </p:txBody>
      </p:sp>
      <p:pic>
        <p:nvPicPr>
          <p:cNvPr id="55" name="Picture 54" descr="lock.png"/>
          <p:cNvPicPr>
            <a:picLocks noChangeAspect="1"/>
          </p:cNvPicPr>
          <p:nvPr/>
        </p:nvPicPr>
        <p:blipFill>
          <a:blip r:embed="rId6"/>
          <a:stretch>
            <a:fillRect/>
          </a:stretch>
        </p:blipFill>
        <p:spPr>
          <a:xfrm>
            <a:off x="6956346" y="5681662"/>
            <a:ext cx="122849" cy="178689"/>
          </a:xfrm>
          <a:prstGeom prst="rect">
            <a:avLst/>
          </a:prstGeom>
        </p:spPr>
      </p:pic>
      <p:sp>
        <p:nvSpPr>
          <p:cNvPr id="56" name="TextBox 55"/>
          <p:cNvSpPr txBox="1"/>
          <p:nvPr/>
        </p:nvSpPr>
        <p:spPr>
          <a:xfrm>
            <a:off x="7116228" y="5690996"/>
            <a:ext cx="677056" cy="179069"/>
          </a:xfrm>
          <a:prstGeom prst="rect">
            <a:avLst/>
          </a:prstGeom>
          <a:noFill/>
        </p:spPr>
        <p:txBody>
          <a:bodyPr wrap="none" lIns="0" rIns="0" tIns="0" bIns="0">
            <a:spAutoFit/>
          </a:bodyPr>
          <a:lstStyle/>
          <a:p>
            <a:r>
              <a:rPr sz="1050" b="0">
                <a:solidFill>
                  <a:srgbClr val="1F1F1F"/>
                </a:solidFill>
                <a:latin typeface="Calibri"/>
              </a:rPr>
              <a:t>for Matcha</a:t>
            </a:r>
          </a:p>
        </p:txBody>
      </p:sp>
      <p:sp>
        <p:nvSpPr>
          <p:cNvPr id="57" name="TextBox 56"/>
          <p:cNvSpPr txBox="1"/>
          <p:nvPr/>
        </p:nvSpPr>
        <p:spPr>
          <a:xfrm>
            <a:off x="4732401" y="5851016"/>
            <a:ext cx="527558" cy="179069"/>
          </a:xfrm>
          <a:prstGeom prst="rect">
            <a:avLst/>
          </a:prstGeom>
          <a:noFill/>
        </p:spPr>
        <p:txBody>
          <a:bodyPr wrap="none" lIns="0" rIns="0" tIns="0" bIns="0">
            <a:spAutoFit/>
          </a:bodyPr>
          <a:lstStyle/>
          <a:p>
            <a:r>
              <a:rPr sz="1050" b="0">
                <a:solidFill>
                  <a:srgbClr val="1F1F1F"/>
                </a:solidFill>
                <a:latin typeface="Calibri"/>
              </a:rPr>
              <a:t>Powder.</a:t>
            </a:r>
          </a:p>
        </p:txBody>
      </p:sp>
      <p:sp>
        <p:nvSpPr>
          <p:cNvPr id="58" name="TextBox 57"/>
          <p:cNvSpPr txBox="1"/>
          <p:nvPr/>
        </p:nvSpPr>
        <p:spPr>
          <a:xfrm>
            <a:off x="8658225" y="5530976"/>
            <a:ext cx="2235844" cy="179069"/>
          </a:xfrm>
          <a:prstGeom prst="rect">
            <a:avLst/>
          </a:prstGeom>
          <a:noFill/>
        </p:spPr>
        <p:txBody>
          <a:bodyPr wrap="none" lIns="0" rIns="0" tIns="0" bIns="0">
            <a:spAutoFit/>
          </a:bodyPr>
          <a:lstStyle/>
          <a:p>
            <a:r>
              <a:rPr sz="1050" b="0">
                <a:solidFill>
                  <a:srgbClr val="1F1F1F"/>
                </a:solidFill>
                <a:latin typeface="Calibri"/>
              </a:rPr>
              <a:t>The Global average price rises from US$</a:t>
            </a:r>
          </a:p>
        </p:txBody>
      </p:sp>
      <p:pic>
        <p:nvPicPr>
          <p:cNvPr id="59" name="Picture 58" descr="lock.png"/>
          <p:cNvPicPr>
            <a:picLocks noChangeAspect="1"/>
          </p:cNvPicPr>
          <p:nvPr/>
        </p:nvPicPr>
        <p:blipFill>
          <a:blip r:embed="rId6"/>
          <a:stretch>
            <a:fillRect/>
          </a:stretch>
        </p:blipFill>
        <p:spPr>
          <a:xfrm>
            <a:off x="10841019" y="5521642"/>
            <a:ext cx="122849" cy="178689"/>
          </a:xfrm>
          <a:prstGeom prst="rect">
            <a:avLst/>
          </a:prstGeom>
        </p:spPr>
      </p:pic>
      <p:sp>
        <p:nvSpPr>
          <p:cNvPr id="60" name="TextBox 59"/>
          <p:cNvSpPr txBox="1"/>
          <p:nvPr/>
        </p:nvSpPr>
        <p:spPr>
          <a:xfrm>
            <a:off x="11000901" y="5530976"/>
            <a:ext cx="739043" cy="179069"/>
          </a:xfrm>
          <a:prstGeom prst="rect">
            <a:avLst/>
          </a:prstGeom>
          <a:noFill/>
        </p:spPr>
        <p:txBody>
          <a:bodyPr wrap="none" lIns="0" rIns="0" tIns="0" bIns="0">
            <a:spAutoFit/>
          </a:bodyPr>
          <a:lstStyle/>
          <a:p>
            <a:r>
              <a:rPr sz="1050" b="0">
                <a:solidFill>
                  <a:srgbClr val="1F1F1F"/>
                </a:solidFill>
                <a:latin typeface="Calibri"/>
              </a:rPr>
              <a:t>/MT in 2026</a:t>
            </a:r>
          </a:p>
        </p:txBody>
      </p:sp>
      <p:sp>
        <p:nvSpPr>
          <p:cNvPr id="61" name="TextBox 60"/>
          <p:cNvSpPr txBox="1"/>
          <p:nvPr/>
        </p:nvSpPr>
        <p:spPr>
          <a:xfrm>
            <a:off x="8658225" y="5690996"/>
            <a:ext cx="436140" cy="179069"/>
          </a:xfrm>
          <a:prstGeom prst="rect">
            <a:avLst/>
          </a:prstGeom>
          <a:noFill/>
        </p:spPr>
        <p:txBody>
          <a:bodyPr wrap="none" lIns="0" rIns="0" tIns="0" bIns="0">
            <a:spAutoFit/>
          </a:bodyPr>
          <a:lstStyle/>
          <a:p>
            <a:r>
              <a:rPr sz="1050" b="0">
                <a:solidFill>
                  <a:srgbClr val="1F1F1F"/>
                </a:solidFill>
                <a:latin typeface="Calibri"/>
              </a:rPr>
              <a:t>to US$</a:t>
            </a:r>
          </a:p>
        </p:txBody>
      </p:sp>
      <p:pic>
        <p:nvPicPr>
          <p:cNvPr id="62" name="Picture 61" descr="lock.png"/>
          <p:cNvPicPr>
            <a:picLocks noChangeAspect="1"/>
          </p:cNvPicPr>
          <p:nvPr/>
        </p:nvPicPr>
        <p:blipFill>
          <a:blip r:embed="rId6"/>
          <a:stretch>
            <a:fillRect/>
          </a:stretch>
        </p:blipFill>
        <p:spPr>
          <a:xfrm>
            <a:off x="9041315" y="5681662"/>
            <a:ext cx="122849" cy="178689"/>
          </a:xfrm>
          <a:prstGeom prst="rect">
            <a:avLst/>
          </a:prstGeom>
        </p:spPr>
      </p:pic>
      <p:sp>
        <p:nvSpPr>
          <p:cNvPr id="63" name="TextBox 62"/>
          <p:cNvSpPr txBox="1"/>
          <p:nvPr/>
        </p:nvSpPr>
        <p:spPr>
          <a:xfrm>
            <a:off x="9201197" y="5690996"/>
            <a:ext cx="2593181" cy="179069"/>
          </a:xfrm>
          <a:prstGeom prst="rect">
            <a:avLst/>
          </a:prstGeom>
          <a:noFill/>
        </p:spPr>
        <p:txBody>
          <a:bodyPr wrap="none" lIns="0" rIns="0" tIns="0" bIns="0">
            <a:spAutoFit/>
          </a:bodyPr>
          <a:lstStyle/>
          <a:p>
            <a:r>
              <a:rPr sz="1050" b="0">
                <a:solidFill>
                  <a:srgbClr val="1F1F1F"/>
                </a:solidFill>
                <a:latin typeface="Calibri"/>
              </a:rPr>
              <a:t>/MT in 2036, and the gap between the highest</a:t>
            </a:r>
          </a:p>
        </p:txBody>
      </p:sp>
      <p:sp>
        <p:nvSpPr>
          <p:cNvPr id="64" name="TextBox 63"/>
          <p:cNvSpPr txBox="1"/>
          <p:nvPr/>
        </p:nvSpPr>
        <p:spPr>
          <a:xfrm>
            <a:off x="8658225" y="5851016"/>
            <a:ext cx="2451236" cy="179069"/>
          </a:xfrm>
          <a:prstGeom prst="rect">
            <a:avLst/>
          </a:prstGeom>
          <a:noFill/>
        </p:spPr>
        <p:txBody>
          <a:bodyPr wrap="none" lIns="0" rIns="0" tIns="0" bIns="0">
            <a:spAutoFit/>
          </a:bodyPr>
          <a:lstStyle/>
          <a:p>
            <a:r>
              <a:rPr sz="1050" b="0">
                <a:solidFill>
                  <a:srgbClr val="1F1F1F"/>
                </a:solidFill>
                <a:latin typeface="Calibri"/>
              </a:rPr>
              <a:t>and lowest priced product type moves from</a:t>
            </a:r>
          </a:p>
        </p:txBody>
      </p:sp>
      <p:pic>
        <p:nvPicPr>
          <p:cNvPr id="65" name="Picture 64" descr="lock.png"/>
          <p:cNvPicPr>
            <a:picLocks noChangeAspect="1"/>
          </p:cNvPicPr>
          <p:nvPr/>
        </p:nvPicPr>
        <p:blipFill>
          <a:blip r:embed="rId6"/>
          <a:stretch>
            <a:fillRect/>
          </a:stretch>
        </p:blipFill>
        <p:spPr>
          <a:xfrm>
            <a:off x="11056410" y="5841682"/>
            <a:ext cx="122849" cy="178689"/>
          </a:xfrm>
          <a:prstGeom prst="rect">
            <a:avLst/>
          </a:prstGeom>
        </p:spPr>
      </p:pic>
      <p:sp>
        <p:nvSpPr>
          <p:cNvPr id="66" name="TextBox 65"/>
          <p:cNvSpPr txBox="1"/>
          <p:nvPr/>
        </p:nvSpPr>
        <p:spPr>
          <a:xfrm>
            <a:off x="11216293" y="5851016"/>
            <a:ext cx="478073" cy="179069"/>
          </a:xfrm>
          <a:prstGeom prst="rect">
            <a:avLst/>
          </a:prstGeom>
          <a:noFill/>
        </p:spPr>
        <p:txBody>
          <a:bodyPr wrap="none" lIns="0" rIns="0" tIns="0" bIns="0">
            <a:spAutoFit/>
          </a:bodyPr>
          <a:lstStyle/>
          <a:p>
            <a:r>
              <a:rPr sz="1050" b="0">
                <a:solidFill>
                  <a:srgbClr val="1F1F1F"/>
                </a:solidFill>
                <a:latin typeface="Calibri"/>
              </a:rPr>
              <a:t>in 2021</a:t>
            </a:r>
          </a:p>
        </p:txBody>
      </p:sp>
      <p:sp>
        <p:nvSpPr>
          <p:cNvPr id="67" name="TextBox 66"/>
          <p:cNvSpPr txBox="1"/>
          <p:nvPr/>
        </p:nvSpPr>
        <p:spPr>
          <a:xfrm>
            <a:off x="8658225" y="6011036"/>
            <a:ext cx="191318" cy="179069"/>
          </a:xfrm>
          <a:prstGeom prst="rect">
            <a:avLst/>
          </a:prstGeom>
          <a:noFill/>
        </p:spPr>
        <p:txBody>
          <a:bodyPr wrap="none" lIns="0" rIns="0" tIns="0" bIns="0">
            <a:spAutoFit/>
          </a:bodyPr>
          <a:lstStyle/>
          <a:p>
            <a:r>
              <a:rPr sz="1050" b="0">
                <a:solidFill>
                  <a:srgbClr val="1F1F1F"/>
                </a:solidFill>
                <a:latin typeface="Calibri"/>
              </a:rPr>
              <a:t>to</a:t>
            </a:r>
          </a:p>
        </p:txBody>
      </p:sp>
      <p:pic>
        <p:nvPicPr>
          <p:cNvPr id="68" name="Picture 67" descr="lock.png"/>
          <p:cNvPicPr>
            <a:picLocks noChangeAspect="1"/>
          </p:cNvPicPr>
          <p:nvPr/>
        </p:nvPicPr>
        <p:blipFill>
          <a:blip r:embed="rId6"/>
          <a:stretch>
            <a:fillRect/>
          </a:stretch>
        </p:blipFill>
        <p:spPr>
          <a:xfrm>
            <a:off x="8796492" y="6001702"/>
            <a:ext cx="122849" cy="178689"/>
          </a:xfrm>
          <a:prstGeom prst="rect">
            <a:avLst/>
          </a:prstGeom>
        </p:spPr>
      </p:pic>
      <p:sp>
        <p:nvSpPr>
          <p:cNvPr id="69" name="TextBox 68"/>
          <p:cNvSpPr txBox="1"/>
          <p:nvPr/>
        </p:nvSpPr>
        <p:spPr>
          <a:xfrm>
            <a:off x="8956375" y="6011036"/>
            <a:ext cx="511671" cy="179069"/>
          </a:xfrm>
          <a:prstGeom prst="rect">
            <a:avLst/>
          </a:prstGeom>
          <a:noFill/>
        </p:spPr>
        <p:txBody>
          <a:bodyPr wrap="none" lIns="0" rIns="0" tIns="0" bIns="0">
            <a:spAutoFit/>
          </a:bodyPr>
          <a:lstStyle/>
          <a:p>
            <a:r>
              <a:rPr sz="1050" b="0">
                <a:solidFill>
                  <a:srgbClr val="1F1F1F"/>
                </a:solidFill>
                <a:latin typeface="Calibri"/>
              </a:rPr>
              <a:t>in 2036.</a:t>
            </a:r>
          </a:p>
        </p:txBody>
      </p:sp>
      <p:pic>
        <p:nvPicPr>
          <p:cNvPr id="70" name="Picture 69" descr="lock.png"/>
          <p:cNvPicPr>
            <a:picLocks noChangeAspect="1"/>
          </p:cNvPicPr>
          <p:nvPr/>
        </p:nvPicPr>
        <p:blipFill>
          <a:blip r:embed="rId6"/>
          <a:stretch>
            <a:fillRect/>
          </a:stretch>
        </p:blipFill>
        <p:spPr>
          <a:xfrm>
            <a:off x="3418190" y="3048804"/>
            <a:ext cx="454926" cy="661711"/>
          </a:xfrm>
          <a:prstGeom prst="rect">
            <a:avLst/>
          </a:prstGeom>
        </p:spPr>
      </p:pic>
      <p:pic>
        <p:nvPicPr>
          <p:cNvPr id="71" name="Picture 70" descr="lock.png"/>
          <p:cNvPicPr>
            <a:picLocks noChangeAspect="1"/>
          </p:cNvPicPr>
          <p:nvPr/>
        </p:nvPicPr>
        <p:blipFill>
          <a:blip r:embed="rId6"/>
          <a:stretch>
            <a:fillRect/>
          </a:stretch>
        </p:blipFill>
        <p:spPr>
          <a:xfrm>
            <a:off x="9403270" y="2219134"/>
            <a:ext cx="256698" cy="373379"/>
          </a:xfrm>
          <a:prstGeom prst="rect">
            <a:avLst/>
          </a:prstGeom>
        </p:spPr>
      </p:pic>
      <p:sp>
        <p:nvSpPr>
          <p:cNvPr id="72" name="lockshield_13"/>
          <p:cNvSpPr/>
          <p:nvPr/>
        </p:nvSpPr>
        <p:spPr>
          <a:xfrm>
            <a:off x="347472" y="1831467"/>
            <a:ext cx="6309360" cy="3182112"/>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lockshield_17"/>
          <p:cNvSpPr/>
          <p:nvPr/>
        </p:nvSpPr>
        <p:spPr>
          <a:xfrm>
            <a:off x="6903720" y="1785747"/>
            <a:ext cx="4965192" cy="132588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Price Matrix: Product Type × Nature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Average price (US$/MT) for every product type and nature combination, 2026</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Matrix (US$/MT), Shaded by Index vs Global Average</a:t>
            </a:r>
          </a:p>
        </p:txBody>
      </p:sp>
      <p:graphicFrame>
        <p:nvGraphicFramePr>
          <p:cNvPr id="13" name="Table 12"/>
          <p:cNvGraphicFramePr>
            <a:graphicFrameLocks noGrp="1"/>
          </p:cNvGraphicFramePr>
          <p:nvPr/>
        </p:nvGraphicFramePr>
        <p:xfrm>
          <a:off x="365760" y="1868043"/>
          <a:ext cx="7360920" cy="2834640"/>
        </p:xfrm>
        <a:graphic>
          <a:graphicData uri="http://schemas.openxmlformats.org/drawingml/2006/table">
            <a:tbl>
              <a:tblPr firstRow="1" bandRow="1">
                <a:tableStyleId>{5C22544A-7EE6-4342-B048-85BDC9FD1C3A}</a:tableStyleId>
              </a:tblPr>
              <a:tblGrid>
                <a:gridCol w="1554480"/>
                <a:gridCol w="2601468"/>
                <a:gridCol w="2601468"/>
                <a:gridCol w="603504"/>
              </a:tblGrid>
              <a:tr h="708660">
                <a:tc>
                  <a:txBody>
                    <a:bodyPr wrap="square"/>
                    <a:lstStyle/>
                    <a:p>
                      <a:pPr algn="l"/>
                      <a:r>
                        <a:rPr sz="800" b="1">
                          <a:solidFill>
                            <a:srgbClr val="FFFFFF"/>
                          </a:solidFill>
                          <a:latin typeface="Calibri"/>
                        </a:rPr>
                        <a:t>Product Type</a:t>
                      </a:r>
                    </a:p>
                  </a:txBody>
                  <a:tcPr marL="36576" marR="36576" marT="9144" marB="9144" anchor="ctr">
                    <a:solidFill>
                      <a:srgbClr val="0B2E4A"/>
                    </a:solidFill>
                  </a:tcPr>
                </a:tc>
                <a:tc>
                  <a:txBody>
                    <a:bodyPr wrap="square"/>
                    <a:lstStyle/>
                    <a:p>
                      <a:pPr algn="ctr"/>
                      <a:r>
                        <a:rPr sz="800" b="1">
                          <a:solidFill>
                            <a:srgbClr val="FFFFFF"/>
                          </a:solidFill>
                          <a:latin typeface="Calibri"/>
                        </a:rPr>
                        <a:t>Organic</a:t>
                      </a:r>
                    </a:p>
                  </a:txBody>
                  <a:tcPr marL="36576" marR="36576" marT="9144" marB="9144" anchor="ctr">
                    <a:solidFill>
                      <a:srgbClr val="0B2E4A"/>
                    </a:solidFill>
                  </a:tcPr>
                </a:tc>
                <a:tc>
                  <a:txBody>
                    <a:bodyPr wrap="square"/>
                    <a:lstStyle/>
                    <a:p>
                      <a:pPr algn="ctr"/>
                      <a:r>
                        <a:rPr sz="800" b="1">
                          <a:solidFill>
                            <a:srgbClr val="FFFFFF"/>
                          </a:solidFill>
                          <a:latin typeface="Calibri"/>
                        </a:rPr>
                        <a:t>Conventional</a:t>
                      </a:r>
                    </a:p>
                  </a:txBody>
                  <a:tcPr marL="36576" marR="36576" marT="9144" marB="9144" anchor="ctr">
                    <a:solidFill>
                      <a:srgbClr val="0B2E4A"/>
                    </a:solidFill>
                  </a:tcPr>
                </a:tc>
                <a:tc>
                  <a:txBody>
                    <a:bodyPr wrap="square"/>
                    <a:lstStyle/>
                    <a:p>
                      <a:pPr algn="ctr"/>
                      <a:r>
                        <a:rPr sz="800" b="1">
                          <a:solidFill>
                            <a:srgbClr val="FFFFFF"/>
                          </a:solidFill>
                          <a:latin typeface="Calibri"/>
                        </a:rPr>
                        <a:t>Row Avg.</a:t>
                      </a:r>
                    </a:p>
                  </a:txBody>
                  <a:tcPr marL="36576" marR="36576" marT="9144" marB="9144" anchor="ctr">
                    <a:solidFill>
                      <a:srgbClr val="0B2E4A"/>
                    </a:solidFill>
                  </a:tcPr>
                </a:tc>
              </a:tr>
              <a:tr h="708660">
                <a:tc>
                  <a:txBody>
                    <a:bodyPr wrap="square"/>
                    <a:lstStyle/>
                    <a:p>
                      <a:pPr algn="l"/>
                      <a:r>
                        <a:rPr sz="900" b="1">
                          <a:solidFill>
                            <a:srgbClr val="1F1F1F"/>
                          </a:solidFill>
                          <a:latin typeface="Calibri"/>
                        </a:rPr>
                        <a:t>Matcha Tea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708660">
                <a:tc>
                  <a:txBody>
                    <a:bodyPr wrap="square"/>
                    <a:lstStyle/>
                    <a:p>
                      <a:pPr algn="l"/>
                      <a:r>
                        <a:rPr sz="900" b="1">
                          <a:solidFill>
                            <a:srgbClr val="1F1F1F"/>
                          </a:solidFill>
                          <a:latin typeface="Calibri"/>
                        </a:rPr>
                        <a:t>Matcha Powder</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708660">
                <a:tc>
                  <a:txBody>
                    <a:bodyPr wrap="square"/>
                    <a:lstStyle/>
                    <a:p>
                      <a:pPr algn="l"/>
                      <a:r>
                        <a:rPr sz="900" b="1">
                          <a:solidFill>
                            <a:srgbClr val="1F1F1F"/>
                          </a:solidFill>
                          <a:latin typeface="Calibri"/>
                        </a:rPr>
                        <a:t>Column Avg.</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4" name="Rectangle 13"/>
          <p:cNvSpPr/>
          <p:nvPr/>
        </p:nvSpPr>
        <p:spPr>
          <a:xfrm>
            <a:off x="384048" y="4794123"/>
            <a:ext cx="180975" cy="142875"/>
          </a:xfrm>
          <a:prstGeom prst="rect">
            <a:avLst/>
          </a:prstGeom>
          <a:solidFill>
            <a:srgbClr val="9DC0E0"/>
          </a:solidFill>
          <a:ln w="9525">
            <a:solidFill>
              <a:srgbClr val="D9DEE4"/>
            </a:solidFill>
          </a:ln>
          <a:effectLst/>
        </p:spPr>
        <p:txBody>
          <a:bodyPr rtlCol="0" anchor="ctr"/>
          <a:lstStyle/>
          <a:p>
            <a:pPr algn="ctr"/>
          </a:p>
        </p:txBody>
      </p:sp>
      <p:sp>
        <p:nvSpPr>
          <p:cNvPr id="15" name="FMI Scale legend"/>
          <p:cNvSpPr txBox="1"/>
          <p:nvPr/>
        </p:nvSpPr>
        <p:spPr>
          <a:xfrm>
            <a:off x="5935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below 97.5</a:t>
            </a:r>
          </a:p>
        </p:txBody>
      </p:sp>
      <p:sp>
        <p:nvSpPr>
          <p:cNvPr id="16" name="Rectangle 15"/>
          <p:cNvSpPr/>
          <p:nvPr/>
        </p:nvSpPr>
        <p:spPr>
          <a:xfrm>
            <a:off x="1850898" y="4794123"/>
            <a:ext cx="180975" cy="142875"/>
          </a:xfrm>
          <a:prstGeom prst="rect">
            <a:avLst/>
          </a:prstGeom>
          <a:solidFill>
            <a:srgbClr val="D9E6F2"/>
          </a:solidFill>
          <a:ln w="9525">
            <a:solidFill>
              <a:srgbClr val="D9DEE4"/>
            </a:solidFill>
          </a:ln>
          <a:effectLst/>
        </p:spPr>
        <p:txBody>
          <a:bodyPr rtlCol="0" anchor="ctr"/>
          <a:lstStyle/>
          <a:p>
            <a:pPr algn="ctr"/>
          </a:p>
        </p:txBody>
      </p:sp>
      <p:sp>
        <p:nvSpPr>
          <p:cNvPr id="17" name="FMI Scale legend"/>
          <p:cNvSpPr txBox="1"/>
          <p:nvPr/>
        </p:nvSpPr>
        <p:spPr>
          <a:xfrm>
            <a:off x="20604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97.5 to 99</a:t>
            </a:r>
          </a:p>
        </p:txBody>
      </p:sp>
      <p:sp>
        <p:nvSpPr>
          <p:cNvPr id="18" name="Rectangle 17"/>
          <p:cNvSpPr/>
          <p:nvPr/>
        </p:nvSpPr>
        <p:spPr>
          <a:xfrm>
            <a:off x="3317748" y="4794123"/>
            <a:ext cx="180975" cy="142875"/>
          </a:xfrm>
          <a:prstGeom prst="rect">
            <a:avLst/>
          </a:prstGeom>
          <a:solidFill>
            <a:srgbClr val="F7F7F7"/>
          </a:solidFill>
          <a:ln w="9525">
            <a:solidFill>
              <a:srgbClr val="D9DEE4"/>
            </a:solidFill>
          </a:ln>
          <a:effectLst/>
        </p:spPr>
        <p:txBody>
          <a:bodyPr rtlCol="0" anchor="ctr"/>
          <a:lstStyle/>
          <a:p>
            <a:pPr algn="ctr"/>
          </a:p>
        </p:txBody>
      </p:sp>
      <p:sp>
        <p:nvSpPr>
          <p:cNvPr id="19" name="FMI Scale legend"/>
          <p:cNvSpPr txBox="1"/>
          <p:nvPr/>
        </p:nvSpPr>
        <p:spPr>
          <a:xfrm>
            <a:off x="35272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Parity: 99 to 101</a:t>
            </a:r>
          </a:p>
        </p:txBody>
      </p:sp>
      <p:sp>
        <p:nvSpPr>
          <p:cNvPr id="20" name="Rectangle 19"/>
          <p:cNvSpPr/>
          <p:nvPr/>
        </p:nvSpPr>
        <p:spPr>
          <a:xfrm>
            <a:off x="4784598" y="4794123"/>
            <a:ext cx="180975" cy="142875"/>
          </a:xfrm>
          <a:prstGeom prst="rect">
            <a:avLst/>
          </a:prstGeom>
          <a:solidFill>
            <a:srgbClr val="FBE3D3"/>
          </a:solidFill>
          <a:ln w="9525">
            <a:solidFill>
              <a:srgbClr val="D9DEE4"/>
            </a:solidFill>
          </a:ln>
          <a:effectLst/>
        </p:spPr>
        <p:txBody>
          <a:bodyPr rtlCol="0" anchor="ctr"/>
          <a:lstStyle/>
          <a:p>
            <a:pPr algn="ctr"/>
          </a:p>
        </p:txBody>
      </p:sp>
      <p:sp>
        <p:nvSpPr>
          <p:cNvPr id="21" name="FMI Scale legend"/>
          <p:cNvSpPr txBox="1"/>
          <p:nvPr/>
        </p:nvSpPr>
        <p:spPr>
          <a:xfrm>
            <a:off x="499414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101 to 102.5</a:t>
            </a:r>
          </a:p>
        </p:txBody>
      </p:sp>
      <p:sp>
        <p:nvSpPr>
          <p:cNvPr id="22" name="Rectangle 21"/>
          <p:cNvSpPr/>
          <p:nvPr/>
        </p:nvSpPr>
        <p:spPr>
          <a:xfrm>
            <a:off x="6251448" y="4794123"/>
            <a:ext cx="180975" cy="142875"/>
          </a:xfrm>
          <a:prstGeom prst="rect">
            <a:avLst/>
          </a:prstGeom>
          <a:solidFill>
            <a:srgbClr val="F4B183"/>
          </a:solidFill>
          <a:ln w="9525">
            <a:solidFill>
              <a:srgbClr val="D9DEE4"/>
            </a:solidFill>
          </a:ln>
          <a:effectLst/>
        </p:spPr>
        <p:txBody>
          <a:bodyPr rtlCol="0" anchor="ctr"/>
          <a:lstStyle/>
          <a:p>
            <a:pPr algn="ctr"/>
          </a:p>
        </p:txBody>
      </p:sp>
      <p:sp>
        <p:nvSpPr>
          <p:cNvPr id="23" name="FMI Scale legend"/>
          <p:cNvSpPr txBox="1"/>
          <p:nvPr/>
        </p:nvSpPr>
        <p:spPr>
          <a:xfrm>
            <a:off x="6460998" y="4739259"/>
            <a:ext cx="1276350" cy="238125"/>
          </a:xfrm>
          <a:prstGeom prst="rect">
            <a:avLst/>
          </a:prstGeom>
          <a:noFill/>
        </p:spPr>
        <p:txBody>
          <a:bodyPr wrap="square" anchor="t" lIns="27432" rIns="27432" tIns="27432" bIns="27432">
            <a:spAutoFit/>
          </a:bodyPr>
          <a:lstStyle/>
          <a:p>
            <a:pPr algn="l"/>
            <a:r>
              <a:rPr sz="850" b="0" i="0">
                <a:solidFill>
                  <a:srgbClr val="59636E"/>
                </a:solidFill>
                <a:latin typeface="Calibri"/>
              </a:rPr>
              <a:t>Index above 102.5</a:t>
            </a:r>
          </a:p>
        </p:txBody>
      </p:sp>
      <p:sp>
        <p:nvSpPr>
          <p:cNvPr id="24" name="Rectangle 23"/>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25" name="TextBox 24"/>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Price Range Across All Nature Sub-Types, 2026</a:t>
            </a:r>
          </a:p>
        </p:txBody>
      </p:sp>
      <p:sp>
        <p:nvSpPr>
          <p:cNvPr id="26" name="TextBox 25"/>
          <p:cNvSpPr txBox="1"/>
          <p:nvPr/>
        </p:nvSpPr>
        <p:spPr>
          <a:xfrm>
            <a:off x="8065008" y="1965579"/>
            <a:ext cx="3749040" cy="219075"/>
          </a:xfrm>
          <a:prstGeom prst="rect">
            <a:avLst/>
          </a:prstGeom>
          <a:noFill/>
        </p:spPr>
        <p:txBody>
          <a:bodyPr wrap="square" anchor="t" lIns="27432" rIns="27432" tIns="27432" bIns="27432">
            <a:spAutoFit/>
          </a:bodyPr>
          <a:lstStyle/>
          <a:p>
            <a:pPr algn="l"/>
            <a:r>
              <a:rPr sz="850" b="0" i="1">
                <a:solidFill>
                  <a:srgbClr val="59636E"/>
                </a:solidFill>
                <a:latin typeface="Calibri"/>
              </a:rPr>
              <a:t>Bar spans lowest to highest price (US$/MT) at the finest data level.</a:t>
            </a:r>
          </a:p>
        </p:txBody>
      </p:sp>
      <p:graphicFrame>
        <p:nvGraphicFramePr>
          <p:cNvPr id="27" name="FMI Price Chart"/>
          <p:cNvGraphicFramePr>
            <a:graphicFrameLocks noGrp="1"/>
          </p:cNvGraphicFramePr>
          <p:nvPr/>
        </p:nvGraphicFramePr>
        <p:xfrm>
          <a:off x="8001000" y="2032635"/>
          <a:ext cx="3867912" cy="2971800"/>
        </p:xfrm>
        <a:graphic>
          <a:graphicData uri="http://schemas.openxmlformats.org/drawingml/2006/chart">
            <c:chart xmlns:c="http://schemas.openxmlformats.org/drawingml/2006/chart" r:id="rId3"/>
          </a:graphicData>
        </a:graphic>
      </p:graphicFrame>
      <p:sp>
        <p:nvSpPr>
          <p:cNvPr id="28" name="Rectangle 2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29" name="Oval 2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30" name="TextBox 2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Premium Pockets</a:t>
            </a:r>
          </a:p>
        </p:txBody>
      </p:sp>
      <p:sp>
        <p:nvSpPr>
          <p:cNvPr id="31" name="TextBox 3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2" name="Rectangle 3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33" name="Oval 3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34" name="TextBox 3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Value Pockets</a:t>
            </a:r>
          </a:p>
        </p:txBody>
      </p:sp>
      <p:sp>
        <p:nvSpPr>
          <p:cNvPr id="35" name="TextBox 3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6" name="Rectangle 3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37" name="Oval 3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38" name="TextBox 3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Within-Type Spread</a:t>
            </a:r>
          </a:p>
        </p:txBody>
      </p:sp>
      <p:sp>
        <p:nvSpPr>
          <p:cNvPr id="39" name="TextBox 3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40" name="TextBox 3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
            </a:r>
          </a:p>
        </p:txBody>
      </p:sp>
      <p:sp>
        <p:nvSpPr>
          <p:cNvPr id="41" name="TextBox 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42" name="Picture 41" descr="lock.png"/>
          <p:cNvPicPr>
            <a:picLocks noChangeAspect="1"/>
          </p:cNvPicPr>
          <p:nvPr/>
        </p:nvPicPr>
        <p:blipFill>
          <a:blip r:embed="rId5"/>
          <a:stretch>
            <a:fillRect/>
          </a:stretch>
        </p:blipFill>
        <p:spPr>
          <a:xfrm>
            <a:off x="4636769" y="3372993"/>
            <a:ext cx="366712" cy="533400"/>
          </a:xfrm>
          <a:prstGeom prst="rect">
            <a:avLst/>
          </a:prstGeom>
        </p:spPr>
      </p:pic>
      <p:sp>
        <p:nvSpPr>
          <p:cNvPr id="43" name="TextBox 42"/>
          <p:cNvSpPr txBox="1"/>
          <p:nvPr/>
        </p:nvSpPr>
        <p:spPr>
          <a:xfrm>
            <a:off x="411480" y="1110615"/>
            <a:ext cx="5413895" cy="217169"/>
          </a:xfrm>
          <a:prstGeom prst="rect">
            <a:avLst/>
          </a:prstGeom>
          <a:noFill/>
        </p:spPr>
        <p:txBody>
          <a:bodyPr wrap="none" lIns="0" rIns="0" tIns="0" bIns="0">
            <a:spAutoFit/>
          </a:bodyPr>
          <a:lstStyle/>
          <a:p>
            <a:r>
              <a:rPr sz="1300" b="1">
                <a:solidFill>
                  <a:srgbClr val="FFFFFF"/>
                </a:solidFill>
                <a:latin typeface="Calibri"/>
              </a:rPr>
              <a:t>Matcha Tea for Conventional is the highest priced combination in 2026 at US$</a:t>
            </a:r>
          </a:p>
        </p:txBody>
      </p:sp>
      <p:pic>
        <p:nvPicPr>
          <p:cNvPr id="44" name="Picture 43" descr="lock.png"/>
          <p:cNvPicPr>
            <a:picLocks noChangeAspect="1"/>
          </p:cNvPicPr>
          <p:nvPr/>
        </p:nvPicPr>
        <p:blipFill>
          <a:blip r:embed="rId5"/>
          <a:stretch>
            <a:fillRect/>
          </a:stretch>
        </p:blipFill>
        <p:spPr>
          <a:xfrm>
            <a:off x="5777836" y="1099058"/>
            <a:ext cx="152098" cy="221234"/>
          </a:xfrm>
          <a:prstGeom prst="rect">
            <a:avLst/>
          </a:prstGeom>
        </p:spPr>
      </p:pic>
      <p:sp>
        <p:nvSpPr>
          <p:cNvPr id="45" name="TextBox 44"/>
          <p:cNvSpPr txBox="1"/>
          <p:nvPr/>
        </p:nvSpPr>
        <p:spPr>
          <a:xfrm>
            <a:off x="5975786" y="1110615"/>
            <a:ext cx="535706" cy="217169"/>
          </a:xfrm>
          <a:prstGeom prst="rect">
            <a:avLst/>
          </a:prstGeom>
          <a:noFill/>
        </p:spPr>
        <p:txBody>
          <a:bodyPr wrap="none" lIns="0" rIns="0" tIns="0" bIns="0">
            <a:spAutoFit/>
          </a:bodyPr>
          <a:lstStyle/>
          <a:p>
            <a:r>
              <a:rPr sz="1300" b="1">
                <a:solidFill>
                  <a:srgbClr val="FFFFFF"/>
                </a:solidFill>
                <a:latin typeface="Calibri"/>
              </a:rPr>
              <a:t>/MT, +</a:t>
            </a:r>
          </a:p>
        </p:txBody>
      </p:sp>
      <p:pic>
        <p:nvPicPr>
          <p:cNvPr id="46" name="Picture 45" descr="lock.png"/>
          <p:cNvPicPr>
            <a:picLocks noChangeAspect="1"/>
          </p:cNvPicPr>
          <p:nvPr/>
        </p:nvPicPr>
        <p:blipFill>
          <a:blip r:embed="rId5"/>
          <a:stretch>
            <a:fillRect/>
          </a:stretch>
        </p:blipFill>
        <p:spPr>
          <a:xfrm>
            <a:off x="6463954" y="1099058"/>
            <a:ext cx="152098" cy="221234"/>
          </a:xfrm>
          <a:prstGeom prst="rect">
            <a:avLst/>
          </a:prstGeom>
        </p:spPr>
      </p:pic>
      <p:sp>
        <p:nvSpPr>
          <p:cNvPr id="47" name="TextBox 46"/>
          <p:cNvSpPr txBox="1"/>
          <p:nvPr/>
        </p:nvSpPr>
        <p:spPr>
          <a:xfrm>
            <a:off x="6661903" y="1110615"/>
            <a:ext cx="1871984" cy="217169"/>
          </a:xfrm>
          <a:prstGeom prst="rect">
            <a:avLst/>
          </a:prstGeom>
          <a:noFill/>
        </p:spPr>
        <p:txBody>
          <a:bodyPr wrap="none" lIns="0" rIns="0" tIns="0" bIns="0">
            <a:spAutoFit/>
          </a:bodyPr>
          <a:lstStyle/>
          <a:p>
            <a:r>
              <a:rPr sz="1300" b="1">
                <a:solidFill>
                  <a:srgbClr val="FFFFFF"/>
                </a:solidFill>
                <a:latin typeface="Calibri"/>
              </a:rPr>
              <a:t>above the Global average.</a:t>
            </a:r>
          </a:p>
        </p:txBody>
      </p:sp>
      <p:sp>
        <p:nvSpPr>
          <p:cNvPr id="48" name="TextBox 47"/>
          <p:cNvSpPr txBox="1"/>
          <p:nvPr/>
        </p:nvSpPr>
        <p:spPr>
          <a:xfrm>
            <a:off x="806576" y="5530976"/>
            <a:ext cx="2755701" cy="179069"/>
          </a:xfrm>
          <a:prstGeom prst="rect">
            <a:avLst/>
          </a:prstGeom>
          <a:noFill/>
        </p:spPr>
        <p:txBody>
          <a:bodyPr wrap="none" lIns="0" rIns="0" tIns="0" bIns="0">
            <a:spAutoFit/>
          </a:bodyPr>
          <a:lstStyle/>
          <a:p>
            <a:r>
              <a:rPr sz="1050" b="0">
                <a:solidFill>
                  <a:srgbClr val="1F1F1F"/>
                </a:solidFill>
                <a:latin typeface="Calibri"/>
              </a:rPr>
              <a:t>Matcha Tea positioned on Conventional carry the</a:t>
            </a:r>
          </a:p>
        </p:txBody>
      </p:sp>
      <p:sp>
        <p:nvSpPr>
          <p:cNvPr id="49" name="TextBox 48"/>
          <p:cNvSpPr txBox="1"/>
          <p:nvPr/>
        </p:nvSpPr>
        <p:spPr>
          <a:xfrm>
            <a:off x="806576" y="5690996"/>
            <a:ext cx="1882675" cy="179069"/>
          </a:xfrm>
          <a:prstGeom prst="rect">
            <a:avLst/>
          </a:prstGeom>
          <a:noFill/>
        </p:spPr>
        <p:txBody>
          <a:bodyPr wrap="none" lIns="0" rIns="0" tIns="0" bIns="0">
            <a:spAutoFit/>
          </a:bodyPr>
          <a:lstStyle/>
          <a:p>
            <a:r>
              <a:rPr sz="1050" b="0">
                <a:solidFill>
                  <a:srgbClr val="1F1F1F"/>
                </a:solidFill>
                <a:latin typeface="Calibri"/>
              </a:rPr>
              <a:t>strongest premium at an index of</a:t>
            </a:r>
          </a:p>
        </p:txBody>
      </p:sp>
      <p:pic>
        <p:nvPicPr>
          <p:cNvPr id="50" name="Picture 49" descr="lock.png"/>
          <p:cNvPicPr>
            <a:picLocks noChangeAspect="1"/>
          </p:cNvPicPr>
          <p:nvPr/>
        </p:nvPicPr>
        <p:blipFill>
          <a:blip r:embed="rId5"/>
          <a:stretch>
            <a:fillRect/>
          </a:stretch>
        </p:blipFill>
        <p:spPr>
          <a:xfrm>
            <a:off x="2636202" y="5681662"/>
            <a:ext cx="122849" cy="178689"/>
          </a:xfrm>
          <a:prstGeom prst="rect">
            <a:avLst/>
          </a:prstGeom>
        </p:spPr>
      </p:pic>
      <p:sp>
        <p:nvSpPr>
          <p:cNvPr id="51" name="TextBox 50"/>
          <p:cNvSpPr txBox="1"/>
          <p:nvPr/>
        </p:nvSpPr>
        <p:spPr>
          <a:xfrm>
            <a:off x="2796084" y="5690996"/>
            <a:ext cx="854943" cy="179069"/>
          </a:xfrm>
          <a:prstGeom prst="rect">
            <a:avLst/>
          </a:prstGeom>
          <a:noFill/>
        </p:spPr>
        <p:txBody>
          <a:bodyPr wrap="none" lIns="0" rIns="0" tIns="0" bIns="0">
            <a:spAutoFit/>
          </a:bodyPr>
          <a:lstStyle/>
          <a:p>
            <a:r>
              <a:rPr sz="1050" b="0">
                <a:solidFill>
                  <a:srgbClr val="1F1F1F"/>
                </a:solidFill>
                <a:latin typeface="Calibri"/>
              </a:rPr>
              <a:t>, which signals</a:t>
            </a:r>
          </a:p>
        </p:txBody>
      </p:sp>
      <p:sp>
        <p:nvSpPr>
          <p:cNvPr id="52" name="TextBox 51"/>
          <p:cNvSpPr txBox="1"/>
          <p:nvPr/>
        </p:nvSpPr>
        <p:spPr>
          <a:xfrm>
            <a:off x="806576" y="5851016"/>
            <a:ext cx="2737730" cy="179069"/>
          </a:xfrm>
          <a:prstGeom prst="rect">
            <a:avLst/>
          </a:prstGeom>
          <a:noFill/>
        </p:spPr>
        <p:txBody>
          <a:bodyPr wrap="none" lIns="0" rIns="0" tIns="0" bIns="0">
            <a:spAutoFit/>
          </a:bodyPr>
          <a:lstStyle/>
          <a:p>
            <a:r>
              <a:rPr sz="1050" b="0">
                <a:solidFill>
                  <a:srgbClr val="1F1F1F"/>
                </a:solidFill>
                <a:latin typeface="Calibri"/>
              </a:rPr>
              <a:t>room for value-added claims in this combination.</a:t>
            </a:r>
          </a:p>
        </p:txBody>
      </p:sp>
      <p:sp>
        <p:nvSpPr>
          <p:cNvPr id="53" name="TextBox 52"/>
          <p:cNvSpPr txBox="1"/>
          <p:nvPr/>
        </p:nvSpPr>
        <p:spPr>
          <a:xfrm>
            <a:off x="4732401" y="5530976"/>
            <a:ext cx="2659074" cy="179069"/>
          </a:xfrm>
          <a:prstGeom prst="rect">
            <a:avLst/>
          </a:prstGeom>
          <a:noFill/>
        </p:spPr>
        <p:txBody>
          <a:bodyPr wrap="none" lIns="0" rIns="0" tIns="0" bIns="0">
            <a:spAutoFit/>
          </a:bodyPr>
          <a:lstStyle/>
          <a:p>
            <a:r>
              <a:rPr sz="1050" b="0">
                <a:solidFill>
                  <a:srgbClr val="1F1F1F"/>
                </a:solidFill>
                <a:latin typeface="Calibri"/>
              </a:rPr>
              <a:t>Matcha Powder for Organic is the lowest priced</a:t>
            </a:r>
          </a:p>
        </p:txBody>
      </p:sp>
      <p:sp>
        <p:nvSpPr>
          <p:cNvPr id="54" name="TextBox 53"/>
          <p:cNvSpPr txBox="1"/>
          <p:nvPr/>
        </p:nvSpPr>
        <p:spPr>
          <a:xfrm>
            <a:off x="4732401" y="5690996"/>
            <a:ext cx="1529506" cy="179069"/>
          </a:xfrm>
          <a:prstGeom prst="rect">
            <a:avLst/>
          </a:prstGeom>
          <a:noFill/>
        </p:spPr>
        <p:txBody>
          <a:bodyPr wrap="none" lIns="0" rIns="0" tIns="0" bIns="0">
            <a:spAutoFit/>
          </a:bodyPr>
          <a:lstStyle/>
          <a:p>
            <a:r>
              <a:rPr sz="1050" b="0">
                <a:solidFill>
                  <a:srgbClr val="1F1F1F"/>
                </a:solidFill>
                <a:latin typeface="Calibri"/>
              </a:rPr>
              <a:t>combination at an index of</a:t>
            </a:r>
          </a:p>
        </p:txBody>
      </p:sp>
      <p:pic>
        <p:nvPicPr>
          <p:cNvPr id="55" name="Picture 54" descr="lock.png"/>
          <p:cNvPicPr>
            <a:picLocks noChangeAspect="1"/>
          </p:cNvPicPr>
          <p:nvPr/>
        </p:nvPicPr>
        <p:blipFill>
          <a:blip r:embed="rId5"/>
          <a:stretch>
            <a:fillRect/>
          </a:stretch>
        </p:blipFill>
        <p:spPr>
          <a:xfrm>
            <a:off x="6208856" y="5681662"/>
            <a:ext cx="122849" cy="178689"/>
          </a:xfrm>
          <a:prstGeom prst="rect">
            <a:avLst/>
          </a:prstGeom>
        </p:spPr>
      </p:pic>
      <p:sp>
        <p:nvSpPr>
          <p:cNvPr id="56" name="TextBox 55"/>
          <p:cNvSpPr txBox="1"/>
          <p:nvPr/>
        </p:nvSpPr>
        <p:spPr>
          <a:xfrm>
            <a:off x="6368739" y="5690996"/>
            <a:ext cx="475729" cy="179069"/>
          </a:xfrm>
          <a:prstGeom prst="rect">
            <a:avLst/>
          </a:prstGeom>
          <a:noFill/>
        </p:spPr>
        <p:txBody>
          <a:bodyPr wrap="none" lIns="0" rIns="0" tIns="0" bIns="0">
            <a:spAutoFit/>
          </a:bodyPr>
          <a:lstStyle/>
          <a:p>
            <a:r>
              <a:rPr sz="1050" b="0">
                <a:solidFill>
                  <a:srgbClr val="1F1F1F"/>
                </a:solidFill>
                <a:latin typeface="Calibri"/>
              </a:rPr>
              <a:t>, sitting</a:t>
            </a:r>
          </a:p>
        </p:txBody>
      </p:sp>
      <p:pic>
        <p:nvPicPr>
          <p:cNvPr id="57" name="Picture 56" descr="lock.png"/>
          <p:cNvPicPr>
            <a:picLocks noChangeAspect="1"/>
          </p:cNvPicPr>
          <p:nvPr/>
        </p:nvPicPr>
        <p:blipFill>
          <a:blip r:embed="rId5"/>
          <a:stretch>
            <a:fillRect/>
          </a:stretch>
        </p:blipFill>
        <p:spPr>
          <a:xfrm>
            <a:off x="6791417" y="5681662"/>
            <a:ext cx="122849" cy="178689"/>
          </a:xfrm>
          <a:prstGeom prst="rect">
            <a:avLst/>
          </a:prstGeom>
        </p:spPr>
      </p:pic>
      <p:sp>
        <p:nvSpPr>
          <p:cNvPr id="58" name="TextBox 57"/>
          <p:cNvSpPr txBox="1"/>
          <p:nvPr/>
        </p:nvSpPr>
        <p:spPr>
          <a:xfrm>
            <a:off x="6951299" y="5690996"/>
            <a:ext cx="620538" cy="179069"/>
          </a:xfrm>
          <a:prstGeom prst="rect">
            <a:avLst/>
          </a:prstGeom>
          <a:noFill/>
        </p:spPr>
        <p:txBody>
          <a:bodyPr wrap="none" lIns="0" rIns="0" tIns="0" bIns="0">
            <a:spAutoFit/>
          </a:bodyPr>
          <a:lstStyle/>
          <a:p>
            <a:r>
              <a:rPr sz="1050" b="0">
                <a:solidFill>
                  <a:srgbClr val="1F1F1F"/>
                </a:solidFill>
                <a:latin typeface="Calibri"/>
              </a:rPr>
              <a:t>below the</a:t>
            </a:r>
          </a:p>
        </p:txBody>
      </p:sp>
      <p:sp>
        <p:nvSpPr>
          <p:cNvPr id="59" name="TextBox 58"/>
          <p:cNvSpPr txBox="1"/>
          <p:nvPr/>
        </p:nvSpPr>
        <p:spPr>
          <a:xfrm>
            <a:off x="4732401" y="5851016"/>
            <a:ext cx="1272182" cy="179069"/>
          </a:xfrm>
          <a:prstGeom prst="rect">
            <a:avLst/>
          </a:prstGeom>
          <a:noFill/>
        </p:spPr>
        <p:txBody>
          <a:bodyPr wrap="none" lIns="0" rIns="0" tIns="0" bIns="0">
            <a:spAutoFit/>
          </a:bodyPr>
          <a:lstStyle/>
          <a:p>
            <a:r>
              <a:rPr sz="1050" b="0">
                <a:solidFill>
                  <a:srgbClr val="1F1F1F"/>
                </a:solidFill>
                <a:latin typeface="Calibri"/>
              </a:rPr>
              <a:t>Global average of US$</a:t>
            </a:r>
          </a:p>
        </p:txBody>
      </p:sp>
      <p:pic>
        <p:nvPicPr>
          <p:cNvPr id="60" name="Picture 59" descr="lock.png"/>
          <p:cNvPicPr>
            <a:picLocks noChangeAspect="1"/>
          </p:cNvPicPr>
          <p:nvPr/>
        </p:nvPicPr>
        <p:blipFill>
          <a:blip r:embed="rId5"/>
          <a:stretch>
            <a:fillRect/>
          </a:stretch>
        </p:blipFill>
        <p:spPr>
          <a:xfrm>
            <a:off x="5951533" y="5841682"/>
            <a:ext cx="122849" cy="178689"/>
          </a:xfrm>
          <a:prstGeom prst="rect">
            <a:avLst/>
          </a:prstGeom>
        </p:spPr>
      </p:pic>
      <p:sp>
        <p:nvSpPr>
          <p:cNvPr id="61" name="TextBox 60"/>
          <p:cNvSpPr txBox="1"/>
          <p:nvPr/>
        </p:nvSpPr>
        <p:spPr>
          <a:xfrm>
            <a:off x="6111415" y="5851016"/>
            <a:ext cx="340555" cy="179069"/>
          </a:xfrm>
          <a:prstGeom prst="rect">
            <a:avLst/>
          </a:prstGeom>
          <a:noFill/>
        </p:spPr>
        <p:txBody>
          <a:bodyPr wrap="none" lIns="0" rIns="0" tIns="0" bIns="0">
            <a:spAutoFit/>
          </a:bodyPr>
          <a:lstStyle/>
          <a:p>
            <a:r>
              <a:rPr sz="1050" b="0">
                <a:solidFill>
                  <a:srgbClr val="1F1F1F"/>
                </a:solidFill>
                <a:latin typeface="Calibri"/>
              </a:rPr>
              <a:t>/MT.</a:t>
            </a:r>
          </a:p>
        </p:txBody>
      </p:sp>
      <p:sp>
        <p:nvSpPr>
          <p:cNvPr id="62" name="TextBox 61"/>
          <p:cNvSpPr txBox="1"/>
          <p:nvPr/>
        </p:nvSpPr>
        <p:spPr>
          <a:xfrm>
            <a:off x="8658225" y="5530976"/>
            <a:ext cx="2926035" cy="179069"/>
          </a:xfrm>
          <a:prstGeom prst="rect">
            <a:avLst/>
          </a:prstGeom>
          <a:noFill/>
        </p:spPr>
        <p:txBody>
          <a:bodyPr wrap="none" lIns="0" rIns="0" tIns="0" bIns="0">
            <a:spAutoFit/>
          </a:bodyPr>
          <a:lstStyle/>
          <a:p>
            <a:r>
              <a:rPr sz="1050" b="0">
                <a:solidFill>
                  <a:srgbClr val="1F1F1F"/>
                </a:solidFill>
                <a:latin typeface="Calibri"/>
              </a:rPr>
              <a:t>Matcha Tea show the widest internal price spread at</a:t>
            </a:r>
          </a:p>
        </p:txBody>
      </p:sp>
      <p:pic>
        <p:nvPicPr>
          <p:cNvPr id="63" name="Picture 62" descr="lock.png"/>
          <p:cNvPicPr>
            <a:picLocks noChangeAspect="1"/>
          </p:cNvPicPr>
          <p:nvPr/>
        </p:nvPicPr>
        <p:blipFill>
          <a:blip r:embed="rId5"/>
          <a:stretch>
            <a:fillRect/>
          </a:stretch>
        </p:blipFill>
        <p:spPr>
          <a:xfrm>
            <a:off x="11531209" y="5521642"/>
            <a:ext cx="122849" cy="178689"/>
          </a:xfrm>
          <a:prstGeom prst="rect">
            <a:avLst/>
          </a:prstGeom>
        </p:spPr>
      </p:pic>
      <p:sp>
        <p:nvSpPr>
          <p:cNvPr id="64" name="TextBox 63"/>
          <p:cNvSpPr txBox="1"/>
          <p:nvPr/>
        </p:nvSpPr>
        <p:spPr>
          <a:xfrm>
            <a:off x="11691091" y="5530976"/>
            <a:ext cx="109537" cy="179069"/>
          </a:xfrm>
          <a:prstGeom prst="rect">
            <a:avLst/>
          </a:prstGeom>
          <a:noFill/>
        </p:spPr>
        <p:txBody>
          <a:bodyPr wrap="none" lIns="0" rIns="0" tIns="0" bIns="0">
            <a:spAutoFit/>
          </a:bodyPr>
          <a:lstStyle/>
          <a:p>
            <a:r>
              <a:rPr sz="1050" b="0">
                <a:solidFill>
                  <a:srgbClr val="1F1F1F"/>
                </a:solidFill>
                <a:latin typeface="Calibri"/>
              </a:rPr>
              <a:t>,</a:t>
            </a:r>
          </a:p>
        </p:txBody>
      </p:sp>
      <p:sp>
        <p:nvSpPr>
          <p:cNvPr id="65" name="TextBox 64"/>
          <p:cNvSpPr txBox="1"/>
          <p:nvPr/>
        </p:nvSpPr>
        <p:spPr>
          <a:xfrm>
            <a:off x="8658225" y="5690996"/>
            <a:ext cx="1022151" cy="179069"/>
          </a:xfrm>
          <a:prstGeom prst="rect">
            <a:avLst/>
          </a:prstGeom>
          <a:noFill/>
        </p:spPr>
        <p:txBody>
          <a:bodyPr wrap="none" lIns="0" rIns="0" tIns="0" bIns="0">
            <a:spAutoFit/>
          </a:bodyPr>
          <a:lstStyle/>
          <a:p>
            <a:r>
              <a:rPr sz="1050" b="0">
                <a:solidFill>
                  <a:srgbClr val="1F1F1F"/>
                </a:solidFill>
                <a:latin typeface="Calibri"/>
              </a:rPr>
              <a:t>ranging from US$</a:t>
            </a:r>
          </a:p>
        </p:txBody>
      </p:sp>
      <p:pic>
        <p:nvPicPr>
          <p:cNvPr id="66" name="Picture 65" descr="lock.png"/>
          <p:cNvPicPr>
            <a:picLocks noChangeAspect="1"/>
          </p:cNvPicPr>
          <p:nvPr/>
        </p:nvPicPr>
        <p:blipFill>
          <a:blip r:embed="rId5"/>
          <a:stretch>
            <a:fillRect/>
          </a:stretch>
        </p:blipFill>
        <p:spPr>
          <a:xfrm>
            <a:off x="9627325" y="5681662"/>
            <a:ext cx="122849" cy="178689"/>
          </a:xfrm>
          <a:prstGeom prst="rect">
            <a:avLst/>
          </a:prstGeom>
        </p:spPr>
      </p:pic>
      <p:sp>
        <p:nvSpPr>
          <p:cNvPr id="67" name="TextBox 66"/>
          <p:cNvSpPr txBox="1"/>
          <p:nvPr/>
        </p:nvSpPr>
        <p:spPr>
          <a:xfrm>
            <a:off x="9787208" y="5690996"/>
            <a:ext cx="697110" cy="179069"/>
          </a:xfrm>
          <a:prstGeom prst="rect">
            <a:avLst/>
          </a:prstGeom>
          <a:noFill/>
        </p:spPr>
        <p:txBody>
          <a:bodyPr wrap="none" lIns="0" rIns="0" tIns="0" bIns="0">
            <a:spAutoFit/>
          </a:bodyPr>
          <a:lstStyle/>
          <a:p>
            <a:r>
              <a:rPr sz="1050" b="0">
                <a:solidFill>
                  <a:srgbClr val="1F1F1F"/>
                </a:solidFill>
                <a:latin typeface="Calibri"/>
              </a:rPr>
              <a:t>/MT to US$</a:t>
            </a:r>
          </a:p>
        </p:txBody>
      </p:sp>
      <p:pic>
        <p:nvPicPr>
          <p:cNvPr id="68" name="Picture 67" descr="lock.png"/>
          <p:cNvPicPr>
            <a:picLocks noChangeAspect="1"/>
          </p:cNvPicPr>
          <p:nvPr/>
        </p:nvPicPr>
        <p:blipFill>
          <a:blip r:embed="rId5"/>
          <a:stretch>
            <a:fillRect/>
          </a:stretch>
        </p:blipFill>
        <p:spPr>
          <a:xfrm>
            <a:off x="10431268" y="5681662"/>
            <a:ext cx="122849" cy="178689"/>
          </a:xfrm>
          <a:prstGeom prst="rect">
            <a:avLst/>
          </a:prstGeom>
        </p:spPr>
      </p:pic>
      <p:sp>
        <p:nvSpPr>
          <p:cNvPr id="69" name="TextBox 68"/>
          <p:cNvSpPr txBox="1"/>
          <p:nvPr/>
        </p:nvSpPr>
        <p:spPr>
          <a:xfrm>
            <a:off x="10591150" y="5690996"/>
            <a:ext cx="678619" cy="179069"/>
          </a:xfrm>
          <a:prstGeom prst="rect">
            <a:avLst/>
          </a:prstGeom>
          <a:noFill/>
        </p:spPr>
        <p:txBody>
          <a:bodyPr wrap="none" lIns="0" rIns="0" tIns="0" bIns="0">
            <a:spAutoFit/>
          </a:bodyPr>
          <a:lstStyle/>
          <a:p>
            <a:r>
              <a:rPr sz="1050" b="0">
                <a:solidFill>
                  <a:srgbClr val="1F1F1F"/>
                </a:solidFill>
                <a:latin typeface="Calibri"/>
              </a:rPr>
              <a:t>/MT across</a:t>
            </a:r>
          </a:p>
        </p:txBody>
      </p:sp>
      <p:sp>
        <p:nvSpPr>
          <p:cNvPr id="70" name="TextBox 69"/>
          <p:cNvSpPr txBox="1"/>
          <p:nvPr/>
        </p:nvSpPr>
        <p:spPr>
          <a:xfrm>
            <a:off x="8658225" y="5851016"/>
            <a:ext cx="636686" cy="179069"/>
          </a:xfrm>
          <a:prstGeom prst="rect">
            <a:avLst/>
          </a:prstGeom>
          <a:noFill/>
        </p:spPr>
        <p:txBody>
          <a:bodyPr wrap="none" lIns="0" rIns="0" tIns="0" bIns="0">
            <a:spAutoFit/>
          </a:bodyPr>
          <a:lstStyle/>
          <a:p>
            <a:r>
              <a:rPr sz="1050" b="0">
                <a:solidFill>
                  <a:srgbClr val="1F1F1F"/>
                </a:solidFill>
                <a:latin typeface="Calibri"/>
              </a:rPr>
              <a:t>sub-types.</a:t>
            </a:r>
          </a:p>
        </p:txBody>
      </p:sp>
      <p:sp>
        <p:nvSpPr>
          <p:cNvPr id="71" name="TextBox 70"/>
          <p:cNvSpPr txBox="1"/>
          <p:nvPr/>
        </p:nvSpPr>
        <p:spPr>
          <a:xfrm>
            <a:off x="301752" y="6391275"/>
            <a:ext cx="5770697" cy="143408"/>
          </a:xfrm>
          <a:prstGeom prst="rect">
            <a:avLst/>
          </a:prstGeom>
          <a:noFill/>
        </p:spPr>
        <p:txBody>
          <a:bodyPr wrap="none" lIns="0" rIns="0" tIns="0" bIns="0">
            <a:spAutoFit/>
          </a:bodyPr>
          <a:lstStyle/>
          <a:p>
            <a:r>
              <a:rPr sz="816" b="0">
                <a:solidFill>
                  <a:srgbClr val="59636E"/>
                </a:solidFill>
                <a:latin typeface="Calibri"/>
              </a:rPr>
              <a:t>Source: FMI analysis. Cell price = combined value (US$) / combined volume (MT); shading shows the index vs the Global average of US$</a:t>
            </a:r>
          </a:p>
        </p:txBody>
      </p:sp>
      <p:pic>
        <p:nvPicPr>
          <p:cNvPr id="72" name="Picture 71" descr="lock.png"/>
          <p:cNvPicPr>
            <a:picLocks noChangeAspect="1"/>
          </p:cNvPicPr>
          <p:nvPr/>
        </p:nvPicPr>
        <p:blipFill>
          <a:blip r:embed="rId5"/>
          <a:stretch>
            <a:fillRect/>
          </a:stretch>
        </p:blipFill>
        <p:spPr>
          <a:xfrm>
            <a:off x="6014239" y="6384020"/>
            <a:ext cx="95470" cy="138866"/>
          </a:xfrm>
          <a:prstGeom prst="rect">
            <a:avLst/>
          </a:prstGeom>
        </p:spPr>
      </p:pic>
      <p:sp>
        <p:nvSpPr>
          <p:cNvPr id="73" name="TextBox 72"/>
          <p:cNvSpPr txBox="1"/>
          <p:nvPr/>
        </p:nvSpPr>
        <p:spPr>
          <a:xfrm>
            <a:off x="6138491" y="6391275"/>
            <a:ext cx="281642" cy="143408"/>
          </a:xfrm>
          <a:prstGeom prst="rect">
            <a:avLst/>
          </a:prstGeom>
          <a:noFill/>
        </p:spPr>
        <p:txBody>
          <a:bodyPr wrap="none" lIns="0" rIns="0" tIns="0" bIns="0">
            <a:spAutoFit/>
          </a:bodyPr>
          <a:lstStyle/>
          <a:p>
            <a:r>
              <a:rPr sz="816" b="0">
                <a:solidFill>
                  <a:srgbClr val="59636E"/>
                </a:solidFill>
                <a:latin typeface="Calibri"/>
              </a:rPr>
              <a:t>/MT.</a:t>
            </a:r>
          </a:p>
        </p:txBody>
      </p:sp>
      <p:pic>
        <p:nvPicPr>
          <p:cNvPr id="74" name="Picture 73" descr="lock.png"/>
          <p:cNvPicPr>
            <a:picLocks noChangeAspect="1"/>
          </p:cNvPicPr>
          <p:nvPr/>
        </p:nvPicPr>
        <p:blipFill>
          <a:blip r:embed="rId5"/>
          <a:stretch>
            <a:fillRect/>
          </a:stretch>
        </p:blipFill>
        <p:spPr>
          <a:xfrm>
            <a:off x="9913437" y="3234020"/>
            <a:ext cx="332271" cy="483303"/>
          </a:xfrm>
          <a:prstGeom prst="rect">
            <a:avLst/>
          </a:prstGeom>
        </p:spPr>
      </p:pic>
      <p:sp>
        <p:nvSpPr>
          <p:cNvPr id="75" name="lockshield_27"/>
          <p:cNvSpPr/>
          <p:nvPr/>
        </p:nvSpPr>
        <p:spPr>
          <a:xfrm>
            <a:off x="8001000" y="2032635"/>
            <a:ext cx="3867912" cy="297180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Pricing Assessment: Region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 average price and price range across product types, 2026 (US$/MT)</a:t>
            </a:r>
          </a:p>
        </p:txBody>
      </p:sp>
      <p:sp>
        <p:nvSpPr>
          <p:cNvPr id="10" name="Rectangle 9"/>
          <p:cNvSpPr/>
          <p:nvPr/>
        </p:nvSpPr>
        <p:spPr>
          <a:xfrm>
            <a:off x="274320" y="981075"/>
            <a:ext cx="11640312" cy="457200"/>
          </a:xfrm>
          <a:prstGeom prst="rect">
            <a:avLst/>
          </a:prstGeom>
          <a:solidFill>
            <a:srgbClr val="0B2E4A"/>
          </a:solidFill>
          <a:ln>
            <a:noFill/>
          </a:ln>
          <a:effectLst/>
        </p:spPr>
        <p:txBody>
          <a:bodyPr rtlCol="0" anchor="ctr" wrap="square" lIns="137160"/>
          <a:lstStyle/>
          <a:p>
            <a:pPr algn="l"/>
            <a:r>
              <a:rPr sz="1300" b="1">
                <a:solidFill>
                  <a:srgbClr val="FFFFFF"/>
                </a:solidFill>
                <a:latin typeface="Calibri"/>
              </a:rPr>
              <a:t/>
            </a:r>
          </a:p>
        </p:txBody>
      </p:sp>
      <p:sp>
        <p:nvSpPr>
          <p:cNvPr id="11" name="Rectangle 10"/>
          <p:cNvSpPr/>
          <p:nvPr/>
        </p:nvSpPr>
        <p:spPr>
          <a:xfrm>
            <a:off x="274320" y="1529715"/>
            <a:ext cx="7543800" cy="3520440"/>
          </a:xfrm>
          <a:prstGeom prst="rect">
            <a:avLst/>
          </a:prstGeom>
          <a:solidFill>
            <a:srgbClr val="F3F6F9"/>
          </a:solidFill>
          <a:ln>
            <a:noFill/>
          </a:ln>
          <a:effectLst/>
        </p:spPr>
        <p:txBody>
          <a:bodyPr rtlCol="0" anchor="ctr"/>
          <a:lstStyle/>
          <a:p>
            <a:pPr algn="ctr"/>
          </a:p>
        </p:txBody>
      </p:sp>
      <p:sp>
        <p:nvSpPr>
          <p:cNvPr id="12" name="TextBox 11"/>
          <p:cNvSpPr txBox="1"/>
          <p:nvPr/>
        </p:nvSpPr>
        <p:spPr>
          <a:xfrm>
            <a:off x="384048" y="1575435"/>
            <a:ext cx="7315200" cy="257175"/>
          </a:xfrm>
          <a:prstGeom prst="rect">
            <a:avLst/>
          </a:prstGeom>
          <a:noFill/>
        </p:spPr>
        <p:txBody>
          <a:bodyPr wrap="square" anchor="t" lIns="27432" rIns="27432" tIns="27432" bIns="27432">
            <a:spAutoFit/>
          </a:bodyPr>
          <a:lstStyle/>
          <a:p>
            <a:pPr algn="l"/>
            <a:r>
              <a:rPr sz="1150" b="1" i="0">
                <a:solidFill>
                  <a:srgbClr val="0B2E4A"/>
                </a:solidFill>
                <a:latin typeface="Calibri"/>
              </a:rPr>
              <a:t>2026 Price Range Across Product Types by Region (US$/MT), Ranked by Average</a:t>
            </a:r>
          </a:p>
        </p:txBody>
      </p:sp>
      <p:graphicFrame>
        <p:nvGraphicFramePr>
          <p:cNvPr id="13" name="FMI Open Chart"/>
          <p:cNvGraphicFramePr>
            <a:graphicFrameLocks noGrp="1"/>
          </p:cNvGraphicFramePr>
          <p:nvPr/>
        </p:nvGraphicFramePr>
        <p:xfrm>
          <a:off x="347472" y="2014347"/>
          <a:ext cx="7406640" cy="3017520"/>
        </p:xfrm>
        <a:graphic>
          <a:graphicData uri="http://schemas.openxmlformats.org/drawingml/2006/chart">
            <c:chart xmlns:c="http://schemas.openxmlformats.org/drawingml/2006/chart" r:id="rId3"/>
          </a:graphicData>
        </a:graphic>
      </p:graphicFrame>
      <p:sp>
        <p:nvSpPr>
          <p:cNvPr id="14" name="TextBox 13"/>
          <p:cNvSpPr txBox="1"/>
          <p:nvPr/>
        </p:nvSpPr>
        <p:spPr>
          <a:xfrm>
            <a:off x="384048" y="1804035"/>
            <a:ext cx="7223760" cy="219075"/>
          </a:xfrm>
          <a:prstGeom prst="rect">
            <a:avLst/>
          </a:prstGeom>
          <a:noFill/>
        </p:spPr>
        <p:txBody>
          <a:bodyPr wrap="square" anchor="t" lIns="27432" rIns="27432" tIns="27432" bIns="27432">
            <a:spAutoFit/>
          </a:bodyPr>
          <a:lstStyle/>
          <a:p>
            <a:pPr algn="l"/>
            <a:r>
              <a:rPr sz="850" b="0" i="1">
                <a:solidFill>
                  <a:srgbClr val="59636E"/>
                </a:solidFill>
                <a:latin typeface="Calibri"/>
              </a:rPr>
              <a:t/>
            </a:r>
          </a:p>
        </p:txBody>
      </p:sp>
      <p:sp>
        <p:nvSpPr>
          <p:cNvPr id="15" name="Rectangle 14"/>
          <p:cNvSpPr/>
          <p:nvPr/>
        </p:nvSpPr>
        <p:spPr>
          <a:xfrm>
            <a:off x="7955280" y="1529715"/>
            <a:ext cx="3959352" cy="3520440"/>
          </a:xfrm>
          <a:prstGeom prst="rect">
            <a:avLst/>
          </a:prstGeom>
          <a:solidFill>
            <a:srgbClr val="F3F6F9"/>
          </a:solidFill>
          <a:ln>
            <a:noFill/>
          </a:ln>
          <a:effectLst/>
        </p:spPr>
        <p:txBody>
          <a:bodyPr rtlCol="0" anchor="ctr"/>
          <a:lstStyle/>
          <a:p>
            <a:pPr algn="ctr"/>
          </a:p>
        </p:txBody>
      </p:sp>
      <p:sp>
        <p:nvSpPr>
          <p:cNvPr id="16" name="TextBox 15"/>
          <p:cNvSpPr txBox="1"/>
          <p:nvPr/>
        </p:nvSpPr>
        <p:spPr>
          <a:xfrm>
            <a:off x="8065008" y="1575435"/>
            <a:ext cx="3749040" cy="257175"/>
          </a:xfrm>
          <a:prstGeom prst="rect">
            <a:avLst/>
          </a:prstGeom>
          <a:noFill/>
        </p:spPr>
        <p:txBody>
          <a:bodyPr wrap="square" anchor="t" lIns="27432" rIns="27432" tIns="27432" bIns="27432">
            <a:spAutoFit/>
          </a:bodyPr>
          <a:lstStyle/>
          <a:p>
            <a:pPr algn="l"/>
            <a:r>
              <a:rPr sz="1150" b="1" i="0">
                <a:solidFill>
                  <a:srgbClr val="0B2E4A"/>
                </a:solidFill>
                <a:latin typeface="Calibri"/>
              </a:rPr>
              <a:t>Premium and Discount Markets</a:t>
            </a:r>
          </a:p>
        </p:txBody>
      </p:sp>
      <p:graphicFrame>
        <p:nvGraphicFramePr>
          <p:cNvPr id="17" name="Table 16"/>
          <p:cNvGraphicFramePr>
            <a:graphicFrameLocks noGrp="1"/>
          </p:cNvGraphicFramePr>
          <p:nvPr/>
        </p:nvGraphicFramePr>
        <p:xfrm>
          <a:off x="8046720" y="1868043"/>
          <a:ext cx="3776472" cy="3090675"/>
        </p:xfrm>
        <a:graphic>
          <a:graphicData uri="http://schemas.openxmlformats.org/drawingml/2006/table">
            <a:tbl>
              <a:tblPr firstRow="1" bandRow="1">
                <a:tableStyleId>{5C22544A-7EE6-4342-B048-85BDC9FD1C3A}</a:tableStyleId>
              </a:tblPr>
              <a:tblGrid>
                <a:gridCol w="1417320"/>
                <a:gridCol w="786384"/>
                <a:gridCol w="658368"/>
                <a:gridCol w="914400"/>
              </a:tblGrid>
              <a:tr h="441525">
                <a:tc>
                  <a:txBody>
                    <a:bodyPr wrap="square"/>
                    <a:lstStyle/>
                    <a:p>
                      <a:pPr algn="l"/>
                      <a:r>
                        <a:rPr sz="900" b="1">
                          <a:solidFill>
                            <a:srgbClr val="FFFFFF"/>
                          </a:solidFill>
                          <a:latin typeface="Calibri"/>
                        </a:rPr>
                        <a:t>Region</a:t>
                      </a:r>
                    </a:p>
                  </a:txBody>
                  <a:tcPr marL="36576" marR="36576" marT="9144" marB="9144" anchor="ctr">
                    <a:solidFill>
                      <a:srgbClr val="0B2E4A"/>
                    </a:solidFill>
                  </a:tcPr>
                </a:tc>
                <a:tc>
                  <a:txBody>
                    <a:bodyPr wrap="square"/>
                    <a:lstStyle/>
                    <a:p>
                      <a:pPr algn="ctr"/>
                      <a:r>
                        <a:rPr sz="900" b="1">
                          <a:solidFill>
                            <a:srgbClr val="FFFFFF"/>
                          </a:solidFill>
                          <a:latin typeface="Calibri"/>
                        </a:rPr>
                        <a:t>Avg. 2026</a:t>
                      </a:r>
                    </a:p>
                  </a:txBody>
                  <a:tcPr marL="36576" marR="36576" marT="9144" marB="9144" anchor="ctr">
                    <a:solidFill>
                      <a:srgbClr val="0B2E4A"/>
                    </a:solidFill>
                  </a:tcPr>
                </a:tc>
                <a:tc>
                  <a:txBody>
                    <a:bodyPr wrap="square"/>
                    <a:lstStyle/>
                    <a:p>
                      <a:pPr algn="ctr"/>
                      <a:r>
                        <a:rPr sz="900" b="1">
                          <a:solidFill>
                            <a:srgbClr val="FFFFFF"/>
                          </a:solidFill>
                          <a:latin typeface="Calibri"/>
                        </a:rPr>
                        <a:t>Index</a:t>
                      </a:r>
                    </a:p>
                  </a:txBody>
                  <a:tcPr marL="36576" marR="36576" marT="9144" marB="9144" anchor="ctr">
                    <a:solidFill>
                      <a:srgbClr val="0B2E4A"/>
                    </a:solidFill>
                  </a:tcPr>
                </a:tc>
                <a:tc>
                  <a:txBody>
                    <a:bodyPr wrap="square"/>
                    <a:lstStyle/>
                    <a:p>
                      <a:pPr algn="ctr"/>
                      <a:r>
                        <a:rPr sz="900" b="1">
                          <a:solidFill>
                            <a:srgbClr val="FFFFFF"/>
                          </a:solidFill>
                          <a:latin typeface="Calibri"/>
                        </a:rPr>
                        <a:t>CAGR 2026 to 2036</a:t>
                      </a:r>
                    </a:p>
                  </a:txBody>
                  <a:tcPr marL="36576" marR="36576" marT="9144" marB="9144" anchor="ctr">
                    <a:solidFill>
                      <a:srgbClr val="0B2E4A"/>
                    </a:solidFill>
                  </a:tcPr>
                </a:tc>
              </a:tr>
              <a:tr h="441525">
                <a:tc>
                  <a:txBody>
                    <a:bodyPr wrap="square"/>
                    <a:lstStyle/>
                    <a:p>
                      <a:pPr algn="l"/>
                      <a:r>
                        <a:rPr sz="900" b="1">
                          <a:solidFill>
                            <a:srgbClr val="1F1F1F"/>
                          </a:solidFill>
                          <a:latin typeface="Calibri"/>
                        </a:rPr>
                        <a:t>North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Europe</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4B183"/>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Latin America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Middle East &amp; Africa</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r h="441525">
                <a:tc>
                  <a:txBody>
                    <a:bodyPr wrap="square"/>
                    <a:lstStyle/>
                    <a:p>
                      <a:pPr algn="l"/>
                      <a:r>
                        <a:rPr sz="900" b="1">
                          <a:solidFill>
                            <a:srgbClr val="1F1F1F"/>
                          </a:solidFill>
                          <a:latin typeface="Calibri"/>
                        </a:rPr>
                        <a:t>East Asia</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FFFFFF"/>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FFFFF"/>
                    </a:solidFill>
                  </a:tcPr>
                </a:tc>
              </a:tr>
              <a:tr h="441525">
                <a:tc>
                  <a:txBody>
                    <a:bodyPr wrap="square"/>
                    <a:lstStyle/>
                    <a:p>
                      <a:pPr algn="l"/>
                      <a:r>
                        <a:rPr sz="900" b="1">
                          <a:solidFill>
                            <a:srgbClr val="1F1F1F"/>
                          </a:solidFill>
                          <a:latin typeface="Calibri"/>
                        </a:rPr>
                        <a:t>South Asia &amp; Pacific</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F3F6F9"/>
                    </a:solidFill>
                  </a:tcPr>
                </a:tc>
                <a:tc>
                  <a:txBody>
                    <a:bodyPr wrap="square"/>
                    <a:lstStyle/>
                    <a:p>
                      <a:pPr algn="ctr"/>
                      <a:r>
                        <a:rPr sz="900"/>
                        <a:t> </a:t>
                      </a:r>
                    </a:p>
                  </a:txBody>
                  <a:tcPr marL="36576" marR="36576" marT="9144" marB="9144" anchor="ctr">
                    <a:solidFill>
                      <a:srgbClr val="9DC0E0"/>
                    </a:solidFill>
                  </a:tcPr>
                </a:tc>
                <a:tc>
                  <a:txBody>
                    <a:bodyPr wrap="square"/>
                    <a:lstStyle/>
                    <a:p>
                      <a:pPr algn="ctr"/>
                      <a:r>
                        <a:rPr sz="900"/>
                        <a:t> </a:t>
                      </a:r>
                    </a:p>
                  </a:txBody>
                  <a:tcPr marL="36576" marR="36576" marT="9144" marB="9144" anchor="ctr">
                    <a:solidFill>
                      <a:srgbClr val="F3F6F9"/>
                    </a:solidFill>
                  </a:tcPr>
                </a:tc>
              </a:tr>
            </a:tbl>
          </a:graphicData>
        </a:graphic>
      </p:graphicFrame>
      <p:sp>
        <p:nvSpPr>
          <p:cNvPr id="18" name="Rectangle 17"/>
          <p:cNvSpPr/>
          <p:nvPr/>
        </p:nvSpPr>
        <p:spPr>
          <a:xfrm>
            <a:off x="274320" y="5141595"/>
            <a:ext cx="3788664" cy="1234440"/>
          </a:xfrm>
          <a:prstGeom prst="rect">
            <a:avLst/>
          </a:prstGeom>
          <a:solidFill>
            <a:srgbClr val="F3F6F9"/>
          </a:solidFill>
          <a:ln>
            <a:noFill/>
          </a:ln>
          <a:effectLst/>
        </p:spPr>
        <p:txBody>
          <a:bodyPr rtlCol="0" anchor="ctr"/>
          <a:lstStyle/>
          <a:p>
            <a:pPr algn="ctr"/>
          </a:p>
        </p:txBody>
      </p:sp>
      <p:sp>
        <p:nvSpPr>
          <p:cNvPr id="19" name="Oval 18"/>
          <p:cNvSpPr/>
          <p:nvPr/>
        </p:nvSpPr>
        <p:spPr>
          <a:xfrm>
            <a:off x="388620"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1</a:t>
            </a:r>
          </a:p>
        </p:txBody>
      </p:sp>
      <p:sp>
        <p:nvSpPr>
          <p:cNvPr id="20" name="TextBox 19"/>
          <p:cNvSpPr txBox="1"/>
          <p:nvPr/>
        </p:nvSpPr>
        <p:spPr>
          <a:xfrm>
            <a:off x="779145"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Region Spread</a:t>
            </a:r>
          </a:p>
        </p:txBody>
      </p:sp>
      <p:sp>
        <p:nvSpPr>
          <p:cNvPr id="21" name="TextBox 20"/>
          <p:cNvSpPr txBox="1"/>
          <p:nvPr/>
        </p:nvSpPr>
        <p:spPr>
          <a:xfrm>
            <a:off x="779145"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2" name="Rectangle 21"/>
          <p:cNvSpPr/>
          <p:nvPr/>
        </p:nvSpPr>
        <p:spPr>
          <a:xfrm>
            <a:off x="4200144" y="5141595"/>
            <a:ext cx="3788664" cy="1234440"/>
          </a:xfrm>
          <a:prstGeom prst="rect">
            <a:avLst/>
          </a:prstGeom>
          <a:solidFill>
            <a:srgbClr val="F3F6F9"/>
          </a:solidFill>
          <a:ln>
            <a:noFill/>
          </a:ln>
          <a:effectLst/>
        </p:spPr>
        <p:txBody>
          <a:bodyPr rtlCol="0" anchor="ctr"/>
          <a:lstStyle/>
          <a:p>
            <a:pPr algn="ctr"/>
          </a:p>
        </p:txBody>
      </p:sp>
      <p:sp>
        <p:nvSpPr>
          <p:cNvPr id="23" name="Oval 22"/>
          <p:cNvSpPr/>
          <p:nvPr/>
        </p:nvSpPr>
        <p:spPr>
          <a:xfrm>
            <a:off x="4314444"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2</a:t>
            </a:r>
          </a:p>
        </p:txBody>
      </p:sp>
      <p:sp>
        <p:nvSpPr>
          <p:cNvPr id="24" name="TextBox 23"/>
          <p:cNvSpPr txBox="1"/>
          <p:nvPr/>
        </p:nvSpPr>
        <p:spPr>
          <a:xfrm>
            <a:off x="4704969"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Growth Leader</a:t>
            </a:r>
          </a:p>
        </p:txBody>
      </p:sp>
      <p:sp>
        <p:nvSpPr>
          <p:cNvPr id="25" name="TextBox 24"/>
          <p:cNvSpPr txBox="1"/>
          <p:nvPr/>
        </p:nvSpPr>
        <p:spPr>
          <a:xfrm>
            <a:off x="4704969"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26" name="Rectangle 25"/>
          <p:cNvSpPr/>
          <p:nvPr/>
        </p:nvSpPr>
        <p:spPr>
          <a:xfrm>
            <a:off x="8125968" y="5141595"/>
            <a:ext cx="3788664" cy="1234440"/>
          </a:xfrm>
          <a:prstGeom prst="rect">
            <a:avLst/>
          </a:prstGeom>
          <a:solidFill>
            <a:srgbClr val="F3F6F9"/>
          </a:solidFill>
          <a:ln>
            <a:noFill/>
          </a:ln>
          <a:effectLst/>
        </p:spPr>
        <p:txBody>
          <a:bodyPr rtlCol="0" anchor="ctr"/>
          <a:lstStyle/>
          <a:p>
            <a:pPr algn="ctr"/>
          </a:p>
        </p:txBody>
      </p:sp>
      <p:sp>
        <p:nvSpPr>
          <p:cNvPr id="27" name="Oval 26"/>
          <p:cNvSpPr/>
          <p:nvPr/>
        </p:nvSpPr>
        <p:spPr>
          <a:xfrm>
            <a:off x="8240268" y="5265420"/>
            <a:ext cx="314325" cy="314325"/>
          </a:xfrm>
          <a:prstGeom prst="ellipse">
            <a:avLst/>
          </a:prstGeom>
          <a:solidFill>
            <a:srgbClr val="0B2E4A"/>
          </a:solidFill>
          <a:ln>
            <a:noFill/>
          </a:ln>
          <a:effectLst/>
        </p:spPr>
        <p:txBody>
          <a:bodyPr rtlCol="0" anchor="ctr" lIns="0" rIns="0" wrap="none" tIns="0" bIns="0"/>
          <a:lstStyle/>
          <a:p>
            <a:pPr algn="ctr"/>
            <a:r>
              <a:rPr sz="1200" b="1">
                <a:solidFill>
                  <a:srgbClr val="FFFFFF"/>
                </a:solidFill>
                <a:latin typeface="Calibri"/>
              </a:rPr>
              <a:t>3</a:t>
            </a:r>
          </a:p>
        </p:txBody>
      </p:sp>
      <p:sp>
        <p:nvSpPr>
          <p:cNvPr id="28" name="TextBox 27"/>
          <p:cNvSpPr txBox="1"/>
          <p:nvPr/>
        </p:nvSpPr>
        <p:spPr>
          <a:xfrm>
            <a:off x="8630793" y="5227320"/>
            <a:ext cx="3198114" cy="266700"/>
          </a:xfrm>
          <a:prstGeom prst="rect">
            <a:avLst/>
          </a:prstGeom>
          <a:noFill/>
        </p:spPr>
        <p:txBody>
          <a:bodyPr wrap="square" anchor="t" lIns="27432" rIns="27432" tIns="27432" bIns="27432">
            <a:spAutoFit/>
          </a:bodyPr>
          <a:lstStyle/>
          <a:p>
            <a:pPr algn="l"/>
            <a:r>
              <a:rPr sz="1150" b="1" i="0">
                <a:solidFill>
                  <a:srgbClr val="0B2E4A"/>
                </a:solidFill>
                <a:latin typeface="Calibri"/>
              </a:rPr>
              <a:t>Mix Exposure</a:t>
            </a:r>
          </a:p>
        </p:txBody>
      </p:sp>
      <p:sp>
        <p:nvSpPr>
          <p:cNvPr id="29" name="TextBox 28"/>
          <p:cNvSpPr txBox="1"/>
          <p:nvPr/>
        </p:nvSpPr>
        <p:spPr>
          <a:xfrm>
            <a:off x="8630793" y="5503545"/>
            <a:ext cx="3198114" cy="834390"/>
          </a:xfrm>
          <a:prstGeom prst="rect">
            <a:avLst/>
          </a:prstGeom>
          <a:noFill/>
        </p:spPr>
        <p:txBody>
          <a:bodyPr wrap="square" anchor="t" lIns="27432" rIns="27432" tIns="27432" bIns="27432">
            <a:spAutoFit/>
          </a:bodyPr>
          <a:lstStyle/>
          <a:p>
            <a:pPr algn="l"/>
            <a:r>
              <a:rPr sz="1050" b="0" i="0">
                <a:solidFill>
                  <a:srgbClr val="1F1F1F"/>
                </a:solidFill>
                <a:latin typeface="Calibri"/>
              </a:rPr>
              <a:t/>
            </a:r>
          </a:p>
        </p:txBody>
      </p:sp>
      <p:sp>
        <p:nvSpPr>
          <p:cNvPr id="30" name="TextBox 29"/>
          <p:cNvSpPr txBox="1"/>
          <p:nvPr/>
        </p:nvSpPr>
        <p:spPr>
          <a:xfrm>
            <a:off x="274320" y="6363843"/>
            <a:ext cx="11612880" cy="209550"/>
          </a:xfrm>
          <a:prstGeom prst="rect">
            <a:avLst/>
          </a:prstGeom>
          <a:noFill/>
        </p:spPr>
        <p:txBody>
          <a:bodyPr wrap="square" anchor="t" lIns="27432" rIns="27432" tIns="27432" bIns="27432">
            <a:spAutoFit/>
          </a:bodyPr>
          <a:lstStyle/>
          <a:p>
            <a:pPr algn="l"/>
            <a:r>
              <a:rPr sz="850" b="0" i="0">
                <a:solidFill>
                  <a:srgbClr val="59636E"/>
                </a:solidFill>
                <a:latin typeface="Calibri"/>
              </a:rPr>
              <a:t>Source: FMI analysis. Range = lowest to highest product type price in each region; ranked by average price. Other geographies grouped as 'Other' are excluded from the ranking.</a:t>
            </a:r>
          </a:p>
        </p:txBody>
      </p:sp>
      <p:sp>
        <p:nvSpPr>
          <p:cNvPr id="31" name="TextBox 3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2" name="Picture 31" descr="lock.png"/>
          <p:cNvPicPr>
            <a:picLocks noChangeAspect="1"/>
          </p:cNvPicPr>
          <p:nvPr/>
        </p:nvPicPr>
        <p:blipFill>
          <a:blip r:embed="rId5"/>
          <a:stretch>
            <a:fillRect/>
          </a:stretch>
        </p:blipFill>
        <p:spPr>
          <a:xfrm>
            <a:off x="10462494" y="3375398"/>
            <a:ext cx="355774" cy="517489"/>
          </a:xfrm>
          <a:prstGeom prst="rect">
            <a:avLst/>
          </a:prstGeom>
        </p:spPr>
      </p:pic>
      <p:sp>
        <p:nvSpPr>
          <p:cNvPr id="33" name="TextBox 32"/>
          <p:cNvSpPr txBox="1"/>
          <p:nvPr/>
        </p:nvSpPr>
        <p:spPr>
          <a:xfrm>
            <a:off x="411480" y="1110615"/>
            <a:ext cx="3985393" cy="217169"/>
          </a:xfrm>
          <a:prstGeom prst="rect">
            <a:avLst/>
          </a:prstGeom>
          <a:noFill/>
        </p:spPr>
        <p:txBody>
          <a:bodyPr wrap="none" lIns="0" rIns="0" tIns="0" bIns="0">
            <a:spAutoFit/>
          </a:bodyPr>
          <a:lstStyle/>
          <a:p>
            <a:r>
              <a:rPr sz="1300" b="1">
                <a:solidFill>
                  <a:srgbClr val="FFFFFF"/>
                </a:solidFill>
                <a:latin typeface="Calibri"/>
              </a:rPr>
              <a:t>North America is the most premium Global region at US$</a:t>
            </a:r>
          </a:p>
        </p:txBody>
      </p:sp>
      <p:pic>
        <p:nvPicPr>
          <p:cNvPr id="34" name="Picture 33" descr="lock.png"/>
          <p:cNvPicPr>
            <a:picLocks noChangeAspect="1"/>
          </p:cNvPicPr>
          <p:nvPr/>
        </p:nvPicPr>
        <p:blipFill>
          <a:blip r:embed="rId5"/>
          <a:stretch>
            <a:fillRect/>
          </a:stretch>
        </p:blipFill>
        <p:spPr>
          <a:xfrm>
            <a:off x="4349334" y="1099058"/>
            <a:ext cx="152098" cy="221234"/>
          </a:xfrm>
          <a:prstGeom prst="rect">
            <a:avLst/>
          </a:prstGeom>
        </p:spPr>
      </p:pic>
      <p:sp>
        <p:nvSpPr>
          <p:cNvPr id="35" name="TextBox 34"/>
          <p:cNvSpPr txBox="1"/>
          <p:nvPr/>
        </p:nvSpPr>
        <p:spPr>
          <a:xfrm>
            <a:off x="4547284" y="1110615"/>
            <a:ext cx="1075183" cy="217169"/>
          </a:xfrm>
          <a:prstGeom prst="rect">
            <a:avLst/>
          </a:prstGeom>
          <a:noFill/>
        </p:spPr>
        <p:txBody>
          <a:bodyPr wrap="none" lIns="0" rIns="0" tIns="0" bIns="0">
            <a:spAutoFit/>
          </a:bodyPr>
          <a:lstStyle/>
          <a:p>
            <a:r>
              <a:rPr sz="1300" b="1">
                <a:solidFill>
                  <a:srgbClr val="FFFFFF"/>
                </a:solidFill>
                <a:latin typeface="Calibri"/>
              </a:rPr>
              <a:t>/MT in 2026, +</a:t>
            </a:r>
          </a:p>
        </p:txBody>
      </p:sp>
      <p:pic>
        <p:nvPicPr>
          <p:cNvPr id="36" name="Picture 35" descr="lock.png"/>
          <p:cNvPicPr>
            <a:picLocks noChangeAspect="1"/>
          </p:cNvPicPr>
          <p:nvPr/>
        </p:nvPicPr>
        <p:blipFill>
          <a:blip r:embed="rId5"/>
          <a:stretch>
            <a:fillRect/>
          </a:stretch>
        </p:blipFill>
        <p:spPr>
          <a:xfrm>
            <a:off x="5574929" y="1099058"/>
            <a:ext cx="152098" cy="221234"/>
          </a:xfrm>
          <a:prstGeom prst="rect">
            <a:avLst/>
          </a:prstGeom>
        </p:spPr>
      </p:pic>
      <p:sp>
        <p:nvSpPr>
          <p:cNvPr id="37" name="TextBox 36"/>
          <p:cNvSpPr txBox="1"/>
          <p:nvPr/>
        </p:nvSpPr>
        <p:spPr>
          <a:xfrm>
            <a:off x="5772879" y="1110615"/>
            <a:ext cx="5071119" cy="217169"/>
          </a:xfrm>
          <a:prstGeom prst="rect">
            <a:avLst/>
          </a:prstGeom>
          <a:noFill/>
        </p:spPr>
        <p:txBody>
          <a:bodyPr wrap="none" lIns="0" rIns="0" tIns="0" bIns="0">
            <a:spAutoFit/>
          </a:bodyPr>
          <a:lstStyle/>
          <a:p>
            <a:r>
              <a:rPr sz="1300" b="1">
                <a:solidFill>
                  <a:srgbClr val="FFFFFF"/>
                </a:solidFill>
                <a:latin typeface="Calibri"/>
              </a:rPr>
              <a:t>above the global average, while South Asia &amp; Pacific is the lowest priced.</a:t>
            </a:r>
          </a:p>
        </p:txBody>
      </p:sp>
      <p:sp>
        <p:nvSpPr>
          <p:cNvPr id="38" name="TextBox 37"/>
          <p:cNvSpPr txBox="1"/>
          <p:nvPr/>
        </p:nvSpPr>
        <p:spPr>
          <a:xfrm>
            <a:off x="411480" y="1831467"/>
            <a:ext cx="4975274" cy="148589"/>
          </a:xfrm>
          <a:prstGeom prst="rect">
            <a:avLst/>
          </a:prstGeom>
          <a:noFill/>
        </p:spPr>
        <p:txBody>
          <a:bodyPr wrap="none" lIns="0" rIns="0" tIns="0" bIns="0">
            <a:spAutoFit/>
          </a:bodyPr>
          <a:lstStyle/>
          <a:p>
            <a:r>
              <a:rPr sz="850" b="0">
                <a:solidFill>
                  <a:srgbClr val="59636E"/>
                </a:solidFill>
                <a:latin typeface="Calibri"/>
              </a:rPr>
              <a:t>Bar spans the lowest to highest product type price in each region, read on the price index axis (Global average =</a:t>
            </a:r>
          </a:p>
        </p:txBody>
      </p:sp>
      <p:pic>
        <p:nvPicPr>
          <p:cNvPr id="39" name="Picture 38" descr="lock.png"/>
          <p:cNvPicPr>
            <a:picLocks noChangeAspect="1"/>
          </p:cNvPicPr>
          <p:nvPr/>
        </p:nvPicPr>
        <p:blipFill>
          <a:blip r:embed="rId5"/>
          <a:stretch>
            <a:fillRect/>
          </a:stretch>
        </p:blipFill>
        <p:spPr>
          <a:xfrm>
            <a:off x="5329294" y="1823910"/>
            <a:ext cx="99449" cy="144653"/>
          </a:xfrm>
          <a:prstGeom prst="rect">
            <a:avLst/>
          </a:prstGeom>
        </p:spPr>
      </p:pic>
      <p:sp>
        <p:nvSpPr>
          <p:cNvPr id="40" name="TextBox 39"/>
          <p:cNvSpPr txBox="1"/>
          <p:nvPr/>
        </p:nvSpPr>
        <p:spPr>
          <a:xfrm>
            <a:off x="5458723" y="1831467"/>
            <a:ext cx="2037010" cy="148589"/>
          </a:xfrm>
          <a:prstGeom prst="rect">
            <a:avLst/>
          </a:prstGeom>
          <a:noFill/>
        </p:spPr>
        <p:txBody>
          <a:bodyPr wrap="none" lIns="0" rIns="0" tIns="0" bIns="0">
            <a:spAutoFit/>
          </a:bodyPr>
          <a:lstStyle/>
          <a:p>
            <a:r>
              <a:rPr sz="850" b="0">
                <a:solidFill>
                  <a:srgbClr val="59636E"/>
                </a:solidFill>
                <a:latin typeface="Calibri"/>
              </a:rPr>
              <a:t>). Teal = above Global average, blue = below.</a:t>
            </a:r>
          </a:p>
        </p:txBody>
      </p:sp>
      <p:sp>
        <p:nvSpPr>
          <p:cNvPr id="41" name="TextBox 40"/>
          <p:cNvSpPr txBox="1"/>
          <p:nvPr/>
        </p:nvSpPr>
        <p:spPr>
          <a:xfrm>
            <a:off x="806576" y="5530976"/>
            <a:ext cx="2778324" cy="179069"/>
          </a:xfrm>
          <a:prstGeom prst="rect">
            <a:avLst/>
          </a:prstGeom>
          <a:noFill/>
        </p:spPr>
        <p:txBody>
          <a:bodyPr wrap="none" lIns="0" rIns="0" tIns="0" bIns="0">
            <a:spAutoFit/>
          </a:bodyPr>
          <a:lstStyle/>
          <a:p>
            <a:r>
              <a:rPr sz="1050" b="0">
                <a:solidFill>
                  <a:srgbClr val="1F1F1F"/>
                </a:solidFill>
                <a:latin typeface="Calibri"/>
              </a:rPr>
              <a:t>Average prices across the ranked regions differ by</a:t>
            </a:r>
          </a:p>
        </p:txBody>
      </p:sp>
      <p:pic>
        <p:nvPicPr>
          <p:cNvPr id="42" name="Picture 41" descr="lock.png"/>
          <p:cNvPicPr>
            <a:picLocks noChangeAspect="1"/>
          </p:cNvPicPr>
          <p:nvPr/>
        </p:nvPicPr>
        <p:blipFill>
          <a:blip r:embed="rId5"/>
          <a:stretch>
            <a:fillRect/>
          </a:stretch>
        </p:blipFill>
        <p:spPr>
          <a:xfrm>
            <a:off x="3531850" y="5521642"/>
            <a:ext cx="122849" cy="178689"/>
          </a:xfrm>
          <a:prstGeom prst="rect">
            <a:avLst/>
          </a:prstGeom>
        </p:spPr>
      </p:pic>
      <p:sp>
        <p:nvSpPr>
          <p:cNvPr id="43" name="TextBox 42"/>
          <p:cNvSpPr txBox="1"/>
          <p:nvPr/>
        </p:nvSpPr>
        <p:spPr>
          <a:xfrm>
            <a:off x="3691732" y="5530976"/>
            <a:ext cx="176993" cy="179069"/>
          </a:xfrm>
          <a:prstGeom prst="rect">
            <a:avLst/>
          </a:prstGeom>
          <a:noFill/>
        </p:spPr>
        <p:txBody>
          <a:bodyPr wrap="none" lIns="0" rIns="0" tIns="0" bIns="0">
            <a:spAutoFit/>
          </a:bodyPr>
          <a:lstStyle/>
          <a:p>
            <a:r>
              <a:rPr sz="1050" b="0">
                <a:solidFill>
                  <a:srgbClr val="1F1F1F"/>
                </a:solidFill>
                <a:latin typeface="Calibri"/>
              </a:rPr>
              <a:t>in</a:t>
            </a:r>
          </a:p>
        </p:txBody>
      </p:sp>
      <p:sp>
        <p:nvSpPr>
          <p:cNvPr id="44" name="TextBox 43"/>
          <p:cNvSpPr txBox="1"/>
          <p:nvPr/>
        </p:nvSpPr>
        <p:spPr>
          <a:xfrm>
            <a:off x="806576" y="5690996"/>
            <a:ext cx="919534" cy="179069"/>
          </a:xfrm>
          <a:prstGeom prst="rect">
            <a:avLst/>
          </a:prstGeom>
          <a:noFill/>
        </p:spPr>
        <p:txBody>
          <a:bodyPr wrap="none" lIns="0" rIns="0" tIns="0" bIns="0">
            <a:spAutoFit/>
          </a:bodyPr>
          <a:lstStyle/>
          <a:p>
            <a:r>
              <a:rPr sz="1050" b="0">
                <a:solidFill>
                  <a:srgbClr val="1F1F1F"/>
                </a:solidFill>
                <a:latin typeface="Calibri"/>
              </a:rPr>
              <a:t>2026, from US$</a:t>
            </a:r>
          </a:p>
        </p:txBody>
      </p:sp>
      <p:pic>
        <p:nvPicPr>
          <p:cNvPr id="45" name="Picture 44" descr="lock.png"/>
          <p:cNvPicPr>
            <a:picLocks noChangeAspect="1"/>
          </p:cNvPicPr>
          <p:nvPr/>
        </p:nvPicPr>
        <p:blipFill>
          <a:blip r:embed="rId5"/>
          <a:stretch>
            <a:fillRect/>
          </a:stretch>
        </p:blipFill>
        <p:spPr>
          <a:xfrm>
            <a:off x="1673060" y="5681662"/>
            <a:ext cx="122849" cy="178689"/>
          </a:xfrm>
          <a:prstGeom prst="rect">
            <a:avLst/>
          </a:prstGeom>
        </p:spPr>
      </p:pic>
      <p:sp>
        <p:nvSpPr>
          <p:cNvPr id="46" name="TextBox 45"/>
          <p:cNvSpPr txBox="1"/>
          <p:nvPr/>
        </p:nvSpPr>
        <p:spPr>
          <a:xfrm>
            <a:off x="1832943" y="5690996"/>
            <a:ext cx="1927993" cy="179069"/>
          </a:xfrm>
          <a:prstGeom prst="rect">
            <a:avLst/>
          </a:prstGeom>
          <a:noFill/>
        </p:spPr>
        <p:txBody>
          <a:bodyPr wrap="none" lIns="0" rIns="0" tIns="0" bIns="0">
            <a:spAutoFit/>
          </a:bodyPr>
          <a:lstStyle/>
          <a:p>
            <a:r>
              <a:rPr sz="1050" b="0">
                <a:solidFill>
                  <a:srgbClr val="1F1F1F"/>
                </a:solidFill>
                <a:latin typeface="Calibri"/>
              </a:rPr>
              <a:t>/MT in South Asia &amp; Pacific to US$</a:t>
            </a:r>
          </a:p>
        </p:txBody>
      </p:sp>
      <p:pic>
        <p:nvPicPr>
          <p:cNvPr id="47" name="Picture 46" descr="lock.png"/>
          <p:cNvPicPr>
            <a:picLocks noChangeAspect="1"/>
          </p:cNvPicPr>
          <p:nvPr/>
        </p:nvPicPr>
        <p:blipFill>
          <a:blip r:embed="rId5"/>
          <a:stretch>
            <a:fillRect/>
          </a:stretch>
        </p:blipFill>
        <p:spPr>
          <a:xfrm>
            <a:off x="793721" y="5841682"/>
            <a:ext cx="122849" cy="178689"/>
          </a:xfrm>
          <a:prstGeom prst="rect">
            <a:avLst/>
          </a:prstGeom>
        </p:spPr>
      </p:pic>
      <p:sp>
        <p:nvSpPr>
          <p:cNvPr id="48" name="TextBox 47"/>
          <p:cNvSpPr txBox="1"/>
          <p:nvPr/>
        </p:nvSpPr>
        <p:spPr>
          <a:xfrm>
            <a:off x="953604" y="5851016"/>
            <a:ext cx="1297706" cy="179069"/>
          </a:xfrm>
          <a:prstGeom prst="rect">
            <a:avLst/>
          </a:prstGeom>
          <a:noFill/>
        </p:spPr>
        <p:txBody>
          <a:bodyPr wrap="none" lIns="0" rIns="0" tIns="0" bIns="0">
            <a:spAutoFit/>
          </a:bodyPr>
          <a:lstStyle/>
          <a:p>
            <a:r>
              <a:rPr sz="1050" b="0">
                <a:solidFill>
                  <a:srgbClr val="1F1F1F"/>
                </a:solidFill>
                <a:latin typeface="Calibri"/>
              </a:rPr>
              <a:t>/MT in North America.</a:t>
            </a:r>
          </a:p>
        </p:txBody>
      </p:sp>
      <p:sp>
        <p:nvSpPr>
          <p:cNvPr id="49" name="TextBox 48"/>
          <p:cNvSpPr txBox="1"/>
          <p:nvPr/>
        </p:nvSpPr>
        <p:spPr>
          <a:xfrm>
            <a:off x="4732401" y="5530976"/>
            <a:ext cx="3098192" cy="179069"/>
          </a:xfrm>
          <a:prstGeom prst="rect">
            <a:avLst/>
          </a:prstGeom>
          <a:noFill/>
        </p:spPr>
        <p:txBody>
          <a:bodyPr wrap="none" lIns="0" rIns="0" tIns="0" bIns="0">
            <a:spAutoFit/>
          </a:bodyPr>
          <a:lstStyle/>
          <a:p>
            <a:r>
              <a:rPr sz="1050" b="0">
                <a:solidFill>
                  <a:srgbClr val="1F1F1F"/>
                </a:solidFill>
                <a:latin typeface="Calibri"/>
              </a:rPr>
              <a:t>North America records the fastest average price growth</a:t>
            </a:r>
          </a:p>
        </p:txBody>
      </p:sp>
      <p:sp>
        <p:nvSpPr>
          <p:cNvPr id="50" name="TextBox 49"/>
          <p:cNvSpPr txBox="1"/>
          <p:nvPr/>
        </p:nvSpPr>
        <p:spPr>
          <a:xfrm>
            <a:off x="4732401" y="5690996"/>
            <a:ext cx="278829" cy="179069"/>
          </a:xfrm>
          <a:prstGeom prst="rect">
            <a:avLst/>
          </a:prstGeom>
          <a:noFill/>
        </p:spPr>
        <p:txBody>
          <a:bodyPr wrap="none" lIns="0" rIns="0" tIns="0" bIns="0">
            <a:spAutoFit/>
          </a:bodyPr>
          <a:lstStyle/>
          <a:p>
            <a:r>
              <a:rPr sz="1050" b="0">
                <a:solidFill>
                  <a:srgbClr val="1F1F1F"/>
                </a:solidFill>
                <a:latin typeface="Calibri"/>
              </a:rPr>
              <a:t>at a</a:t>
            </a:r>
          </a:p>
        </p:txBody>
      </p:sp>
      <p:pic>
        <p:nvPicPr>
          <p:cNvPr id="51" name="Picture 50" descr="lock.png"/>
          <p:cNvPicPr>
            <a:picLocks noChangeAspect="1"/>
          </p:cNvPicPr>
          <p:nvPr/>
        </p:nvPicPr>
        <p:blipFill>
          <a:blip r:embed="rId5"/>
          <a:stretch>
            <a:fillRect/>
          </a:stretch>
        </p:blipFill>
        <p:spPr>
          <a:xfrm>
            <a:off x="4958179" y="5681662"/>
            <a:ext cx="122849" cy="178689"/>
          </a:xfrm>
          <a:prstGeom prst="rect">
            <a:avLst/>
          </a:prstGeom>
        </p:spPr>
      </p:pic>
      <p:sp>
        <p:nvSpPr>
          <p:cNvPr id="52" name="TextBox 51"/>
          <p:cNvSpPr txBox="1"/>
          <p:nvPr/>
        </p:nvSpPr>
        <p:spPr>
          <a:xfrm>
            <a:off x="5118062" y="5690996"/>
            <a:ext cx="2178529" cy="179069"/>
          </a:xfrm>
          <a:prstGeom prst="rect">
            <a:avLst/>
          </a:prstGeom>
          <a:noFill/>
        </p:spPr>
        <p:txBody>
          <a:bodyPr wrap="none" lIns="0" rIns="0" tIns="0" bIns="0">
            <a:spAutoFit/>
          </a:bodyPr>
          <a:lstStyle/>
          <a:p>
            <a:r>
              <a:rPr sz="1050" b="0">
                <a:solidFill>
                  <a:srgbClr val="1F1F1F"/>
                </a:solidFill>
                <a:latin typeface="Calibri"/>
              </a:rPr>
              <a:t>CAGR between 2026 and 2036, against</a:t>
            </a:r>
          </a:p>
        </p:txBody>
      </p:sp>
      <p:pic>
        <p:nvPicPr>
          <p:cNvPr id="53" name="Picture 52" descr="lock.png"/>
          <p:cNvPicPr>
            <a:picLocks noChangeAspect="1"/>
          </p:cNvPicPr>
          <p:nvPr/>
        </p:nvPicPr>
        <p:blipFill>
          <a:blip r:embed="rId5"/>
          <a:stretch>
            <a:fillRect/>
          </a:stretch>
        </p:blipFill>
        <p:spPr>
          <a:xfrm>
            <a:off x="7243541" y="5681662"/>
            <a:ext cx="122849" cy="178689"/>
          </a:xfrm>
          <a:prstGeom prst="rect">
            <a:avLst/>
          </a:prstGeom>
        </p:spPr>
      </p:pic>
      <p:sp>
        <p:nvSpPr>
          <p:cNvPr id="54" name="TextBox 53"/>
          <p:cNvSpPr txBox="1"/>
          <p:nvPr/>
        </p:nvSpPr>
        <p:spPr>
          <a:xfrm>
            <a:off x="7403423" y="5690996"/>
            <a:ext cx="233771" cy="179069"/>
          </a:xfrm>
          <a:prstGeom prst="rect">
            <a:avLst/>
          </a:prstGeom>
          <a:noFill/>
        </p:spPr>
        <p:txBody>
          <a:bodyPr wrap="none" lIns="0" rIns="0" tIns="0" bIns="0">
            <a:spAutoFit/>
          </a:bodyPr>
          <a:lstStyle/>
          <a:p>
            <a:r>
              <a:rPr sz="1050" b="0">
                <a:solidFill>
                  <a:srgbClr val="1F1F1F"/>
                </a:solidFill>
                <a:latin typeface="Calibri"/>
              </a:rPr>
              <a:t>for</a:t>
            </a:r>
          </a:p>
        </p:txBody>
      </p:sp>
      <p:sp>
        <p:nvSpPr>
          <p:cNvPr id="55" name="TextBox 54"/>
          <p:cNvSpPr txBox="1"/>
          <p:nvPr/>
        </p:nvSpPr>
        <p:spPr>
          <a:xfrm>
            <a:off x="4732401" y="5851016"/>
            <a:ext cx="1062781" cy="179069"/>
          </a:xfrm>
          <a:prstGeom prst="rect">
            <a:avLst/>
          </a:prstGeom>
          <a:noFill/>
        </p:spPr>
        <p:txBody>
          <a:bodyPr wrap="none" lIns="0" rIns="0" tIns="0" bIns="0">
            <a:spAutoFit/>
          </a:bodyPr>
          <a:lstStyle/>
          <a:p>
            <a:r>
              <a:rPr sz="1050" b="0">
                <a:solidFill>
                  <a:srgbClr val="1F1F1F"/>
                </a:solidFill>
                <a:latin typeface="Calibri"/>
              </a:rPr>
              <a:t>Global as a whole.</a:t>
            </a:r>
          </a:p>
        </p:txBody>
      </p:sp>
      <p:sp>
        <p:nvSpPr>
          <p:cNvPr id="56" name="TextBox 55"/>
          <p:cNvSpPr txBox="1"/>
          <p:nvPr/>
        </p:nvSpPr>
        <p:spPr>
          <a:xfrm>
            <a:off x="8658225" y="5530976"/>
            <a:ext cx="3084909" cy="179069"/>
          </a:xfrm>
          <a:prstGeom prst="rect">
            <a:avLst/>
          </a:prstGeom>
          <a:noFill/>
        </p:spPr>
        <p:txBody>
          <a:bodyPr wrap="none" lIns="0" rIns="0" tIns="0" bIns="0">
            <a:spAutoFit/>
          </a:bodyPr>
          <a:lstStyle/>
          <a:p>
            <a:r>
              <a:rPr sz="1050" b="0">
                <a:solidFill>
                  <a:srgbClr val="1F1F1F"/>
                </a:solidFill>
                <a:latin typeface="Calibri"/>
              </a:rPr>
              <a:t>Europe shows the widest gap between its cheapest and</a:t>
            </a:r>
          </a:p>
        </p:txBody>
      </p:sp>
      <p:sp>
        <p:nvSpPr>
          <p:cNvPr id="57" name="TextBox 56"/>
          <p:cNvSpPr txBox="1"/>
          <p:nvPr/>
        </p:nvSpPr>
        <p:spPr>
          <a:xfrm>
            <a:off x="8658225" y="5690996"/>
            <a:ext cx="1789695" cy="179069"/>
          </a:xfrm>
          <a:prstGeom prst="rect">
            <a:avLst/>
          </a:prstGeom>
          <a:noFill/>
        </p:spPr>
        <p:txBody>
          <a:bodyPr wrap="none" lIns="0" rIns="0" tIns="0" bIns="0">
            <a:spAutoFit/>
          </a:bodyPr>
          <a:lstStyle/>
          <a:p>
            <a:r>
              <a:rPr sz="1050" b="0">
                <a:solidFill>
                  <a:srgbClr val="1F1F1F"/>
                </a:solidFill>
                <a:latin typeface="Calibri"/>
              </a:rPr>
              <a:t>most expensive product type at</a:t>
            </a:r>
          </a:p>
        </p:txBody>
      </p:sp>
      <p:pic>
        <p:nvPicPr>
          <p:cNvPr id="58" name="Picture 57" descr="lock.png"/>
          <p:cNvPicPr>
            <a:picLocks noChangeAspect="1"/>
          </p:cNvPicPr>
          <p:nvPr/>
        </p:nvPicPr>
        <p:blipFill>
          <a:blip r:embed="rId5"/>
          <a:stretch>
            <a:fillRect/>
          </a:stretch>
        </p:blipFill>
        <p:spPr>
          <a:xfrm>
            <a:off x="10394869" y="5681662"/>
            <a:ext cx="122849" cy="178689"/>
          </a:xfrm>
          <a:prstGeom prst="rect">
            <a:avLst/>
          </a:prstGeom>
        </p:spPr>
      </p:pic>
      <p:sp>
        <p:nvSpPr>
          <p:cNvPr id="59" name="TextBox 58"/>
          <p:cNvSpPr txBox="1"/>
          <p:nvPr/>
        </p:nvSpPr>
        <p:spPr>
          <a:xfrm>
            <a:off x="10554752" y="5690996"/>
            <a:ext cx="946100" cy="179069"/>
          </a:xfrm>
          <a:prstGeom prst="rect">
            <a:avLst/>
          </a:prstGeom>
          <a:noFill/>
        </p:spPr>
        <p:txBody>
          <a:bodyPr wrap="none" lIns="0" rIns="0" tIns="0" bIns="0">
            <a:spAutoFit/>
          </a:bodyPr>
          <a:lstStyle/>
          <a:p>
            <a:r>
              <a:rPr sz="1050" b="0">
                <a:solidFill>
                  <a:srgbClr val="1F1F1F"/>
                </a:solidFill>
                <a:latin typeface="Calibri"/>
              </a:rPr>
              <a:t>, so product mix</a:t>
            </a:r>
          </a:p>
        </p:txBody>
      </p:sp>
      <p:sp>
        <p:nvSpPr>
          <p:cNvPr id="60" name="TextBox 59"/>
          <p:cNvSpPr txBox="1"/>
          <p:nvPr/>
        </p:nvSpPr>
        <p:spPr>
          <a:xfrm>
            <a:off x="8658225" y="5851016"/>
            <a:ext cx="2167867" cy="179069"/>
          </a:xfrm>
          <a:prstGeom prst="rect">
            <a:avLst/>
          </a:prstGeom>
          <a:noFill/>
        </p:spPr>
        <p:txBody>
          <a:bodyPr wrap="none" lIns="0" rIns="0" tIns="0" bIns="0">
            <a:spAutoFit/>
          </a:bodyPr>
          <a:lstStyle/>
          <a:p>
            <a:r>
              <a:rPr sz="1050" b="0">
                <a:solidFill>
                  <a:srgbClr val="1F1F1F"/>
                </a:solidFill>
                <a:latin typeface="Calibri"/>
              </a:rPr>
              <a:t>shifts move its average price the most.</a:t>
            </a:r>
          </a:p>
        </p:txBody>
      </p:sp>
      <p:pic>
        <p:nvPicPr>
          <p:cNvPr id="61" name="Picture 60" descr="lock.png"/>
          <p:cNvPicPr>
            <a:picLocks noChangeAspect="1"/>
          </p:cNvPicPr>
          <p:nvPr/>
        </p:nvPicPr>
        <p:blipFill>
          <a:blip r:embed="rId5"/>
          <a:stretch>
            <a:fillRect/>
          </a:stretch>
        </p:blipFill>
        <p:spPr>
          <a:xfrm>
            <a:off x="3952821" y="3129375"/>
            <a:ext cx="482444" cy="701737"/>
          </a:xfrm>
          <a:prstGeom prst="rect">
            <a:avLst/>
          </a:prstGeom>
        </p:spPr>
      </p:pic>
      <p:sp>
        <p:nvSpPr>
          <p:cNvPr id="62" name="lockshield_13"/>
          <p:cNvSpPr/>
          <p:nvPr/>
        </p:nvSpPr>
        <p:spPr>
          <a:xfrm>
            <a:off x="347472" y="2014347"/>
            <a:ext cx="7406640" cy="3017520"/>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5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Price Positioning &amp; Key Findings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positioning of each region on a common axis with FMI's key findings on where premiums and discounts sit</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Average selling price and price range by region on a shared price scale (US$/MT).</a:t>
            </a:r>
          </a:p>
        </p:txBody>
      </p:sp>
      <p:sp>
        <p:nvSpPr>
          <p:cNvPr id="11" name="Rounded Rectangle 10"/>
          <p:cNvSpPr/>
          <p:nvPr/>
        </p:nvSpPr>
        <p:spPr>
          <a:xfrm>
            <a:off x="142875" y="1317574"/>
            <a:ext cx="769620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7505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Average Price &amp; Range by Region</a:t>
            </a:r>
          </a:p>
        </p:txBody>
      </p:sp>
      <p:cxnSp>
        <p:nvCxnSpPr>
          <p:cNvPr id="13" name="Connector 12"/>
          <p:cNvCxnSpPr/>
          <p:nvPr/>
        </p:nvCxnSpPr>
        <p:spPr>
          <a:xfrm>
            <a:off x="13620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1144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1,629</a:t>
            </a:r>
          </a:p>
        </p:txBody>
      </p:sp>
      <p:cxnSp>
        <p:nvCxnSpPr>
          <p:cNvPr id="15" name="Connector 14"/>
          <p:cNvCxnSpPr/>
          <p:nvPr/>
        </p:nvCxnSpPr>
        <p:spPr>
          <a:xfrm>
            <a:off x="261175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236410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2,858</a:t>
            </a:r>
          </a:p>
        </p:txBody>
      </p:sp>
      <p:cxnSp>
        <p:nvCxnSpPr>
          <p:cNvPr id="17" name="Connector 16"/>
          <p:cNvCxnSpPr/>
          <p:nvPr/>
        </p:nvCxnSpPr>
        <p:spPr>
          <a:xfrm>
            <a:off x="386143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61378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4,087</a:t>
            </a:r>
          </a:p>
        </p:txBody>
      </p:sp>
      <p:cxnSp>
        <p:nvCxnSpPr>
          <p:cNvPr id="19" name="Connector 18"/>
          <p:cNvCxnSpPr/>
          <p:nvPr/>
        </p:nvCxnSpPr>
        <p:spPr>
          <a:xfrm>
            <a:off x="511111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86346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5,316</a:t>
            </a:r>
          </a:p>
        </p:txBody>
      </p:sp>
      <p:cxnSp>
        <p:nvCxnSpPr>
          <p:cNvPr id="21" name="Connector 20"/>
          <p:cNvCxnSpPr/>
          <p:nvPr/>
        </p:nvCxnSpPr>
        <p:spPr>
          <a:xfrm>
            <a:off x="636079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nvSpPr>
        <p:spPr>
          <a:xfrm>
            <a:off x="611314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6,546</a:t>
            </a:r>
          </a:p>
        </p:txBody>
      </p:sp>
      <p:cxnSp>
        <p:nvCxnSpPr>
          <p:cNvPr id="23" name="Connector 22"/>
          <p:cNvCxnSpPr/>
          <p:nvPr/>
        </p:nvCxnSpPr>
        <p:spPr>
          <a:xfrm>
            <a:off x="7610475" y="1889074"/>
            <a:ext cx="0" cy="4381561"/>
          </a:xfrm>
          <a:prstGeom prst="line">
            <a:avLst/>
          </a:prstGeom>
          <a:ln w="6350">
            <a:solidFill>
              <a:srgbClr val="E3E8EC"/>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7362825" y="6289685"/>
            <a:ext cx="495300" cy="114300"/>
          </a:xfrm>
          <a:prstGeom prst="rect">
            <a:avLst/>
          </a:prstGeom>
          <a:noFill/>
        </p:spPr>
        <p:txBody>
          <a:bodyPr wrap="square" lIns="28575" rIns="28575" tIns="9525" bIns="9525">
            <a:spAutoFit/>
          </a:bodyPr>
          <a:lstStyle/>
          <a:p>
            <a:pPr algn="ctr"/>
            <a:r>
              <a:rPr sz="1100" b="0">
                <a:solidFill>
                  <a:srgbClr val="6C7A89"/>
                </a:solidFill>
                <a:latin typeface="Calibri"/>
              </a:rPr>
              <a:t>7,775</a:t>
            </a:r>
          </a:p>
        </p:txBody>
      </p:sp>
      <p:sp>
        <p:nvSpPr>
          <p:cNvPr id="25" name="TextBox 24"/>
          <p:cNvSpPr txBox="1"/>
          <p:nvPr/>
        </p:nvSpPr>
        <p:spPr>
          <a:xfrm>
            <a:off x="238125" y="220340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North America</a:t>
            </a:r>
          </a:p>
        </p:txBody>
      </p:sp>
      <p:sp>
        <p:nvSpPr>
          <p:cNvPr id="26" name="Rectangle 25"/>
          <p:cNvSpPr/>
          <p:nvPr/>
        </p:nvSpPr>
        <p:spPr>
          <a:xfrm>
            <a:off x="4911430" y="2100912"/>
            <a:ext cx="201562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5857330" y="222721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38125" y="292731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Latin America</a:t>
            </a:r>
          </a:p>
        </p:txBody>
      </p:sp>
      <p:sp>
        <p:nvSpPr>
          <p:cNvPr id="29" name="Rectangle 28"/>
          <p:cNvSpPr/>
          <p:nvPr/>
        </p:nvSpPr>
        <p:spPr>
          <a:xfrm>
            <a:off x="3246171" y="2824823"/>
            <a:ext cx="137077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3869647" y="295112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51224"/>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Europe</a:t>
            </a:r>
          </a:p>
        </p:txBody>
      </p:sp>
      <p:sp>
        <p:nvSpPr>
          <p:cNvPr id="32" name="Rectangle 31"/>
          <p:cNvSpPr/>
          <p:nvPr/>
        </p:nvSpPr>
        <p:spPr>
          <a:xfrm>
            <a:off x="4350780" y="3548733"/>
            <a:ext cx="1787339"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5182537" y="367503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238125" y="437513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East Asia</a:t>
            </a:r>
          </a:p>
        </p:txBody>
      </p:sp>
      <p:sp>
        <p:nvSpPr>
          <p:cNvPr id="35" name="Rectangle 34"/>
          <p:cNvSpPr/>
          <p:nvPr/>
        </p:nvSpPr>
        <p:spPr>
          <a:xfrm>
            <a:off x="2372548" y="4272643"/>
            <a:ext cx="1047328"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834300" y="439894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38125" y="509904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South Asia &amp; Pacific</a:t>
            </a:r>
          </a:p>
        </p:txBody>
      </p:sp>
      <p:sp>
        <p:nvSpPr>
          <p:cNvPr id="38" name="Rectangle 37"/>
          <p:cNvSpPr/>
          <p:nvPr/>
        </p:nvSpPr>
        <p:spPr>
          <a:xfrm>
            <a:off x="2045494" y="4996553"/>
            <a:ext cx="891887"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2429525" y="5122857"/>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38125" y="5822955"/>
            <a:ext cx="1066800" cy="171450"/>
          </a:xfrm>
          <a:prstGeom prst="rect">
            <a:avLst/>
          </a:prstGeom>
          <a:noFill/>
        </p:spPr>
        <p:txBody>
          <a:bodyPr wrap="square" lIns="28575" rIns="28575" tIns="9525" bIns="9525" anchor="ctr">
            <a:spAutoFit/>
          </a:bodyPr>
          <a:lstStyle/>
          <a:p>
            <a:pPr algn="l"/>
            <a:r>
              <a:rPr sz="1100" b="1">
                <a:solidFill>
                  <a:srgbClr val="0B2E4A"/>
                </a:solidFill>
                <a:latin typeface="Calibri"/>
              </a:rPr>
              <a:t>Middle East &amp; Africa</a:t>
            </a:r>
          </a:p>
        </p:txBody>
      </p:sp>
      <p:sp>
        <p:nvSpPr>
          <p:cNvPr id="41" name="Rectangle 40"/>
          <p:cNvSpPr/>
          <p:nvPr/>
        </p:nvSpPr>
        <p:spPr>
          <a:xfrm>
            <a:off x="3205970" y="5720463"/>
            <a:ext cx="1360022" cy="376433"/>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3824069" y="5846768"/>
            <a:ext cx="123825" cy="123825"/>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1362075" y="1727149"/>
            <a:ext cx="114300" cy="114300"/>
          </a:xfrm>
          <a:prstGeom prst="ellipse">
            <a:avLst/>
          </a:prstGeom>
          <a:solidFill>
            <a:srgbClr val="F2994A"/>
          </a:solidFill>
          <a:ln w="12700">
            <a:solidFill>
              <a:srgbClr val="B9701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495425" y="1717624"/>
            <a:ext cx="838200" cy="133350"/>
          </a:xfrm>
          <a:prstGeom prst="rect">
            <a:avLst/>
          </a:prstGeom>
          <a:noFill/>
        </p:spPr>
        <p:txBody>
          <a:bodyPr wrap="square" lIns="28575" rIns="28575" tIns="9525" bIns="9525">
            <a:spAutoFit/>
          </a:bodyPr>
          <a:lstStyle/>
          <a:p>
            <a:pPr algn="l"/>
            <a:r>
              <a:rPr sz="1100" b="0">
                <a:solidFill>
                  <a:srgbClr val="2E2E2E"/>
                </a:solidFill>
                <a:latin typeface="Calibri"/>
              </a:rPr>
              <a:t>Average Price</a:t>
            </a:r>
          </a:p>
        </p:txBody>
      </p:sp>
      <p:sp>
        <p:nvSpPr>
          <p:cNvPr id="45" name="Rectangle 44"/>
          <p:cNvSpPr/>
          <p:nvPr/>
        </p:nvSpPr>
        <p:spPr>
          <a:xfrm>
            <a:off x="2390775" y="1736674"/>
            <a:ext cx="190500" cy="114300"/>
          </a:xfrm>
          <a:prstGeom prst="rect">
            <a:avLst/>
          </a:prstGeom>
          <a:solidFill>
            <a:srgbClr val="CFE7F5"/>
          </a:solidFill>
          <a:ln w="12700">
            <a:solidFill>
              <a:srgbClr val="7FBED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619375" y="1717624"/>
            <a:ext cx="800100" cy="133350"/>
          </a:xfrm>
          <a:prstGeom prst="rect">
            <a:avLst/>
          </a:prstGeom>
          <a:noFill/>
        </p:spPr>
        <p:txBody>
          <a:bodyPr wrap="square" lIns="28575" rIns="28575" tIns="9525" bIns="9525">
            <a:spAutoFit/>
          </a:bodyPr>
          <a:lstStyle/>
          <a:p>
            <a:pPr algn="l"/>
            <a:r>
              <a:rPr sz="1100" b="0">
                <a:solidFill>
                  <a:srgbClr val="2E2E2E"/>
                </a:solidFill>
                <a:latin typeface="Calibri"/>
              </a:rPr>
              <a:t>Price Range</a:t>
            </a:r>
          </a:p>
        </p:txBody>
      </p:sp>
      <p:sp>
        <p:nvSpPr>
          <p:cNvPr id="47" name="Rounded Rectangle 46"/>
          <p:cNvSpPr/>
          <p:nvPr/>
        </p:nvSpPr>
        <p:spPr>
          <a:xfrm>
            <a:off x="7915275" y="1317574"/>
            <a:ext cx="413385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Key Findings</a:t>
            </a:r>
          </a:p>
        </p:txBody>
      </p:sp>
      <p:sp>
        <p:nvSpPr>
          <p:cNvPr id="49" name="Rectangle 48"/>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8048625" y="1727149"/>
            <a:ext cx="3867150" cy="3438770"/>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51" name="Rounded Rectangle 50"/>
          <p:cNvSpPr/>
          <p:nvPr/>
        </p:nvSpPr>
        <p:spPr>
          <a:xfrm>
            <a:off x="7915275" y="5351641"/>
            <a:ext cx="4133850" cy="1204744"/>
          </a:xfrm>
          <a:prstGeom prst="roundRect">
            <a:avLst>
              <a:gd name="adj" fmla="val 632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the above information is indicative in nature and does not constitute any form of analysis.</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8048625" y="1736673"/>
            <a:ext cx="3600226" cy="194310"/>
          </a:xfrm>
          <a:prstGeom prst="rect">
            <a:avLst/>
          </a:prstGeom>
          <a:noFill/>
        </p:spPr>
        <p:txBody>
          <a:bodyPr wrap="none" lIns="0" rIns="0" tIns="0" bIns="0">
            <a:spAutoFit/>
          </a:bodyPr>
          <a:lstStyle/>
          <a:p>
            <a:r>
              <a:rPr sz="1150" b="0">
                <a:solidFill>
                  <a:srgbClr val="2E2E2E"/>
                </a:solidFill>
                <a:latin typeface="Calibri"/>
              </a:rPr>
              <a:t>Conventional segment is expected to command the highest</a:t>
            </a:r>
          </a:p>
        </p:txBody>
      </p:sp>
      <p:sp>
        <p:nvSpPr>
          <p:cNvPr id="54" name="TextBox 53"/>
          <p:cNvSpPr txBox="1"/>
          <p:nvPr/>
        </p:nvSpPr>
        <p:spPr>
          <a:xfrm>
            <a:off x="8048625" y="1911934"/>
            <a:ext cx="1299083" cy="194310"/>
          </a:xfrm>
          <a:prstGeom prst="rect">
            <a:avLst/>
          </a:prstGeom>
          <a:noFill/>
        </p:spPr>
        <p:txBody>
          <a:bodyPr wrap="none" lIns="0" rIns="0" tIns="0" bIns="0">
            <a:spAutoFit/>
          </a:bodyPr>
          <a:lstStyle/>
          <a:p>
            <a:r>
              <a:rPr sz="1150" b="0">
                <a:solidFill>
                  <a:srgbClr val="2E2E2E"/>
                </a:solidFill>
                <a:latin typeface="Calibri"/>
              </a:rPr>
              <a:t>average price of US$</a:t>
            </a:r>
          </a:p>
        </p:txBody>
      </p:sp>
      <p:pic>
        <p:nvPicPr>
          <p:cNvPr id="55" name="Picture 54" descr="lock.png"/>
          <p:cNvPicPr>
            <a:picLocks noChangeAspect="1"/>
          </p:cNvPicPr>
          <p:nvPr/>
        </p:nvPicPr>
        <p:blipFill>
          <a:blip r:embed="rId4"/>
          <a:stretch>
            <a:fillRect/>
          </a:stretch>
        </p:blipFill>
        <p:spPr>
          <a:xfrm>
            <a:off x="9296862" y="1901710"/>
            <a:ext cx="134549" cy="195707"/>
          </a:xfrm>
          <a:prstGeom prst="rect">
            <a:avLst/>
          </a:prstGeom>
        </p:spPr>
      </p:pic>
      <p:sp>
        <p:nvSpPr>
          <p:cNvPr id="56" name="TextBox 55"/>
          <p:cNvSpPr txBox="1"/>
          <p:nvPr/>
        </p:nvSpPr>
        <p:spPr>
          <a:xfrm>
            <a:off x="9471971" y="1911934"/>
            <a:ext cx="2273185" cy="194310"/>
          </a:xfrm>
          <a:prstGeom prst="rect">
            <a:avLst/>
          </a:prstGeom>
          <a:noFill/>
        </p:spPr>
        <p:txBody>
          <a:bodyPr wrap="none" lIns="0" rIns="0" tIns="0" bIns="0">
            <a:spAutoFit/>
          </a:bodyPr>
          <a:lstStyle/>
          <a:p>
            <a:r>
              <a:rPr sz="1150" b="0">
                <a:solidFill>
                  <a:srgbClr val="2E2E2E"/>
                </a:solidFill>
                <a:latin typeface="Calibri"/>
              </a:rPr>
              <a:t>per MT in 2036. Average selling price</a:t>
            </a:r>
          </a:p>
        </p:txBody>
      </p:sp>
      <p:sp>
        <p:nvSpPr>
          <p:cNvPr id="57" name="TextBox 56"/>
          <p:cNvSpPr txBox="1"/>
          <p:nvPr/>
        </p:nvSpPr>
        <p:spPr>
          <a:xfrm>
            <a:off x="8048625" y="2087194"/>
            <a:ext cx="1849623" cy="194310"/>
          </a:xfrm>
          <a:prstGeom prst="rect">
            <a:avLst/>
          </a:prstGeom>
          <a:noFill/>
        </p:spPr>
        <p:txBody>
          <a:bodyPr wrap="none" lIns="0" rIns="0" tIns="0" bIns="0">
            <a:spAutoFit/>
          </a:bodyPr>
          <a:lstStyle/>
          <a:p>
            <a:r>
              <a:rPr sz="1150" b="0">
                <a:solidFill>
                  <a:srgbClr val="2E2E2E"/>
                </a:solidFill>
                <a:latin typeface="Calibri"/>
              </a:rPr>
              <a:t>of matcha is estimated at US$</a:t>
            </a:r>
          </a:p>
        </p:txBody>
      </p:sp>
      <p:pic>
        <p:nvPicPr>
          <p:cNvPr id="58" name="Picture 57" descr="lock.png"/>
          <p:cNvPicPr>
            <a:picLocks noChangeAspect="1"/>
          </p:cNvPicPr>
          <p:nvPr/>
        </p:nvPicPr>
        <p:blipFill>
          <a:blip r:embed="rId4"/>
          <a:stretch>
            <a:fillRect/>
          </a:stretch>
        </p:blipFill>
        <p:spPr>
          <a:xfrm>
            <a:off x="9847402" y="2076970"/>
            <a:ext cx="134549" cy="195707"/>
          </a:xfrm>
          <a:prstGeom prst="rect">
            <a:avLst/>
          </a:prstGeom>
        </p:spPr>
      </p:pic>
      <p:sp>
        <p:nvSpPr>
          <p:cNvPr id="59" name="TextBox 58"/>
          <p:cNvSpPr txBox="1"/>
          <p:nvPr/>
        </p:nvSpPr>
        <p:spPr>
          <a:xfrm>
            <a:off x="10022511" y="2087194"/>
            <a:ext cx="1359557" cy="194310"/>
          </a:xfrm>
          <a:prstGeom prst="rect">
            <a:avLst/>
          </a:prstGeom>
          <a:noFill/>
        </p:spPr>
        <p:txBody>
          <a:bodyPr wrap="none" lIns="0" rIns="0" tIns="0" bIns="0">
            <a:spAutoFit/>
          </a:bodyPr>
          <a:lstStyle/>
          <a:p>
            <a:r>
              <a:rPr sz="1150" b="0">
                <a:solidFill>
                  <a:srgbClr val="2E2E2E"/>
                </a:solidFill>
                <a:latin typeface="Calibri"/>
              </a:rPr>
              <a:t>per MT in 2025 and is</a:t>
            </a:r>
          </a:p>
        </p:txBody>
      </p:sp>
      <p:sp>
        <p:nvSpPr>
          <p:cNvPr id="60" name="TextBox 59"/>
          <p:cNvSpPr txBox="1"/>
          <p:nvPr/>
        </p:nvSpPr>
        <p:spPr>
          <a:xfrm>
            <a:off x="8048625" y="2262454"/>
            <a:ext cx="1764617" cy="194310"/>
          </a:xfrm>
          <a:prstGeom prst="rect">
            <a:avLst/>
          </a:prstGeom>
          <a:noFill/>
        </p:spPr>
        <p:txBody>
          <a:bodyPr wrap="none" lIns="0" rIns="0" tIns="0" bIns="0">
            <a:spAutoFit/>
          </a:bodyPr>
          <a:lstStyle/>
          <a:p>
            <a:r>
              <a:rPr sz="1150" b="0">
                <a:solidFill>
                  <a:srgbClr val="2E2E2E"/>
                </a:solidFill>
                <a:latin typeface="Calibri"/>
              </a:rPr>
              <a:t>projected to increase to US$</a:t>
            </a:r>
          </a:p>
        </p:txBody>
      </p:sp>
      <p:pic>
        <p:nvPicPr>
          <p:cNvPr id="61" name="Picture 60" descr="lock.png"/>
          <p:cNvPicPr>
            <a:picLocks noChangeAspect="1"/>
          </p:cNvPicPr>
          <p:nvPr/>
        </p:nvPicPr>
        <p:blipFill>
          <a:blip r:embed="rId4"/>
          <a:stretch>
            <a:fillRect/>
          </a:stretch>
        </p:blipFill>
        <p:spPr>
          <a:xfrm>
            <a:off x="9762396" y="2252230"/>
            <a:ext cx="134549" cy="195707"/>
          </a:xfrm>
          <a:prstGeom prst="rect">
            <a:avLst/>
          </a:prstGeom>
        </p:spPr>
      </p:pic>
      <p:sp>
        <p:nvSpPr>
          <p:cNvPr id="62" name="TextBox 61"/>
          <p:cNvSpPr txBox="1"/>
          <p:nvPr/>
        </p:nvSpPr>
        <p:spPr>
          <a:xfrm>
            <a:off x="9937506" y="2262454"/>
            <a:ext cx="1048630" cy="194310"/>
          </a:xfrm>
          <a:prstGeom prst="rect">
            <a:avLst/>
          </a:prstGeom>
          <a:noFill/>
        </p:spPr>
        <p:txBody>
          <a:bodyPr wrap="none" lIns="0" rIns="0" tIns="0" bIns="0">
            <a:spAutoFit/>
          </a:bodyPr>
          <a:lstStyle/>
          <a:p>
            <a:r>
              <a:rPr sz="1150" b="0">
                <a:solidFill>
                  <a:srgbClr val="2E2E2E"/>
                </a:solidFill>
                <a:latin typeface="Calibri"/>
              </a:rPr>
              <a:t>per MT by 2036.</a:t>
            </a:r>
          </a:p>
        </p:txBody>
      </p:sp>
      <p:sp>
        <p:nvSpPr>
          <p:cNvPr id="63" name="TextBox 62"/>
          <p:cNvSpPr txBox="1"/>
          <p:nvPr/>
        </p:nvSpPr>
        <p:spPr>
          <a:xfrm>
            <a:off x="8048625" y="2490292"/>
            <a:ext cx="3783074" cy="194310"/>
          </a:xfrm>
          <a:prstGeom prst="rect">
            <a:avLst/>
          </a:prstGeom>
          <a:noFill/>
        </p:spPr>
        <p:txBody>
          <a:bodyPr wrap="none" lIns="0" rIns="0" tIns="0" bIns="0">
            <a:spAutoFit/>
          </a:bodyPr>
          <a:lstStyle/>
          <a:p>
            <a:r>
              <a:rPr sz="1150" b="0">
                <a:solidFill>
                  <a:srgbClr val="2E2E2E"/>
                </a:solidFill>
                <a:latin typeface="Calibri"/>
              </a:rPr>
              <a:t>North America is the highest-priced region, while South Asia &amp;</a:t>
            </a:r>
          </a:p>
        </p:txBody>
      </p:sp>
      <p:sp>
        <p:nvSpPr>
          <p:cNvPr id="64" name="TextBox 63"/>
          <p:cNvSpPr txBox="1"/>
          <p:nvPr/>
        </p:nvSpPr>
        <p:spPr>
          <a:xfrm>
            <a:off x="8048625" y="2665551"/>
            <a:ext cx="3787353" cy="194310"/>
          </a:xfrm>
          <a:prstGeom prst="rect">
            <a:avLst/>
          </a:prstGeom>
          <a:noFill/>
        </p:spPr>
        <p:txBody>
          <a:bodyPr wrap="none" lIns="0" rIns="0" tIns="0" bIns="0">
            <a:spAutoFit/>
          </a:bodyPr>
          <a:lstStyle/>
          <a:p>
            <a:r>
              <a:rPr sz="1150" b="0">
                <a:solidFill>
                  <a:srgbClr val="2E2E2E"/>
                </a:solidFill>
                <a:latin typeface="Calibri"/>
              </a:rPr>
              <a:t>Pacific is the most price-competitive market. The orange dot is</a:t>
            </a:r>
          </a:p>
        </p:txBody>
      </p:sp>
      <p:sp>
        <p:nvSpPr>
          <p:cNvPr id="65" name="TextBox 64"/>
          <p:cNvSpPr txBox="1"/>
          <p:nvPr/>
        </p:nvSpPr>
        <p:spPr>
          <a:xfrm>
            <a:off x="8048625" y="2840811"/>
            <a:ext cx="3517503" cy="194310"/>
          </a:xfrm>
          <a:prstGeom prst="rect">
            <a:avLst/>
          </a:prstGeom>
          <a:noFill/>
        </p:spPr>
        <p:txBody>
          <a:bodyPr wrap="none" lIns="0" rIns="0" tIns="0" bIns="0">
            <a:spAutoFit/>
          </a:bodyPr>
          <a:lstStyle/>
          <a:p>
            <a:r>
              <a:rPr sz="1150" b="0">
                <a:solidFill>
                  <a:srgbClr val="2E2E2E"/>
                </a:solidFill>
                <a:latin typeface="Calibri"/>
              </a:rPr>
              <a:t>each region's average selling price; the blue band is its full</a:t>
            </a:r>
          </a:p>
        </p:txBody>
      </p:sp>
      <p:sp>
        <p:nvSpPr>
          <p:cNvPr id="66" name="TextBox 65"/>
          <p:cNvSpPr txBox="1"/>
          <p:nvPr/>
        </p:nvSpPr>
        <p:spPr>
          <a:xfrm>
            <a:off x="8048625" y="3016071"/>
            <a:ext cx="3318395" cy="194310"/>
          </a:xfrm>
          <a:prstGeom prst="rect">
            <a:avLst/>
          </a:prstGeom>
          <a:noFill/>
        </p:spPr>
        <p:txBody>
          <a:bodyPr wrap="none" lIns="0" rIns="0" tIns="0" bIns="0">
            <a:spAutoFit/>
          </a:bodyPr>
          <a:lstStyle/>
          <a:p>
            <a:r>
              <a:rPr sz="1150" b="0">
                <a:solidFill>
                  <a:srgbClr val="2E2E2E"/>
                </a:solidFill>
                <a:latin typeface="Calibri"/>
              </a:rPr>
              <a:t>low-to-high price range, all derived as Value ÷ Volume.</a:t>
            </a:r>
          </a:p>
        </p:txBody>
      </p:sp>
      <p:sp>
        <p:nvSpPr>
          <p:cNvPr id="67" name="TextBox 66"/>
          <p:cNvSpPr txBox="1"/>
          <p:nvPr/>
        </p:nvSpPr>
        <p:spPr>
          <a:xfrm>
            <a:off x="8048625" y="3243909"/>
            <a:ext cx="3691793" cy="194310"/>
          </a:xfrm>
          <a:prstGeom prst="rect">
            <a:avLst/>
          </a:prstGeom>
          <a:noFill/>
        </p:spPr>
        <p:txBody>
          <a:bodyPr wrap="none" lIns="0" rIns="0" tIns="0" bIns="0">
            <a:spAutoFit/>
          </a:bodyPr>
          <a:lstStyle/>
          <a:p>
            <a:r>
              <a:rPr sz="1150" b="0">
                <a:solidFill>
                  <a:srgbClr val="2E2E2E"/>
                </a:solidFill>
                <a:latin typeface="Calibri"/>
              </a:rPr>
              <a:t>Narrow bands point to commoditised, price-led competition;</a:t>
            </a:r>
          </a:p>
        </p:txBody>
      </p:sp>
      <p:sp>
        <p:nvSpPr>
          <p:cNvPr id="68" name="TextBox 67"/>
          <p:cNvSpPr txBox="1"/>
          <p:nvPr/>
        </p:nvSpPr>
        <p:spPr>
          <a:xfrm>
            <a:off x="8048625" y="3419169"/>
            <a:ext cx="3812170" cy="194310"/>
          </a:xfrm>
          <a:prstGeom prst="rect">
            <a:avLst/>
          </a:prstGeom>
          <a:noFill/>
        </p:spPr>
        <p:txBody>
          <a:bodyPr wrap="none" lIns="0" rIns="0" tIns="0" bIns="0">
            <a:spAutoFit/>
          </a:bodyPr>
          <a:lstStyle/>
          <a:p>
            <a:r>
              <a:rPr sz="1150" b="0">
                <a:solidFill>
                  <a:srgbClr val="2E2E2E"/>
                </a:solidFill>
                <a:latin typeface="Calibri"/>
              </a:rPr>
              <a:t>wider bands flag premiumisation headroom to trade buyers up</a:t>
            </a:r>
          </a:p>
        </p:txBody>
      </p:sp>
      <p:sp>
        <p:nvSpPr>
          <p:cNvPr id="69" name="TextBox 68"/>
          <p:cNvSpPr txBox="1"/>
          <p:nvPr/>
        </p:nvSpPr>
        <p:spPr>
          <a:xfrm>
            <a:off x="8048625" y="3594429"/>
            <a:ext cx="558279" cy="194310"/>
          </a:xfrm>
          <a:prstGeom prst="rect">
            <a:avLst/>
          </a:prstGeom>
          <a:noFill/>
        </p:spPr>
        <p:txBody>
          <a:bodyPr wrap="none" lIns="0" rIns="0" tIns="0" bIns="0">
            <a:spAutoFit/>
          </a:bodyPr>
          <a:lstStyle/>
          <a:p>
            <a:r>
              <a:rPr sz="1150" b="0">
                <a:solidFill>
                  <a:srgbClr val="2E2E2E"/>
                </a:solidFill>
                <a:latin typeface="Calibri"/>
              </a:rPr>
              <a:t>the mix.</a:t>
            </a:r>
          </a:p>
        </p:txBody>
      </p:sp>
    </p:spTree>
  </p:cSld>
  <p:clrMapOvr>
    <a:masterClrMapping/>
  </p:clrMapOvr>
</p:sld>
</file>

<file path=ppt/slides/slide25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Key Pricing Drivers Influencing Matcha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input costs, market conditions and competitive forces shaping pricing strategies and profitability</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Analysis of input costs, market conditions, and competitive forces shaping pricing strategies and profitability across the value chain</a:t>
            </a:r>
          </a:p>
        </p:txBody>
      </p:sp>
      <p:sp>
        <p:nvSpPr>
          <p:cNvPr id="11" name="Rounded Rectangle 10"/>
          <p:cNvSpPr/>
          <p:nvPr/>
        </p:nvSpPr>
        <p:spPr>
          <a:xfrm>
            <a:off x="142875" y="1354081"/>
            <a:ext cx="73152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71247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Impacting Factors</a:t>
            </a:r>
          </a:p>
        </p:txBody>
      </p:sp>
      <p:sp>
        <p:nvSpPr>
          <p:cNvPr id="13" name="Freeform 12"/>
          <p:cNvSpPr/>
          <p:nvPr/>
        </p:nvSpPr>
        <p:spPr>
          <a:xfrm>
            <a:off x="3438525" y="3705225"/>
            <a:ext cx="723900" cy="752475"/>
          </a:xfrm>
          <a:custGeom>
            <a:avLst/>
            <a:gdLst/>
            <a:ahLst/>
            <a:cxnLst/>
            <a:rect l="l" t="t" r="r" b="b"/>
            <a:pathLst>
              <a:path w="76" h="79">
                <a:moveTo>
                  <a:pt x="38" y="0"/>
                </a:moveTo>
                <a:lnTo>
                  <a:pt x="61" y="7"/>
                </a:lnTo>
                <a:lnTo>
                  <a:pt x="76" y="27"/>
                </a:lnTo>
                <a:lnTo>
                  <a:pt x="76" y="51"/>
                </a:lnTo>
                <a:lnTo>
                  <a:pt x="61" y="71"/>
                </a:lnTo>
                <a:lnTo>
                  <a:pt x="38" y="79"/>
                </a:lnTo>
                <a:lnTo>
                  <a:pt x="15" y="71"/>
                </a:lnTo>
                <a:lnTo>
                  <a:pt x="0" y="51"/>
                </a:lnTo>
                <a:lnTo>
                  <a:pt x="0" y="27"/>
                </a:lnTo>
                <a:lnTo>
                  <a:pt x="15" y="7"/>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Freeform 13"/>
          <p:cNvSpPr/>
          <p:nvPr/>
        </p:nvSpPr>
        <p:spPr>
          <a:xfrm>
            <a:off x="3086100" y="3324225"/>
            <a:ext cx="1428750" cy="1504950"/>
          </a:xfrm>
          <a:custGeom>
            <a:avLst/>
            <a:gdLst/>
            <a:ahLst/>
            <a:cxnLst/>
            <a:rect l="l" t="t" r="r" b="b"/>
            <a:pathLst>
              <a:path w="150" h="158">
                <a:moveTo>
                  <a:pt x="75" y="0"/>
                </a:moveTo>
                <a:lnTo>
                  <a:pt x="122" y="15"/>
                </a:lnTo>
                <a:lnTo>
                  <a:pt x="150" y="55"/>
                </a:lnTo>
                <a:lnTo>
                  <a:pt x="150" y="104"/>
                </a:lnTo>
                <a:lnTo>
                  <a:pt x="122" y="143"/>
                </a:lnTo>
                <a:lnTo>
                  <a:pt x="75" y="158"/>
                </a:lnTo>
                <a:lnTo>
                  <a:pt x="28" y="143"/>
                </a:lnTo>
                <a:lnTo>
                  <a:pt x="0" y="104"/>
                </a:lnTo>
                <a:lnTo>
                  <a:pt x="0" y="55"/>
                </a:lnTo>
                <a:lnTo>
                  <a:pt x="28" y="15"/>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Freeform 14"/>
          <p:cNvSpPr/>
          <p:nvPr/>
        </p:nvSpPr>
        <p:spPr>
          <a:xfrm>
            <a:off x="2724150" y="2943225"/>
            <a:ext cx="2152650" cy="2266950"/>
          </a:xfrm>
          <a:custGeom>
            <a:avLst/>
            <a:gdLst/>
            <a:ahLst/>
            <a:cxnLst/>
            <a:rect l="l" t="t" r="r" b="b"/>
            <a:pathLst>
              <a:path w="226" h="238">
                <a:moveTo>
                  <a:pt x="113" y="0"/>
                </a:moveTo>
                <a:lnTo>
                  <a:pt x="183" y="23"/>
                </a:lnTo>
                <a:lnTo>
                  <a:pt x="226" y="82"/>
                </a:lnTo>
                <a:lnTo>
                  <a:pt x="226" y="156"/>
                </a:lnTo>
                <a:lnTo>
                  <a:pt x="183" y="215"/>
                </a:lnTo>
                <a:lnTo>
                  <a:pt x="113" y="238"/>
                </a:lnTo>
                <a:lnTo>
                  <a:pt x="43" y="215"/>
                </a:lnTo>
                <a:lnTo>
                  <a:pt x="0" y="156"/>
                </a:lnTo>
                <a:lnTo>
                  <a:pt x="0" y="82"/>
                </a:lnTo>
                <a:lnTo>
                  <a:pt x="43" y="23"/>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Freeform 15"/>
          <p:cNvSpPr/>
          <p:nvPr/>
        </p:nvSpPr>
        <p:spPr>
          <a:xfrm>
            <a:off x="2362200" y="2571750"/>
            <a:ext cx="2876550" cy="3019425"/>
          </a:xfrm>
          <a:custGeom>
            <a:avLst/>
            <a:gdLst/>
            <a:ahLst/>
            <a:cxnLst/>
            <a:rect l="l" t="t" r="r" b="b"/>
            <a:pathLst>
              <a:path w="302" h="317">
                <a:moveTo>
                  <a:pt x="151" y="0"/>
                </a:moveTo>
                <a:lnTo>
                  <a:pt x="244" y="30"/>
                </a:lnTo>
                <a:lnTo>
                  <a:pt x="302" y="109"/>
                </a:lnTo>
                <a:lnTo>
                  <a:pt x="302" y="207"/>
                </a:lnTo>
                <a:lnTo>
                  <a:pt x="244" y="286"/>
                </a:lnTo>
                <a:lnTo>
                  <a:pt x="151" y="317"/>
                </a:lnTo>
                <a:lnTo>
                  <a:pt x="58" y="286"/>
                </a:lnTo>
                <a:lnTo>
                  <a:pt x="0" y="207"/>
                </a:lnTo>
                <a:lnTo>
                  <a:pt x="0" y="109"/>
                </a:lnTo>
                <a:lnTo>
                  <a:pt x="58" y="30"/>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Freeform 16"/>
          <p:cNvSpPr/>
          <p:nvPr/>
        </p:nvSpPr>
        <p:spPr>
          <a:xfrm>
            <a:off x="2009775" y="2190750"/>
            <a:ext cx="3581400" cy="3771900"/>
          </a:xfrm>
          <a:custGeom>
            <a:avLst/>
            <a:gdLst/>
            <a:ahLst/>
            <a:cxnLst/>
            <a:rect l="l" t="t" r="r" b="b"/>
            <a:pathLst>
              <a:path w="376" h="396">
                <a:moveTo>
                  <a:pt x="188" y="0"/>
                </a:moveTo>
                <a:lnTo>
                  <a:pt x="304" y="38"/>
                </a:lnTo>
                <a:lnTo>
                  <a:pt x="376" y="137"/>
                </a:lnTo>
                <a:lnTo>
                  <a:pt x="376" y="259"/>
                </a:lnTo>
                <a:lnTo>
                  <a:pt x="304" y="358"/>
                </a:lnTo>
                <a:lnTo>
                  <a:pt x="188" y="396"/>
                </a:lnTo>
                <a:lnTo>
                  <a:pt x="72" y="358"/>
                </a:lnTo>
                <a:lnTo>
                  <a:pt x="0" y="259"/>
                </a:lnTo>
                <a:lnTo>
                  <a:pt x="0" y="137"/>
                </a:lnTo>
                <a:lnTo>
                  <a:pt x="72" y="38"/>
                </a:lnTo>
                <a:close/>
              </a:path>
            </a:pathLst>
          </a:custGeom>
          <a:noFill/>
          <a:ln w="9525">
            <a:solidFill>
              <a:srgbClr val="D7E0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8" name="Connector 17"/>
          <p:cNvCxnSpPr/>
          <p:nvPr/>
        </p:nvCxnSpPr>
        <p:spPr>
          <a:xfrm flipV="1">
            <a:off x="3800475" y="2192281"/>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flipV="1">
            <a:off x="3800475"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flipV="1">
            <a:off x="3800475"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3800475"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3800475"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3800475" y="4078660"/>
            <a:ext cx="0" cy="1886379"/>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a:off x="2691689" y="4078660"/>
            <a:ext cx="1108786" cy="152611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006422" y="4078660"/>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flipV="1">
            <a:off x="2006422" y="3495737"/>
            <a:ext cx="1794053" cy="582923"/>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flipH="1" flipV="1">
            <a:off x="2691689" y="2552548"/>
            <a:ext cx="1108786" cy="1526112"/>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2638425" y="2381250"/>
            <a:ext cx="2505075" cy="3209925"/>
          </a:xfrm>
          <a:custGeom>
            <a:avLst/>
            <a:gdLst/>
            <a:ahLst/>
            <a:cxnLst/>
            <a:rect l="l" t="t" r="r" b="b"/>
            <a:pathLst>
              <a:path w="263" h="337">
                <a:moveTo>
                  <a:pt x="122" y="0"/>
                </a:moveTo>
                <a:lnTo>
                  <a:pt x="203" y="66"/>
                </a:lnTo>
                <a:lnTo>
                  <a:pt x="244" y="138"/>
                </a:lnTo>
                <a:lnTo>
                  <a:pt x="263" y="224"/>
                </a:lnTo>
                <a:lnTo>
                  <a:pt x="221" y="314"/>
                </a:lnTo>
                <a:lnTo>
                  <a:pt x="122" y="337"/>
                </a:lnTo>
                <a:lnTo>
                  <a:pt x="52" y="274"/>
                </a:lnTo>
                <a:lnTo>
                  <a:pt x="18" y="212"/>
                </a:lnTo>
                <a:lnTo>
                  <a:pt x="0" y="138"/>
                </a:lnTo>
                <a:lnTo>
                  <a:pt x="70" y="106"/>
                </a:lnTo>
                <a:close/>
              </a:path>
            </a:pathLst>
          </a:custGeom>
          <a:solidFill>
            <a:srgbClr val="2B5F8E">
              <a:alpha val="62000"/>
            </a:srgbClr>
          </a:solidFill>
          <a:ln w="27940">
            <a:solidFill>
              <a:srgbClr val="2B5F8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767138" y="234758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4543287" y="2977044"/>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4933272"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5112677" y="4482515"/>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4709605" y="5342518"/>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3767138" y="5554426"/>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3101866" y="496099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2780408" y="4365930"/>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2601003" y="3666423"/>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3268184" y="3358572"/>
            <a:ext cx="66675" cy="66675"/>
          </a:xfrm>
          <a:prstGeom prst="ellipse">
            <a:avLst/>
          </a:prstGeom>
          <a:solidFill>
            <a:srgbClr val="2B5F8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3829050" y="3634709"/>
            <a:ext cx="285750" cy="123825"/>
          </a:xfrm>
          <a:prstGeom prst="rect">
            <a:avLst/>
          </a:prstGeom>
          <a:noFill/>
        </p:spPr>
        <p:txBody>
          <a:bodyPr wrap="none" lIns="0" rIns="0" tIns="0" bIns="0" anchor="ctr">
            <a:spAutoFit/>
          </a:bodyPr>
          <a:lstStyle/>
          <a:p>
            <a:pPr algn="l"/>
            <a:r>
              <a:rPr sz="1100" b="0">
                <a:solidFill>
                  <a:srgbClr val="6C7A89"/>
                </a:solidFill>
                <a:latin typeface="Calibri"/>
              </a:rPr>
              <a:t>2</a:t>
            </a:r>
          </a:p>
        </p:txBody>
      </p:sp>
      <p:sp>
        <p:nvSpPr>
          <p:cNvPr id="40" name="TextBox 39"/>
          <p:cNvSpPr txBox="1"/>
          <p:nvPr/>
        </p:nvSpPr>
        <p:spPr>
          <a:xfrm>
            <a:off x="3829050" y="3257434"/>
            <a:ext cx="285750" cy="123825"/>
          </a:xfrm>
          <a:prstGeom prst="rect">
            <a:avLst/>
          </a:prstGeom>
          <a:noFill/>
        </p:spPr>
        <p:txBody>
          <a:bodyPr wrap="none" lIns="0" rIns="0" tIns="0" bIns="0" anchor="ctr">
            <a:spAutoFit/>
          </a:bodyPr>
          <a:lstStyle/>
          <a:p>
            <a:pPr algn="l"/>
            <a:r>
              <a:rPr sz="1100" b="0">
                <a:solidFill>
                  <a:srgbClr val="6C7A89"/>
                </a:solidFill>
                <a:latin typeface="Calibri"/>
              </a:rPr>
              <a:t>4</a:t>
            </a:r>
          </a:p>
        </p:txBody>
      </p:sp>
      <p:sp>
        <p:nvSpPr>
          <p:cNvPr id="41" name="TextBox 40"/>
          <p:cNvSpPr txBox="1"/>
          <p:nvPr/>
        </p:nvSpPr>
        <p:spPr>
          <a:xfrm>
            <a:off x="3829050" y="2880158"/>
            <a:ext cx="285750" cy="123825"/>
          </a:xfrm>
          <a:prstGeom prst="rect">
            <a:avLst/>
          </a:prstGeom>
          <a:noFill/>
        </p:spPr>
        <p:txBody>
          <a:bodyPr wrap="none" lIns="0" rIns="0" tIns="0" bIns="0" anchor="ctr">
            <a:spAutoFit/>
          </a:bodyPr>
          <a:lstStyle/>
          <a:p>
            <a:pPr algn="l"/>
            <a:r>
              <a:rPr sz="1100" b="0">
                <a:solidFill>
                  <a:srgbClr val="6C7A89"/>
                </a:solidFill>
                <a:latin typeface="Calibri"/>
              </a:rPr>
              <a:t>6</a:t>
            </a:r>
          </a:p>
        </p:txBody>
      </p:sp>
      <p:sp>
        <p:nvSpPr>
          <p:cNvPr id="42" name="TextBox 41"/>
          <p:cNvSpPr txBox="1"/>
          <p:nvPr/>
        </p:nvSpPr>
        <p:spPr>
          <a:xfrm>
            <a:off x="3829050" y="2502882"/>
            <a:ext cx="285750" cy="123825"/>
          </a:xfrm>
          <a:prstGeom prst="rect">
            <a:avLst/>
          </a:prstGeom>
          <a:noFill/>
        </p:spPr>
        <p:txBody>
          <a:bodyPr wrap="none" lIns="0" rIns="0" tIns="0" bIns="0" anchor="ctr">
            <a:spAutoFit/>
          </a:bodyPr>
          <a:lstStyle/>
          <a:p>
            <a:pPr algn="l"/>
            <a:r>
              <a:rPr sz="1100" b="0">
                <a:solidFill>
                  <a:srgbClr val="6C7A89"/>
                </a:solidFill>
                <a:latin typeface="Calibri"/>
              </a:rPr>
              <a:t>8</a:t>
            </a:r>
          </a:p>
        </p:txBody>
      </p:sp>
      <p:sp>
        <p:nvSpPr>
          <p:cNvPr id="43" name="TextBox 42"/>
          <p:cNvSpPr txBox="1"/>
          <p:nvPr/>
        </p:nvSpPr>
        <p:spPr>
          <a:xfrm>
            <a:off x="3829050" y="2125606"/>
            <a:ext cx="285750" cy="123825"/>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4" name="TextBox 43"/>
          <p:cNvSpPr txBox="1"/>
          <p:nvPr/>
        </p:nvSpPr>
        <p:spPr>
          <a:xfrm>
            <a:off x="3143250" y="1839856"/>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5" name="TextBox 44"/>
          <p:cNvSpPr txBox="1"/>
          <p:nvPr/>
        </p:nvSpPr>
        <p:spPr>
          <a:xfrm>
            <a:off x="4375206"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6" name="TextBox 45"/>
          <p:cNvSpPr txBox="1"/>
          <p:nvPr/>
        </p:nvSpPr>
        <p:spPr>
          <a:xfrm>
            <a:off x="5136597"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7" name="TextBox 46"/>
          <p:cNvSpPr txBox="1"/>
          <p:nvPr/>
        </p:nvSpPr>
        <p:spPr>
          <a:xfrm>
            <a:off x="5136597"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8" name="TextBox 47"/>
          <p:cNvSpPr txBox="1"/>
          <p:nvPr/>
        </p:nvSpPr>
        <p:spPr>
          <a:xfrm>
            <a:off x="4375206"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49" name="TextBox 48"/>
          <p:cNvSpPr txBox="1"/>
          <p:nvPr/>
        </p:nvSpPr>
        <p:spPr>
          <a:xfrm>
            <a:off x="3143250" y="6031714"/>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0" name="TextBox 49"/>
          <p:cNvSpPr txBox="1"/>
          <p:nvPr/>
        </p:nvSpPr>
        <p:spPr>
          <a:xfrm>
            <a:off x="1911294" y="5631427"/>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1" name="TextBox 50"/>
          <p:cNvSpPr txBox="1"/>
          <p:nvPr/>
        </p:nvSpPr>
        <p:spPr>
          <a:xfrm>
            <a:off x="1149903" y="458346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2" name="TextBox 51"/>
          <p:cNvSpPr txBox="1"/>
          <p:nvPr/>
        </p:nvSpPr>
        <p:spPr>
          <a:xfrm>
            <a:off x="1149903" y="3288108"/>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3" name="TextBox 52"/>
          <p:cNvSpPr txBox="1"/>
          <p:nvPr/>
        </p:nvSpPr>
        <p:spPr>
          <a:xfrm>
            <a:off x="1911294" y="2240143"/>
            <a:ext cx="1314450" cy="285750"/>
          </a:xfrm>
          <a:prstGeom prst="rect">
            <a:avLst/>
          </a:prstGeom>
          <a:noFill/>
        </p:spPr>
        <p:txBody>
          <a:bodyPr wrap="square" lIns="28575" rIns="28575" tIns="9525" bIns="9525" anchor="ctr">
            <a:spAutoFit/>
          </a:bodyPr>
          <a:lstStyle/>
          <a:p>
            <a:pPr algn="ctr"/>
            <a:r>
              <a:rPr sz="1100" b="0">
                <a:solidFill>
                  <a:srgbClr val="2E2E2E"/>
                </a:solidFill>
                <a:latin typeface="Calibri"/>
              </a:rPr>
              <a:t/>
            </a:r>
          </a:p>
        </p:txBody>
      </p:sp>
      <p:sp>
        <p:nvSpPr>
          <p:cNvPr id="54" name="Rounded Rectangle 53"/>
          <p:cNvSpPr/>
          <p:nvPr/>
        </p:nvSpPr>
        <p:spPr>
          <a:xfrm>
            <a:off x="7534275" y="1354081"/>
            <a:ext cx="4514850" cy="3479443"/>
          </a:xfrm>
          <a:prstGeom prst="roundRect">
            <a:avLst>
              <a:gd name="adj" fmla="val 219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7667625" y="1439806"/>
            <a:ext cx="42481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6" name="Rectangle 55"/>
          <p:cNvSpPr/>
          <p:nvPr/>
        </p:nvSpPr>
        <p:spPr>
          <a:xfrm>
            <a:off x="7667625" y="1677931"/>
            <a:ext cx="4248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7667625" y="1763656"/>
            <a:ext cx="4248150" cy="2993668"/>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Pricing across the Matcha Market is shaped by a mix of input costs, operational efficiency and market dynamics with raw-material and input costs carrying the single heaviest weight on selling prices today.</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Raw-material and input costs and demand and broader market conditions are the dominant cost pressures; as they fluctuate they feed directly into prices and squeeze margins along the value chain.</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Competitive intensity and supply-chain and logistics conditions are the next most influential forces helping offset cost inflation and setting how aggressively players can price without ceding share.</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Demand strength, competitive intensity and supply-chain reliability together define the ceiling on pricing power across the Matcha Market.</a:t>
            </a:r>
          </a:p>
          <a:p>
            <a:pPr algn="l">
              <a:lnSpc>
                <a:spcPct val="100000"/>
              </a:lnSpc>
              <a:spcBef>
                <a:spcPts val="0"/>
              </a:spcBef>
              <a:spcAft>
                <a:spcPts val="300"/>
              </a:spcAft>
            </a:pPr>
            <a:r>
              <a:rPr sz="1100" b="0">
                <a:solidFill>
                  <a:srgbClr val="0E72AE"/>
                </a:solidFill>
                <a:latin typeface="Calibri"/>
              </a:rPr>
              <a:t>▪  </a:t>
            </a:r>
            <a:r>
              <a:rPr sz="1100" b="0">
                <a:solidFill>
                  <a:srgbClr val="2E2E2E"/>
                </a:solidFill>
                <a:latin typeface="Calibri"/>
              </a:rPr>
              <a:t>Regulatory, currency and brand factors add second-order effects while aftermarket and service costs exert the least pressure collectively creating a pricing balance that must be monitored to stay competitive and profitable.</a:t>
            </a:r>
          </a:p>
        </p:txBody>
      </p:sp>
      <p:sp>
        <p:nvSpPr>
          <p:cNvPr id="58" name="Rounded Rectangle 57"/>
          <p:cNvSpPr/>
          <p:nvPr/>
        </p:nvSpPr>
        <p:spPr>
          <a:xfrm>
            <a:off x="7534275" y="4943046"/>
            <a:ext cx="4514850" cy="1686354"/>
          </a:xfrm>
          <a:prstGeom prst="roundRect">
            <a:avLst>
              <a:gd name="adj" fmla="val 45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7667625" y="5028771"/>
            <a:ext cx="4248150" cy="209550"/>
          </a:xfrm>
          <a:prstGeom prst="rect">
            <a:avLst/>
          </a:prstGeom>
          <a:noFill/>
        </p:spPr>
        <p:txBody>
          <a:bodyPr wrap="square" lIns="0" rIns="19050" tIns="9525" bIns="9525">
            <a:spAutoFit/>
          </a:bodyPr>
          <a:lstStyle/>
          <a:p>
            <a:pPr algn="l"/>
            <a:r>
              <a:rPr sz="1300" b="1">
                <a:solidFill>
                  <a:srgbClr val="0B2E4A"/>
                </a:solidFill>
                <a:latin typeface="Calibri"/>
              </a:rPr>
              <a:t>Highest-Impact Drivers</a:t>
            </a:r>
          </a:p>
        </p:txBody>
      </p:sp>
      <p:sp>
        <p:nvSpPr>
          <p:cNvPr id="60" name="Rectangle 59"/>
          <p:cNvSpPr/>
          <p:nvPr/>
        </p:nvSpPr>
        <p:spPr>
          <a:xfrm>
            <a:off x="7667625" y="5266896"/>
            <a:ext cx="4248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667625" y="5352621"/>
            <a:ext cx="4248150" cy="1200579"/>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431646" y="1898910"/>
            <a:ext cx="659829" cy="186689"/>
          </a:xfrm>
          <a:prstGeom prst="rect">
            <a:avLst/>
          </a:prstGeom>
          <a:noFill/>
        </p:spPr>
        <p:txBody>
          <a:bodyPr wrap="none" lIns="0" rIns="0" tIns="0" bIns="0">
            <a:spAutoFit/>
          </a:bodyPr>
          <a:lstStyle/>
          <a:p>
            <a:r>
              <a:rPr sz="1100" b="0">
                <a:solidFill>
                  <a:srgbClr val="2E2E2E"/>
                </a:solidFill>
                <a:latin typeface="Calibri"/>
              </a:rPr>
              <a:t>Input Cost</a:t>
            </a:r>
          </a:p>
        </p:txBody>
      </p:sp>
      <p:pic>
        <p:nvPicPr>
          <p:cNvPr id="64" name="Picture 63" descr="lock.png"/>
          <p:cNvPicPr>
            <a:picLocks noChangeAspect="1"/>
          </p:cNvPicPr>
          <p:nvPr/>
        </p:nvPicPr>
        <p:blipFill>
          <a:blip r:embed="rId4"/>
          <a:stretch>
            <a:fillRect/>
          </a:stretch>
        </p:blipFill>
        <p:spPr>
          <a:xfrm>
            <a:off x="4039527" y="1889132"/>
            <a:ext cx="128699" cy="187198"/>
          </a:xfrm>
          <a:prstGeom prst="rect">
            <a:avLst/>
          </a:prstGeom>
        </p:spPr>
      </p:pic>
      <p:sp>
        <p:nvSpPr>
          <p:cNvPr id="65" name="TextBox 64"/>
          <p:cNvSpPr txBox="1"/>
          <p:nvPr/>
        </p:nvSpPr>
        <p:spPr>
          <a:xfrm>
            <a:off x="4457558" y="2322667"/>
            <a:ext cx="1115044" cy="139750"/>
          </a:xfrm>
          <a:prstGeom prst="rect">
            <a:avLst/>
          </a:prstGeom>
          <a:noFill/>
        </p:spPr>
        <p:txBody>
          <a:bodyPr wrap="none" lIns="0" rIns="0" tIns="0" bIns="0">
            <a:spAutoFit/>
          </a:bodyPr>
          <a:lstStyle/>
          <a:p>
            <a:r>
              <a:rPr sz="791" b="0">
                <a:solidFill>
                  <a:srgbClr val="2E2E2E"/>
                </a:solidFill>
                <a:latin typeface="Calibri"/>
              </a:rPr>
              <a:t>Labor &amp; Production Costs</a:t>
            </a:r>
          </a:p>
        </p:txBody>
      </p:sp>
      <p:pic>
        <p:nvPicPr>
          <p:cNvPr id="66" name="Picture 65" descr="lock.png"/>
          <p:cNvPicPr>
            <a:picLocks noChangeAspect="1"/>
          </p:cNvPicPr>
          <p:nvPr/>
        </p:nvPicPr>
        <p:blipFill>
          <a:blip r:embed="rId4"/>
          <a:stretch>
            <a:fillRect/>
          </a:stretch>
        </p:blipFill>
        <p:spPr>
          <a:xfrm>
            <a:off x="5513863" y="2315626"/>
            <a:ext cx="92663" cy="134782"/>
          </a:xfrm>
          <a:prstGeom prst="rect">
            <a:avLst/>
          </a:prstGeom>
        </p:spPr>
      </p:pic>
      <p:sp>
        <p:nvSpPr>
          <p:cNvPr id="67" name="TextBox 66"/>
          <p:cNvSpPr txBox="1"/>
          <p:nvPr/>
        </p:nvSpPr>
        <p:spPr>
          <a:xfrm>
            <a:off x="5226218" y="3370632"/>
            <a:ext cx="1100506" cy="139750"/>
          </a:xfrm>
          <a:prstGeom prst="rect">
            <a:avLst/>
          </a:prstGeom>
          <a:noFill/>
        </p:spPr>
        <p:txBody>
          <a:bodyPr wrap="none" lIns="0" rIns="0" tIns="0" bIns="0">
            <a:spAutoFit/>
          </a:bodyPr>
          <a:lstStyle/>
          <a:p>
            <a:r>
              <a:rPr sz="791" b="0">
                <a:solidFill>
                  <a:srgbClr val="2E2E2E"/>
                </a:solidFill>
                <a:latin typeface="Calibri"/>
              </a:rPr>
              <a:t>Technology &amp; Innovation</a:t>
            </a:r>
          </a:p>
        </p:txBody>
      </p:sp>
      <p:pic>
        <p:nvPicPr>
          <p:cNvPr id="68" name="Picture 67" descr="lock.png"/>
          <p:cNvPicPr>
            <a:picLocks noChangeAspect="1"/>
          </p:cNvPicPr>
          <p:nvPr/>
        </p:nvPicPr>
        <p:blipFill>
          <a:blip r:embed="rId4"/>
          <a:stretch>
            <a:fillRect/>
          </a:stretch>
        </p:blipFill>
        <p:spPr>
          <a:xfrm>
            <a:off x="6267986" y="3363591"/>
            <a:ext cx="92663" cy="134782"/>
          </a:xfrm>
          <a:prstGeom prst="rect">
            <a:avLst/>
          </a:prstGeom>
        </p:spPr>
      </p:pic>
      <p:sp>
        <p:nvSpPr>
          <p:cNvPr id="69" name="TextBox 68"/>
          <p:cNvSpPr txBox="1"/>
          <p:nvPr/>
        </p:nvSpPr>
        <p:spPr>
          <a:xfrm>
            <a:off x="5215421" y="4662634"/>
            <a:ext cx="1115939" cy="146456"/>
          </a:xfrm>
          <a:prstGeom prst="rect">
            <a:avLst/>
          </a:prstGeom>
          <a:noFill/>
        </p:spPr>
        <p:txBody>
          <a:bodyPr wrap="none" lIns="0" rIns="0" tIns="0" bIns="0">
            <a:spAutoFit/>
          </a:bodyPr>
          <a:lstStyle/>
          <a:p>
            <a:r>
              <a:rPr sz="835" b="0">
                <a:solidFill>
                  <a:srgbClr val="2E2E2E"/>
                </a:solidFill>
                <a:latin typeface="Calibri"/>
              </a:rPr>
              <a:t>Supply Chain &amp; Logistics</a:t>
            </a:r>
          </a:p>
        </p:txBody>
      </p:sp>
      <p:pic>
        <p:nvPicPr>
          <p:cNvPr id="70" name="Picture 69" descr="lock.png"/>
          <p:cNvPicPr>
            <a:picLocks noChangeAspect="1"/>
          </p:cNvPicPr>
          <p:nvPr/>
        </p:nvPicPr>
        <p:blipFill>
          <a:blip r:embed="rId4"/>
          <a:stretch>
            <a:fillRect/>
          </a:stretch>
        </p:blipFill>
        <p:spPr>
          <a:xfrm>
            <a:off x="6273591" y="4655202"/>
            <a:ext cx="97811" cy="142270"/>
          </a:xfrm>
          <a:prstGeom prst="rect">
            <a:avLst/>
          </a:prstGeom>
        </p:spPr>
      </p:pic>
      <p:sp>
        <p:nvSpPr>
          <p:cNvPr id="71" name="TextBox 70"/>
          <p:cNvSpPr txBox="1"/>
          <p:nvPr/>
        </p:nvSpPr>
        <p:spPr>
          <a:xfrm>
            <a:off x="4422542" y="5653601"/>
            <a:ext cx="1238538" cy="139750"/>
          </a:xfrm>
          <a:prstGeom prst="rect">
            <a:avLst/>
          </a:prstGeom>
          <a:noFill/>
        </p:spPr>
        <p:txBody>
          <a:bodyPr wrap="none" lIns="0" rIns="0" tIns="0" bIns="0">
            <a:spAutoFit/>
          </a:bodyPr>
          <a:lstStyle/>
          <a:p>
            <a:r>
              <a:rPr sz="791" b="0">
                <a:solidFill>
                  <a:srgbClr val="2E2E2E"/>
                </a:solidFill>
                <a:latin typeface="Calibri"/>
              </a:rPr>
              <a:t>Demand &amp; Market Conditions</a:t>
            </a:r>
          </a:p>
        </p:txBody>
      </p:sp>
      <p:pic>
        <p:nvPicPr>
          <p:cNvPr id="72" name="Picture 71" descr="lock.png"/>
          <p:cNvPicPr>
            <a:picLocks noChangeAspect="1"/>
          </p:cNvPicPr>
          <p:nvPr/>
        </p:nvPicPr>
        <p:blipFill>
          <a:blip r:embed="rId4"/>
          <a:stretch>
            <a:fillRect/>
          </a:stretch>
        </p:blipFill>
        <p:spPr>
          <a:xfrm>
            <a:off x="4980863" y="5767261"/>
            <a:ext cx="92663" cy="134782"/>
          </a:xfrm>
          <a:prstGeom prst="rect">
            <a:avLst/>
          </a:prstGeom>
        </p:spPr>
      </p:pic>
      <p:sp>
        <p:nvSpPr>
          <p:cNvPr id="73" name="TextBox 72"/>
          <p:cNvSpPr txBox="1"/>
          <p:nvPr/>
        </p:nvSpPr>
        <p:spPr>
          <a:xfrm>
            <a:off x="3239908" y="6110885"/>
            <a:ext cx="1080271" cy="146456"/>
          </a:xfrm>
          <a:prstGeom prst="rect">
            <a:avLst/>
          </a:prstGeom>
          <a:noFill/>
        </p:spPr>
        <p:txBody>
          <a:bodyPr wrap="none" lIns="0" rIns="0" tIns="0" bIns="0">
            <a:spAutoFit/>
          </a:bodyPr>
          <a:lstStyle/>
          <a:p>
            <a:r>
              <a:rPr sz="835" b="0">
                <a:solidFill>
                  <a:srgbClr val="2E2E2E"/>
                </a:solidFill>
                <a:latin typeface="Calibri"/>
              </a:rPr>
              <a:t>Competitive Landscape</a:t>
            </a:r>
          </a:p>
        </p:txBody>
      </p:sp>
      <p:pic>
        <p:nvPicPr>
          <p:cNvPr id="74" name="Picture 73" descr="lock.png"/>
          <p:cNvPicPr>
            <a:picLocks noChangeAspect="1"/>
          </p:cNvPicPr>
          <p:nvPr/>
        </p:nvPicPr>
        <p:blipFill>
          <a:blip r:embed="rId4"/>
          <a:stretch>
            <a:fillRect/>
          </a:stretch>
        </p:blipFill>
        <p:spPr>
          <a:xfrm>
            <a:off x="4262411" y="6103453"/>
            <a:ext cx="97811" cy="142270"/>
          </a:xfrm>
          <a:prstGeom prst="rect">
            <a:avLst/>
          </a:prstGeom>
        </p:spPr>
      </p:pic>
      <p:sp>
        <p:nvSpPr>
          <p:cNvPr id="75" name="TextBox 74"/>
          <p:cNvSpPr txBox="1"/>
          <p:nvPr/>
        </p:nvSpPr>
        <p:spPr>
          <a:xfrm>
            <a:off x="2049588" y="5653601"/>
            <a:ext cx="1114061" cy="139750"/>
          </a:xfrm>
          <a:prstGeom prst="rect">
            <a:avLst/>
          </a:prstGeom>
          <a:noFill/>
        </p:spPr>
        <p:txBody>
          <a:bodyPr wrap="none" lIns="0" rIns="0" tIns="0" bIns="0">
            <a:spAutoFit/>
          </a:bodyPr>
          <a:lstStyle/>
          <a:p>
            <a:r>
              <a:rPr sz="791" b="0">
                <a:solidFill>
                  <a:srgbClr val="2E2E2E"/>
                </a:solidFill>
                <a:latin typeface="Calibri"/>
              </a:rPr>
              <a:t>Regulatory &amp; Compliance</a:t>
            </a:r>
          </a:p>
        </p:txBody>
      </p:sp>
      <p:sp>
        <p:nvSpPr>
          <p:cNvPr id="76" name="TextBox 75"/>
          <p:cNvSpPr txBox="1"/>
          <p:nvPr/>
        </p:nvSpPr>
        <p:spPr>
          <a:xfrm>
            <a:off x="2403546" y="5774302"/>
            <a:ext cx="295245" cy="139750"/>
          </a:xfrm>
          <a:prstGeom prst="rect">
            <a:avLst/>
          </a:prstGeom>
          <a:noFill/>
        </p:spPr>
        <p:txBody>
          <a:bodyPr wrap="none" lIns="0" rIns="0" tIns="0" bIns="0">
            <a:spAutoFit/>
          </a:bodyPr>
          <a:lstStyle/>
          <a:p>
            <a:r>
              <a:rPr sz="791" b="0">
                <a:solidFill>
                  <a:srgbClr val="2E2E2E"/>
                </a:solidFill>
                <a:latin typeface="Calibri"/>
              </a:rPr>
              <a:t>Costs</a:t>
            </a:r>
          </a:p>
        </p:txBody>
      </p:sp>
      <p:pic>
        <p:nvPicPr>
          <p:cNvPr id="77" name="Picture 76" descr="lock.png"/>
          <p:cNvPicPr>
            <a:picLocks noChangeAspect="1"/>
          </p:cNvPicPr>
          <p:nvPr/>
        </p:nvPicPr>
        <p:blipFill>
          <a:blip r:embed="rId4"/>
          <a:stretch>
            <a:fillRect/>
          </a:stretch>
        </p:blipFill>
        <p:spPr>
          <a:xfrm>
            <a:off x="2640052" y="5767261"/>
            <a:ext cx="92663" cy="134782"/>
          </a:xfrm>
          <a:prstGeom prst="rect">
            <a:avLst/>
          </a:prstGeom>
        </p:spPr>
      </p:pic>
      <p:sp>
        <p:nvSpPr>
          <p:cNvPr id="78" name="TextBox 77"/>
          <p:cNvSpPr txBox="1"/>
          <p:nvPr/>
        </p:nvSpPr>
        <p:spPr>
          <a:xfrm>
            <a:off x="1240066" y="4605637"/>
            <a:ext cx="1195711" cy="139750"/>
          </a:xfrm>
          <a:prstGeom prst="rect">
            <a:avLst/>
          </a:prstGeom>
          <a:noFill/>
        </p:spPr>
        <p:txBody>
          <a:bodyPr wrap="none" lIns="0" rIns="0" tIns="0" bIns="0">
            <a:spAutoFit/>
          </a:bodyPr>
          <a:lstStyle/>
          <a:p>
            <a:r>
              <a:rPr sz="791" b="0">
                <a:solidFill>
                  <a:srgbClr val="2E2E2E"/>
                </a:solidFill>
                <a:latin typeface="Calibri"/>
              </a:rPr>
              <a:t>Currency &amp; Trade Dynamics</a:t>
            </a:r>
          </a:p>
        </p:txBody>
      </p:sp>
      <p:pic>
        <p:nvPicPr>
          <p:cNvPr id="79" name="Picture 78" descr="lock.png"/>
          <p:cNvPicPr>
            <a:picLocks noChangeAspect="1"/>
          </p:cNvPicPr>
          <p:nvPr/>
        </p:nvPicPr>
        <p:blipFill>
          <a:blip r:embed="rId4"/>
          <a:stretch>
            <a:fillRect/>
          </a:stretch>
        </p:blipFill>
        <p:spPr>
          <a:xfrm>
            <a:off x="1755560" y="4719297"/>
            <a:ext cx="92663" cy="134782"/>
          </a:xfrm>
          <a:prstGeom prst="rect">
            <a:avLst/>
          </a:prstGeom>
        </p:spPr>
      </p:pic>
      <p:sp>
        <p:nvSpPr>
          <p:cNvPr id="80" name="TextBox 79"/>
          <p:cNvSpPr txBox="1"/>
          <p:nvPr/>
        </p:nvSpPr>
        <p:spPr>
          <a:xfrm>
            <a:off x="1222727" y="3370632"/>
            <a:ext cx="1134100" cy="139750"/>
          </a:xfrm>
          <a:prstGeom prst="rect">
            <a:avLst/>
          </a:prstGeom>
          <a:noFill/>
        </p:spPr>
        <p:txBody>
          <a:bodyPr wrap="none" lIns="0" rIns="0" tIns="0" bIns="0">
            <a:spAutoFit/>
          </a:bodyPr>
          <a:lstStyle/>
          <a:p>
            <a:r>
              <a:rPr sz="791" b="0">
                <a:solidFill>
                  <a:srgbClr val="2E2E2E"/>
                </a:solidFill>
                <a:latin typeface="Calibri"/>
              </a:rPr>
              <a:t>Brand &amp; Value Perception</a:t>
            </a:r>
          </a:p>
        </p:txBody>
      </p:sp>
      <p:pic>
        <p:nvPicPr>
          <p:cNvPr id="81" name="Picture 80" descr="lock.png"/>
          <p:cNvPicPr>
            <a:picLocks noChangeAspect="1"/>
          </p:cNvPicPr>
          <p:nvPr/>
        </p:nvPicPr>
        <p:blipFill>
          <a:blip r:embed="rId4"/>
          <a:stretch>
            <a:fillRect/>
          </a:stretch>
        </p:blipFill>
        <p:spPr>
          <a:xfrm>
            <a:off x="2298088" y="3363591"/>
            <a:ext cx="92663" cy="134782"/>
          </a:xfrm>
          <a:prstGeom prst="rect">
            <a:avLst/>
          </a:prstGeom>
        </p:spPr>
      </p:pic>
      <p:sp>
        <p:nvSpPr>
          <p:cNvPr id="82" name="TextBox 81"/>
          <p:cNvSpPr txBox="1"/>
          <p:nvPr/>
        </p:nvSpPr>
        <p:spPr>
          <a:xfrm>
            <a:off x="1993598" y="2262317"/>
            <a:ext cx="1203570" cy="139750"/>
          </a:xfrm>
          <a:prstGeom prst="rect">
            <a:avLst/>
          </a:prstGeom>
          <a:noFill/>
        </p:spPr>
        <p:txBody>
          <a:bodyPr wrap="none" lIns="0" rIns="0" tIns="0" bIns="0">
            <a:spAutoFit/>
          </a:bodyPr>
          <a:lstStyle/>
          <a:p>
            <a:r>
              <a:rPr sz="791" b="0">
                <a:solidFill>
                  <a:srgbClr val="2E2E2E"/>
                </a:solidFill>
                <a:latin typeface="Calibri"/>
              </a:rPr>
              <a:t>Aftermarket &amp; Service Costs</a:t>
            </a:r>
          </a:p>
        </p:txBody>
      </p:sp>
      <p:pic>
        <p:nvPicPr>
          <p:cNvPr id="83" name="Picture 82" descr="lock.png"/>
          <p:cNvPicPr>
            <a:picLocks noChangeAspect="1"/>
          </p:cNvPicPr>
          <p:nvPr/>
        </p:nvPicPr>
        <p:blipFill>
          <a:blip r:embed="rId4"/>
          <a:stretch>
            <a:fillRect/>
          </a:stretch>
        </p:blipFill>
        <p:spPr>
          <a:xfrm>
            <a:off x="2516951" y="2375977"/>
            <a:ext cx="92663" cy="134782"/>
          </a:xfrm>
          <a:prstGeom prst="rect">
            <a:avLst/>
          </a:prstGeom>
        </p:spPr>
      </p:pic>
      <p:sp>
        <p:nvSpPr>
          <p:cNvPr id="84" name="TextBox 83"/>
          <p:cNvSpPr txBox="1"/>
          <p:nvPr/>
        </p:nvSpPr>
        <p:spPr>
          <a:xfrm>
            <a:off x="7667625" y="5362146"/>
            <a:ext cx="740866" cy="186689"/>
          </a:xfrm>
          <a:prstGeom prst="rect">
            <a:avLst/>
          </a:prstGeom>
          <a:noFill/>
        </p:spPr>
        <p:txBody>
          <a:bodyPr wrap="none" lIns="0" rIns="0" tIns="0" bIns="0">
            <a:spAutoFit/>
          </a:bodyPr>
          <a:lstStyle/>
          <a:p>
            <a:r>
              <a:rPr sz="1100" b="0">
                <a:solidFill>
                  <a:srgbClr val="2E2E2E"/>
                </a:solidFill>
                <a:latin typeface="Calibri"/>
              </a:rPr>
              <a:t>▪ Input Cost</a:t>
            </a:r>
          </a:p>
        </p:txBody>
      </p:sp>
      <p:pic>
        <p:nvPicPr>
          <p:cNvPr id="85" name="Picture 84" descr="lock.png"/>
          <p:cNvPicPr>
            <a:picLocks noChangeAspect="1"/>
          </p:cNvPicPr>
          <p:nvPr/>
        </p:nvPicPr>
        <p:blipFill>
          <a:blip r:embed="rId4"/>
          <a:stretch>
            <a:fillRect/>
          </a:stretch>
        </p:blipFill>
        <p:spPr>
          <a:xfrm>
            <a:off x="8356543" y="5352366"/>
            <a:ext cx="128699" cy="187198"/>
          </a:xfrm>
          <a:prstGeom prst="rect">
            <a:avLst/>
          </a:prstGeom>
        </p:spPr>
      </p:pic>
      <p:sp>
        <p:nvSpPr>
          <p:cNvPr id="86" name="TextBox 85"/>
          <p:cNvSpPr txBox="1"/>
          <p:nvPr/>
        </p:nvSpPr>
        <p:spPr>
          <a:xfrm>
            <a:off x="8524038" y="5362146"/>
            <a:ext cx="1744141" cy="186689"/>
          </a:xfrm>
          <a:prstGeom prst="rect">
            <a:avLst/>
          </a:prstGeom>
          <a:noFill/>
        </p:spPr>
        <p:txBody>
          <a:bodyPr wrap="none" lIns="0" rIns="0" tIns="0" bIns="0">
            <a:spAutoFit/>
          </a:bodyPr>
          <a:lstStyle/>
          <a:p>
            <a:r>
              <a:rPr sz="1100" b="0">
                <a:solidFill>
                  <a:srgbClr val="2E2E2E"/>
                </a:solidFill>
                <a:latin typeface="Calibri"/>
              </a:rPr>
              <a:t>/ 10 · dominant cost pressure</a:t>
            </a:r>
          </a:p>
        </p:txBody>
      </p:sp>
      <p:sp>
        <p:nvSpPr>
          <p:cNvPr id="87" name="TextBox 86"/>
          <p:cNvSpPr txBox="1"/>
          <p:nvPr/>
        </p:nvSpPr>
        <p:spPr>
          <a:xfrm>
            <a:off x="7667625" y="5580078"/>
            <a:ext cx="1851372" cy="186689"/>
          </a:xfrm>
          <a:prstGeom prst="rect">
            <a:avLst/>
          </a:prstGeom>
          <a:noFill/>
        </p:spPr>
        <p:txBody>
          <a:bodyPr wrap="none" lIns="0" rIns="0" tIns="0" bIns="0">
            <a:spAutoFit/>
          </a:bodyPr>
          <a:lstStyle/>
          <a:p>
            <a:r>
              <a:rPr sz="1100" b="0">
                <a:solidFill>
                  <a:srgbClr val="2E2E2E"/>
                </a:solidFill>
                <a:latin typeface="Calibri"/>
              </a:rPr>
              <a:t>▪ Demand &amp; Market Conditions</a:t>
            </a:r>
          </a:p>
        </p:txBody>
      </p:sp>
      <p:pic>
        <p:nvPicPr>
          <p:cNvPr id="88" name="Picture 87" descr="lock.png"/>
          <p:cNvPicPr>
            <a:picLocks noChangeAspect="1"/>
          </p:cNvPicPr>
          <p:nvPr/>
        </p:nvPicPr>
        <p:blipFill>
          <a:blip r:embed="rId4"/>
          <a:stretch>
            <a:fillRect/>
          </a:stretch>
        </p:blipFill>
        <p:spPr>
          <a:xfrm>
            <a:off x="9467048" y="5570298"/>
            <a:ext cx="128699" cy="187198"/>
          </a:xfrm>
          <a:prstGeom prst="rect">
            <a:avLst/>
          </a:prstGeom>
        </p:spPr>
      </p:pic>
      <p:sp>
        <p:nvSpPr>
          <p:cNvPr id="89" name="TextBox 88"/>
          <p:cNvSpPr txBox="1"/>
          <p:nvPr/>
        </p:nvSpPr>
        <p:spPr>
          <a:xfrm>
            <a:off x="9634544" y="5580078"/>
            <a:ext cx="1527224" cy="186689"/>
          </a:xfrm>
          <a:prstGeom prst="rect">
            <a:avLst/>
          </a:prstGeom>
          <a:noFill/>
        </p:spPr>
        <p:txBody>
          <a:bodyPr wrap="none" lIns="0" rIns="0" tIns="0" bIns="0">
            <a:spAutoFit/>
          </a:bodyPr>
          <a:lstStyle/>
          <a:p>
            <a:r>
              <a:rPr sz="1100" b="0">
                <a:solidFill>
                  <a:srgbClr val="2E2E2E"/>
                </a:solidFill>
                <a:latin typeface="Calibri"/>
              </a:rPr>
              <a:t>/ 10 · major cost pressure</a:t>
            </a:r>
          </a:p>
        </p:txBody>
      </p:sp>
      <p:sp>
        <p:nvSpPr>
          <p:cNvPr id="90" name="TextBox 89"/>
          <p:cNvSpPr txBox="1"/>
          <p:nvPr/>
        </p:nvSpPr>
        <p:spPr>
          <a:xfrm>
            <a:off x="7667625" y="5798010"/>
            <a:ext cx="1478384" cy="186689"/>
          </a:xfrm>
          <a:prstGeom prst="rect">
            <a:avLst/>
          </a:prstGeom>
          <a:noFill/>
        </p:spPr>
        <p:txBody>
          <a:bodyPr wrap="none" lIns="0" rIns="0" tIns="0" bIns="0">
            <a:spAutoFit/>
          </a:bodyPr>
          <a:lstStyle/>
          <a:p>
            <a:r>
              <a:rPr sz="1100" b="0">
                <a:solidFill>
                  <a:srgbClr val="2E2E2E"/>
                </a:solidFill>
                <a:latin typeface="Calibri"/>
              </a:rPr>
              <a:t>▪ Competitive Landscape</a:t>
            </a:r>
          </a:p>
        </p:txBody>
      </p:sp>
      <p:pic>
        <p:nvPicPr>
          <p:cNvPr id="91" name="Picture 90" descr="lock.png"/>
          <p:cNvPicPr>
            <a:picLocks noChangeAspect="1"/>
          </p:cNvPicPr>
          <p:nvPr/>
        </p:nvPicPr>
        <p:blipFill>
          <a:blip r:embed="rId4"/>
          <a:stretch>
            <a:fillRect/>
          </a:stretch>
        </p:blipFill>
        <p:spPr>
          <a:xfrm>
            <a:off x="9094060" y="5788230"/>
            <a:ext cx="128699" cy="187198"/>
          </a:xfrm>
          <a:prstGeom prst="rect">
            <a:avLst/>
          </a:prstGeom>
        </p:spPr>
      </p:pic>
      <p:sp>
        <p:nvSpPr>
          <p:cNvPr id="92" name="TextBox 91"/>
          <p:cNvSpPr txBox="1"/>
          <p:nvPr/>
        </p:nvSpPr>
        <p:spPr>
          <a:xfrm>
            <a:off x="9261556" y="5798010"/>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3" name="TextBox 92"/>
          <p:cNvSpPr txBox="1"/>
          <p:nvPr/>
        </p:nvSpPr>
        <p:spPr>
          <a:xfrm>
            <a:off x="7667625" y="6015942"/>
            <a:ext cx="1525314" cy="186689"/>
          </a:xfrm>
          <a:prstGeom prst="rect">
            <a:avLst/>
          </a:prstGeom>
          <a:noFill/>
        </p:spPr>
        <p:txBody>
          <a:bodyPr wrap="none" lIns="0" rIns="0" tIns="0" bIns="0">
            <a:spAutoFit/>
          </a:bodyPr>
          <a:lstStyle/>
          <a:p>
            <a:r>
              <a:rPr sz="1100" b="0">
                <a:solidFill>
                  <a:srgbClr val="2E2E2E"/>
                </a:solidFill>
                <a:latin typeface="Calibri"/>
              </a:rPr>
              <a:t>▪ Supply Chain &amp; Logistics</a:t>
            </a:r>
          </a:p>
        </p:txBody>
      </p:sp>
      <p:pic>
        <p:nvPicPr>
          <p:cNvPr id="94" name="Picture 93" descr="lock.png"/>
          <p:cNvPicPr>
            <a:picLocks noChangeAspect="1"/>
          </p:cNvPicPr>
          <p:nvPr/>
        </p:nvPicPr>
        <p:blipFill>
          <a:blip r:embed="rId4"/>
          <a:stretch>
            <a:fillRect/>
          </a:stretch>
        </p:blipFill>
        <p:spPr>
          <a:xfrm>
            <a:off x="9140991" y="6006162"/>
            <a:ext cx="128699" cy="187198"/>
          </a:xfrm>
          <a:prstGeom prst="rect">
            <a:avLst/>
          </a:prstGeom>
        </p:spPr>
      </p:pic>
      <p:sp>
        <p:nvSpPr>
          <p:cNvPr id="95" name="TextBox 94"/>
          <p:cNvSpPr txBox="1"/>
          <p:nvPr/>
        </p:nvSpPr>
        <p:spPr>
          <a:xfrm>
            <a:off x="9308487" y="6015942"/>
            <a:ext cx="1330225" cy="186689"/>
          </a:xfrm>
          <a:prstGeom prst="rect">
            <a:avLst/>
          </a:prstGeom>
          <a:noFill/>
        </p:spPr>
        <p:txBody>
          <a:bodyPr wrap="none" lIns="0" rIns="0" tIns="0" bIns="0">
            <a:spAutoFit/>
          </a:bodyPr>
          <a:lstStyle/>
          <a:p>
            <a:r>
              <a:rPr sz="1100" b="0">
                <a:solidFill>
                  <a:srgbClr val="2E2E2E"/>
                </a:solidFill>
                <a:latin typeface="Calibri"/>
              </a:rPr>
              <a:t>/ 10 · key pricing lever</a:t>
            </a:r>
          </a:p>
        </p:txBody>
      </p:sp>
      <p:sp>
        <p:nvSpPr>
          <p:cNvPr id="96" name="TextBox 95"/>
          <p:cNvSpPr txBox="1"/>
          <p:nvPr/>
        </p:nvSpPr>
        <p:spPr>
          <a:xfrm>
            <a:off x="7667625" y="6233874"/>
            <a:ext cx="1600075" cy="186689"/>
          </a:xfrm>
          <a:prstGeom prst="rect">
            <a:avLst/>
          </a:prstGeom>
          <a:noFill/>
        </p:spPr>
        <p:txBody>
          <a:bodyPr wrap="none" lIns="0" rIns="0" tIns="0" bIns="0">
            <a:spAutoFit/>
          </a:bodyPr>
          <a:lstStyle/>
          <a:p>
            <a:r>
              <a:rPr sz="1100" b="0">
                <a:solidFill>
                  <a:srgbClr val="2E2E2E"/>
                </a:solidFill>
                <a:latin typeface="Calibri"/>
              </a:rPr>
              <a:t>▪ Labor &amp; Production Costs</a:t>
            </a:r>
          </a:p>
        </p:txBody>
      </p:sp>
      <p:pic>
        <p:nvPicPr>
          <p:cNvPr id="97" name="Picture 96" descr="lock.png"/>
          <p:cNvPicPr>
            <a:picLocks noChangeAspect="1"/>
          </p:cNvPicPr>
          <p:nvPr/>
        </p:nvPicPr>
        <p:blipFill>
          <a:blip r:embed="rId4"/>
          <a:stretch>
            <a:fillRect/>
          </a:stretch>
        </p:blipFill>
        <p:spPr>
          <a:xfrm>
            <a:off x="9215752" y="6224094"/>
            <a:ext cx="128699" cy="187198"/>
          </a:xfrm>
          <a:prstGeom prst="rect">
            <a:avLst/>
          </a:prstGeom>
        </p:spPr>
      </p:pic>
      <p:sp>
        <p:nvSpPr>
          <p:cNvPr id="98" name="TextBox 97"/>
          <p:cNvSpPr txBox="1"/>
          <p:nvPr/>
        </p:nvSpPr>
        <p:spPr>
          <a:xfrm>
            <a:off x="9383248" y="6233874"/>
            <a:ext cx="1387524" cy="186689"/>
          </a:xfrm>
          <a:prstGeom prst="rect">
            <a:avLst/>
          </a:prstGeom>
          <a:noFill/>
        </p:spPr>
        <p:txBody>
          <a:bodyPr wrap="none" lIns="0" rIns="0" tIns="0" bIns="0">
            <a:spAutoFit/>
          </a:bodyPr>
          <a:lstStyle/>
          <a:p>
            <a:r>
              <a:rPr sz="1100" b="0">
                <a:solidFill>
                  <a:srgbClr val="2E2E2E"/>
                </a:solidFill>
                <a:latin typeface="Calibri"/>
              </a:rPr>
              <a:t>/ 10 · supporting factor</a:t>
            </a:r>
          </a:p>
        </p:txBody>
      </p:sp>
    </p:spTree>
  </p:cSld>
  <p:clrMapOvr>
    <a:masterClrMapping/>
  </p:clrMapOvr>
</p:sld>
</file>

<file path=ppt/slides/slide25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Factors Impacting Pricing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Factors affecting the pricing decision of the product: category, price impact, direction of pressure and rationale</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The cost, demand, efficiency and regulatory forces shaping and impacting achievable selling prices grouped by category, with each factor's direction, impact and score.</a:t>
            </a:r>
          </a:p>
        </p:txBody>
      </p:sp>
      <p:sp>
        <p:nvSpPr>
          <p:cNvPr id="11" name="Rounded Rectangle 10"/>
          <p:cNvSpPr/>
          <p:nvPr/>
        </p:nvSpPr>
        <p:spPr>
          <a:xfrm>
            <a:off x="142875" y="1314450"/>
            <a:ext cx="11906250" cy="3286125"/>
          </a:xfrm>
          <a:prstGeom prst="roundRect">
            <a:avLst>
              <a:gd name="adj" fmla="val 231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0650"/>
          <a:ext cx="11887199" cy="2981326"/>
        </p:xfrm>
        <a:graphic>
          <a:graphicData uri="http://schemas.openxmlformats.org/drawingml/2006/table">
            <a:tbl>
              <a:tblPr>
                <a:tableStyleId>{5C22544A-7EE6-4342-B048-85BDC9FD1C3A}</a:tableStyleId>
              </a:tblPr>
              <a:tblGrid>
                <a:gridCol w="2561515"/>
                <a:gridCol w="2697613"/>
                <a:gridCol w="1098187"/>
                <a:gridCol w="1211368"/>
                <a:gridCol w="1098187"/>
                <a:gridCol w="3220329"/>
              </a:tblGrid>
              <a:tr h="246126">
                <a:tc>
                  <a:txBody>
                    <a:bodyPr wrap="none"/>
                    <a:lstStyle/>
                    <a:p>
                      <a:pPr algn="l"/>
                      <a:r>
                        <a:rPr sz="1100" b="1">
                          <a:solidFill>
                            <a:srgbClr val="0B2E4A"/>
                          </a:solidFill>
                          <a:latin typeface="Calibri"/>
                        </a:rPr>
                        <a:t>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Impact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Score (0–10)</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How It Shapes Price</a:t>
                      </a:r>
                      <a:endParaRPr sz="1100"/>
                    </a:p>
                  </a:txBody>
                  <a:tcPr marL="47625" marR="38100" marT="19050" marB="19050" anchor="ctr">
                    <a:solidFill>
                      <a:srgbClr val="E0E8EF"/>
                    </a:solidFill>
                  </a:tcPr>
                </a:tc>
              </a:tr>
              <a:tr h="27352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Raw-material and input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Labour and production expenses.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Cost &amp; Input Pressures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Supply-chain and logistics conditions.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and broader market conditions.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Competitive intensity.</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Demand &amp; Competitive Forces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strength and value perception.</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Technology and process innovation.</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Innovation &amp; Operating Efficiency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Aftermarket and service costs.</a:t>
                      </a:r>
                      <a:endParaRPr sz="1100"/>
                    </a:p>
                  </a:txBody>
                  <a:tcPr marL="47625" marR="38100" marT="19050" marB="19050" anchor="ctr">
                    <a:solidFill>
                      <a:srgbClr val="F5F8FA"/>
                    </a:solidFill>
                  </a:tcPr>
                </a:tc>
              </a:tr>
              <a:tr h="27352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Regulatory and compliance costs.</a:t>
                      </a:r>
                      <a:endParaRPr sz="1100"/>
                    </a:p>
                  </a:txBody>
                  <a:tcPr marL="47625" marR="38100" marT="19050" marB="19050" anchor="ctr">
                    <a:solidFill>
                      <a:srgbClr val="FFFFFF"/>
                    </a:solidFill>
                  </a:tcPr>
                </a:tc>
              </a:tr>
              <a:tr h="27352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Regulatory, Currency &amp; Macro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Currency and trade dynamics.</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3815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52975"/>
            <a:ext cx="11906250" cy="1790700"/>
          </a:xfrm>
          <a:prstGeom prst="roundRect">
            <a:avLst>
              <a:gd name="adj" fmla="val 425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38700"/>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the Factors Imply</a:t>
            </a:r>
          </a:p>
        </p:txBody>
      </p:sp>
      <p:sp>
        <p:nvSpPr>
          <p:cNvPr id="16" name="Rectangle 15"/>
          <p:cNvSpPr/>
          <p:nvPr/>
        </p:nvSpPr>
        <p:spPr>
          <a:xfrm>
            <a:off x="276225" y="50768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62550"/>
            <a:ext cx="11639550" cy="13049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102155" y="2764346"/>
            <a:ext cx="330041" cy="480060"/>
          </a:xfrm>
          <a:prstGeom prst="rect">
            <a:avLst/>
          </a:prstGeom>
        </p:spPr>
      </p:pic>
      <p:sp>
        <p:nvSpPr>
          <p:cNvPr id="20" name="TextBox 19"/>
          <p:cNvSpPr txBox="1"/>
          <p:nvPr/>
        </p:nvSpPr>
        <p:spPr>
          <a:xfrm>
            <a:off x="276225" y="5172075"/>
            <a:ext cx="5425566" cy="194310"/>
          </a:xfrm>
          <a:prstGeom prst="rect">
            <a:avLst/>
          </a:prstGeom>
          <a:noFill/>
        </p:spPr>
        <p:txBody>
          <a:bodyPr wrap="none" lIns="0" rIns="0" tIns="0" bIns="0">
            <a:spAutoFit/>
          </a:bodyPr>
          <a:lstStyle/>
          <a:p>
            <a:r>
              <a:rPr sz="1150" b="0">
                <a:solidFill>
                  <a:srgbClr val="2E2E2E"/>
                </a:solidFill>
                <a:latin typeface="Calibri"/>
              </a:rPr>
              <a:t>▪ Input Cost and Demand &amp; Market Conditions carry the heaviest weight on selling prices (</a:t>
            </a:r>
          </a:p>
        </p:txBody>
      </p:sp>
      <p:pic>
        <p:nvPicPr>
          <p:cNvPr id="21" name="Picture 20" descr="lock.png"/>
          <p:cNvPicPr>
            <a:picLocks noChangeAspect="1"/>
          </p:cNvPicPr>
          <p:nvPr/>
        </p:nvPicPr>
        <p:blipFill>
          <a:blip r:embed="rId4"/>
          <a:stretch>
            <a:fillRect/>
          </a:stretch>
        </p:blipFill>
        <p:spPr>
          <a:xfrm>
            <a:off x="5650945" y="5161851"/>
            <a:ext cx="134549" cy="195707"/>
          </a:xfrm>
          <a:prstGeom prst="rect">
            <a:avLst/>
          </a:prstGeom>
        </p:spPr>
      </p:pic>
      <p:sp>
        <p:nvSpPr>
          <p:cNvPr id="22" name="TextBox 21"/>
          <p:cNvSpPr txBox="1"/>
          <p:nvPr/>
        </p:nvSpPr>
        <p:spPr>
          <a:xfrm>
            <a:off x="5826054" y="5172075"/>
            <a:ext cx="299553" cy="194310"/>
          </a:xfrm>
          <a:prstGeom prst="rect">
            <a:avLst/>
          </a:prstGeom>
          <a:noFill/>
        </p:spPr>
        <p:txBody>
          <a:bodyPr wrap="none" lIns="0" rIns="0" tIns="0" bIns="0">
            <a:spAutoFit/>
          </a:bodyPr>
          <a:lstStyle/>
          <a:p>
            <a:r>
              <a:rPr sz="1150" b="0">
                <a:solidFill>
                  <a:srgbClr val="2E2E2E"/>
                </a:solidFill>
                <a:latin typeface="Calibri"/>
              </a:rPr>
              <a:t>and</a:t>
            </a:r>
          </a:p>
        </p:txBody>
      </p:sp>
      <p:pic>
        <p:nvPicPr>
          <p:cNvPr id="23" name="Picture 22" descr="lock.png"/>
          <p:cNvPicPr>
            <a:picLocks noChangeAspect="1"/>
          </p:cNvPicPr>
          <p:nvPr/>
        </p:nvPicPr>
        <p:blipFill>
          <a:blip r:embed="rId4"/>
          <a:stretch>
            <a:fillRect/>
          </a:stretch>
        </p:blipFill>
        <p:spPr>
          <a:xfrm>
            <a:off x="6074762" y="5161851"/>
            <a:ext cx="134549" cy="195707"/>
          </a:xfrm>
          <a:prstGeom prst="rect">
            <a:avLst/>
          </a:prstGeom>
        </p:spPr>
      </p:pic>
      <p:sp>
        <p:nvSpPr>
          <p:cNvPr id="24" name="TextBox 23"/>
          <p:cNvSpPr txBox="1"/>
          <p:nvPr/>
        </p:nvSpPr>
        <p:spPr>
          <a:xfrm>
            <a:off x="6249871" y="5172075"/>
            <a:ext cx="395113" cy="194310"/>
          </a:xfrm>
          <a:prstGeom prst="rect">
            <a:avLst/>
          </a:prstGeom>
          <a:noFill/>
        </p:spPr>
        <p:txBody>
          <a:bodyPr wrap="none" lIns="0" rIns="0" tIns="0" bIns="0">
            <a:spAutoFit/>
          </a:bodyPr>
          <a:lstStyle/>
          <a:p>
            <a:r>
              <a:rPr sz="1150" b="0">
                <a:solidFill>
                  <a:srgbClr val="2E2E2E"/>
                </a:solidFill>
                <a:latin typeface="Calibri"/>
              </a:rPr>
              <a:t>/ 10).</a:t>
            </a:r>
          </a:p>
        </p:txBody>
      </p:sp>
      <p:sp>
        <p:nvSpPr>
          <p:cNvPr id="25" name="TextBox 24"/>
          <p:cNvSpPr txBox="1"/>
          <p:nvPr/>
        </p:nvSpPr>
        <p:spPr>
          <a:xfrm>
            <a:off x="276225" y="5399913"/>
            <a:ext cx="8333444" cy="194310"/>
          </a:xfrm>
          <a:prstGeom prst="rect">
            <a:avLst/>
          </a:prstGeom>
          <a:noFill/>
        </p:spPr>
        <p:txBody>
          <a:bodyPr wrap="none" lIns="0" rIns="0" tIns="0" bIns="0">
            <a:spAutoFit/>
          </a:bodyPr>
          <a:lstStyle/>
          <a:p>
            <a:r>
              <a:rPr sz="1150" b="0">
                <a:solidFill>
                  <a:srgbClr val="2E2E2E"/>
                </a:solidFill>
                <a:latin typeface="Calibri"/>
              </a:rPr>
              <a:t>▪ 8 of 10 factors exert upward pressure on price; the rest pull prices down chiefly Technology &amp; Innovation and the Competitive Landscape.</a:t>
            </a:r>
          </a:p>
        </p:txBody>
      </p:sp>
      <p:sp>
        <p:nvSpPr>
          <p:cNvPr id="26" name="TextBox 25"/>
          <p:cNvSpPr txBox="1"/>
          <p:nvPr/>
        </p:nvSpPr>
        <p:spPr>
          <a:xfrm>
            <a:off x="276225" y="5627750"/>
            <a:ext cx="8053610" cy="194310"/>
          </a:xfrm>
          <a:prstGeom prst="rect">
            <a:avLst/>
          </a:prstGeom>
          <a:noFill/>
        </p:spPr>
        <p:txBody>
          <a:bodyPr wrap="none" lIns="0" rIns="0" tIns="0" bIns="0">
            <a:spAutoFit/>
          </a:bodyPr>
          <a:lstStyle/>
          <a:p>
            <a:r>
              <a:rPr sz="1150" b="0">
                <a:solidFill>
                  <a:srgbClr val="2E2E2E"/>
                </a:solidFill>
                <a:latin typeface="Calibri"/>
              </a:rPr>
              <a:t>▪ Cost-side factors set the price floor; demand, brand and competitive forces determine how much of that cost can be passed through.</a:t>
            </a:r>
          </a:p>
        </p:txBody>
      </p:sp>
      <p:sp>
        <p:nvSpPr>
          <p:cNvPr id="27" name="TextBox 26"/>
          <p:cNvSpPr txBox="1"/>
          <p:nvPr/>
        </p:nvSpPr>
        <p:spPr>
          <a:xfrm>
            <a:off x="276225" y="5855588"/>
            <a:ext cx="7048375" cy="194310"/>
          </a:xfrm>
          <a:prstGeom prst="rect">
            <a:avLst/>
          </a:prstGeom>
          <a:noFill/>
        </p:spPr>
        <p:txBody>
          <a:bodyPr wrap="none" lIns="0" rIns="0" tIns="0" bIns="0">
            <a:spAutoFit/>
          </a:bodyPr>
          <a:lstStyle/>
          <a:p>
            <a:r>
              <a:rPr sz="1150" b="0">
                <a:solidFill>
                  <a:srgbClr val="2E2E2E"/>
                </a:solidFill>
                <a:latin typeface="Calibri"/>
              </a:rPr>
              <a:t>▪ Aftermarket &amp; Service Costs exerts the least pressure a second-order effect to monitor rather than actively manage.</a:t>
            </a:r>
          </a:p>
        </p:txBody>
      </p:sp>
    </p:spTree>
  </p:cSld>
  <p:clrMapOvr>
    <a:masterClrMapping/>
  </p:clrMapOvr>
</p:sld>
</file>

<file path=ppt/slides/slide26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Regional Price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price assessment across the value chain, from manufacturer to retail, and average price by geography, 2026–2036</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price assessment across the value chain (US$/MT) and price trajectory to 2036.</a:t>
            </a:r>
          </a:p>
        </p:txBody>
      </p:sp>
      <p:sp>
        <p:nvSpPr>
          <p:cNvPr id="11" name="Rounded Rectangle 10"/>
          <p:cNvSpPr/>
          <p:nvPr/>
        </p:nvSpPr>
        <p:spPr>
          <a:xfrm>
            <a:off x="142875" y="1317574"/>
            <a:ext cx="590550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Regional Price by Value-Chain Level (US$/MT)</a:t>
            </a:r>
          </a:p>
        </p:txBody>
      </p:sp>
      <p:graphicFrame>
        <p:nvGraphicFramePr>
          <p:cNvPr id="13" name="Table 12"/>
          <p:cNvGraphicFramePr>
            <a:graphicFrameLocks noGrp="1"/>
          </p:cNvGraphicFramePr>
          <p:nvPr/>
        </p:nvGraphicFramePr>
        <p:xfrm>
          <a:off x="152400" y="1574749"/>
          <a:ext cx="5886452" cy="2271330"/>
        </p:xfrm>
        <a:graphic>
          <a:graphicData uri="http://schemas.openxmlformats.org/drawingml/2006/table">
            <a:tbl>
              <a:tblPr>
                <a:tableStyleId>{5C22544A-7EE6-4342-B048-85BDC9FD1C3A}</a:tableStyleId>
              </a:tblPr>
              <a:tblGrid>
                <a:gridCol w="1370904"/>
                <a:gridCol w="1128887"/>
                <a:gridCol w="1128887"/>
                <a:gridCol w="1128887"/>
                <a:gridCol w="1128887"/>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Manufacturer</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Distribution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Retail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Total Margin (%)</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855604"/>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6200775" y="1317574"/>
            <a:ext cx="5848350" cy="2738055"/>
          </a:xfrm>
          <a:prstGeom prst="roundRect">
            <a:avLst>
              <a:gd name="adj" fmla="val 278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6025" y="1374724"/>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by Geography (US$/MT)</a:t>
            </a:r>
          </a:p>
        </p:txBody>
      </p:sp>
      <p:graphicFrame>
        <p:nvGraphicFramePr>
          <p:cNvPr id="17" name="Table 16"/>
          <p:cNvGraphicFramePr>
            <a:graphicFrameLocks noGrp="1"/>
          </p:cNvGraphicFramePr>
          <p:nvPr/>
        </p:nvGraphicFramePr>
        <p:xfrm>
          <a:off x="6210300" y="1574749"/>
          <a:ext cx="5829299" cy="2271330"/>
        </p:xfrm>
        <a:graphic>
          <a:graphicData uri="http://schemas.openxmlformats.org/drawingml/2006/table">
            <a:tbl>
              <a:tblPr>
                <a:tableStyleId>{5C22544A-7EE6-4342-B048-85BDC9FD1C3A}</a:tableStyleId>
              </a:tblPr>
              <a:tblGrid>
                <a:gridCol w="2038759"/>
                <a:gridCol w="947635"/>
                <a:gridCol w="947635"/>
                <a:gridCol w="947635"/>
                <a:gridCol w="947635"/>
              </a:tblGrid>
              <a:tr h="246126">
                <a:tc>
                  <a:txBody>
                    <a:bodyPr wrap="none"/>
                    <a:lstStyle/>
                    <a:p>
                      <a:pPr algn="l"/>
                      <a:r>
                        <a:rPr sz="1100" b="1">
                          <a:solidFill>
                            <a:srgbClr val="0B2E4A"/>
                          </a:solidFill>
                          <a:latin typeface="Calibri"/>
                        </a:rPr>
                        <a:t>Geography</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2029F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337534">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37534">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37534">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8" name="TextBox 17"/>
          <p:cNvSpPr txBox="1"/>
          <p:nvPr/>
        </p:nvSpPr>
        <p:spPr>
          <a:xfrm>
            <a:off x="6276975" y="3855604"/>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142875" y="4201658"/>
            <a:ext cx="11906250" cy="2354727"/>
          </a:xfrm>
          <a:prstGeom prst="roundRect">
            <a:avLst>
              <a:gd name="adj" fmla="val 323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287383"/>
            <a:ext cx="11639550" cy="209550"/>
          </a:xfrm>
          <a:prstGeom prst="rect">
            <a:avLst/>
          </a:prstGeom>
          <a:noFill/>
        </p:spPr>
        <p:txBody>
          <a:bodyPr wrap="square" lIns="0" rIns="19050" tIns="9525" bIns="9525">
            <a:spAutoFit/>
          </a:bodyPr>
          <a:lstStyle/>
          <a:p>
            <a:pPr algn="l"/>
            <a:r>
              <a:rPr sz="1300" b="1">
                <a:solidFill>
                  <a:srgbClr val="0B2E4A"/>
                </a:solidFill>
                <a:latin typeface="Calibri"/>
              </a:rPr>
              <a:t>What This Section Covers</a:t>
            </a:r>
          </a:p>
        </p:txBody>
      </p:sp>
      <p:sp>
        <p:nvSpPr>
          <p:cNvPr id="21" name="Rectangle 20"/>
          <p:cNvSpPr/>
          <p:nvPr/>
        </p:nvSpPr>
        <p:spPr>
          <a:xfrm>
            <a:off x="276225" y="4525508"/>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611233"/>
            <a:ext cx="11639550" cy="1868952"/>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Manufacturer-level pricing ex-works / producer price benchmarked for each geography.</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Distribution &amp; channel pricing logistics and channel margin layered onto the producer price.</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Retail / end-market pricing the average price paid by the end customer across geographies.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Value-chain margin build-up cumulative margin from manufacturer to retail, by geography (prices derived as Value ÷ Volume).</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3594387" y="2566777"/>
            <a:ext cx="366712" cy="533399"/>
          </a:xfrm>
          <a:prstGeom prst="rect">
            <a:avLst/>
          </a:prstGeom>
        </p:spPr>
      </p:pic>
      <p:pic>
        <p:nvPicPr>
          <p:cNvPr id="25" name="Picture 24" descr="lock.png"/>
          <p:cNvPicPr>
            <a:picLocks noChangeAspect="1"/>
          </p:cNvPicPr>
          <p:nvPr/>
        </p:nvPicPr>
        <p:blipFill>
          <a:blip r:embed="rId4"/>
          <a:stretch>
            <a:fillRect/>
          </a:stretch>
        </p:blipFill>
        <p:spPr>
          <a:xfrm>
            <a:off x="9957639" y="2566777"/>
            <a:ext cx="366712" cy="533400"/>
          </a:xfrm>
          <a:prstGeom prst="rect">
            <a:avLst/>
          </a:prstGeom>
        </p:spPr>
      </p:pic>
    </p:spTree>
  </p:cSld>
  <p:clrMapOvr>
    <a:masterClrMapping/>
  </p:clrMapOvr>
</p:sld>
</file>

<file path=ppt/slides/slide26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Global Pricing Benchmarking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price range by region and sub-segment against the weighted average price of each region</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Development-stage price assumptions and manufacturer benchmarking price range by nature type and region (US$/MT).</a:t>
            </a:r>
          </a:p>
        </p:txBody>
      </p:sp>
      <p:sp>
        <p:nvSpPr>
          <p:cNvPr id="11" name="Rounded Rectangle 10"/>
          <p:cNvSpPr/>
          <p:nvPr/>
        </p:nvSpPr>
        <p:spPr>
          <a:xfrm>
            <a:off x="142875" y="1314450"/>
            <a:ext cx="11906250" cy="2876550"/>
          </a:xfrm>
          <a:prstGeom prst="roundRect">
            <a:avLst>
              <a:gd name="adj" fmla="val 26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1600"/>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Benchmarking by Region &amp; Nature (US$/MT)</a:t>
            </a:r>
          </a:p>
        </p:txBody>
      </p:sp>
      <p:graphicFrame>
        <p:nvGraphicFramePr>
          <p:cNvPr id="13" name="Table 12"/>
          <p:cNvGraphicFramePr>
            <a:graphicFrameLocks noGrp="1"/>
          </p:cNvGraphicFramePr>
          <p:nvPr/>
        </p:nvGraphicFramePr>
        <p:xfrm>
          <a:off x="152400" y="1571625"/>
          <a:ext cx="11887200" cy="2409822"/>
        </p:xfrm>
        <a:graphic>
          <a:graphicData uri="http://schemas.openxmlformats.org/drawingml/2006/table">
            <a:tbl>
              <a:tblPr>
                <a:tableStyleId>{5C22544A-7EE6-4342-B048-85BDC9FD1C3A}</a:tableStyleId>
              </a:tblPr>
              <a:tblGrid>
                <a:gridCol w="3201366"/>
                <a:gridCol w="2895278"/>
                <a:gridCol w="2895278"/>
                <a:gridCol w="2895278"/>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Organic</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Conventional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Weighted Avg</a:t>
                      </a:r>
                      <a:endParaRPr sz="1100"/>
                    </a:p>
                  </a:txBody>
                  <a:tcPr marL="47625" marR="38100" marT="19050" marB="19050" anchor="ctr">
                    <a:solidFill>
                      <a:srgbClr val="E0E8EF"/>
                    </a:solidFill>
                  </a:tcPr>
                </a:tc>
              </a:tr>
              <a:tr h="360616">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Latin America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East Asia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60616">
                <a:tc>
                  <a:txBody>
                    <a:bodyPr wrap="none"/>
                    <a:lstStyle/>
                    <a:p>
                      <a:pPr algn="l"/>
                      <a:r>
                        <a:rPr sz="1100" b="1">
                          <a:solidFill>
                            <a:srgbClr val="2E2E2E"/>
                          </a:solidFill>
                          <a:latin typeface="Calibri"/>
                        </a:rPr>
                        <a:t>South Asia &amp; Pacific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60616">
                <a:tc>
                  <a:txBody>
                    <a:bodyPr wrap="none"/>
                    <a:lstStyle/>
                    <a:p>
                      <a:pPr algn="l"/>
                      <a:r>
                        <a:rPr sz="1100" b="1">
                          <a:solidFill>
                            <a:srgbClr val="2E2E2E"/>
                          </a:solidFill>
                          <a:latin typeface="Calibri"/>
                        </a:rPr>
                        <a:t>Middle East &amp; Africa</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9909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4333875"/>
            <a:ext cx="11906250" cy="2209800"/>
          </a:xfrm>
          <a:prstGeom prst="roundRect">
            <a:avLst>
              <a:gd name="adj" fmla="val 3448"/>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76225" y="4419600"/>
            <a:ext cx="11639550" cy="209550"/>
          </a:xfrm>
          <a:prstGeom prst="rect">
            <a:avLst/>
          </a:prstGeom>
          <a:noFill/>
        </p:spPr>
        <p:txBody>
          <a:bodyPr wrap="square" lIns="0" rIns="19050" tIns="9525" bIns="9525">
            <a:spAutoFit/>
          </a:bodyPr>
          <a:lstStyle/>
          <a:p>
            <a:pPr algn="l"/>
            <a:r>
              <a:rPr sz="1300" b="1">
                <a:solidFill>
                  <a:srgbClr val="0B2E4A"/>
                </a:solidFill>
                <a:latin typeface="Calibri"/>
              </a:rPr>
              <a:t>Benchmarking Insights</a:t>
            </a:r>
          </a:p>
        </p:txBody>
      </p:sp>
      <p:sp>
        <p:nvSpPr>
          <p:cNvPr id="17" name="Rectangle 16"/>
          <p:cNvSpPr/>
          <p:nvPr/>
        </p:nvSpPr>
        <p:spPr>
          <a:xfrm>
            <a:off x="276225" y="46577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743450"/>
            <a:ext cx="11639550" cy="172402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7509992" y="2632899"/>
            <a:ext cx="366712" cy="533400"/>
          </a:xfrm>
          <a:prstGeom prst="rect">
            <a:avLst/>
          </a:prstGeom>
        </p:spPr>
      </p:pic>
      <p:sp>
        <p:nvSpPr>
          <p:cNvPr id="21" name="TextBox 20"/>
          <p:cNvSpPr txBox="1"/>
          <p:nvPr/>
        </p:nvSpPr>
        <p:spPr>
          <a:xfrm>
            <a:off x="276225" y="4752975"/>
            <a:ext cx="4641688" cy="194310"/>
          </a:xfrm>
          <a:prstGeom prst="rect">
            <a:avLst/>
          </a:prstGeom>
          <a:noFill/>
        </p:spPr>
        <p:txBody>
          <a:bodyPr wrap="none" lIns="0" rIns="0" tIns="0" bIns="0">
            <a:spAutoFit/>
          </a:bodyPr>
          <a:lstStyle/>
          <a:p>
            <a:r>
              <a:rPr sz="1150" b="0">
                <a:solidFill>
                  <a:srgbClr val="2E2E2E"/>
                </a:solidFill>
                <a:latin typeface="Calibri"/>
              </a:rPr>
              <a:t>▪ On a weighted-average basis 'North America' is the highest-priced region (~</a:t>
            </a:r>
          </a:p>
        </p:txBody>
      </p:sp>
      <p:pic>
        <p:nvPicPr>
          <p:cNvPr id="22" name="Picture 21" descr="lock.png"/>
          <p:cNvPicPr>
            <a:picLocks noChangeAspect="1"/>
          </p:cNvPicPr>
          <p:nvPr/>
        </p:nvPicPr>
        <p:blipFill>
          <a:blip r:embed="rId4"/>
          <a:stretch>
            <a:fillRect/>
          </a:stretch>
        </p:blipFill>
        <p:spPr>
          <a:xfrm>
            <a:off x="4867067" y="4742751"/>
            <a:ext cx="134549" cy="195707"/>
          </a:xfrm>
          <a:prstGeom prst="rect">
            <a:avLst/>
          </a:prstGeom>
        </p:spPr>
      </p:pic>
      <p:sp>
        <p:nvSpPr>
          <p:cNvPr id="23" name="TextBox 22"/>
          <p:cNvSpPr txBox="1"/>
          <p:nvPr/>
        </p:nvSpPr>
        <p:spPr>
          <a:xfrm>
            <a:off x="5042176" y="4752975"/>
            <a:ext cx="3590528" cy="194310"/>
          </a:xfrm>
          <a:prstGeom prst="rect">
            <a:avLst/>
          </a:prstGeom>
          <a:noFill/>
        </p:spPr>
        <p:txBody>
          <a:bodyPr wrap="none" lIns="0" rIns="0" tIns="0" bIns="0">
            <a:spAutoFit/>
          </a:bodyPr>
          <a:lstStyle/>
          <a:p>
            <a:r>
              <a:rPr sz="1150" b="0">
                <a:solidFill>
                  <a:srgbClr val="2E2E2E"/>
                </a:solidFill>
                <a:latin typeface="Calibri"/>
              </a:rPr>
              <a:t>US$/MT) and 'South Asia &amp; Pacific' the most competitive (~</a:t>
            </a:r>
          </a:p>
        </p:txBody>
      </p:sp>
      <p:pic>
        <p:nvPicPr>
          <p:cNvPr id="24" name="Picture 23" descr="lock.png"/>
          <p:cNvPicPr>
            <a:picLocks noChangeAspect="1"/>
          </p:cNvPicPr>
          <p:nvPr/>
        </p:nvPicPr>
        <p:blipFill>
          <a:blip r:embed="rId4"/>
          <a:stretch>
            <a:fillRect/>
          </a:stretch>
        </p:blipFill>
        <p:spPr>
          <a:xfrm>
            <a:off x="8581859" y="4742751"/>
            <a:ext cx="134549" cy="195707"/>
          </a:xfrm>
          <a:prstGeom prst="rect">
            <a:avLst/>
          </a:prstGeom>
        </p:spPr>
      </p:pic>
      <p:sp>
        <p:nvSpPr>
          <p:cNvPr id="25" name="TextBox 24"/>
          <p:cNvSpPr txBox="1"/>
          <p:nvPr/>
        </p:nvSpPr>
        <p:spPr>
          <a:xfrm>
            <a:off x="8756968" y="4752975"/>
            <a:ext cx="644996" cy="194310"/>
          </a:xfrm>
          <a:prstGeom prst="rect">
            <a:avLst/>
          </a:prstGeom>
          <a:noFill/>
        </p:spPr>
        <p:txBody>
          <a:bodyPr wrap="none" lIns="0" rIns="0" tIns="0" bIns="0">
            <a:spAutoFit/>
          </a:bodyPr>
          <a:lstStyle/>
          <a:p>
            <a:r>
              <a:rPr sz="1150" b="0">
                <a:solidFill>
                  <a:srgbClr val="2E2E2E"/>
                </a:solidFill>
                <a:latin typeface="Calibri"/>
              </a:rPr>
              <a:t>US$/MT).</a:t>
            </a:r>
          </a:p>
        </p:txBody>
      </p:sp>
      <p:sp>
        <p:nvSpPr>
          <p:cNvPr id="26" name="TextBox 25"/>
          <p:cNvSpPr txBox="1"/>
          <p:nvPr/>
        </p:nvSpPr>
        <p:spPr>
          <a:xfrm>
            <a:off x="276225" y="4980813"/>
            <a:ext cx="5558780" cy="194310"/>
          </a:xfrm>
          <a:prstGeom prst="rect">
            <a:avLst/>
          </a:prstGeom>
          <a:noFill/>
        </p:spPr>
        <p:txBody>
          <a:bodyPr wrap="none" lIns="0" rIns="0" tIns="0" bIns="0">
            <a:spAutoFit/>
          </a:bodyPr>
          <a:lstStyle/>
          <a:p>
            <a:r>
              <a:rPr sz="1150" b="0">
                <a:solidFill>
                  <a:srgbClr val="2E2E2E"/>
                </a:solidFill>
                <a:latin typeface="Calibri"/>
              </a:rPr>
              <a:t>▪ Price ranges are benchmarked per nature type at 2026, derived as Value ÷ Volume with a ±</a:t>
            </a:r>
          </a:p>
        </p:txBody>
      </p:sp>
      <p:pic>
        <p:nvPicPr>
          <p:cNvPr id="27" name="Picture 26" descr="lock.png"/>
          <p:cNvPicPr>
            <a:picLocks noChangeAspect="1"/>
          </p:cNvPicPr>
          <p:nvPr/>
        </p:nvPicPr>
        <p:blipFill>
          <a:blip r:embed="rId4"/>
          <a:stretch>
            <a:fillRect/>
          </a:stretch>
        </p:blipFill>
        <p:spPr>
          <a:xfrm>
            <a:off x="5784159" y="4970589"/>
            <a:ext cx="134549" cy="195707"/>
          </a:xfrm>
          <a:prstGeom prst="rect">
            <a:avLst/>
          </a:prstGeom>
        </p:spPr>
      </p:pic>
      <p:sp>
        <p:nvSpPr>
          <p:cNvPr id="28" name="TextBox 27"/>
          <p:cNvSpPr txBox="1"/>
          <p:nvPr/>
        </p:nvSpPr>
        <p:spPr>
          <a:xfrm>
            <a:off x="5959268" y="4980813"/>
            <a:ext cx="1455117" cy="194310"/>
          </a:xfrm>
          <a:prstGeom prst="rect">
            <a:avLst/>
          </a:prstGeom>
          <a:noFill/>
        </p:spPr>
        <p:txBody>
          <a:bodyPr wrap="none" lIns="0" rIns="0" tIns="0" bIns="0">
            <a:spAutoFit/>
          </a:bodyPr>
          <a:lstStyle/>
          <a:p>
            <a:r>
              <a:rPr sz="1150" b="0">
                <a:solidFill>
                  <a:srgbClr val="2E2E2E"/>
                </a:solidFill>
                <a:latin typeface="Calibri"/>
              </a:rPr>
              <a:t>observed trading band.</a:t>
            </a:r>
          </a:p>
        </p:txBody>
      </p:sp>
      <p:sp>
        <p:nvSpPr>
          <p:cNvPr id="29" name="TextBox 28"/>
          <p:cNvSpPr txBox="1"/>
          <p:nvPr/>
        </p:nvSpPr>
        <p:spPr>
          <a:xfrm>
            <a:off x="276225" y="5208650"/>
            <a:ext cx="2140867" cy="194310"/>
          </a:xfrm>
          <a:prstGeom prst="rect">
            <a:avLst/>
          </a:prstGeom>
          <a:noFill/>
        </p:spPr>
        <p:txBody>
          <a:bodyPr wrap="none" lIns="0" rIns="0" tIns="0" bIns="0">
            <a:spAutoFit/>
          </a:bodyPr>
          <a:lstStyle/>
          <a:p>
            <a:r>
              <a:rPr sz="1150" b="0">
                <a:solidFill>
                  <a:srgbClr val="2E2E2E"/>
                </a:solidFill>
                <a:latin typeface="Calibri"/>
              </a:rPr>
              <a:t>▪ Cross-region price dispersion of ~</a:t>
            </a:r>
          </a:p>
        </p:txBody>
      </p:sp>
      <p:pic>
        <p:nvPicPr>
          <p:cNvPr id="30" name="Picture 29" descr="lock.png"/>
          <p:cNvPicPr>
            <a:picLocks noChangeAspect="1"/>
          </p:cNvPicPr>
          <p:nvPr/>
        </p:nvPicPr>
        <p:blipFill>
          <a:blip r:embed="rId4"/>
          <a:stretch>
            <a:fillRect/>
          </a:stretch>
        </p:blipFill>
        <p:spPr>
          <a:xfrm>
            <a:off x="2366246" y="5198427"/>
            <a:ext cx="134549" cy="195707"/>
          </a:xfrm>
          <a:prstGeom prst="rect">
            <a:avLst/>
          </a:prstGeom>
        </p:spPr>
      </p:pic>
      <p:sp>
        <p:nvSpPr>
          <p:cNvPr id="31" name="TextBox 30"/>
          <p:cNvSpPr txBox="1"/>
          <p:nvPr/>
        </p:nvSpPr>
        <p:spPr>
          <a:xfrm>
            <a:off x="2541355" y="5208650"/>
            <a:ext cx="3627040" cy="194310"/>
          </a:xfrm>
          <a:prstGeom prst="rect">
            <a:avLst/>
          </a:prstGeom>
          <a:noFill/>
        </p:spPr>
        <p:txBody>
          <a:bodyPr wrap="none" lIns="0" rIns="0" tIns="0" bIns="0">
            <a:spAutoFit/>
          </a:bodyPr>
          <a:lstStyle/>
          <a:p>
            <a:r>
              <a:rPr sz="1150" b="0">
                <a:solidFill>
                  <a:srgbClr val="2E2E2E"/>
                </a:solidFill>
                <a:latin typeface="Calibri"/>
              </a:rPr>
              <a:t>× reflects differences in mix, logistics and channel structure.</a:t>
            </a:r>
          </a:p>
        </p:txBody>
      </p:sp>
      <p:sp>
        <p:nvSpPr>
          <p:cNvPr id="32" name="TextBox 31"/>
          <p:cNvSpPr txBox="1"/>
          <p:nvPr/>
        </p:nvSpPr>
        <p:spPr>
          <a:xfrm>
            <a:off x="276225" y="5436488"/>
            <a:ext cx="5691708" cy="194310"/>
          </a:xfrm>
          <a:prstGeom prst="rect">
            <a:avLst/>
          </a:prstGeom>
          <a:noFill/>
        </p:spPr>
        <p:txBody>
          <a:bodyPr wrap="none" lIns="0" rIns="0" tIns="0" bIns="0">
            <a:spAutoFit/>
          </a:bodyPr>
          <a:lstStyle/>
          <a:p>
            <a:r>
              <a:rPr sz="1150" b="0">
                <a:solidFill>
                  <a:srgbClr val="2E2E2E"/>
                </a:solidFill>
                <a:latin typeface="Calibri"/>
              </a:rPr>
              <a:t>▪ Benchmarks support price-corridor setting and margin-defence decisions across geographies.</a:t>
            </a:r>
          </a:p>
        </p:txBody>
      </p:sp>
    </p:spTree>
  </p:cSld>
  <p:clrMapOvr>
    <a:masterClrMapping/>
  </p:clrMapOvr>
</p:sld>
</file>

<file path=ppt/slides/slide26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Price Forecast &amp; Dynamics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Price forecast by sub-segment, 2026–2036, with the factors and dynamics shaping the trajectory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Forward price trajectory to 2036 by nature type and the structural factors shaping it (US$/MT).</a:t>
            </a:r>
          </a:p>
        </p:txBody>
      </p:sp>
      <p:sp>
        <p:nvSpPr>
          <p:cNvPr id="11" name="Rounded Rectangle 10"/>
          <p:cNvSpPr/>
          <p:nvPr/>
        </p:nvSpPr>
        <p:spPr>
          <a:xfrm>
            <a:off x="142875" y="1317574"/>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74724"/>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Price Forecast to 2036 by Nature (US$/MT)</a:t>
            </a:r>
          </a:p>
        </p:txBody>
      </p:sp>
      <p:graphicFrame>
        <p:nvGraphicFramePr>
          <p:cNvPr id="13" name="Table 12"/>
          <p:cNvGraphicFramePr>
            <a:graphicFrameLocks noGrp="1"/>
          </p:cNvGraphicFramePr>
          <p:nvPr/>
        </p:nvGraphicFramePr>
        <p:xfrm>
          <a:off x="152400" y="1574749"/>
          <a:ext cx="11887199" cy="1504674"/>
        </p:xfrm>
        <a:graphic>
          <a:graphicData uri="http://schemas.openxmlformats.org/drawingml/2006/table">
            <a:tbl>
              <a:tblPr>
                <a:tableStyleId>{5C22544A-7EE6-4342-B048-85BDC9FD1C3A}</a:tableStyleId>
              </a:tblPr>
              <a:tblGrid>
                <a:gridCol w="2325179"/>
                <a:gridCol w="1593670"/>
                <a:gridCol w="1593670"/>
                <a:gridCol w="1593670"/>
                <a:gridCol w="1593670"/>
                <a:gridCol w="1593670"/>
                <a:gridCol w="1593670"/>
              </a:tblGrid>
              <a:tr h="246126">
                <a:tc>
                  <a:txBody>
                    <a:bodyPr wrap="none"/>
                    <a:lstStyle/>
                    <a:p>
                      <a:pPr algn="l"/>
                      <a:r>
                        <a:rPr sz="1100" b="1">
                          <a:solidFill>
                            <a:srgbClr val="0B2E4A"/>
                          </a:solidFill>
                          <a:latin typeface="Calibri"/>
                        </a:rPr>
                        <a:t>Nature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2026E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2028F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2030F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2032F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2034F</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2036F</a:t>
                      </a:r>
                      <a:endParaRPr sz="1100"/>
                    </a:p>
                  </a:txBody>
                  <a:tcPr marL="47625" marR="38100" marT="19050" marB="19050" anchor="ctr">
                    <a:solidFill>
                      <a:srgbClr val="E0E8EF"/>
                    </a:solidFill>
                  </a:tcPr>
                </a:tc>
              </a:tr>
              <a:tr h="629274">
                <a:tc>
                  <a:txBody>
                    <a:bodyPr wrap="none"/>
                    <a:lstStyle/>
                    <a:p>
                      <a:pPr algn="l"/>
                      <a:r>
                        <a:rPr sz="1100" b="1">
                          <a:solidFill>
                            <a:srgbClr val="2E2E2E"/>
                          </a:solidFill>
                          <a:latin typeface="Calibri"/>
                        </a:rPr>
                        <a:t>Organic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629274">
                <a:tc>
                  <a:txBody>
                    <a:bodyPr wrap="none"/>
                    <a:lstStyle/>
                    <a:p>
                      <a:pPr algn="l"/>
                      <a:r>
                        <a:rPr sz="1100" b="1">
                          <a:solidFill>
                            <a:srgbClr val="2E2E2E"/>
                          </a:solidFill>
                          <a:latin typeface="Calibri"/>
                        </a:rPr>
                        <a:t>Conventional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88948"/>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Factors Impacting Pricing</a:t>
            </a:r>
          </a:p>
        </p:txBody>
      </p:sp>
      <p:graphicFrame>
        <p:nvGraphicFramePr>
          <p:cNvPr id="17" name="Table 16"/>
          <p:cNvGraphicFramePr>
            <a:graphicFrameLocks noGrp="1"/>
          </p:cNvGraphicFramePr>
          <p:nvPr/>
        </p:nvGraphicFramePr>
        <p:xfrm>
          <a:off x="152400" y="3655670"/>
          <a:ext cx="5886449" cy="2714626"/>
        </p:xfrm>
        <a:graphic>
          <a:graphicData uri="http://schemas.openxmlformats.org/drawingml/2006/table">
            <a:tbl>
              <a:tblPr>
                <a:tableStyleId>{5C22544A-7EE6-4342-B048-85BDC9FD1C3A}</a:tableStyleId>
              </a:tblPr>
              <a:tblGrid>
                <a:gridCol w="2867491"/>
                <a:gridCol w="1509479"/>
                <a:gridCol w="1509479"/>
              </a:tblGrid>
              <a:tr h="246126">
                <a:tc>
                  <a:txBody>
                    <a:bodyPr wrap="none"/>
                    <a:lstStyle/>
                    <a:p>
                      <a:pPr algn="l"/>
                      <a:r>
                        <a:rPr sz="1100" b="1">
                          <a:solidFill>
                            <a:srgbClr val="0B2E4A"/>
                          </a:solidFill>
                          <a:latin typeface="Calibri"/>
                        </a:rPr>
                        <a:t>Pricing Factor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Direction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Impact (H/M/L)</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Input Cost</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Labor &amp; Production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Technology &amp; Innovation</a:t>
                      </a:r>
                      <a:endParaRPr sz="1100"/>
                    </a:p>
                  </a:txBody>
                  <a:tcPr marL="47625" marR="38100" marT="19050" marB="19050" anchor="ctr">
                    <a:solidFill>
                      <a:srgbClr val="FFFFFF"/>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Supply Chain &amp; Logistics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Demand &amp; Market Conditions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Competitive Landscape</a:t>
                      </a:r>
                      <a:endParaRPr sz="1100"/>
                    </a:p>
                  </a:txBody>
                  <a:tcPr marL="47625" marR="38100" marT="19050" marB="19050" anchor="ctr">
                    <a:solidFill>
                      <a:srgbClr val="F5F8FA"/>
                    </a:solidFill>
                  </a:tcPr>
                </a:tc>
                <a:tc>
                  <a:txBody>
                    <a:bodyPr wrap="none"/>
                    <a:lstStyle/>
                    <a:p>
                      <a:pPr algn="l"/>
                      <a:r>
                        <a:rPr sz="1100" b="1">
                          <a:solidFill>
                            <a:srgbClr val="E44D3A"/>
                          </a:solidFill>
                          <a:latin typeface="Calibri"/>
                        </a:rPr>
                        <a:t>▼ Downward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Regulatory &amp; Compliance Costs</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Currency &amp; Trade Dynamics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Brand &amp; Value Perception</a:t>
                      </a:r>
                      <a:endParaRPr sz="1100"/>
                    </a:p>
                  </a:txBody>
                  <a:tcPr marL="47625" marR="38100" marT="19050" marB="19050" anchor="ctr">
                    <a:solidFill>
                      <a:srgbClr val="FFFFFF"/>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Medium</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Aftermarket &amp; Service Costs</a:t>
                      </a:r>
                      <a:endParaRPr sz="1100"/>
                    </a:p>
                  </a:txBody>
                  <a:tcPr marL="47625" marR="38100" marT="19050" marB="19050" anchor="ctr">
                    <a:solidFill>
                      <a:srgbClr val="F5F8FA"/>
                    </a:solidFill>
                  </a:tcPr>
                </a:tc>
                <a:tc>
                  <a:txBody>
                    <a:bodyPr wrap="none"/>
                    <a:lstStyle/>
                    <a:p>
                      <a:pPr algn="l"/>
                      <a:r>
                        <a:rPr sz="1100" b="1">
                          <a:solidFill>
                            <a:srgbClr val="2E7D32"/>
                          </a:solidFill>
                          <a:latin typeface="Calibri"/>
                        </a:rPr>
                        <a:t>▲ Upward</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Low</a:t>
                      </a:r>
                      <a:endParaRPr sz="1100"/>
                    </a:p>
                  </a:txBody>
                  <a:tcPr marL="47625" marR="38100" marT="19050" marB="19050" anchor="ctr">
                    <a:solidFill>
                      <a:srgbClr val="F5F8FA"/>
                    </a:solidFill>
                  </a:tcPr>
                </a:tc>
              </a:tr>
            </a:tbl>
          </a:graphicData>
        </a:graphic>
      </p:graphicFrame>
      <p:sp>
        <p:nvSpPr>
          <p:cNvPr id="18" name="TextBox 17"/>
          <p:cNvSpPr txBox="1"/>
          <p:nvPr/>
        </p:nvSpPr>
        <p:spPr>
          <a:xfrm>
            <a:off x="219075" y="6379820"/>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3398495"/>
            <a:ext cx="5848350" cy="3157890"/>
          </a:xfrm>
          <a:prstGeom prst="roundRect">
            <a:avLst>
              <a:gd name="adj" fmla="val 241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334125" y="3484220"/>
            <a:ext cx="5581650" cy="209550"/>
          </a:xfrm>
          <a:prstGeom prst="rect">
            <a:avLst/>
          </a:prstGeom>
          <a:noFill/>
        </p:spPr>
        <p:txBody>
          <a:bodyPr wrap="square" lIns="0" rIns="19050" tIns="9525" bIns="9525">
            <a:spAutoFit/>
          </a:bodyPr>
          <a:lstStyle/>
          <a:p>
            <a:pPr algn="l"/>
            <a:r>
              <a:rPr sz="1300" b="1">
                <a:solidFill>
                  <a:srgbClr val="0B2E4A"/>
                </a:solidFill>
                <a:latin typeface="Calibri"/>
              </a:rPr>
              <a:t>Pricing Dynamics &amp; Outlook</a:t>
            </a:r>
          </a:p>
        </p:txBody>
      </p:sp>
      <p:sp>
        <p:nvSpPr>
          <p:cNvPr id="21" name="Rectangle 20"/>
          <p:cNvSpPr/>
          <p:nvPr/>
        </p:nvSpPr>
        <p:spPr>
          <a:xfrm>
            <a:off x="6334125" y="3722345"/>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6334125" y="3808070"/>
            <a:ext cx="5581650" cy="267211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7071899" y="2183449"/>
            <a:ext cx="366712" cy="533400"/>
          </a:xfrm>
          <a:prstGeom prst="rect">
            <a:avLst/>
          </a:prstGeom>
        </p:spPr>
      </p:pic>
      <p:sp>
        <p:nvSpPr>
          <p:cNvPr id="25" name="TextBox 24"/>
          <p:cNvSpPr txBox="1"/>
          <p:nvPr/>
        </p:nvSpPr>
        <p:spPr>
          <a:xfrm>
            <a:off x="6334125" y="3817595"/>
            <a:ext cx="2969775" cy="194310"/>
          </a:xfrm>
          <a:prstGeom prst="rect">
            <a:avLst/>
          </a:prstGeom>
          <a:noFill/>
        </p:spPr>
        <p:txBody>
          <a:bodyPr wrap="none" lIns="0" rIns="0" tIns="0" bIns="0">
            <a:spAutoFit/>
          </a:bodyPr>
          <a:lstStyle/>
          <a:p>
            <a:r>
              <a:rPr sz="1150" b="0">
                <a:solidFill>
                  <a:srgbClr val="2E2E2E"/>
                </a:solidFill>
                <a:latin typeface="Calibri"/>
              </a:rPr>
              <a:t>▪ Average nature price is projected to rise from ~</a:t>
            </a:r>
          </a:p>
        </p:txBody>
      </p:sp>
      <p:pic>
        <p:nvPicPr>
          <p:cNvPr id="26" name="Picture 25" descr="lock.png"/>
          <p:cNvPicPr>
            <a:picLocks noChangeAspect="1"/>
          </p:cNvPicPr>
          <p:nvPr/>
        </p:nvPicPr>
        <p:blipFill>
          <a:blip r:embed="rId4"/>
          <a:stretch>
            <a:fillRect/>
          </a:stretch>
        </p:blipFill>
        <p:spPr>
          <a:xfrm>
            <a:off x="9253054" y="3807371"/>
            <a:ext cx="134549" cy="195707"/>
          </a:xfrm>
          <a:prstGeom prst="rect">
            <a:avLst/>
          </a:prstGeom>
        </p:spPr>
      </p:pic>
      <p:sp>
        <p:nvSpPr>
          <p:cNvPr id="27" name="TextBox 26"/>
          <p:cNvSpPr txBox="1"/>
          <p:nvPr/>
        </p:nvSpPr>
        <p:spPr>
          <a:xfrm>
            <a:off x="9428163" y="3817595"/>
            <a:ext cx="308111" cy="194310"/>
          </a:xfrm>
          <a:prstGeom prst="rect">
            <a:avLst/>
          </a:prstGeom>
          <a:noFill/>
        </p:spPr>
        <p:txBody>
          <a:bodyPr wrap="none" lIns="0" rIns="0" tIns="0" bIns="0">
            <a:spAutoFit/>
          </a:bodyPr>
          <a:lstStyle/>
          <a:p>
            <a:r>
              <a:rPr sz="1150" b="0">
                <a:solidFill>
                  <a:srgbClr val="2E2E2E"/>
                </a:solidFill>
                <a:latin typeface="Calibri"/>
              </a:rPr>
              <a:t>to ~</a:t>
            </a:r>
          </a:p>
        </p:txBody>
      </p:sp>
      <p:pic>
        <p:nvPicPr>
          <p:cNvPr id="28" name="Picture 27" descr="lock.png"/>
          <p:cNvPicPr>
            <a:picLocks noChangeAspect="1"/>
          </p:cNvPicPr>
          <p:nvPr/>
        </p:nvPicPr>
        <p:blipFill>
          <a:blip r:embed="rId4"/>
          <a:stretch>
            <a:fillRect/>
          </a:stretch>
        </p:blipFill>
        <p:spPr>
          <a:xfrm>
            <a:off x="9685429" y="3807371"/>
            <a:ext cx="134549" cy="195707"/>
          </a:xfrm>
          <a:prstGeom prst="rect">
            <a:avLst/>
          </a:prstGeom>
        </p:spPr>
      </p:pic>
      <p:sp>
        <p:nvSpPr>
          <p:cNvPr id="29" name="TextBox 28"/>
          <p:cNvSpPr txBox="1"/>
          <p:nvPr/>
        </p:nvSpPr>
        <p:spPr>
          <a:xfrm>
            <a:off x="9860538" y="3817595"/>
            <a:ext cx="1278545" cy="194310"/>
          </a:xfrm>
          <a:prstGeom prst="rect">
            <a:avLst/>
          </a:prstGeom>
          <a:noFill/>
        </p:spPr>
        <p:txBody>
          <a:bodyPr wrap="none" lIns="0" rIns="0" tIns="0" bIns="0">
            <a:spAutoFit/>
          </a:bodyPr>
          <a:lstStyle/>
          <a:p>
            <a:r>
              <a:rPr sz="1150" b="0">
                <a:solidFill>
                  <a:srgbClr val="2E2E2E"/>
                </a:solidFill>
                <a:latin typeface="Calibri"/>
              </a:rPr>
              <a:t>US$/MT by 2036 a +</a:t>
            </a:r>
          </a:p>
        </p:txBody>
      </p:sp>
      <p:pic>
        <p:nvPicPr>
          <p:cNvPr id="30" name="Picture 29" descr="lock.png"/>
          <p:cNvPicPr>
            <a:picLocks noChangeAspect="1"/>
          </p:cNvPicPr>
          <p:nvPr/>
        </p:nvPicPr>
        <p:blipFill>
          <a:blip r:embed="rId4"/>
          <a:stretch>
            <a:fillRect/>
          </a:stretch>
        </p:blipFill>
        <p:spPr>
          <a:xfrm>
            <a:off x="11088237" y="3807371"/>
            <a:ext cx="134549" cy="195707"/>
          </a:xfrm>
          <a:prstGeom prst="rect">
            <a:avLst/>
          </a:prstGeom>
        </p:spPr>
      </p:pic>
      <p:sp>
        <p:nvSpPr>
          <p:cNvPr id="31" name="TextBox 30"/>
          <p:cNvSpPr txBox="1"/>
          <p:nvPr/>
        </p:nvSpPr>
        <p:spPr>
          <a:xfrm>
            <a:off x="11263346" y="3817595"/>
            <a:ext cx="446726" cy="194310"/>
          </a:xfrm>
          <a:prstGeom prst="rect">
            <a:avLst/>
          </a:prstGeom>
          <a:noFill/>
        </p:spPr>
        <p:txBody>
          <a:bodyPr wrap="none" lIns="0" rIns="0" tIns="0" bIns="0">
            <a:spAutoFit/>
          </a:bodyPr>
          <a:lstStyle/>
          <a:p>
            <a:r>
              <a:rPr sz="1150" b="0">
                <a:solidFill>
                  <a:srgbClr val="2E2E2E"/>
                </a:solidFill>
                <a:latin typeface="Calibri"/>
              </a:rPr>
              <a:t>CAGR.</a:t>
            </a:r>
          </a:p>
        </p:txBody>
      </p:sp>
      <p:sp>
        <p:nvSpPr>
          <p:cNvPr id="32" name="TextBox 31"/>
          <p:cNvSpPr txBox="1"/>
          <p:nvPr/>
        </p:nvSpPr>
        <p:spPr>
          <a:xfrm>
            <a:off x="6334125" y="4045432"/>
            <a:ext cx="3690366" cy="194310"/>
          </a:xfrm>
          <a:prstGeom prst="rect">
            <a:avLst/>
          </a:prstGeom>
          <a:noFill/>
        </p:spPr>
        <p:txBody>
          <a:bodyPr wrap="none" lIns="0" rIns="0" tIns="0" bIns="0">
            <a:spAutoFit/>
          </a:bodyPr>
          <a:lstStyle/>
          <a:p>
            <a:r>
              <a:rPr sz="1150" b="0">
                <a:solidFill>
                  <a:srgbClr val="2E2E2E"/>
                </a:solidFill>
                <a:latin typeface="Calibri"/>
              </a:rPr>
              <a:t>▪ 'Organic' shows the strongest forecast price appreciation (+</a:t>
            </a:r>
          </a:p>
        </p:txBody>
      </p:sp>
      <p:pic>
        <p:nvPicPr>
          <p:cNvPr id="33" name="Picture 32" descr="lock.png"/>
          <p:cNvPicPr>
            <a:picLocks noChangeAspect="1"/>
          </p:cNvPicPr>
          <p:nvPr/>
        </p:nvPicPr>
        <p:blipFill>
          <a:blip r:embed="rId4"/>
          <a:stretch>
            <a:fillRect/>
          </a:stretch>
        </p:blipFill>
        <p:spPr>
          <a:xfrm>
            <a:off x="9973645" y="4035209"/>
            <a:ext cx="134549" cy="195707"/>
          </a:xfrm>
          <a:prstGeom prst="rect">
            <a:avLst/>
          </a:prstGeom>
        </p:spPr>
      </p:pic>
      <p:sp>
        <p:nvSpPr>
          <p:cNvPr id="34" name="TextBox 33"/>
          <p:cNvSpPr txBox="1"/>
          <p:nvPr/>
        </p:nvSpPr>
        <p:spPr>
          <a:xfrm>
            <a:off x="10148755" y="4045432"/>
            <a:ext cx="1171574" cy="194310"/>
          </a:xfrm>
          <a:prstGeom prst="rect">
            <a:avLst/>
          </a:prstGeom>
          <a:noFill/>
        </p:spPr>
        <p:txBody>
          <a:bodyPr wrap="none" lIns="0" rIns="0" tIns="0" bIns="0">
            <a:spAutoFit/>
          </a:bodyPr>
          <a:lstStyle/>
          <a:p>
            <a:r>
              <a:rPr sz="1150" b="0">
                <a:solidFill>
                  <a:srgbClr val="2E2E2E"/>
                </a:solidFill>
                <a:latin typeface="Calibri"/>
              </a:rPr>
              <a:t>) over the horizon.</a:t>
            </a:r>
          </a:p>
        </p:txBody>
      </p:sp>
      <p:sp>
        <p:nvSpPr>
          <p:cNvPr id="35" name="TextBox 34"/>
          <p:cNvSpPr txBox="1"/>
          <p:nvPr/>
        </p:nvSpPr>
        <p:spPr>
          <a:xfrm>
            <a:off x="6334125" y="4273270"/>
            <a:ext cx="5242433" cy="194310"/>
          </a:xfrm>
          <a:prstGeom prst="rect">
            <a:avLst/>
          </a:prstGeom>
          <a:noFill/>
        </p:spPr>
        <p:txBody>
          <a:bodyPr wrap="none" lIns="0" rIns="0" tIns="0" bIns="0">
            <a:spAutoFit/>
          </a:bodyPr>
          <a:lstStyle/>
          <a:p>
            <a:r>
              <a:rPr sz="1150" b="0">
                <a:solidFill>
                  <a:srgbClr val="2E2E2E"/>
                </a:solidFill>
                <a:latin typeface="Calibri"/>
              </a:rPr>
              <a:t>▪ Upward pressure is led by input cost and demand &amp; market conditions; efficiency and</a:t>
            </a:r>
          </a:p>
        </p:txBody>
      </p:sp>
      <p:sp>
        <p:nvSpPr>
          <p:cNvPr id="36" name="TextBox 35"/>
          <p:cNvSpPr txBox="1"/>
          <p:nvPr/>
        </p:nvSpPr>
        <p:spPr>
          <a:xfrm>
            <a:off x="6334125" y="4448530"/>
            <a:ext cx="2567037" cy="194310"/>
          </a:xfrm>
          <a:prstGeom prst="rect">
            <a:avLst/>
          </a:prstGeom>
          <a:noFill/>
        </p:spPr>
        <p:txBody>
          <a:bodyPr wrap="none" lIns="0" rIns="0" tIns="0" bIns="0">
            <a:spAutoFit/>
          </a:bodyPr>
          <a:lstStyle/>
          <a:p>
            <a:r>
              <a:rPr sz="1150" b="0">
                <a:solidFill>
                  <a:srgbClr val="2E2E2E"/>
                </a:solidFill>
                <a:latin typeface="Calibri"/>
              </a:rPr>
              <a:t>competitive intensity work the other way.</a:t>
            </a:r>
          </a:p>
        </p:txBody>
      </p:sp>
      <p:sp>
        <p:nvSpPr>
          <p:cNvPr id="37" name="TextBox 36"/>
          <p:cNvSpPr txBox="1"/>
          <p:nvPr/>
        </p:nvSpPr>
        <p:spPr>
          <a:xfrm>
            <a:off x="6334125" y="4676368"/>
            <a:ext cx="5203638" cy="194310"/>
          </a:xfrm>
          <a:prstGeom prst="rect">
            <a:avLst/>
          </a:prstGeom>
          <a:noFill/>
        </p:spPr>
        <p:txBody>
          <a:bodyPr wrap="none" lIns="0" rIns="0" tIns="0" bIns="0">
            <a:spAutoFit/>
          </a:bodyPr>
          <a:lstStyle/>
          <a:p>
            <a:r>
              <a:rPr sz="1150" b="0">
                <a:solidFill>
                  <a:srgbClr val="2E2E2E"/>
                </a:solidFill>
                <a:latin typeface="Calibri"/>
              </a:rPr>
              <a:t>▪ Net outlook: modest, structural price appreciation mix and geography will determine</a:t>
            </a:r>
          </a:p>
        </p:txBody>
      </p:sp>
      <p:sp>
        <p:nvSpPr>
          <p:cNvPr id="38" name="TextBox 37"/>
          <p:cNvSpPr txBox="1"/>
          <p:nvPr/>
        </p:nvSpPr>
        <p:spPr>
          <a:xfrm>
            <a:off x="6334125" y="4851628"/>
            <a:ext cx="1016111" cy="194310"/>
          </a:xfrm>
          <a:prstGeom prst="rect">
            <a:avLst/>
          </a:prstGeom>
          <a:noFill/>
        </p:spPr>
        <p:txBody>
          <a:bodyPr wrap="none" lIns="0" rIns="0" tIns="0" bIns="0">
            <a:spAutoFit/>
          </a:bodyPr>
          <a:lstStyle/>
          <a:p>
            <a:r>
              <a:rPr sz="1150" b="0">
                <a:solidFill>
                  <a:srgbClr val="2E2E2E"/>
                </a:solidFill>
                <a:latin typeface="Calibri"/>
              </a:rPr>
              <a:t>realised pricing.</a:t>
            </a:r>
          </a:p>
        </p:txBody>
      </p:sp>
    </p:spTree>
  </p:cSld>
  <p:clrMapOvr>
    <a:masterClrMapping/>
  </p:clrMapOvr>
</p:sld>
</file>

<file path=ppt/slides/slide26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Competitor Pricing Strategies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how leading players position price: tier, price position versus peers and strategy focus</a:t>
            </a:r>
          </a:p>
        </p:txBody>
      </p:sp>
      <p:sp>
        <p:nvSpPr>
          <p:cNvPr id="10" name="Rounded Rectangle 9"/>
          <p:cNvSpPr/>
          <p:nvPr/>
        </p:nvSpPr>
        <p:spPr>
          <a:xfrm>
            <a:off x="142875" y="1007261"/>
            <a:ext cx="769620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Competitor pricing strategies how leading players position price and the levers they use to sustain it.</a:t>
            </a:r>
          </a:p>
        </p:txBody>
      </p:sp>
      <p:sp>
        <p:nvSpPr>
          <p:cNvPr id="11" name="Rounded Rectangle 10"/>
          <p:cNvSpPr/>
          <p:nvPr/>
        </p:nvSpPr>
        <p:spPr>
          <a:xfrm>
            <a:off x="142875" y="1317574"/>
            <a:ext cx="7696200" cy="3924545"/>
          </a:xfrm>
          <a:prstGeom prst="roundRect">
            <a:avLst>
              <a:gd name="adj" fmla="val 194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graphicFrame>
        <p:nvGraphicFramePr>
          <p:cNvPr id="12" name="Table 11"/>
          <p:cNvGraphicFramePr>
            <a:graphicFrameLocks noGrp="1"/>
          </p:cNvGraphicFramePr>
          <p:nvPr/>
        </p:nvGraphicFramePr>
        <p:xfrm>
          <a:off x="152400" y="1393774"/>
          <a:ext cx="7677150" cy="3619746"/>
        </p:xfrm>
        <a:graphic>
          <a:graphicData uri="http://schemas.openxmlformats.org/drawingml/2006/table">
            <a:tbl>
              <a:tblPr>
                <a:tableStyleId>{5C22544A-7EE6-4342-B048-85BDC9FD1C3A}</a:tableStyleId>
              </a:tblPr>
              <a:tblGrid>
                <a:gridCol w="2022778"/>
                <a:gridCol w="572261"/>
                <a:gridCol w="1203060"/>
                <a:gridCol w="1126211"/>
                <a:gridCol w="2752840"/>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Tier</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Price Position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ASP vs Peers</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Strategy Focus</a:t>
                      </a:r>
                      <a:endParaRPr sz="1100"/>
                    </a:p>
                  </a:txBody>
                  <a:tcPr marL="47625" marR="38100" marT="19050" marB="19050" anchor="ctr">
                    <a:solidFill>
                      <a:srgbClr val="E0E8EF"/>
                    </a:solidFill>
                  </a:tcPr>
                </a:tc>
              </a:tr>
              <a:tr h="562270">
                <a:tc>
                  <a:txBody>
                    <a:bodyPr wrap="none"/>
                    <a:lstStyle/>
                    <a:p>
                      <a:pPr algn="l"/>
                      <a:r>
                        <a:rPr sz="1100" b="1">
                          <a:solidFill>
                            <a:srgbClr val="2E2E2E"/>
                          </a:solidFill>
                          <a:latin typeface="Calibri"/>
                        </a:rPr>
                        <a:t>Jade Leaf Matcha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 brand-led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DoMatcha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Value-based premium pricing</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Encha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Premium</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Innovation-led price leadership</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Rishi Tea and Botanicals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1</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 pricing with mix upsell</a:t>
                      </a:r>
                      <a:endParaRPr sz="1100"/>
                    </a:p>
                  </a:txBody>
                  <a:tcPr marL="47625" marR="38100" marT="19050" marB="19050" anchor="ctr">
                    <a:solidFill>
                      <a:srgbClr val="F5F8FA"/>
                    </a:solidFill>
                  </a:tcPr>
                </a:tc>
              </a:tr>
              <a:tr h="562270">
                <a:tc>
                  <a:txBody>
                    <a:bodyPr wrap="none"/>
                    <a:lstStyle/>
                    <a:p>
                      <a:pPr algn="l"/>
                      <a:r>
                        <a:rPr sz="1100" b="1">
                          <a:solidFill>
                            <a:srgbClr val="2E2E2E"/>
                          </a:solidFill>
                          <a:latin typeface="Calibri"/>
                        </a:rPr>
                        <a:t>Tenzo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Penetration &amp; share-led pricing</a:t>
                      </a:r>
                      <a:endParaRPr sz="1100"/>
                    </a:p>
                  </a:txBody>
                  <a:tcPr marL="47625" marR="38100" marT="19050" marB="19050" anchor="ctr">
                    <a:solidFill>
                      <a:srgbClr val="FFFFFF"/>
                    </a:solidFill>
                  </a:tcPr>
                </a:tc>
              </a:tr>
              <a:tr h="562270">
                <a:tc>
                  <a:txBody>
                    <a:bodyPr wrap="none"/>
                    <a:lstStyle/>
                    <a:p>
                      <a:pPr algn="l"/>
                      <a:r>
                        <a:rPr sz="1100" b="1">
                          <a:solidFill>
                            <a:srgbClr val="2E2E2E"/>
                          </a:solidFill>
                          <a:latin typeface="Calibri"/>
                        </a:rPr>
                        <a:t>Matchaful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Tier 2</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Parity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Competitive / discount-led pricing</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5023044"/>
            <a:ext cx="75438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5351641"/>
            <a:ext cx="7696200" cy="365074"/>
          </a:xfrm>
          <a:prstGeom prst="roundRect">
            <a:avLst>
              <a:gd name="adj" fmla="val 2087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Note: competitor figures are indicative derived from market modelling and expert validation, not company disclosures.</a:t>
            </a:r>
          </a:p>
        </p:txBody>
      </p:sp>
      <p:sp>
        <p:nvSpPr>
          <p:cNvPr id="15" name="Rounded Rectangle 14"/>
          <p:cNvSpPr/>
          <p:nvPr/>
        </p:nvSpPr>
        <p:spPr>
          <a:xfrm>
            <a:off x="7915275" y="1317574"/>
            <a:ext cx="4133850" cy="5238811"/>
          </a:xfrm>
          <a:prstGeom prst="roundRect">
            <a:avLst>
              <a:gd name="adj" fmla="val 184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8048625" y="1403299"/>
            <a:ext cx="3867150" cy="209550"/>
          </a:xfrm>
          <a:prstGeom prst="rect">
            <a:avLst/>
          </a:prstGeom>
          <a:noFill/>
        </p:spPr>
        <p:txBody>
          <a:bodyPr wrap="square" lIns="0" rIns="19050" tIns="9525" bIns="9525">
            <a:spAutoFit/>
          </a:bodyPr>
          <a:lstStyle/>
          <a:p>
            <a:pPr algn="l"/>
            <a:r>
              <a:rPr sz="1300" b="1">
                <a:solidFill>
                  <a:srgbClr val="0B2E4A"/>
                </a:solidFill>
                <a:latin typeface="Calibri"/>
              </a:rPr>
              <a:t>Competitive Pricing Themes</a:t>
            </a:r>
          </a:p>
        </p:txBody>
      </p:sp>
      <p:sp>
        <p:nvSpPr>
          <p:cNvPr id="17" name="Rectangle 16"/>
          <p:cNvSpPr/>
          <p:nvPr/>
        </p:nvSpPr>
        <p:spPr>
          <a:xfrm>
            <a:off x="8048625" y="1641424"/>
            <a:ext cx="38671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048625" y="1727149"/>
            <a:ext cx="3867150" cy="4753036"/>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Tier 1 players anchor premium pricing, defending ASP through brand, product development and certification rather than discounting.</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Mid-tier players price at or just below parity, using launches and expansion to win share in fast-growing segments.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Emerging players compete on value pricing, trading margin for access and volume in price-sensitive regions.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Across tiers, R&amp;D investment and selective M&amp;A are the primary levers to move up the price ladder over time.</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4"/>
          <a:stretch>
            <a:fillRect/>
          </a:stretch>
        </p:blipFill>
        <p:spPr>
          <a:xfrm>
            <a:off x="4345583" y="3086680"/>
            <a:ext cx="330041" cy="480060"/>
          </a:xfrm>
          <a:prstGeom prst="rect">
            <a:avLst/>
          </a:prstGeom>
        </p:spPr>
      </p:pic>
    </p:spTree>
  </p:cSld>
  <p:clrMapOvr>
    <a:masterClrMapping/>
  </p:clrMapOvr>
</p:sld>
</file>

<file path=ppt/slides/slide264.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Supply Chain Analysis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Supply Chain Analysis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6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16</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Supply Chain Analysis</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Value Chain &amp; Stakeholder Mapping</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Operating Margin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Buyers Assessment</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6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Value Chain &amp; Stakeholder Mapping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Mapping of the value chain stages, the stakeholders at each stage and the value added along the chain</a:t>
            </a:r>
          </a:p>
        </p:txBody>
      </p:sp>
      <p:sp>
        <p:nvSpPr>
          <p:cNvPr id="10" name="TextBox 9"/>
          <p:cNvSpPr txBox="1"/>
          <p:nvPr/>
        </p:nvSpPr>
        <p:spPr>
          <a:xfrm>
            <a:off x="285750" y="970754"/>
            <a:ext cx="10668000" cy="164283"/>
          </a:xfrm>
          <a:prstGeom prst="rect">
            <a:avLst/>
          </a:prstGeom>
          <a:noFill/>
        </p:spPr>
        <p:txBody>
          <a:bodyPr wrap="square" lIns="0" rIns="19050" tIns="0" bIns="0">
            <a:spAutoFit/>
          </a:bodyPr>
          <a:lstStyle/>
          <a:p>
            <a:pPr algn="l"/>
            <a:r>
              <a:rPr sz="1100" b="0">
                <a:solidFill>
                  <a:srgbClr val="6C7A89"/>
                </a:solidFill>
                <a:latin typeface="Calibri"/>
              </a:rPr>
              <a:t>End-to-end value chain with the key stakeholders at each stage and their indicative contribution to value addition.</a:t>
            </a:r>
          </a:p>
        </p:txBody>
      </p:sp>
      <p:sp>
        <p:nvSpPr>
          <p:cNvPr id="11" name="Right Arrow 10"/>
          <p:cNvSpPr/>
          <p:nvPr/>
        </p:nvSpPr>
        <p:spPr>
          <a:xfrm>
            <a:off x="1885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ight Arrow 11"/>
          <p:cNvSpPr/>
          <p:nvPr/>
        </p:nvSpPr>
        <p:spPr>
          <a:xfrm>
            <a:off x="4171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ight Arrow 12"/>
          <p:cNvSpPr/>
          <p:nvPr/>
        </p:nvSpPr>
        <p:spPr>
          <a:xfrm>
            <a:off x="6457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Right Arrow 13"/>
          <p:cNvSpPr/>
          <p:nvPr/>
        </p:nvSpPr>
        <p:spPr>
          <a:xfrm>
            <a:off x="8743950" y="2020341"/>
            <a:ext cx="1562100" cy="164283"/>
          </a:xfrm>
          <a:prstGeom prst="rightArrow">
            <a:avLst>
              <a:gd name="adj1" fmla="val 50000"/>
              <a:gd name="adj2" fmla="val 55000"/>
            </a:avLst>
          </a:prstGeom>
          <a:solidFill>
            <a:srgbClr val="CBD5D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19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Raw Material</a:t>
            </a:r>
          </a:p>
          <a:p>
            <a:pPr algn="ctr">
              <a:lnSpc>
                <a:spcPct val="100000"/>
              </a:lnSpc>
            </a:pPr>
            <a:r>
              <a:rPr sz="1100" b="1">
                <a:solidFill>
                  <a:srgbClr val="0B2E4A"/>
                </a:solidFill>
                <a:latin typeface="Calibri"/>
              </a:rPr>
              <a:t>Suppliers</a:t>
            </a:r>
          </a:p>
        </p:txBody>
      </p:sp>
      <p:sp>
        <p:nvSpPr>
          <p:cNvPr id="16" name="Oval 15"/>
          <p:cNvSpPr/>
          <p:nvPr/>
        </p:nvSpPr>
        <p:spPr>
          <a:xfrm>
            <a:off x="1076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1123950" y="1719155"/>
            <a:ext cx="800100" cy="766655"/>
          </a:xfrm>
          <a:prstGeom prst="ellipse">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ectangle 17"/>
          <p:cNvSpPr/>
          <p:nvPr/>
        </p:nvSpPr>
        <p:spPr>
          <a:xfrm>
            <a:off x="1509712" y="2084229"/>
            <a:ext cx="28575" cy="155156"/>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rot="19500000">
            <a:off x="1381125"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rot="2100000">
            <a:off x="1524000" y="2020341"/>
            <a:ext cx="142875" cy="82142"/>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000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22" name="Rounded Rectangle 21"/>
          <p:cNvSpPr/>
          <p:nvPr/>
        </p:nvSpPr>
        <p:spPr>
          <a:xfrm>
            <a:off x="457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457200" y="2905646"/>
            <a:ext cx="2133600" cy="4563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542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Raw Material Suppliers</a:t>
            </a:r>
          </a:p>
        </p:txBody>
      </p:sp>
      <p:sp>
        <p:nvSpPr>
          <p:cNvPr id="25" name="TextBox 24"/>
          <p:cNvSpPr txBox="1"/>
          <p:nvPr/>
        </p:nvSpPr>
        <p:spPr>
          <a:xfrm>
            <a:off x="542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26" name="TextBox 25"/>
          <p:cNvSpPr txBox="1"/>
          <p:nvPr/>
        </p:nvSpPr>
        <p:spPr>
          <a:xfrm>
            <a:off x="542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Growers and primary producers supply core inputs; some forward-integrate into small-scale processing.</a:t>
            </a:r>
          </a:p>
        </p:txBody>
      </p:sp>
      <p:sp>
        <p:nvSpPr>
          <p:cNvPr id="27" name="TextBox 26"/>
          <p:cNvSpPr txBox="1"/>
          <p:nvPr/>
        </p:nvSpPr>
        <p:spPr>
          <a:xfrm>
            <a:off x="2705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Manufacturers</a:t>
            </a:r>
          </a:p>
        </p:txBody>
      </p:sp>
      <p:sp>
        <p:nvSpPr>
          <p:cNvPr id="28" name="Oval 27"/>
          <p:cNvSpPr/>
          <p:nvPr/>
        </p:nvSpPr>
        <p:spPr>
          <a:xfrm>
            <a:off x="3362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3409950" y="1719155"/>
            <a:ext cx="800100" cy="766655"/>
          </a:xfrm>
          <a:prstGeom prst="ellipse">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Rectangle 29"/>
          <p:cNvSpPr/>
          <p:nvPr/>
        </p:nvSpPr>
        <p:spPr>
          <a:xfrm>
            <a:off x="3638550" y="2084229"/>
            <a:ext cx="34290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Rectangle 30"/>
          <p:cNvSpPr/>
          <p:nvPr/>
        </p:nvSpPr>
        <p:spPr>
          <a:xfrm>
            <a:off x="3667125" y="1983834"/>
            <a:ext cx="66675" cy="10952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Rectangle 31"/>
          <p:cNvSpPr/>
          <p:nvPr/>
        </p:nvSpPr>
        <p:spPr>
          <a:xfrm>
            <a:off x="3771900" y="2020341"/>
            <a:ext cx="66675" cy="7301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Rectangle 32"/>
          <p:cNvSpPr/>
          <p:nvPr/>
        </p:nvSpPr>
        <p:spPr>
          <a:xfrm>
            <a:off x="3876675" y="1992961"/>
            <a:ext cx="66675" cy="10039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Rounded Rectangle 33"/>
          <p:cNvSpPr/>
          <p:nvPr/>
        </p:nvSpPr>
        <p:spPr>
          <a:xfrm>
            <a:off x="3286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35" name="Rounded Rectangle 34"/>
          <p:cNvSpPr/>
          <p:nvPr/>
        </p:nvSpPr>
        <p:spPr>
          <a:xfrm>
            <a:off x="2743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2743200" y="2905646"/>
            <a:ext cx="2133600" cy="4563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28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Manufacturers / Processors</a:t>
            </a:r>
          </a:p>
        </p:txBody>
      </p:sp>
      <p:sp>
        <p:nvSpPr>
          <p:cNvPr id="38" name="TextBox 37"/>
          <p:cNvSpPr txBox="1"/>
          <p:nvPr/>
        </p:nvSpPr>
        <p:spPr>
          <a:xfrm>
            <a:off x="2828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39" name="TextBox 38"/>
          <p:cNvSpPr txBox="1"/>
          <p:nvPr/>
        </p:nvSpPr>
        <p:spPr>
          <a:xfrm>
            <a:off x="2828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Convert inputs into finished and semi-finished product the single largest value-addition stage.</a:t>
            </a:r>
          </a:p>
        </p:txBody>
      </p:sp>
      <p:sp>
        <p:nvSpPr>
          <p:cNvPr id="40" name="TextBox 39"/>
          <p:cNvSpPr txBox="1"/>
          <p:nvPr/>
        </p:nvSpPr>
        <p:spPr>
          <a:xfrm>
            <a:off x="4991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Distributors</a:t>
            </a:r>
          </a:p>
        </p:txBody>
      </p:sp>
      <p:sp>
        <p:nvSpPr>
          <p:cNvPr id="41" name="Oval 40"/>
          <p:cNvSpPr/>
          <p:nvPr/>
        </p:nvSpPr>
        <p:spPr>
          <a:xfrm>
            <a:off x="5648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5695950" y="1719155"/>
            <a:ext cx="800100" cy="766655"/>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5915025" y="2002088"/>
            <a:ext cx="209550" cy="16428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Rectangle 43"/>
          <p:cNvSpPr/>
          <p:nvPr/>
        </p:nvSpPr>
        <p:spPr>
          <a:xfrm>
            <a:off x="6134100" y="2075102"/>
            <a:ext cx="123825" cy="91268"/>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5972175"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6153150" y="2148117"/>
            <a:ext cx="85725" cy="82142"/>
          </a:xfrm>
          <a:prstGeom prst="ellipse">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Rounded Rectangle 46"/>
          <p:cNvSpPr/>
          <p:nvPr/>
        </p:nvSpPr>
        <p:spPr>
          <a:xfrm>
            <a:off x="5572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48" name="Rounded Rectangle 47"/>
          <p:cNvSpPr/>
          <p:nvPr/>
        </p:nvSpPr>
        <p:spPr>
          <a:xfrm>
            <a:off x="5029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5029200" y="2905646"/>
            <a:ext cx="2133600" cy="45634"/>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5114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Distributors &amp; Wholesalers</a:t>
            </a:r>
          </a:p>
        </p:txBody>
      </p:sp>
      <p:sp>
        <p:nvSpPr>
          <p:cNvPr id="51" name="TextBox 50"/>
          <p:cNvSpPr txBox="1"/>
          <p:nvPr/>
        </p:nvSpPr>
        <p:spPr>
          <a:xfrm>
            <a:off x="5114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52" name="TextBox 51"/>
          <p:cNvSpPr txBox="1"/>
          <p:nvPr/>
        </p:nvSpPr>
        <p:spPr>
          <a:xfrm>
            <a:off x="5114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Move product to market, hold inventory and provide logistics, reach and credit to downstream channels.</a:t>
            </a:r>
          </a:p>
        </p:txBody>
      </p:sp>
      <p:sp>
        <p:nvSpPr>
          <p:cNvPr id="53" name="TextBox 52"/>
          <p:cNvSpPr txBox="1"/>
          <p:nvPr/>
        </p:nvSpPr>
        <p:spPr>
          <a:xfrm>
            <a:off x="7277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Retailers</a:t>
            </a:r>
          </a:p>
        </p:txBody>
      </p:sp>
      <p:sp>
        <p:nvSpPr>
          <p:cNvPr id="54" name="Oval 53"/>
          <p:cNvSpPr/>
          <p:nvPr/>
        </p:nvSpPr>
        <p:spPr>
          <a:xfrm>
            <a:off x="7934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7981950" y="1719155"/>
            <a:ext cx="800100" cy="766655"/>
          </a:xfrm>
          <a:prstGeom prst="ellipse">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Isosceles Triangle 55"/>
          <p:cNvSpPr/>
          <p:nvPr/>
        </p:nvSpPr>
        <p:spPr>
          <a:xfrm>
            <a:off x="8201025" y="1965580"/>
            <a:ext cx="361950" cy="109522"/>
          </a:xfrm>
          <a:prstGeom prst="triangl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Rectangle 56"/>
          <p:cNvSpPr/>
          <p:nvPr/>
        </p:nvSpPr>
        <p:spPr>
          <a:xfrm>
            <a:off x="8239125" y="2065976"/>
            <a:ext cx="285750" cy="182537"/>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Rectangle 57"/>
          <p:cNvSpPr/>
          <p:nvPr/>
        </p:nvSpPr>
        <p:spPr>
          <a:xfrm>
            <a:off x="8343900" y="2138990"/>
            <a:ext cx="76200" cy="109522"/>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Rounded Rectangle 58"/>
          <p:cNvSpPr/>
          <p:nvPr/>
        </p:nvSpPr>
        <p:spPr>
          <a:xfrm>
            <a:off x="7858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60" name="Rounded Rectangle 59"/>
          <p:cNvSpPr/>
          <p:nvPr/>
        </p:nvSpPr>
        <p:spPr>
          <a:xfrm>
            <a:off x="7315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7315200" y="2905646"/>
            <a:ext cx="2133600" cy="45634"/>
          </a:xfrm>
          <a:prstGeom prst="rect">
            <a:avLst/>
          </a:prstGeom>
          <a:solidFill>
            <a:srgbClr val="6F3CC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7400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Retailers &amp; Channels</a:t>
            </a:r>
          </a:p>
        </p:txBody>
      </p:sp>
      <p:sp>
        <p:nvSpPr>
          <p:cNvPr id="63" name="TextBox 62"/>
          <p:cNvSpPr txBox="1"/>
          <p:nvPr/>
        </p:nvSpPr>
        <p:spPr>
          <a:xfrm>
            <a:off x="7400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64" name="TextBox 63"/>
          <p:cNvSpPr txBox="1"/>
          <p:nvPr/>
        </p:nvSpPr>
        <p:spPr>
          <a:xfrm>
            <a:off x="7400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Sell to end customers across offline and online channels, capturing point-of-sale margin and brand visibility.</a:t>
            </a:r>
          </a:p>
        </p:txBody>
      </p:sp>
      <p:sp>
        <p:nvSpPr>
          <p:cNvPr id="65" name="TextBox 64"/>
          <p:cNvSpPr txBox="1"/>
          <p:nvPr/>
        </p:nvSpPr>
        <p:spPr>
          <a:xfrm>
            <a:off x="9563100" y="1262813"/>
            <a:ext cx="2209800" cy="346820"/>
          </a:xfrm>
          <a:prstGeom prst="rect">
            <a:avLst/>
          </a:prstGeom>
          <a:noFill/>
        </p:spPr>
        <p:txBody>
          <a:bodyPr wrap="square" lIns="28575" rIns="28575" tIns="9525" bIns="9525" anchor="b">
            <a:spAutoFit/>
          </a:bodyPr>
          <a:lstStyle/>
          <a:p>
            <a:pPr algn="ctr">
              <a:lnSpc>
                <a:spcPct val="100000"/>
              </a:lnSpc>
            </a:pPr>
            <a:r>
              <a:rPr sz="1100" b="1">
                <a:solidFill>
                  <a:srgbClr val="0B2E4A"/>
                </a:solidFill>
                <a:latin typeface="Calibri"/>
              </a:rPr>
              <a:t>End Users</a:t>
            </a:r>
          </a:p>
        </p:txBody>
      </p:sp>
      <p:sp>
        <p:nvSpPr>
          <p:cNvPr id="66" name="Oval 65"/>
          <p:cNvSpPr/>
          <p:nvPr/>
        </p:nvSpPr>
        <p:spPr>
          <a:xfrm>
            <a:off x="10220325" y="1673521"/>
            <a:ext cx="895350" cy="857924"/>
          </a:xfrm>
          <a:prstGeom prst="ellipse">
            <a:avLst/>
          </a:prstGeom>
          <a:solidFill>
            <a:srgbClr val="EEF3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10267950" y="1719155"/>
            <a:ext cx="800100" cy="766655"/>
          </a:xfrm>
          <a:prstGeom prst="ellipse">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10601325" y="1956453"/>
            <a:ext cx="133350" cy="127776"/>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10544175" y="2111610"/>
            <a:ext cx="247650" cy="127776"/>
          </a:xfrm>
          <a:custGeom>
            <a:avLst/>
            <a:gdLst/>
            <a:ahLst/>
            <a:cxnLst/>
            <a:rect l="l" t="t" r="r" b="b"/>
            <a:pathLst>
              <a:path w="26" h="14">
                <a:moveTo>
                  <a:pt x="0" y="14"/>
                </a:moveTo>
                <a:lnTo>
                  <a:pt x="4" y="0"/>
                </a:lnTo>
                <a:lnTo>
                  <a:pt x="22" y="0"/>
                </a:lnTo>
                <a:lnTo>
                  <a:pt x="26" y="14"/>
                </a:lnTo>
                <a:close/>
              </a:path>
            </a:pathLst>
          </a:cu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ounded Rectangle 69"/>
          <p:cNvSpPr/>
          <p:nvPr/>
        </p:nvSpPr>
        <p:spPr>
          <a:xfrm>
            <a:off x="10144125" y="2595333"/>
            <a:ext cx="1047750" cy="219044"/>
          </a:xfrm>
          <a:prstGeom prst="roundRect">
            <a:avLst>
              <a:gd name="adj" fmla="val 50000"/>
            </a:avLst>
          </a:prstGeom>
          <a:solidFill>
            <a:srgbClr val="F0E8F6"/>
          </a:solidFill>
          <a:ln w="9525">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wrap="square" lIns="28575" rIns="28575" tIns="9525" bIns="9525"/>
          <a:lstStyle/>
          <a:p>
            <a:pPr algn="ctr"/>
            <a:r>
              <a:rPr sz="1100" b="1">
                <a:solidFill>
                  <a:srgbClr val="6F3CC2"/>
                </a:solidFill>
                <a:latin typeface="Calibri"/>
              </a:rPr>
              <a:t> </a:t>
            </a:r>
          </a:p>
        </p:txBody>
      </p:sp>
      <p:sp>
        <p:nvSpPr>
          <p:cNvPr id="71" name="Rounded Rectangle 70"/>
          <p:cNvSpPr/>
          <p:nvPr/>
        </p:nvSpPr>
        <p:spPr>
          <a:xfrm>
            <a:off x="9601200" y="2905646"/>
            <a:ext cx="2133600" cy="2281712"/>
          </a:xfrm>
          <a:prstGeom prst="roundRect">
            <a:avLst>
              <a:gd name="adj" fmla="val 35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Rectangle 71"/>
          <p:cNvSpPr/>
          <p:nvPr/>
        </p:nvSpPr>
        <p:spPr>
          <a:xfrm>
            <a:off x="9601200" y="2905646"/>
            <a:ext cx="2133600" cy="4563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9686925" y="3015168"/>
            <a:ext cx="1962150" cy="219044"/>
          </a:xfrm>
          <a:prstGeom prst="rect">
            <a:avLst/>
          </a:prstGeom>
          <a:noFill/>
        </p:spPr>
        <p:txBody>
          <a:bodyPr wrap="square" lIns="28575" rIns="28575" tIns="9525" bIns="9525">
            <a:spAutoFit/>
          </a:bodyPr>
          <a:lstStyle/>
          <a:p>
            <a:pPr algn="l">
              <a:lnSpc>
                <a:spcPct val="105000"/>
              </a:lnSpc>
            </a:pPr>
            <a:r>
              <a:rPr sz="1150" b="1">
                <a:solidFill>
                  <a:srgbClr val="0B2E4A"/>
                </a:solidFill>
                <a:latin typeface="Calibri"/>
              </a:rPr>
              <a:t>End Users</a:t>
            </a:r>
          </a:p>
        </p:txBody>
      </p:sp>
      <p:sp>
        <p:nvSpPr>
          <p:cNvPr id="74" name="TextBox 73"/>
          <p:cNvSpPr txBox="1"/>
          <p:nvPr/>
        </p:nvSpPr>
        <p:spPr>
          <a:xfrm>
            <a:off x="9686925" y="3234212"/>
            <a:ext cx="1962150" cy="182537"/>
          </a:xfrm>
          <a:prstGeom prst="rect">
            <a:avLst/>
          </a:prstGeom>
          <a:noFill/>
        </p:spPr>
        <p:txBody>
          <a:bodyPr wrap="square" lIns="28575" rIns="28575" tIns="9525" bIns="9525">
            <a:spAutoFit/>
          </a:bodyPr>
          <a:lstStyle/>
          <a:p>
            <a:pPr algn="l">
              <a:lnSpc>
                <a:spcPct val="100000"/>
              </a:lnSpc>
            </a:pPr>
            <a:r>
              <a:rPr sz="1100" b="0">
                <a:solidFill>
                  <a:srgbClr val="6C7A89"/>
                </a:solidFill>
                <a:latin typeface="Calibri"/>
              </a:rPr>
              <a:t>Base Year: 2026</a:t>
            </a:r>
          </a:p>
        </p:txBody>
      </p:sp>
      <p:sp>
        <p:nvSpPr>
          <p:cNvPr id="75" name="TextBox 74"/>
          <p:cNvSpPr txBox="1"/>
          <p:nvPr/>
        </p:nvSpPr>
        <p:spPr>
          <a:xfrm>
            <a:off x="9686925" y="3453257"/>
            <a:ext cx="1962150" cy="1642833"/>
          </a:xfrm>
          <a:prstGeom prst="rect">
            <a:avLst/>
          </a:prstGeom>
          <a:noFill/>
        </p:spPr>
        <p:txBody>
          <a:bodyPr wrap="square" lIns="28575" rIns="28575" tIns="9525" bIns="9525">
            <a:spAutoFit/>
          </a:bodyPr>
          <a:lstStyle/>
          <a:p>
            <a:pPr algn="l">
              <a:lnSpc>
                <a:spcPct val="122000"/>
              </a:lnSpc>
            </a:pPr>
            <a:r>
              <a:rPr sz="1100" b="0">
                <a:solidFill>
                  <a:srgbClr val="2E2E2E"/>
                </a:solidFill>
                <a:latin typeface="Calibri"/>
              </a:rPr>
              <a:t>Consumers and downstream industries; large end users sometimes backward-integrate to secure supply and cost.</a:t>
            </a:r>
          </a:p>
        </p:txBody>
      </p:sp>
      <p:sp>
        <p:nvSpPr>
          <p:cNvPr id="76" name="Rounded Rectangle 75"/>
          <p:cNvSpPr/>
          <p:nvPr/>
        </p:nvSpPr>
        <p:spPr>
          <a:xfrm>
            <a:off x="381000" y="5315134"/>
            <a:ext cx="11430000" cy="1204744"/>
          </a:xfrm>
          <a:prstGeom prst="roundRect">
            <a:avLst>
              <a:gd name="adj" fmla="val 606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514350" y="5397275"/>
            <a:ext cx="11163300" cy="200791"/>
          </a:xfrm>
          <a:prstGeom prst="rect">
            <a:avLst/>
          </a:prstGeom>
          <a:noFill/>
        </p:spPr>
        <p:txBody>
          <a:bodyPr wrap="square" lIns="0" rIns="19050" tIns="9525" bIns="9525">
            <a:spAutoFit/>
          </a:bodyPr>
          <a:lstStyle/>
          <a:p>
            <a:pPr algn="l"/>
            <a:r>
              <a:rPr sz="1300" b="1">
                <a:solidFill>
                  <a:srgbClr val="0B2E4A"/>
                </a:solidFill>
                <a:latin typeface="Calibri"/>
              </a:rPr>
              <a:t>Value-Added Read-out</a:t>
            </a:r>
          </a:p>
        </p:txBody>
      </p:sp>
      <p:sp>
        <p:nvSpPr>
          <p:cNvPr id="78" name="Rectangle 77"/>
          <p:cNvSpPr/>
          <p:nvPr/>
        </p:nvSpPr>
        <p:spPr>
          <a:xfrm>
            <a:off x="514350" y="5625447"/>
            <a:ext cx="11163300" cy="18254"/>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514350" y="5707588"/>
            <a:ext cx="11163300" cy="739275"/>
          </a:xfrm>
          <a:prstGeom prst="rect">
            <a:avLst/>
          </a:prstGeom>
          <a:noFill/>
        </p:spPr>
        <p:txBody>
          <a:bodyPr wrap="square" lIns="0" rIns="19050" tIns="9525" bIns="9525">
            <a:spAutoFit/>
          </a:bodyPr>
          <a:lstStyle/>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a:p>
            <a:pPr algn="l">
              <a:lnSpc>
                <a:spcPct val="100000"/>
              </a:lnSpc>
              <a:spcBef>
                <a:spcPts val="0"/>
              </a:spcBef>
              <a:spcAft>
                <a:spcPts val="300"/>
              </a:spcAft>
            </a:pPr>
            <a:r>
              <a:rPr sz="1100" b="0">
                <a:solidFill>
                  <a:srgbClr val="0E72AE"/>
                </a:solidFill>
                <a:latin typeface="Calibri"/>
              </a:rPr>
              <a:t/>
            </a:r>
            <a:r>
              <a:rPr sz="1100" b="0">
                <a:solidFill>
                  <a:srgbClr val="2E2E2E"/>
                </a:solidFill>
                <a:latin typeface="Calibri"/>
              </a:rPr>
              <a:t/>
            </a:r>
          </a:p>
        </p:txBody>
      </p:sp>
      <p:sp>
        <p:nvSpPr>
          <p:cNvPr id="80" name="TextBox 7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81" name="Picture 80" descr="lock.png"/>
          <p:cNvPicPr>
            <a:picLocks noChangeAspect="1"/>
          </p:cNvPicPr>
          <p:nvPr/>
        </p:nvPicPr>
        <p:blipFill>
          <a:blip r:embed="rId4"/>
          <a:stretch>
            <a:fillRect/>
          </a:stretch>
        </p:blipFill>
        <p:spPr>
          <a:xfrm>
            <a:off x="1459650" y="2611256"/>
            <a:ext cx="128699" cy="187198"/>
          </a:xfrm>
          <a:prstGeom prst="rect">
            <a:avLst/>
          </a:prstGeom>
        </p:spPr>
      </p:pic>
      <p:pic>
        <p:nvPicPr>
          <p:cNvPr id="82" name="Picture 81" descr="lock.png"/>
          <p:cNvPicPr>
            <a:picLocks noChangeAspect="1"/>
          </p:cNvPicPr>
          <p:nvPr/>
        </p:nvPicPr>
        <p:blipFill>
          <a:blip r:embed="rId4"/>
          <a:stretch>
            <a:fillRect/>
          </a:stretch>
        </p:blipFill>
        <p:spPr>
          <a:xfrm>
            <a:off x="3745650" y="2611256"/>
            <a:ext cx="128699" cy="187198"/>
          </a:xfrm>
          <a:prstGeom prst="rect">
            <a:avLst/>
          </a:prstGeom>
        </p:spPr>
      </p:pic>
      <p:pic>
        <p:nvPicPr>
          <p:cNvPr id="83" name="Picture 82" descr="lock.png"/>
          <p:cNvPicPr>
            <a:picLocks noChangeAspect="1"/>
          </p:cNvPicPr>
          <p:nvPr/>
        </p:nvPicPr>
        <p:blipFill>
          <a:blip r:embed="rId4"/>
          <a:stretch>
            <a:fillRect/>
          </a:stretch>
        </p:blipFill>
        <p:spPr>
          <a:xfrm>
            <a:off x="6031650" y="2611256"/>
            <a:ext cx="128699" cy="187198"/>
          </a:xfrm>
          <a:prstGeom prst="rect">
            <a:avLst/>
          </a:prstGeom>
        </p:spPr>
      </p:pic>
      <p:pic>
        <p:nvPicPr>
          <p:cNvPr id="84" name="Picture 83" descr="lock.png"/>
          <p:cNvPicPr>
            <a:picLocks noChangeAspect="1"/>
          </p:cNvPicPr>
          <p:nvPr/>
        </p:nvPicPr>
        <p:blipFill>
          <a:blip r:embed="rId4"/>
          <a:stretch>
            <a:fillRect/>
          </a:stretch>
        </p:blipFill>
        <p:spPr>
          <a:xfrm>
            <a:off x="8317650" y="2611256"/>
            <a:ext cx="128699" cy="187198"/>
          </a:xfrm>
          <a:prstGeom prst="rect">
            <a:avLst/>
          </a:prstGeom>
        </p:spPr>
      </p:pic>
      <p:pic>
        <p:nvPicPr>
          <p:cNvPr id="85" name="Picture 84" descr="lock.png"/>
          <p:cNvPicPr>
            <a:picLocks noChangeAspect="1"/>
          </p:cNvPicPr>
          <p:nvPr/>
        </p:nvPicPr>
        <p:blipFill>
          <a:blip r:embed="rId4"/>
          <a:stretch>
            <a:fillRect/>
          </a:stretch>
        </p:blipFill>
        <p:spPr>
          <a:xfrm>
            <a:off x="10603650" y="2611256"/>
            <a:ext cx="128699" cy="187198"/>
          </a:xfrm>
          <a:prstGeom prst="rect">
            <a:avLst/>
          </a:prstGeom>
        </p:spPr>
      </p:pic>
      <p:sp>
        <p:nvSpPr>
          <p:cNvPr id="86" name="TextBox 85"/>
          <p:cNvSpPr txBox="1"/>
          <p:nvPr/>
        </p:nvSpPr>
        <p:spPr>
          <a:xfrm>
            <a:off x="514350" y="5717113"/>
            <a:ext cx="5972849" cy="153161"/>
          </a:xfrm>
          <a:prstGeom prst="rect">
            <a:avLst/>
          </a:prstGeom>
          <a:noFill/>
        </p:spPr>
        <p:txBody>
          <a:bodyPr wrap="none" lIns="0" rIns="0" tIns="0" bIns="0">
            <a:spAutoFit/>
          </a:bodyPr>
          <a:lstStyle/>
          <a:p>
            <a:r>
              <a:rPr sz="879" b="0">
                <a:solidFill>
                  <a:srgbClr val="2E2E2E"/>
                </a:solidFill>
                <a:latin typeface="Calibri"/>
              </a:rPr>
              <a:t>▪ The Matcha Market value chain runs from raw-material suppliers through manufacturers, distributors and retailers to end users.</a:t>
            </a:r>
          </a:p>
        </p:txBody>
      </p:sp>
      <p:sp>
        <p:nvSpPr>
          <p:cNvPr id="87" name="TextBox 86"/>
          <p:cNvSpPr txBox="1"/>
          <p:nvPr/>
        </p:nvSpPr>
        <p:spPr>
          <a:xfrm>
            <a:off x="514350" y="5891458"/>
            <a:ext cx="3108563" cy="153161"/>
          </a:xfrm>
          <a:prstGeom prst="rect">
            <a:avLst/>
          </a:prstGeom>
          <a:noFill/>
        </p:spPr>
        <p:txBody>
          <a:bodyPr wrap="none" lIns="0" rIns="0" tIns="0" bIns="0">
            <a:spAutoFit/>
          </a:bodyPr>
          <a:lstStyle/>
          <a:p>
            <a:r>
              <a:rPr sz="879" b="0">
                <a:solidFill>
                  <a:srgbClr val="2E2E2E"/>
                </a:solidFill>
                <a:latin typeface="Calibri"/>
              </a:rPr>
              <a:t>▪ 'Manufacturers / Processors' captures the largest value addition (</a:t>
            </a:r>
          </a:p>
        </p:txBody>
      </p:sp>
      <p:pic>
        <p:nvPicPr>
          <p:cNvPr id="88" name="Picture 87" descr="lock.png"/>
          <p:cNvPicPr>
            <a:picLocks noChangeAspect="1"/>
          </p:cNvPicPr>
          <p:nvPr/>
        </p:nvPicPr>
        <p:blipFill>
          <a:blip r:embed="rId4"/>
          <a:stretch>
            <a:fillRect/>
          </a:stretch>
        </p:blipFill>
        <p:spPr>
          <a:xfrm>
            <a:off x="3566114" y="5883635"/>
            <a:ext cx="102959" cy="149758"/>
          </a:xfrm>
          <a:prstGeom prst="rect">
            <a:avLst/>
          </a:prstGeom>
        </p:spPr>
      </p:pic>
      <p:sp>
        <p:nvSpPr>
          <p:cNvPr id="89" name="TextBox 88"/>
          <p:cNvSpPr txBox="1"/>
          <p:nvPr/>
        </p:nvSpPr>
        <p:spPr>
          <a:xfrm>
            <a:off x="3700111" y="5891458"/>
            <a:ext cx="2123678" cy="153161"/>
          </a:xfrm>
          <a:prstGeom prst="rect">
            <a:avLst/>
          </a:prstGeom>
          <a:noFill/>
        </p:spPr>
        <p:txBody>
          <a:bodyPr wrap="none" lIns="0" rIns="0" tIns="0" bIns="0">
            <a:spAutoFit/>
          </a:bodyPr>
          <a:lstStyle/>
          <a:p>
            <a:r>
              <a:rPr sz="879" b="0">
                <a:solidFill>
                  <a:srgbClr val="2E2E2E"/>
                </a:solidFill>
                <a:latin typeface="Calibri"/>
              </a:rPr>
              <a:t>), reflecting processing and scale advantages.</a:t>
            </a:r>
          </a:p>
        </p:txBody>
      </p:sp>
      <p:sp>
        <p:nvSpPr>
          <p:cNvPr id="90" name="TextBox 89"/>
          <p:cNvSpPr txBox="1"/>
          <p:nvPr/>
        </p:nvSpPr>
        <p:spPr>
          <a:xfrm>
            <a:off x="514350" y="6065804"/>
            <a:ext cx="5690369" cy="153161"/>
          </a:xfrm>
          <a:prstGeom prst="rect">
            <a:avLst/>
          </a:prstGeom>
          <a:noFill/>
        </p:spPr>
        <p:txBody>
          <a:bodyPr wrap="none" lIns="0" rIns="0" tIns="0" bIns="0">
            <a:spAutoFit/>
          </a:bodyPr>
          <a:lstStyle/>
          <a:p>
            <a:r>
              <a:rPr sz="879" b="0">
                <a:solidFill>
                  <a:srgbClr val="2E2E2E"/>
                </a:solidFill>
                <a:latin typeface="Calibri"/>
              </a:rPr>
              <a:t>▪ Forward and backward integration is common some suppliers process, and some large end users produce their own input.</a:t>
            </a:r>
          </a:p>
        </p:txBody>
      </p:sp>
      <p:sp>
        <p:nvSpPr>
          <p:cNvPr id="91" name="TextBox 90"/>
          <p:cNvSpPr txBox="1"/>
          <p:nvPr/>
        </p:nvSpPr>
        <p:spPr>
          <a:xfrm>
            <a:off x="514350" y="6240149"/>
            <a:ext cx="3730228" cy="153161"/>
          </a:xfrm>
          <a:prstGeom prst="rect">
            <a:avLst/>
          </a:prstGeom>
          <a:noFill/>
        </p:spPr>
        <p:txBody>
          <a:bodyPr wrap="none" lIns="0" rIns="0" tIns="0" bIns="0">
            <a:spAutoFit/>
          </a:bodyPr>
          <a:lstStyle/>
          <a:p>
            <a:r>
              <a:rPr sz="879" b="0">
                <a:solidFill>
                  <a:srgbClr val="2E2E2E"/>
                </a:solidFill>
                <a:latin typeface="Calibri"/>
              </a:rPr>
              <a:t>▪ Percentages show each stage's indicative share of value added along the chain.</a:t>
            </a:r>
          </a:p>
        </p:txBody>
      </p:sp>
    </p:spTree>
  </p:cSld>
  <p:clrMapOvr>
    <a:masterClrMapping/>
  </p:clrMapOvr>
</p:sld>
</file>

<file path=ppt/slides/slide26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Industry-Wide Operating Margin Analysis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Operating margin by region and value chain node, highlighting where value concentrates along the chain</a:t>
            </a:r>
          </a:p>
        </p:txBody>
      </p:sp>
      <p:sp>
        <p:nvSpPr>
          <p:cNvPr id="10" name="Rounded Rectangle 9"/>
          <p:cNvSpPr/>
          <p:nvPr/>
        </p:nvSpPr>
        <p:spPr>
          <a:xfrm>
            <a:off x="142875" y="981075"/>
            <a:ext cx="11906250" cy="3667125"/>
          </a:xfrm>
          <a:prstGeom prst="roundRect">
            <a:avLst>
              <a:gd name="adj" fmla="val 207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Matcha Market Operating Margin by Region &amp; Node</a:t>
            </a:r>
          </a:p>
        </p:txBody>
      </p:sp>
      <p:graphicFrame>
        <p:nvGraphicFramePr>
          <p:cNvPr id="12" name="Table 11"/>
          <p:cNvGraphicFramePr>
            <a:graphicFrameLocks noGrp="1"/>
          </p:cNvGraphicFramePr>
          <p:nvPr/>
        </p:nvGraphicFramePr>
        <p:xfrm>
          <a:off x="152400" y="1238250"/>
          <a:ext cx="11887202" cy="3200406"/>
        </p:xfrm>
        <a:graphic>
          <a:graphicData uri="http://schemas.openxmlformats.org/drawingml/2006/table">
            <a:tbl>
              <a:tblPr>
                <a:tableStyleId>{5C22544A-7EE6-4342-B048-85BDC9FD1C3A}</a:tableStyleId>
              </a:tblPr>
              <a:tblGrid>
                <a:gridCol w="1208402"/>
                <a:gridCol w="2669700"/>
                <a:gridCol w="2669700"/>
                <a:gridCol w="2669700"/>
                <a:gridCol w="2669700"/>
              </a:tblGrid>
              <a:tr h="246126">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Node of Supply Chain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Operating Margin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Comparison to Parent Market</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Notes</a:t>
                      </a:r>
                      <a:endParaRPr sz="1100"/>
                    </a:p>
                  </a:txBody>
                  <a:tcPr marL="47625" marR="38100" marT="19050" marB="19050" anchor="ctr">
                    <a:solidFill>
                      <a:srgbClr val="E0E8EF"/>
                    </a:solidFill>
                  </a:tcPr>
                </a:tc>
              </a:tr>
              <a:tr h="246190">
                <a:tc>
                  <a:txBody>
                    <a:bodyPr wrap="none"/>
                    <a:lstStyle/>
                    <a:p>
                      <a:pPr algn="l"/>
                      <a:r>
                        <a:rPr sz="1100" b="1">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r h="246190">
                <a:tc>
                  <a:txBody>
                    <a:bodyPr wrap="none"/>
                    <a:lstStyle/>
                    <a:p>
                      <a:pPr algn="l"/>
                      <a:r>
                        <a:rPr sz="1100" b="1">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Raw Material Suppliers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Commodity-linked</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Manufacturers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Highest margins (value-add + scale)</a:t>
                      </a:r>
                      <a:endParaRPr sz="1100"/>
                    </a:p>
                  </a:txBody>
                  <a:tcPr marL="47625" marR="38100" marT="19050" marB="19050" anchor="ctr">
                    <a:solidFill>
                      <a:srgbClr val="F5F8FA"/>
                    </a:solidFill>
                  </a:tcPr>
                </a:tc>
              </a:tr>
              <a:tr h="246190">
                <a:tc>
                  <a:txBody>
                    <a:bodyPr wrap="none"/>
                    <a:lstStyle/>
                    <a:p>
                      <a:pPr algn="l"/>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Distributors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Volume-led, thin</a:t>
                      </a:r>
                      <a:endParaRPr sz="1100"/>
                    </a:p>
                  </a:txBody>
                  <a:tcPr marL="47625" marR="38100" marT="19050" marB="19050" anchor="ctr">
                    <a:solidFill>
                      <a:srgbClr val="FFFFFF"/>
                    </a:solidFill>
                  </a:tcPr>
                </a:tc>
              </a:tr>
              <a:tr h="246190">
                <a:tc>
                  <a:txBody>
                    <a:bodyPr wrap="none"/>
                    <a:lstStyle/>
                    <a:p>
                      <a:pPr algn="l"/>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Retailers</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Channel-dependent PoS margin</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4448175"/>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781550"/>
            <a:ext cx="11906250" cy="1847850"/>
          </a:xfrm>
          <a:prstGeom prst="roundRect">
            <a:avLst>
              <a:gd name="adj" fmla="val 412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867275"/>
            <a:ext cx="11639550" cy="209550"/>
          </a:xfrm>
          <a:prstGeom prst="rect">
            <a:avLst/>
          </a:prstGeom>
          <a:noFill/>
        </p:spPr>
        <p:txBody>
          <a:bodyPr wrap="square" lIns="0" rIns="19050" tIns="9525" bIns="9525">
            <a:spAutoFit/>
          </a:bodyPr>
          <a:lstStyle/>
          <a:p>
            <a:pPr algn="l"/>
            <a:r>
              <a:rPr sz="1300" b="1">
                <a:solidFill>
                  <a:srgbClr val="0B2E4A"/>
                </a:solidFill>
                <a:latin typeface="Calibri"/>
              </a:rPr>
              <a:t>How to Read This</a:t>
            </a:r>
          </a:p>
        </p:txBody>
      </p:sp>
      <p:sp>
        <p:nvSpPr>
          <p:cNvPr id="16" name="Rectangle 15"/>
          <p:cNvSpPr/>
          <p:nvPr/>
        </p:nvSpPr>
        <p:spPr>
          <a:xfrm>
            <a:off x="276225" y="510540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5191125"/>
            <a:ext cx="11639550" cy="136207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Node of Supply Chain: each major stage, from raw-material suppliers through to retailers.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Operating Margin: the indicative margin earned at each node, by region.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Comparison to Parent Market: margin versus the parent / associated market (e.g. the broader food or pharmaceutical value chain).</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Margins are broken down by both region and node to surface where value concentrates along the chain.</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6513512" y="2694815"/>
            <a:ext cx="366712" cy="533400"/>
          </a:xfrm>
          <a:prstGeom prst="rect">
            <a:avLst/>
          </a:prstGeom>
        </p:spPr>
      </p:pic>
    </p:spTree>
  </p:cSld>
  <p:clrMapOvr>
    <a:masterClrMapping/>
  </p:clrMapOvr>
</p:sld>
</file>

<file path=ppt/slides/slide26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Buyers Assessment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Assessment of buyers and end users by volume, average price and revenue, highlighting purchasing power</a:t>
            </a:r>
          </a:p>
        </p:txBody>
      </p:sp>
      <p:sp>
        <p:nvSpPr>
          <p:cNvPr id="10" name="Rounded Rectangle 9"/>
          <p:cNvSpPr/>
          <p:nvPr/>
        </p:nvSpPr>
        <p:spPr>
          <a:xfrm>
            <a:off x="142875" y="981075"/>
            <a:ext cx="11906250" cy="3181350"/>
          </a:xfrm>
          <a:prstGeom prst="roundRect">
            <a:avLst>
              <a:gd name="adj" fmla="val 239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038225"/>
            <a:ext cx="117157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Matcha Market Buyers / End-User Assessment</a:t>
            </a:r>
          </a:p>
        </p:txBody>
      </p:sp>
      <p:graphicFrame>
        <p:nvGraphicFramePr>
          <p:cNvPr id="12" name="Table 11"/>
          <p:cNvGraphicFramePr>
            <a:graphicFrameLocks noGrp="1"/>
          </p:cNvGraphicFramePr>
          <p:nvPr/>
        </p:nvGraphicFramePr>
        <p:xfrm>
          <a:off x="152400" y="1238250"/>
          <a:ext cx="11887198" cy="2714626"/>
        </p:xfrm>
        <a:graphic>
          <a:graphicData uri="http://schemas.openxmlformats.org/drawingml/2006/table">
            <a:tbl>
              <a:tblPr>
                <a:tableStyleId>{5C22544A-7EE6-4342-B048-85BDC9FD1C3A}</a:tableStyleId>
              </a:tblPr>
              <a:tblGrid>
                <a:gridCol w="1673443"/>
                <a:gridCol w="1042766"/>
                <a:gridCol w="1045622"/>
                <a:gridCol w="1109199"/>
                <a:gridCol w="1575429"/>
                <a:gridCol w="1257545"/>
                <a:gridCol w="1379359"/>
                <a:gridCol w="1326420"/>
                <a:gridCol w="1477415"/>
              </a:tblGrid>
              <a:tr h="246126">
                <a:tc>
                  <a:txBody>
                    <a:bodyPr wrap="none"/>
                    <a:lstStyle/>
                    <a:p>
                      <a:pPr algn="l"/>
                      <a:r>
                        <a:rPr sz="1100" b="1">
                          <a:solidFill>
                            <a:srgbClr val="0B2E4A"/>
                          </a:solidFill>
                          <a:latin typeface="Calibri"/>
                        </a:rPr>
                        <a:t>Company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Country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Region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Category</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Buyer / End-User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Procurement Vol.</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Avg Price (US$/MT)</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Revenue (US$ Mn)</a:t>
                      </a:r>
                      <a:endParaRPr sz="1100"/>
                    </a:p>
                  </a:txBody>
                  <a:tcPr marL="47625" marR="38100" marT="19050" marB="19050" anchor="ctr">
                    <a:solidFill>
                      <a:srgbClr val="E0E8EF"/>
                    </a:solidFill>
                  </a:tcPr>
                </a:tc>
                <a:tc>
                  <a:txBody>
                    <a:bodyPr wrap="none"/>
                    <a:lstStyle/>
                    <a:p>
                      <a:pPr algn="l"/>
                      <a:r>
                        <a:rPr sz="1100" b="1">
                          <a:solidFill>
                            <a:srgbClr val="0B2E4A"/>
                          </a:solidFill>
                          <a:latin typeface="Calibri"/>
                        </a:rPr>
                        <a:t>Key Selection Factor</a:t>
                      </a:r>
                      <a:endParaRPr sz="1100"/>
                    </a:p>
                  </a:txBody>
                  <a:tcPr marL="47625" marR="38100" marT="19050" marB="19050" anchor="ctr">
                    <a:solidFill>
                      <a:srgbClr val="E0E8EF"/>
                    </a:solidFill>
                  </a:tcPr>
                </a:tc>
              </a:tr>
              <a:tr h="246850">
                <a:tc>
                  <a:txBody>
                    <a:bodyPr wrap="none"/>
                    <a:lstStyle/>
                    <a:p>
                      <a:pPr algn="l"/>
                      <a:r>
                        <a:rPr sz="1100" b="1">
                          <a:solidFill>
                            <a:srgbClr val="2E2E2E"/>
                          </a:solidFill>
                          <a:latin typeface="Calibri"/>
                        </a:rPr>
                        <a:t>Jade Leaf Matcha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DoMatcha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Canada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North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Encha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Brazil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Rishi Tea and Botanicals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Mexico</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Tenzo</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Rest of LATAM</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Latin America</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Matchaful</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Germany</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Price &amp; reliability</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Kettl</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U.K.</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Retailer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B2C / Retail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Quality &amp; compliance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Harney and Sons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France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Others</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Contract / OEM</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Lead time &amp; service</a:t>
                      </a:r>
                      <a:endParaRPr sz="1100"/>
                    </a:p>
                  </a:txBody>
                  <a:tcPr marL="47625" marR="38100" marT="19050" marB="19050" anchor="ctr">
                    <a:solidFill>
                      <a:srgbClr val="F5F8FA"/>
                    </a:solidFill>
                  </a:tcPr>
                </a:tc>
              </a:tr>
              <a:tr h="246850">
                <a:tc>
                  <a:txBody>
                    <a:bodyPr wrap="none"/>
                    <a:lstStyle/>
                    <a:p>
                      <a:pPr algn="l"/>
                      <a:r>
                        <a:rPr sz="1100" b="1">
                          <a:solidFill>
                            <a:srgbClr val="2E2E2E"/>
                          </a:solidFill>
                          <a:latin typeface="Calibri"/>
                        </a:rPr>
                        <a:t>Sencha Naturals</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Italy</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Manufacturer</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B2B / Industrial</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l"/>
                      <a:r>
                        <a:rPr sz="1100" b="0">
                          <a:solidFill>
                            <a:srgbClr val="2E2E2E"/>
                          </a:solidFill>
                          <a:latin typeface="Calibri"/>
                        </a:rPr>
                        <a:t>Capacity &amp; scale</a:t>
                      </a:r>
                      <a:endParaRPr sz="1100"/>
                    </a:p>
                  </a:txBody>
                  <a:tcPr marL="47625" marR="38100" marT="19050" marB="19050" anchor="ctr">
                    <a:solidFill>
                      <a:srgbClr val="FFFFFF"/>
                    </a:solidFill>
                  </a:tcPr>
                </a:tc>
              </a:tr>
              <a:tr h="246850">
                <a:tc>
                  <a:txBody>
                    <a:bodyPr wrap="none"/>
                    <a:lstStyle/>
                    <a:p>
                      <a:pPr algn="l"/>
                      <a:r>
                        <a:rPr sz="1100" b="1">
                          <a:solidFill>
                            <a:srgbClr val="2E2E2E"/>
                          </a:solidFill>
                          <a:latin typeface="Calibri"/>
                        </a:rPr>
                        <a:t>Aoi Matcha</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Spain</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Europe</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Distributor</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B2B / Institutional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l"/>
                      <a:r>
                        <a:rPr sz="1100" b="0">
                          <a:solidFill>
                            <a:srgbClr val="2E2E2E"/>
                          </a:solidFill>
                          <a:latin typeface="Calibri"/>
                        </a:rPr>
                        <a:t>Brand &amp; support</a:t>
                      </a:r>
                      <a:endParaRPr sz="1100"/>
                    </a:p>
                  </a:txBody>
                  <a:tcPr marL="47625" marR="38100" marT="19050" marB="19050" anchor="ctr">
                    <a:solidFill>
                      <a:srgbClr val="F5F8FA"/>
                    </a:solidFill>
                  </a:tcPr>
                </a:tc>
              </a:tr>
            </a:tbl>
          </a:graphicData>
        </a:graphic>
      </p:graphicFrame>
      <p:sp>
        <p:nvSpPr>
          <p:cNvPr id="13" name="TextBox 12"/>
          <p:cNvSpPr txBox="1"/>
          <p:nvPr/>
        </p:nvSpPr>
        <p:spPr>
          <a:xfrm>
            <a:off x="219075" y="3962400"/>
            <a:ext cx="117538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4" name="Rounded Rectangle 13"/>
          <p:cNvSpPr/>
          <p:nvPr/>
        </p:nvSpPr>
        <p:spPr>
          <a:xfrm>
            <a:off x="142875" y="4295775"/>
            <a:ext cx="11906250" cy="2333625"/>
          </a:xfrm>
          <a:prstGeom prst="roundRect">
            <a:avLst>
              <a:gd name="adj" fmla="val 32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76225" y="4381500"/>
            <a:ext cx="11639550" cy="209550"/>
          </a:xfrm>
          <a:prstGeom prst="rect">
            <a:avLst/>
          </a:prstGeom>
          <a:noFill/>
        </p:spPr>
        <p:txBody>
          <a:bodyPr wrap="square" lIns="0" rIns="19050" tIns="9525" bIns="9525">
            <a:spAutoFit/>
          </a:bodyPr>
          <a:lstStyle/>
          <a:p>
            <a:pPr algn="l"/>
            <a:r>
              <a:rPr sz="1300" b="1">
                <a:solidFill>
                  <a:srgbClr val="0B2E4A"/>
                </a:solidFill>
                <a:latin typeface="Calibri"/>
              </a:rPr>
              <a:t>Notes</a:t>
            </a:r>
          </a:p>
        </p:txBody>
      </p:sp>
      <p:sp>
        <p:nvSpPr>
          <p:cNvPr id="16" name="Rectangle 15"/>
          <p:cNvSpPr/>
          <p:nvPr/>
        </p:nvSpPr>
        <p:spPr>
          <a:xfrm>
            <a:off x="276225" y="461962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4705350"/>
            <a:ext cx="11639550" cy="184785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This is a representative subset the full assessment lists 20–30 active participants (with brands, specifications, procurement strategies and SWOT). Note: value-chain economics are indicative derived from market modelling and expert validation, not company disclosures.</a:t>
            </a:r>
          </a:p>
        </p:txBody>
      </p:sp>
      <p:sp>
        <p:nvSpPr>
          <p:cNvPr id="18" name="TextBox 1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9" name="Picture 18" descr="lock.png"/>
          <p:cNvPicPr>
            <a:picLocks noChangeAspect="1"/>
          </p:cNvPicPr>
          <p:nvPr/>
        </p:nvPicPr>
        <p:blipFill>
          <a:blip r:embed="rId4"/>
          <a:stretch>
            <a:fillRect/>
          </a:stretch>
        </p:blipFill>
        <p:spPr>
          <a:xfrm>
            <a:off x="8393831" y="2451926"/>
            <a:ext cx="366712" cy="533400"/>
          </a:xfrm>
          <a:prstGeom prst="rect">
            <a:avLst/>
          </a:prstGeom>
        </p:spPr>
      </p:pic>
    </p:spTree>
  </p:cSld>
  <p:clrMapOvr>
    <a:masterClrMapping/>
  </p:clrMapOvr>
</p:sld>
</file>

<file path=ppt/slides/slide269.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394075"/>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3698875"/>
            <a:ext cx="7239000" cy="514350"/>
          </a:xfrm>
          <a:prstGeom prst="rect">
            <a:avLst/>
          </a:prstGeom>
          <a:noFill/>
        </p:spPr>
        <p:txBody>
          <a:bodyPr wrap="square" lIns="0" rIns="0" tIns="0">
            <a:spAutoFit/>
          </a:bodyPr>
          <a:lstStyle/>
          <a:p>
            <a:r>
              <a:rPr sz="3000" b="1" cap="all" spc="400">
                <a:solidFill>
                  <a:srgbClr val="FFFFFF"/>
                </a:solidFill>
                <a:latin typeface="Calibri"/>
              </a:rPr>
              <a:t>Market Dynamics</a:t>
            </a:r>
          </a:p>
        </p:txBody>
      </p:sp>
      <p:sp>
        <p:nvSpPr>
          <p:cNvPr id="7" name="TextBox 6"/>
          <p:cNvSpPr txBox="1"/>
          <p:nvPr/>
        </p:nvSpPr>
        <p:spPr>
          <a:xfrm>
            <a:off x="914400" y="4403725"/>
            <a:ext cx="7124700" cy="4889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Dynamics &amp; Forces</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0.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17</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Dynamics &amp; Forces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Drivers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Restraints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Market Opportunities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Recent Developments &amp; Milestones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Five Forces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7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Dynamics by Region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growth driver, restraint and opportunity shaping each region of the global market</a:t>
            </a:r>
          </a:p>
        </p:txBody>
      </p:sp>
      <p:sp>
        <p:nvSpPr>
          <p:cNvPr id="10" name="TextBox 9"/>
          <p:cNvSpPr txBox="1"/>
          <p:nvPr/>
        </p:nvSpPr>
        <p:spPr>
          <a:xfrm>
            <a:off x="180975" y="1025515"/>
            <a:ext cx="8572500" cy="219044"/>
          </a:xfrm>
          <a:prstGeom prst="rect">
            <a:avLst/>
          </a:prstGeom>
          <a:noFill/>
        </p:spPr>
        <p:txBody>
          <a:bodyPr wrap="square" lIns="28575" rIns="28575" tIns="9525" bIns="9525" anchor="ctr">
            <a:spAutoFit/>
          </a:bodyPr>
          <a:lstStyle/>
          <a:p>
            <a:pPr algn="l"/>
            <a:r>
              <a:rPr sz="1150" b="1">
                <a:solidFill>
                  <a:srgbClr val="2E2E2E"/>
                </a:solidFill>
                <a:latin typeface="Calibri"/>
              </a:rPr>
              <a:t>Demand Dynamics by Region  ·  ranked by 2036 value</a:t>
            </a:r>
          </a:p>
        </p:txBody>
      </p:sp>
      <p:sp>
        <p:nvSpPr>
          <p:cNvPr id="11" name="Rectangle 10"/>
          <p:cNvSpPr/>
          <p:nvPr/>
        </p:nvSpPr>
        <p:spPr>
          <a:xfrm>
            <a:off x="142875" y="1262813"/>
            <a:ext cx="11906250" cy="255552"/>
          </a:xfrm>
          <a:prstGeom prst="rect">
            <a:avLst/>
          </a:prstGeom>
          <a:solidFill>
            <a:srgbClr val="DCE6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00025" y="1262813"/>
            <a:ext cx="1428750" cy="255552"/>
          </a:xfrm>
          <a:prstGeom prst="rect">
            <a:avLst/>
          </a:prstGeom>
          <a:noFill/>
        </p:spPr>
        <p:txBody>
          <a:bodyPr wrap="square" lIns="28575" rIns="28575" tIns="9525" bIns="9525" anchor="ctr">
            <a:spAutoFit/>
          </a:bodyPr>
          <a:lstStyle/>
          <a:p>
            <a:pPr algn="l"/>
            <a:r>
              <a:rPr sz="1100" b="1">
                <a:solidFill>
                  <a:srgbClr val="0B2E4A"/>
                </a:solidFill>
                <a:latin typeface="Calibri"/>
              </a:rPr>
              <a:t>Region</a:t>
            </a:r>
          </a:p>
        </p:txBody>
      </p:sp>
      <p:sp>
        <p:nvSpPr>
          <p:cNvPr id="13" name="TextBox 12"/>
          <p:cNvSpPr txBox="1"/>
          <p:nvPr/>
        </p:nvSpPr>
        <p:spPr>
          <a:xfrm>
            <a:off x="1724025" y="1262813"/>
            <a:ext cx="3714750" cy="255552"/>
          </a:xfrm>
          <a:prstGeom prst="rect">
            <a:avLst/>
          </a:prstGeom>
          <a:noFill/>
        </p:spPr>
        <p:txBody>
          <a:bodyPr wrap="square" lIns="28575" rIns="28575" tIns="9525" bIns="9525" anchor="ctr">
            <a:spAutoFit/>
          </a:bodyPr>
          <a:lstStyle/>
          <a:p>
            <a:pPr algn="l"/>
            <a:r>
              <a:rPr sz="1100" b="1">
                <a:solidFill>
                  <a:srgbClr val="0B2E4A"/>
                </a:solidFill>
                <a:latin typeface="Calibri"/>
              </a:rPr>
              <a:t>Growth Drivers</a:t>
            </a:r>
          </a:p>
        </p:txBody>
      </p:sp>
      <p:sp>
        <p:nvSpPr>
          <p:cNvPr id="14" name="TextBox 13"/>
          <p:cNvSpPr txBox="1"/>
          <p:nvPr/>
        </p:nvSpPr>
        <p:spPr>
          <a:xfrm>
            <a:off x="5534025" y="1262813"/>
            <a:ext cx="2762250" cy="255552"/>
          </a:xfrm>
          <a:prstGeom prst="rect">
            <a:avLst/>
          </a:prstGeom>
          <a:noFill/>
        </p:spPr>
        <p:txBody>
          <a:bodyPr wrap="square" lIns="28575" rIns="28575" tIns="9525" bIns="9525" anchor="ctr">
            <a:spAutoFit/>
          </a:bodyPr>
          <a:lstStyle/>
          <a:p>
            <a:pPr algn="l"/>
            <a:r>
              <a:rPr sz="1100" b="1">
                <a:solidFill>
                  <a:srgbClr val="0B2E4A"/>
                </a:solidFill>
                <a:latin typeface="Calibri"/>
              </a:rPr>
              <a:t>Restraints</a:t>
            </a:r>
          </a:p>
        </p:txBody>
      </p:sp>
      <p:sp>
        <p:nvSpPr>
          <p:cNvPr id="15" name="TextBox 14"/>
          <p:cNvSpPr txBox="1"/>
          <p:nvPr/>
        </p:nvSpPr>
        <p:spPr>
          <a:xfrm>
            <a:off x="8391525" y="1262813"/>
            <a:ext cx="3619500" cy="255552"/>
          </a:xfrm>
          <a:prstGeom prst="rect">
            <a:avLst/>
          </a:prstGeom>
          <a:noFill/>
        </p:spPr>
        <p:txBody>
          <a:bodyPr wrap="square" lIns="28575" rIns="28575" tIns="9525" bIns="9525" anchor="ctr">
            <a:spAutoFit/>
          </a:bodyPr>
          <a:lstStyle/>
          <a:p>
            <a:pPr algn="l"/>
            <a:r>
              <a:rPr sz="1100" b="1">
                <a:solidFill>
                  <a:srgbClr val="0B2E4A"/>
                </a:solidFill>
                <a:latin typeface="Calibri"/>
              </a:rPr>
              <a:t>Priority Opportunities</a:t>
            </a:r>
          </a:p>
        </p:txBody>
      </p:sp>
      <p:sp>
        <p:nvSpPr>
          <p:cNvPr id="16" name="Rectangle 15"/>
          <p:cNvSpPr/>
          <p:nvPr/>
        </p:nvSpPr>
        <p:spPr>
          <a:xfrm>
            <a:off x="142875" y="1518365"/>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00025" y="151836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North America</a:t>
            </a:r>
          </a:p>
        </p:txBody>
      </p:sp>
      <p:sp>
        <p:nvSpPr>
          <p:cNvPr id="18" name="TextBox 17"/>
          <p:cNvSpPr txBox="1"/>
          <p:nvPr/>
        </p:nvSpPr>
        <p:spPr>
          <a:xfrm>
            <a:off x="1724025" y="1545745"/>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9" name="TextBox 18"/>
          <p:cNvSpPr txBox="1"/>
          <p:nvPr/>
        </p:nvSpPr>
        <p:spPr>
          <a:xfrm>
            <a:off x="5534025" y="1545745"/>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0" name="TextBox 19"/>
          <p:cNvSpPr txBox="1"/>
          <p:nvPr/>
        </p:nvSpPr>
        <p:spPr>
          <a:xfrm>
            <a:off x="8391525" y="1545745"/>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Rectangle 20"/>
          <p:cNvSpPr/>
          <p:nvPr/>
        </p:nvSpPr>
        <p:spPr>
          <a:xfrm>
            <a:off x="142875" y="2029468"/>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00025" y="2029468"/>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Europe</a:t>
            </a:r>
          </a:p>
        </p:txBody>
      </p:sp>
      <p:sp>
        <p:nvSpPr>
          <p:cNvPr id="23" name="TextBox 22"/>
          <p:cNvSpPr txBox="1"/>
          <p:nvPr/>
        </p:nvSpPr>
        <p:spPr>
          <a:xfrm>
            <a:off x="1724025" y="205684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4" name="TextBox 23"/>
          <p:cNvSpPr txBox="1"/>
          <p:nvPr/>
        </p:nvSpPr>
        <p:spPr>
          <a:xfrm>
            <a:off x="5534025" y="205684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8391525" y="205684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6" name="Rectangle 25"/>
          <p:cNvSpPr/>
          <p:nvPr/>
        </p:nvSpPr>
        <p:spPr>
          <a:xfrm>
            <a:off x="142875" y="2540572"/>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00025" y="254057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South Asia &amp; Pacific</a:t>
            </a:r>
          </a:p>
        </p:txBody>
      </p:sp>
      <p:sp>
        <p:nvSpPr>
          <p:cNvPr id="28" name="TextBox 27"/>
          <p:cNvSpPr txBox="1"/>
          <p:nvPr/>
        </p:nvSpPr>
        <p:spPr>
          <a:xfrm>
            <a:off x="1724025" y="2567952"/>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9" name="TextBox 28"/>
          <p:cNvSpPr txBox="1"/>
          <p:nvPr/>
        </p:nvSpPr>
        <p:spPr>
          <a:xfrm>
            <a:off x="5534025" y="2567952"/>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Competitive intensity at scale.</a:t>
            </a:r>
          </a:p>
        </p:txBody>
      </p:sp>
      <p:sp>
        <p:nvSpPr>
          <p:cNvPr id="30" name="TextBox 29"/>
          <p:cNvSpPr txBox="1"/>
          <p:nvPr/>
        </p:nvSpPr>
        <p:spPr>
          <a:xfrm>
            <a:off x="8391525" y="2567952"/>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1" name="Rectangle 30"/>
          <p:cNvSpPr/>
          <p:nvPr/>
        </p:nvSpPr>
        <p:spPr>
          <a:xfrm>
            <a:off x="142875" y="3051675"/>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200025" y="3051675"/>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East Asia</a:t>
            </a:r>
          </a:p>
        </p:txBody>
      </p:sp>
      <p:sp>
        <p:nvSpPr>
          <p:cNvPr id="33" name="TextBox 32"/>
          <p:cNvSpPr txBox="1"/>
          <p:nvPr/>
        </p:nvSpPr>
        <p:spPr>
          <a:xfrm>
            <a:off x="1724025" y="3079056"/>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4" name="TextBox 33"/>
          <p:cNvSpPr txBox="1"/>
          <p:nvPr/>
        </p:nvSpPr>
        <p:spPr>
          <a:xfrm>
            <a:off x="5534025" y="3079056"/>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8391525" y="3079056"/>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Rectangle 35"/>
          <p:cNvSpPr/>
          <p:nvPr/>
        </p:nvSpPr>
        <p:spPr>
          <a:xfrm>
            <a:off x="142875" y="3562779"/>
            <a:ext cx="11906250" cy="51110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00025" y="3562779"/>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Latin America</a:t>
            </a:r>
          </a:p>
        </p:txBody>
      </p:sp>
      <p:sp>
        <p:nvSpPr>
          <p:cNvPr id="38" name="TextBox 37"/>
          <p:cNvSpPr txBox="1"/>
          <p:nvPr/>
        </p:nvSpPr>
        <p:spPr>
          <a:xfrm>
            <a:off x="1724025" y="3590159"/>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9" name="TextBox 38"/>
          <p:cNvSpPr txBox="1"/>
          <p:nvPr/>
        </p:nvSpPr>
        <p:spPr>
          <a:xfrm>
            <a:off x="5534025" y="3590159"/>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0" name="TextBox 39"/>
          <p:cNvSpPr txBox="1"/>
          <p:nvPr/>
        </p:nvSpPr>
        <p:spPr>
          <a:xfrm>
            <a:off x="8391525" y="3590159"/>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Rectangle 40"/>
          <p:cNvSpPr/>
          <p:nvPr/>
        </p:nvSpPr>
        <p:spPr>
          <a:xfrm>
            <a:off x="142875" y="4073882"/>
            <a:ext cx="11906250" cy="511104"/>
          </a:xfrm>
          <a:prstGeom prst="rect">
            <a:avLst/>
          </a:prstGeom>
          <a:solidFill>
            <a:srgbClr val="F5F8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00025" y="4073882"/>
            <a:ext cx="1428750" cy="511104"/>
          </a:xfrm>
          <a:prstGeom prst="rect">
            <a:avLst/>
          </a:prstGeom>
          <a:noFill/>
        </p:spPr>
        <p:txBody>
          <a:bodyPr wrap="square" lIns="28575" rIns="28575" tIns="9525" bIns="9525" anchor="ctr">
            <a:spAutoFit/>
          </a:bodyPr>
          <a:lstStyle/>
          <a:p>
            <a:pPr algn="l"/>
            <a:r>
              <a:rPr sz="1100" b="1">
                <a:solidFill>
                  <a:srgbClr val="2E2E2E"/>
                </a:solidFill>
                <a:latin typeface="Calibri"/>
              </a:rPr>
              <a:t>Middle East &amp; Africa</a:t>
            </a:r>
          </a:p>
        </p:txBody>
      </p:sp>
      <p:sp>
        <p:nvSpPr>
          <p:cNvPr id="43" name="TextBox 42"/>
          <p:cNvSpPr txBox="1"/>
          <p:nvPr/>
        </p:nvSpPr>
        <p:spPr>
          <a:xfrm>
            <a:off x="1724025" y="4101263"/>
            <a:ext cx="36766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5534025" y="4101263"/>
            <a:ext cx="272415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TextBox 44"/>
          <p:cNvSpPr txBox="1"/>
          <p:nvPr/>
        </p:nvSpPr>
        <p:spPr>
          <a:xfrm>
            <a:off x="8391525" y="4101263"/>
            <a:ext cx="3581400" cy="45634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cxnSp>
        <p:nvCxnSpPr>
          <p:cNvPr id="46" name="Connector 45"/>
          <p:cNvCxnSpPr/>
          <p:nvPr/>
        </p:nvCxnSpPr>
        <p:spPr>
          <a:xfrm>
            <a:off x="142875" y="4584986"/>
            <a:ext cx="11906250" cy="0"/>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47" name="TextBox 46"/>
          <p:cNvSpPr txBox="1"/>
          <p:nvPr/>
        </p:nvSpPr>
        <p:spPr>
          <a:xfrm>
            <a:off x="200025" y="4603240"/>
            <a:ext cx="3810000" cy="182537"/>
          </a:xfrm>
          <a:prstGeom prst="rect">
            <a:avLst/>
          </a:prstGeom>
          <a:noFill/>
        </p:spPr>
        <p:txBody>
          <a:bodyPr wrap="square" lIns="28575" rIns="28575" tIns="9525" bIns="9525" anchor="ctr">
            <a:spAutoFit/>
          </a:bodyPr>
          <a:lstStyle/>
          <a:p>
            <a:pPr algn="l"/>
            <a:r>
              <a:rPr sz="1100" b="0">
                <a:solidFill>
                  <a:srgbClr val="6C7A89"/>
                </a:solidFill>
                <a:latin typeface="Calibri"/>
              </a:rPr>
              <a:t>Source: FMI Analysis, 2026</a:t>
            </a:r>
          </a:p>
        </p:txBody>
      </p:sp>
      <p:sp>
        <p:nvSpPr>
          <p:cNvPr id="48" name="Rounded Rectangle 47"/>
          <p:cNvSpPr/>
          <p:nvPr/>
        </p:nvSpPr>
        <p:spPr>
          <a:xfrm>
            <a:off x="142875" y="4858791"/>
            <a:ext cx="11906250" cy="994827"/>
          </a:xfrm>
          <a:prstGeom prst="roundRect">
            <a:avLst>
              <a:gd name="adj" fmla="val 479"/>
            </a:avLst>
          </a:prstGeom>
          <a:solidFill>
            <a:srgbClr val="FFFFFF"/>
          </a:solidFill>
          <a:ln w="12700">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76225" y="4895299"/>
            <a:ext cx="3810000" cy="219044"/>
          </a:xfrm>
          <a:prstGeom prst="rect">
            <a:avLst/>
          </a:prstGeom>
          <a:noFill/>
        </p:spPr>
        <p:txBody>
          <a:bodyPr wrap="square" lIns="28575" rIns="28575" tIns="9525" bIns="9525" anchor="ctr">
            <a:spAutoFit/>
          </a:bodyPr>
          <a:lstStyle/>
          <a:p>
            <a:pPr algn="l"/>
            <a:r>
              <a:rPr sz="1200" b="1">
                <a:solidFill>
                  <a:srgbClr val="0B2E4A"/>
                </a:solidFill>
                <a:latin typeface="Calibri"/>
              </a:rPr>
              <a:t>KEY TAKEAWAY</a:t>
            </a:r>
          </a:p>
        </p:txBody>
      </p:sp>
      <p:cxnSp>
        <p:nvCxnSpPr>
          <p:cNvPr id="50" name="Connector 49"/>
          <p:cNvCxnSpPr/>
          <p:nvPr/>
        </p:nvCxnSpPr>
        <p:spPr>
          <a:xfrm>
            <a:off x="276225" y="5132597"/>
            <a:ext cx="11639550" cy="0"/>
          </a:xfrm>
          <a:prstGeom prst="line">
            <a:avLst/>
          </a:prstGeom>
          <a:ln w="15875">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51" name="TextBox 50"/>
          <p:cNvSpPr txBox="1"/>
          <p:nvPr/>
        </p:nvSpPr>
        <p:spPr>
          <a:xfrm>
            <a:off x="276225" y="5187358"/>
            <a:ext cx="1152525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2" name="TextBox 5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3" name="TextBox 52"/>
          <p:cNvSpPr txBox="1"/>
          <p:nvPr/>
        </p:nvSpPr>
        <p:spPr>
          <a:xfrm>
            <a:off x="1752600" y="1606276"/>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54" name="Picture 53" descr="lock.png"/>
          <p:cNvPicPr>
            <a:picLocks noChangeAspect="1"/>
          </p:cNvPicPr>
          <p:nvPr/>
        </p:nvPicPr>
        <p:blipFill>
          <a:blip r:embed="rId4"/>
          <a:stretch>
            <a:fillRect/>
          </a:stretch>
        </p:blipFill>
        <p:spPr>
          <a:xfrm>
            <a:off x="2438789" y="1596497"/>
            <a:ext cx="128699" cy="187198"/>
          </a:xfrm>
          <a:prstGeom prst="rect">
            <a:avLst/>
          </a:prstGeom>
        </p:spPr>
      </p:pic>
      <p:sp>
        <p:nvSpPr>
          <p:cNvPr id="55" name="TextBox 54"/>
          <p:cNvSpPr txBox="1"/>
          <p:nvPr/>
        </p:nvSpPr>
        <p:spPr>
          <a:xfrm>
            <a:off x="2606285" y="1606276"/>
            <a:ext cx="1556419" cy="186689"/>
          </a:xfrm>
          <a:prstGeom prst="rect">
            <a:avLst/>
          </a:prstGeom>
          <a:noFill/>
        </p:spPr>
        <p:txBody>
          <a:bodyPr wrap="none" lIns="0" rIns="0" tIns="0" bIns="0">
            <a:spAutoFit/>
          </a:bodyPr>
          <a:lstStyle/>
          <a:p>
            <a:r>
              <a:rPr sz="1100" b="0">
                <a:solidFill>
                  <a:srgbClr val="2E2E2E"/>
                </a:solidFill>
                <a:latin typeface="Calibri"/>
              </a:rPr>
              <a:t>share), Installed demand (</a:t>
            </a:r>
          </a:p>
        </p:txBody>
      </p:sp>
      <p:pic>
        <p:nvPicPr>
          <p:cNvPr id="56" name="Picture 55" descr="lock.png"/>
          <p:cNvPicPr>
            <a:picLocks noChangeAspect="1"/>
          </p:cNvPicPr>
          <p:nvPr/>
        </p:nvPicPr>
        <p:blipFill>
          <a:blip r:embed="rId4"/>
          <a:stretch>
            <a:fillRect/>
          </a:stretch>
        </p:blipFill>
        <p:spPr>
          <a:xfrm>
            <a:off x="4110756" y="1596497"/>
            <a:ext cx="128699" cy="187198"/>
          </a:xfrm>
          <a:prstGeom prst="rect">
            <a:avLst/>
          </a:prstGeom>
        </p:spPr>
      </p:pic>
      <p:sp>
        <p:nvSpPr>
          <p:cNvPr id="57" name="TextBox 56"/>
          <p:cNvSpPr txBox="1"/>
          <p:nvPr/>
        </p:nvSpPr>
        <p:spPr>
          <a:xfrm>
            <a:off x="4278252" y="1606276"/>
            <a:ext cx="937029" cy="186689"/>
          </a:xfrm>
          <a:prstGeom prst="rect">
            <a:avLst/>
          </a:prstGeom>
          <a:noFill/>
        </p:spPr>
        <p:txBody>
          <a:bodyPr wrap="none" lIns="0" rIns="0" tIns="0" bIns="0">
            <a:spAutoFit/>
          </a:bodyPr>
          <a:lstStyle/>
          <a:p>
            <a:r>
              <a:rPr sz="1100" b="0">
                <a:solidFill>
                  <a:srgbClr val="2E2E2E"/>
                </a:solidFill>
                <a:latin typeface="Calibri"/>
              </a:rPr>
              <a:t>CAGR), Matcha</a:t>
            </a:r>
          </a:p>
        </p:txBody>
      </p:sp>
      <p:sp>
        <p:nvSpPr>
          <p:cNvPr id="58" name="TextBox 57"/>
          <p:cNvSpPr txBox="1"/>
          <p:nvPr/>
        </p:nvSpPr>
        <p:spPr>
          <a:xfrm>
            <a:off x="1752600" y="1773915"/>
            <a:ext cx="2160785" cy="186689"/>
          </a:xfrm>
          <a:prstGeom prst="rect">
            <a:avLst/>
          </a:prstGeom>
          <a:noFill/>
        </p:spPr>
        <p:txBody>
          <a:bodyPr wrap="none" lIns="0" rIns="0" tIns="0" bIns="0">
            <a:spAutoFit/>
          </a:bodyPr>
          <a:lstStyle/>
          <a:p>
            <a:r>
              <a:rPr sz="1100" b="0">
                <a:solidFill>
                  <a:srgbClr val="2E2E2E"/>
                </a:solidFill>
                <a:latin typeface="Calibri"/>
              </a:rPr>
              <a:t>Tea demand, Accelerating vs history.</a:t>
            </a:r>
          </a:p>
        </p:txBody>
      </p:sp>
      <p:sp>
        <p:nvSpPr>
          <p:cNvPr id="59" name="TextBox 58"/>
          <p:cNvSpPr txBox="1"/>
          <p:nvPr/>
        </p:nvSpPr>
        <p:spPr>
          <a:xfrm>
            <a:off x="5562600" y="1606276"/>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60" name="Picture 59" descr="lock.png"/>
          <p:cNvPicPr>
            <a:picLocks noChangeAspect="1"/>
          </p:cNvPicPr>
          <p:nvPr/>
        </p:nvPicPr>
        <p:blipFill>
          <a:blip r:embed="rId4"/>
          <a:stretch>
            <a:fillRect/>
          </a:stretch>
        </p:blipFill>
        <p:spPr>
          <a:xfrm>
            <a:off x="6797766" y="1596497"/>
            <a:ext cx="128699" cy="187198"/>
          </a:xfrm>
          <a:prstGeom prst="rect">
            <a:avLst/>
          </a:prstGeom>
        </p:spPr>
      </p:pic>
      <p:sp>
        <p:nvSpPr>
          <p:cNvPr id="61" name="TextBox 60"/>
          <p:cNvSpPr txBox="1"/>
          <p:nvPr/>
        </p:nvSpPr>
        <p:spPr>
          <a:xfrm>
            <a:off x="6965262" y="1606276"/>
            <a:ext cx="689297" cy="186689"/>
          </a:xfrm>
          <a:prstGeom prst="rect">
            <a:avLst/>
          </a:prstGeom>
          <a:noFill/>
        </p:spPr>
        <p:txBody>
          <a:bodyPr wrap="none" lIns="0" rIns="0" tIns="0" bIns="0">
            <a:spAutoFit/>
          </a:bodyPr>
          <a:lstStyle/>
          <a:p>
            <a:r>
              <a:rPr sz="1100" b="0">
                <a:solidFill>
                  <a:srgbClr val="2E2E2E"/>
                </a:solidFill>
                <a:latin typeface="Calibri"/>
              </a:rPr>
              <a:t>BPS, Rising</a:t>
            </a:r>
          </a:p>
        </p:txBody>
      </p:sp>
      <p:sp>
        <p:nvSpPr>
          <p:cNvPr id="62" name="TextBox 61"/>
          <p:cNvSpPr txBox="1"/>
          <p:nvPr/>
        </p:nvSpPr>
        <p:spPr>
          <a:xfrm>
            <a:off x="5562600" y="1773915"/>
            <a:ext cx="747414" cy="186689"/>
          </a:xfrm>
          <a:prstGeom prst="rect">
            <a:avLst/>
          </a:prstGeom>
          <a:noFill/>
        </p:spPr>
        <p:txBody>
          <a:bodyPr wrap="none" lIns="0" rIns="0" tIns="0" bIns="0">
            <a:spAutoFit/>
          </a:bodyPr>
          <a:lstStyle/>
          <a:p>
            <a:r>
              <a:rPr sz="1100" b="0">
                <a:solidFill>
                  <a:srgbClr val="2E2E2E"/>
                </a:solidFill>
                <a:latin typeface="Calibri"/>
              </a:rPr>
              <a:t>realisation (</a:t>
            </a:r>
          </a:p>
        </p:txBody>
      </p:sp>
      <p:pic>
        <p:nvPicPr>
          <p:cNvPr id="63" name="Picture 62" descr="lock.png"/>
          <p:cNvPicPr>
            <a:picLocks noChangeAspect="1"/>
          </p:cNvPicPr>
          <p:nvPr/>
        </p:nvPicPr>
        <p:blipFill>
          <a:blip r:embed="rId4"/>
          <a:stretch>
            <a:fillRect/>
          </a:stretch>
        </p:blipFill>
        <p:spPr>
          <a:xfrm>
            <a:off x="6258066" y="1764137"/>
            <a:ext cx="128699" cy="187198"/>
          </a:xfrm>
          <a:prstGeom prst="rect">
            <a:avLst/>
          </a:prstGeom>
        </p:spPr>
      </p:pic>
      <p:sp>
        <p:nvSpPr>
          <p:cNvPr id="64" name="TextBox 63"/>
          <p:cNvSpPr txBox="1"/>
          <p:nvPr/>
        </p:nvSpPr>
        <p:spPr>
          <a:xfrm>
            <a:off x="6425562" y="1773915"/>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65" name="TextBox 64"/>
          <p:cNvSpPr txBox="1"/>
          <p:nvPr/>
        </p:nvSpPr>
        <p:spPr>
          <a:xfrm>
            <a:off x="8420100" y="1690095"/>
            <a:ext cx="1375791" cy="186689"/>
          </a:xfrm>
          <a:prstGeom prst="rect">
            <a:avLst/>
          </a:prstGeom>
          <a:noFill/>
        </p:spPr>
        <p:txBody>
          <a:bodyPr wrap="none" lIns="0" rIns="0" tIns="0" bIns="0">
            <a:spAutoFit/>
          </a:bodyPr>
          <a:lstStyle/>
          <a:p>
            <a:r>
              <a:rPr sz="1100" b="0">
                <a:solidFill>
                  <a:srgbClr val="2E2E2E"/>
                </a:solidFill>
                <a:latin typeface="Calibri"/>
              </a:rPr>
              <a:t>Scale Matcha Powder (</a:t>
            </a:r>
          </a:p>
        </p:txBody>
      </p:sp>
      <p:pic>
        <p:nvPicPr>
          <p:cNvPr id="66" name="Picture 65" descr="lock.png"/>
          <p:cNvPicPr>
            <a:picLocks noChangeAspect="1"/>
          </p:cNvPicPr>
          <p:nvPr/>
        </p:nvPicPr>
        <p:blipFill>
          <a:blip r:embed="rId4"/>
          <a:stretch>
            <a:fillRect/>
          </a:stretch>
        </p:blipFill>
        <p:spPr>
          <a:xfrm>
            <a:off x="9743943" y="1680317"/>
            <a:ext cx="128699" cy="187198"/>
          </a:xfrm>
          <a:prstGeom prst="rect">
            <a:avLst/>
          </a:prstGeom>
        </p:spPr>
      </p:pic>
      <p:sp>
        <p:nvSpPr>
          <p:cNvPr id="67" name="TextBox 66"/>
          <p:cNvSpPr txBox="1"/>
          <p:nvPr/>
        </p:nvSpPr>
        <p:spPr>
          <a:xfrm>
            <a:off x="9911439" y="1690095"/>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8" name="Picture 67" descr="lock.png"/>
          <p:cNvPicPr>
            <a:picLocks noChangeAspect="1"/>
          </p:cNvPicPr>
          <p:nvPr/>
        </p:nvPicPr>
        <p:blipFill>
          <a:blip r:embed="rId4"/>
          <a:stretch>
            <a:fillRect/>
          </a:stretch>
        </p:blipFill>
        <p:spPr>
          <a:xfrm>
            <a:off x="10012907" y="1680317"/>
            <a:ext cx="128699" cy="187198"/>
          </a:xfrm>
          <a:prstGeom prst="rect">
            <a:avLst/>
          </a:prstGeom>
        </p:spPr>
      </p:pic>
      <p:sp>
        <p:nvSpPr>
          <p:cNvPr id="69" name="TextBox 68"/>
          <p:cNvSpPr txBox="1"/>
          <p:nvPr/>
        </p:nvSpPr>
        <p:spPr>
          <a:xfrm>
            <a:off x="10180403" y="1690095"/>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70" name="TextBox 69"/>
          <p:cNvSpPr txBox="1"/>
          <p:nvPr/>
        </p:nvSpPr>
        <p:spPr>
          <a:xfrm>
            <a:off x="1752600" y="2117380"/>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71" name="Picture 70" descr="lock.png"/>
          <p:cNvPicPr>
            <a:picLocks noChangeAspect="1"/>
          </p:cNvPicPr>
          <p:nvPr/>
        </p:nvPicPr>
        <p:blipFill>
          <a:blip r:embed="rId4"/>
          <a:stretch>
            <a:fillRect/>
          </a:stretch>
        </p:blipFill>
        <p:spPr>
          <a:xfrm>
            <a:off x="2438789" y="2107601"/>
            <a:ext cx="128699" cy="187198"/>
          </a:xfrm>
          <a:prstGeom prst="rect">
            <a:avLst/>
          </a:prstGeom>
        </p:spPr>
      </p:pic>
      <p:sp>
        <p:nvSpPr>
          <p:cNvPr id="72" name="TextBox 71"/>
          <p:cNvSpPr txBox="1"/>
          <p:nvPr/>
        </p:nvSpPr>
        <p:spPr>
          <a:xfrm>
            <a:off x="2606285" y="2117380"/>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73" name="Picture 72" descr="lock.png"/>
          <p:cNvPicPr>
            <a:picLocks noChangeAspect="1"/>
          </p:cNvPicPr>
          <p:nvPr/>
        </p:nvPicPr>
        <p:blipFill>
          <a:blip r:embed="rId4"/>
          <a:stretch>
            <a:fillRect/>
          </a:stretch>
        </p:blipFill>
        <p:spPr>
          <a:xfrm>
            <a:off x="4237905" y="2107601"/>
            <a:ext cx="128699" cy="187198"/>
          </a:xfrm>
          <a:prstGeom prst="rect">
            <a:avLst/>
          </a:prstGeom>
        </p:spPr>
      </p:pic>
      <p:sp>
        <p:nvSpPr>
          <p:cNvPr id="74" name="TextBox 73"/>
          <p:cNvSpPr txBox="1"/>
          <p:nvPr/>
        </p:nvSpPr>
        <p:spPr>
          <a:xfrm>
            <a:off x="4405401" y="2117380"/>
            <a:ext cx="854099" cy="186689"/>
          </a:xfrm>
          <a:prstGeom prst="rect">
            <a:avLst/>
          </a:prstGeom>
          <a:noFill/>
        </p:spPr>
        <p:txBody>
          <a:bodyPr wrap="none" lIns="0" rIns="0" tIns="0" bIns="0">
            <a:spAutoFit/>
          </a:bodyPr>
          <a:lstStyle/>
          <a:p>
            <a:r>
              <a:rPr sz="1100" b="0">
                <a:solidFill>
                  <a:srgbClr val="2E2E2E"/>
                </a:solidFill>
                <a:latin typeface="Calibri"/>
              </a:rPr>
              <a:t>), Matcha Tea</a:t>
            </a:r>
          </a:p>
        </p:txBody>
      </p:sp>
      <p:sp>
        <p:nvSpPr>
          <p:cNvPr id="75" name="TextBox 74"/>
          <p:cNvSpPr txBox="1"/>
          <p:nvPr/>
        </p:nvSpPr>
        <p:spPr>
          <a:xfrm>
            <a:off x="1752600" y="2285020"/>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76" name="TextBox 75"/>
          <p:cNvSpPr txBox="1"/>
          <p:nvPr/>
        </p:nvSpPr>
        <p:spPr>
          <a:xfrm>
            <a:off x="5562600" y="220120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77" name="Picture 76" descr="lock.png"/>
          <p:cNvPicPr>
            <a:picLocks noChangeAspect="1"/>
          </p:cNvPicPr>
          <p:nvPr/>
        </p:nvPicPr>
        <p:blipFill>
          <a:blip r:embed="rId4"/>
          <a:stretch>
            <a:fillRect/>
          </a:stretch>
        </p:blipFill>
        <p:spPr>
          <a:xfrm>
            <a:off x="6623687" y="2191421"/>
            <a:ext cx="128699" cy="187198"/>
          </a:xfrm>
          <a:prstGeom prst="rect">
            <a:avLst/>
          </a:prstGeom>
        </p:spPr>
      </p:pic>
      <p:sp>
        <p:nvSpPr>
          <p:cNvPr id="78" name="TextBox 77"/>
          <p:cNvSpPr txBox="1"/>
          <p:nvPr/>
        </p:nvSpPr>
        <p:spPr>
          <a:xfrm>
            <a:off x="6791183" y="220120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79" name="TextBox 78"/>
          <p:cNvSpPr txBox="1"/>
          <p:nvPr/>
        </p:nvSpPr>
        <p:spPr>
          <a:xfrm>
            <a:off x="8420100" y="2201200"/>
            <a:ext cx="1375791" cy="186689"/>
          </a:xfrm>
          <a:prstGeom prst="rect">
            <a:avLst/>
          </a:prstGeom>
          <a:noFill/>
        </p:spPr>
        <p:txBody>
          <a:bodyPr wrap="none" lIns="0" rIns="0" tIns="0" bIns="0">
            <a:spAutoFit/>
          </a:bodyPr>
          <a:lstStyle/>
          <a:p>
            <a:r>
              <a:rPr sz="1100" b="0">
                <a:solidFill>
                  <a:srgbClr val="2E2E2E"/>
                </a:solidFill>
                <a:latin typeface="Calibri"/>
              </a:rPr>
              <a:t>Scale Matcha Powder (</a:t>
            </a:r>
          </a:p>
        </p:txBody>
      </p:sp>
      <p:pic>
        <p:nvPicPr>
          <p:cNvPr id="80" name="Picture 79" descr="lock.png"/>
          <p:cNvPicPr>
            <a:picLocks noChangeAspect="1"/>
          </p:cNvPicPr>
          <p:nvPr/>
        </p:nvPicPr>
        <p:blipFill>
          <a:blip r:embed="rId4"/>
          <a:stretch>
            <a:fillRect/>
          </a:stretch>
        </p:blipFill>
        <p:spPr>
          <a:xfrm>
            <a:off x="9743943" y="2191421"/>
            <a:ext cx="128699" cy="187198"/>
          </a:xfrm>
          <a:prstGeom prst="rect">
            <a:avLst/>
          </a:prstGeom>
        </p:spPr>
      </p:pic>
      <p:sp>
        <p:nvSpPr>
          <p:cNvPr id="81" name="TextBox 80"/>
          <p:cNvSpPr txBox="1"/>
          <p:nvPr/>
        </p:nvSpPr>
        <p:spPr>
          <a:xfrm>
            <a:off x="9911439" y="220120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82" name="Picture 81" descr="lock.png"/>
          <p:cNvPicPr>
            <a:picLocks noChangeAspect="1"/>
          </p:cNvPicPr>
          <p:nvPr/>
        </p:nvPicPr>
        <p:blipFill>
          <a:blip r:embed="rId4"/>
          <a:stretch>
            <a:fillRect/>
          </a:stretch>
        </p:blipFill>
        <p:spPr>
          <a:xfrm>
            <a:off x="10012907" y="2191421"/>
            <a:ext cx="128699" cy="187198"/>
          </a:xfrm>
          <a:prstGeom prst="rect">
            <a:avLst/>
          </a:prstGeom>
        </p:spPr>
      </p:pic>
      <p:sp>
        <p:nvSpPr>
          <p:cNvPr id="83" name="TextBox 82"/>
          <p:cNvSpPr txBox="1"/>
          <p:nvPr/>
        </p:nvSpPr>
        <p:spPr>
          <a:xfrm>
            <a:off x="10180403" y="2201200"/>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84" name="TextBox 83"/>
          <p:cNvSpPr txBox="1"/>
          <p:nvPr/>
        </p:nvSpPr>
        <p:spPr>
          <a:xfrm>
            <a:off x="1752600" y="2628483"/>
            <a:ext cx="738137" cy="186689"/>
          </a:xfrm>
          <a:prstGeom prst="rect">
            <a:avLst/>
          </a:prstGeom>
          <a:noFill/>
        </p:spPr>
        <p:txBody>
          <a:bodyPr wrap="none" lIns="0" rIns="0" tIns="0" bIns="0">
            <a:spAutoFit/>
          </a:bodyPr>
          <a:lstStyle/>
          <a:p>
            <a:r>
              <a:rPr sz="1100" b="0">
                <a:solidFill>
                  <a:srgbClr val="2E2E2E"/>
                </a:solidFill>
                <a:latin typeface="Calibri"/>
              </a:rPr>
              <a:t>Scale base (</a:t>
            </a:r>
          </a:p>
        </p:txBody>
      </p:sp>
      <p:pic>
        <p:nvPicPr>
          <p:cNvPr id="85" name="Picture 84" descr="lock.png"/>
          <p:cNvPicPr>
            <a:picLocks noChangeAspect="1"/>
          </p:cNvPicPr>
          <p:nvPr/>
        </p:nvPicPr>
        <p:blipFill>
          <a:blip r:embed="rId4"/>
          <a:stretch>
            <a:fillRect/>
          </a:stretch>
        </p:blipFill>
        <p:spPr>
          <a:xfrm>
            <a:off x="2438789" y="2618704"/>
            <a:ext cx="128699" cy="187198"/>
          </a:xfrm>
          <a:prstGeom prst="rect">
            <a:avLst/>
          </a:prstGeom>
        </p:spPr>
      </p:pic>
      <p:sp>
        <p:nvSpPr>
          <p:cNvPr id="86" name="TextBox 85"/>
          <p:cNvSpPr txBox="1"/>
          <p:nvPr/>
        </p:nvSpPr>
        <p:spPr>
          <a:xfrm>
            <a:off x="2606285" y="2628483"/>
            <a:ext cx="1683568" cy="186689"/>
          </a:xfrm>
          <a:prstGeom prst="rect">
            <a:avLst/>
          </a:prstGeom>
          <a:noFill/>
        </p:spPr>
        <p:txBody>
          <a:bodyPr wrap="none" lIns="0" rIns="0" tIns="0" bIns="0">
            <a:spAutoFit/>
          </a:bodyPr>
          <a:lstStyle/>
          <a:p>
            <a:r>
              <a:rPr sz="1100" b="0">
                <a:solidFill>
                  <a:srgbClr val="2E2E2E"/>
                </a:solidFill>
                <a:latin typeface="Calibri"/>
              </a:rPr>
              <a:t>share), Above-market pace (</a:t>
            </a:r>
          </a:p>
        </p:txBody>
      </p:sp>
      <p:pic>
        <p:nvPicPr>
          <p:cNvPr id="87" name="Picture 86" descr="lock.png"/>
          <p:cNvPicPr>
            <a:picLocks noChangeAspect="1"/>
          </p:cNvPicPr>
          <p:nvPr/>
        </p:nvPicPr>
        <p:blipFill>
          <a:blip r:embed="rId4"/>
          <a:stretch>
            <a:fillRect/>
          </a:stretch>
        </p:blipFill>
        <p:spPr>
          <a:xfrm>
            <a:off x="4237905" y="2618704"/>
            <a:ext cx="128699" cy="187198"/>
          </a:xfrm>
          <a:prstGeom prst="rect">
            <a:avLst/>
          </a:prstGeom>
        </p:spPr>
      </p:pic>
      <p:sp>
        <p:nvSpPr>
          <p:cNvPr id="88" name="TextBox 87"/>
          <p:cNvSpPr txBox="1"/>
          <p:nvPr/>
        </p:nvSpPr>
        <p:spPr>
          <a:xfrm>
            <a:off x="4405401" y="2628483"/>
            <a:ext cx="854099" cy="186689"/>
          </a:xfrm>
          <a:prstGeom prst="rect">
            <a:avLst/>
          </a:prstGeom>
          <a:noFill/>
        </p:spPr>
        <p:txBody>
          <a:bodyPr wrap="none" lIns="0" rIns="0" tIns="0" bIns="0">
            <a:spAutoFit/>
          </a:bodyPr>
          <a:lstStyle/>
          <a:p>
            <a:r>
              <a:rPr sz="1100" b="0">
                <a:solidFill>
                  <a:srgbClr val="2E2E2E"/>
                </a:solidFill>
                <a:latin typeface="Calibri"/>
              </a:rPr>
              <a:t>), Matcha Tea</a:t>
            </a:r>
          </a:p>
        </p:txBody>
      </p:sp>
      <p:sp>
        <p:nvSpPr>
          <p:cNvPr id="89" name="TextBox 88"/>
          <p:cNvSpPr txBox="1"/>
          <p:nvPr/>
        </p:nvSpPr>
        <p:spPr>
          <a:xfrm>
            <a:off x="1752600" y="2796123"/>
            <a:ext cx="1924496" cy="186689"/>
          </a:xfrm>
          <a:prstGeom prst="rect">
            <a:avLst/>
          </a:prstGeom>
          <a:noFill/>
        </p:spPr>
        <p:txBody>
          <a:bodyPr wrap="none" lIns="0" rIns="0" tIns="0" bIns="0">
            <a:spAutoFit/>
          </a:bodyPr>
          <a:lstStyle/>
          <a:p>
            <a:r>
              <a:rPr sz="1100" b="0">
                <a:solidFill>
                  <a:srgbClr val="2E2E2E"/>
                </a:solidFill>
                <a:latin typeface="Calibri"/>
              </a:rPr>
              <a:t>demand, Accelerating vs history.</a:t>
            </a:r>
          </a:p>
        </p:txBody>
      </p:sp>
      <p:sp>
        <p:nvSpPr>
          <p:cNvPr id="90" name="TextBox 89"/>
          <p:cNvSpPr txBox="1"/>
          <p:nvPr/>
        </p:nvSpPr>
        <p:spPr>
          <a:xfrm>
            <a:off x="8420100" y="2712303"/>
            <a:ext cx="1375791" cy="186689"/>
          </a:xfrm>
          <a:prstGeom prst="rect">
            <a:avLst/>
          </a:prstGeom>
          <a:noFill/>
        </p:spPr>
        <p:txBody>
          <a:bodyPr wrap="none" lIns="0" rIns="0" tIns="0" bIns="0">
            <a:spAutoFit/>
          </a:bodyPr>
          <a:lstStyle/>
          <a:p>
            <a:r>
              <a:rPr sz="1100" b="0">
                <a:solidFill>
                  <a:srgbClr val="2E2E2E"/>
                </a:solidFill>
                <a:latin typeface="Calibri"/>
              </a:rPr>
              <a:t>Scale Matcha Powder (</a:t>
            </a:r>
          </a:p>
        </p:txBody>
      </p:sp>
      <p:pic>
        <p:nvPicPr>
          <p:cNvPr id="91" name="Picture 90" descr="lock.png"/>
          <p:cNvPicPr>
            <a:picLocks noChangeAspect="1"/>
          </p:cNvPicPr>
          <p:nvPr/>
        </p:nvPicPr>
        <p:blipFill>
          <a:blip r:embed="rId4"/>
          <a:stretch>
            <a:fillRect/>
          </a:stretch>
        </p:blipFill>
        <p:spPr>
          <a:xfrm>
            <a:off x="9743943" y="2702524"/>
            <a:ext cx="128699" cy="187198"/>
          </a:xfrm>
          <a:prstGeom prst="rect">
            <a:avLst/>
          </a:prstGeom>
        </p:spPr>
      </p:pic>
      <p:sp>
        <p:nvSpPr>
          <p:cNvPr id="92" name="TextBox 91"/>
          <p:cNvSpPr txBox="1"/>
          <p:nvPr/>
        </p:nvSpPr>
        <p:spPr>
          <a:xfrm>
            <a:off x="9911439" y="2712303"/>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93" name="Picture 92" descr="lock.png"/>
          <p:cNvPicPr>
            <a:picLocks noChangeAspect="1"/>
          </p:cNvPicPr>
          <p:nvPr/>
        </p:nvPicPr>
        <p:blipFill>
          <a:blip r:embed="rId4"/>
          <a:stretch>
            <a:fillRect/>
          </a:stretch>
        </p:blipFill>
        <p:spPr>
          <a:xfrm>
            <a:off x="10012907" y="2702524"/>
            <a:ext cx="128699" cy="187198"/>
          </a:xfrm>
          <a:prstGeom prst="rect">
            <a:avLst/>
          </a:prstGeom>
        </p:spPr>
      </p:pic>
      <p:sp>
        <p:nvSpPr>
          <p:cNvPr id="94" name="TextBox 93"/>
          <p:cNvSpPr txBox="1"/>
          <p:nvPr/>
        </p:nvSpPr>
        <p:spPr>
          <a:xfrm>
            <a:off x="10180403" y="2712303"/>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95" name="TextBox 94"/>
          <p:cNvSpPr txBox="1"/>
          <p:nvPr/>
        </p:nvSpPr>
        <p:spPr>
          <a:xfrm>
            <a:off x="1752600" y="3139587"/>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96" name="Picture 95" descr="lock.png"/>
          <p:cNvPicPr>
            <a:picLocks noChangeAspect="1"/>
          </p:cNvPicPr>
          <p:nvPr/>
        </p:nvPicPr>
        <p:blipFill>
          <a:blip r:embed="rId4"/>
          <a:stretch>
            <a:fillRect/>
          </a:stretch>
        </p:blipFill>
        <p:spPr>
          <a:xfrm>
            <a:off x="2834969" y="3129808"/>
            <a:ext cx="128699" cy="187198"/>
          </a:xfrm>
          <a:prstGeom prst="rect">
            <a:avLst/>
          </a:prstGeom>
        </p:spPr>
      </p:pic>
      <p:sp>
        <p:nvSpPr>
          <p:cNvPr id="97" name="TextBox 96"/>
          <p:cNvSpPr txBox="1"/>
          <p:nvPr/>
        </p:nvSpPr>
        <p:spPr>
          <a:xfrm>
            <a:off x="3002465" y="3139587"/>
            <a:ext cx="1708108" cy="186689"/>
          </a:xfrm>
          <a:prstGeom prst="rect">
            <a:avLst/>
          </a:prstGeom>
          <a:noFill/>
        </p:spPr>
        <p:txBody>
          <a:bodyPr wrap="none" lIns="0" rIns="0" tIns="0" bIns="0">
            <a:spAutoFit/>
          </a:bodyPr>
          <a:lstStyle/>
          <a:p>
            <a:r>
              <a:rPr sz="1100" b="0">
                <a:solidFill>
                  <a:srgbClr val="2E2E2E"/>
                </a:solidFill>
                <a:latin typeface="Calibri"/>
              </a:rPr>
              <a:t>CAGR), Matcha Tea demand,</a:t>
            </a:r>
          </a:p>
        </p:txBody>
      </p:sp>
      <p:sp>
        <p:nvSpPr>
          <p:cNvPr id="98" name="TextBox 97"/>
          <p:cNvSpPr txBox="1"/>
          <p:nvPr/>
        </p:nvSpPr>
        <p:spPr>
          <a:xfrm>
            <a:off x="1752600" y="3307227"/>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99" name="TextBox 98"/>
          <p:cNvSpPr txBox="1"/>
          <p:nvPr/>
        </p:nvSpPr>
        <p:spPr>
          <a:xfrm>
            <a:off x="5562600" y="3223407"/>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00" name="Picture 99" descr="lock.png"/>
          <p:cNvPicPr>
            <a:picLocks noChangeAspect="1"/>
          </p:cNvPicPr>
          <p:nvPr/>
        </p:nvPicPr>
        <p:blipFill>
          <a:blip r:embed="rId4"/>
          <a:stretch>
            <a:fillRect/>
          </a:stretch>
        </p:blipFill>
        <p:spPr>
          <a:xfrm>
            <a:off x="6797766" y="3213628"/>
            <a:ext cx="128699" cy="187198"/>
          </a:xfrm>
          <a:prstGeom prst="rect">
            <a:avLst/>
          </a:prstGeom>
        </p:spPr>
      </p:pic>
      <p:sp>
        <p:nvSpPr>
          <p:cNvPr id="101" name="TextBox 100"/>
          <p:cNvSpPr txBox="1"/>
          <p:nvPr/>
        </p:nvSpPr>
        <p:spPr>
          <a:xfrm>
            <a:off x="6965262" y="3223407"/>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102" name="TextBox 101"/>
          <p:cNvSpPr txBox="1"/>
          <p:nvPr/>
        </p:nvSpPr>
        <p:spPr>
          <a:xfrm>
            <a:off x="8420100" y="3223407"/>
            <a:ext cx="1375791" cy="186689"/>
          </a:xfrm>
          <a:prstGeom prst="rect">
            <a:avLst/>
          </a:prstGeom>
          <a:noFill/>
        </p:spPr>
        <p:txBody>
          <a:bodyPr wrap="none" lIns="0" rIns="0" tIns="0" bIns="0">
            <a:spAutoFit/>
          </a:bodyPr>
          <a:lstStyle/>
          <a:p>
            <a:r>
              <a:rPr sz="1100" b="0">
                <a:solidFill>
                  <a:srgbClr val="2E2E2E"/>
                </a:solidFill>
                <a:latin typeface="Calibri"/>
              </a:rPr>
              <a:t>Scale Matcha Powder (</a:t>
            </a:r>
          </a:p>
        </p:txBody>
      </p:sp>
      <p:pic>
        <p:nvPicPr>
          <p:cNvPr id="103" name="Picture 102" descr="lock.png"/>
          <p:cNvPicPr>
            <a:picLocks noChangeAspect="1"/>
          </p:cNvPicPr>
          <p:nvPr/>
        </p:nvPicPr>
        <p:blipFill>
          <a:blip r:embed="rId4"/>
          <a:stretch>
            <a:fillRect/>
          </a:stretch>
        </p:blipFill>
        <p:spPr>
          <a:xfrm>
            <a:off x="9743943" y="3213628"/>
            <a:ext cx="128699" cy="187198"/>
          </a:xfrm>
          <a:prstGeom prst="rect">
            <a:avLst/>
          </a:prstGeom>
        </p:spPr>
      </p:pic>
      <p:sp>
        <p:nvSpPr>
          <p:cNvPr id="104" name="TextBox 103"/>
          <p:cNvSpPr txBox="1"/>
          <p:nvPr/>
        </p:nvSpPr>
        <p:spPr>
          <a:xfrm>
            <a:off x="9911439" y="3223407"/>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05" name="Picture 104" descr="lock.png"/>
          <p:cNvPicPr>
            <a:picLocks noChangeAspect="1"/>
          </p:cNvPicPr>
          <p:nvPr/>
        </p:nvPicPr>
        <p:blipFill>
          <a:blip r:embed="rId4"/>
          <a:stretch>
            <a:fillRect/>
          </a:stretch>
        </p:blipFill>
        <p:spPr>
          <a:xfrm>
            <a:off x="10012907" y="3213628"/>
            <a:ext cx="128699" cy="187198"/>
          </a:xfrm>
          <a:prstGeom prst="rect">
            <a:avLst/>
          </a:prstGeom>
        </p:spPr>
      </p:pic>
      <p:sp>
        <p:nvSpPr>
          <p:cNvPr id="106" name="TextBox 105"/>
          <p:cNvSpPr txBox="1"/>
          <p:nvPr/>
        </p:nvSpPr>
        <p:spPr>
          <a:xfrm>
            <a:off x="10180403" y="3223407"/>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07" name="TextBox 106"/>
          <p:cNvSpPr txBox="1"/>
          <p:nvPr/>
        </p:nvSpPr>
        <p:spPr>
          <a:xfrm>
            <a:off x="1752600" y="3650690"/>
            <a:ext cx="1261467" cy="186689"/>
          </a:xfrm>
          <a:prstGeom prst="rect">
            <a:avLst/>
          </a:prstGeom>
          <a:noFill/>
        </p:spPr>
        <p:txBody>
          <a:bodyPr wrap="none" lIns="0" rIns="0" tIns="0" bIns="0">
            <a:spAutoFit/>
          </a:bodyPr>
          <a:lstStyle/>
          <a:p>
            <a:r>
              <a:rPr sz="1100" b="0">
                <a:solidFill>
                  <a:srgbClr val="2E2E2E"/>
                </a:solidFill>
                <a:latin typeface="Calibri"/>
              </a:rPr>
              <a:t>Above-market pace (</a:t>
            </a:r>
          </a:p>
        </p:txBody>
      </p:sp>
      <p:pic>
        <p:nvPicPr>
          <p:cNvPr id="108" name="Picture 107" descr="lock.png"/>
          <p:cNvPicPr>
            <a:picLocks noChangeAspect="1"/>
          </p:cNvPicPr>
          <p:nvPr/>
        </p:nvPicPr>
        <p:blipFill>
          <a:blip r:embed="rId4"/>
          <a:stretch>
            <a:fillRect/>
          </a:stretch>
        </p:blipFill>
        <p:spPr>
          <a:xfrm>
            <a:off x="2962118" y="3640911"/>
            <a:ext cx="128699" cy="187198"/>
          </a:xfrm>
          <a:prstGeom prst="rect">
            <a:avLst/>
          </a:prstGeom>
        </p:spPr>
      </p:pic>
      <p:sp>
        <p:nvSpPr>
          <p:cNvPr id="109" name="TextBox 108"/>
          <p:cNvSpPr txBox="1"/>
          <p:nvPr/>
        </p:nvSpPr>
        <p:spPr>
          <a:xfrm>
            <a:off x="3129614" y="3650690"/>
            <a:ext cx="2125042" cy="186689"/>
          </a:xfrm>
          <a:prstGeom prst="rect">
            <a:avLst/>
          </a:prstGeom>
          <a:noFill/>
        </p:spPr>
        <p:txBody>
          <a:bodyPr wrap="none" lIns="0" rIns="0" tIns="0" bIns="0">
            <a:spAutoFit/>
          </a:bodyPr>
          <a:lstStyle/>
          <a:p>
            <a:r>
              <a:rPr sz="1100" b="0">
                <a:solidFill>
                  <a:srgbClr val="2E2E2E"/>
                </a:solidFill>
                <a:latin typeface="Calibri"/>
              </a:rPr>
              <a:t>), Matcha Tea demand, Accelerating</a:t>
            </a:r>
          </a:p>
        </p:txBody>
      </p:sp>
      <p:sp>
        <p:nvSpPr>
          <p:cNvPr id="110" name="TextBox 109"/>
          <p:cNvSpPr txBox="1"/>
          <p:nvPr/>
        </p:nvSpPr>
        <p:spPr>
          <a:xfrm>
            <a:off x="1752600" y="3818330"/>
            <a:ext cx="653553" cy="186689"/>
          </a:xfrm>
          <a:prstGeom prst="rect">
            <a:avLst/>
          </a:prstGeom>
          <a:noFill/>
        </p:spPr>
        <p:txBody>
          <a:bodyPr wrap="none" lIns="0" rIns="0" tIns="0" bIns="0">
            <a:spAutoFit/>
          </a:bodyPr>
          <a:lstStyle/>
          <a:p>
            <a:r>
              <a:rPr sz="1100" b="0">
                <a:solidFill>
                  <a:srgbClr val="2E2E2E"/>
                </a:solidFill>
                <a:latin typeface="Calibri"/>
              </a:rPr>
              <a:t>vs history.</a:t>
            </a:r>
          </a:p>
        </p:txBody>
      </p:sp>
      <p:sp>
        <p:nvSpPr>
          <p:cNvPr id="111" name="TextBox 110"/>
          <p:cNvSpPr txBox="1"/>
          <p:nvPr/>
        </p:nvSpPr>
        <p:spPr>
          <a:xfrm>
            <a:off x="5562600" y="3734510"/>
            <a:ext cx="1113035" cy="186689"/>
          </a:xfrm>
          <a:prstGeom prst="rect">
            <a:avLst/>
          </a:prstGeom>
          <a:noFill/>
        </p:spPr>
        <p:txBody>
          <a:bodyPr wrap="none" lIns="0" rIns="0" tIns="0" bIns="0">
            <a:spAutoFit/>
          </a:bodyPr>
          <a:lstStyle/>
          <a:p>
            <a:r>
              <a:rPr sz="1100" b="0">
                <a:solidFill>
                  <a:srgbClr val="2E2E2E"/>
                </a:solidFill>
                <a:latin typeface="Calibri"/>
              </a:rPr>
              <a:t>Rising realisation (</a:t>
            </a:r>
          </a:p>
        </p:txBody>
      </p:sp>
      <p:pic>
        <p:nvPicPr>
          <p:cNvPr id="112" name="Picture 111" descr="lock.png"/>
          <p:cNvPicPr>
            <a:picLocks noChangeAspect="1"/>
          </p:cNvPicPr>
          <p:nvPr/>
        </p:nvPicPr>
        <p:blipFill>
          <a:blip r:embed="rId4"/>
          <a:stretch>
            <a:fillRect/>
          </a:stretch>
        </p:blipFill>
        <p:spPr>
          <a:xfrm>
            <a:off x="6623687" y="3724731"/>
            <a:ext cx="128699" cy="187198"/>
          </a:xfrm>
          <a:prstGeom prst="rect">
            <a:avLst/>
          </a:prstGeom>
        </p:spPr>
      </p:pic>
      <p:sp>
        <p:nvSpPr>
          <p:cNvPr id="113" name="TextBox 112"/>
          <p:cNvSpPr txBox="1"/>
          <p:nvPr/>
        </p:nvSpPr>
        <p:spPr>
          <a:xfrm>
            <a:off x="6791183" y="3734510"/>
            <a:ext cx="153689" cy="186689"/>
          </a:xfrm>
          <a:prstGeom prst="rect">
            <a:avLst/>
          </a:prstGeom>
          <a:noFill/>
        </p:spPr>
        <p:txBody>
          <a:bodyPr wrap="none" lIns="0" rIns="0" tIns="0" bIns="0">
            <a:spAutoFit/>
          </a:bodyPr>
          <a:lstStyle/>
          <a:p>
            <a:r>
              <a:rPr sz="1100" b="0">
                <a:solidFill>
                  <a:srgbClr val="2E2E2E"/>
                </a:solidFill>
                <a:latin typeface="Calibri"/>
              </a:rPr>
              <a:t>).</a:t>
            </a:r>
          </a:p>
        </p:txBody>
      </p:sp>
      <p:sp>
        <p:nvSpPr>
          <p:cNvPr id="114" name="TextBox 113"/>
          <p:cNvSpPr txBox="1"/>
          <p:nvPr/>
        </p:nvSpPr>
        <p:spPr>
          <a:xfrm>
            <a:off x="8420100" y="3734510"/>
            <a:ext cx="1375791" cy="186689"/>
          </a:xfrm>
          <a:prstGeom prst="rect">
            <a:avLst/>
          </a:prstGeom>
          <a:noFill/>
        </p:spPr>
        <p:txBody>
          <a:bodyPr wrap="none" lIns="0" rIns="0" tIns="0" bIns="0">
            <a:spAutoFit/>
          </a:bodyPr>
          <a:lstStyle/>
          <a:p>
            <a:r>
              <a:rPr sz="1100" b="0">
                <a:solidFill>
                  <a:srgbClr val="2E2E2E"/>
                </a:solidFill>
                <a:latin typeface="Calibri"/>
              </a:rPr>
              <a:t>Scale Matcha Powder (</a:t>
            </a:r>
          </a:p>
        </p:txBody>
      </p:sp>
      <p:pic>
        <p:nvPicPr>
          <p:cNvPr id="115" name="Picture 114" descr="lock.png"/>
          <p:cNvPicPr>
            <a:picLocks noChangeAspect="1"/>
          </p:cNvPicPr>
          <p:nvPr/>
        </p:nvPicPr>
        <p:blipFill>
          <a:blip r:embed="rId4"/>
          <a:stretch>
            <a:fillRect/>
          </a:stretch>
        </p:blipFill>
        <p:spPr>
          <a:xfrm>
            <a:off x="9743943" y="3724731"/>
            <a:ext cx="128699" cy="187198"/>
          </a:xfrm>
          <a:prstGeom prst="rect">
            <a:avLst/>
          </a:prstGeom>
        </p:spPr>
      </p:pic>
      <p:sp>
        <p:nvSpPr>
          <p:cNvPr id="116" name="TextBox 115"/>
          <p:cNvSpPr txBox="1"/>
          <p:nvPr/>
        </p:nvSpPr>
        <p:spPr>
          <a:xfrm>
            <a:off x="9911439" y="3734510"/>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17" name="Picture 116" descr="lock.png"/>
          <p:cNvPicPr>
            <a:picLocks noChangeAspect="1"/>
          </p:cNvPicPr>
          <p:nvPr/>
        </p:nvPicPr>
        <p:blipFill>
          <a:blip r:embed="rId4"/>
          <a:stretch>
            <a:fillRect/>
          </a:stretch>
        </p:blipFill>
        <p:spPr>
          <a:xfrm>
            <a:off x="10012907" y="3724731"/>
            <a:ext cx="128699" cy="187198"/>
          </a:xfrm>
          <a:prstGeom prst="rect">
            <a:avLst/>
          </a:prstGeom>
        </p:spPr>
      </p:pic>
      <p:sp>
        <p:nvSpPr>
          <p:cNvPr id="118" name="TextBox 117"/>
          <p:cNvSpPr txBox="1"/>
          <p:nvPr/>
        </p:nvSpPr>
        <p:spPr>
          <a:xfrm>
            <a:off x="10180403" y="3734510"/>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19" name="TextBox 118"/>
          <p:cNvSpPr txBox="1"/>
          <p:nvPr/>
        </p:nvSpPr>
        <p:spPr>
          <a:xfrm>
            <a:off x="1752600" y="4161794"/>
            <a:ext cx="1134318" cy="186689"/>
          </a:xfrm>
          <a:prstGeom prst="rect">
            <a:avLst/>
          </a:prstGeom>
          <a:noFill/>
        </p:spPr>
        <p:txBody>
          <a:bodyPr wrap="none" lIns="0" rIns="0" tIns="0" bIns="0">
            <a:spAutoFit/>
          </a:bodyPr>
          <a:lstStyle/>
          <a:p>
            <a:r>
              <a:rPr sz="1100" b="0">
                <a:solidFill>
                  <a:srgbClr val="2E2E2E"/>
                </a:solidFill>
                <a:latin typeface="Calibri"/>
              </a:rPr>
              <a:t>Installed demand (</a:t>
            </a:r>
          </a:p>
        </p:txBody>
      </p:sp>
      <p:pic>
        <p:nvPicPr>
          <p:cNvPr id="120" name="Picture 119" descr="lock.png"/>
          <p:cNvPicPr>
            <a:picLocks noChangeAspect="1"/>
          </p:cNvPicPr>
          <p:nvPr/>
        </p:nvPicPr>
        <p:blipFill>
          <a:blip r:embed="rId4"/>
          <a:stretch>
            <a:fillRect/>
          </a:stretch>
        </p:blipFill>
        <p:spPr>
          <a:xfrm>
            <a:off x="2834969" y="4152015"/>
            <a:ext cx="128699" cy="187198"/>
          </a:xfrm>
          <a:prstGeom prst="rect">
            <a:avLst/>
          </a:prstGeom>
        </p:spPr>
      </p:pic>
      <p:sp>
        <p:nvSpPr>
          <p:cNvPr id="121" name="TextBox 120"/>
          <p:cNvSpPr txBox="1"/>
          <p:nvPr/>
        </p:nvSpPr>
        <p:spPr>
          <a:xfrm>
            <a:off x="3002465" y="4161794"/>
            <a:ext cx="1708108" cy="186689"/>
          </a:xfrm>
          <a:prstGeom prst="rect">
            <a:avLst/>
          </a:prstGeom>
          <a:noFill/>
        </p:spPr>
        <p:txBody>
          <a:bodyPr wrap="none" lIns="0" rIns="0" tIns="0" bIns="0">
            <a:spAutoFit/>
          </a:bodyPr>
          <a:lstStyle/>
          <a:p>
            <a:r>
              <a:rPr sz="1100" b="0">
                <a:solidFill>
                  <a:srgbClr val="2E2E2E"/>
                </a:solidFill>
                <a:latin typeface="Calibri"/>
              </a:rPr>
              <a:t>CAGR), Matcha Tea demand,</a:t>
            </a:r>
          </a:p>
        </p:txBody>
      </p:sp>
      <p:sp>
        <p:nvSpPr>
          <p:cNvPr id="122" name="TextBox 121"/>
          <p:cNvSpPr txBox="1"/>
          <p:nvPr/>
        </p:nvSpPr>
        <p:spPr>
          <a:xfrm>
            <a:off x="1752600" y="4329434"/>
            <a:ext cx="1389707" cy="186689"/>
          </a:xfrm>
          <a:prstGeom prst="rect">
            <a:avLst/>
          </a:prstGeom>
          <a:noFill/>
        </p:spPr>
        <p:txBody>
          <a:bodyPr wrap="none" lIns="0" rIns="0" tIns="0" bIns="0">
            <a:spAutoFit/>
          </a:bodyPr>
          <a:lstStyle/>
          <a:p>
            <a:r>
              <a:rPr sz="1100" b="0">
                <a:solidFill>
                  <a:srgbClr val="2E2E2E"/>
                </a:solidFill>
                <a:latin typeface="Calibri"/>
              </a:rPr>
              <a:t>Accelerating vs history.</a:t>
            </a:r>
          </a:p>
        </p:txBody>
      </p:sp>
      <p:sp>
        <p:nvSpPr>
          <p:cNvPr id="123" name="TextBox 122"/>
          <p:cNvSpPr txBox="1"/>
          <p:nvPr/>
        </p:nvSpPr>
        <p:spPr>
          <a:xfrm>
            <a:off x="5562600" y="4245614"/>
            <a:ext cx="1287115" cy="186689"/>
          </a:xfrm>
          <a:prstGeom prst="rect">
            <a:avLst/>
          </a:prstGeom>
          <a:noFill/>
        </p:spPr>
        <p:txBody>
          <a:bodyPr wrap="none" lIns="0" rIns="0" tIns="0" bIns="0">
            <a:spAutoFit/>
          </a:bodyPr>
          <a:lstStyle/>
          <a:p>
            <a:r>
              <a:rPr sz="1100" b="0">
                <a:solidFill>
                  <a:srgbClr val="2E2E2E"/>
                </a:solidFill>
                <a:latin typeface="Calibri"/>
              </a:rPr>
              <a:t>Trails market pace by</a:t>
            </a:r>
          </a:p>
        </p:txBody>
      </p:sp>
      <p:pic>
        <p:nvPicPr>
          <p:cNvPr id="124" name="Picture 123" descr="lock.png"/>
          <p:cNvPicPr>
            <a:picLocks noChangeAspect="1"/>
          </p:cNvPicPr>
          <p:nvPr/>
        </p:nvPicPr>
        <p:blipFill>
          <a:blip r:embed="rId4"/>
          <a:stretch>
            <a:fillRect/>
          </a:stretch>
        </p:blipFill>
        <p:spPr>
          <a:xfrm>
            <a:off x="6797766" y="4235835"/>
            <a:ext cx="128699" cy="187198"/>
          </a:xfrm>
          <a:prstGeom prst="rect">
            <a:avLst/>
          </a:prstGeom>
        </p:spPr>
      </p:pic>
      <p:sp>
        <p:nvSpPr>
          <p:cNvPr id="125" name="TextBox 124"/>
          <p:cNvSpPr txBox="1"/>
          <p:nvPr/>
        </p:nvSpPr>
        <p:spPr>
          <a:xfrm>
            <a:off x="6965262" y="4245614"/>
            <a:ext cx="323949" cy="186689"/>
          </a:xfrm>
          <a:prstGeom prst="rect">
            <a:avLst/>
          </a:prstGeom>
          <a:noFill/>
        </p:spPr>
        <p:txBody>
          <a:bodyPr wrap="none" lIns="0" rIns="0" tIns="0" bIns="0">
            <a:spAutoFit/>
          </a:bodyPr>
          <a:lstStyle/>
          <a:p>
            <a:r>
              <a:rPr sz="1100" b="0">
                <a:solidFill>
                  <a:srgbClr val="2E2E2E"/>
                </a:solidFill>
                <a:latin typeface="Calibri"/>
              </a:rPr>
              <a:t>BPS.</a:t>
            </a:r>
          </a:p>
        </p:txBody>
      </p:sp>
      <p:sp>
        <p:nvSpPr>
          <p:cNvPr id="126" name="TextBox 125"/>
          <p:cNvSpPr txBox="1"/>
          <p:nvPr/>
        </p:nvSpPr>
        <p:spPr>
          <a:xfrm>
            <a:off x="8420100" y="4245614"/>
            <a:ext cx="1375791" cy="186689"/>
          </a:xfrm>
          <a:prstGeom prst="rect">
            <a:avLst/>
          </a:prstGeom>
          <a:noFill/>
        </p:spPr>
        <p:txBody>
          <a:bodyPr wrap="none" lIns="0" rIns="0" tIns="0" bIns="0">
            <a:spAutoFit/>
          </a:bodyPr>
          <a:lstStyle/>
          <a:p>
            <a:r>
              <a:rPr sz="1100" b="0">
                <a:solidFill>
                  <a:srgbClr val="2E2E2E"/>
                </a:solidFill>
                <a:latin typeface="Calibri"/>
              </a:rPr>
              <a:t>Scale Matcha Powder (</a:t>
            </a:r>
          </a:p>
        </p:txBody>
      </p:sp>
      <p:pic>
        <p:nvPicPr>
          <p:cNvPr id="127" name="Picture 126" descr="lock.png"/>
          <p:cNvPicPr>
            <a:picLocks noChangeAspect="1"/>
          </p:cNvPicPr>
          <p:nvPr/>
        </p:nvPicPr>
        <p:blipFill>
          <a:blip r:embed="rId4"/>
          <a:stretch>
            <a:fillRect/>
          </a:stretch>
        </p:blipFill>
        <p:spPr>
          <a:xfrm>
            <a:off x="9743943" y="4235835"/>
            <a:ext cx="128699" cy="187198"/>
          </a:xfrm>
          <a:prstGeom prst="rect">
            <a:avLst/>
          </a:prstGeom>
        </p:spPr>
      </p:pic>
      <p:sp>
        <p:nvSpPr>
          <p:cNvPr id="128" name="TextBox 127"/>
          <p:cNvSpPr txBox="1"/>
          <p:nvPr/>
        </p:nvSpPr>
        <p:spPr>
          <a:xfrm>
            <a:off x="9911439" y="4245614"/>
            <a:ext cx="153416"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129" name="Picture 128" descr="lock.png"/>
          <p:cNvPicPr>
            <a:picLocks noChangeAspect="1"/>
          </p:cNvPicPr>
          <p:nvPr/>
        </p:nvPicPr>
        <p:blipFill>
          <a:blip r:embed="rId4"/>
          <a:stretch>
            <a:fillRect/>
          </a:stretch>
        </p:blipFill>
        <p:spPr>
          <a:xfrm>
            <a:off x="10012907" y="4235835"/>
            <a:ext cx="128699" cy="187198"/>
          </a:xfrm>
          <a:prstGeom prst="rect">
            <a:avLst/>
          </a:prstGeom>
        </p:spPr>
      </p:pic>
      <p:sp>
        <p:nvSpPr>
          <p:cNvPr id="130" name="TextBox 129"/>
          <p:cNvSpPr txBox="1"/>
          <p:nvPr/>
        </p:nvSpPr>
        <p:spPr>
          <a:xfrm>
            <a:off x="10180403" y="4245614"/>
            <a:ext cx="1183431" cy="186689"/>
          </a:xfrm>
          <a:prstGeom prst="rect">
            <a:avLst/>
          </a:prstGeom>
          <a:noFill/>
        </p:spPr>
        <p:txBody>
          <a:bodyPr wrap="none" lIns="0" rIns="0" tIns="0" bIns="0">
            <a:spAutoFit/>
          </a:bodyPr>
          <a:lstStyle/>
          <a:p>
            <a:r>
              <a:rPr sz="1100" b="0">
                <a:solidFill>
                  <a:srgbClr val="2E2E2E"/>
                </a:solidFill>
                <a:latin typeface="Calibri"/>
              </a:rPr>
              <a:t>US$ Mn headroom.</a:t>
            </a:r>
          </a:p>
        </p:txBody>
      </p:sp>
      <p:sp>
        <p:nvSpPr>
          <p:cNvPr id="131" name="TextBox 130"/>
          <p:cNvSpPr txBox="1"/>
          <p:nvPr/>
        </p:nvSpPr>
        <p:spPr>
          <a:xfrm>
            <a:off x="304800" y="5232520"/>
            <a:ext cx="4373612" cy="186689"/>
          </a:xfrm>
          <a:prstGeom prst="rect">
            <a:avLst/>
          </a:prstGeom>
          <a:noFill/>
        </p:spPr>
        <p:txBody>
          <a:bodyPr wrap="none" lIns="0" rIns="0" tIns="0" bIns="0">
            <a:spAutoFit/>
          </a:bodyPr>
          <a:lstStyle/>
          <a:p>
            <a:r>
              <a:rPr sz="1100" b="0">
                <a:solidFill>
                  <a:srgbClr val="2E2E2E"/>
                </a:solidFill>
                <a:latin typeface="Calibri"/>
              </a:rPr>
              <a:t>▪ North America, Europe, South Asia &amp; Pacific anchor scale with a combined</a:t>
            </a:r>
          </a:p>
        </p:txBody>
      </p:sp>
      <p:pic>
        <p:nvPicPr>
          <p:cNvPr id="132" name="Picture 131" descr="lock.png"/>
          <p:cNvPicPr>
            <a:picLocks noChangeAspect="1"/>
          </p:cNvPicPr>
          <p:nvPr/>
        </p:nvPicPr>
        <p:blipFill>
          <a:blip r:embed="rId4"/>
          <a:stretch>
            <a:fillRect/>
          </a:stretch>
        </p:blipFill>
        <p:spPr>
          <a:xfrm>
            <a:off x="4626463" y="5222741"/>
            <a:ext cx="128699" cy="187198"/>
          </a:xfrm>
          <a:prstGeom prst="rect">
            <a:avLst/>
          </a:prstGeom>
        </p:spPr>
      </p:pic>
      <p:sp>
        <p:nvSpPr>
          <p:cNvPr id="133" name="TextBox 132"/>
          <p:cNvSpPr txBox="1"/>
          <p:nvPr/>
        </p:nvSpPr>
        <p:spPr>
          <a:xfrm>
            <a:off x="4793959" y="5232520"/>
            <a:ext cx="4622998" cy="186689"/>
          </a:xfrm>
          <a:prstGeom prst="rect">
            <a:avLst/>
          </a:prstGeom>
          <a:noFill/>
        </p:spPr>
        <p:txBody>
          <a:bodyPr wrap="none" lIns="0" rIns="0" tIns="0" bIns="0">
            <a:spAutoFit/>
          </a:bodyPr>
          <a:lstStyle/>
          <a:p>
            <a:r>
              <a:rPr sz="1100" b="0">
                <a:solidFill>
                  <a:srgbClr val="2E2E2E"/>
                </a:solidFill>
                <a:latin typeface="Calibri"/>
              </a:rPr>
              <a:t>of Global value in 2036, while 'South Asia &amp; Pacific' offers the steepest upside at</a:t>
            </a:r>
          </a:p>
        </p:txBody>
      </p:sp>
      <p:pic>
        <p:nvPicPr>
          <p:cNvPr id="134" name="Picture 133" descr="lock.png"/>
          <p:cNvPicPr>
            <a:picLocks noChangeAspect="1"/>
          </p:cNvPicPr>
          <p:nvPr/>
        </p:nvPicPr>
        <p:blipFill>
          <a:blip r:embed="rId4"/>
          <a:stretch>
            <a:fillRect/>
          </a:stretch>
        </p:blipFill>
        <p:spPr>
          <a:xfrm>
            <a:off x="9365009" y="5222741"/>
            <a:ext cx="128699" cy="187198"/>
          </a:xfrm>
          <a:prstGeom prst="rect">
            <a:avLst/>
          </a:prstGeom>
        </p:spPr>
      </p:pic>
      <p:sp>
        <p:nvSpPr>
          <p:cNvPr id="135" name="TextBox 134"/>
          <p:cNvSpPr txBox="1"/>
          <p:nvPr/>
        </p:nvSpPr>
        <p:spPr>
          <a:xfrm>
            <a:off x="9532505" y="5232520"/>
            <a:ext cx="1819704" cy="186689"/>
          </a:xfrm>
          <a:prstGeom prst="rect">
            <a:avLst/>
          </a:prstGeom>
          <a:noFill/>
        </p:spPr>
        <p:txBody>
          <a:bodyPr wrap="none" lIns="0" rIns="0" tIns="0" bIns="0">
            <a:spAutoFit/>
          </a:bodyPr>
          <a:lstStyle/>
          <a:p>
            <a:r>
              <a:rPr sz="1100" b="0">
                <a:solidFill>
                  <a:srgbClr val="2E2E2E"/>
                </a:solidFill>
                <a:latin typeface="Calibri"/>
              </a:rPr>
              <a:t>CAGR against a market pace of</a:t>
            </a:r>
          </a:p>
        </p:txBody>
      </p:sp>
      <p:pic>
        <p:nvPicPr>
          <p:cNvPr id="136" name="Picture 135" descr="lock.png"/>
          <p:cNvPicPr>
            <a:picLocks noChangeAspect="1"/>
          </p:cNvPicPr>
          <p:nvPr/>
        </p:nvPicPr>
        <p:blipFill>
          <a:blip r:embed="rId4"/>
          <a:stretch>
            <a:fillRect/>
          </a:stretch>
        </p:blipFill>
        <p:spPr>
          <a:xfrm>
            <a:off x="291332" y="5390381"/>
            <a:ext cx="128699" cy="187198"/>
          </a:xfrm>
          <a:prstGeom prst="rect">
            <a:avLst/>
          </a:prstGeom>
        </p:spPr>
      </p:pic>
      <p:sp>
        <p:nvSpPr>
          <p:cNvPr id="137" name="TextBox 136"/>
          <p:cNvSpPr txBox="1"/>
          <p:nvPr/>
        </p:nvSpPr>
        <p:spPr>
          <a:xfrm>
            <a:off x="458828" y="5400160"/>
            <a:ext cx="11008816" cy="186689"/>
          </a:xfrm>
          <a:prstGeom prst="rect">
            <a:avLst/>
          </a:prstGeom>
          <a:noFill/>
        </p:spPr>
        <p:txBody>
          <a:bodyPr wrap="none" lIns="0" rIns="0" tIns="0" bIns="0">
            <a:spAutoFit/>
          </a:bodyPr>
          <a:lstStyle/>
          <a:p>
            <a:r>
              <a:rPr sz="1100" b="0">
                <a:solidFill>
                  <a:srgbClr val="2E2E2E"/>
                </a:solidFill>
                <a:latin typeface="Calibri"/>
              </a:rPr>
              <a:t>. 3 of 6 regions grow at or above that pace, so entry logic has to differ by region scale defence in the leaders, mix and premiumisation in the mid-tier, and availability-led expansion in the fastest</a:t>
            </a:r>
          </a:p>
        </p:txBody>
      </p:sp>
      <p:sp>
        <p:nvSpPr>
          <p:cNvPr id="138" name="TextBox 137"/>
          <p:cNvSpPr txBox="1"/>
          <p:nvPr/>
        </p:nvSpPr>
        <p:spPr>
          <a:xfrm>
            <a:off x="304800" y="5567800"/>
            <a:ext cx="532680" cy="186689"/>
          </a:xfrm>
          <a:prstGeom prst="rect">
            <a:avLst/>
          </a:prstGeom>
          <a:noFill/>
        </p:spPr>
        <p:txBody>
          <a:bodyPr wrap="none" lIns="0" rIns="0" tIns="0" bIns="0">
            <a:spAutoFit/>
          </a:bodyPr>
          <a:lstStyle/>
          <a:p>
            <a:r>
              <a:rPr sz="1100" b="0">
                <a:solidFill>
                  <a:srgbClr val="2E2E2E"/>
                </a:solidFill>
                <a:latin typeface="Calibri"/>
              </a:rPr>
              <a:t>movers.</a:t>
            </a:r>
          </a:p>
        </p:txBody>
      </p:sp>
    </p:spTree>
  </p:cSld>
  <p:clrMapOvr>
    <a:masterClrMapping/>
  </p:clrMapOvr>
</p:sld>
</file>

<file path=ppt/slides/slide27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Global Driving Factors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economic and supply-side factors scored by their impact on the global market</a:t>
            </a:r>
          </a:p>
        </p:txBody>
      </p:sp>
      <p:sp>
        <p:nvSpPr>
          <p:cNvPr id="10" name="Oval 9"/>
          <p:cNvSpPr/>
          <p:nvPr/>
        </p:nvSpPr>
        <p:spPr>
          <a:xfrm>
            <a:off x="2381250" y="1609633"/>
            <a:ext cx="4762500" cy="4563424"/>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Oval 10"/>
          <p:cNvSpPr/>
          <p:nvPr/>
        </p:nvSpPr>
        <p:spPr>
          <a:xfrm>
            <a:off x="2619375" y="1837804"/>
            <a:ext cx="4286250" cy="410708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2857500" y="2065976"/>
            <a:ext cx="3810000" cy="365074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3095625" y="2294147"/>
            <a:ext cx="3333750" cy="319439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3333750" y="2522318"/>
            <a:ext cx="2857500" cy="273805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3571875" y="2750489"/>
            <a:ext cx="2381250" cy="228171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3810000" y="2978660"/>
            <a:ext cx="1905000" cy="1825370"/>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4048125" y="3206832"/>
            <a:ext cx="1428750" cy="1369027"/>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4286250" y="3435003"/>
            <a:ext cx="952500" cy="912685"/>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4524375" y="3663174"/>
            <a:ext cx="476250" cy="456342"/>
          </a:xfrm>
          <a:prstGeom prst="ellipse">
            <a:avLst/>
          </a:prstGeom>
          <a:solidFill>
            <a:srgbClr val="DCE7F3"/>
          </a:solidFill>
          <a:ln w="12700">
            <a:solidFill>
              <a:srgbClr val="B9CDE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flipV="1">
            <a:off x="4762500" y="1609633"/>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H="1" flipV="1">
            <a:off x="3729314" y="1835594"/>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H="1" flipV="1">
            <a:off x="2900764" y="2468721"/>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H="1" flipV="1">
            <a:off x="2440953" y="3383617"/>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flipH="1">
            <a:off x="2440953" y="3891345"/>
            <a:ext cx="2321547" cy="507729"/>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flipH="1">
            <a:off x="2900764" y="3891345"/>
            <a:ext cx="1861736" cy="1422624"/>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flipH="1">
            <a:off x="3729314" y="3891345"/>
            <a:ext cx="1033186" cy="205575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4762500" y="3891345"/>
            <a:ext cx="0" cy="2281712"/>
          </a:xfrm>
          <a:prstGeom prst="line">
            <a:avLst/>
          </a:prstGeom>
          <a:ln w="9525">
            <a:solidFill>
              <a:srgbClr val="B9CDE3"/>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2438400" y="2029468"/>
            <a:ext cx="2324100" cy="3148763"/>
          </a:xfrm>
          <a:custGeom>
            <a:avLst/>
            <a:gdLst/>
            <a:ahLst/>
            <a:cxnLst/>
            <a:rect l="l" t="t" r="r" b="b"/>
            <a:pathLst>
              <a:path w="244" h="345">
                <a:moveTo>
                  <a:pt x="244" y="0"/>
                </a:moveTo>
                <a:lnTo>
                  <a:pt x="180" y="70"/>
                </a:lnTo>
                <a:lnTo>
                  <a:pt x="49" y="48"/>
                </a:lnTo>
                <a:lnTo>
                  <a:pt x="97" y="170"/>
                </a:lnTo>
                <a:lnTo>
                  <a:pt x="0" y="260"/>
                </a:lnTo>
                <a:lnTo>
                  <a:pt x="224" y="220"/>
                </a:lnTo>
                <a:lnTo>
                  <a:pt x="176" y="345"/>
                </a:lnTo>
                <a:lnTo>
                  <a:pt x="244" y="303"/>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714875" y="1563999"/>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400300" y="128106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1" name="Oval 30"/>
          <p:cNvSpPr/>
          <p:nvPr/>
        </p:nvSpPr>
        <p:spPr>
          <a:xfrm>
            <a:off x="3681689" y="178996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1385456" y="151968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3" name="Oval 32"/>
          <p:cNvSpPr/>
          <p:nvPr/>
        </p:nvSpPr>
        <p:spPr>
          <a:xfrm>
            <a:off x="2853139" y="2423087"/>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510507" y="227040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5" name="Oval 34"/>
          <p:cNvSpPr/>
          <p:nvPr/>
        </p:nvSpPr>
        <p:spPr>
          <a:xfrm>
            <a:off x="2393328" y="3337982"/>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4946" y="3236535"/>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7" name="Oval 36"/>
          <p:cNvSpPr/>
          <p:nvPr/>
        </p:nvSpPr>
        <p:spPr>
          <a:xfrm>
            <a:off x="2393328" y="4353440"/>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4946" y="4308858"/>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39" name="Oval 38"/>
          <p:cNvSpPr/>
          <p:nvPr/>
        </p:nvSpPr>
        <p:spPr>
          <a:xfrm>
            <a:off x="2853139" y="5268335"/>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510507" y="5274987"/>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1" name="Oval 40"/>
          <p:cNvSpPr/>
          <p:nvPr/>
        </p:nvSpPr>
        <p:spPr>
          <a:xfrm>
            <a:off x="3681689" y="590146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1385456" y="6025711"/>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3" name="Oval 42"/>
          <p:cNvSpPr/>
          <p:nvPr/>
        </p:nvSpPr>
        <p:spPr>
          <a:xfrm>
            <a:off x="4714875" y="6127423"/>
            <a:ext cx="95250" cy="91268"/>
          </a:xfrm>
          <a:prstGeom prst="ellipse">
            <a:avLst/>
          </a:prstGeom>
          <a:solidFill>
            <a:srgbClr val="2F6DA8"/>
          </a:solidFill>
          <a:ln w="12700">
            <a:solidFill>
              <a:srgbClr val="2F6DA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400300" y="6264326"/>
            <a:ext cx="2286000" cy="237298"/>
          </a:xfrm>
          <a:prstGeom prst="rect">
            <a:avLst/>
          </a:prstGeom>
          <a:noFill/>
        </p:spPr>
        <p:txBody>
          <a:bodyPr wrap="square" lIns="28575" rIns="28575" tIns="9525" bIns="9525" anchor="ctr">
            <a:spAutoFit/>
          </a:bodyPr>
          <a:lstStyle/>
          <a:p>
            <a:pPr algn="r"/>
            <a:r>
              <a:rPr sz="1100" b="0">
                <a:solidFill>
                  <a:srgbClr val="2E2E2E"/>
                </a:solidFill>
                <a:latin typeface="Calibri"/>
              </a:rPr>
              <a:t/>
            </a:r>
          </a:p>
        </p:txBody>
      </p:sp>
      <p:sp>
        <p:nvSpPr>
          <p:cNvPr id="45" name="Rectangle 44"/>
          <p:cNvSpPr/>
          <p:nvPr/>
        </p:nvSpPr>
        <p:spPr>
          <a:xfrm>
            <a:off x="476250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MI Scale 0"/>
          <p:cNvSpPr txBox="1"/>
          <p:nvPr/>
        </p:nvSpPr>
        <p:spPr>
          <a:xfrm>
            <a:off x="4286250" y="3818331"/>
            <a:ext cx="419100" cy="146030"/>
          </a:xfrm>
          <a:prstGeom prst="rect">
            <a:avLst/>
          </a:prstGeom>
          <a:noFill/>
        </p:spPr>
        <p:txBody>
          <a:bodyPr wrap="none" lIns="0" rIns="0" tIns="0" bIns="0" anchor="ctr">
            <a:spAutoFit/>
          </a:bodyPr>
          <a:lstStyle/>
          <a:p>
            <a:pPr algn="r"/>
            <a:r>
              <a:rPr sz="1100" b="0">
                <a:solidFill>
                  <a:srgbClr val="6C7A89"/>
                </a:solidFill>
                <a:latin typeface="Calibri"/>
              </a:rPr>
              <a:t>0%</a:t>
            </a:r>
          </a:p>
        </p:txBody>
      </p:sp>
      <p:sp>
        <p:nvSpPr>
          <p:cNvPr id="47" name="FMI Scale 1"/>
          <p:cNvSpPr txBox="1"/>
          <p:nvPr/>
        </p:nvSpPr>
        <p:spPr>
          <a:xfrm>
            <a:off x="4286250" y="3590159"/>
            <a:ext cx="419100" cy="146030"/>
          </a:xfrm>
          <a:prstGeom prst="rect">
            <a:avLst/>
          </a:prstGeom>
          <a:noFill/>
        </p:spPr>
        <p:txBody>
          <a:bodyPr wrap="none" lIns="0" rIns="0" tIns="0" bIns="0" anchor="ctr">
            <a:spAutoFit/>
          </a:bodyPr>
          <a:lstStyle/>
          <a:p>
            <a:pPr algn="r"/>
            <a:r>
              <a:rPr sz="1100" b="0">
                <a:solidFill>
                  <a:srgbClr val="6C7A89"/>
                </a:solidFill>
                <a:latin typeface="Calibri"/>
              </a:rPr>
              <a:t>10%</a:t>
            </a:r>
          </a:p>
        </p:txBody>
      </p:sp>
      <p:sp>
        <p:nvSpPr>
          <p:cNvPr id="48" name="FMI Scale 2"/>
          <p:cNvSpPr txBox="1"/>
          <p:nvPr/>
        </p:nvSpPr>
        <p:spPr>
          <a:xfrm>
            <a:off x="4286250" y="3361988"/>
            <a:ext cx="419100" cy="146030"/>
          </a:xfrm>
          <a:prstGeom prst="rect">
            <a:avLst/>
          </a:prstGeom>
          <a:noFill/>
        </p:spPr>
        <p:txBody>
          <a:bodyPr wrap="none" lIns="0" rIns="0" tIns="0" bIns="0" anchor="ctr">
            <a:spAutoFit/>
          </a:bodyPr>
          <a:lstStyle/>
          <a:p>
            <a:pPr algn="r"/>
            <a:r>
              <a:rPr sz="1100" b="0">
                <a:solidFill>
                  <a:srgbClr val="6C7A89"/>
                </a:solidFill>
                <a:latin typeface="Calibri"/>
              </a:rPr>
              <a:t>20%</a:t>
            </a:r>
          </a:p>
        </p:txBody>
      </p:sp>
      <p:sp>
        <p:nvSpPr>
          <p:cNvPr id="49" name="FMI Scale 3"/>
          <p:cNvSpPr txBox="1"/>
          <p:nvPr/>
        </p:nvSpPr>
        <p:spPr>
          <a:xfrm>
            <a:off x="4286250" y="3133817"/>
            <a:ext cx="419100" cy="146030"/>
          </a:xfrm>
          <a:prstGeom prst="rect">
            <a:avLst/>
          </a:prstGeom>
          <a:noFill/>
        </p:spPr>
        <p:txBody>
          <a:bodyPr wrap="none" lIns="0" rIns="0" tIns="0" bIns="0" anchor="ctr">
            <a:spAutoFit/>
          </a:bodyPr>
          <a:lstStyle/>
          <a:p>
            <a:pPr algn="r"/>
            <a:r>
              <a:rPr sz="1100" b="0">
                <a:solidFill>
                  <a:srgbClr val="6C7A89"/>
                </a:solidFill>
                <a:latin typeface="Calibri"/>
              </a:rPr>
              <a:t>30%</a:t>
            </a:r>
          </a:p>
        </p:txBody>
      </p:sp>
      <p:sp>
        <p:nvSpPr>
          <p:cNvPr id="50" name="FMI Scale 4"/>
          <p:cNvSpPr txBox="1"/>
          <p:nvPr/>
        </p:nvSpPr>
        <p:spPr>
          <a:xfrm>
            <a:off x="4286250" y="2905646"/>
            <a:ext cx="419100" cy="146030"/>
          </a:xfrm>
          <a:prstGeom prst="rect">
            <a:avLst/>
          </a:prstGeom>
          <a:noFill/>
        </p:spPr>
        <p:txBody>
          <a:bodyPr wrap="none" lIns="0" rIns="0" tIns="0" bIns="0" anchor="ctr">
            <a:spAutoFit/>
          </a:bodyPr>
          <a:lstStyle/>
          <a:p>
            <a:pPr algn="r"/>
            <a:r>
              <a:rPr sz="1100" b="0">
                <a:solidFill>
                  <a:srgbClr val="6C7A89"/>
                </a:solidFill>
                <a:latin typeface="Calibri"/>
              </a:rPr>
              <a:t>40%</a:t>
            </a:r>
          </a:p>
        </p:txBody>
      </p:sp>
      <p:sp>
        <p:nvSpPr>
          <p:cNvPr id="51" name="FMI Scale 5"/>
          <p:cNvSpPr txBox="1"/>
          <p:nvPr/>
        </p:nvSpPr>
        <p:spPr>
          <a:xfrm>
            <a:off x="4286250" y="2677474"/>
            <a:ext cx="419100" cy="146030"/>
          </a:xfrm>
          <a:prstGeom prst="rect">
            <a:avLst/>
          </a:prstGeom>
          <a:noFill/>
        </p:spPr>
        <p:txBody>
          <a:bodyPr wrap="none" lIns="0" rIns="0" tIns="0" bIns="0" anchor="ctr">
            <a:spAutoFit/>
          </a:bodyPr>
          <a:lstStyle/>
          <a:p>
            <a:pPr algn="r"/>
            <a:r>
              <a:rPr sz="1100" b="0">
                <a:solidFill>
                  <a:srgbClr val="6C7A89"/>
                </a:solidFill>
                <a:latin typeface="Calibri"/>
              </a:rPr>
              <a:t>50%</a:t>
            </a:r>
          </a:p>
        </p:txBody>
      </p:sp>
      <p:sp>
        <p:nvSpPr>
          <p:cNvPr id="52" name="FMI Scale 6"/>
          <p:cNvSpPr txBox="1"/>
          <p:nvPr/>
        </p:nvSpPr>
        <p:spPr>
          <a:xfrm>
            <a:off x="4286250" y="2449303"/>
            <a:ext cx="419100" cy="146030"/>
          </a:xfrm>
          <a:prstGeom prst="rect">
            <a:avLst/>
          </a:prstGeom>
          <a:noFill/>
        </p:spPr>
        <p:txBody>
          <a:bodyPr wrap="none" lIns="0" rIns="0" tIns="0" bIns="0" anchor="ctr">
            <a:spAutoFit/>
          </a:bodyPr>
          <a:lstStyle/>
          <a:p>
            <a:pPr algn="r"/>
            <a:r>
              <a:rPr sz="1100" b="0">
                <a:solidFill>
                  <a:srgbClr val="6C7A89"/>
                </a:solidFill>
                <a:latin typeface="Calibri"/>
              </a:rPr>
              <a:t>60%</a:t>
            </a:r>
          </a:p>
        </p:txBody>
      </p:sp>
      <p:sp>
        <p:nvSpPr>
          <p:cNvPr id="53" name="FMI Scale 7"/>
          <p:cNvSpPr txBox="1"/>
          <p:nvPr/>
        </p:nvSpPr>
        <p:spPr>
          <a:xfrm>
            <a:off x="4286250" y="2221132"/>
            <a:ext cx="419100" cy="146030"/>
          </a:xfrm>
          <a:prstGeom prst="rect">
            <a:avLst/>
          </a:prstGeom>
          <a:noFill/>
        </p:spPr>
        <p:txBody>
          <a:bodyPr wrap="none" lIns="0" rIns="0" tIns="0" bIns="0" anchor="ctr">
            <a:spAutoFit/>
          </a:bodyPr>
          <a:lstStyle/>
          <a:p>
            <a:pPr algn="r"/>
            <a:r>
              <a:rPr sz="1100" b="0">
                <a:solidFill>
                  <a:srgbClr val="6C7A89"/>
                </a:solidFill>
                <a:latin typeface="Calibri"/>
              </a:rPr>
              <a:t>70%</a:t>
            </a:r>
          </a:p>
        </p:txBody>
      </p:sp>
      <p:sp>
        <p:nvSpPr>
          <p:cNvPr id="54" name="FMI Scale 8"/>
          <p:cNvSpPr txBox="1"/>
          <p:nvPr/>
        </p:nvSpPr>
        <p:spPr>
          <a:xfrm>
            <a:off x="4286250" y="1992961"/>
            <a:ext cx="419100" cy="146030"/>
          </a:xfrm>
          <a:prstGeom prst="rect">
            <a:avLst/>
          </a:prstGeom>
          <a:noFill/>
        </p:spPr>
        <p:txBody>
          <a:bodyPr wrap="none" lIns="0" rIns="0" tIns="0" bIns="0" anchor="ctr">
            <a:spAutoFit/>
          </a:bodyPr>
          <a:lstStyle/>
          <a:p>
            <a:pPr algn="r"/>
            <a:r>
              <a:rPr sz="1100" b="0">
                <a:solidFill>
                  <a:srgbClr val="6C7A89"/>
                </a:solidFill>
                <a:latin typeface="Calibri"/>
              </a:rPr>
              <a:t>80%</a:t>
            </a:r>
          </a:p>
        </p:txBody>
      </p:sp>
      <p:sp>
        <p:nvSpPr>
          <p:cNvPr id="55" name="FMI Scale 9"/>
          <p:cNvSpPr txBox="1"/>
          <p:nvPr/>
        </p:nvSpPr>
        <p:spPr>
          <a:xfrm>
            <a:off x="4286250" y="1764790"/>
            <a:ext cx="419100" cy="146030"/>
          </a:xfrm>
          <a:prstGeom prst="rect">
            <a:avLst/>
          </a:prstGeom>
          <a:noFill/>
        </p:spPr>
        <p:txBody>
          <a:bodyPr wrap="none" lIns="0" rIns="0" tIns="0" bIns="0" anchor="ctr">
            <a:spAutoFit/>
          </a:bodyPr>
          <a:lstStyle/>
          <a:p>
            <a:pPr algn="r"/>
            <a:r>
              <a:rPr sz="1100" b="0">
                <a:solidFill>
                  <a:srgbClr val="6C7A89"/>
                </a:solidFill>
                <a:latin typeface="Calibri"/>
              </a:rPr>
              <a:t>90%</a:t>
            </a:r>
          </a:p>
        </p:txBody>
      </p:sp>
      <p:sp>
        <p:nvSpPr>
          <p:cNvPr id="56" name="FMI Scale 10"/>
          <p:cNvSpPr txBox="1"/>
          <p:nvPr/>
        </p:nvSpPr>
        <p:spPr>
          <a:xfrm>
            <a:off x="4286250" y="1536618"/>
            <a:ext cx="419100" cy="146030"/>
          </a:xfrm>
          <a:prstGeom prst="rect">
            <a:avLst/>
          </a:prstGeom>
          <a:noFill/>
        </p:spPr>
        <p:txBody>
          <a:bodyPr wrap="none" lIns="0" rIns="0" tIns="0" bIns="0" anchor="ctr">
            <a:spAutoFit/>
          </a:bodyPr>
          <a:lstStyle/>
          <a:p>
            <a:pPr algn="r"/>
            <a:r>
              <a:rPr sz="1100" b="0">
                <a:solidFill>
                  <a:srgbClr val="6C7A89"/>
                </a:solidFill>
                <a:latin typeface="Calibri"/>
              </a:rPr>
              <a:t>100%</a:t>
            </a:r>
          </a:p>
        </p:txBody>
      </p:sp>
      <p:cxnSp>
        <p:nvCxnSpPr>
          <p:cNvPr id="57" name="Connector 56"/>
          <p:cNvCxnSpPr/>
          <p:nvPr/>
        </p:nvCxnSpPr>
        <p:spPr>
          <a:xfrm>
            <a:off x="4762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4972050" y="1080276"/>
            <a:ext cx="7077075" cy="219044"/>
          </a:xfrm>
          <a:prstGeom prst="rect">
            <a:avLst/>
          </a:prstGeom>
          <a:noFill/>
        </p:spPr>
        <p:txBody>
          <a:bodyPr wrap="square" lIns="28575" rIns="28575" tIns="9525" bIns="9525" anchor="ctr">
            <a:spAutoFit/>
          </a:bodyPr>
          <a:lstStyle/>
          <a:p>
            <a:pPr algn="l"/>
            <a:r>
              <a:rPr sz="1200" b="1">
                <a:solidFill>
                  <a:srgbClr val="0B2E4A"/>
                </a:solidFill>
                <a:latin typeface="Calibri"/>
              </a:rPr>
              <a:t>Economic and Supply-side Factors</a:t>
            </a:r>
          </a:p>
        </p:txBody>
      </p:sp>
      <p:cxnSp>
        <p:nvCxnSpPr>
          <p:cNvPr id="59" name="Connector 58"/>
          <p:cNvCxnSpPr/>
          <p:nvPr/>
        </p:nvCxnSpPr>
        <p:spPr>
          <a:xfrm>
            <a:off x="4972050" y="1335828"/>
            <a:ext cx="70770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4972050" y="142709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1" name="TextBox 60"/>
          <p:cNvSpPr txBox="1"/>
          <p:nvPr/>
        </p:nvSpPr>
        <p:spPr>
          <a:xfrm>
            <a:off x="4972050" y="1883439"/>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4972050" y="2339781"/>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4972050" y="2613586"/>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Portfolio breadth spans 2 product type lines and 6 application routes, giving producers wide reformulation and channel latitude.</a:t>
            </a:r>
          </a:p>
        </p:txBody>
      </p:sp>
      <p:sp>
        <p:nvSpPr>
          <p:cNvPr id="64" name="TextBox 63"/>
          <p:cNvSpPr txBox="1"/>
          <p:nvPr/>
        </p:nvSpPr>
        <p:spPr>
          <a:xfrm>
            <a:off x="4972050" y="3069929"/>
            <a:ext cx="70770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4972050" y="3343734"/>
            <a:ext cx="70770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6" name="TextBox 6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7" name="TextBox 66"/>
          <p:cNvSpPr txBox="1"/>
          <p:nvPr/>
        </p:nvSpPr>
        <p:spPr>
          <a:xfrm>
            <a:off x="3466991" y="1322601"/>
            <a:ext cx="1125226" cy="173278"/>
          </a:xfrm>
          <a:prstGeom prst="rect">
            <a:avLst/>
          </a:prstGeom>
          <a:noFill/>
        </p:spPr>
        <p:txBody>
          <a:bodyPr wrap="none" lIns="0" rIns="0" tIns="0" bIns="0">
            <a:spAutoFit/>
          </a:bodyPr>
          <a:lstStyle/>
          <a:p>
            <a:r>
              <a:rPr sz="1011" b="0">
                <a:solidFill>
                  <a:srgbClr val="2E2E2E"/>
                </a:solidFill>
                <a:latin typeface="Calibri"/>
              </a:rPr>
              <a:t>Production Scale-up</a:t>
            </a:r>
          </a:p>
        </p:txBody>
      </p:sp>
      <p:pic>
        <p:nvPicPr>
          <p:cNvPr id="68" name="Picture 67" descr="lock.png"/>
          <p:cNvPicPr>
            <a:picLocks noChangeAspect="1"/>
          </p:cNvPicPr>
          <p:nvPr/>
        </p:nvPicPr>
        <p:blipFill>
          <a:blip r:embed="rId4"/>
          <a:stretch>
            <a:fillRect/>
          </a:stretch>
        </p:blipFill>
        <p:spPr>
          <a:xfrm>
            <a:off x="4538330" y="1313604"/>
            <a:ext cx="118403" cy="172222"/>
          </a:xfrm>
          <a:prstGeom prst="rect">
            <a:avLst/>
          </a:prstGeom>
        </p:spPr>
      </p:pic>
      <p:sp>
        <p:nvSpPr>
          <p:cNvPr id="69" name="TextBox 68"/>
          <p:cNvSpPr txBox="1"/>
          <p:nvPr/>
        </p:nvSpPr>
        <p:spPr>
          <a:xfrm>
            <a:off x="2482772" y="1561215"/>
            <a:ext cx="1094602" cy="173278"/>
          </a:xfrm>
          <a:prstGeom prst="rect">
            <a:avLst/>
          </a:prstGeom>
          <a:noFill/>
        </p:spPr>
        <p:txBody>
          <a:bodyPr wrap="none" lIns="0" rIns="0" tIns="0" bIns="0">
            <a:spAutoFit/>
          </a:bodyPr>
          <a:lstStyle/>
          <a:p>
            <a:r>
              <a:rPr sz="1011" b="0">
                <a:solidFill>
                  <a:srgbClr val="2E2E2E"/>
                </a:solidFill>
                <a:latin typeface="Calibri"/>
              </a:rPr>
              <a:t>Input Cost Pressure</a:t>
            </a:r>
          </a:p>
        </p:txBody>
      </p:sp>
      <p:pic>
        <p:nvPicPr>
          <p:cNvPr id="70" name="Picture 69" descr="lock.png"/>
          <p:cNvPicPr>
            <a:picLocks noChangeAspect="1"/>
          </p:cNvPicPr>
          <p:nvPr/>
        </p:nvPicPr>
        <p:blipFill>
          <a:blip r:embed="rId4"/>
          <a:stretch>
            <a:fillRect/>
          </a:stretch>
        </p:blipFill>
        <p:spPr>
          <a:xfrm>
            <a:off x="3523486" y="1552218"/>
            <a:ext cx="118403" cy="172222"/>
          </a:xfrm>
          <a:prstGeom prst="rect">
            <a:avLst/>
          </a:prstGeom>
        </p:spPr>
      </p:pic>
      <p:sp>
        <p:nvSpPr>
          <p:cNvPr id="71" name="TextBox 70"/>
          <p:cNvSpPr txBox="1"/>
          <p:nvPr/>
        </p:nvSpPr>
        <p:spPr>
          <a:xfrm>
            <a:off x="1943191" y="2311939"/>
            <a:ext cx="759234" cy="173278"/>
          </a:xfrm>
          <a:prstGeom prst="rect">
            <a:avLst/>
          </a:prstGeom>
          <a:noFill/>
        </p:spPr>
        <p:txBody>
          <a:bodyPr wrap="none" lIns="0" rIns="0" tIns="0" bIns="0">
            <a:spAutoFit/>
          </a:bodyPr>
          <a:lstStyle/>
          <a:p>
            <a:r>
              <a:rPr sz="1011" b="0">
                <a:solidFill>
                  <a:srgbClr val="2E2E2E"/>
                </a:solidFill>
                <a:latin typeface="Calibri"/>
              </a:rPr>
              <a:t>Capacity Add</a:t>
            </a:r>
          </a:p>
        </p:txBody>
      </p:sp>
      <p:pic>
        <p:nvPicPr>
          <p:cNvPr id="72" name="Picture 71" descr="lock.png"/>
          <p:cNvPicPr>
            <a:picLocks noChangeAspect="1"/>
          </p:cNvPicPr>
          <p:nvPr/>
        </p:nvPicPr>
        <p:blipFill>
          <a:blip r:embed="rId4"/>
          <a:stretch>
            <a:fillRect/>
          </a:stretch>
        </p:blipFill>
        <p:spPr>
          <a:xfrm>
            <a:off x="2648537" y="2302942"/>
            <a:ext cx="118403" cy="172222"/>
          </a:xfrm>
          <a:prstGeom prst="rect">
            <a:avLst/>
          </a:prstGeom>
        </p:spPr>
      </p:pic>
      <p:sp>
        <p:nvSpPr>
          <p:cNvPr id="73" name="TextBox 72"/>
          <p:cNvSpPr txBox="1"/>
          <p:nvPr/>
        </p:nvSpPr>
        <p:spPr>
          <a:xfrm>
            <a:off x="1014573" y="3278069"/>
            <a:ext cx="1202291" cy="173278"/>
          </a:xfrm>
          <a:prstGeom prst="rect">
            <a:avLst/>
          </a:prstGeom>
          <a:noFill/>
        </p:spPr>
        <p:txBody>
          <a:bodyPr wrap="none" lIns="0" rIns="0" tIns="0" bIns="0">
            <a:spAutoFit/>
          </a:bodyPr>
          <a:lstStyle/>
          <a:p>
            <a:r>
              <a:rPr sz="1011" b="0">
                <a:solidFill>
                  <a:srgbClr val="2E2E2E"/>
                </a:solidFill>
                <a:latin typeface="Calibri"/>
              </a:rPr>
              <a:t>Supply Concentration</a:t>
            </a:r>
          </a:p>
        </p:txBody>
      </p:sp>
      <p:pic>
        <p:nvPicPr>
          <p:cNvPr id="74" name="Picture 73" descr="lock.png"/>
          <p:cNvPicPr>
            <a:picLocks noChangeAspect="1"/>
          </p:cNvPicPr>
          <p:nvPr/>
        </p:nvPicPr>
        <p:blipFill>
          <a:blip r:embed="rId4"/>
          <a:stretch>
            <a:fillRect/>
          </a:stretch>
        </p:blipFill>
        <p:spPr>
          <a:xfrm>
            <a:off x="2162976" y="3269072"/>
            <a:ext cx="118403" cy="172222"/>
          </a:xfrm>
          <a:prstGeom prst="rect">
            <a:avLst/>
          </a:prstGeom>
        </p:spPr>
      </p:pic>
      <p:sp>
        <p:nvSpPr>
          <p:cNvPr id="75" name="TextBox 74"/>
          <p:cNvSpPr txBox="1"/>
          <p:nvPr/>
        </p:nvSpPr>
        <p:spPr>
          <a:xfrm>
            <a:off x="1148118" y="4350392"/>
            <a:ext cx="1068746" cy="173278"/>
          </a:xfrm>
          <a:prstGeom prst="rect">
            <a:avLst/>
          </a:prstGeom>
          <a:noFill/>
        </p:spPr>
        <p:txBody>
          <a:bodyPr wrap="none" lIns="0" rIns="0" tIns="0" bIns="0">
            <a:spAutoFit/>
          </a:bodyPr>
          <a:lstStyle/>
          <a:p>
            <a:r>
              <a:rPr sz="1011" b="0">
                <a:solidFill>
                  <a:srgbClr val="2E2E2E"/>
                </a:solidFill>
                <a:latin typeface="Calibri"/>
              </a:rPr>
              <a:t>Geographic Spread</a:t>
            </a:r>
          </a:p>
        </p:txBody>
      </p:sp>
      <p:pic>
        <p:nvPicPr>
          <p:cNvPr id="76" name="Picture 75" descr="lock.png"/>
          <p:cNvPicPr>
            <a:picLocks noChangeAspect="1"/>
          </p:cNvPicPr>
          <p:nvPr/>
        </p:nvPicPr>
        <p:blipFill>
          <a:blip r:embed="rId4"/>
          <a:stretch>
            <a:fillRect/>
          </a:stretch>
        </p:blipFill>
        <p:spPr>
          <a:xfrm>
            <a:off x="2162976" y="4341395"/>
            <a:ext cx="118403" cy="172222"/>
          </a:xfrm>
          <a:prstGeom prst="rect">
            <a:avLst/>
          </a:prstGeom>
        </p:spPr>
      </p:pic>
      <p:sp>
        <p:nvSpPr>
          <p:cNvPr id="77" name="TextBox 76"/>
          <p:cNvSpPr txBox="1"/>
          <p:nvPr/>
        </p:nvSpPr>
        <p:spPr>
          <a:xfrm>
            <a:off x="1722039" y="5316521"/>
            <a:ext cx="980386" cy="173278"/>
          </a:xfrm>
          <a:prstGeom prst="rect">
            <a:avLst/>
          </a:prstGeom>
          <a:noFill/>
        </p:spPr>
        <p:txBody>
          <a:bodyPr wrap="none" lIns="0" rIns="0" tIns="0" bIns="0">
            <a:spAutoFit/>
          </a:bodyPr>
          <a:lstStyle/>
          <a:p>
            <a:r>
              <a:rPr sz="1011" b="0">
                <a:solidFill>
                  <a:srgbClr val="2E2E2E"/>
                </a:solidFill>
                <a:latin typeface="Calibri"/>
              </a:rPr>
              <a:t>Portfolio Breadth</a:t>
            </a:r>
          </a:p>
        </p:txBody>
      </p:sp>
      <p:pic>
        <p:nvPicPr>
          <p:cNvPr id="78" name="Picture 77" descr="lock.png"/>
          <p:cNvPicPr>
            <a:picLocks noChangeAspect="1"/>
          </p:cNvPicPr>
          <p:nvPr/>
        </p:nvPicPr>
        <p:blipFill>
          <a:blip r:embed="rId4"/>
          <a:stretch>
            <a:fillRect/>
          </a:stretch>
        </p:blipFill>
        <p:spPr>
          <a:xfrm>
            <a:off x="2648537" y="5307524"/>
            <a:ext cx="118403" cy="172222"/>
          </a:xfrm>
          <a:prstGeom prst="rect">
            <a:avLst/>
          </a:prstGeom>
        </p:spPr>
      </p:pic>
      <p:sp>
        <p:nvSpPr>
          <p:cNvPr id="79" name="TextBox 78"/>
          <p:cNvSpPr txBox="1"/>
          <p:nvPr/>
        </p:nvSpPr>
        <p:spPr>
          <a:xfrm>
            <a:off x="2838472" y="6067245"/>
            <a:ext cx="738901" cy="173278"/>
          </a:xfrm>
          <a:prstGeom prst="rect">
            <a:avLst/>
          </a:prstGeom>
          <a:noFill/>
        </p:spPr>
        <p:txBody>
          <a:bodyPr wrap="none" lIns="0" rIns="0" tIns="0" bIns="0">
            <a:spAutoFit/>
          </a:bodyPr>
          <a:lstStyle/>
          <a:p>
            <a:r>
              <a:rPr sz="1011" b="0">
                <a:solidFill>
                  <a:srgbClr val="2E2E2E"/>
                </a:solidFill>
                <a:latin typeface="Calibri"/>
              </a:rPr>
              <a:t>Route Depth</a:t>
            </a:r>
          </a:p>
        </p:txBody>
      </p:sp>
      <p:pic>
        <p:nvPicPr>
          <p:cNvPr id="80" name="Picture 79" descr="lock.png"/>
          <p:cNvPicPr>
            <a:picLocks noChangeAspect="1"/>
          </p:cNvPicPr>
          <p:nvPr/>
        </p:nvPicPr>
        <p:blipFill>
          <a:blip r:embed="rId4"/>
          <a:stretch>
            <a:fillRect/>
          </a:stretch>
        </p:blipFill>
        <p:spPr>
          <a:xfrm>
            <a:off x="3523486" y="6058248"/>
            <a:ext cx="118403" cy="172222"/>
          </a:xfrm>
          <a:prstGeom prst="rect">
            <a:avLst/>
          </a:prstGeom>
        </p:spPr>
      </p:pic>
      <p:sp>
        <p:nvSpPr>
          <p:cNvPr id="81" name="TextBox 80"/>
          <p:cNvSpPr txBox="1"/>
          <p:nvPr/>
        </p:nvSpPr>
        <p:spPr>
          <a:xfrm>
            <a:off x="3616852" y="6305860"/>
            <a:ext cx="975365" cy="173278"/>
          </a:xfrm>
          <a:prstGeom prst="rect">
            <a:avLst/>
          </a:prstGeom>
          <a:noFill/>
        </p:spPr>
        <p:txBody>
          <a:bodyPr wrap="none" lIns="0" rIns="0" tIns="0" bIns="0">
            <a:spAutoFit/>
          </a:bodyPr>
          <a:lstStyle/>
          <a:p>
            <a:r>
              <a:rPr sz="1011" b="0">
                <a:solidFill>
                  <a:srgbClr val="2E2E2E"/>
                </a:solidFill>
                <a:latin typeface="Calibri"/>
              </a:rPr>
              <a:t>Value Realisation</a:t>
            </a:r>
          </a:p>
        </p:txBody>
      </p:sp>
      <p:pic>
        <p:nvPicPr>
          <p:cNvPr id="82" name="Picture 81" descr="lock.png"/>
          <p:cNvPicPr>
            <a:picLocks noChangeAspect="1"/>
          </p:cNvPicPr>
          <p:nvPr/>
        </p:nvPicPr>
        <p:blipFill>
          <a:blip r:embed="rId4"/>
          <a:stretch>
            <a:fillRect/>
          </a:stretch>
        </p:blipFill>
        <p:spPr>
          <a:xfrm>
            <a:off x="4538330" y="6296863"/>
            <a:ext cx="118403" cy="172222"/>
          </a:xfrm>
          <a:prstGeom prst="rect">
            <a:avLst/>
          </a:prstGeom>
        </p:spPr>
      </p:pic>
      <p:sp>
        <p:nvSpPr>
          <p:cNvPr id="83" name="TextBox 82"/>
          <p:cNvSpPr txBox="1"/>
          <p:nvPr/>
        </p:nvSpPr>
        <p:spPr>
          <a:xfrm>
            <a:off x="5000625" y="1496754"/>
            <a:ext cx="2874019" cy="186689"/>
          </a:xfrm>
          <a:prstGeom prst="rect">
            <a:avLst/>
          </a:prstGeom>
          <a:noFill/>
        </p:spPr>
        <p:txBody>
          <a:bodyPr wrap="none" lIns="0" rIns="0" tIns="0" bIns="0">
            <a:spAutoFit/>
          </a:bodyPr>
          <a:lstStyle/>
          <a:p>
            <a:r>
              <a:rPr sz="1100" b="0">
                <a:solidFill>
                  <a:srgbClr val="2E2E2E"/>
                </a:solidFill>
                <a:latin typeface="Calibri"/>
              </a:rPr>
              <a:t>▪ Supply-side conditions are led by Capacity Add (</a:t>
            </a:r>
          </a:p>
        </p:txBody>
      </p:sp>
      <p:pic>
        <p:nvPicPr>
          <p:cNvPr id="84" name="Picture 83" descr="lock.png"/>
          <p:cNvPicPr>
            <a:picLocks noChangeAspect="1"/>
          </p:cNvPicPr>
          <p:nvPr/>
        </p:nvPicPr>
        <p:blipFill>
          <a:blip r:embed="rId4"/>
          <a:stretch>
            <a:fillRect/>
          </a:stretch>
        </p:blipFill>
        <p:spPr>
          <a:xfrm>
            <a:off x="7822696" y="1486975"/>
            <a:ext cx="128699" cy="187198"/>
          </a:xfrm>
          <a:prstGeom prst="rect">
            <a:avLst/>
          </a:prstGeom>
        </p:spPr>
      </p:pic>
      <p:sp>
        <p:nvSpPr>
          <p:cNvPr id="85" name="TextBox 84"/>
          <p:cNvSpPr txBox="1"/>
          <p:nvPr/>
        </p:nvSpPr>
        <p:spPr>
          <a:xfrm>
            <a:off x="7990192" y="1496754"/>
            <a:ext cx="1533773" cy="186689"/>
          </a:xfrm>
          <a:prstGeom prst="rect">
            <a:avLst/>
          </a:prstGeom>
          <a:noFill/>
        </p:spPr>
        <p:txBody>
          <a:bodyPr wrap="none" lIns="0" rIns="0" tIns="0" bIns="0">
            <a:spAutoFit/>
          </a:bodyPr>
          <a:lstStyle/>
          <a:p>
            <a:r>
              <a:rPr sz="1100" b="0">
                <a:solidFill>
                  <a:srgbClr val="2E2E2E"/>
                </a:solidFill>
                <a:latin typeface="Calibri"/>
              </a:rPr>
              <a:t>/10), Geographic Spread (</a:t>
            </a:r>
          </a:p>
        </p:txBody>
      </p:sp>
      <p:pic>
        <p:nvPicPr>
          <p:cNvPr id="86" name="Picture 85" descr="lock.png"/>
          <p:cNvPicPr>
            <a:picLocks noChangeAspect="1"/>
          </p:cNvPicPr>
          <p:nvPr/>
        </p:nvPicPr>
        <p:blipFill>
          <a:blip r:embed="rId4"/>
          <a:stretch>
            <a:fillRect/>
          </a:stretch>
        </p:blipFill>
        <p:spPr>
          <a:xfrm>
            <a:off x="9472016" y="1486975"/>
            <a:ext cx="128699" cy="187198"/>
          </a:xfrm>
          <a:prstGeom prst="rect">
            <a:avLst/>
          </a:prstGeom>
        </p:spPr>
      </p:pic>
      <p:sp>
        <p:nvSpPr>
          <p:cNvPr id="87" name="TextBox 86"/>
          <p:cNvSpPr txBox="1"/>
          <p:nvPr/>
        </p:nvSpPr>
        <p:spPr>
          <a:xfrm>
            <a:off x="9639512" y="1496754"/>
            <a:ext cx="1595164" cy="186689"/>
          </a:xfrm>
          <a:prstGeom prst="rect">
            <a:avLst/>
          </a:prstGeom>
          <a:noFill/>
        </p:spPr>
        <p:txBody>
          <a:bodyPr wrap="none" lIns="0" rIns="0" tIns="0" bIns="0">
            <a:spAutoFit/>
          </a:bodyPr>
          <a:lstStyle/>
          <a:p>
            <a:r>
              <a:rPr sz="1100" b="0">
                <a:solidFill>
                  <a:srgbClr val="2E2E2E"/>
                </a:solidFill>
                <a:latin typeface="Calibri"/>
              </a:rPr>
              <a:t>/10), Production Scale-up (</a:t>
            </a:r>
          </a:p>
        </p:txBody>
      </p:sp>
      <p:pic>
        <p:nvPicPr>
          <p:cNvPr id="88" name="Picture 87" descr="lock.png"/>
          <p:cNvPicPr>
            <a:picLocks noChangeAspect="1"/>
          </p:cNvPicPr>
          <p:nvPr/>
        </p:nvPicPr>
        <p:blipFill>
          <a:blip r:embed="rId4"/>
          <a:stretch>
            <a:fillRect/>
          </a:stretch>
        </p:blipFill>
        <p:spPr>
          <a:xfrm>
            <a:off x="11182729" y="1486975"/>
            <a:ext cx="128699" cy="187198"/>
          </a:xfrm>
          <a:prstGeom prst="rect">
            <a:avLst/>
          </a:prstGeom>
        </p:spPr>
      </p:pic>
      <p:sp>
        <p:nvSpPr>
          <p:cNvPr id="89" name="TextBox 88"/>
          <p:cNvSpPr txBox="1"/>
          <p:nvPr/>
        </p:nvSpPr>
        <p:spPr>
          <a:xfrm>
            <a:off x="11350224" y="1496754"/>
            <a:ext cx="591616" cy="186689"/>
          </a:xfrm>
          <a:prstGeom prst="rect">
            <a:avLst/>
          </a:prstGeom>
          <a:noFill/>
        </p:spPr>
        <p:txBody>
          <a:bodyPr wrap="none" lIns="0" rIns="0" tIns="0" bIns="0">
            <a:spAutoFit/>
          </a:bodyPr>
          <a:lstStyle/>
          <a:p>
            <a:r>
              <a:rPr sz="1100" b="0">
                <a:solidFill>
                  <a:srgbClr val="2E2E2E"/>
                </a:solidFill>
                <a:latin typeface="Calibri"/>
              </a:rPr>
              <a:t>/10) on a</a:t>
            </a:r>
          </a:p>
        </p:txBody>
      </p:sp>
      <p:sp>
        <p:nvSpPr>
          <p:cNvPr id="90" name="TextBox 89"/>
          <p:cNvSpPr txBox="1"/>
          <p:nvPr/>
        </p:nvSpPr>
        <p:spPr>
          <a:xfrm>
            <a:off x="5000625" y="1664394"/>
            <a:ext cx="2764060" cy="186689"/>
          </a:xfrm>
          <a:prstGeom prst="rect">
            <a:avLst/>
          </a:prstGeom>
          <a:noFill/>
        </p:spPr>
        <p:txBody>
          <a:bodyPr wrap="none" lIns="0" rIns="0" tIns="0" bIns="0">
            <a:spAutoFit/>
          </a:bodyPr>
          <a:lstStyle/>
          <a:p>
            <a:r>
              <a:rPr sz="1100" b="0">
                <a:solidFill>
                  <a:srgbClr val="2E2E2E"/>
                </a:solidFill>
                <a:latin typeface="Calibri"/>
              </a:rPr>
              <a:t>0-10 scale scored from the global dataset itself.</a:t>
            </a:r>
          </a:p>
        </p:txBody>
      </p:sp>
      <p:sp>
        <p:nvSpPr>
          <p:cNvPr id="91" name="TextBox 90"/>
          <p:cNvSpPr txBox="1"/>
          <p:nvPr/>
        </p:nvSpPr>
        <p:spPr>
          <a:xfrm>
            <a:off x="5000625" y="1953097"/>
            <a:ext cx="1245914" cy="186689"/>
          </a:xfrm>
          <a:prstGeom prst="rect">
            <a:avLst/>
          </a:prstGeom>
          <a:noFill/>
        </p:spPr>
        <p:txBody>
          <a:bodyPr wrap="none" lIns="0" rIns="0" tIns="0" bIns="0">
            <a:spAutoFit/>
          </a:bodyPr>
          <a:lstStyle/>
          <a:p>
            <a:r>
              <a:rPr sz="1100" b="0">
                <a:solidFill>
                  <a:srgbClr val="2E2E2E"/>
                </a:solidFill>
                <a:latin typeface="Calibri"/>
              </a:rPr>
              <a:t>▪ Volume expands at</a:t>
            </a:r>
          </a:p>
        </p:txBody>
      </p:sp>
      <p:pic>
        <p:nvPicPr>
          <p:cNvPr id="92" name="Picture 91" descr="lock.png"/>
          <p:cNvPicPr>
            <a:picLocks noChangeAspect="1"/>
          </p:cNvPicPr>
          <p:nvPr/>
        </p:nvPicPr>
        <p:blipFill>
          <a:blip r:embed="rId4"/>
          <a:stretch>
            <a:fillRect/>
          </a:stretch>
        </p:blipFill>
        <p:spPr>
          <a:xfrm>
            <a:off x="6194591" y="1943318"/>
            <a:ext cx="128699" cy="187198"/>
          </a:xfrm>
          <a:prstGeom prst="rect">
            <a:avLst/>
          </a:prstGeom>
        </p:spPr>
      </p:pic>
      <p:sp>
        <p:nvSpPr>
          <p:cNvPr id="93" name="TextBox 92"/>
          <p:cNvSpPr txBox="1"/>
          <p:nvPr/>
        </p:nvSpPr>
        <p:spPr>
          <a:xfrm>
            <a:off x="6362087" y="1953097"/>
            <a:ext cx="3002788" cy="186689"/>
          </a:xfrm>
          <a:prstGeom prst="rect">
            <a:avLst/>
          </a:prstGeom>
          <a:noFill/>
        </p:spPr>
        <p:txBody>
          <a:bodyPr wrap="none" lIns="0" rIns="0" tIns="0" bIns="0">
            <a:spAutoFit/>
          </a:bodyPr>
          <a:lstStyle/>
          <a:p>
            <a:r>
              <a:rPr sz="1100" b="0">
                <a:solidFill>
                  <a:srgbClr val="2E2E2E"/>
                </a:solidFill>
                <a:latin typeface="Calibri"/>
              </a:rPr>
              <a:t>CAGR (2026–2036) while average realisation moves</a:t>
            </a:r>
          </a:p>
        </p:txBody>
      </p:sp>
      <p:pic>
        <p:nvPicPr>
          <p:cNvPr id="94" name="Picture 93" descr="lock.png"/>
          <p:cNvPicPr>
            <a:picLocks noChangeAspect="1"/>
          </p:cNvPicPr>
          <p:nvPr/>
        </p:nvPicPr>
        <p:blipFill>
          <a:blip r:embed="rId4"/>
          <a:stretch>
            <a:fillRect/>
          </a:stretch>
        </p:blipFill>
        <p:spPr>
          <a:xfrm>
            <a:off x="9312927" y="1943318"/>
            <a:ext cx="128699" cy="187198"/>
          </a:xfrm>
          <a:prstGeom prst="rect">
            <a:avLst/>
          </a:prstGeom>
        </p:spPr>
      </p:pic>
      <p:sp>
        <p:nvSpPr>
          <p:cNvPr id="95" name="TextBox 94"/>
          <p:cNvSpPr txBox="1"/>
          <p:nvPr/>
        </p:nvSpPr>
        <p:spPr>
          <a:xfrm>
            <a:off x="9480423" y="1953097"/>
            <a:ext cx="2346597" cy="186689"/>
          </a:xfrm>
          <a:prstGeom prst="rect">
            <a:avLst/>
          </a:prstGeom>
          <a:noFill/>
        </p:spPr>
        <p:txBody>
          <a:bodyPr wrap="none" lIns="0" rIns="0" tIns="0" bIns="0">
            <a:spAutoFit/>
          </a:bodyPr>
          <a:lstStyle/>
          <a:p>
            <a:r>
              <a:rPr sz="1100" b="0">
                <a:solidFill>
                  <a:srgbClr val="2E2E2E"/>
                </a:solidFill>
                <a:latin typeface="Calibri"/>
              </a:rPr>
              <a:t>a year the balance of those two sets the</a:t>
            </a:r>
          </a:p>
        </p:txBody>
      </p:sp>
      <p:sp>
        <p:nvSpPr>
          <p:cNvPr id="96" name="TextBox 95"/>
          <p:cNvSpPr txBox="1"/>
          <p:nvPr/>
        </p:nvSpPr>
        <p:spPr>
          <a:xfrm>
            <a:off x="5000625" y="2120737"/>
            <a:ext cx="1571426" cy="186689"/>
          </a:xfrm>
          <a:prstGeom prst="rect">
            <a:avLst/>
          </a:prstGeom>
          <a:noFill/>
        </p:spPr>
        <p:txBody>
          <a:bodyPr wrap="none" lIns="0" rIns="0" tIns="0" bIns="0">
            <a:spAutoFit/>
          </a:bodyPr>
          <a:lstStyle/>
          <a:p>
            <a:r>
              <a:rPr sz="1100" b="0">
                <a:solidFill>
                  <a:srgbClr val="2E2E2E"/>
                </a:solidFill>
                <a:latin typeface="Calibri"/>
              </a:rPr>
              <a:t>cost-pass-through picture.</a:t>
            </a:r>
          </a:p>
        </p:txBody>
      </p:sp>
      <p:sp>
        <p:nvSpPr>
          <p:cNvPr id="97" name="TextBox 96"/>
          <p:cNvSpPr txBox="1"/>
          <p:nvPr/>
        </p:nvSpPr>
        <p:spPr>
          <a:xfrm>
            <a:off x="5000625" y="2401990"/>
            <a:ext cx="2540049" cy="186689"/>
          </a:xfrm>
          <a:prstGeom prst="rect">
            <a:avLst/>
          </a:prstGeom>
          <a:noFill/>
        </p:spPr>
        <p:txBody>
          <a:bodyPr wrap="none" lIns="0" rIns="0" tIns="0" bIns="0">
            <a:spAutoFit/>
          </a:bodyPr>
          <a:lstStyle/>
          <a:p>
            <a:r>
              <a:rPr sz="1100" b="0">
                <a:solidFill>
                  <a:srgbClr val="2E2E2E"/>
                </a:solidFill>
                <a:latin typeface="Calibri"/>
              </a:rPr>
              <a:t>▪ Supply is dispersed: 'North America' holds</a:t>
            </a:r>
          </a:p>
        </p:txBody>
      </p:sp>
      <p:pic>
        <p:nvPicPr>
          <p:cNvPr id="98" name="Picture 97" descr="lock.png"/>
          <p:cNvPicPr>
            <a:picLocks noChangeAspect="1"/>
          </p:cNvPicPr>
          <p:nvPr/>
        </p:nvPicPr>
        <p:blipFill>
          <a:blip r:embed="rId4"/>
          <a:stretch>
            <a:fillRect/>
          </a:stretch>
        </p:blipFill>
        <p:spPr>
          <a:xfrm>
            <a:off x="7488726" y="2392211"/>
            <a:ext cx="128699" cy="187198"/>
          </a:xfrm>
          <a:prstGeom prst="rect">
            <a:avLst/>
          </a:prstGeom>
        </p:spPr>
      </p:pic>
      <p:sp>
        <p:nvSpPr>
          <p:cNvPr id="99" name="TextBox 98"/>
          <p:cNvSpPr txBox="1"/>
          <p:nvPr/>
        </p:nvSpPr>
        <p:spPr>
          <a:xfrm>
            <a:off x="7656222" y="2401990"/>
            <a:ext cx="1821358" cy="186689"/>
          </a:xfrm>
          <a:prstGeom prst="rect">
            <a:avLst/>
          </a:prstGeom>
          <a:noFill/>
        </p:spPr>
        <p:txBody>
          <a:bodyPr wrap="none" lIns="0" rIns="0" tIns="0" bIns="0">
            <a:spAutoFit/>
          </a:bodyPr>
          <a:lstStyle/>
          <a:p>
            <a:r>
              <a:rPr sz="1100" b="0">
                <a:solidFill>
                  <a:srgbClr val="2E2E2E"/>
                </a:solidFill>
                <a:latin typeface="Calibri"/>
              </a:rPr>
              <a:t>of 2036 value across 6 regions.</a:t>
            </a:r>
          </a:p>
        </p:txBody>
      </p:sp>
      <p:sp>
        <p:nvSpPr>
          <p:cNvPr id="100" name="TextBox 99"/>
          <p:cNvSpPr txBox="1"/>
          <p:nvPr/>
        </p:nvSpPr>
        <p:spPr>
          <a:xfrm>
            <a:off x="5000625" y="3132138"/>
            <a:ext cx="2931591" cy="186689"/>
          </a:xfrm>
          <a:prstGeom prst="rect">
            <a:avLst/>
          </a:prstGeom>
          <a:noFill/>
        </p:spPr>
        <p:txBody>
          <a:bodyPr wrap="none" lIns="0" rIns="0" tIns="0" bIns="0">
            <a:spAutoFit/>
          </a:bodyPr>
          <a:lstStyle/>
          <a:p>
            <a:r>
              <a:rPr sz="1100" b="0">
                <a:solidFill>
                  <a:srgbClr val="2E2E2E"/>
                </a:solidFill>
                <a:latin typeface="Calibri"/>
              </a:rPr>
              <a:t>▪ Capacity added between 2026 and 2036 is worth</a:t>
            </a:r>
          </a:p>
        </p:txBody>
      </p:sp>
      <p:pic>
        <p:nvPicPr>
          <p:cNvPr id="101" name="Picture 100" descr="lock.png"/>
          <p:cNvPicPr>
            <a:picLocks noChangeAspect="1"/>
          </p:cNvPicPr>
          <p:nvPr/>
        </p:nvPicPr>
        <p:blipFill>
          <a:blip r:embed="rId4"/>
          <a:stretch>
            <a:fillRect/>
          </a:stretch>
        </p:blipFill>
        <p:spPr>
          <a:xfrm>
            <a:off x="7880268" y="3122359"/>
            <a:ext cx="128699" cy="187198"/>
          </a:xfrm>
          <a:prstGeom prst="rect">
            <a:avLst/>
          </a:prstGeom>
        </p:spPr>
      </p:pic>
      <p:sp>
        <p:nvSpPr>
          <p:cNvPr id="102" name="TextBox 101"/>
          <p:cNvSpPr txBox="1"/>
          <p:nvPr/>
        </p:nvSpPr>
        <p:spPr>
          <a:xfrm>
            <a:off x="8047764" y="3132138"/>
            <a:ext cx="659010" cy="186689"/>
          </a:xfrm>
          <a:prstGeom prst="rect">
            <a:avLst/>
          </a:prstGeom>
          <a:noFill/>
        </p:spPr>
        <p:txBody>
          <a:bodyPr wrap="none" lIns="0" rIns="0" tIns="0" bIns="0">
            <a:spAutoFit/>
          </a:bodyPr>
          <a:lstStyle/>
          <a:p>
            <a:r>
              <a:rPr sz="1100" b="0">
                <a:solidFill>
                  <a:srgbClr val="2E2E2E"/>
                </a:solidFill>
                <a:latin typeface="Calibri"/>
              </a:rPr>
              <a:t>US$ Mn, a</a:t>
            </a:r>
          </a:p>
        </p:txBody>
      </p:sp>
      <p:pic>
        <p:nvPicPr>
          <p:cNvPr id="103" name="Picture 102" descr="lock.png"/>
          <p:cNvPicPr>
            <a:picLocks noChangeAspect="1"/>
          </p:cNvPicPr>
          <p:nvPr/>
        </p:nvPicPr>
        <p:blipFill>
          <a:blip r:embed="rId4"/>
          <a:stretch>
            <a:fillRect/>
          </a:stretch>
        </p:blipFill>
        <p:spPr>
          <a:xfrm>
            <a:off x="8654826" y="3122359"/>
            <a:ext cx="128699" cy="187198"/>
          </a:xfrm>
          <a:prstGeom prst="rect">
            <a:avLst/>
          </a:prstGeom>
        </p:spPr>
      </p:pic>
      <p:sp>
        <p:nvSpPr>
          <p:cNvPr id="104" name="TextBox 103"/>
          <p:cNvSpPr txBox="1"/>
          <p:nvPr/>
        </p:nvSpPr>
        <p:spPr>
          <a:xfrm>
            <a:off x="8822322" y="3132138"/>
            <a:ext cx="1801986" cy="186689"/>
          </a:xfrm>
          <a:prstGeom prst="rect">
            <a:avLst/>
          </a:prstGeom>
          <a:noFill/>
        </p:spPr>
        <p:txBody>
          <a:bodyPr wrap="none" lIns="0" rIns="0" tIns="0" bIns="0">
            <a:spAutoFit/>
          </a:bodyPr>
          <a:lstStyle/>
          <a:p>
            <a:r>
              <a:rPr sz="1100" b="0">
                <a:solidFill>
                  <a:srgbClr val="2E2E2E"/>
                </a:solidFill>
                <a:latin typeface="Calibri"/>
              </a:rPr>
              <a:t>× expansion on the 2026 base.</a:t>
            </a:r>
          </a:p>
        </p:txBody>
      </p:sp>
    </p:spTree>
  </p:cSld>
  <p:clrMapOvr>
    <a:masterClrMapping/>
  </p:clrMapOvr>
</p:sld>
</file>

<file path=ppt/slides/slide27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Global Driving Factors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demand-side factors scored by their impact on the global market</a:t>
            </a:r>
          </a:p>
        </p:txBody>
      </p:sp>
      <p:sp>
        <p:nvSpPr>
          <p:cNvPr id="10" name="Oval 9"/>
          <p:cNvSpPr/>
          <p:nvPr/>
        </p:nvSpPr>
        <p:spPr>
          <a:xfrm>
            <a:off x="5048250" y="1609633"/>
            <a:ext cx="4762500" cy="4563424"/>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Oval 10"/>
          <p:cNvSpPr/>
          <p:nvPr/>
        </p:nvSpPr>
        <p:spPr>
          <a:xfrm>
            <a:off x="5286375" y="1837804"/>
            <a:ext cx="4286250" cy="410708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Oval 11"/>
          <p:cNvSpPr/>
          <p:nvPr/>
        </p:nvSpPr>
        <p:spPr>
          <a:xfrm>
            <a:off x="5524500" y="2065976"/>
            <a:ext cx="3810000" cy="365074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Oval 12"/>
          <p:cNvSpPr/>
          <p:nvPr/>
        </p:nvSpPr>
        <p:spPr>
          <a:xfrm>
            <a:off x="5762625" y="2294147"/>
            <a:ext cx="3333750" cy="319439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6000750" y="2522318"/>
            <a:ext cx="2857500" cy="273805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238875" y="2750489"/>
            <a:ext cx="2381250" cy="228171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477000" y="2978660"/>
            <a:ext cx="1905000" cy="1825370"/>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Oval 16"/>
          <p:cNvSpPr/>
          <p:nvPr/>
        </p:nvSpPr>
        <p:spPr>
          <a:xfrm>
            <a:off x="6715125" y="3206832"/>
            <a:ext cx="1428750" cy="1369027"/>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6953250" y="3435003"/>
            <a:ext cx="952500" cy="912685"/>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Oval 18"/>
          <p:cNvSpPr/>
          <p:nvPr/>
        </p:nvSpPr>
        <p:spPr>
          <a:xfrm>
            <a:off x="7191375" y="3663174"/>
            <a:ext cx="476250" cy="456342"/>
          </a:xfrm>
          <a:prstGeom prst="ellipse">
            <a:avLst/>
          </a:prstGeom>
          <a:solidFill>
            <a:srgbClr val="E2F0CF"/>
          </a:solidFill>
          <a:ln w="12700">
            <a:solidFill>
              <a:srgbClr val="C5DFA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0" name="Connector 19"/>
          <p:cNvCxnSpPr/>
          <p:nvPr/>
        </p:nvCxnSpPr>
        <p:spPr>
          <a:xfrm flipV="1">
            <a:off x="7429500" y="1609633"/>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flipV="1">
            <a:off x="7429500" y="1835594"/>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flipV="1">
            <a:off x="7429500" y="2468721"/>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flipV="1">
            <a:off x="7429500" y="3383617"/>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7429500" y="3891345"/>
            <a:ext cx="2321547" cy="507729"/>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7429500" y="3891345"/>
            <a:ext cx="1861736" cy="1422624"/>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7429500" y="3891345"/>
            <a:ext cx="1033186" cy="205575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7429500" y="3891345"/>
            <a:ext cx="0" cy="2281712"/>
          </a:xfrm>
          <a:prstGeom prst="line">
            <a:avLst/>
          </a:prstGeom>
          <a:ln w="9525">
            <a:solidFill>
              <a:srgbClr val="C5DFA4"/>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7429500" y="2266766"/>
            <a:ext cx="2324100" cy="3705501"/>
          </a:xfrm>
          <a:custGeom>
            <a:avLst/>
            <a:gdLst/>
            <a:ahLst/>
            <a:cxnLst/>
            <a:rect l="l" t="t" r="r" b="b"/>
            <a:pathLst>
              <a:path w="244" h="406">
                <a:moveTo>
                  <a:pt x="0" y="0"/>
                </a:moveTo>
                <a:lnTo>
                  <a:pt x="65" y="43"/>
                </a:lnTo>
                <a:lnTo>
                  <a:pt x="122" y="81"/>
                </a:lnTo>
                <a:lnTo>
                  <a:pt x="97" y="156"/>
                </a:lnTo>
                <a:lnTo>
                  <a:pt x="244" y="234"/>
                </a:lnTo>
                <a:lnTo>
                  <a:pt x="100" y="258"/>
                </a:lnTo>
                <a:lnTo>
                  <a:pt x="108" y="403"/>
                </a:lnTo>
                <a:lnTo>
                  <a:pt x="0" y="406"/>
                </a:lnTo>
              </a:path>
            </a:pathLst>
          </a:custGeom>
          <a:noFill/>
          <a:ln w="31750">
            <a:solidFill>
              <a:srgbClr val="0F5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7381875" y="1563999"/>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7505700" y="128106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1" name="Oval 30"/>
          <p:cNvSpPr/>
          <p:nvPr/>
        </p:nvSpPr>
        <p:spPr>
          <a:xfrm>
            <a:off x="8415061" y="178996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8520544" y="151968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3" name="Oval 32"/>
          <p:cNvSpPr/>
          <p:nvPr/>
        </p:nvSpPr>
        <p:spPr>
          <a:xfrm>
            <a:off x="9243611" y="2423087"/>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9395493" y="2270405"/>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5" name="Oval 34"/>
          <p:cNvSpPr/>
          <p:nvPr/>
        </p:nvSpPr>
        <p:spPr>
          <a:xfrm>
            <a:off x="9703422" y="3337982"/>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9881054" y="3236535"/>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7" name="Oval 36"/>
          <p:cNvSpPr/>
          <p:nvPr/>
        </p:nvSpPr>
        <p:spPr>
          <a:xfrm>
            <a:off x="9703422" y="4353440"/>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9881054" y="4308858"/>
            <a:ext cx="2168071"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39" name="Oval 38"/>
          <p:cNvSpPr/>
          <p:nvPr/>
        </p:nvSpPr>
        <p:spPr>
          <a:xfrm>
            <a:off x="9243611" y="5268335"/>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9395493" y="5274987"/>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1" name="Oval 40"/>
          <p:cNvSpPr/>
          <p:nvPr/>
        </p:nvSpPr>
        <p:spPr>
          <a:xfrm>
            <a:off x="8415061" y="590146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520544" y="6025711"/>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3" name="Oval 42"/>
          <p:cNvSpPr/>
          <p:nvPr/>
        </p:nvSpPr>
        <p:spPr>
          <a:xfrm>
            <a:off x="7381875" y="6127423"/>
            <a:ext cx="95250" cy="91268"/>
          </a:xfrm>
          <a:prstGeom prst="ellipse">
            <a:avLst/>
          </a:prstGeom>
          <a:solidFill>
            <a:srgbClr val="8CC152"/>
          </a:solidFill>
          <a:ln w="12700">
            <a:solidFill>
              <a:srgbClr val="8CC1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7505700" y="6264326"/>
            <a:ext cx="2286000" cy="237298"/>
          </a:xfrm>
          <a:prstGeom prst="rect">
            <a:avLst/>
          </a:prstGeom>
          <a:noFill/>
        </p:spPr>
        <p:txBody>
          <a:bodyPr wrap="square" lIns="28575" rIns="28575" tIns="9525" bIns="9525" anchor="ctr">
            <a:spAutoFit/>
          </a:bodyPr>
          <a:lstStyle/>
          <a:p>
            <a:pPr algn="l"/>
            <a:r>
              <a:rPr sz="1100" b="0">
                <a:solidFill>
                  <a:srgbClr val="2E2E2E"/>
                </a:solidFill>
                <a:latin typeface="Calibri"/>
              </a:rPr>
              <a:t/>
            </a:r>
          </a:p>
        </p:txBody>
      </p:sp>
      <p:sp>
        <p:nvSpPr>
          <p:cNvPr id="45" name="Rectangle 44"/>
          <p:cNvSpPr/>
          <p:nvPr/>
        </p:nvSpPr>
        <p:spPr>
          <a:xfrm>
            <a:off x="0" y="970754"/>
            <a:ext cx="7429500" cy="5640393"/>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MI Scale 0"/>
          <p:cNvSpPr txBox="1"/>
          <p:nvPr/>
        </p:nvSpPr>
        <p:spPr>
          <a:xfrm>
            <a:off x="7486650" y="3818331"/>
            <a:ext cx="419100" cy="146030"/>
          </a:xfrm>
          <a:prstGeom prst="rect">
            <a:avLst/>
          </a:prstGeom>
          <a:noFill/>
        </p:spPr>
        <p:txBody>
          <a:bodyPr wrap="none" lIns="0" rIns="0" tIns="0" bIns="0" anchor="ctr">
            <a:spAutoFit/>
          </a:bodyPr>
          <a:lstStyle/>
          <a:p>
            <a:pPr algn="l"/>
            <a:r>
              <a:rPr sz="1100" b="0">
                <a:solidFill>
                  <a:srgbClr val="6C7A89"/>
                </a:solidFill>
                <a:latin typeface="Calibri"/>
              </a:rPr>
              <a:t>0%</a:t>
            </a:r>
          </a:p>
        </p:txBody>
      </p:sp>
      <p:sp>
        <p:nvSpPr>
          <p:cNvPr id="47" name="FMI Scale 1"/>
          <p:cNvSpPr txBox="1"/>
          <p:nvPr/>
        </p:nvSpPr>
        <p:spPr>
          <a:xfrm>
            <a:off x="7486650" y="3590159"/>
            <a:ext cx="419100" cy="146030"/>
          </a:xfrm>
          <a:prstGeom prst="rect">
            <a:avLst/>
          </a:prstGeom>
          <a:noFill/>
        </p:spPr>
        <p:txBody>
          <a:bodyPr wrap="none" lIns="0" rIns="0" tIns="0" bIns="0" anchor="ctr">
            <a:spAutoFit/>
          </a:bodyPr>
          <a:lstStyle/>
          <a:p>
            <a:pPr algn="l"/>
            <a:r>
              <a:rPr sz="1100" b="0">
                <a:solidFill>
                  <a:srgbClr val="6C7A89"/>
                </a:solidFill>
                <a:latin typeface="Calibri"/>
              </a:rPr>
              <a:t>10%</a:t>
            </a:r>
          </a:p>
        </p:txBody>
      </p:sp>
      <p:sp>
        <p:nvSpPr>
          <p:cNvPr id="48" name="FMI Scale 2"/>
          <p:cNvSpPr txBox="1"/>
          <p:nvPr/>
        </p:nvSpPr>
        <p:spPr>
          <a:xfrm>
            <a:off x="7486650" y="3361988"/>
            <a:ext cx="419100" cy="146030"/>
          </a:xfrm>
          <a:prstGeom prst="rect">
            <a:avLst/>
          </a:prstGeom>
          <a:noFill/>
        </p:spPr>
        <p:txBody>
          <a:bodyPr wrap="none" lIns="0" rIns="0" tIns="0" bIns="0" anchor="ctr">
            <a:spAutoFit/>
          </a:bodyPr>
          <a:lstStyle/>
          <a:p>
            <a:pPr algn="l"/>
            <a:r>
              <a:rPr sz="1100" b="0">
                <a:solidFill>
                  <a:srgbClr val="6C7A89"/>
                </a:solidFill>
                <a:latin typeface="Calibri"/>
              </a:rPr>
              <a:t>20%</a:t>
            </a:r>
          </a:p>
        </p:txBody>
      </p:sp>
      <p:sp>
        <p:nvSpPr>
          <p:cNvPr id="49" name="FMI Scale 3"/>
          <p:cNvSpPr txBox="1"/>
          <p:nvPr/>
        </p:nvSpPr>
        <p:spPr>
          <a:xfrm>
            <a:off x="7486650" y="3133817"/>
            <a:ext cx="419100" cy="146030"/>
          </a:xfrm>
          <a:prstGeom prst="rect">
            <a:avLst/>
          </a:prstGeom>
          <a:noFill/>
        </p:spPr>
        <p:txBody>
          <a:bodyPr wrap="none" lIns="0" rIns="0" tIns="0" bIns="0" anchor="ctr">
            <a:spAutoFit/>
          </a:bodyPr>
          <a:lstStyle/>
          <a:p>
            <a:pPr algn="l"/>
            <a:r>
              <a:rPr sz="1100" b="0">
                <a:solidFill>
                  <a:srgbClr val="6C7A89"/>
                </a:solidFill>
                <a:latin typeface="Calibri"/>
              </a:rPr>
              <a:t>30%</a:t>
            </a:r>
          </a:p>
        </p:txBody>
      </p:sp>
      <p:sp>
        <p:nvSpPr>
          <p:cNvPr id="50" name="FMI Scale 4"/>
          <p:cNvSpPr txBox="1"/>
          <p:nvPr/>
        </p:nvSpPr>
        <p:spPr>
          <a:xfrm>
            <a:off x="7486650" y="2905646"/>
            <a:ext cx="419100" cy="146030"/>
          </a:xfrm>
          <a:prstGeom prst="rect">
            <a:avLst/>
          </a:prstGeom>
          <a:noFill/>
        </p:spPr>
        <p:txBody>
          <a:bodyPr wrap="none" lIns="0" rIns="0" tIns="0" bIns="0" anchor="ctr">
            <a:spAutoFit/>
          </a:bodyPr>
          <a:lstStyle/>
          <a:p>
            <a:pPr algn="l"/>
            <a:r>
              <a:rPr sz="1100" b="0">
                <a:solidFill>
                  <a:srgbClr val="6C7A89"/>
                </a:solidFill>
                <a:latin typeface="Calibri"/>
              </a:rPr>
              <a:t>40%</a:t>
            </a:r>
          </a:p>
        </p:txBody>
      </p:sp>
      <p:sp>
        <p:nvSpPr>
          <p:cNvPr id="51" name="FMI Scale 5"/>
          <p:cNvSpPr txBox="1"/>
          <p:nvPr/>
        </p:nvSpPr>
        <p:spPr>
          <a:xfrm>
            <a:off x="7486650" y="2677474"/>
            <a:ext cx="419100" cy="146030"/>
          </a:xfrm>
          <a:prstGeom prst="rect">
            <a:avLst/>
          </a:prstGeom>
          <a:noFill/>
        </p:spPr>
        <p:txBody>
          <a:bodyPr wrap="none" lIns="0" rIns="0" tIns="0" bIns="0" anchor="ctr">
            <a:spAutoFit/>
          </a:bodyPr>
          <a:lstStyle/>
          <a:p>
            <a:pPr algn="l"/>
            <a:r>
              <a:rPr sz="1100" b="0">
                <a:solidFill>
                  <a:srgbClr val="6C7A89"/>
                </a:solidFill>
                <a:latin typeface="Calibri"/>
              </a:rPr>
              <a:t>50%</a:t>
            </a:r>
          </a:p>
        </p:txBody>
      </p:sp>
      <p:sp>
        <p:nvSpPr>
          <p:cNvPr id="52" name="FMI Scale 6"/>
          <p:cNvSpPr txBox="1"/>
          <p:nvPr/>
        </p:nvSpPr>
        <p:spPr>
          <a:xfrm>
            <a:off x="7486650" y="2449303"/>
            <a:ext cx="419100" cy="146030"/>
          </a:xfrm>
          <a:prstGeom prst="rect">
            <a:avLst/>
          </a:prstGeom>
          <a:noFill/>
        </p:spPr>
        <p:txBody>
          <a:bodyPr wrap="none" lIns="0" rIns="0" tIns="0" bIns="0" anchor="ctr">
            <a:spAutoFit/>
          </a:bodyPr>
          <a:lstStyle/>
          <a:p>
            <a:pPr algn="l"/>
            <a:r>
              <a:rPr sz="1100" b="0">
                <a:solidFill>
                  <a:srgbClr val="6C7A89"/>
                </a:solidFill>
                <a:latin typeface="Calibri"/>
              </a:rPr>
              <a:t>60%</a:t>
            </a:r>
          </a:p>
        </p:txBody>
      </p:sp>
      <p:sp>
        <p:nvSpPr>
          <p:cNvPr id="53" name="FMI Scale 7"/>
          <p:cNvSpPr txBox="1"/>
          <p:nvPr/>
        </p:nvSpPr>
        <p:spPr>
          <a:xfrm>
            <a:off x="7486650" y="2221132"/>
            <a:ext cx="419100" cy="146030"/>
          </a:xfrm>
          <a:prstGeom prst="rect">
            <a:avLst/>
          </a:prstGeom>
          <a:noFill/>
        </p:spPr>
        <p:txBody>
          <a:bodyPr wrap="none" lIns="0" rIns="0" tIns="0" bIns="0" anchor="ctr">
            <a:spAutoFit/>
          </a:bodyPr>
          <a:lstStyle/>
          <a:p>
            <a:pPr algn="l"/>
            <a:r>
              <a:rPr sz="1100" b="0">
                <a:solidFill>
                  <a:srgbClr val="6C7A89"/>
                </a:solidFill>
                <a:latin typeface="Calibri"/>
              </a:rPr>
              <a:t>70%</a:t>
            </a:r>
          </a:p>
        </p:txBody>
      </p:sp>
      <p:sp>
        <p:nvSpPr>
          <p:cNvPr id="54" name="FMI Scale 8"/>
          <p:cNvSpPr txBox="1"/>
          <p:nvPr/>
        </p:nvSpPr>
        <p:spPr>
          <a:xfrm>
            <a:off x="7486650" y="1992961"/>
            <a:ext cx="419100" cy="146030"/>
          </a:xfrm>
          <a:prstGeom prst="rect">
            <a:avLst/>
          </a:prstGeom>
          <a:noFill/>
        </p:spPr>
        <p:txBody>
          <a:bodyPr wrap="none" lIns="0" rIns="0" tIns="0" bIns="0" anchor="ctr">
            <a:spAutoFit/>
          </a:bodyPr>
          <a:lstStyle/>
          <a:p>
            <a:pPr algn="l"/>
            <a:r>
              <a:rPr sz="1100" b="0">
                <a:solidFill>
                  <a:srgbClr val="6C7A89"/>
                </a:solidFill>
                <a:latin typeface="Calibri"/>
              </a:rPr>
              <a:t>80%</a:t>
            </a:r>
          </a:p>
        </p:txBody>
      </p:sp>
      <p:sp>
        <p:nvSpPr>
          <p:cNvPr id="55" name="FMI Scale 9"/>
          <p:cNvSpPr txBox="1"/>
          <p:nvPr/>
        </p:nvSpPr>
        <p:spPr>
          <a:xfrm>
            <a:off x="7486650" y="1764790"/>
            <a:ext cx="419100" cy="146030"/>
          </a:xfrm>
          <a:prstGeom prst="rect">
            <a:avLst/>
          </a:prstGeom>
          <a:noFill/>
        </p:spPr>
        <p:txBody>
          <a:bodyPr wrap="none" lIns="0" rIns="0" tIns="0" bIns="0" anchor="ctr">
            <a:spAutoFit/>
          </a:bodyPr>
          <a:lstStyle/>
          <a:p>
            <a:pPr algn="l"/>
            <a:r>
              <a:rPr sz="1100" b="0">
                <a:solidFill>
                  <a:srgbClr val="6C7A89"/>
                </a:solidFill>
                <a:latin typeface="Calibri"/>
              </a:rPr>
              <a:t>90%</a:t>
            </a:r>
          </a:p>
        </p:txBody>
      </p:sp>
      <p:sp>
        <p:nvSpPr>
          <p:cNvPr id="56" name="FMI Scale 10"/>
          <p:cNvSpPr txBox="1"/>
          <p:nvPr/>
        </p:nvSpPr>
        <p:spPr>
          <a:xfrm>
            <a:off x="7486650" y="1536618"/>
            <a:ext cx="419100" cy="146030"/>
          </a:xfrm>
          <a:prstGeom prst="rect">
            <a:avLst/>
          </a:prstGeom>
          <a:noFill/>
        </p:spPr>
        <p:txBody>
          <a:bodyPr wrap="none" lIns="0" rIns="0" tIns="0" bIns="0" anchor="ctr">
            <a:spAutoFit/>
          </a:bodyPr>
          <a:lstStyle/>
          <a:p>
            <a:pPr algn="l"/>
            <a:r>
              <a:rPr sz="1100" b="0">
                <a:solidFill>
                  <a:srgbClr val="6C7A89"/>
                </a:solidFill>
                <a:latin typeface="Calibri"/>
              </a:rPr>
              <a:t>100%</a:t>
            </a:r>
          </a:p>
        </p:txBody>
      </p:sp>
      <p:cxnSp>
        <p:nvCxnSpPr>
          <p:cNvPr id="57" name="Connector 56"/>
          <p:cNvCxnSpPr/>
          <p:nvPr/>
        </p:nvCxnSpPr>
        <p:spPr>
          <a:xfrm>
            <a:off x="7429500" y="1025515"/>
            <a:ext cx="0" cy="5549124"/>
          </a:xfrm>
          <a:prstGeom prst="line">
            <a:avLst/>
          </a:prstGeom>
          <a:ln w="12700">
            <a:solidFill>
              <a:srgbClr val="D5DBE1"/>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180975" y="1080276"/>
            <a:ext cx="7038975" cy="219044"/>
          </a:xfrm>
          <a:prstGeom prst="rect">
            <a:avLst/>
          </a:prstGeom>
          <a:noFill/>
        </p:spPr>
        <p:txBody>
          <a:bodyPr wrap="square" lIns="28575" rIns="28575" tIns="9525" bIns="9525" anchor="ctr">
            <a:spAutoFit/>
          </a:bodyPr>
          <a:lstStyle/>
          <a:p>
            <a:pPr algn="l"/>
            <a:r>
              <a:rPr sz="1200" b="1">
                <a:solidFill>
                  <a:srgbClr val="0B2E4A"/>
                </a:solidFill>
                <a:latin typeface="Calibri"/>
              </a:rPr>
              <a:t>Demand-side Factors</a:t>
            </a:r>
          </a:p>
        </p:txBody>
      </p:sp>
      <p:cxnSp>
        <p:nvCxnSpPr>
          <p:cNvPr id="59" name="Connector 58"/>
          <p:cNvCxnSpPr/>
          <p:nvPr/>
        </p:nvCxnSpPr>
        <p:spPr>
          <a:xfrm>
            <a:off x="180975" y="1335828"/>
            <a:ext cx="7038975" cy="0"/>
          </a:xfrm>
          <a:prstGeom prst="line">
            <a:avLst/>
          </a:prstGeom>
          <a:ln w="31750">
            <a:solidFill>
              <a:srgbClr val="1F6FB4"/>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80975" y="1427096"/>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1" name="TextBox 60"/>
          <p:cNvSpPr txBox="1"/>
          <p:nvPr/>
        </p:nvSpPr>
        <p:spPr>
          <a:xfrm>
            <a:off x="180975" y="1883439"/>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2" name="TextBox 61"/>
          <p:cNvSpPr txBox="1"/>
          <p:nvPr/>
        </p:nvSpPr>
        <p:spPr>
          <a:xfrm>
            <a:off x="180975" y="2157244"/>
            <a:ext cx="7038975" cy="292059"/>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3" name="TextBox 62"/>
          <p:cNvSpPr txBox="1"/>
          <p:nvPr/>
        </p:nvSpPr>
        <p:spPr>
          <a:xfrm>
            <a:off x="180975" y="2431050"/>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4" name="TextBox 63"/>
          <p:cNvSpPr txBox="1"/>
          <p:nvPr/>
        </p:nvSpPr>
        <p:spPr>
          <a:xfrm>
            <a:off x="180975" y="2887392"/>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65" name="TextBox 64"/>
          <p:cNvSpPr txBox="1"/>
          <p:nvPr/>
        </p:nvSpPr>
        <p:spPr>
          <a:xfrm>
            <a:off x="180975" y="3343734"/>
            <a:ext cx="7038975"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Note: the dynamics framing is indicative factors, impact ratings and narrative are generated from the loaded dataset's own values.</a:t>
            </a:r>
          </a:p>
        </p:txBody>
      </p:sp>
      <p:sp>
        <p:nvSpPr>
          <p:cNvPr id="66" name="TextBox 6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7" name="TextBox 66"/>
          <p:cNvSpPr txBox="1"/>
          <p:nvPr/>
        </p:nvSpPr>
        <p:spPr>
          <a:xfrm>
            <a:off x="7534275" y="1322601"/>
            <a:ext cx="943988" cy="173278"/>
          </a:xfrm>
          <a:prstGeom prst="rect">
            <a:avLst/>
          </a:prstGeom>
          <a:noFill/>
        </p:spPr>
        <p:txBody>
          <a:bodyPr wrap="none" lIns="0" rIns="0" tIns="0" bIns="0">
            <a:spAutoFit/>
          </a:bodyPr>
          <a:lstStyle/>
          <a:p>
            <a:r>
              <a:rPr sz="1011" b="0">
                <a:solidFill>
                  <a:srgbClr val="2E2E2E"/>
                </a:solidFill>
                <a:latin typeface="Calibri"/>
              </a:rPr>
              <a:t>Demand Growth</a:t>
            </a:r>
          </a:p>
        </p:txBody>
      </p:sp>
      <p:pic>
        <p:nvPicPr>
          <p:cNvPr id="68" name="Picture 67" descr="lock.png"/>
          <p:cNvPicPr>
            <a:picLocks noChangeAspect="1"/>
          </p:cNvPicPr>
          <p:nvPr/>
        </p:nvPicPr>
        <p:blipFill>
          <a:blip r:embed="rId4"/>
          <a:stretch>
            <a:fillRect/>
          </a:stretch>
        </p:blipFill>
        <p:spPr>
          <a:xfrm>
            <a:off x="8424374" y="1313604"/>
            <a:ext cx="118403" cy="172222"/>
          </a:xfrm>
          <a:prstGeom prst="rect">
            <a:avLst/>
          </a:prstGeom>
        </p:spPr>
      </p:pic>
      <p:sp>
        <p:nvSpPr>
          <p:cNvPr id="69" name="TextBox 68"/>
          <p:cNvSpPr txBox="1"/>
          <p:nvPr/>
        </p:nvSpPr>
        <p:spPr>
          <a:xfrm>
            <a:off x="8549119" y="1561215"/>
            <a:ext cx="903573" cy="173278"/>
          </a:xfrm>
          <a:prstGeom prst="rect">
            <a:avLst/>
          </a:prstGeom>
          <a:noFill/>
        </p:spPr>
        <p:txBody>
          <a:bodyPr wrap="none" lIns="0" rIns="0" tIns="0" bIns="0">
            <a:spAutoFit/>
          </a:bodyPr>
          <a:lstStyle/>
          <a:p>
            <a:r>
              <a:rPr sz="1011" b="0">
                <a:solidFill>
                  <a:srgbClr val="2E2E2E"/>
                </a:solidFill>
                <a:latin typeface="Calibri"/>
              </a:rPr>
              <a:t>Premiumisation</a:t>
            </a:r>
          </a:p>
        </p:txBody>
      </p:sp>
      <p:pic>
        <p:nvPicPr>
          <p:cNvPr id="70" name="Picture 69" descr="lock.png"/>
          <p:cNvPicPr>
            <a:picLocks noChangeAspect="1"/>
          </p:cNvPicPr>
          <p:nvPr/>
        </p:nvPicPr>
        <p:blipFill>
          <a:blip r:embed="rId4"/>
          <a:stretch>
            <a:fillRect/>
          </a:stretch>
        </p:blipFill>
        <p:spPr>
          <a:xfrm>
            <a:off x="9398803" y="1552218"/>
            <a:ext cx="118403" cy="172222"/>
          </a:xfrm>
          <a:prstGeom prst="rect">
            <a:avLst/>
          </a:prstGeom>
        </p:spPr>
      </p:pic>
      <p:sp>
        <p:nvSpPr>
          <p:cNvPr id="71" name="TextBox 70"/>
          <p:cNvSpPr txBox="1"/>
          <p:nvPr/>
        </p:nvSpPr>
        <p:spPr>
          <a:xfrm>
            <a:off x="9424068" y="2311939"/>
            <a:ext cx="765761" cy="173278"/>
          </a:xfrm>
          <a:prstGeom prst="rect">
            <a:avLst/>
          </a:prstGeom>
          <a:noFill/>
        </p:spPr>
        <p:txBody>
          <a:bodyPr wrap="none" lIns="0" rIns="0" tIns="0" bIns="0">
            <a:spAutoFit/>
          </a:bodyPr>
          <a:lstStyle/>
          <a:p>
            <a:r>
              <a:rPr sz="1011" b="0">
                <a:solidFill>
                  <a:srgbClr val="2E2E2E"/>
                </a:solidFill>
                <a:latin typeface="Calibri"/>
              </a:rPr>
              <a:t>App. Breadth</a:t>
            </a:r>
          </a:p>
        </p:txBody>
      </p:sp>
      <p:pic>
        <p:nvPicPr>
          <p:cNvPr id="72" name="Picture 71" descr="lock.png"/>
          <p:cNvPicPr>
            <a:picLocks noChangeAspect="1"/>
          </p:cNvPicPr>
          <p:nvPr/>
        </p:nvPicPr>
        <p:blipFill>
          <a:blip r:embed="rId4"/>
          <a:stretch>
            <a:fillRect/>
          </a:stretch>
        </p:blipFill>
        <p:spPr>
          <a:xfrm>
            <a:off x="10135940" y="2302942"/>
            <a:ext cx="118403" cy="172222"/>
          </a:xfrm>
          <a:prstGeom prst="rect">
            <a:avLst/>
          </a:prstGeom>
        </p:spPr>
      </p:pic>
      <p:sp>
        <p:nvSpPr>
          <p:cNvPr id="73" name="TextBox 72"/>
          <p:cNvSpPr txBox="1"/>
          <p:nvPr/>
        </p:nvSpPr>
        <p:spPr>
          <a:xfrm>
            <a:off x="9909628" y="3278069"/>
            <a:ext cx="791114" cy="173278"/>
          </a:xfrm>
          <a:prstGeom prst="rect">
            <a:avLst/>
          </a:prstGeom>
          <a:noFill/>
        </p:spPr>
        <p:txBody>
          <a:bodyPr wrap="none" lIns="0" rIns="0" tIns="0" bIns="0">
            <a:spAutoFit/>
          </a:bodyPr>
          <a:lstStyle/>
          <a:p>
            <a:r>
              <a:rPr sz="1011" b="0">
                <a:solidFill>
                  <a:srgbClr val="2E2E2E"/>
                </a:solidFill>
                <a:latin typeface="Calibri"/>
              </a:rPr>
              <a:t>Emerging Pull</a:t>
            </a:r>
          </a:p>
        </p:txBody>
      </p:sp>
      <p:pic>
        <p:nvPicPr>
          <p:cNvPr id="74" name="Picture 73" descr="lock.png"/>
          <p:cNvPicPr>
            <a:picLocks noChangeAspect="1"/>
          </p:cNvPicPr>
          <p:nvPr/>
        </p:nvPicPr>
        <p:blipFill>
          <a:blip r:embed="rId4"/>
          <a:stretch>
            <a:fillRect/>
          </a:stretch>
        </p:blipFill>
        <p:spPr>
          <a:xfrm>
            <a:off x="10646855" y="3269072"/>
            <a:ext cx="118403" cy="172222"/>
          </a:xfrm>
          <a:prstGeom prst="rect">
            <a:avLst/>
          </a:prstGeom>
        </p:spPr>
      </p:pic>
      <p:sp>
        <p:nvSpPr>
          <p:cNvPr id="75" name="TextBox 74"/>
          <p:cNvSpPr txBox="1"/>
          <p:nvPr/>
        </p:nvSpPr>
        <p:spPr>
          <a:xfrm>
            <a:off x="9909628" y="4350392"/>
            <a:ext cx="1135267" cy="173278"/>
          </a:xfrm>
          <a:prstGeom prst="rect">
            <a:avLst/>
          </a:prstGeom>
          <a:noFill/>
        </p:spPr>
        <p:txBody>
          <a:bodyPr wrap="none" lIns="0" rIns="0" tIns="0" bIns="0">
            <a:spAutoFit/>
          </a:bodyPr>
          <a:lstStyle/>
          <a:p>
            <a:r>
              <a:rPr sz="1011" b="0">
                <a:solidFill>
                  <a:srgbClr val="2E2E2E"/>
                </a:solidFill>
                <a:latin typeface="Calibri"/>
              </a:rPr>
              <a:t>Volume Momentum</a:t>
            </a:r>
          </a:p>
        </p:txBody>
      </p:sp>
      <p:pic>
        <p:nvPicPr>
          <p:cNvPr id="76" name="Picture 75" descr="lock.png"/>
          <p:cNvPicPr>
            <a:picLocks noChangeAspect="1"/>
          </p:cNvPicPr>
          <p:nvPr/>
        </p:nvPicPr>
        <p:blipFill>
          <a:blip r:embed="rId4"/>
          <a:stretch>
            <a:fillRect/>
          </a:stretch>
        </p:blipFill>
        <p:spPr>
          <a:xfrm>
            <a:off x="10991008" y="4341395"/>
            <a:ext cx="118403" cy="172222"/>
          </a:xfrm>
          <a:prstGeom prst="rect">
            <a:avLst/>
          </a:prstGeom>
        </p:spPr>
      </p:pic>
      <p:sp>
        <p:nvSpPr>
          <p:cNvPr id="77" name="TextBox 76"/>
          <p:cNvSpPr txBox="1"/>
          <p:nvPr/>
        </p:nvSpPr>
        <p:spPr>
          <a:xfrm>
            <a:off x="9424068" y="5316521"/>
            <a:ext cx="1032097" cy="173278"/>
          </a:xfrm>
          <a:prstGeom prst="rect">
            <a:avLst/>
          </a:prstGeom>
          <a:noFill/>
        </p:spPr>
        <p:txBody>
          <a:bodyPr wrap="none" lIns="0" rIns="0" tIns="0" bIns="0">
            <a:spAutoFit/>
          </a:bodyPr>
          <a:lstStyle/>
          <a:p>
            <a:r>
              <a:rPr sz="1011" b="0">
                <a:solidFill>
                  <a:srgbClr val="2E2E2E"/>
                </a:solidFill>
                <a:latin typeface="Calibri"/>
              </a:rPr>
              <a:t>Category Maturity</a:t>
            </a:r>
          </a:p>
        </p:txBody>
      </p:sp>
      <p:pic>
        <p:nvPicPr>
          <p:cNvPr id="78" name="Picture 77" descr="lock.png"/>
          <p:cNvPicPr>
            <a:picLocks noChangeAspect="1"/>
          </p:cNvPicPr>
          <p:nvPr/>
        </p:nvPicPr>
        <p:blipFill>
          <a:blip r:embed="rId4"/>
          <a:stretch>
            <a:fillRect/>
          </a:stretch>
        </p:blipFill>
        <p:spPr>
          <a:xfrm>
            <a:off x="10402276" y="5307524"/>
            <a:ext cx="118403" cy="172222"/>
          </a:xfrm>
          <a:prstGeom prst="rect">
            <a:avLst/>
          </a:prstGeom>
        </p:spPr>
      </p:pic>
      <p:sp>
        <p:nvSpPr>
          <p:cNvPr id="79" name="TextBox 78"/>
          <p:cNvSpPr txBox="1"/>
          <p:nvPr/>
        </p:nvSpPr>
        <p:spPr>
          <a:xfrm>
            <a:off x="8549119" y="6067245"/>
            <a:ext cx="911857" cy="173278"/>
          </a:xfrm>
          <a:prstGeom prst="rect">
            <a:avLst/>
          </a:prstGeom>
          <a:noFill/>
        </p:spPr>
        <p:txBody>
          <a:bodyPr wrap="none" lIns="0" rIns="0" tIns="0" bIns="0">
            <a:spAutoFit/>
          </a:bodyPr>
          <a:lstStyle/>
          <a:p>
            <a:r>
              <a:rPr sz="1011" b="0">
                <a:solidFill>
                  <a:srgbClr val="2E2E2E"/>
                </a:solidFill>
                <a:latin typeface="Calibri"/>
              </a:rPr>
              <a:t>Adoption Depth</a:t>
            </a:r>
          </a:p>
        </p:txBody>
      </p:sp>
      <p:pic>
        <p:nvPicPr>
          <p:cNvPr id="80" name="Picture 79" descr="lock.png"/>
          <p:cNvPicPr>
            <a:picLocks noChangeAspect="1"/>
          </p:cNvPicPr>
          <p:nvPr/>
        </p:nvPicPr>
        <p:blipFill>
          <a:blip r:embed="rId4"/>
          <a:stretch>
            <a:fillRect/>
          </a:stretch>
        </p:blipFill>
        <p:spPr>
          <a:xfrm>
            <a:off x="9407087" y="6058248"/>
            <a:ext cx="118403" cy="172222"/>
          </a:xfrm>
          <a:prstGeom prst="rect">
            <a:avLst/>
          </a:prstGeom>
        </p:spPr>
      </p:pic>
      <p:sp>
        <p:nvSpPr>
          <p:cNvPr id="81" name="TextBox 80"/>
          <p:cNvSpPr txBox="1"/>
          <p:nvPr/>
        </p:nvSpPr>
        <p:spPr>
          <a:xfrm>
            <a:off x="7534275" y="6305860"/>
            <a:ext cx="955786" cy="173278"/>
          </a:xfrm>
          <a:prstGeom prst="rect">
            <a:avLst/>
          </a:prstGeom>
          <a:noFill/>
        </p:spPr>
        <p:txBody>
          <a:bodyPr wrap="none" lIns="0" rIns="0" tIns="0" bIns="0">
            <a:spAutoFit/>
          </a:bodyPr>
          <a:lstStyle/>
          <a:p>
            <a:r>
              <a:rPr sz="1011" b="0">
                <a:solidFill>
                  <a:srgbClr val="2E2E2E"/>
                </a:solidFill>
                <a:latin typeface="Calibri"/>
              </a:rPr>
              <a:t>Consumer Reach</a:t>
            </a:r>
          </a:p>
        </p:txBody>
      </p:sp>
      <p:pic>
        <p:nvPicPr>
          <p:cNvPr id="82" name="Picture 81" descr="lock.png"/>
          <p:cNvPicPr>
            <a:picLocks noChangeAspect="1"/>
          </p:cNvPicPr>
          <p:nvPr/>
        </p:nvPicPr>
        <p:blipFill>
          <a:blip r:embed="rId4"/>
          <a:stretch>
            <a:fillRect/>
          </a:stretch>
        </p:blipFill>
        <p:spPr>
          <a:xfrm>
            <a:off x="8436172" y="6296863"/>
            <a:ext cx="118403" cy="172222"/>
          </a:xfrm>
          <a:prstGeom prst="rect">
            <a:avLst/>
          </a:prstGeom>
        </p:spPr>
      </p:pic>
      <p:sp>
        <p:nvSpPr>
          <p:cNvPr id="83" name="TextBox 82"/>
          <p:cNvSpPr txBox="1"/>
          <p:nvPr/>
        </p:nvSpPr>
        <p:spPr>
          <a:xfrm>
            <a:off x="209550" y="1496754"/>
            <a:ext cx="3383706" cy="186689"/>
          </a:xfrm>
          <a:prstGeom prst="rect">
            <a:avLst/>
          </a:prstGeom>
          <a:noFill/>
        </p:spPr>
        <p:txBody>
          <a:bodyPr wrap="none" lIns="0" rIns="0" tIns="0" bIns="0">
            <a:spAutoFit/>
          </a:bodyPr>
          <a:lstStyle/>
          <a:p>
            <a:r>
              <a:rPr sz="1100" b="0">
                <a:solidFill>
                  <a:srgbClr val="2E2E2E"/>
                </a:solidFill>
                <a:latin typeface="Calibri"/>
              </a:rPr>
              <a:t>▪ Demand-side conditions are led by Volume Momentum (</a:t>
            </a:r>
          </a:p>
        </p:txBody>
      </p:sp>
      <p:pic>
        <p:nvPicPr>
          <p:cNvPr id="84" name="Picture 83" descr="lock.png"/>
          <p:cNvPicPr>
            <a:picLocks noChangeAspect="1"/>
          </p:cNvPicPr>
          <p:nvPr/>
        </p:nvPicPr>
        <p:blipFill>
          <a:blip r:embed="rId4"/>
          <a:stretch>
            <a:fillRect/>
          </a:stretch>
        </p:blipFill>
        <p:spPr>
          <a:xfrm>
            <a:off x="3541308" y="1486975"/>
            <a:ext cx="128699" cy="187198"/>
          </a:xfrm>
          <a:prstGeom prst="rect">
            <a:avLst/>
          </a:prstGeom>
        </p:spPr>
      </p:pic>
      <p:sp>
        <p:nvSpPr>
          <p:cNvPr id="85" name="TextBox 84"/>
          <p:cNvSpPr txBox="1"/>
          <p:nvPr/>
        </p:nvSpPr>
        <p:spPr>
          <a:xfrm>
            <a:off x="3708804" y="1496754"/>
            <a:ext cx="1363240" cy="186689"/>
          </a:xfrm>
          <a:prstGeom prst="rect">
            <a:avLst/>
          </a:prstGeom>
          <a:noFill/>
        </p:spPr>
        <p:txBody>
          <a:bodyPr wrap="none" lIns="0" rIns="0" tIns="0" bIns="0">
            <a:spAutoFit/>
          </a:bodyPr>
          <a:lstStyle/>
          <a:p>
            <a:r>
              <a:rPr sz="1100" b="0">
                <a:solidFill>
                  <a:srgbClr val="2E2E2E"/>
                </a:solidFill>
                <a:latin typeface="Calibri"/>
              </a:rPr>
              <a:t>/10), Adoption Depth (</a:t>
            </a:r>
          </a:p>
        </p:txBody>
      </p:sp>
      <p:pic>
        <p:nvPicPr>
          <p:cNvPr id="86" name="Picture 85" descr="lock.png"/>
          <p:cNvPicPr>
            <a:picLocks noChangeAspect="1"/>
          </p:cNvPicPr>
          <p:nvPr/>
        </p:nvPicPr>
        <p:blipFill>
          <a:blip r:embed="rId4"/>
          <a:stretch>
            <a:fillRect/>
          </a:stretch>
        </p:blipFill>
        <p:spPr>
          <a:xfrm>
            <a:off x="5020096" y="1486975"/>
            <a:ext cx="128699" cy="187198"/>
          </a:xfrm>
          <a:prstGeom prst="rect">
            <a:avLst/>
          </a:prstGeom>
        </p:spPr>
      </p:pic>
      <p:sp>
        <p:nvSpPr>
          <p:cNvPr id="87" name="TextBox 86"/>
          <p:cNvSpPr txBox="1"/>
          <p:nvPr/>
        </p:nvSpPr>
        <p:spPr>
          <a:xfrm>
            <a:off x="5187592" y="1496754"/>
            <a:ext cx="1410989" cy="186689"/>
          </a:xfrm>
          <a:prstGeom prst="rect">
            <a:avLst/>
          </a:prstGeom>
          <a:noFill/>
        </p:spPr>
        <p:txBody>
          <a:bodyPr wrap="none" lIns="0" rIns="0" tIns="0" bIns="0">
            <a:spAutoFit/>
          </a:bodyPr>
          <a:lstStyle/>
          <a:p>
            <a:r>
              <a:rPr sz="1100" b="0">
                <a:solidFill>
                  <a:srgbClr val="2E2E2E"/>
                </a:solidFill>
                <a:latin typeface="Calibri"/>
              </a:rPr>
              <a:t>/10), Consumer Reach (</a:t>
            </a:r>
          </a:p>
        </p:txBody>
      </p:sp>
      <p:pic>
        <p:nvPicPr>
          <p:cNvPr id="88" name="Picture 87" descr="lock.png"/>
          <p:cNvPicPr>
            <a:picLocks noChangeAspect="1"/>
          </p:cNvPicPr>
          <p:nvPr/>
        </p:nvPicPr>
        <p:blipFill>
          <a:blip r:embed="rId4"/>
          <a:stretch>
            <a:fillRect/>
          </a:stretch>
        </p:blipFill>
        <p:spPr>
          <a:xfrm>
            <a:off x="6546633" y="1486975"/>
            <a:ext cx="128699" cy="187198"/>
          </a:xfrm>
          <a:prstGeom prst="rect">
            <a:avLst/>
          </a:prstGeom>
        </p:spPr>
      </p:pic>
      <p:sp>
        <p:nvSpPr>
          <p:cNvPr id="89" name="TextBox 88"/>
          <p:cNvSpPr txBox="1"/>
          <p:nvPr/>
        </p:nvSpPr>
        <p:spPr>
          <a:xfrm>
            <a:off x="6714129" y="1496754"/>
            <a:ext cx="314399" cy="186689"/>
          </a:xfrm>
          <a:prstGeom prst="rect">
            <a:avLst/>
          </a:prstGeom>
          <a:noFill/>
        </p:spPr>
        <p:txBody>
          <a:bodyPr wrap="none" lIns="0" rIns="0" tIns="0" bIns="0">
            <a:spAutoFit/>
          </a:bodyPr>
          <a:lstStyle/>
          <a:p>
            <a:r>
              <a:rPr sz="1100" b="0">
                <a:solidFill>
                  <a:srgbClr val="2E2E2E"/>
                </a:solidFill>
                <a:latin typeface="Calibri"/>
              </a:rPr>
              <a:t>/10)</a:t>
            </a:r>
          </a:p>
        </p:txBody>
      </p:sp>
      <p:sp>
        <p:nvSpPr>
          <p:cNvPr id="90" name="TextBox 89"/>
          <p:cNvSpPr txBox="1"/>
          <p:nvPr/>
        </p:nvSpPr>
        <p:spPr>
          <a:xfrm>
            <a:off x="209550" y="1664394"/>
            <a:ext cx="3041277" cy="186689"/>
          </a:xfrm>
          <a:prstGeom prst="rect">
            <a:avLst/>
          </a:prstGeom>
          <a:noFill/>
        </p:spPr>
        <p:txBody>
          <a:bodyPr wrap="none" lIns="0" rIns="0" tIns="0" bIns="0">
            <a:spAutoFit/>
          </a:bodyPr>
          <a:lstStyle/>
          <a:p>
            <a:r>
              <a:rPr sz="1100" b="0">
                <a:solidFill>
                  <a:srgbClr val="2E2E2E"/>
                </a:solidFill>
                <a:latin typeface="Calibri"/>
              </a:rPr>
              <a:t>on a 0-10 scale scored from the global dataset itself.</a:t>
            </a:r>
          </a:p>
        </p:txBody>
      </p:sp>
      <p:sp>
        <p:nvSpPr>
          <p:cNvPr id="91" name="TextBox 90"/>
          <p:cNvSpPr txBox="1"/>
          <p:nvPr/>
        </p:nvSpPr>
        <p:spPr>
          <a:xfrm>
            <a:off x="209550" y="1945648"/>
            <a:ext cx="998438" cy="186689"/>
          </a:xfrm>
          <a:prstGeom prst="rect">
            <a:avLst/>
          </a:prstGeom>
          <a:noFill/>
        </p:spPr>
        <p:txBody>
          <a:bodyPr wrap="none" lIns="0" rIns="0" tIns="0" bIns="0">
            <a:spAutoFit/>
          </a:bodyPr>
          <a:lstStyle/>
          <a:p>
            <a:r>
              <a:rPr sz="1100" b="0">
                <a:solidFill>
                  <a:srgbClr val="2E2E2E"/>
                </a:solidFill>
                <a:latin typeface="Calibri"/>
              </a:rPr>
              <a:t>▪ Value grows at</a:t>
            </a:r>
          </a:p>
        </p:txBody>
      </p:sp>
      <p:pic>
        <p:nvPicPr>
          <p:cNvPr id="92" name="Picture 91" descr="lock.png"/>
          <p:cNvPicPr>
            <a:picLocks noChangeAspect="1"/>
          </p:cNvPicPr>
          <p:nvPr/>
        </p:nvPicPr>
        <p:blipFill>
          <a:blip r:embed="rId4"/>
          <a:stretch>
            <a:fillRect/>
          </a:stretch>
        </p:blipFill>
        <p:spPr>
          <a:xfrm>
            <a:off x="1156039" y="1935869"/>
            <a:ext cx="128699" cy="187198"/>
          </a:xfrm>
          <a:prstGeom prst="rect">
            <a:avLst/>
          </a:prstGeom>
        </p:spPr>
      </p:pic>
      <p:sp>
        <p:nvSpPr>
          <p:cNvPr id="93" name="TextBox 92"/>
          <p:cNvSpPr txBox="1"/>
          <p:nvPr/>
        </p:nvSpPr>
        <p:spPr>
          <a:xfrm>
            <a:off x="1323535" y="1945648"/>
            <a:ext cx="1083295" cy="186689"/>
          </a:xfrm>
          <a:prstGeom prst="rect">
            <a:avLst/>
          </a:prstGeom>
          <a:noFill/>
        </p:spPr>
        <p:txBody>
          <a:bodyPr wrap="none" lIns="0" rIns="0" tIns="0" bIns="0">
            <a:spAutoFit/>
          </a:bodyPr>
          <a:lstStyle/>
          <a:p>
            <a:r>
              <a:rPr sz="1100" b="0">
                <a:solidFill>
                  <a:srgbClr val="2E2E2E"/>
                </a:solidFill>
                <a:latin typeface="Calibri"/>
              </a:rPr>
              <a:t>against volume at</a:t>
            </a:r>
          </a:p>
        </p:txBody>
      </p:sp>
      <p:pic>
        <p:nvPicPr>
          <p:cNvPr id="94" name="Picture 93" descr="lock.png"/>
          <p:cNvPicPr>
            <a:picLocks noChangeAspect="1"/>
          </p:cNvPicPr>
          <p:nvPr/>
        </p:nvPicPr>
        <p:blipFill>
          <a:blip r:embed="rId4"/>
          <a:stretch>
            <a:fillRect/>
          </a:stretch>
        </p:blipFill>
        <p:spPr>
          <a:xfrm>
            <a:off x="2354882" y="1935869"/>
            <a:ext cx="128699" cy="187198"/>
          </a:xfrm>
          <a:prstGeom prst="rect">
            <a:avLst/>
          </a:prstGeom>
        </p:spPr>
      </p:pic>
      <p:sp>
        <p:nvSpPr>
          <p:cNvPr id="95" name="TextBox 94"/>
          <p:cNvSpPr txBox="1"/>
          <p:nvPr/>
        </p:nvSpPr>
        <p:spPr>
          <a:xfrm>
            <a:off x="2522378" y="1945648"/>
            <a:ext cx="2230090" cy="186689"/>
          </a:xfrm>
          <a:prstGeom prst="rect">
            <a:avLst/>
          </a:prstGeom>
          <a:noFill/>
        </p:spPr>
        <p:txBody>
          <a:bodyPr wrap="none" lIns="0" rIns="0" tIns="0" bIns="0">
            <a:spAutoFit/>
          </a:bodyPr>
          <a:lstStyle/>
          <a:p>
            <a:r>
              <a:rPr sz="1100" b="0">
                <a:solidFill>
                  <a:srgbClr val="2E2E2E"/>
                </a:solidFill>
                <a:latin typeface="Calibri"/>
              </a:rPr>
              <a:t>a premiumising market through 2036.</a:t>
            </a:r>
          </a:p>
        </p:txBody>
      </p:sp>
      <p:sp>
        <p:nvSpPr>
          <p:cNvPr id="96" name="TextBox 95"/>
          <p:cNvSpPr txBox="1"/>
          <p:nvPr/>
        </p:nvSpPr>
        <p:spPr>
          <a:xfrm>
            <a:off x="209550" y="2219453"/>
            <a:ext cx="1299666" cy="186689"/>
          </a:xfrm>
          <a:prstGeom prst="rect">
            <a:avLst/>
          </a:prstGeom>
          <a:noFill/>
        </p:spPr>
        <p:txBody>
          <a:bodyPr wrap="none" lIns="0" rIns="0" tIns="0" bIns="0">
            <a:spAutoFit/>
          </a:bodyPr>
          <a:lstStyle/>
          <a:p>
            <a:r>
              <a:rPr sz="1100" b="0">
                <a:solidFill>
                  <a:srgbClr val="2E2E2E"/>
                </a:solidFill>
                <a:latin typeface="Calibri"/>
              </a:rPr>
              <a:t>▪ 'Matcha Tea' carries</a:t>
            </a:r>
          </a:p>
        </p:txBody>
      </p:sp>
      <p:pic>
        <p:nvPicPr>
          <p:cNvPr id="97" name="Picture 96" descr="lock.png"/>
          <p:cNvPicPr>
            <a:picLocks noChangeAspect="1"/>
          </p:cNvPicPr>
          <p:nvPr/>
        </p:nvPicPr>
        <p:blipFill>
          <a:blip r:embed="rId4"/>
          <a:stretch>
            <a:fillRect/>
          </a:stretch>
        </p:blipFill>
        <p:spPr>
          <a:xfrm>
            <a:off x="1457268" y="2209674"/>
            <a:ext cx="128699" cy="187198"/>
          </a:xfrm>
          <a:prstGeom prst="rect">
            <a:avLst/>
          </a:prstGeom>
        </p:spPr>
      </p:pic>
      <p:sp>
        <p:nvSpPr>
          <p:cNvPr id="98" name="TextBox 97"/>
          <p:cNvSpPr txBox="1"/>
          <p:nvPr/>
        </p:nvSpPr>
        <p:spPr>
          <a:xfrm>
            <a:off x="1624763" y="2219453"/>
            <a:ext cx="4048918" cy="186689"/>
          </a:xfrm>
          <a:prstGeom prst="rect">
            <a:avLst/>
          </a:prstGeom>
          <a:noFill/>
        </p:spPr>
        <p:txBody>
          <a:bodyPr wrap="none" lIns="0" rIns="0" tIns="0" bIns="0">
            <a:spAutoFit/>
          </a:bodyPr>
          <a:lstStyle/>
          <a:p>
            <a:r>
              <a:rPr sz="1100" b="0">
                <a:solidFill>
                  <a:srgbClr val="2E2E2E"/>
                </a:solidFill>
                <a:latin typeface="Calibri"/>
              </a:rPr>
              <a:t>of product type demand while 'Matcha Powder' compounds fastest at</a:t>
            </a:r>
          </a:p>
        </p:txBody>
      </p:sp>
      <p:pic>
        <p:nvPicPr>
          <p:cNvPr id="99" name="Picture 98" descr="lock.png"/>
          <p:cNvPicPr>
            <a:picLocks noChangeAspect="1"/>
          </p:cNvPicPr>
          <p:nvPr/>
        </p:nvPicPr>
        <p:blipFill>
          <a:blip r:embed="rId4"/>
          <a:stretch>
            <a:fillRect/>
          </a:stretch>
        </p:blipFill>
        <p:spPr>
          <a:xfrm>
            <a:off x="5621734" y="2209674"/>
            <a:ext cx="128699" cy="187198"/>
          </a:xfrm>
          <a:prstGeom prst="rect">
            <a:avLst/>
          </a:prstGeom>
        </p:spPr>
      </p:pic>
      <p:sp>
        <p:nvSpPr>
          <p:cNvPr id="100" name="TextBox 99"/>
          <p:cNvSpPr txBox="1"/>
          <p:nvPr/>
        </p:nvSpPr>
        <p:spPr>
          <a:xfrm>
            <a:off x="5789229" y="2219453"/>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101" name="TextBox 100"/>
          <p:cNvSpPr txBox="1"/>
          <p:nvPr/>
        </p:nvSpPr>
        <p:spPr>
          <a:xfrm>
            <a:off x="209550" y="2584528"/>
            <a:ext cx="2476748" cy="186689"/>
          </a:xfrm>
          <a:prstGeom prst="rect">
            <a:avLst/>
          </a:prstGeom>
          <a:noFill/>
        </p:spPr>
        <p:txBody>
          <a:bodyPr wrap="none" lIns="0" rIns="0" tIns="0" bIns="0">
            <a:spAutoFit/>
          </a:bodyPr>
          <a:lstStyle/>
          <a:p>
            <a:r>
              <a:rPr sz="1100" b="0">
                <a:solidFill>
                  <a:srgbClr val="2E2E2E"/>
                </a:solidFill>
                <a:latin typeface="Calibri"/>
              </a:rPr>
              <a:t>▪ Pull is strongest in 'South Asia &amp; Pacific' (</a:t>
            </a:r>
          </a:p>
        </p:txBody>
      </p:sp>
      <p:pic>
        <p:nvPicPr>
          <p:cNvPr id="102" name="Picture 101" descr="lock.png"/>
          <p:cNvPicPr>
            <a:picLocks noChangeAspect="1"/>
          </p:cNvPicPr>
          <p:nvPr/>
        </p:nvPicPr>
        <p:blipFill>
          <a:blip r:embed="rId4"/>
          <a:stretch>
            <a:fillRect/>
          </a:stretch>
        </p:blipFill>
        <p:spPr>
          <a:xfrm>
            <a:off x="2634349" y="2574749"/>
            <a:ext cx="128699" cy="187198"/>
          </a:xfrm>
          <a:prstGeom prst="rect">
            <a:avLst/>
          </a:prstGeom>
        </p:spPr>
      </p:pic>
      <p:sp>
        <p:nvSpPr>
          <p:cNvPr id="103" name="TextBox 102"/>
          <p:cNvSpPr txBox="1"/>
          <p:nvPr/>
        </p:nvSpPr>
        <p:spPr>
          <a:xfrm>
            <a:off x="2801845" y="2584528"/>
            <a:ext cx="531572"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104" name="Picture 103" descr="lock.png"/>
          <p:cNvPicPr>
            <a:picLocks noChangeAspect="1"/>
          </p:cNvPicPr>
          <p:nvPr/>
        </p:nvPicPr>
        <p:blipFill>
          <a:blip r:embed="rId4"/>
          <a:stretch>
            <a:fillRect/>
          </a:stretch>
        </p:blipFill>
        <p:spPr>
          <a:xfrm>
            <a:off x="3281469" y="2574749"/>
            <a:ext cx="128699" cy="187198"/>
          </a:xfrm>
          <a:prstGeom prst="rect">
            <a:avLst/>
          </a:prstGeom>
        </p:spPr>
      </p:pic>
      <p:sp>
        <p:nvSpPr>
          <p:cNvPr id="105" name="TextBox 104"/>
          <p:cNvSpPr txBox="1"/>
          <p:nvPr/>
        </p:nvSpPr>
        <p:spPr>
          <a:xfrm>
            <a:off x="3448965" y="2584528"/>
            <a:ext cx="3522588" cy="186689"/>
          </a:xfrm>
          <a:prstGeom prst="rect">
            <a:avLst/>
          </a:prstGeom>
          <a:noFill/>
        </p:spPr>
        <p:txBody>
          <a:bodyPr wrap="none" lIns="0" rIns="0" tIns="0" bIns="0">
            <a:spAutoFit/>
          </a:bodyPr>
          <a:lstStyle/>
          <a:p>
            <a:r>
              <a:rPr sz="1100" b="0">
                <a:solidFill>
                  <a:srgbClr val="2E2E2E"/>
                </a:solidFill>
                <a:latin typeface="Calibri"/>
              </a:rPr>
              <a:t>BPS versus the market), with 3 of 6 regions at or above pace.</a:t>
            </a:r>
          </a:p>
        </p:txBody>
      </p:sp>
      <p:sp>
        <p:nvSpPr>
          <p:cNvPr id="106" name="TextBox 105"/>
          <p:cNvSpPr txBox="1"/>
          <p:nvPr/>
        </p:nvSpPr>
        <p:spPr>
          <a:xfrm>
            <a:off x="209550" y="3040870"/>
            <a:ext cx="3666926" cy="186689"/>
          </a:xfrm>
          <a:prstGeom prst="rect">
            <a:avLst/>
          </a:prstGeom>
          <a:noFill/>
        </p:spPr>
        <p:txBody>
          <a:bodyPr wrap="none" lIns="0" rIns="0" tIns="0" bIns="0">
            <a:spAutoFit/>
          </a:bodyPr>
          <a:lstStyle/>
          <a:p>
            <a:r>
              <a:rPr sz="1100" b="0">
                <a:solidFill>
                  <a:srgbClr val="2E2E2E"/>
                </a:solidFill>
                <a:latin typeface="Calibri"/>
              </a:rPr>
              <a:t>▪ Reach runs through 6 application routes, led by 'Beverages' at</a:t>
            </a:r>
          </a:p>
        </p:txBody>
      </p:sp>
      <p:pic>
        <p:nvPicPr>
          <p:cNvPr id="107" name="Picture 106" descr="lock.png"/>
          <p:cNvPicPr>
            <a:picLocks noChangeAspect="1"/>
          </p:cNvPicPr>
          <p:nvPr/>
        </p:nvPicPr>
        <p:blipFill>
          <a:blip r:embed="rId4"/>
          <a:stretch>
            <a:fillRect/>
          </a:stretch>
        </p:blipFill>
        <p:spPr>
          <a:xfrm>
            <a:off x="3824528" y="3031091"/>
            <a:ext cx="128699" cy="187198"/>
          </a:xfrm>
          <a:prstGeom prst="rect">
            <a:avLst/>
          </a:prstGeom>
        </p:spPr>
      </p:pic>
      <p:sp>
        <p:nvSpPr>
          <p:cNvPr id="108" name="TextBox 107"/>
          <p:cNvSpPr txBox="1"/>
          <p:nvPr/>
        </p:nvSpPr>
        <p:spPr>
          <a:xfrm>
            <a:off x="3992023" y="3040870"/>
            <a:ext cx="2779067" cy="186689"/>
          </a:xfrm>
          <a:prstGeom prst="rect">
            <a:avLst/>
          </a:prstGeom>
          <a:noFill/>
        </p:spPr>
        <p:txBody>
          <a:bodyPr wrap="none" lIns="0" rIns="0" tIns="0" bIns="0">
            <a:spAutoFit/>
          </a:bodyPr>
          <a:lstStyle/>
          <a:p>
            <a:r>
              <a:rPr sz="1100" b="0">
                <a:solidFill>
                  <a:srgbClr val="2E2E2E"/>
                </a:solidFill>
                <a:latin typeface="Calibri"/>
              </a:rPr>
              <a:t>and with 'Other Applications' growing fastest at</a:t>
            </a:r>
          </a:p>
        </p:txBody>
      </p:sp>
      <p:pic>
        <p:nvPicPr>
          <p:cNvPr id="109" name="Picture 108" descr="lock.png"/>
          <p:cNvPicPr>
            <a:picLocks noChangeAspect="1"/>
          </p:cNvPicPr>
          <p:nvPr/>
        </p:nvPicPr>
        <p:blipFill>
          <a:blip r:embed="rId4"/>
          <a:stretch>
            <a:fillRect/>
          </a:stretch>
        </p:blipFill>
        <p:spPr>
          <a:xfrm>
            <a:off x="6719143" y="3031091"/>
            <a:ext cx="128699" cy="187198"/>
          </a:xfrm>
          <a:prstGeom prst="rect">
            <a:avLst/>
          </a:prstGeom>
        </p:spPr>
      </p:pic>
      <p:sp>
        <p:nvSpPr>
          <p:cNvPr id="110" name="TextBox 109"/>
          <p:cNvSpPr txBox="1"/>
          <p:nvPr/>
        </p:nvSpPr>
        <p:spPr>
          <a:xfrm>
            <a:off x="6886638" y="3040870"/>
            <a:ext cx="111397" cy="186689"/>
          </a:xfrm>
          <a:prstGeom prst="rect">
            <a:avLst/>
          </a:prstGeom>
          <a:noFill/>
        </p:spPr>
        <p:txBody>
          <a:bodyPr wrap="none" lIns="0" rIns="0" tIns="0" bIns="0">
            <a:spAutoFit/>
          </a:bodyPr>
          <a:lstStyle/>
          <a:p>
            <a:r>
              <a:rPr sz="1100" b="0">
                <a:solidFill>
                  <a:srgbClr val="2E2E2E"/>
                </a:solidFill>
                <a:latin typeface="Calibri"/>
              </a:rPr>
              <a:t>.</a:t>
            </a:r>
          </a:p>
        </p:txBody>
      </p:sp>
    </p:spTree>
  </p:cSld>
  <p:clrMapOvr>
    <a:masterClrMapping/>
  </p:clrMapOvr>
</p:sld>
</file>

<file path=ppt/slides/slide27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Restraints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restraints on the global market and the likelihood of their impact across 2021–2036</a:t>
            </a:r>
          </a:p>
        </p:txBody>
      </p:sp>
      <p:sp>
        <p:nvSpPr>
          <p:cNvPr id="10" name="Rounded Rectangle 9"/>
          <p:cNvSpPr/>
          <p:nvPr/>
        </p:nvSpPr>
        <p:spPr>
          <a:xfrm>
            <a:off x="142875" y="1025515"/>
            <a:ext cx="2038350" cy="255552"/>
          </a:xfrm>
          <a:prstGeom prst="roundRect">
            <a:avLst>
              <a:gd name="adj" fmla="val 1869"/>
            </a:avLst>
          </a:prstGeom>
          <a:solidFill>
            <a:srgbClr val="C0603A"/>
          </a:solidFill>
          <a:ln w="12700">
            <a:solidFill>
              <a:srgbClr val="C060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Restraints</a:t>
            </a:r>
          </a:p>
        </p:txBody>
      </p:sp>
      <p:sp>
        <p:nvSpPr>
          <p:cNvPr id="12" name="Rectangle 11"/>
          <p:cNvSpPr/>
          <p:nvPr/>
        </p:nvSpPr>
        <p:spPr>
          <a:xfrm>
            <a:off x="142875" y="139058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Matcha Tea Lags the Category and Dilutes Blended Growth</a:t>
            </a:r>
          </a:p>
        </p:txBody>
      </p:sp>
      <p:sp>
        <p:nvSpPr>
          <p:cNvPr id="14" name="TextBox 13"/>
          <p:cNvSpPr txBox="1"/>
          <p:nvPr/>
        </p:nvSpPr>
        <p:spPr>
          <a:xfrm>
            <a:off x="161925" y="1700902"/>
            <a:ext cx="9439275"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5" name="TextBox 14"/>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6" name="TextBox 15"/>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7" name="Rectangle 16"/>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19" name="TextBox 18"/>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0" name="Rectangle 19"/>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2" name="TextBox 21"/>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3" name="Rectangle 22"/>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5" name="TextBox 24"/>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6" name="Rectangle 25"/>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8" name="Connector 27"/>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42875" y="3142944"/>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Uneven Region Performance Caps the Blended Rate</a:t>
            </a:r>
          </a:p>
        </p:txBody>
      </p:sp>
      <p:sp>
        <p:nvSpPr>
          <p:cNvPr id="31" name="TextBox 30"/>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TextBox 31"/>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3" name="TextBox 32"/>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4" name="Rectangle 33"/>
          <p:cNvSpPr/>
          <p:nvPr/>
        </p:nvSpPr>
        <p:spPr>
          <a:xfrm>
            <a:off x="981075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6" name="TextBox 35"/>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7" name="Rectangle 36"/>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9" name="TextBox 38"/>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0" name="Rectangle 39"/>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2" name="TextBox 41"/>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3" name="Rectangle 42"/>
          <p:cNvSpPr/>
          <p:nvPr/>
        </p:nvSpPr>
        <p:spPr>
          <a:xfrm>
            <a:off x="10896600" y="4210785"/>
            <a:ext cx="990600" cy="310313"/>
          </a:xfrm>
          <a:prstGeom prst="rect">
            <a:avLst/>
          </a:prstGeom>
          <a:solidFill>
            <a:srgbClr val="F2C94C"/>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5" name="Connector 44"/>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Rectangle 45"/>
          <p:cNvSpPr/>
          <p:nvPr/>
        </p:nvSpPr>
        <p:spPr>
          <a:xfrm>
            <a:off x="142875" y="4895299"/>
            <a:ext cx="9496425" cy="255552"/>
          </a:xfrm>
          <a:prstGeom prst="rect">
            <a:avLst/>
          </a:prstGeom>
          <a:solidFill>
            <a:srgbClr val="F7E3D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Concentration Risk Limits Pricing and Sourcing Flexibility</a:t>
            </a:r>
          </a:p>
        </p:txBody>
      </p:sp>
      <p:sp>
        <p:nvSpPr>
          <p:cNvPr id="48" name="TextBox 47"/>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TextBox 48"/>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0" name="TextBox 49"/>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1" name="Rectangle 50"/>
          <p:cNvSpPr/>
          <p:nvPr/>
        </p:nvSpPr>
        <p:spPr>
          <a:xfrm>
            <a:off x="981075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3" name="TextBox 52"/>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4" name="Rectangle 53"/>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6" name="TextBox 55"/>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7" name="Rectangle 56"/>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9" name="TextBox 58"/>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0" name="Rectangle 59"/>
          <p:cNvSpPr/>
          <p:nvPr/>
        </p:nvSpPr>
        <p:spPr>
          <a:xfrm>
            <a:off x="10896600" y="596314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190500" y="1837332"/>
            <a:ext cx="1600894" cy="186689"/>
          </a:xfrm>
          <a:prstGeom prst="rect">
            <a:avLst/>
          </a:prstGeom>
          <a:noFill/>
        </p:spPr>
        <p:txBody>
          <a:bodyPr wrap="none" lIns="0" rIns="0" tIns="0" bIns="0">
            <a:spAutoFit/>
          </a:bodyPr>
          <a:lstStyle/>
          <a:p>
            <a:r>
              <a:rPr sz="1100" b="0">
                <a:solidFill>
                  <a:srgbClr val="2E2E2E"/>
                </a:solidFill>
                <a:latin typeface="Calibri"/>
              </a:rPr>
              <a:t>'Matcha Tea' grows at only</a:t>
            </a:r>
          </a:p>
        </p:txBody>
      </p:sp>
      <p:pic>
        <p:nvPicPr>
          <p:cNvPr id="64" name="Picture 63" descr="lock.png"/>
          <p:cNvPicPr>
            <a:picLocks noChangeAspect="1"/>
          </p:cNvPicPr>
          <p:nvPr/>
        </p:nvPicPr>
        <p:blipFill>
          <a:blip r:embed="rId4"/>
          <a:stretch>
            <a:fillRect/>
          </a:stretch>
        </p:blipFill>
        <p:spPr>
          <a:xfrm>
            <a:off x="1739446" y="1827554"/>
            <a:ext cx="128699" cy="187198"/>
          </a:xfrm>
          <a:prstGeom prst="rect">
            <a:avLst/>
          </a:prstGeom>
        </p:spPr>
      </p:pic>
      <p:sp>
        <p:nvSpPr>
          <p:cNvPr id="65" name="TextBox 64"/>
          <p:cNvSpPr txBox="1"/>
          <p:nvPr/>
        </p:nvSpPr>
        <p:spPr>
          <a:xfrm>
            <a:off x="1906941" y="1837332"/>
            <a:ext cx="1579595" cy="186689"/>
          </a:xfrm>
          <a:prstGeom prst="rect">
            <a:avLst/>
          </a:prstGeom>
          <a:noFill/>
        </p:spPr>
        <p:txBody>
          <a:bodyPr wrap="none" lIns="0" rIns="0" tIns="0" bIns="0">
            <a:spAutoFit/>
          </a:bodyPr>
          <a:lstStyle/>
          <a:p>
            <a:r>
              <a:rPr sz="1100" b="0">
                <a:solidFill>
                  <a:srgbClr val="2E2E2E"/>
                </a:solidFill>
                <a:latin typeface="Calibri"/>
              </a:rPr>
              <a:t>CAGR against the market's</a:t>
            </a:r>
          </a:p>
        </p:txBody>
      </p:sp>
      <p:pic>
        <p:nvPicPr>
          <p:cNvPr id="66" name="Picture 65" descr="lock.png"/>
          <p:cNvPicPr>
            <a:picLocks noChangeAspect="1"/>
          </p:cNvPicPr>
          <p:nvPr/>
        </p:nvPicPr>
        <p:blipFill>
          <a:blip r:embed="rId4"/>
          <a:stretch>
            <a:fillRect/>
          </a:stretch>
        </p:blipFill>
        <p:spPr>
          <a:xfrm>
            <a:off x="3434588" y="1827554"/>
            <a:ext cx="128699" cy="187198"/>
          </a:xfrm>
          <a:prstGeom prst="rect">
            <a:avLst/>
          </a:prstGeom>
        </p:spPr>
      </p:pic>
      <p:sp>
        <p:nvSpPr>
          <p:cNvPr id="67" name="TextBox 66"/>
          <p:cNvSpPr txBox="1"/>
          <p:nvPr/>
        </p:nvSpPr>
        <p:spPr>
          <a:xfrm>
            <a:off x="3602084" y="1837332"/>
            <a:ext cx="284112" cy="186689"/>
          </a:xfrm>
          <a:prstGeom prst="rect">
            <a:avLst/>
          </a:prstGeom>
          <a:noFill/>
        </p:spPr>
        <p:txBody>
          <a:bodyPr wrap="none" lIns="0" rIns="0" tIns="0" bIns="0">
            <a:spAutoFit/>
          </a:bodyPr>
          <a:lstStyle/>
          <a:p>
            <a:r>
              <a:rPr sz="1100" b="0">
                <a:solidFill>
                  <a:srgbClr val="2E2E2E"/>
                </a:solidFill>
                <a:latin typeface="Calibri"/>
              </a:rPr>
              <a:t>, a -</a:t>
            </a:r>
          </a:p>
        </p:txBody>
      </p:sp>
      <p:pic>
        <p:nvPicPr>
          <p:cNvPr id="68" name="Picture 67" descr="lock.png"/>
          <p:cNvPicPr>
            <a:picLocks noChangeAspect="1"/>
          </p:cNvPicPr>
          <p:nvPr/>
        </p:nvPicPr>
        <p:blipFill>
          <a:blip r:embed="rId4"/>
          <a:stretch>
            <a:fillRect/>
          </a:stretch>
        </p:blipFill>
        <p:spPr>
          <a:xfrm>
            <a:off x="3834248" y="1827554"/>
            <a:ext cx="128699" cy="187198"/>
          </a:xfrm>
          <a:prstGeom prst="rect">
            <a:avLst/>
          </a:prstGeom>
        </p:spPr>
      </p:pic>
      <p:sp>
        <p:nvSpPr>
          <p:cNvPr id="69" name="TextBox 68"/>
          <p:cNvSpPr txBox="1"/>
          <p:nvPr/>
        </p:nvSpPr>
        <p:spPr>
          <a:xfrm>
            <a:off x="4001744" y="1837332"/>
            <a:ext cx="2215629" cy="186689"/>
          </a:xfrm>
          <a:prstGeom prst="rect">
            <a:avLst/>
          </a:prstGeom>
          <a:noFill/>
        </p:spPr>
        <p:txBody>
          <a:bodyPr wrap="none" lIns="0" rIns="0" tIns="0" bIns="0">
            <a:spAutoFit/>
          </a:bodyPr>
          <a:lstStyle/>
          <a:p>
            <a:r>
              <a:rPr sz="1100" b="0">
                <a:solidFill>
                  <a:srgbClr val="2E2E2E"/>
                </a:solidFill>
                <a:latin typeface="Calibri"/>
              </a:rPr>
              <a:t>BPS gap, and 'Matcha Tea' surrenders</a:t>
            </a:r>
          </a:p>
        </p:txBody>
      </p:sp>
      <p:pic>
        <p:nvPicPr>
          <p:cNvPr id="70" name="Picture 69" descr="lock.png"/>
          <p:cNvPicPr>
            <a:picLocks noChangeAspect="1"/>
          </p:cNvPicPr>
          <p:nvPr/>
        </p:nvPicPr>
        <p:blipFill>
          <a:blip r:embed="rId4"/>
          <a:stretch>
            <a:fillRect/>
          </a:stretch>
        </p:blipFill>
        <p:spPr>
          <a:xfrm>
            <a:off x="6165425" y="1827554"/>
            <a:ext cx="128699" cy="187198"/>
          </a:xfrm>
          <a:prstGeom prst="rect">
            <a:avLst/>
          </a:prstGeom>
        </p:spPr>
      </p:pic>
      <p:sp>
        <p:nvSpPr>
          <p:cNvPr id="71" name="TextBox 70"/>
          <p:cNvSpPr txBox="1"/>
          <p:nvPr/>
        </p:nvSpPr>
        <p:spPr>
          <a:xfrm>
            <a:off x="6332921" y="1837332"/>
            <a:ext cx="2641550" cy="186689"/>
          </a:xfrm>
          <a:prstGeom prst="rect">
            <a:avLst/>
          </a:prstGeom>
          <a:noFill/>
        </p:spPr>
        <p:txBody>
          <a:bodyPr wrap="none" lIns="0" rIns="0" tIns="0" bIns="0">
            <a:spAutoFit/>
          </a:bodyPr>
          <a:lstStyle/>
          <a:p>
            <a:r>
              <a:rPr sz="1100" b="0">
                <a:solidFill>
                  <a:srgbClr val="2E2E2E"/>
                </a:solidFill>
                <a:latin typeface="Calibri"/>
              </a:rPr>
              <a:t>BPS of product type share between 2026 and</a:t>
            </a:r>
          </a:p>
        </p:txBody>
      </p:sp>
      <p:sp>
        <p:nvSpPr>
          <p:cNvPr id="72" name="TextBox 71"/>
          <p:cNvSpPr txBox="1"/>
          <p:nvPr/>
        </p:nvSpPr>
        <p:spPr>
          <a:xfrm>
            <a:off x="190500" y="2004972"/>
            <a:ext cx="9231734" cy="186689"/>
          </a:xfrm>
          <a:prstGeom prst="rect">
            <a:avLst/>
          </a:prstGeom>
          <a:noFill/>
        </p:spPr>
        <p:txBody>
          <a:bodyPr wrap="none" lIns="0" rIns="0" tIns="0" bIns="0">
            <a:spAutoFit/>
          </a:bodyPr>
          <a:lstStyle/>
          <a:p>
            <a:r>
              <a:rPr sz="1100" b="0">
                <a:solidFill>
                  <a:srgbClr val="2E2E2E"/>
                </a:solidFill>
                <a:latin typeface="Calibri"/>
              </a:rPr>
              <a:t>2036. Because these lines still carry meaningful volume, the drag is absorbed by the whole category: blended growth sits below what the leading lines achieve on</a:t>
            </a:r>
          </a:p>
        </p:txBody>
      </p:sp>
      <p:sp>
        <p:nvSpPr>
          <p:cNvPr id="73" name="TextBox 72"/>
          <p:cNvSpPr txBox="1"/>
          <p:nvPr/>
        </p:nvSpPr>
        <p:spPr>
          <a:xfrm>
            <a:off x="190500" y="2172613"/>
            <a:ext cx="7915225" cy="186689"/>
          </a:xfrm>
          <a:prstGeom prst="rect">
            <a:avLst/>
          </a:prstGeom>
          <a:noFill/>
        </p:spPr>
        <p:txBody>
          <a:bodyPr wrap="none" lIns="0" rIns="0" tIns="0" bIns="0">
            <a:spAutoFit/>
          </a:bodyPr>
          <a:lstStyle/>
          <a:p>
            <a:r>
              <a:rPr sz="1100" b="0">
                <a:solidFill>
                  <a:srgbClr val="2E2E2E"/>
                </a:solidFill>
                <a:latin typeface="Calibri"/>
              </a:rPr>
              <a:t>their own. Rationalising or repositioning the lagging end of a 2-line portfolio is therefore a precondition for realising the headline forecast.</a:t>
            </a:r>
          </a:p>
        </p:txBody>
      </p:sp>
      <p:sp>
        <p:nvSpPr>
          <p:cNvPr id="74" name="TextBox 73"/>
          <p:cNvSpPr txBox="1"/>
          <p:nvPr/>
        </p:nvSpPr>
        <p:spPr>
          <a:xfrm>
            <a:off x="190500" y="3498419"/>
            <a:ext cx="1731590" cy="186689"/>
          </a:xfrm>
          <a:prstGeom prst="rect">
            <a:avLst/>
          </a:prstGeom>
          <a:noFill/>
        </p:spPr>
        <p:txBody>
          <a:bodyPr wrap="none" lIns="0" rIns="0" tIns="0" bIns="0">
            <a:spAutoFit/>
          </a:bodyPr>
          <a:lstStyle/>
          <a:p>
            <a:r>
              <a:rPr sz="1100" b="0">
                <a:solidFill>
                  <a:srgbClr val="2E2E2E"/>
                </a:solidFill>
                <a:latin typeface="Calibri"/>
              </a:rPr>
              <a:t>'North America' grows at just</a:t>
            </a:r>
          </a:p>
        </p:txBody>
      </p:sp>
      <p:pic>
        <p:nvPicPr>
          <p:cNvPr id="75" name="Picture 74" descr="lock.png"/>
          <p:cNvPicPr>
            <a:picLocks noChangeAspect="1"/>
          </p:cNvPicPr>
          <p:nvPr/>
        </p:nvPicPr>
        <p:blipFill>
          <a:blip r:embed="rId4"/>
          <a:stretch>
            <a:fillRect/>
          </a:stretch>
        </p:blipFill>
        <p:spPr>
          <a:xfrm>
            <a:off x="1870142" y="3488640"/>
            <a:ext cx="128699" cy="187198"/>
          </a:xfrm>
          <a:prstGeom prst="rect">
            <a:avLst/>
          </a:prstGeom>
        </p:spPr>
      </p:pic>
      <p:sp>
        <p:nvSpPr>
          <p:cNvPr id="76" name="TextBox 75"/>
          <p:cNvSpPr txBox="1"/>
          <p:nvPr/>
        </p:nvSpPr>
        <p:spPr>
          <a:xfrm>
            <a:off x="2037637" y="3498419"/>
            <a:ext cx="469907" cy="186689"/>
          </a:xfrm>
          <a:prstGeom prst="rect">
            <a:avLst/>
          </a:prstGeom>
          <a:noFill/>
        </p:spPr>
        <p:txBody>
          <a:bodyPr wrap="none" lIns="0" rIns="0" tIns="0" bIns="0">
            <a:spAutoFit/>
          </a:bodyPr>
          <a:lstStyle/>
          <a:p>
            <a:r>
              <a:rPr sz="1100" b="0">
                <a:solidFill>
                  <a:srgbClr val="2E2E2E"/>
                </a:solidFill>
                <a:latin typeface="Calibri"/>
              </a:rPr>
              <a:t>CAGR -</a:t>
            </a:r>
          </a:p>
        </p:txBody>
      </p:sp>
      <p:pic>
        <p:nvPicPr>
          <p:cNvPr id="77" name="Picture 76" descr="lock.png"/>
          <p:cNvPicPr>
            <a:picLocks noChangeAspect="1"/>
          </p:cNvPicPr>
          <p:nvPr/>
        </p:nvPicPr>
        <p:blipFill>
          <a:blip r:embed="rId4"/>
          <a:stretch>
            <a:fillRect/>
          </a:stretch>
        </p:blipFill>
        <p:spPr>
          <a:xfrm>
            <a:off x="2455597" y="3488640"/>
            <a:ext cx="128699" cy="187198"/>
          </a:xfrm>
          <a:prstGeom prst="rect">
            <a:avLst/>
          </a:prstGeom>
        </p:spPr>
      </p:pic>
      <p:sp>
        <p:nvSpPr>
          <p:cNvPr id="78" name="TextBox 77"/>
          <p:cNvSpPr txBox="1"/>
          <p:nvPr/>
        </p:nvSpPr>
        <p:spPr>
          <a:xfrm>
            <a:off x="2623093" y="3498419"/>
            <a:ext cx="6616997" cy="186689"/>
          </a:xfrm>
          <a:prstGeom prst="rect">
            <a:avLst/>
          </a:prstGeom>
          <a:noFill/>
        </p:spPr>
        <p:txBody>
          <a:bodyPr wrap="none" lIns="0" rIns="0" tIns="0" bIns="0">
            <a:spAutoFit/>
          </a:bodyPr>
          <a:lstStyle/>
          <a:p>
            <a:r>
              <a:rPr sz="1100" b="0">
                <a:solidFill>
                  <a:srgbClr val="2E2E2E"/>
                </a:solidFill>
                <a:latin typeface="Calibri"/>
              </a:rPr>
              <a:t>BPS against the market and 3 of 6 regions sit below the market pace altogether. Demand is therefore not uniformly</a:t>
            </a:r>
          </a:p>
        </p:txBody>
      </p:sp>
      <p:sp>
        <p:nvSpPr>
          <p:cNvPr id="79" name="TextBox 78"/>
          <p:cNvSpPr txBox="1"/>
          <p:nvPr/>
        </p:nvSpPr>
        <p:spPr>
          <a:xfrm>
            <a:off x="190500" y="3666059"/>
            <a:ext cx="8618091" cy="186689"/>
          </a:xfrm>
          <a:prstGeom prst="rect">
            <a:avLst/>
          </a:prstGeom>
          <a:noFill/>
        </p:spPr>
        <p:txBody>
          <a:bodyPr wrap="none" lIns="0" rIns="0" tIns="0" bIns="0">
            <a:spAutoFit/>
          </a:bodyPr>
          <a:lstStyle/>
          <a:p>
            <a:r>
              <a:rPr sz="1100" b="0">
                <a:solidFill>
                  <a:srgbClr val="2E2E2E"/>
                </a:solidFill>
                <a:latin typeface="Calibri"/>
              </a:rPr>
              <a:t>available: suppliers carrying a broad geographic footprint fund presence in slow regions out of returns earned in the fast ones. With 'North America' at</a:t>
            </a:r>
          </a:p>
        </p:txBody>
      </p:sp>
      <p:pic>
        <p:nvPicPr>
          <p:cNvPr id="80" name="Picture 79" descr="lock.png"/>
          <p:cNvPicPr>
            <a:picLocks noChangeAspect="1"/>
          </p:cNvPicPr>
          <p:nvPr/>
        </p:nvPicPr>
        <p:blipFill>
          <a:blip r:embed="rId4"/>
          <a:stretch>
            <a:fillRect/>
          </a:stretch>
        </p:blipFill>
        <p:spPr>
          <a:xfrm>
            <a:off x="8756642" y="3656280"/>
            <a:ext cx="128699" cy="187198"/>
          </a:xfrm>
          <a:prstGeom prst="rect">
            <a:avLst/>
          </a:prstGeom>
        </p:spPr>
      </p:pic>
      <p:sp>
        <p:nvSpPr>
          <p:cNvPr id="81" name="TextBox 80"/>
          <p:cNvSpPr txBox="1"/>
          <p:nvPr/>
        </p:nvSpPr>
        <p:spPr>
          <a:xfrm>
            <a:off x="8924138" y="3666059"/>
            <a:ext cx="564058" cy="186689"/>
          </a:xfrm>
          <a:prstGeom prst="rect">
            <a:avLst/>
          </a:prstGeom>
          <a:noFill/>
        </p:spPr>
        <p:txBody>
          <a:bodyPr wrap="none" lIns="0" rIns="0" tIns="0" bIns="0">
            <a:spAutoFit/>
          </a:bodyPr>
          <a:lstStyle/>
          <a:p>
            <a:r>
              <a:rPr sz="1100" b="0">
                <a:solidFill>
                  <a:srgbClr val="2E2E2E"/>
                </a:solidFill>
                <a:latin typeface="Calibri"/>
              </a:rPr>
              <a:t>of value,</a:t>
            </a:r>
          </a:p>
        </p:txBody>
      </p:sp>
      <p:sp>
        <p:nvSpPr>
          <p:cNvPr id="82" name="TextBox 81"/>
          <p:cNvSpPr txBox="1"/>
          <p:nvPr/>
        </p:nvSpPr>
        <p:spPr>
          <a:xfrm>
            <a:off x="190500" y="3833699"/>
            <a:ext cx="5170338" cy="186689"/>
          </a:xfrm>
          <a:prstGeom prst="rect">
            <a:avLst/>
          </a:prstGeom>
          <a:noFill/>
        </p:spPr>
        <p:txBody>
          <a:bodyPr wrap="none" lIns="0" rIns="0" tIns="0" bIns="0">
            <a:spAutoFit/>
          </a:bodyPr>
          <a:lstStyle/>
          <a:p>
            <a:r>
              <a:rPr sz="1100" b="0">
                <a:solidFill>
                  <a:srgbClr val="2E2E2E"/>
                </a:solidFill>
                <a:latin typeface="Calibri"/>
              </a:rPr>
              <a:t>a shortfall in a single leading region is difficult to offset elsewhere in the forecast window.</a:t>
            </a:r>
          </a:p>
        </p:txBody>
      </p:sp>
      <p:sp>
        <p:nvSpPr>
          <p:cNvPr id="83" name="TextBox 82"/>
          <p:cNvSpPr txBox="1"/>
          <p:nvPr/>
        </p:nvSpPr>
        <p:spPr>
          <a:xfrm>
            <a:off x="190500" y="5250774"/>
            <a:ext cx="3337594" cy="186689"/>
          </a:xfrm>
          <a:prstGeom prst="rect">
            <a:avLst/>
          </a:prstGeom>
          <a:noFill/>
        </p:spPr>
        <p:txBody>
          <a:bodyPr wrap="none" lIns="0" rIns="0" tIns="0" bIns="0">
            <a:spAutoFit/>
          </a:bodyPr>
          <a:lstStyle/>
          <a:p>
            <a:r>
              <a:rPr sz="1100" b="0">
                <a:solidFill>
                  <a:srgbClr val="2E2E2E"/>
                </a:solidFill>
                <a:latin typeface="Calibri"/>
              </a:rPr>
              <a:t>The market is concentrated: 'North America' accounts for</a:t>
            </a:r>
          </a:p>
        </p:txBody>
      </p:sp>
      <p:pic>
        <p:nvPicPr>
          <p:cNvPr id="84" name="Picture 83" descr="lock.png"/>
          <p:cNvPicPr>
            <a:picLocks noChangeAspect="1"/>
          </p:cNvPicPr>
          <p:nvPr/>
        </p:nvPicPr>
        <p:blipFill>
          <a:blip r:embed="rId4"/>
          <a:stretch>
            <a:fillRect/>
          </a:stretch>
        </p:blipFill>
        <p:spPr>
          <a:xfrm>
            <a:off x="3476146" y="5240995"/>
            <a:ext cx="128699" cy="187198"/>
          </a:xfrm>
          <a:prstGeom prst="rect">
            <a:avLst/>
          </a:prstGeom>
        </p:spPr>
      </p:pic>
      <p:sp>
        <p:nvSpPr>
          <p:cNvPr id="85" name="TextBox 84"/>
          <p:cNvSpPr txBox="1"/>
          <p:nvPr/>
        </p:nvSpPr>
        <p:spPr>
          <a:xfrm>
            <a:off x="3643642" y="5250774"/>
            <a:ext cx="2957512" cy="186689"/>
          </a:xfrm>
          <a:prstGeom prst="rect">
            <a:avLst/>
          </a:prstGeom>
          <a:noFill/>
        </p:spPr>
        <p:txBody>
          <a:bodyPr wrap="none" lIns="0" rIns="0" tIns="0" bIns="0">
            <a:spAutoFit/>
          </a:bodyPr>
          <a:lstStyle/>
          <a:p>
            <a:r>
              <a:rPr sz="1100" b="0">
                <a:solidFill>
                  <a:srgbClr val="2E2E2E"/>
                </a:solidFill>
                <a:latin typeface="Calibri"/>
              </a:rPr>
              <a:t>of 2036 value and the leading product type line for</a:t>
            </a:r>
          </a:p>
        </p:txBody>
      </p:sp>
      <p:pic>
        <p:nvPicPr>
          <p:cNvPr id="86" name="Picture 85" descr="lock.png"/>
          <p:cNvPicPr>
            <a:picLocks noChangeAspect="1"/>
          </p:cNvPicPr>
          <p:nvPr/>
        </p:nvPicPr>
        <p:blipFill>
          <a:blip r:embed="rId4"/>
          <a:stretch>
            <a:fillRect/>
          </a:stretch>
        </p:blipFill>
        <p:spPr>
          <a:xfrm>
            <a:off x="6549206" y="5240995"/>
            <a:ext cx="128699" cy="187198"/>
          </a:xfrm>
          <a:prstGeom prst="rect">
            <a:avLst/>
          </a:prstGeom>
        </p:spPr>
      </p:pic>
      <p:sp>
        <p:nvSpPr>
          <p:cNvPr id="87" name="TextBox 86"/>
          <p:cNvSpPr txBox="1"/>
          <p:nvPr/>
        </p:nvSpPr>
        <p:spPr>
          <a:xfrm>
            <a:off x="6716702" y="5250774"/>
            <a:ext cx="2445058" cy="186689"/>
          </a:xfrm>
          <a:prstGeom prst="rect">
            <a:avLst/>
          </a:prstGeom>
          <a:noFill/>
        </p:spPr>
        <p:txBody>
          <a:bodyPr wrap="none" lIns="0" rIns="0" tIns="0" bIns="0">
            <a:spAutoFit/>
          </a:bodyPr>
          <a:lstStyle/>
          <a:p>
            <a:r>
              <a:rPr sz="1100" b="0">
                <a:solidFill>
                  <a:srgbClr val="2E2E2E"/>
                </a:solidFill>
                <a:latin typeface="Calibri"/>
              </a:rPr>
              <a:t>of its segment. Average realisation moves</a:t>
            </a:r>
          </a:p>
        </p:txBody>
      </p:sp>
      <p:pic>
        <p:nvPicPr>
          <p:cNvPr id="88" name="Picture 87" descr="lock.png"/>
          <p:cNvPicPr>
            <a:picLocks noChangeAspect="1"/>
          </p:cNvPicPr>
          <p:nvPr/>
        </p:nvPicPr>
        <p:blipFill>
          <a:blip r:embed="rId4"/>
          <a:stretch>
            <a:fillRect/>
          </a:stretch>
        </p:blipFill>
        <p:spPr>
          <a:xfrm>
            <a:off x="177032" y="5408635"/>
            <a:ext cx="128699" cy="187198"/>
          </a:xfrm>
          <a:prstGeom prst="rect">
            <a:avLst/>
          </a:prstGeom>
        </p:spPr>
      </p:pic>
      <p:sp>
        <p:nvSpPr>
          <p:cNvPr id="89" name="TextBox 88"/>
          <p:cNvSpPr txBox="1"/>
          <p:nvPr/>
        </p:nvSpPr>
        <p:spPr>
          <a:xfrm>
            <a:off x="344528" y="5418414"/>
            <a:ext cx="9124776" cy="186689"/>
          </a:xfrm>
          <a:prstGeom prst="rect">
            <a:avLst/>
          </a:prstGeom>
          <a:noFill/>
        </p:spPr>
        <p:txBody>
          <a:bodyPr wrap="none" lIns="0" rIns="0" tIns="0" bIns="0">
            <a:spAutoFit/>
          </a:bodyPr>
          <a:lstStyle/>
          <a:p>
            <a:r>
              <a:rPr sz="1100" b="0">
                <a:solidFill>
                  <a:srgbClr val="2E2E2E"/>
                </a:solidFill>
                <a:latin typeface="Calibri"/>
              </a:rPr>
              <a:t>a year, so cost movements cannot be passed on evenly across 6 regions. The practical constraint is the same in either case commercial terms set for the market</a:t>
            </a:r>
          </a:p>
        </p:txBody>
      </p:sp>
      <p:sp>
        <p:nvSpPr>
          <p:cNvPr id="90" name="TextBox 89"/>
          <p:cNvSpPr txBox="1"/>
          <p:nvPr/>
        </p:nvSpPr>
        <p:spPr>
          <a:xfrm>
            <a:off x="190500" y="5586054"/>
            <a:ext cx="6191894" cy="186689"/>
          </a:xfrm>
          <a:prstGeom prst="rect">
            <a:avLst/>
          </a:prstGeom>
          <a:noFill/>
        </p:spPr>
        <p:txBody>
          <a:bodyPr wrap="none" lIns="0" rIns="0" tIns="0" bIns="0">
            <a:spAutoFit/>
          </a:bodyPr>
          <a:lstStyle/>
          <a:p>
            <a:r>
              <a:rPr sz="1100" b="0">
                <a:solidFill>
                  <a:srgbClr val="2E2E2E"/>
                </a:solidFill>
                <a:latin typeface="Calibri"/>
              </a:rPr>
              <a:t>as a whole underserve part of it, and margin is lost in the mismatch rather than in the headline growth rate.</a:t>
            </a:r>
          </a:p>
        </p:txBody>
      </p:sp>
    </p:spTree>
  </p:cSld>
  <p:clrMapOvr>
    <a:masterClrMapping/>
  </p:clrMapOvr>
</p:sld>
</file>

<file path=ppt/slides/slide27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Opportunities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the key opportunities in the global market and the likelihood of their impact across 2021–2036</a:t>
            </a:r>
          </a:p>
        </p:txBody>
      </p:sp>
      <p:sp>
        <p:nvSpPr>
          <p:cNvPr id="10" name="Rounded Rectangle 9"/>
          <p:cNvSpPr/>
          <p:nvPr/>
        </p:nvSpPr>
        <p:spPr>
          <a:xfrm>
            <a:off x="142875" y="1025515"/>
            <a:ext cx="2038350" cy="255552"/>
          </a:xfrm>
          <a:prstGeom prst="roundRect">
            <a:avLst>
              <a:gd name="adj" fmla="val 1869"/>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42875" y="1025515"/>
            <a:ext cx="2038350" cy="255552"/>
          </a:xfrm>
          <a:prstGeom prst="rect">
            <a:avLst/>
          </a:prstGeom>
          <a:noFill/>
        </p:spPr>
        <p:txBody>
          <a:bodyPr wrap="square" lIns="28575" rIns="28575" tIns="9525" bIns="9525" anchor="ctr">
            <a:spAutoFit/>
          </a:bodyPr>
          <a:lstStyle/>
          <a:p>
            <a:pPr algn="ctr"/>
            <a:r>
              <a:rPr sz="1100" b="1">
                <a:solidFill>
                  <a:srgbClr val="FFFFFF"/>
                </a:solidFill>
                <a:latin typeface="Calibri"/>
              </a:rPr>
              <a:t>Market Opportunities</a:t>
            </a:r>
          </a:p>
        </p:txBody>
      </p:sp>
      <p:sp>
        <p:nvSpPr>
          <p:cNvPr id="12" name="Rectangle 11"/>
          <p:cNvSpPr/>
          <p:nvPr/>
        </p:nvSpPr>
        <p:spPr>
          <a:xfrm>
            <a:off x="142875" y="139058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76225" y="139058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U.S. Carries the Largest Absolute Opportunity</a:t>
            </a:r>
          </a:p>
        </p:txBody>
      </p:sp>
      <p:sp>
        <p:nvSpPr>
          <p:cNvPr id="14" name="TextBox 13"/>
          <p:cNvSpPr txBox="1"/>
          <p:nvPr/>
        </p:nvSpPr>
        <p:spPr>
          <a:xfrm>
            <a:off x="161925" y="170090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5" name="TextBox 14"/>
          <p:cNvSpPr txBox="1"/>
          <p:nvPr/>
        </p:nvSpPr>
        <p:spPr>
          <a:xfrm>
            <a:off x="9810750" y="139058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16" name="TextBox 15"/>
          <p:cNvSpPr txBox="1"/>
          <p:nvPr/>
        </p:nvSpPr>
        <p:spPr>
          <a:xfrm>
            <a:off x="981075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17" name="Rectangle 16"/>
          <p:cNvSpPr/>
          <p:nvPr/>
        </p:nvSpPr>
        <p:spPr>
          <a:xfrm>
            <a:off x="9810750" y="1938200"/>
            <a:ext cx="990600" cy="310313"/>
          </a:xfrm>
          <a:prstGeom prst="rect">
            <a:avLst/>
          </a:prstGeom>
          <a:solidFill>
            <a:srgbClr val="FBF0C4"/>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981075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19" name="TextBox 18"/>
          <p:cNvSpPr txBox="1"/>
          <p:nvPr/>
        </p:nvSpPr>
        <p:spPr>
          <a:xfrm>
            <a:off x="10896600" y="177391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20" name="Rectangle 19"/>
          <p:cNvSpPr/>
          <p:nvPr/>
        </p:nvSpPr>
        <p:spPr>
          <a:xfrm>
            <a:off x="10896600" y="193820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10896600" y="193820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2" name="TextBox 21"/>
          <p:cNvSpPr txBox="1"/>
          <p:nvPr/>
        </p:nvSpPr>
        <p:spPr>
          <a:xfrm>
            <a:off x="981075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23" name="Rectangle 22"/>
          <p:cNvSpPr/>
          <p:nvPr/>
        </p:nvSpPr>
        <p:spPr>
          <a:xfrm>
            <a:off x="981075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981075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sp>
        <p:nvSpPr>
          <p:cNvPr id="25" name="TextBox 24"/>
          <p:cNvSpPr txBox="1"/>
          <p:nvPr/>
        </p:nvSpPr>
        <p:spPr>
          <a:xfrm>
            <a:off x="10896600" y="229414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26" name="Rectangle 25"/>
          <p:cNvSpPr/>
          <p:nvPr/>
        </p:nvSpPr>
        <p:spPr>
          <a:xfrm>
            <a:off x="10896600" y="245843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10896600" y="2458430"/>
            <a:ext cx="990600" cy="310313"/>
          </a:xfrm>
          <a:prstGeom prst="rect">
            <a:avLst/>
          </a:prstGeom>
          <a:noFill/>
        </p:spPr>
        <p:txBody>
          <a:bodyPr wrap="square" lIns="28575" rIns="28575" tIns="9525" bIns="9525" anchor="ctr">
            <a:spAutoFit/>
          </a:bodyPr>
          <a:lstStyle/>
          <a:p>
            <a:pPr algn="ctr"/>
            <a:r>
              <a:rPr sz="1100" b="1">
                <a:solidFill>
                  <a:srgbClr val="9AA0A6"/>
                </a:solidFill>
                <a:latin typeface="Calibri"/>
              </a:rPr>
              <a:t>Low</a:t>
            </a:r>
          </a:p>
        </p:txBody>
      </p:sp>
      <p:cxnSp>
        <p:nvCxnSpPr>
          <p:cNvPr id="28" name="Connector 27"/>
          <p:cNvCxnSpPr/>
          <p:nvPr/>
        </p:nvCxnSpPr>
        <p:spPr>
          <a:xfrm>
            <a:off x="142875" y="3088183"/>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42875" y="3142944"/>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76225" y="3142944"/>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Netherlands Offers Under-penetrated, Above-pace Headroom</a:t>
            </a:r>
          </a:p>
        </p:txBody>
      </p:sp>
      <p:sp>
        <p:nvSpPr>
          <p:cNvPr id="31" name="TextBox 30"/>
          <p:cNvSpPr txBox="1"/>
          <p:nvPr/>
        </p:nvSpPr>
        <p:spPr>
          <a:xfrm>
            <a:off x="161925" y="3453257"/>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2" name="TextBox 31"/>
          <p:cNvSpPr txBox="1"/>
          <p:nvPr/>
        </p:nvSpPr>
        <p:spPr>
          <a:xfrm>
            <a:off x="9810750" y="3142944"/>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33" name="TextBox 32"/>
          <p:cNvSpPr txBox="1"/>
          <p:nvPr/>
        </p:nvSpPr>
        <p:spPr>
          <a:xfrm>
            <a:off x="981075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34" name="Rectangle 33"/>
          <p:cNvSpPr/>
          <p:nvPr/>
        </p:nvSpPr>
        <p:spPr>
          <a:xfrm>
            <a:off x="9810750" y="3690555"/>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9810750" y="3690555"/>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36" name="TextBox 35"/>
          <p:cNvSpPr txBox="1"/>
          <p:nvPr/>
        </p:nvSpPr>
        <p:spPr>
          <a:xfrm>
            <a:off x="10896600" y="3526271"/>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37" name="Rectangle 36"/>
          <p:cNvSpPr/>
          <p:nvPr/>
        </p:nvSpPr>
        <p:spPr>
          <a:xfrm>
            <a:off x="10896600" y="369055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896600" y="369055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39" name="TextBox 38"/>
          <p:cNvSpPr txBox="1"/>
          <p:nvPr/>
        </p:nvSpPr>
        <p:spPr>
          <a:xfrm>
            <a:off x="981075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40" name="Rectangle 39"/>
          <p:cNvSpPr/>
          <p:nvPr/>
        </p:nvSpPr>
        <p:spPr>
          <a:xfrm>
            <a:off x="981075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981075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42" name="TextBox 41"/>
          <p:cNvSpPr txBox="1"/>
          <p:nvPr/>
        </p:nvSpPr>
        <p:spPr>
          <a:xfrm>
            <a:off x="10896600" y="4046502"/>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43" name="Rectangle 42"/>
          <p:cNvSpPr/>
          <p:nvPr/>
        </p:nvSpPr>
        <p:spPr>
          <a:xfrm>
            <a:off x="10896600" y="4210785"/>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0896600" y="4210785"/>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cxnSp>
        <p:nvCxnSpPr>
          <p:cNvPr id="45" name="Connector 44"/>
          <p:cNvCxnSpPr/>
          <p:nvPr/>
        </p:nvCxnSpPr>
        <p:spPr>
          <a:xfrm>
            <a:off x="142875" y="4840538"/>
            <a:ext cx="11906250" cy="0"/>
          </a:xfrm>
          <a:prstGeom prst="line">
            <a:avLst/>
          </a:prstGeom>
          <a:ln w="12700">
            <a:solidFill>
              <a:srgbClr val="E4EAEF"/>
            </a:solidFill>
          </a:ln>
          <a:effectLst/>
        </p:spPr>
        <p:style>
          <a:lnRef idx="2">
            <a:schemeClr val="accent1"/>
          </a:lnRef>
          <a:fillRef idx="0">
            <a:schemeClr val="accent1"/>
          </a:fillRef>
          <a:effectRef idx="1">
            <a:schemeClr val="accent1"/>
          </a:effectRef>
          <a:fontRef idx="minor">
            <a:schemeClr val="tx1"/>
          </a:fontRef>
        </p:style>
      </p:cxnSp>
      <p:sp>
        <p:nvSpPr>
          <p:cNvPr id="46" name="Rectangle 45"/>
          <p:cNvSpPr/>
          <p:nvPr/>
        </p:nvSpPr>
        <p:spPr>
          <a:xfrm>
            <a:off x="142875" y="4895299"/>
            <a:ext cx="9496425" cy="255552"/>
          </a:xfrm>
          <a:prstGeom prst="rect">
            <a:avLst/>
          </a:prstGeom>
          <a:solidFill>
            <a:srgbClr val="E8EEF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276225" y="4895299"/>
            <a:ext cx="9267825" cy="255552"/>
          </a:xfrm>
          <a:prstGeom prst="rect">
            <a:avLst/>
          </a:prstGeom>
          <a:noFill/>
        </p:spPr>
        <p:txBody>
          <a:bodyPr wrap="square" lIns="28575" rIns="28575" tIns="9525" bIns="9525" anchor="ctr">
            <a:spAutoFit/>
          </a:bodyPr>
          <a:lstStyle/>
          <a:p>
            <a:pPr algn="l"/>
            <a:r>
              <a:rPr sz="1100" b="1">
                <a:solidFill>
                  <a:srgbClr val="0B2E4A"/>
                </a:solidFill>
                <a:latin typeface="Calibri"/>
              </a:rPr>
              <a:t>Other Applications Opens the Fastest Route to Market</a:t>
            </a:r>
          </a:p>
        </p:txBody>
      </p:sp>
      <p:sp>
        <p:nvSpPr>
          <p:cNvPr id="48" name="TextBox 47"/>
          <p:cNvSpPr txBox="1"/>
          <p:nvPr/>
        </p:nvSpPr>
        <p:spPr>
          <a:xfrm>
            <a:off x="161925" y="5205612"/>
            <a:ext cx="9439275"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TextBox 48"/>
          <p:cNvSpPr txBox="1"/>
          <p:nvPr/>
        </p:nvSpPr>
        <p:spPr>
          <a:xfrm>
            <a:off x="9810750" y="4895299"/>
            <a:ext cx="2238375" cy="365074"/>
          </a:xfrm>
          <a:prstGeom prst="rect">
            <a:avLst/>
          </a:prstGeom>
          <a:noFill/>
        </p:spPr>
        <p:txBody>
          <a:bodyPr wrap="square" lIns="28575" rIns="28575" tIns="9525" bIns="9525" anchor="ctr">
            <a:spAutoFit/>
          </a:bodyPr>
          <a:lstStyle/>
          <a:p>
            <a:pPr algn="l">
              <a:lnSpc>
                <a:spcPct val="115000"/>
              </a:lnSpc>
            </a:pPr>
            <a:r>
              <a:rPr sz="1100" b="1">
                <a:solidFill>
                  <a:srgbClr val="6C7A89"/>
                </a:solidFill>
                <a:latin typeface="Calibri"/>
              </a:rPr>
              <a:t>Likelihood of impact on timeline</a:t>
            </a:r>
          </a:p>
        </p:txBody>
      </p:sp>
      <p:sp>
        <p:nvSpPr>
          <p:cNvPr id="50" name="TextBox 49"/>
          <p:cNvSpPr txBox="1"/>
          <p:nvPr/>
        </p:nvSpPr>
        <p:spPr>
          <a:xfrm>
            <a:off x="981075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2021–22</a:t>
            </a:r>
          </a:p>
        </p:txBody>
      </p:sp>
      <p:sp>
        <p:nvSpPr>
          <p:cNvPr id="51" name="Rectangle 50"/>
          <p:cNvSpPr/>
          <p:nvPr/>
        </p:nvSpPr>
        <p:spPr>
          <a:xfrm>
            <a:off x="9810750" y="5442910"/>
            <a:ext cx="990600" cy="310313"/>
          </a:xfrm>
          <a:prstGeom prst="rect">
            <a:avLst/>
          </a:prstGeom>
          <a:solidFill>
            <a:srgbClr val="C99A0A"/>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981075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3" name="TextBox 52"/>
          <p:cNvSpPr txBox="1"/>
          <p:nvPr/>
        </p:nvSpPr>
        <p:spPr>
          <a:xfrm>
            <a:off x="10896600" y="5278626"/>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2023–25</a:t>
            </a:r>
          </a:p>
        </p:txBody>
      </p:sp>
      <p:sp>
        <p:nvSpPr>
          <p:cNvPr id="54" name="Rectangle 53"/>
          <p:cNvSpPr/>
          <p:nvPr/>
        </p:nvSpPr>
        <p:spPr>
          <a:xfrm>
            <a:off x="10896600" y="544291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0896600" y="544291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6" name="TextBox 55"/>
          <p:cNvSpPr txBox="1"/>
          <p:nvPr/>
        </p:nvSpPr>
        <p:spPr>
          <a:xfrm>
            <a:off x="981075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2026–28</a:t>
            </a:r>
          </a:p>
        </p:txBody>
      </p:sp>
      <p:sp>
        <p:nvSpPr>
          <p:cNvPr id="57" name="Rectangle 56"/>
          <p:cNvSpPr/>
          <p:nvPr/>
        </p:nvSpPr>
        <p:spPr>
          <a:xfrm>
            <a:off x="981075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9810750" y="5963140"/>
            <a:ext cx="990600" cy="310313"/>
          </a:xfrm>
          <a:prstGeom prst="rect">
            <a:avLst/>
          </a:prstGeom>
          <a:noFill/>
        </p:spPr>
        <p:txBody>
          <a:bodyPr wrap="square" lIns="28575" rIns="28575" tIns="9525" bIns="9525" anchor="ctr">
            <a:spAutoFit/>
          </a:bodyPr>
          <a:lstStyle/>
          <a:p>
            <a:pPr algn="ctr"/>
            <a:r>
              <a:rPr sz="1100" b="1">
                <a:solidFill>
                  <a:srgbClr val="4A3A05"/>
                </a:solidFill>
                <a:latin typeface="Calibri"/>
              </a:rPr>
              <a:t>High</a:t>
            </a:r>
          </a:p>
        </p:txBody>
      </p:sp>
      <p:sp>
        <p:nvSpPr>
          <p:cNvPr id="59" name="TextBox 58"/>
          <p:cNvSpPr txBox="1"/>
          <p:nvPr/>
        </p:nvSpPr>
        <p:spPr>
          <a:xfrm>
            <a:off x="10896600" y="5798857"/>
            <a:ext cx="990600" cy="155156"/>
          </a:xfrm>
          <a:prstGeom prst="rect">
            <a:avLst/>
          </a:prstGeom>
          <a:noFill/>
        </p:spPr>
        <p:txBody>
          <a:bodyPr wrap="square" lIns="28575" rIns="28575" tIns="9525" bIns="9525" anchor="ctr">
            <a:spAutoFit/>
          </a:bodyPr>
          <a:lstStyle/>
          <a:p>
            <a:pPr algn="ctr"/>
            <a:r>
              <a:rPr sz="1100" b="1">
                <a:solidFill>
                  <a:srgbClr val="6C7A89"/>
                </a:solidFill>
                <a:latin typeface="Calibri"/>
              </a:rPr>
              <a:t>2029–36</a:t>
            </a:r>
          </a:p>
        </p:txBody>
      </p:sp>
      <p:sp>
        <p:nvSpPr>
          <p:cNvPr id="60" name="Rectangle 59"/>
          <p:cNvSpPr/>
          <p:nvPr/>
        </p:nvSpPr>
        <p:spPr>
          <a:xfrm>
            <a:off x="10896600" y="5963140"/>
            <a:ext cx="990600" cy="310313"/>
          </a:xfrm>
          <a:prstGeom prst="rect">
            <a:avLst/>
          </a:prstGeom>
          <a:solidFill>
            <a:srgbClr val="FFFFFF"/>
          </a:solidFill>
          <a:ln w="15875">
            <a:solidFill>
              <a:srgbClr val="A8740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0896600" y="5963140"/>
            <a:ext cx="990600" cy="310313"/>
          </a:xfrm>
          <a:prstGeom prst="rect">
            <a:avLst/>
          </a:prstGeom>
          <a:noFill/>
        </p:spPr>
        <p:txBody>
          <a:bodyPr wrap="square" lIns="28575" rIns="28575" tIns="9525" bIns="9525" anchor="ctr">
            <a:spAutoFit/>
          </a:bodyPr>
          <a:lstStyle/>
          <a:p>
            <a:pPr algn="ctr"/>
            <a:r>
              <a:rPr sz="1100" b="1">
                <a:solidFill>
                  <a:srgbClr val="6B5613"/>
                </a:solidFill>
                <a:latin typeface="Calibri"/>
              </a:rPr>
              <a:t>Medium</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190500" y="1746064"/>
            <a:ext cx="662012" cy="186689"/>
          </a:xfrm>
          <a:prstGeom prst="rect">
            <a:avLst/>
          </a:prstGeom>
          <a:noFill/>
        </p:spPr>
        <p:txBody>
          <a:bodyPr wrap="none" lIns="0" rIns="0" tIns="0" bIns="0">
            <a:spAutoFit/>
          </a:bodyPr>
          <a:lstStyle/>
          <a:p>
            <a:r>
              <a:rPr sz="1100" b="0">
                <a:solidFill>
                  <a:srgbClr val="2E2E2E"/>
                </a:solidFill>
                <a:latin typeface="Calibri"/>
              </a:rPr>
              <a:t>'U.S.' adds</a:t>
            </a:r>
          </a:p>
        </p:txBody>
      </p:sp>
      <p:pic>
        <p:nvPicPr>
          <p:cNvPr id="64" name="Picture 63" descr="lock.png"/>
          <p:cNvPicPr>
            <a:picLocks noChangeAspect="1"/>
          </p:cNvPicPr>
          <p:nvPr/>
        </p:nvPicPr>
        <p:blipFill>
          <a:blip r:embed="rId4"/>
          <a:stretch>
            <a:fillRect/>
          </a:stretch>
        </p:blipFill>
        <p:spPr>
          <a:xfrm>
            <a:off x="800563" y="1736285"/>
            <a:ext cx="128699" cy="187198"/>
          </a:xfrm>
          <a:prstGeom prst="rect">
            <a:avLst/>
          </a:prstGeom>
        </p:spPr>
      </p:pic>
      <p:sp>
        <p:nvSpPr>
          <p:cNvPr id="65" name="TextBox 64"/>
          <p:cNvSpPr txBox="1"/>
          <p:nvPr/>
        </p:nvSpPr>
        <p:spPr>
          <a:xfrm>
            <a:off x="968059" y="1746064"/>
            <a:ext cx="8433097" cy="186689"/>
          </a:xfrm>
          <a:prstGeom prst="rect">
            <a:avLst/>
          </a:prstGeom>
          <a:noFill/>
        </p:spPr>
        <p:txBody>
          <a:bodyPr wrap="none" lIns="0" rIns="0" tIns="0" bIns="0">
            <a:spAutoFit/>
          </a:bodyPr>
          <a:lstStyle/>
          <a:p>
            <a:r>
              <a:rPr sz="1100" b="0">
                <a:solidFill>
                  <a:srgbClr val="2E2E2E"/>
                </a:solidFill>
                <a:latin typeface="Calibri"/>
              </a:rPr>
              <a:t>US$ Mn between 2026 and 2036 the single largest absolute increment of any geography in the dataset. Capturing it is a question of scale execution</a:t>
            </a:r>
          </a:p>
        </p:txBody>
      </p:sp>
      <p:sp>
        <p:nvSpPr>
          <p:cNvPr id="66" name="TextBox 65"/>
          <p:cNvSpPr txBox="1"/>
          <p:nvPr/>
        </p:nvSpPr>
        <p:spPr>
          <a:xfrm>
            <a:off x="190500" y="1913704"/>
            <a:ext cx="3769245" cy="186689"/>
          </a:xfrm>
          <a:prstGeom prst="rect">
            <a:avLst/>
          </a:prstGeom>
          <a:noFill/>
        </p:spPr>
        <p:txBody>
          <a:bodyPr wrap="none" lIns="0" rIns="0" tIns="0" bIns="0">
            <a:spAutoFit/>
          </a:bodyPr>
          <a:lstStyle/>
          <a:p>
            <a:r>
              <a:rPr sz="1100" b="0">
                <a:solidFill>
                  <a:srgbClr val="2E2E2E"/>
                </a:solidFill>
                <a:latin typeface="Calibri"/>
              </a:rPr>
              <a:t>rather than market creation: demand already exists and grows at</a:t>
            </a:r>
          </a:p>
        </p:txBody>
      </p:sp>
      <p:pic>
        <p:nvPicPr>
          <p:cNvPr id="67" name="Picture 66" descr="lock.png"/>
          <p:cNvPicPr>
            <a:picLocks noChangeAspect="1"/>
          </p:cNvPicPr>
          <p:nvPr/>
        </p:nvPicPr>
        <p:blipFill>
          <a:blip r:embed="rId4"/>
          <a:stretch>
            <a:fillRect/>
          </a:stretch>
        </p:blipFill>
        <p:spPr>
          <a:xfrm>
            <a:off x="3907797" y="1903925"/>
            <a:ext cx="128699" cy="187198"/>
          </a:xfrm>
          <a:prstGeom prst="rect">
            <a:avLst/>
          </a:prstGeom>
        </p:spPr>
      </p:pic>
      <p:sp>
        <p:nvSpPr>
          <p:cNvPr id="68" name="TextBox 67"/>
          <p:cNvSpPr txBox="1"/>
          <p:nvPr/>
        </p:nvSpPr>
        <p:spPr>
          <a:xfrm>
            <a:off x="4075293" y="1913704"/>
            <a:ext cx="5402535" cy="186689"/>
          </a:xfrm>
          <a:prstGeom prst="rect">
            <a:avLst/>
          </a:prstGeom>
          <a:noFill/>
        </p:spPr>
        <p:txBody>
          <a:bodyPr wrap="none" lIns="0" rIns="0" tIns="0" bIns="0">
            <a:spAutoFit/>
          </a:bodyPr>
          <a:lstStyle/>
          <a:p>
            <a:r>
              <a:rPr sz="1100" b="0">
                <a:solidFill>
                  <a:srgbClr val="2E2E2E"/>
                </a:solidFill>
                <a:latin typeface="Calibri"/>
              </a:rPr>
              <a:t>at the market level. Prioritising supply, channel coverage and service levels there converts the</a:t>
            </a:r>
          </a:p>
        </p:txBody>
      </p:sp>
      <p:sp>
        <p:nvSpPr>
          <p:cNvPr id="69" name="TextBox 68"/>
          <p:cNvSpPr txBox="1"/>
          <p:nvPr/>
        </p:nvSpPr>
        <p:spPr>
          <a:xfrm>
            <a:off x="190500" y="2081344"/>
            <a:ext cx="1175246" cy="186689"/>
          </a:xfrm>
          <a:prstGeom prst="rect">
            <a:avLst/>
          </a:prstGeom>
          <a:noFill/>
        </p:spPr>
        <p:txBody>
          <a:bodyPr wrap="none" lIns="0" rIns="0" tIns="0" bIns="0">
            <a:spAutoFit/>
          </a:bodyPr>
          <a:lstStyle/>
          <a:p>
            <a:r>
              <a:rPr sz="1100" b="0">
                <a:solidFill>
                  <a:srgbClr val="2E2E2E"/>
                </a:solidFill>
                <a:latin typeface="Calibri"/>
              </a:rPr>
              <a:t>largest share of the</a:t>
            </a:r>
          </a:p>
        </p:txBody>
      </p:sp>
      <p:pic>
        <p:nvPicPr>
          <p:cNvPr id="70" name="Picture 69" descr="lock.png"/>
          <p:cNvPicPr>
            <a:picLocks noChangeAspect="1"/>
          </p:cNvPicPr>
          <p:nvPr/>
        </p:nvPicPr>
        <p:blipFill>
          <a:blip r:embed="rId4"/>
          <a:stretch>
            <a:fillRect/>
          </a:stretch>
        </p:blipFill>
        <p:spPr>
          <a:xfrm>
            <a:off x="1313797" y="2071565"/>
            <a:ext cx="128699" cy="187198"/>
          </a:xfrm>
          <a:prstGeom prst="rect">
            <a:avLst/>
          </a:prstGeom>
        </p:spPr>
      </p:pic>
      <p:sp>
        <p:nvSpPr>
          <p:cNvPr id="71" name="TextBox 70"/>
          <p:cNvSpPr txBox="1"/>
          <p:nvPr/>
        </p:nvSpPr>
        <p:spPr>
          <a:xfrm>
            <a:off x="1481293" y="2081344"/>
            <a:ext cx="3306489" cy="186689"/>
          </a:xfrm>
          <a:prstGeom prst="rect">
            <a:avLst/>
          </a:prstGeom>
          <a:noFill/>
        </p:spPr>
        <p:txBody>
          <a:bodyPr wrap="none" lIns="0" rIns="0" tIns="0" bIns="0">
            <a:spAutoFit/>
          </a:bodyPr>
          <a:lstStyle/>
          <a:p>
            <a:r>
              <a:rPr sz="1100" b="0">
                <a:solidFill>
                  <a:srgbClr val="2E2E2E"/>
                </a:solidFill>
                <a:latin typeface="Calibri"/>
              </a:rPr>
              <a:t>US$ Mn the whole market adds over the forecast period.</a:t>
            </a:r>
          </a:p>
        </p:txBody>
      </p:sp>
      <p:sp>
        <p:nvSpPr>
          <p:cNvPr id="72" name="TextBox 71"/>
          <p:cNvSpPr txBox="1"/>
          <p:nvPr/>
        </p:nvSpPr>
        <p:spPr>
          <a:xfrm>
            <a:off x="190500" y="3498419"/>
            <a:ext cx="1680294" cy="186689"/>
          </a:xfrm>
          <a:prstGeom prst="rect">
            <a:avLst/>
          </a:prstGeom>
          <a:noFill/>
        </p:spPr>
        <p:txBody>
          <a:bodyPr wrap="none" lIns="0" rIns="0" tIns="0" bIns="0">
            <a:spAutoFit/>
          </a:bodyPr>
          <a:lstStyle/>
          <a:p>
            <a:r>
              <a:rPr sz="1100" b="0">
                <a:solidFill>
                  <a:srgbClr val="2E2E2E"/>
                </a:solidFill>
                <a:latin typeface="Calibri"/>
              </a:rPr>
              <a:t>'Netherlands' compounds at</a:t>
            </a:r>
          </a:p>
        </p:txBody>
      </p:sp>
      <p:pic>
        <p:nvPicPr>
          <p:cNvPr id="73" name="Picture 72" descr="lock.png"/>
          <p:cNvPicPr>
            <a:picLocks noChangeAspect="1"/>
          </p:cNvPicPr>
          <p:nvPr/>
        </p:nvPicPr>
        <p:blipFill>
          <a:blip r:embed="rId4"/>
          <a:stretch>
            <a:fillRect/>
          </a:stretch>
        </p:blipFill>
        <p:spPr>
          <a:xfrm>
            <a:off x="1818845" y="3488640"/>
            <a:ext cx="128699" cy="187198"/>
          </a:xfrm>
          <a:prstGeom prst="rect">
            <a:avLst/>
          </a:prstGeom>
        </p:spPr>
      </p:pic>
      <p:sp>
        <p:nvSpPr>
          <p:cNvPr id="74" name="TextBox 73"/>
          <p:cNvSpPr txBox="1"/>
          <p:nvPr/>
        </p:nvSpPr>
        <p:spPr>
          <a:xfrm>
            <a:off x="1986341" y="3498419"/>
            <a:ext cx="7315207" cy="186689"/>
          </a:xfrm>
          <a:prstGeom prst="rect">
            <a:avLst/>
          </a:prstGeom>
          <a:noFill/>
        </p:spPr>
        <p:txBody>
          <a:bodyPr wrap="none" lIns="0" rIns="0" tIns="0" bIns="0">
            <a:spAutoFit/>
          </a:bodyPr>
          <a:lstStyle/>
          <a:p>
            <a:r>
              <a:rPr sz="1100" b="0">
                <a:solidFill>
                  <a:srgbClr val="2E2E2E"/>
                </a:solidFill>
                <a:latin typeface="Calibri"/>
              </a:rPr>
              <a:t>CAGR from a below-median base one of 7 geographies in the dataset combining above-median growth with below-median size.</a:t>
            </a:r>
          </a:p>
        </p:txBody>
      </p:sp>
      <p:sp>
        <p:nvSpPr>
          <p:cNvPr id="75" name="TextBox 74"/>
          <p:cNvSpPr txBox="1"/>
          <p:nvPr/>
        </p:nvSpPr>
        <p:spPr>
          <a:xfrm>
            <a:off x="190500" y="3666059"/>
            <a:ext cx="5046191" cy="186689"/>
          </a:xfrm>
          <a:prstGeom prst="rect">
            <a:avLst/>
          </a:prstGeom>
          <a:noFill/>
        </p:spPr>
        <p:txBody>
          <a:bodyPr wrap="none" lIns="0" rIns="0" tIns="0" bIns="0">
            <a:spAutoFit/>
          </a:bodyPr>
          <a:lstStyle/>
          <a:p>
            <a:r>
              <a:rPr sz="1100" b="0">
                <a:solidFill>
                  <a:srgbClr val="2E2E2E"/>
                </a:solidFill>
                <a:latin typeface="Calibri"/>
              </a:rPr>
              <a:t>That profile is where share is cheapest to buy: competitive intensity is lower than in the</a:t>
            </a:r>
          </a:p>
        </p:txBody>
      </p:sp>
      <p:pic>
        <p:nvPicPr>
          <p:cNvPr id="76" name="Picture 75" descr="lock.png"/>
          <p:cNvPicPr>
            <a:picLocks noChangeAspect="1"/>
          </p:cNvPicPr>
          <p:nvPr/>
        </p:nvPicPr>
        <p:blipFill>
          <a:blip r:embed="rId4"/>
          <a:stretch>
            <a:fillRect/>
          </a:stretch>
        </p:blipFill>
        <p:spPr>
          <a:xfrm>
            <a:off x="5184742" y="3656280"/>
            <a:ext cx="128699" cy="187198"/>
          </a:xfrm>
          <a:prstGeom prst="rect">
            <a:avLst/>
          </a:prstGeom>
        </p:spPr>
      </p:pic>
      <p:sp>
        <p:nvSpPr>
          <p:cNvPr id="77" name="TextBox 76"/>
          <p:cNvSpPr txBox="1"/>
          <p:nvPr/>
        </p:nvSpPr>
        <p:spPr>
          <a:xfrm>
            <a:off x="5352238" y="3666059"/>
            <a:ext cx="2075929" cy="186689"/>
          </a:xfrm>
          <a:prstGeom prst="rect">
            <a:avLst/>
          </a:prstGeom>
          <a:noFill/>
        </p:spPr>
        <p:txBody>
          <a:bodyPr wrap="none" lIns="0" rIns="0" tIns="0" bIns="0">
            <a:spAutoFit/>
          </a:bodyPr>
          <a:lstStyle/>
          <a:p>
            <a:r>
              <a:rPr sz="1100" b="0">
                <a:solidFill>
                  <a:srgbClr val="2E2E2E"/>
                </a:solidFill>
                <a:latin typeface="Calibri"/>
              </a:rPr>
              <a:t>-share leaders, while growth runs +</a:t>
            </a:r>
          </a:p>
        </p:txBody>
      </p:sp>
      <p:pic>
        <p:nvPicPr>
          <p:cNvPr id="78" name="Picture 77" descr="lock.png"/>
          <p:cNvPicPr>
            <a:picLocks noChangeAspect="1"/>
          </p:cNvPicPr>
          <p:nvPr/>
        </p:nvPicPr>
        <p:blipFill>
          <a:blip r:embed="rId4"/>
          <a:stretch>
            <a:fillRect/>
          </a:stretch>
        </p:blipFill>
        <p:spPr>
          <a:xfrm>
            <a:off x="7376219" y="3656280"/>
            <a:ext cx="128699" cy="187198"/>
          </a:xfrm>
          <a:prstGeom prst="rect">
            <a:avLst/>
          </a:prstGeom>
        </p:spPr>
      </p:pic>
      <p:sp>
        <p:nvSpPr>
          <p:cNvPr id="79" name="TextBox 78"/>
          <p:cNvSpPr txBox="1"/>
          <p:nvPr/>
        </p:nvSpPr>
        <p:spPr>
          <a:xfrm>
            <a:off x="7543715" y="3666059"/>
            <a:ext cx="1825144" cy="186689"/>
          </a:xfrm>
          <a:prstGeom prst="rect">
            <a:avLst/>
          </a:prstGeom>
          <a:noFill/>
        </p:spPr>
        <p:txBody>
          <a:bodyPr wrap="none" lIns="0" rIns="0" tIns="0" bIns="0">
            <a:spAutoFit/>
          </a:bodyPr>
          <a:lstStyle/>
          <a:p>
            <a:r>
              <a:rPr sz="1100" b="0">
                <a:solidFill>
                  <a:srgbClr val="2E2E2E"/>
                </a:solidFill>
                <a:latin typeface="Calibri"/>
              </a:rPr>
              <a:t>BPS ahead of the market. Early</a:t>
            </a:r>
          </a:p>
        </p:txBody>
      </p:sp>
      <p:sp>
        <p:nvSpPr>
          <p:cNvPr id="80" name="TextBox 79"/>
          <p:cNvSpPr txBox="1"/>
          <p:nvPr/>
        </p:nvSpPr>
        <p:spPr>
          <a:xfrm>
            <a:off x="190500" y="3833699"/>
            <a:ext cx="4556695" cy="186689"/>
          </a:xfrm>
          <a:prstGeom prst="rect">
            <a:avLst/>
          </a:prstGeom>
          <a:noFill/>
        </p:spPr>
        <p:txBody>
          <a:bodyPr wrap="none" lIns="0" rIns="0" tIns="0" bIns="0">
            <a:spAutoFit/>
          </a:bodyPr>
          <a:lstStyle/>
          <a:p>
            <a:r>
              <a:rPr sz="1100" b="0">
                <a:solidFill>
                  <a:srgbClr val="2E2E2E"/>
                </a:solidFill>
                <a:latin typeface="Calibri"/>
              </a:rPr>
              <a:t>distribution and reference accounts established here compound through 2036.</a:t>
            </a:r>
          </a:p>
        </p:txBody>
      </p:sp>
      <p:sp>
        <p:nvSpPr>
          <p:cNvPr id="81" name="TextBox 80"/>
          <p:cNvSpPr txBox="1"/>
          <p:nvPr/>
        </p:nvSpPr>
        <p:spPr>
          <a:xfrm>
            <a:off x="190500" y="5250774"/>
            <a:ext cx="1719312" cy="186689"/>
          </a:xfrm>
          <a:prstGeom prst="rect">
            <a:avLst/>
          </a:prstGeom>
          <a:noFill/>
        </p:spPr>
        <p:txBody>
          <a:bodyPr wrap="none" lIns="0" rIns="0" tIns="0" bIns="0">
            <a:spAutoFit/>
          </a:bodyPr>
          <a:lstStyle/>
          <a:p>
            <a:r>
              <a:rPr sz="1100" b="0">
                <a:solidFill>
                  <a:srgbClr val="2E2E2E"/>
                </a:solidFill>
                <a:latin typeface="Calibri"/>
              </a:rPr>
              <a:t>'Other Applications' grows at</a:t>
            </a:r>
          </a:p>
        </p:txBody>
      </p:sp>
      <p:pic>
        <p:nvPicPr>
          <p:cNvPr id="82" name="Picture 81" descr="lock.png"/>
          <p:cNvPicPr>
            <a:picLocks noChangeAspect="1"/>
          </p:cNvPicPr>
          <p:nvPr/>
        </p:nvPicPr>
        <p:blipFill>
          <a:blip r:embed="rId4"/>
          <a:stretch>
            <a:fillRect/>
          </a:stretch>
        </p:blipFill>
        <p:spPr>
          <a:xfrm>
            <a:off x="1857863" y="5240995"/>
            <a:ext cx="128699" cy="187198"/>
          </a:xfrm>
          <a:prstGeom prst="rect">
            <a:avLst/>
          </a:prstGeom>
        </p:spPr>
      </p:pic>
      <p:sp>
        <p:nvSpPr>
          <p:cNvPr id="83" name="TextBox 82"/>
          <p:cNvSpPr txBox="1"/>
          <p:nvPr/>
        </p:nvSpPr>
        <p:spPr>
          <a:xfrm>
            <a:off x="2025359" y="5250774"/>
            <a:ext cx="2956676" cy="186689"/>
          </a:xfrm>
          <a:prstGeom prst="rect">
            <a:avLst/>
          </a:prstGeom>
          <a:noFill/>
        </p:spPr>
        <p:txBody>
          <a:bodyPr wrap="none" lIns="0" rIns="0" tIns="0" bIns="0">
            <a:spAutoFit/>
          </a:bodyPr>
          <a:lstStyle/>
          <a:p>
            <a:r>
              <a:rPr sz="1100" b="0">
                <a:solidFill>
                  <a:srgbClr val="2E2E2E"/>
                </a:solidFill>
                <a:latin typeface="Calibri"/>
              </a:rPr>
              <a:t>CAGR, the fastest of 6 application routes, and adds</a:t>
            </a:r>
          </a:p>
        </p:txBody>
      </p:sp>
      <p:pic>
        <p:nvPicPr>
          <p:cNvPr id="84" name="Picture 83" descr="lock.png"/>
          <p:cNvPicPr>
            <a:picLocks noChangeAspect="1"/>
          </p:cNvPicPr>
          <p:nvPr/>
        </p:nvPicPr>
        <p:blipFill>
          <a:blip r:embed="rId4"/>
          <a:stretch>
            <a:fillRect/>
          </a:stretch>
        </p:blipFill>
        <p:spPr>
          <a:xfrm>
            <a:off x="4930088" y="5240995"/>
            <a:ext cx="128699" cy="187198"/>
          </a:xfrm>
          <a:prstGeom prst="rect">
            <a:avLst/>
          </a:prstGeom>
        </p:spPr>
      </p:pic>
      <p:sp>
        <p:nvSpPr>
          <p:cNvPr id="85" name="TextBox 84"/>
          <p:cNvSpPr txBox="1"/>
          <p:nvPr/>
        </p:nvSpPr>
        <p:spPr>
          <a:xfrm>
            <a:off x="5097583" y="5250774"/>
            <a:ext cx="3588072" cy="186689"/>
          </a:xfrm>
          <a:prstGeom prst="rect">
            <a:avLst/>
          </a:prstGeom>
          <a:noFill/>
        </p:spPr>
        <p:txBody>
          <a:bodyPr wrap="none" lIns="0" rIns="0" tIns="0" bIns="0">
            <a:spAutoFit/>
          </a:bodyPr>
          <a:lstStyle/>
          <a:p>
            <a:r>
              <a:rPr sz="1100" b="0">
                <a:solidFill>
                  <a:srgbClr val="2E2E2E"/>
                </a:solidFill>
                <a:latin typeface="Calibri"/>
              </a:rPr>
              <a:t>US$ Mn over the forecast period while 'Beverages' still carries</a:t>
            </a:r>
          </a:p>
        </p:txBody>
      </p:sp>
      <p:pic>
        <p:nvPicPr>
          <p:cNvPr id="86" name="Picture 85" descr="lock.png"/>
          <p:cNvPicPr>
            <a:picLocks noChangeAspect="1"/>
          </p:cNvPicPr>
          <p:nvPr/>
        </p:nvPicPr>
        <p:blipFill>
          <a:blip r:embed="rId4"/>
          <a:stretch>
            <a:fillRect/>
          </a:stretch>
        </p:blipFill>
        <p:spPr>
          <a:xfrm>
            <a:off x="8633707" y="5240995"/>
            <a:ext cx="128699" cy="187198"/>
          </a:xfrm>
          <a:prstGeom prst="rect">
            <a:avLst/>
          </a:prstGeom>
        </p:spPr>
      </p:pic>
      <p:sp>
        <p:nvSpPr>
          <p:cNvPr id="87" name="TextBox 86"/>
          <p:cNvSpPr txBox="1"/>
          <p:nvPr/>
        </p:nvSpPr>
        <p:spPr>
          <a:xfrm>
            <a:off x="8801203" y="5250774"/>
            <a:ext cx="192434" cy="186689"/>
          </a:xfrm>
          <a:prstGeom prst="rect">
            <a:avLst/>
          </a:prstGeom>
          <a:noFill/>
        </p:spPr>
        <p:txBody>
          <a:bodyPr wrap="none" lIns="0" rIns="0" tIns="0" bIns="0">
            <a:spAutoFit/>
          </a:bodyPr>
          <a:lstStyle/>
          <a:p>
            <a:r>
              <a:rPr sz="1100" b="0">
                <a:solidFill>
                  <a:srgbClr val="2E2E2E"/>
                </a:solidFill>
                <a:latin typeface="Calibri"/>
              </a:rPr>
              <a:t>of</a:t>
            </a:r>
          </a:p>
        </p:txBody>
      </p:sp>
      <p:sp>
        <p:nvSpPr>
          <p:cNvPr id="88" name="TextBox 87"/>
          <p:cNvSpPr txBox="1"/>
          <p:nvPr/>
        </p:nvSpPr>
        <p:spPr>
          <a:xfrm>
            <a:off x="190500" y="5418414"/>
            <a:ext cx="7236097" cy="186689"/>
          </a:xfrm>
          <a:prstGeom prst="rect">
            <a:avLst/>
          </a:prstGeom>
          <a:noFill/>
        </p:spPr>
        <p:txBody>
          <a:bodyPr wrap="none" lIns="0" rIns="0" tIns="0" bIns="0">
            <a:spAutoFit/>
          </a:bodyPr>
          <a:lstStyle/>
          <a:p>
            <a:r>
              <a:rPr sz="1100" b="0">
                <a:solidFill>
                  <a:srgbClr val="2E2E2E"/>
                </a:solidFill>
                <a:latin typeface="Calibri"/>
              </a:rPr>
              <a:t>demand today. Pairing the incumbent route for volume with the fastest route for growth and leading with 'Matcha Powder' at</a:t>
            </a:r>
          </a:p>
        </p:txBody>
      </p:sp>
      <p:pic>
        <p:nvPicPr>
          <p:cNvPr id="89" name="Picture 88" descr="lock.png"/>
          <p:cNvPicPr>
            <a:picLocks noChangeAspect="1"/>
          </p:cNvPicPr>
          <p:nvPr/>
        </p:nvPicPr>
        <p:blipFill>
          <a:blip r:embed="rId4"/>
          <a:stretch>
            <a:fillRect/>
          </a:stretch>
        </p:blipFill>
        <p:spPr>
          <a:xfrm>
            <a:off x="7374649" y="5408635"/>
            <a:ext cx="128699" cy="187198"/>
          </a:xfrm>
          <a:prstGeom prst="rect">
            <a:avLst/>
          </a:prstGeom>
        </p:spPr>
      </p:pic>
      <p:sp>
        <p:nvSpPr>
          <p:cNvPr id="90" name="TextBox 89"/>
          <p:cNvSpPr txBox="1"/>
          <p:nvPr/>
        </p:nvSpPr>
        <p:spPr>
          <a:xfrm>
            <a:off x="7542145" y="5418414"/>
            <a:ext cx="1893664" cy="186689"/>
          </a:xfrm>
          <a:prstGeom prst="rect">
            <a:avLst/>
          </a:prstGeom>
          <a:noFill/>
        </p:spPr>
        <p:txBody>
          <a:bodyPr wrap="none" lIns="0" rIns="0" tIns="0" bIns="0">
            <a:spAutoFit/>
          </a:bodyPr>
          <a:lstStyle/>
          <a:p>
            <a:r>
              <a:rPr sz="1100" b="0">
                <a:solidFill>
                  <a:srgbClr val="2E2E2E"/>
                </a:solidFill>
                <a:latin typeface="Calibri"/>
              </a:rPr>
              <a:t>is the highest-yield combination</a:t>
            </a:r>
          </a:p>
        </p:txBody>
      </p:sp>
      <p:sp>
        <p:nvSpPr>
          <p:cNvPr id="91" name="TextBox 90"/>
          <p:cNvSpPr txBox="1"/>
          <p:nvPr/>
        </p:nvSpPr>
        <p:spPr>
          <a:xfrm>
            <a:off x="190500" y="5586054"/>
            <a:ext cx="1288479" cy="186689"/>
          </a:xfrm>
          <a:prstGeom prst="rect">
            <a:avLst/>
          </a:prstGeom>
          <a:noFill/>
        </p:spPr>
        <p:txBody>
          <a:bodyPr wrap="none" lIns="0" rIns="0" tIns="0" bIns="0">
            <a:spAutoFit/>
          </a:bodyPr>
          <a:lstStyle/>
          <a:p>
            <a:r>
              <a:rPr sz="1100" b="0">
                <a:solidFill>
                  <a:srgbClr val="2E2E2E"/>
                </a:solidFill>
                <a:latin typeface="Calibri"/>
              </a:rPr>
              <a:t>the dataset supports.</a:t>
            </a:r>
          </a:p>
        </p:txBody>
      </p:sp>
    </p:spTree>
  </p:cSld>
  <p:clrMapOvr>
    <a:masterClrMapping/>
  </p:clrMapOvr>
</p:sld>
</file>

<file path=ppt/slides/slide27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Global Matcha Market Recent Developments &amp; Milestones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Recent developments and milestones shaping the global market, by year</a:t>
            </a:r>
          </a:p>
        </p:txBody>
      </p:sp>
      <p:sp>
        <p:nvSpPr>
          <p:cNvPr id="10" name="Rectangle 9"/>
          <p:cNvSpPr/>
          <p:nvPr/>
        </p:nvSpPr>
        <p:spPr>
          <a:xfrm>
            <a:off x="142875" y="1025515"/>
            <a:ext cx="11906250" cy="292059"/>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42875" y="1025515"/>
            <a:ext cx="1428750" cy="292059"/>
          </a:xfrm>
          <a:prstGeom prst="rect">
            <a:avLst/>
          </a:prstGeom>
          <a:noFill/>
        </p:spPr>
        <p:txBody>
          <a:bodyPr wrap="square" lIns="28575" rIns="28575" tIns="9525" bIns="9525" anchor="ctr">
            <a:spAutoFit/>
          </a:bodyPr>
          <a:lstStyle/>
          <a:p>
            <a:pPr algn="ctr"/>
            <a:r>
              <a:rPr sz="1150" b="1">
                <a:solidFill>
                  <a:srgbClr val="FFFFFF"/>
                </a:solidFill>
                <a:latin typeface="Calibri"/>
              </a:rPr>
              <a:t>Year</a:t>
            </a:r>
          </a:p>
        </p:txBody>
      </p:sp>
      <p:sp>
        <p:nvSpPr>
          <p:cNvPr id="12" name="TextBox 11"/>
          <p:cNvSpPr txBox="1"/>
          <p:nvPr/>
        </p:nvSpPr>
        <p:spPr>
          <a:xfrm>
            <a:off x="1714500" y="1025515"/>
            <a:ext cx="10239375" cy="292059"/>
          </a:xfrm>
          <a:prstGeom prst="rect">
            <a:avLst/>
          </a:prstGeom>
          <a:noFill/>
        </p:spPr>
        <p:txBody>
          <a:bodyPr wrap="square" lIns="28575" rIns="28575" tIns="9525" bIns="9525" anchor="ctr">
            <a:spAutoFit/>
          </a:bodyPr>
          <a:lstStyle/>
          <a:p>
            <a:pPr algn="ctr"/>
            <a:r>
              <a:rPr sz="1150" b="1">
                <a:solidFill>
                  <a:srgbClr val="FFFFFF"/>
                </a:solidFill>
                <a:latin typeface="Calibri"/>
              </a:rPr>
              <a:t>Recent Development</a:t>
            </a:r>
          </a:p>
        </p:txBody>
      </p:sp>
      <p:sp>
        <p:nvSpPr>
          <p:cNvPr id="13" name="Rectangle 12"/>
          <p:cNvSpPr/>
          <p:nvPr/>
        </p:nvSpPr>
        <p:spPr>
          <a:xfrm>
            <a:off x="142875" y="131757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142875" y="131757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2025</a:t>
            </a:r>
          </a:p>
        </p:txBody>
      </p:sp>
      <p:cxnSp>
        <p:nvCxnSpPr>
          <p:cNvPr id="15" name="Connector 14"/>
          <p:cNvCxnSpPr/>
          <p:nvPr/>
        </p:nvCxnSpPr>
        <p:spPr>
          <a:xfrm>
            <a:off x="1571625" y="131757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1714500" y="164157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7" name="Rectangle 16"/>
          <p:cNvSpPr/>
          <p:nvPr/>
        </p:nvSpPr>
        <p:spPr>
          <a:xfrm>
            <a:off x="142875" y="2367162"/>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142875" y="2367162"/>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2026</a:t>
            </a:r>
          </a:p>
        </p:txBody>
      </p:sp>
      <p:cxnSp>
        <p:nvCxnSpPr>
          <p:cNvPr id="19" name="Connector 18"/>
          <p:cNvCxnSpPr/>
          <p:nvPr/>
        </p:nvCxnSpPr>
        <p:spPr>
          <a:xfrm>
            <a:off x="1571625" y="2367162"/>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1714500" y="2691164"/>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1" name="Rectangle 20"/>
          <p:cNvSpPr/>
          <p:nvPr/>
        </p:nvSpPr>
        <p:spPr>
          <a:xfrm>
            <a:off x="142875" y="3416749"/>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42875" y="3416749"/>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2032</a:t>
            </a:r>
          </a:p>
        </p:txBody>
      </p:sp>
      <p:cxnSp>
        <p:nvCxnSpPr>
          <p:cNvPr id="23" name="Connector 22"/>
          <p:cNvCxnSpPr/>
          <p:nvPr/>
        </p:nvCxnSpPr>
        <p:spPr>
          <a:xfrm>
            <a:off x="1571625" y="3416749"/>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1714500" y="3740753"/>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Rectangle 24"/>
          <p:cNvSpPr/>
          <p:nvPr/>
        </p:nvSpPr>
        <p:spPr>
          <a:xfrm>
            <a:off x="142875" y="4466337"/>
            <a:ext cx="11906250" cy="1049588"/>
          </a:xfrm>
          <a:prstGeom prst="rect">
            <a:avLst/>
          </a:prstGeom>
          <a:solidFill>
            <a:srgbClr val="F5F8FA"/>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42875" y="4466337"/>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2031</a:t>
            </a:r>
          </a:p>
        </p:txBody>
      </p:sp>
      <p:cxnSp>
        <p:nvCxnSpPr>
          <p:cNvPr id="27" name="Connector 26"/>
          <p:cNvCxnSpPr/>
          <p:nvPr/>
        </p:nvCxnSpPr>
        <p:spPr>
          <a:xfrm>
            <a:off x="1571625" y="4466337"/>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714500" y="4790339"/>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9" name="Rectangle 28"/>
          <p:cNvSpPr/>
          <p:nvPr/>
        </p:nvSpPr>
        <p:spPr>
          <a:xfrm>
            <a:off x="142875" y="5515924"/>
            <a:ext cx="11906250" cy="1049588"/>
          </a:xfrm>
          <a:prstGeom prst="rect">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142875" y="5515924"/>
            <a:ext cx="1428750" cy="1049588"/>
          </a:xfrm>
          <a:prstGeom prst="rect">
            <a:avLst/>
          </a:prstGeom>
          <a:noFill/>
        </p:spPr>
        <p:txBody>
          <a:bodyPr wrap="square" lIns="28575" rIns="28575" tIns="9525" bIns="9525" anchor="ctr">
            <a:spAutoFit/>
          </a:bodyPr>
          <a:lstStyle/>
          <a:p>
            <a:pPr algn="ctr"/>
            <a:r>
              <a:rPr sz="1250" b="1">
                <a:solidFill>
                  <a:srgbClr val="0B2E4A"/>
                </a:solidFill>
                <a:latin typeface="Calibri"/>
              </a:rPr>
              <a:t>2036</a:t>
            </a:r>
          </a:p>
        </p:txBody>
      </p:sp>
      <p:cxnSp>
        <p:nvCxnSpPr>
          <p:cNvPr id="31" name="Connector 30"/>
          <p:cNvCxnSpPr/>
          <p:nvPr/>
        </p:nvCxnSpPr>
        <p:spPr>
          <a:xfrm>
            <a:off x="1571625" y="5515924"/>
            <a:ext cx="0" cy="1049588"/>
          </a:xfrm>
          <a:prstGeom prst="line">
            <a:avLst/>
          </a:prstGeom>
          <a:ln w="12700">
            <a:solidFill>
              <a:srgbClr val="69B1E0"/>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714500" y="5839928"/>
            <a:ext cx="102108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TextBox 3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34" name="TextBox 33"/>
          <p:cNvSpPr txBox="1"/>
          <p:nvPr/>
        </p:nvSpPr>
        <p:spPr>
          <a:xfrm>
            <a:off x="1743075" y="1681434"/>
            <a:ext cx="3378969" cy="179984"/>
          </a:xfrm>
          <a:prstGeom prst="rect">
            <a:avLst/>
          </a:prstGeom>
          <a:noFill/>
        </p:spPr>
        <p:txBody>
          <a:bodyPr wrap="none" lIns="0" rIns="0" tIns="0" bIns="0">
            <a:spAutoFit/>
          </a:bodyPr>
          <a:lstStyle/>
          <a:p>
            <a:r>
              <a:rPr sz="1055" b="0">
                <a:solidFill>
                  <a:srgbClr val="2E2E2E"/>
                </a:solidFill>
                <a:latin typeface="Calibri"/>
              </a:rPr>
              <a:t>Strongest historical expansion on record: Global value rose +</a:t>
            </a:r>
          </a:p>
        </p:txBody>
      </p:sp>
      <p:pic>
        <p:nvPicPr>
          <p:cNvPr id="35" name="Picture 34" descr="lock.png"/>
          <p:cNvPicPr>
            <a:picLocks noChangeAspect="1"/>
          </p:cNvPicPr>
          <p:nvPr/>
        </p:nvPicPr>
        <p:blipFill>
          <a:blip r:embed="rId4"/>
          <a:stretch>
            <a:fillRect/>
          </a:stretch>
        </p:blipFill>
        <p:spPr>
          <a:xfrm>
            <a:off x="5069126" y="1672046"/>
            <a:ext cx="123551" cy="179710"/>
          </a:xfrm>
          <a:prstGeom prst="rect">
            <a:avLst/>
          </a:prstGeom>
        </p:spPr>
      </p:pic>
      <p:sp>
        <p:nvSpPr>
          <p:cNvPr id="36" name="TextBox 35"/>
          <p:cNvSpPr txBox="1"/>
          <p:nvPr/>
        </p:nvSpPr>
        <p:spPr>
          <a:xfrm>
            <a:off x="5229922" y="1681434"/>
            <a:ext cx="901565" cy="179984"/>
          </a:xfrm>
          <a:prstGeom prst="rect">
            <a:avLst/>
          </a:prstGeom>
          <a:noFill/>
        </p:spPr>
        <p:txBody>
          <a:bodyPr wrap="none" lIns="0" rIns="0" tIns="0" bIns="0">
            <a:spAutoFit/>
          </a:bodyPr>
          <a:lstStyle/>
          <a:p>
            <a:r>
              <a:rPr sz="1055" b="0">
                <a:solidFill>
                  <a:srgbClr val="2E2E2E"/>
                </a:solidFill>
                <a:latin typeface="Calibri"/>
              </a:rPr>
              <a:t>year on year to</a:t>
            </a:r>
          </a:p>
        </p:txBody>
      </p:sp>
      <p:pic>
        <p:nvPicPr>
          <p:cNvPr id="37" name="Picture 36" descr="lock.png"/>
          <p:cNvPicPr>
            <a:picLocks noChangeAspect="1"/>
          </p:cNvPicPr>
          <p:nvPr/>
        </p:nvPicPr>
        <p:blipFill>
          <a:blip r:embed="rId4"/>
          <a:stretch>
            <a:fillRect/>
          </a:stretch>
        </p:blipFill>
        <p:spPr>
          <a:xfrm>
            <a:off x="6078569" y="1672046"/>
            <a:ext cx="123551" cy="179710"/>
          </a:xfrm>
          <a:prstGeom prst="rect">
            <a:avLst/>
          </a:prstGeom>
        </p:spPr>
      </p:pic>
      <p:sp>
        <p:nvSpPr>
          <p:cNvPr id="38" name="TextBox 37"/>
          <p:cNvSpPr txBox="1"/>
          <p:nvPr/>
        </p:nvSpPr>
        <p:spPr>
          <a:xfrm>
            <a:off x="6239365" y="1681434"/>
            <a:ext cx="5039915" cy="179984"/>
          </a:xfrm>
          <a:prstGeom prst="rect">
            <a:avLst/>
          </a:prstGeom>
          <a:noFill/>
        </p:spPr>
        <p:txBody>
          <a:bodyPr wrap="none" lIns="0" rIns="0" tIns="0" bIns="0">
            <a:spAutoFit/>
          </a:bodyPr>
          <a:lstStyle/>
          <a:p>
            <a:r>
              <a:rPr sz="1055" b="0">
                <a:solidFill>
                  <a:srgbClr val="2E2E2E"/>
                </a:solidFill>
                <a:latin typeface="Calibri"/>
              </a:rPr>
              <a:t>US$ Mn, the steepest single-year move of the 2021–2025 period. Demand for 'Matcha Tea'</a:t>
            </a:r>
          </a:p>
        </p:txBody>
      </p:sp>
      <p:pic>
        <p:nvPicPr>
          <p:cNvPr id="39" name="Picture 38" descr="lock.png"/>
          <p:cNvPicPr>
            <a:picLocks noChangeAspect="1"/>
          </p:cNvPicPr>
          <p:nvPr/>
        </p:nvPicPr>
        <p:blipFill>
          <a:blip r:embed="rId4"/>
          <a:stretch>
            <a:fillRect/>
          </a:stretch>
        </p:blipFill>
        <p:spPr>
          <a:xfrm>
            <a:off x="11226362" y="1672046"/>
            <a:ext cx="123551" cy="179710"/>
          </a:xfrm>
          <a:prstGeom prst="rect">
            <a:avLst/>
          </a:prstGeom>
        </p:spPr>
      </p:pic>
      <p:sp>
        <p:nvSpPr>
          <p:cNvPr id="40" name="TextBox 39"/>
          <p:cNvSpPr txBox="1"/>
          <p:nvPr/>
        </p:nvSpPr>
        <p:spPr>
          <a:xfrm>
            <a:off x="11387158" y="1681434"/>
            <a:ext cx="187785" cy="179984"/>
          </a:xfrm>
          <a:prstGeom prst="rect">
            <a:avLst/>
          </a:prstGeom>
          <a:noFill/>
        </p:spPr>
        <p:txBody>
          <a:bodyPr wrap="none" lIns="0" rIns="0" tIns="0" bIns="0">
            <a:spAutoFit/>
          </a:bodyPr>
          <a:lstStyle/>
          <a:p>
            <a:r>
              <a:rPr sz="1055" b="0">
                <a:solidFill>
                  <a:srgbClr val="2E2E2E"/>
                </a:solidFill>
                <a:latin typeface="Calibri"/>
              </a:rPr>
              <a:t>of</a:t>
            </a:r>
          </a:p>
        </p:txBody>
      </p:sp>
      <p:sp>
        <p:nvSpPr>
          <p:cNvPr id="41" name="TextBox 40"/>
          <p:cNvSpPr txBox="1"/>
          <p:nvPr/>
        </p:nvSpPr>
        <p:spPr>
          <a:xfrm>
            <a:off x="1743075" y="1842368"/>
            <a:ext cx="6575131" cy="179984"/>
          </a:xfrm>
          <a:prstGeom prst="rect">
            <a:avLst/>
          </a:prstGeom>
          <a:noFill/>
        </p:spPr>
        <p:txBody>
          <a:bodyPr wrap="none" lIns="0" rIns="0" tIns="0" bIns="0">
            <a:spAutoFit/>
          </a:bodyPr>
          <a:lstStyle/>
          <a:p>
            <a:r>
              <a:rPr sz="1055" b="0">
                <a:solidFill>
                  <a:srgbClr val="2E2E2E"/>
                </a:solidFill>
                <a:latin typeface="Calibri"/>
              </a:rPr>
              <a:t>product type value by 2036 set the pace, and the 6 application routes tracked here all carried volume through the year.</a:t>
            </a:r>
          </a:p>
        </p:txBody>
      </p:sp>
      <p:sp>
        <p:nvSpPr>
          <p:cNvPr id="42" name="TextBox 41"/>
          <p:cNvSpPr txBox="1"/>
          <p:nvPr/>
        </p:nvSpPr>
        <p:spPr>
          <a:xfrm>
            <a:off x="1743075" y="2731020"/>
            <a:ext cx="5456658" cy="179984"/>
          </a:xfrm>
          <a:prstGeom prst="rect">
            <a:avLst/>
          </a:prstGeom>
          <a:noFill/>
        </p:spPr>
        <p:txBody>
          <a:bodyPr wrap="none" lIns="0" rIns="0" tIns="0" bIns="0">
            <a:spAutoFit/>
          </a:bodyPr>
          <a:lstStyle/>
          <a:p>
            <a:r>
              <a:rPr sz="1055" b="0">
                <a:solidFill>
                  <a:srgbClr val="2E2E2E"/>
                </a:solidFill>
                <a:latin typeface="Calibri"/>
              </a:rPr>
              <a:t>Base year for the forecast: the global market is estimated at 3,374 US$ Mn, having compounded at</a:t>
            </a:r>
          </a:p>
        </p:txBody>
      </p:sp>
      <p:pic>
        <p:nvPicPr>
          <p:cNvPr id="43" name="Picture 42" descr="lock.png"/>
          <p:cNvPicPr>
            <a:picLocks noChangeAspect="1"/>
          </p:cNvPicPr>
          <p:nvPr/>
        </p:nvPicPr>
        <p:blipFill>
          <a:blip r:embed="rId4"/>
          <a:stretch>
            <a:fillRect/>
          </a:stretch>
        </p:blipFill>
        <p:spPr>
          <a:xfrm>
            <a:off x="7146814" y="2721632"/>
            <a:ext cx="123551" cy="179710"/>
          </a:xfrm>
          <a:prstGeom prst="rect">
            <a:avLst/>
          </a:prstGeom>
        </p:spPr>
      </p:pic>
      <p:sp>
        <p:nvSpPr>
          <p:cNvPr id="44" name="TextBox 43"/>
          <p:cNvSpPr txBox="1"/>
          <p:nvPr/>
        </p:nvSpPr>
        <p:spPr>
          <a:xfrm>
            <a:off x="7307610" y="2731020"/>
            <a:ext cx="2310788" cy="179984"/>
          </a:xfrm>
          <a:prstGeom prst="rect">
            <a:avLst/>
          </a:prstGeom>
          <a:noFill/>
        </p:spPr>
        <p:txBody>
          <a:bodyPr wrap="none" lIns="0" rIns="0" tIns="0" bIns="0">
            <a:spAutoFit/>
          </a:bodyPr>
          <a:lstStyle/>
          <a:p>
            <a:r>
              <a:rPr sz="1055" b="0">
                <a:solidFill>
                  <a:srgbClr val="2E2E2E"/>
                </a:solidFill>
                <a:latin typeface="Calibri"/>
              </a:rPr>
              <a:t>across 2021–2025. 'North America' holds</a:t>
            </a:r>
          </a:p>
        </p:txBody>
      </p:sp>
      <p:pic>
        <p:nvPicPr>
          <p:cNvPr id="45" name="Picture 44" descr="lock.png"/>
          <p:cNvPicPr>
            <a:picLocks noChangeAspect="1"/>
          </p:cNvPicPr>
          <p:nvPr/>
        </p:nvPicPr>
        <p:blipFill>
          <a:blip r:embed="rId4"/>
          <a:stretch>
            <a:fillRect/>
          </a:stretch>
        </p:blipFill>
        <p:spPr>
          <a:xfrm>
            <a:off x="9565481" y="2721632"/>
            <a:ext cx="123551" cy="179710"/>
          </a:xfrm>
          <a:prstGeom prst="rect">
            <a:avLst/>
          </a:prstGeom>
        </p:spPr>
      </p:pic>
      <p:sp>
        <p:nvSpPr>
          <p:cNvPr id="46" name="TextBox 45"/>
          <p:cNvSpPr txBox="1"/>
          <p:nvPr/>
        </p:nvSpPr>
        <p:spPr>
          <a:xfrm>
            <a:off x="9726277" y="2731020"/>
            <a:ext cx="1896665" cy="179984"/>
          </a:xfrm>
          <a:prstGeom prst="rect">
            <a:avLst/>
          </a:prstGeom>
          <a:noFill/>
        </p:spPr>
        <p:txBody>
          <a:bodyPr wrap="none" lIns="0" rIns="0" tIns="0" bIns="0">
            <a:spAutoFit/>
          </a:bodyPr>
          <a:lstStyle/>
          <a:p>
            <a:r>
              <a:rPr sz="1055" b="0">
                <a:solidFill>
                  <a:srgbClr val="2E2E2E"/>
                </a:solidFill>
                <a:latin typeface="Calibri"/>
              </a:rPr>
              <a:t>of value across 6 regions, and the</a:t>
            </a:r>
          </a:p>
        </p:txBody>
      </p:sp>
      <p:sp>
        <p:nvSpPr>
          <p:cNvPr id="47" name="TextBox 46"/>
          <p:cNvSpPr txBox="1"/>
          <p:nvPr/>
        </p:nvSpPr>
        <p:spPr>
          <a:xfrm>
            <a:off x="1743075" y="2891954"/>
            <a:ext cx="4221622" cy="179984"/>
          </a:xfrm>
          <a:prstGeom prst="rect">
            <a:avLst/>
          </a:prstGeom>
          <a:noFill/>
        </p:spPr>
        <p:txBody>
          <a:bodyPr wrap="none" lIns="0" rIns="0" tIns="0" bIns="0">
            <a:spAutoFit/>
          </a:bodyPr>
          <a:lstStyle/>
          <a:p>
            <a:r>
              <a:rPr sz="1055" b="0">
                <a:solidFill>
                  <a:srgbClr val="2E2E2E"/>
                </a:solidFill>
                <a:latin typeface="Calibri"/>
              </a:rPr>
              <a:t>forecast is built from 11 segment breakdowns covering 2 product type lines.</a:t>
            </a:r>
          </a:p>
        </p:txBody>
      </p:sp>
      <p:sp>
        <p:nvSpPr>
          <p:cNvPr id="48" name="TextBox 47"/>
          <p:cNvSpPr txBox="1"/>
          <p:nvPr/>
        </p:nvSpPr>
        <p:spPr>
          <a:xfrm>
            <a:off x="1743075" y="3780609"/>
            <a:ext cx="1089374" cy="179984"/>
          </a:xfrm>
          <a:prstGeom prst="rect">
            <a:avLst/>
          </a:prstGeom>
          <a:noFill/>
        </p:spPr>
        <p:txBody>
          <a:bodyPr wrap="none" lIns="0" rIns="0" tIns="0" bIns="0">
            <a:spAutoFit/>
          </a:bodyPr>
          <a:lstStyle/>
          <a:p>
            <a:r>
              <a:rPr sz="1055" b="0">
                <a:solidFill>
                  <a:srgbClr val="2E2E2E"/>
                </a:solidFill>
                <a:latin typeface="Calibri"/>
              </a:rPr>
              <a:t>The market passes</a:t>
            </a:r>
          </a:p>
        </p:txBody>
      </p:sp>
      <p:pic>
        <p:nvPicPr>
          <p:cNvPr id="49" name="Picture 48" descr="lock.png"/>
          <p:cNvPicPr>
            <a:picLocks noChangeAspect="1"/>
          </p:cNvPicPr>
          <p:nvPr/>
        </p:nvPicPr>
        <p:blipFill>
          <a:blip r:embed="rId4"/>
          <a:stretch>
            <a:fillRect/>
          </a:stretch>
        </p:blipFill>
        <p:spPr>
          <a:xfrm>
            <a:off x="2779530" y="3771221"/>
            <a:ext cx="123551" cy="179710"/>
          </a:xfrm>
          <a:prstGeom prst="rect">
            <a:avLst/>
          </a:prstGeom>
        </p:spPr>
      </p:pic>
      <p:sp>
        <p:nvSpPr>
          <p:cNvPr id="50" name="TextBox 49"/>
          <p:cNvSpPr txBox="1"/>
          <p:nvPr/>
        </p:nvSpPr>
        <p:spPr>
          <a:xfrm>
            <a:off x="2940326" y="3780609"/>
            <a:ext cx="2945201" cy="179984"/>
          </a:xfrm>
          <a:prstGeom prst="rect">
            <a:avLst/>
          </a:prstGeom>
          <a:noFill/>
        </p:spPr>
        <p:txBody>
          <a:bodyPr wrap="none" lIns="0" rIns="0" tIns="0" bIns="0">
            <a:spAutoFit/>
          </a:bodyPr>
          <a:lstStyle/>
          <a:p>
            <a:r>
              <a:rPr sz="1055" b="0">
                <a:solidFill>
                  <a:srgbClr val="2E2E2E"/>
                </a:solidFill>
                <a:latin typeface="Calibri"/>
              </a:rPr>
              <a:t>US$ Mn one and a half times the 2026 base reaching</a:t>
            </a:r>
          </a:p>
        </p:txBody>
      </p:sp>
      <p:pic>
        <p:nvPicPr>
          <p:cNvPr id="51" name="Picture 50" descr="lock.png"/>
          <p:cNvPicPr>
            <a:picLocks noChangeAspect="1"/>
          </p:cNvPicPr>
          <p:nvPr/>
        </p:nvPicPr>
        <p:blipFill>
          <a:blip r:embed="rId4"/>
          <a:stretch>
            <a:fillRect/>
          </a:stretch>
        </p:blipFill>
        <p:spPr>
          <a:xfrm>
            <a:off x="5832609" y="3771221"/>
            <a:ext cx="123551" cy="179710"/>
          </a:xfrm>
          <a:prstGeom prst="rect">
            <a:avLst/>
          </a:prstGeom>
        </p:spPr>
      </p:pic>
      <p:sp>
        <p:nvSpPr>
          <p:cNvPr id="52" name="TextBox 51"/>
          <p:cNvSpPr txBox="1"/>
          <p:nvPr/>
        </p:nvSpPr>
        <p:spPr>
          <a:xfrm>
            <a:off x="5993405" y="3780609"/>
            <a:ext cx="3263193" cy="179984"/>
          </a:xfrm>
          <a:prstGeom prst="rect">
            <a:avLst/>
          </a:prstGeom>
          <a:noFill/>
        </p:spPr>
        <p:txBody>
          <a:bodyPr wrap="none" lIns="0" rIns="0" tIns="0" bIns="0">
            <a:spAutoFit/>
          </a:bodyPr>
          <a:lstStyle/>
          <a:p>
            <a:r>
              <a:rPr sz="1055" b="0">
                <a:solidFill>
                  <a:srgbClr val="2E2E2E"/>
                </a:solidFill>
                <a:latin typeface="Calibri"/>
              </a:rPr>
              <a:t>US$ Mn. Growth by this point is led by 'Matcha Powder' at</a:t>
            </a:r>
          </a:p>
        </p:txBody>
      </p:sp>
      <p:pic>
        <p:nvPicPr>
          <p:cNvPr id="53" name="Picture 52" descr="lock.png"/>
          <p:cNvPicPr>
            <a:picLocks noChangeAspect="1"/>
          </p:cNvPicPr>
          <p:nvPr/>
        </p:nvPicPr>
        <p:blipFill>
          <a:blip r:embed="rId4"/>
          <a:stretch>
            <a:fillRect/>
          </a:stretch>
        </p:blipFill>
        <p:spPr>
          <a:xfrm>
            <a:off x="9203680" y="3771221"/>
            <a:ext cx="123551" cy="179710"/>
          </a:xfrm>
          <a:prstGeom prst="rect">
            <a:avLst/>
          </a:prstGeom>
        </p:spPr>
      </p:pic>
      <p:sp>
        <p:nvSpPr>
          <p:cNvPr id="54" name="TextBox 53"/>
          <p:cNvSpPr txBox="1"/>
          <p:nvPr/>
        </p:nvSpPr>
        <p:spPr>
          <a:xfrm>
            <a:off x="9364476" y="3780609"/>
            <a:ext cx="1945107" cy="179984"/>
          </a:xfrm>
          <a:prstGeom prst="rect">
            <a:avLst/>
          </a:prstGeom>
          <a:noFill/>
        </p:spPr>
        <p:txBody>
          <a:bodyPr wrap="none" lIns="0" rIns="0" tIns="0" bIns="0">
            <a:spAutoFit/>
          </a:bodyPr>
          <a:lstStyle/>
          <a:p>
            <a:r>
              <a:rPr sz="1055" b="0">
                <a:solidFill>
                  <a:srgbClr val="2E2E2E"/>
                </a:solidFill>
                <a:latin typeface="Calibri"/>
              </a:rPr>
              <a:t>CAGR and by 'South Asia &amp; Pacific'</a:t>
            </a:r>
          </a:p>
        </p:txBody>
      </p:sp>
      <p:sp>
        <p:nvSpPr>
          <p:cNvPr id="55" name="TextBox 54"/>
          <p:cNvSpPr txBox="1"/>
          <p:nvPr/>
        </p:nvSpPr>
        <p:spPr>
          <a:xfrm>
            <a:off x="1743075" y="3941543"/>
            <a:ext cx="1023104" cy="179984"/>
          </a:xfrm>
          <a:prstGeom prst="rect">
            <a:avLst/>
          </a:prstGeom>
          <a:noFill/>
        </p:spPr>
        <p:txBody>
          <a:bodyPr wrap="none" lIns="0" rIns="0" tIns="0" bIns="0">
            <a:spAutoFit/>
          </a:bodyPr>
          <a:lstStyle/>
          <a:p>
            <a:r>
              <a:rPr sz="1055" b="0">
                <a:solidFill>
                  <a:srgbClr val="2E2E2E"/>
                </a:solidFill>
                <a:latin typeface="Calibri"/>
              </a:rPr>
              <a:t>among regions at</a:t>
            </a:r>
          </a:p>
        </p:txBody>
      </p:sp>
      <p:pic>
        <p:nvPicPr>
          <p:cNvPr id="56" name="Picture 55" descr="lock.png"/>
          <p:cNvPicPr>
            <a:picLocks noChangeAspect="1"/>
          </p:cNvPicPr>
          <p:nvPr/>
        </p:nvPicPr>
        <p:blipFill>
          <a:blip r:embed="rId4"/>
          <a:stretch>
            <a:fillRect/>
          </a:stretch>
        </p:blipFill>
        <p:spPr>
          <a:xfrm>
            <a:off x="2713260" y="3932155"/>
            <a:ext cx="123551" cy="179710"/>
          </a:xfrm>
          <a:prstGeom prst="rect">
            <a:avLst/>
          </a:prstGeom>
        </p:spPr>
      </p:pic>
      <p:sp>
        <p:nvSpPr>
          <p:cNvPr id="57" name="TextBox 56"/>
          <p:cNvSpPr txBox="1"/>
          <p:nvPr/>
        </p:nvSpPr>
        <p:spPr>
          <a:xfrm>
            <a:off x="2874056" y="3941543"/>
            <a:ext cx="3178063" cy="179984"/>
          </a:xfrm>
          <a:prstGeom prst="rect">
            <a:avLst/>
          </a:prstGeom>
          <a:noFill/>
        </p:spPr>
        <p:txBody>
          <a:bodyPr wrap="none" lIns="0" rIns="0" tIns="0" bIns="0">
            <a:spAutoFit/>
          </a:bodyPr>
          <a:lstStyle/>
          <a:p>
            <a:r>
              <a:rPr sz="1055" b="0">
                <a:solidFill>
                  <a:srgbClr val="2E2E2E"/>
                </a:solidFill>
                <a:latin typeface="Calibri"/>
              </a:rPr>
              <a:t>, with 3 of 6 regions running at or above the market rate.</a:t>
            </a:r>
          </a:p>
        </p:txBody>
      </p:sp>
      <p:sp>
        <p:nvSpPr>
          <p:cNvPr id="58" name="TextBox 57"/>
          <p:cNvSpPr txBox="1"/>
          <p:nvPr/>
        </p:nvSpPr>
        <p:spPr>
          <a:xfrm>
            <a:off x="1743075" y="4830195"/>
            <a:ext cx="2190297" cy="179984"/>
          </a:xfrm>
          <a:prstGeom prst="rect">
            <a:avLst/>
          </a:prstGeom>
          <a:noFill/>
        </p:spPr>
        <p:txBody>
          <a:bodyPr wrap="none" lIns="0" rIns="0" tIns="0" bIns="0">
            <a:spAutoFit/>
          </a:bodyPr>
          <a:lstStyle/>
          <a:p>
            <a:r>
              <a:rPr sz="1055" b="0">
                <a:solidFill>
                  <a:srgbClr val="2E2E2E"/>
                </a:solidFill>
                <a:latin typeface="Calibri"/>
              </a:rPr>
              <a:t>Mid-horizon checkpoint: value reaches</a:t>
            </a:r>
          </a:p>
        </p:txBody>
      </p:sp>
      <p:pic>
        <p:nvPicPr>
          <p:cNvPr id="59" name="Picture 58" descr="lock.png"/>
          <p:cNvPicPr>
            <a:picLocks noChangeAspect="1"/>
          </p:cNvPicPr>
          <p:nvPr/>
        </p:nvPicPr>
        <p:blipFill>
          <a:blip r:embed="rId4"/>
          <a:stretch>
            <a:fillRect/>
          </a:stretch>
        </p:blipFill>
        <p:spPr>
          <a:xfrm>
            <a:off x="3880454" y="4820807"/>
            <a:ext cx="123551" cy="179710"/>
          </a:xfrm>
          <a:prstGeom prst="rect">
            <a:avLst/>
          </a:prstGeom>
        </p:spPr>
      </p:pic>
      <p:sp>
        <p:nvSpPr>
          <p:cNvPr id="60" name="TextBox 59"/>
          <p:cNvSpPr txBox="1"/>
          <p:nvPr/>
        </p:nvSpPr>
        <p:spPr>
          <a:xfrm>
            <a:off x="4041250" y="4830195"/>
            <a:ext cx="541139" cy="179984"/>
          </a:xfrm>
          <a:prstGeom prst="rect">
            <a:avLst/>
          </a:prstGeom>
          <a:noFill/>
        </p:spPr>
        <p:txBody>
          <a:bodyPr wrap="none" lIns="0" rIns="0" tIns="0" bIns="0">
            <a:spAutoFit/>
          </a:bodyPr>
          <a:lstStyle/>
          <a:p>
            <a:r>
              <a:rPr sz="1055" b="0">
                <a:solidFill>
                  <a:srgbClr val="2E2E2E"/>
                </a:solidFill>
                <a:latin typeface="Calibri"/>
              </a:rPr>
              <a:t>US$ Mn,</a:t>
            </a:r>
          </a:p>
        </p:txBody>
      </p:sp>
      <p:pic>
        <p:nvPicPr>
          <p:cNvPr id="61" name="Picture 60" descr="lock.png"/>
          <p:cNvPicPr>
            <a:picLocks noChangeAspect="1"/>
          </p:cNvPicPr>
          <p:nvPr/>
        </p:nvPicPr>
        <p:blipFill>
          <a:blip r:embed="rId4"/>
          <a:stretch>
            <a:fillRect/>
          </a:stretch>
        </p:blipFill>
        <p:spPr>
          <a:xfrm>
            <a:off x="4529470" y="4820807"/>
            <a:ext cx="123551" cy="179710"/>
          </a:xfrm>
          <a:prstGeom prst="rect">
            <a:avLst/>
          </a:prstGeom>
        </p:spPr>
      </p:pic>
      <p:sp>
        <p:nvSpPr>
          <p:cNvPr id="62" name="TextBox 61"/>
          <p:cNvSpPr txBox="1"/>
          <p:nvPr/>
        </p:nvSpPr>
        <p:spPr>
          <a:xfrm>
            <a:off x="4690266" y="4830195"/>
            <a:ext cx="2581333" cy="179984"/>
          </a:xfrm>
          <a:prstGeom prst="rect">
            <a:avLst/>
          </a:prstGeom>
          <a:noFill/>
        </p:spPr>
        <p:txBody>
          <a:bodyPr wrap="none" lIns="0" rIns="0" tIns="0" bIns="0">
            <a:spAutoFit/>
          </a:bodyPr>
          <a:lstStyle/>
          <a:p>
            <a:r>
              <a:rPr sz="1055" b="0">
                <a:solidFill>
                  <a:srgbClr val="2E2E2E"/>
                </a:solidFill>
                <a:latin typeface="Calibri"/>
              </a:rPr>
              <a:t>× the 2026 base. Average realisation stands at</a:t>
            </a:r>
          </a:p>
        </p:txBody>
      </p:sp>
      <p:pic>
        <p:nvPicPr>
          <p:cNvPr id="63" name="Picture 62" descr="lock.png"/>
          <p:cNvPicPr>
            <a:picLocks noChangeAspect="1"/>
          </p:cNvPicPr>
          <p:nvPr/>
        </p:nvPicPr>
        <p:blipFill>
          <a:blip r:embed="rId4"/>
          <a:stretch>
            <a:fillRect/>
          </a:stretch>
        </p:blipFill>
        <p:spPr>
          <a:xfrm>
            <a:off x="7218681" y="4820807"/>
            <a:ext cx="123551" cy="179710"/>
          </a:xfrm>
          <a:prstGeom prst="rect">
            <a:avLst/>
          </a:prstGeom>
        </p:spPr>
      </p:pic>
      <p:sp>
        <p:nvSpPr>
          <p:cNvPr id="64" name="TextBox 63"/>
          <p:cNvSpPr txBox="1"/>
          <p:nvPr/>
        </p:nvSpPr>
        <p:spPr>
          <a:xfrm>
            <a:off x="7379477" y="4830195"/>
            <a:ext cx="1740288" cy="179984"/>
          </a:xfrm>
          <a:prstGeom prst="rect">
            <a:avLst/>
          </a:prstGeom>
          <a:noFill/>
        </p:spPr>
        <p:txBody>
          <a:bodyPr wrap="none" lIns="0" rIns="0" tIns="0" bIns="0">
            <a:spAutoFit/>
          </a:bodyPr>
          <a:lstStyle/>
          <a:p>
            <a:r>
              <a:rPr sz="1055" b="0">
                <a:solidFill>
                  <a:srgbClr val="2E2E2E"/>
                </a:solidFill>
                <a:latin typeface="Calibri"/>
              </a:rPr>
              <a:t>US$/MT, and mix has moved +</a:t>
            </a:r>
          </a:p>
        </p:txBody>
      </p:sp>
      <p:pic>
        <p:nvPicPr>
          <p:cNvPr id="65" name="Picture 64" descr="lock.png"/>
          <p:cNvPicPr>
            <a:picLocks noChangeAspect="1"/>
          </p:cNvPicPr>
          <p:nvPr/>
        </p:nvPicPr>
        <p:blipFill>
          <a:blip r:embed="rId4"/>
          <a:stretch>
            <a:fillRect/>
          </a:stretch>
        </p:blipFill>
        <p:spPr>
          <a:xfrm>
            <a:off x="9066848" y="4820807"/>
            <a:ext cx="123551" cy="179710"/>
          </a:xfrm>
          <a:prstGeom prst="rect">
            <a:avLst/>
          </a:prstGeom>
        </p:spPr>
      </p:pic>
      <p:sp>
        <p:nvSpPr>
          <p:cNvPr id="66" name="TextBox 65"/>
          <p:cNvSpPr txBox="1"/>
          <p:nvPr/>
        </p:nvSpPr>
        <p:spPr>
          <a:xfrm>
            <a:off x="9227644" y="4830195"/>
            <a:ext cx="1984676" cy="179984"/>
          </a:xfrm>
          <a:prstGeom prst="rect">
            <a:avLst/>
          </a:prstGeom>
          <a:noFill/>
        </p:spPr>
        <p:txBody>
          <a:bodyPr wrap="none" lIns="0" rIns="0" tIns="0" bIns="0">
            <a:spAutoFit/>
          </a:bodyPr>
          <a:lstStyle/>
          <a:p>
            <a:r>
              <a:rPr sz="1055" b="0">
                <a:solidFill>
                  <a:srgbClr val="2E2E2E"/>
                </a:solidFill>
                <a:latin typeface="Calibri"/>
              </a:rPr>
              <a:t>BPS toward 'Matcha Powder' while</a:t>
            </a:r>
          </a:p>
        </p:txBody>
      </p:sp>
      <p:sp>
        <p:nvSpPr>
          <p:cNvPr id="67" name="TextBox 66"/>
          <p:cNvSpPr txBox="1"/>
          <p:nvPr/>
        </p:nvSpPr>
        <p:spPr>
          <a:xfrm>
            <a:off x="1743075" y="4991129"/>
            <a:ext cx="1253085" cy="179984"/>
          </a:xfrm>
          <a:prstGeom prst="rect">
            <a:avLst/>
          </a:prstGeom>
          <a:noFill/>
        </p:spPr>
        <p:txBody>
          <a:bodyPr wrap="none" lIns="0" rIns="0" tIns="0" bIns="0">
            <a:spAutoFit/>
          </a:bodyPr>
          <a:lstStyle/>
          <a:p>
            <a:r>
              <a:rPr sz="1055" b="0">
                <a:solidFill>
                  <a:srgbClr val="2E2E2E"/>
                </a:solidFill>
                <a:latin typeface="Calibri"/>
              </a:rPr>
              <a:t>'Matcha Tea' gives up</a:t>
            </a:r>
          </a:p>
        </p:txBody>
      </p:sp>
      <p:pic>
        <p:nvPicPr>
          <p:cNvPr id="68" name="Picture 67" descr="lock.png"/>
          <p:cNvPicPr>
            <a:picLocks noChangeAspect="1"/>
          </p:cNvPicPr>
          <p:nvPr/>
        </p:nvPicPr>
        <p:blipFill>
          <a:blip r:embed="rId4"/>
          <a:stretch>
            <a:fillRect/>
          </a:stretch>
        </p:blipFill>
        <p:spPr>
          <a:xfrm>
            <a:off x="2943241" y="4981741"/>
            <a:ext cx="123551" cy="179710"/>
          </a:xfrm>
          <a:prstGeom prst="rect">
            <a:avLst/>
          </a:prstGeom>
        </p:spPr>
      </p:pic>
      <p:sp>
        <p:nvSpPr>
          <p:cNvPr id="69" name="TextBox 68"/>
          <p:cNvSpPr txBox="1"/>
          <p:nvPr/>
        </p:nvSpPr>
        <p:spPr>
          <a:xfrm>
            <a:off x="3104037" y="4991129"/>
            <a:ext cx="314039" cy="179984"/>
          </a:xfrm>
          <a:prstGeom prst="rect">
            <a:avLst/>
          </a:prstGeom>
          <a:noFill/>
        </p:spPr>
        <p:txBody>
          <a:bodyPr wrap="none" lIns="0" rIns="0" tIns="0" bIns="0">
            <a:spAutoFit/>
          </a:bodyPr>
          <a:lstStyle/>
          <a:p>
            <a:r>
              <a:rPr sz="1055" b="0">
                <a:solidFill>
                  <a:srgbClr val="2E2E2E"/>
                </a:solidFill>
                <a:latin typeface="Calibri"/>
              </a:rPr>
              <a:t>BPS.</a:t>
            </a:r>
          </a:p>
        </p:txBody>
      </p:sp>
      <p:sp>
        <p:nvSpPr>
          <p:cNvPr id="70" name="TextBox 69"/>
          <p:cNvSpPr txBox="1"/>
          <p:nvPr/>
        </p:nvSpPr>
        <p:spPr>
          <a:xfrm>
            <a:off x="1743075" y="5879784"/>
            <a:ext cx="3470357" cy="179984"/>
          </a:xfrm>
          <a:prstGeom prst="rect">
            <a:avLst/>
          </a:prstGeom>
          <a:noFill/>
        </p:spPr>
        <p:txBody>
          <a:bodyPr wrap="none" lIns="0" rIns="0" tIns="0" bIns="0">
            <a:spAutoFit/>
          </a:bodyPr>
          <a:lstStyle/>
          <a:p>
            <a:r>
              <a:rPr sz="1055" b="0">
                <a:solidFill>
                  <a:srgbClr val="2E2E2E"/>
                </a:solidFill>
                <a:latin typeface="Calibri"/>
              </a:rPr>
              <a:t>Forecast outcome: the global market reaches 6,718 US$ Mn, a</a:t>
            </a:r>
          </a:p>
        </p:txBody>
      </p:sp>
      <p:pic>
        <p:nvPicPr>
          <p:cNvPr id="71" name="Picture 70" descr="lock.png"/>
          <p:cNvPicPr>
            <a:picLocks noChangeAspect="1"/>
          </p:cNvPicPr>
          <p:nvPr/>
        </p:nvPicPr>
        <p:blipFill>
          <a:blip r:embed="rId4"/>
          <a:stretch>
            <a:fillRect/>
          </a:stretch>
        </p:blipFill>
        <p:spPr>
          <a:xfrm>
            <a:off x="5160514" y="5870396"/>
            <a:ext cx="123551" cy="179710"/>
          </a:xfrm>
          <a:prstGeom prst="rect">
            <a:avLst/>
          </a:prstGeom>
        </p:spPr>
      </p:pic>
      <p:sp>
        <p:nvSpPr>
          <p:cNvPr id="72" name="TextBox 71"/>
          <p:cNvSpPr txBox="1"/>
          <p:nvPr/>
        </p:nvSpPr>
        <p:spPr>
          <a:xfrm>
            <a:off x="5321309" y="5879784"/>
            <a:ext cx="1437751" cy="179984"/>
          </a:xfrm>
          <a:prstGeom prst="rect">
            <a:avLst/>
          </a:prstGeom>
          <a:noFill/>
        </p:spPr>
        <p:txBody>
          <a:bodyPr wrap="none" lIns="0" rIns="0" tIns="0" bIns="0">
            <a:spAutoFit/>
          </a:bodyPr>
          <a:lstStyle/>
          <a:p>
            <a:r>
              <a:rPr sz="1055" b="0">
                <a:solidFill>
                  <a:srgbClr val="2E2E2E"/>
                </a:solidFill>
                <a:latin typeface="Calibri"/>
              </a:rPr>
              <a:t>× expansion on 2026 and</a:t>
            </a:r>
          </a:p>
        </p:txBody>
      </p:sp>
      <p:pic>
        <p:nvPicPr>
          <p:cNvPr id="73" name="Picture 72" descr="lock.png"/>
          <p:cNvPicPr>
            <a:picLocks noChangeAspect="1"/>
          </p:cNvPicPr>
          <p:nvPr/>
        </p:nvPicPr>
        <p:blipFill>
          <a:blip r:embed="rId4"/>
          <a:stretch>
            <a:fillRect/>
          </a:stretch>
        </p:blipFill>
        <p:spPr>
          <a:xfrm>
            <a:off x="6706142" y="5870396"/>
            <a:ext cx="123551" cy="179710"/>
          </a:xfrm>
          <a:prstGeom prst="rect">
            <a:avLst/>
          </a:prstGeom>
        </p:spPr>
      </p:pic>
      <p:sp>
        <p:nvSpPr>
          <p:cNvPr id="74" name="TextBox 73"/>
          <p:cNvSpPr txBox="1"/>
          <p:nvPr/>
        </p:nvSpPr>
        <p:spPr>
          <a:xfrm>
            <a:off x="6866938" y="5879784"/>
            <a:ext cx="3728378" cy="179984"/>
          </a:xfrm>
          <a:prstGeom prst="rect">
            <a:avLst/>
          </a:prstGeom>
          <a:noFill/>
        </p:spPr>
        <p:txBody>
          <a:bodyPr wrap="none" lIns="0" rIns="0" tIns="0" bIns="0">
            <a:spAutoFit/>
          </a:bodyPr>
          <a:lstStyle/>
          <a:p>
            <a:r>
              <a:rPr sz="1055" b="0">
                <a:solidFill>
                  <a:srgbClr val="2E2E2E"/>
                </a:solidFill>
                <a:latin typeface="Calibri"/>
              </a:rPr>
              <a:t>US$ Mn of incremental value at 7.1% CAGR. Volume compounds at</a:t>
            </a:r>
          </a:p>
        </p:txBody>
      </p:sp>
      <p:pic>
        <p:nvPicPr>
          <p:cNvPr id="75" name="Picture 74" descr="lock.png"/>
          <p:cNvPicPr>
            <a:picLocks noChangeAspect="1"/>
          </p:cNvPicPr>
          <p:nvPr/>
        </p:nvPicPr>
        <p:blipFill>
          <a:blip r:embed="rId4"/>
          <a:stretch>
            <a:fillRect/>
          </a:stretch>
        </p:blipFill>
        <p:spPr>
          <a:xfrm>
            <a:off x="10542398" y="5870396"/>
            <a:ext cx="123551" cy="179710"/>
          </a:xfrm>
          <a:prstGeom prst="rect">
            <a:avLst/>
          </a:prstGeom>
        </p:spPr>
      </p:pic>
      <p:sp>
        <p:nvSpPr>
          <p:cNvPr id="76" name="TextBox 75"/>
          <p:cNvSpPr txBox="1"/>
          <p:nvPr/>
        </p:nvSpPr>
        <p:spPr>
          <a:xfrm>
            <a:off x="10703194" y="5879784"/>
            <a:ext cx="854678" cy="179984"/>
          </a:xfrm>
          <a:prstGeom prst="rect">
            <a:avLst/>
          </a:prstGeom>
          <a:noFill/>
        </p:spPr>
        <p:txBody>
          <a:bodyPr wrap="none" lIns="0" rIns="0" tIns="0" bIns="0">
            <a:spAutoFit/>
          </a:bodyPr>
          <a:lstStyle/>
          <a:p>
            <a:r>
              <a:rPr sz="1055" b="0">
                <a:solidFill>
                  <a:srgbClr val="2E2E2E"/>
                </a:solidFill>
                <a:latin typeface="Calibri"/>
              </a:rPr>
              <a:t>over the same</a:t>
            </a:r>
          </a:p>
        </p:txBody>
      </p:sp>
      <p:sp>
        <p:nvSpPr>
          <p:cNvPr id="77" name="TextBox 76"/>
          <p:cNvSpPr txBox="1"/>
          <p:nvPr/>
        </p:nvSpPr>
        <p:spPr>
          <a:xfrm>
            <a:off x="1743075" y="6040718"/>
            <a:ext cx="1565052" cy="179984"/>
          </a:xfrm>
          <a:prstGeom prst="rect">
            <a:avLst/>
          </a:prstGeom>
          <a:noFill/>
        </p:spPr>
        <p:txBody>
          <a:bodyPr wrap="none" lIns="0" rIns="0" tIns="0" bIns="0">
            <a:spAutoFit/>
          </a:bodyPr>
          <a:lstStyle/>
          <a:p>
            <a:r>
              <a:rPr sz="1055" b="0">
                <a:solidFill>
                  <a:srgbClr val="2E2E2E"/>
                </a:solidFill>
                <a:latin typeface="Calibri"/>
              </a:rPr>
              <a:t>window, leaving realisation</a:t>
            </a:r>
          </a:p>
        </p:txBody>
      </p:sp>
      <p:pic>
        <p:nvPicPr>
          <p:cNvPr id="78" name="Picture 77" descr="lock.png"/>
          <p:cNvPicPr>
            <a:picLocks noChangeAspect="1"/>
          </p:cNvPicPr>
          <p:nvPr/>
        </p:nvPicPr>
        <p:blipFill>
          <a:blip r:embed="rId4"/>
          <a:stretch>
            <a:fillRect/>
          </a:stretch>
        </p:blipFill>
        <p:spPr>
          <a:xfrm>
            <a:off x="3255209" y="6031330"/>
            <a:ext cx="123551" cy="179710"/>
          </a:xfrm>
          <a:prstGeom prst="rect">
            <a:avLst/>
          </a:prstGeom>
        </p:spPr>
      </p:pic>
      <p:sp>
        <p:nvSpPr>
          <p:cNvPr id="79" name="TextBox 78"/>
          <p:cNvSpPr txBox="1"/>
          <p:nvPr/>
        </p:nvSpPr>
        <p:spPr>
          <a:xfrm>
            <a:off x="3416005" y="6040718"/>
            <a:ext cx="4255412" cy="179984"/>
          </a:xfrm>
          <a:prstGeom prst="rect">
            <a:avLst/>
          </a:prstGeom>
          <a:noFill/>
        </p:spPr>
        <p:txBody>
          <a:bodyPr wrap="none" lIns="0" rIns="0" tIns="0" bIns="0">
            <a:spAutoFit/>
          </a:bodyPr>
          <a:lstStyle/>
          <a:p>
            <a:r>
              <a:rPr sz="1055" b="0">
                <a:solidFill>
                  <a:srgbClr val="2E2E2E"/>
                </a:solidFill>
                <a:latin typeface="Calibri"/>
              </a:rPr>
              <a:t>a year the gap between the two is the premiumisation the forecast assumes.</a:t>
            </a:r>
          </a:p>
        </p:txBody>
      </p:sp>
    </p:spTree>
  </p:cSld>
  <p:clrMapOvr>
    <a:masterClrMapping/>
  </p:clrMapOvr>
</p:sld>
</file>

<file path=ppt/slides/slide27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Porter's Five Forces Analysis Global Matcha Market</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supplier power, buyer power, competition, substitutes and entry barriers shaping the market's profitability</a:t>
            </a:r>
          </a:p>
        </p:txBody>
      </p:sp>
      <p:sp>
        <p:nvSpPr>
          <p:cNvPr id="10" name="TextBox 9"/>
          <p:cNvSpPr txBox="1"/>
          <p:nvPr/>
        </p:nvSpPr>
        <p:spPr>
          <a:xfrm>
            <a:off x="142875" y="989007"/>
            <a:ext cx="11906250" cy="328567"/>
          </a:xfrm>
          <a:prstGeom prst="rect">
            <a:avLst/>
          </a:prstGeom>
          <a:noFill/>
        </p:spPr>
        <p:txBody>
          <a:bodyPr wrap="square" lIns="28575" rIns="28575" tIns="9525" bIns="9525" anchor="ctr">
            <a:spAutoFit/>
          </a:bodyPr>
          <a:lstStyle/>
          <a:p>
            <a:pPr algn="l">
              <a:lnSpc>
                <a:spcPct val="115000"/>
              </a:lnSpc>
            </a:pPr>
            <a:r>
              <a:rPr sz="1100" b="0">
                <a:solidFill>
                  <a:srgbClr val="6C7A89"/>
                </a:solidFill>
                <a:latin typeface="Calibri"/>
              </a:rPr>
              <a:t>Supplier power, buyer power, competitive intensity, substitution and entry barriers scored from the global dataset 2 product type lines, 6 application routes and 6 regions at 7.1% CAGR.</a:t>
            </a:r>
          </a:p>
        </p:txBody>
      </p:sp>
      <p:sp>
        <p:nvSpPr>
          <p:cNvPr id="11" name="Oval 10"/>
          <p:cNvSpPr/>
          <p:nvPr/>
        </p:nvSpPr>
        <p:spPr>
          <a:xfrm>
            <a:off x="876300" y="1427096"/>
            <a:ext cx="914400" cy="876177"/>
          </a:xfrm>
          <a:prstGeom prst="ellipse">
            <a:avLst/>
          </a:prstGeom>
          <a:solidFill>
            <a:srgbClr val="F2D24B"/>
          </a:solidFill>
          <a:ln w="12700">
            <a:solidFill>
              <a:srgbClr val="F2D24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1047750" y="1664394"/>
            <a:ext cx="571500" cy="401581"/>
          </a:xfrm>
          <a:prstGeom prst="rect">
            <a:avLst/>
          </a:prstGeom>
          <a:noFill/>
        </p:spPr>
        <p:txBody>
          <a:bodyPr wrap="none" lIns="0" rIns="0" tIns="0" bIns="0" anchor="ctr">
            <a:spAutoFit/>
          </a:bodyPr>
          <a:lstStyle/>
          <a:p>
            <a:pPr algn="ctr"/>
            <a:r>
              <a:rPr sz="3400" b="1">
                <a:solidFill>
                  <a:srgbClr val="8A6A00"/>
                </a:solidFill>
                <a:latin typeface="Calibri"/>
              </a:rPr>
              <a:t>$</a:t>
            </a:r>
          </a:p>
        </p:txBody>
      </p:sp>
      <p:sp>
        <p:nvSpPr>
          <p:cNvPr id="13" name="TextBox 12"/>
          <p:cNvSpPr txBox="1"/>
          <p:nvPr/>
        </p:nvSpPr>
        <p:spPr>
          <a:xfrm>
            <a:off x="219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Suppliers</a:t>
            </a:r>
          </a:p>
        </p:txBody>
      </p:sp>
      <p:sp>
        <p:nvSpPr>
          <p:cNvPr id="14" name="TextBox 13"/>
          <p:cNvSpPr txBox="1"/>
          <p:nvPr/>
        </p:nvSpPr>
        <p:spPr>
          <a:xfrm>
            <a:off x="247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5" name="TextBox 14"/>
          <p:cNvSpPr txBox="1"/>
          <p:nvPr/>
        </p:nvSpPr>
        <p:spPr>
          <a:xfrm>
            <a:off x="247650" y="3663174"/>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16" name="TextBox 15"/>
          <p:cNvSpPr txBox="1"/>
          <p:nvPr/>
        </p:nvSpPr>
        <p:spPr>
          <a:xfrm>
            <a:off x="247650" y="4530225"/>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Buyers can rebalance across 2 product type lines, which caps supplier leverage in commodity grades.</a:t>
            </a:r>
          </a:p>
        </p:txBody>
      </p:sp>
      <p:sp>
        <p:nvSpPr>
          <p:cNvPr id="17" name="Oval 16"/>
          <p:cNvSpPr/>
          <p:nvPr/>
        </p:nvSpPr>
        <p:spPr>
          <a:xfrm>
            <a:off x="3257550" y="1427096"/>
            <a:ext cx="914400" cy="876177"/>
          </a:xfrm>
          <a:prstGeom prst="ellipse">
            <a:avLst/>
          </a:prstGeom>
          <a:solidFill>
            <a:srgbClr val="D9D9D9"/>
          </a:solidFill>
          <a:ln w="12700">
            <a:solidFill>
              <a:srgbClr val="D9D9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Freeform 17"/>
          <p:cNvSpPr/>
          <p:nvPr/>
        </p:nvSpPr>
        <p:spPr>
          <a:xfrm>
            <a:off x="3476625" y="1710028"/>
            <a:ext cx="152400" cy="209918"/>
          </a:xfrm>
          <a:custGeom>
            <a:avLst/>
            <a:gdLst/>
            <a:ahLst/>
            <a:cxnLst/>
            <a:rect l="l" t="t" r="r" b="b"/>
            <a:pathLst>
              <a:path w="16" h="23">
                <a:moveTo>
                  <a:pt x="0" y="0"/>
                </a:moveTo>
                <a:lnTo>
                  <a:pt x="8" y="0"/>
                </a:lnTo>
                <a:lnTo>
                  <a:pt x="16" y="23"/>
                </a:lnTo>
              </a:path>
            </a:pathLst>
          </a:custGeom>
          <a:noFill/>
          <a:ln w="4318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Freeform 18"/>
          <p:cNvSpPr/>
          <p:nvPr/>
        </p:nvSpPr>
        <p:spPr>
          <a:xfrm>
            <a:off x="3609975" y="1783043"/>
            <a:ext cx="342900" cy="155156"/>
          </a:xfrm>
          <a:custGeom>
            <a:avLst/>
            <a:gdLst/>
            <a:ahLst/>
            <a:cxnLst/>
            <a:rect l="l" t="t" r="r" b="b"/>
            <a:pathLst>
              <a:path w="36" h="17">
                <a:moveTo>
                  <a:pt x="0" y="0"/>
                </a:moveTo>
                <a:lnTo>
                  <a:pt x="36" y="0"/>
                </a:lnTo>
                <a:lnTo>
                  <a:pt x="31" y="17"/>
                </a:lnTo>
                <a:lnTo>
                  <a:pt x="5" y="17"/>
                </a:lnTo>
                <a:close/>
              </a:path>
            </a:pathLst>
          </a:custGeom>
          <a:solidFill>
            <a:srgbClr val="2B2B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Oval 19"/>
          <p:cNvSpPr/>
          <p:nvPr/>
        </p:nvSpPr>
        <p:spPr>
          <a:xfrm>
            <a:off x="3648075"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Oval 20"/>
          <p:cNvSpPr/>
          <p:nvPr/>
        </p:nvSpPr>
        <p:spPr>
          <a:xfrm>
            <a:off x="3829050" y="1983834"/>
            <a:ext cx="76200" cy="73015"/>
          </a:xfrm>
          <a:prstGeom prst="ellipse">
            <a:avLst/>
          </a:prstGeom>
          <a:solidFill>
            <a:srgbClr val="2B2B2B"/>
          </a:solidFill>
          <a:ln w="12700">
            <a:solidFill>
              <a:srgbClr val="2B2B2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6003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Bargaining Power of Buyers</a:t>
            </a:r>
          </a:p>
        </p:txBody>
      </p:sp>
      <p:sp>
        <p:nvSpPr>
          <p:cNvPr id="23" name="TextBox 22"/>
          <p:cNvSpPr txBox="1"/>
          <p:nvPr/>
        </p:nvSpPr>
        <p:spPr>
          <a:xfrm>
            <a:off x="26289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4" name="TextBox 23"/>
          <p:cNvSpPr txBox="1"/>
          <p:nvPr/>
        </p:nvSpPr>
        <p:spPr>
          <a:xfrm>
            <a:off x="2628900" y="385483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25" name="TextBox 24"/>
          <p:cNvSpPr txBox="1"/>
          <p:nvPr/>
        </p:nvSpPr>
        <p:spPr>
          <a:xfrm>
            <a:off x="2628900" y="4539352"/>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Switching is easiest where 2 comparable product type lines compete for the same demand.</a:t>
            </a:r>
          </a:p>
        </p:txBody>
      </p:sp>
      <p:sp>
        <p:nvSpPr>
          <p:cNvPr id="26" name="Oval 25"/>
          <p:cNvSpPr/>
          <p:nvPr/>
        </p:nvSpPr>
        <p:spPr>
          <a:xfrm>
            <a:off x="5638800" y="1427096"/>
            <a:ext cx="914400" cy="876177"/>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Oval 26"/>
          <p:cNvSpPr/>
          <p:nvPr/>
        </p:nvSpPr>
        <p:spPr>
          <a:xfrm>
            <a:off x="5876925" y="1655267"/>
            <a:ext cx="438150" cy="419835"/>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Oval 27"/>
          <p:cNvSpPr/>
          <p:nvPr/>
        </p:nvSpPr>
        <p:spPr>
          <a:xfrm>
            <a:off x="5943600" y="1719155"/>
            <a:ext cx="304800" cy="292059"/>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6010275" y="1783043"/>
            <a:ext cx="171450" cy="164283"/>
          </a:xfrm>
          <a:prstGeom prst="ellipse">
            <a:avLst/>
          </a:prstGeom>
          <a:solidFill>
            <a:srgbClr val="B23A3A"/>
          </a:solidFill>
          <a:ln w="127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Oval 29"/>
          <p:cNvSpPr/>
          <p:nvPr/>
        </p:nvSpPr>
        <p:spPr>
          <a:xfrm>
            <a:off x="6062662" y="1833240"/>
            <a:ext cx="66675" cy="63888"/>
          </a:xfrm>
          <a:prstGeom prst="ellipse">
            <a:avLst/>
          </a:prstGeom>
          <a:solidFill>
            <a:srgbClr val="E88A8A"/>
          </a:solidFill>
          <a:ln w="12700">
            <a:solidFill>
              <a:srgbClr val="E88A8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6134100" y="1627887"/>
            <a:ext cx="209550" cy="200791"/>
          </a:xfrm>
          <a:custGeom>
            <a:avLst/>
            <a:gdLst/>
            <a:ahLst/>
            <a:cxnLst/>
            <a:rect l="l" t="t" r="r" b="b"/>
            <a:pathLst>
              <a:path w="22" h="22">
                <a:moveTo>
                  <a:pt x="0" y="22"/>
                </a:moveTo>
                <a:lnTo>
                  <a:pt x="22" y="0"/>
                </a:lnTo>
              </a:path>
            </a:pathLst>
          </a:custGeom>
          <a:noFill/>
          <a:ln w="38100">
            <a:solidFill>
              <a:srgbClr val="B23A3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Freeform 31"/>
          <p:cNvSpPr/>
          <p:nvPr/>
        </p:nvSpPr>
        <p:spPr>
          <a:xfrm>
            <a:off x="6267450" y="1591379"/>
            <a:ext cx="114300" cy="109522"/>
          </a:xfrm>
          <a:custGeom>
            <a:avLst/>
            <a:gdLst/>
            <a:ahLst/>
            <a:cxnLst/>
            <a:rect l="l" t="t" r="r" b="b"/>
            <a:pathLst>
              <a:path w="12" h="12">
                <a:moveTo>
                  <a:pt x="0" y="0"/>
                </a:moveTo>
                <a:lnTo>
                  <a:pt x="12" y="0"/>
                </a:lnTo>
                <a:lnTo>
                  <a:pt x="12" y="12"/>
                </a:lnTo>
                <a:close/>
              </a:path>
            </a:pathLst>
          </a:custGeom>
          <a:solidFill>
            <a:srgbClr val="B23A3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49815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Intensity of Competition</a:t>
            </a:r>
          </a:p>
        </p:txBody>
      </p:sp>
      <p:sp>
        <p:nvSpPr>
          <p:cNvPr id="34" name="TextBox 33"/>
          <p:cNvSpPr txBox="1"/>
          <p:nvPr/>
        </p:nvSpPr>
        <p:spPr>
          <a:xfrm>
            <a:off x="5010150" y="2796123"/>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5" name="TextBox 34"/>
          <p:cNvSpPr txBox="1"/>
          <p:nvPr/>
        </p:nvSpPr>
        <p:spPr>
          <a:xfrm>
            <a:off x="5010150" y="3480637"/>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6" name="TextBox 35"/>
          <p:cNvSpPr txBox="1"/>
          <p:nvPr/>
        </p:nvSpPr>
        <p:spPr>
          <a:xfrm>
            <a:off x="5010150" y="4165151"/>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Oval 36"/>
          <p:cNvSpPr/>
          <p:nvPr/>
        </p:nvSpPr>
        <p:spPr>
          <a:xfrm>
            <a:off x="8020050" y="1427096"/>
            <a:ext cx="914400" cy="876177"/>
          </a:xfrm>
          <a:prstGeom prst="ellipse">
            <a:avLst/>
          </a:prstGeom>
          <a:solidFill>
            <a:srgbClr val="C9C0E0"/>
          </a:solidFill>
          <a:ln w="12700">
            <a:solidFill>
              <a:srgbClr val="C9C0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Rounded Rectangle 37"/>
          <p:cNvSpPr/>
          <p:nvPr/>
        </p:nvSpPr>
        <p:spPr>
          <a:xfrm>
            <a:off x="8382000" y="1637014"/>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Rounded Rectangle 38"/>
          <p:cNvSpPr/>
          <p:nvPr/>
        </p:nvSpPr>
        <p:spPr>
          <a:xfrm>
            <a:off x="82486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ounded Rectangle 39"/>
          <p:cNvSpPr/>
          <p:nvPr/>
        </p:nvSpPr>
        <p:spPr>
          <a:xfrm>
            <a:off x="8515350" y="1874312"/>
            <a:ext cx="190500" cy="182537"/>
          </a:xfrm>
          <a:prstGeom prst="roundRect">
            <a:avLst>
              <a:gd name="adj" fmla="val 15000"/>
            </a:avLst>
          </a:prstGeom>
          <a:solidFill>
            <a:srgbClr val="C9C0E0"/>
          </a:solidFill>
          <a:ln w="27940">
            <a:solidFill>
              <a:srgbClr val="4A3F6B"/>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36282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Substitutes</a:t>
            </a:r>
          </a:p>
        </p:txBody>
      </p:sp>
      <p:sp>
        <p:nvSpPr>
          <p:cNvPr id="42" name="TextBox 41"/>
          <p:cNvSpPr txBox="1"/>
          <p:nvPr/>
        </p:nvSpPr>
        <p:spPr>
          <a:xfrm>
            <a:off x="7391400" y="2796123"/>
            <a:ext cx="2171700" cy="96744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3" name="TextBox 42"/>
          <p:cNvSpPr txBox="1"/>
          <p:nvPr/>
        </p:nvSpPr>
        <p:spPr>
          <a:xfrm>
            <a:off x="7391400" y="3854838"/>
            <a:ext cx="2171700"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4" name="TextBox 43"/>
          <p:cNvSpPr txBox="1"/>
          <p:nvPr/>
        </p:nvSpPr>
        <p:spPr>
          <a:xfrm>
            <a:off x="7391400" y="4347688"/>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5" name="Oval 44"/>
          <p:cNvSpPr/>
          <p:nvPr/>
        </p:nvSpPr>
        <p:spPr>
          <a:xfrm>
            <a:off x="10401300" y="1427096"/>
            <a:ext cx="914400" cy="876177"/>
          </a:xfrm>
          <a:prstGeom prst="ellipse">
            <a:avLst/>
          </a:prstGeom>
          <a:solidFill>
            <a:srgbClr val="BFDCEA"/>
          </a:solidFill>
          <a:ln w="12700">
            <a:solidFill>
              <a:srgbClr val="BFDCE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Oval 45"/>
          <p:cNvSpPr/>
          <p:nvPr/>
        </p:nvSpPr>
        <p:spPr>
          <a:xfrm>
            <a:off x="10610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reeform 46"/>
          <p:cNvSpPr/>
          <p:nvPr/>
        </p:nvSpPr>
        <p:spPr>
          <a:xfrm>
            <a:off x="10563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Oval 47"/>
          <p:cNvSpPr/>
          <p:nvPr/>
        </p:nvSpPr>
        <p:spPr>
          <a:xfrm>
            <a:off x="10991850" y="1700902"/>
            <a:ext cx="114300" cy="109522"/>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Freeform 48"/>
          <p:cNvSpPr/>
          <p:nvPr/>
        </p:nvSpPr>
        <p:spPr>
          <a:xfrm>
            <a:off x="10944225" y="1837804"/>
            <a:ext cx="209550" cy="182537"/>
          </a:xfrm>
          <a:custGeom>
            <a:avLst/>
            <a:gdLst/>
            <a:ahLst/>
            <a:cxnLst/>
            <a:rect l="l" t="t" r="r" b="b"/>
            <a:pathLst>
              <a:path w="22" h="20">
                <a:moveTo>
                  <a:pt x="0" y="20"/>
                </a:moveTo>
                <a:lnTo>
                  <a:pt x="3" y="0"/>
                </a:lnTo>
                <a:lnTo>
                  <a:pt x="19" y="0"/>
                </a:lnTo>
                <a:lnTo>
                  <a:pt x="22" y="20"/>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10782300" y="1609633"/>
            <a:ext cx="152400" cy="146030"/>
          </a:xfrm>
          <a:prstGeom prst="ellipse">
            <a:avLst/>
          </a:prstGeom>
          <a:solidFill>
            <a:srgbClr val="5B7C99"/>
          </a:solidFill>
          <a:ln w="12700">
            <a:solidFill>
              <a:srgbClr val="5B7C9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10715625" y="1783043"/>
            <a:ext cx="285750" cy="255552"/>
          </a:xfrm>
          <a:custGeom>
            <a:avLst/>
            <a:gdLst/>
            <a:ahLst/>
            <a:cxnLst/>
            <a:rect l="l" t="t" r="r" b="b"/>
            <a:pathLst>
              <a:path w="30" h="28">
                <a:moveTo>
                  <a:pt x="0" y="28"/>
                </a:moveTo>
                <a:lnTo>
                  <a:pt x="4" y="0"/>
                </a:lnTo>
                <a:lnTo>
                  <a:pt x="26" y="0"/>
                </a:lnTo>
                <a:lnTo>
                  <a:pt x="30" y="28"/>
                </a:lnTo>
                <a:close/>
              </a:path>
            </a:pathLst>
          </a:custGeom>
          <a:solidFill>
            <a:srgbClr val="5B7C9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9744075" y="2376288"/>
            <a:ext cx="2228850" cy="365074"/>
          </a:xfrm>
          <a:prstGeom prst="rect">
            <a:avLst/>
          </a:prstGeom>
          <a:noFill/>
        </p:spPr>
        <p:txBody>
          <a:bodyPr wrap="square" lIns="28575" rIns="28575" tIns="9525" bIns="9525" anchor="ctr">
            <a:spAutoFit/>
          </a:bodyPr>
          <a:lstStyle/>
          <a:p>
            <a:pPr algn="ctr">
              <a:lnSpc>
                <a:spcPct val="115000"/>
              </a:lnSpc>
            </a:pPr>
            <a:r>
              <a:rPr sz="1150" b="1">
                <a:solidFill>
                  <a:srgbClr val="2E2E2E"/>
                </a:solidFill>
                <a:latin typeface="Calibri"/>
              </a:rPr>
              <a:t>Threat of New Entrants</a:t>
            </a:r>
          </a:p>
        </p:txBody>
      </p:sp>
      <p:sp>
        <p:nvSpPr>
          <p:cNvPr id="53" name="TextBox 52"/>
          <p:cNvSpPr txBox="1"/>
          <p:nvPr/>
        </p:nvSpPr>
        <p:spPr>
          <a:xfrm>
            <a:off x="9772650" y="2796123"/>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4" name="TextBox 53"/>
          <p:cNvSpPr txBox="1"/>
          <p:nvPr/>
        </p:nvSpPr>
        <p:spPr>
          <a:xfrm>
            <a:off x="9772650" y="3663174"/>
            <a:ext cx="2171700" cy="593245"/>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5" name="TextBox 54"/>
          <p:cNvSpPr txBox="1"/>
          <p:nvPr/>
        </p:nvSpPr>
        <p:spPr>
          <a:xfrm>
            <a:off x="9772650" y="4347688"/>
            <a:ext cx="2171700" cy="775782"/>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56" name="TextBox 55"/>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57" name="TextBox 56"/>
          <p:cNvSpPr txBox="1"/>
          <p:nvPr/>
        </p:nvSpPr>
        <p:spPr>
          <a:xfrm>
            <a:off x="276225" y="2848734"/>
            <a:ext cx="2114550" cy="186689"/>
          </a:xfrm>
          <a:prstGeom prst="rect">
            <a:avLst/>
          </a:prstGeom>
          <a:noFill/>
        </p:spPr>
        <p:txBody>
          <a:bodyPr wrap="none" lIns="0" rIns="0" tIns="0" bIns="0">
            <a:spAutoFit/>
          </a:bodyPr>
          <a:lstStyle/>
          <a:p>
            <a:r>
              <a:rPr sz="1100" b="0">
                <a:solidFill>
                  <a:srgbClr val="2E2E2E"/>
                </a:solidFill>
                <a:latin typeface="Calibri"/>
              </a:rPr>
              <a:t>▸ Assessed moderate to high. 'North</a:t>
            </a:r>
          </a:p>
        </p:txBody>
      </p:sp>
      <p:sp>
        <p:nvSpPr>
          <p:cNvPr id="58" name="TextBox 57"/>
          <p:cNvSpPr txBox="1"/>
          <p:nvPr/>
        </p:nvSpPr>
        <p:spPr>
          <a:xfrm>
            <a:off x="276225" y="3016374"/>
            <a:ext cx="1071016" cy="186689"/>
          </a:xfrm>
          <a:prstGeom prst="rect">
            <a:avLst/>
          </a:prstGeom>
          <a:noFill/>
        </p:spPr>
        <p:txBody>
          <a:bodyPr wrap="none" lIns="0" rIns="0" tIns="0" bIns="0">
            <a:spAutoFit/>
          </a:bodyPr>
          <a:lstStyle/>
          <a:p>
            <a:r>
              <a:rPr sz="1100" b="0">
                <a:solidFill>
                  <a:srgbClr val="2E2E2E"/>
                </a:solidFill>
                <a:latin typeface="Calibri"/>
              </a:rPr>
              <a:t>America' supplies</a:t>
            </a:r>
          </a:p>
        </p:txBody>
      </p:sp>
      <p:pic>
        <p:nvPicPr>
          <p:cNvPr id="59" name="Picture 58" descr="lock.png"/>
          <p:cNvPicPr>
            <a:picLocks noChangeAspect="1"/>
          </p:cNvPicPr>
          <p:nvPr/>
        </p:nvPicPr>
        <p:blipFill>
          <a:blip r:embed="rId4"/>
          <a:stretch>
            <a:fillRect/>
          </a:stretch>
        </p:blipFill>
        <p:spPr>
          <a:xfrm>
            <a:off x="1295293" y="3006595"/>
            <a:ext cx="128699" cy="187198"/>
          </a:xfrm>
          <a:prstGeom prst="rect">
            <a:avLst/>
          </a:prstGeom>
        </p:spPr>
      </p:pic>
      <p:sp>
        <p:nvSpPr>
          <p:cNvPr id="60" name="TextBox 59"/>
          <p:cNvSpPr txBox="1"/>
          <p:nvPr/>
        </p:nvSpPr>
        <p:spPr>
          <a:xfrm>
            <a:off x="1462789" y="3016374"/>
            <a:ext cx="844549" cy="186689"/>
          </a:xfrm>
          <a:prstGeom prst="rect">
            <a:avLst/>
          </a:prstGeom>
          <a:noFill/>
        </p:spPr>
        <p:txBody>
          <a:bodyPr wrap="none" lIns="0" rIns="0" tIns="0" bIns="0">
            <a:spAutoFit/>
          </a:bodyPr>
          <a:lstStyle/>
          <a:p>
            <a:r>
              <a:rPr sz="1100" b="0">
                <a:solidFill>
                  <a:srgbClr val="2E2E2E"/>
                </a:solidFill>
                <a:latin typeface="Calibri"/>
              </a:rPr>
              <a:t>of 2036 value</a:t>
            </a:r>
          </a:p>
        </p:txBody>
      </p:sp>
      <p:sp>
        <p:nvSpPr>
          <p:cNvPr id="61" name="TextBox 60"/>
          <p:cNvSpPr txBox="1"/>
          <p:nvPr/>
        </p:nvSpPr>
        <p:spPr>
          <a:xfrm>
            <a:off x="276225" y="3184014"/>
            <a:ext cx="1842095" cy="186689"/>
          </a:xfrm>
          <a:prstGeom prst="rect">
            <a:avLst/>
          </a:prstGeom>
          <a:noFill/>
        </p:spPr>
        <p:txBody>
          <a:bodyPr wrap="none" lIns="0" rIns="0" tIns="0" bIns="0">
            <a:spAutoFit/>
          </a:bodyPr>
          <a:lstStyle/>
          <a:p>
            <a:r>
              <a:rPr sz="1100" b="0">
                <a:solidFill>
                  <a:srgbClr val="2E2E2E"/>
                </a:solidFill>
                <a:latin typeface="Calibri"/>
              </a:rPr>
              <a:t>across 6 regions, concentrating</a:t>
            </a:r>
          </a:p>
        </p:txBody>
      </p:sp>
      <p:sp>
        <p:nvSpPr>
          <p:cNvPr id="62" name="TextBox 61"/>
          <p:cNvSpPr txBox="1"/>
          <p:nvPr/>
        </p:nvSpPr>
        <p:spPr>
          <a:xfrm>
            <a:off x="276225" y="3351654"/>
            <a:ext cx="1173608" cy="186689"/>
          </a:xfrm>
          <a:prstGeom prst="rect">
            <a:avLst/>
          </a:prstGeom>
          <a:noFill/>
        </p:spPr>
        <p:txBody>
          <a:bodyPr wrap="none" lIns="0" rIns="0" tIns="0" bIns="0">
            <a:spAutoFit/>
          </a:bodyPr>
          <a:lstStyle/>
          <a:p>
            <a:r>
              <a:rPr sz="1100" b="0">
                <a:solidFill>
                  <a:srgbClr val="2E2E2E"/>
                </a:solidFill>
                <a:latin typeface="Calibri"/>
              </a:rPr>
              <a:t>upstream leverage.</a:t>
            </a:r>
          </a:p>
        </p:txBody>
      </p:sp>
      <p:sp>
        <p:nvSpPr>
          <p:cNvPr id="63" name="TextBox 62"/>
          <p:cNvSpPr txBox="1"/>
          <p:nvPr/>
        </p:nvSpPr>
        <p:spPr>
          <a:xfrm>
            <a:off x="276225" y="3799605"/>
            <a:ext cx="1676163" cy="186689"/>
          </a:xfrm>
          <a:prstGeom prst="rect">
            <a:avLst/>
          </a:prstGeom>
          <a:noFill/>
        </p:spPr>
        <p:txBody>
          <a:bodyPr wrap="none" lIns="0" rIns="0" tIns="0" bIns="0">
            <a:spAutoFit/>
          </a:bodyPr>
          <a:lstStyle/>
          <a:p>
            <a:r>
              <a:rPr sz="1100" b="0">
                <a:solidFill>
                  <a:srgbClr val="2E2E2E"/>
                </a:solidFill>
                <a:latin typeface="Calibri"/>
              </a:rPr>
              <a:t>▸ Average realisation moves</a:t>
            </a:r>
          </a:p>
        </p:txBody>
      </p:sp>
      <p:pic>
        <p:nvPicPr>
          <p:cNvPr id="64" name="Picture 63" descr="lock.png"/>
          <p:cNvPicPr>
            <a:picLocks noChangeAspect="1"/>
          </p:cNvPicPr>
          <p:nvPr/>
        </p:nvPicPr>
        <p:blipFill>
          <a:blip r:embed="rId4"/>
          <a:stretch>
            <a:fillRect/>
          </a:stretch>
        </p:blipFill>
        <p:spPr>
          <a:xfrm>
            <a:off x="1900439" y="3789826"/>
            <a:ext cx="128699" cy="187198"/>
          </a:xfrm>
          <a:prstGeom prst="rect">
            <a:avLst/>
          </a:prstGeom>
        </p:spPr>
      </p:pic>
      <p:sp>
        <p:nvSpPr>
          <p:cNvPr id="65" name="TextBox 64"/>
          <p:cNvSpPr txBox="1"/>
          <p:nvPr/>
        </p:nvSpPr>
        <p:spPr>
          <a:xfrm>
            <a:off x="2067935" y="3799605"/>
            <a:ext cx="143048" cy="186689"/>
          </a:xfrm>
          <a:prstGeom prst="rect">
            <a:avLst/>
          </a:prstGeom>
          <a:noFill/>
        </p:spPr>
        <p:txBody>
          <a:bodyPr wrap="none" lIns="0" rIns="0" tIns="0" bIns="0">
            <a:spAutoFit/>
          </a:bodyPr>
          <a:lstStyle/>
          <a:p>
            <a:r>
              <a:rPr sz="1100" b="0">
                <a:solidFill>
                  <a:srgbClr val="2E2E2E"/>
                </a:solidFill>
                <a:latin typeface="Calibri"/>
              </a:rPr>
              <a:t>a</a:t>
            </a:r>
          </a:p>
        </p:txBody>
      </p:sp>
      <p:sp>
        <p:nvSpPr>
          <p:cNvPr id="66" name="TextBox 65"/>
          <p:cNvSpPr txBox="1"/>
          <p:nvPr/>
        </p:nvSpPr>
        <p:spPr>
          <a:xfrm>
            <a:off x="276225" y="3967245"/>
            <a:ext cx="2031181" cy="186689"/>
          </a:xfrm>
          <a:prstGeom prst="rect">
            <a:avLst/>
          </a:prstGeom>
          <a:noFill/>
        </p:spPr>
        <p:txBody>
          <a:bodyPr wrap="none" lIns="0" rIns="0" tIns="0" bIns="0">
            <a:spAutoFit/>
          </a:bodyPr>
          <a:lstStyle/>
          <a:p>
            <a:r>
              <a:rPr sz="1100" b="0">
                <a:solidFill>
                  <a:srgbClr val="2E2E2E"/>
                </a:solidFill>
                <a:latin typeface="Calibri"/>
              </a:rPr>
              <a:t>year (2026–2036), indicating input</a:t>
            </a:r>
          </a:p>
        </p:txBody>
      </p:sp>
      <p:sp>
        <p:nvSpPr>
          <p:cNvPr id="67" name="TextBox 66"/>
          <p:cNvSpPr txBox="1"/>
          <p:nvPr/>
        </p:nvSpPr>
        <p:spPr>
          <a:xfrm>
            <a:off x="276225" y="4134885"/>
            <a:ext cx="1874291" cy="186689"/>
          </a:xfrm>
          <a:prstGeom prst="rect">
            <a:avLst/>
          </a:prstGeom>
          <a:noFill/>
        </p:spPr>
        <p:txBody>
          <a:bodyPr wrap="none" lIns="0" rIns="0" tIns="0" bIns="0">
            <a:spAutoFit/>
          </a:bodyPr>
          <a:lstStyle/>
          <a:p>
            <a:r>
              <a:rPr sz="1100" b="0">
                <a:solidFill>
                  <a:srgbClr val="2E2E2E"/>
                </a:solidFill>
                <a:latin typeface="Calibri"/>
              </a:rPr>
              <a:t>costs are being passed through.</a:t>
            </a:r>
          </a:p>
        </p:txBody>
      </p:sp>
      <p:sp>
        <p:nvSpPr>
          <p:cNvPr id="68" name="TextBox 67"/>
          <p:cNvSpPr txBox="1"/>
          <p:nvPr/>
        </p:nvSpPr>
        <p:spPr>
          <a:xfrm>
            <a:off x="2657475" y="2860746"/>
            <a:ext cx="1746324" cy="186689"/>
          </a:xfrm>
          <a:prstGeom prst="rect">
            <a:avLst/>
          </a:prstGeom>
          <a:noFill/>
        </p:spPr>
        <p:txBody>
          <a:bodyPr wrap="none" lIns="0" rIns="0" tIns="0" bIns="0">
            <a:spAutoFit/>
          </a:bodyPr>
          <a:lstStyle/>
          <a:p>
            <a:r>
              <a:rPr sz="1100" b="0">
                <a:solidFill>
                  <a:srgbClr val="2E2E2E"/>
                </a:solidFill>
                <a:latin typeface="Calibri"/>
              </a:rPr>
              <a:t>▸ Assessed moderate to high.</a:t>
            </a:r>
          </a:p>
        </p:txBody>
      </p:sp>
      <p:sp>
        <p:nvSpPr>
          <p:cNvPr id="69" name="TextBox 68"/>
          <p:cNvSpPr txBox="1"/>
          <p:nvPr/>
        </p:nvSpPr>
        <p:spPr>
          <a:xfrm>
            <a:off x="2657475" y="3028386"/>
            <a:ext cx="1545232" cy="186689"/>
          </a:xfrm>
          <a:prstGeom prst="rect">
            <a:avLst/>
          </a:prstGeom>
          <a:noFill/>
        </p:spPr>
        <p:txBody>
          <a:bodyPr wrap="none" lIns="0" rIns="0" tIns="0" bIns="0">
            <a:spAutoFit/>
          </a:bodyPr>
          <a:lstStyle/>
          <a:p>
            <a:r>
              <a:rPr sz="1100" b="0">
                <a:solidFill>
                  <a:srgbClr val="2E2E2E"/>
                </a:solidFill>
                <a:latin typeface="Calibri"/>
              </a:rPr>
              <a:t>Demand routes through 6</a:t>
            </a:r>
          </a:p>
        </p:txBody>
      </p:sp>
      <p:sp>
        <p:nvSpPr>
          <p:cNvPr id="70" name="TextBox 69"/>
          <p:cNvSpPr txBox="1"/>
          <p:nvPr/>
        </p:nvSpPr>
        <p:spPr>
          <a:xfrm>
            <a:off x="2657475" y="3196026"/>
            <a:ext cx="1615901" cy="186689"/>
          </a:xfrm>
          <a:prstGeom prst="rect">
            <a:avLst/>
          </a:prstGeom>
          <a:noFill/>
        </p:spPr>
        <p:txBody>
          <a:bodyPr wrap="none" lIns="0" rIns="0" tIns="0" bIns="0">
            <a:spAutoFit/>
          </a:bodyPr>
          <a:lstStyle/>
          <a:p>
            <a:r>
              <a:rPr sz="1100" b="0">
                <a:solidFill>
                  <a:srgbClr val="2E2E2E"/>
                </a:solidFill>
                <a:latin typeface="Calibri"/>
              </a:rPr>
              <a:t>application channels led by</a:t>
            </a:r>
          </a:p>
        </p:txBody>
      </p:sp>
      <p:sp>
        <p:nvSpPr>
          <p:cNvPr id="71" name="TextBox 70"/>
          <p:cNvSpPr txBox="1"/>
          <p:nvPr/>
        </p:nvSpPr>
        <p:spPr>
          <a:xfrm>
            <a:off x="2657475" y="3363666"/>
            <a:ext cx="867196" cy="186689"/>
          </a:xfrm>
          <a:prstGeom prst="rect">
            <a:avLst/>
          </a:prstGeom>
          <a:noFill/>
        </p:spPr>
        <p:txBody>
          <a:bodyPr wrap="none" lIns="0" rIns="0" tIns="0" bIns="0">
            <a:spAutoFit/>
          </a:bodyPr>
          <a:lstStyle/>
          <a:p>
            <a:r>
              <a:rPr sz="1100" b="0">
                <a:solidFill>
                  <a:srgbClr val="2E2E2E"/>
                </a:solidFill>
                <a:latin typeface="Calibri"/>
              </a:rPr>
              <a:t>'Beverages' at</a:t>
            </a:r>
          </a:p>
        </p:txBody>
      </p:sp>
      <p:pic>
        <p:nvPicPr>
          <p:cNvPr id="72" name="Picture 71" descr="lock.png"/>
          <p:cNvPicPr>
            <a:picLocks noChangeAspect="1"/>
          </p:cNvPicPr>
          <p:nvPr/>
        </p:nvPicPr>
        <p:blipFill>
          <a:blip r:embed="rId4"/>
          <a:stretch>
            <a:fillRect/>
          </a:stretch>
        </p:blipFill>
        <p:spPr>
          <a:xfrm>
            <a:off x="3472723" y="3353887"/>
            <a:ext cx="128699" cy="187198"/>
          </a:xfrm>
          <a:prstGeom prst="rect">
            <a:avLst/>
          </a:prstGeom>
        </p:spPr>
      </p:pic>
      <p:sp>
        <p:nvSpPr>
          <p:cNvPr id="73" name="TextBox 72"/>
          <p:cNvSpPr txBox="1"/>
          <p:nvPr/>
        </p:nvSpPr>
        <p:spPr>
          <a:xfrm>
            <a:off x="3640219" y="3363666"/>
            <a:ext cx="789979" cy="186689"/>
          </a:xfrm>
          <a:prstGeom prst="rect">
            <a:avLst/>
          </a:prstGeom>
          <a:noFill/>
        </p:spPr>
        <p:txBody>
          <a:bodyPr wrap="none" lIns="0" rIns="0" tIns="0" bIns="0">
            <a:spAutoFit/>
          </a:bodyPr>
          <a:lstStyle/>
          <a:p>
            <a:r>
              <a:rPr sz="1100" b="0">
                <a:solidFill>
                  <a:srgbClr val="2E2E2E"/>
                </a:solidFill>
                <a:latin typeface="Calibri"/>
              </a:rPr>
              <a:t>, giving large</a:t>
            </a:r>
          </a:p>
        </p:txBody>
      </p:sp>
      <p:sp>
        <p:nvSpPr>
          <p:cNvPr id="74" name="TextBox 73"/>
          <p:cNvSpPr txBox="1"/>
          <p:nvPr/>
        </p:nvSpPr>
        <p:spPr>
          <a:xfrm>
            <a:off x="2657475" y="3531306"/>
            <a:ext cx="808533" cy="186689"/>
          </a:xfrm>
          <a:prstGeom prst="rect">
            <a:avLst/>
          </a:prstGeom>
          <a:noFill/>
        </p:spPr>
        <p:txBody>
          <a:bodyPr wrap="none" lIns="0" rIns="0" tIns="0" bIns="0">
            <a:spAutoFit/>
          </a:bodyPr>
          <a:lstStyle/>
          <a:p>
            <a:r>
              <a:rPr sz="1100" b="0">
                <a:solidFill>
                  <a:srgbClr val="2E2E2E"/>
                </a:solidFill>
                <a:latin typeface="Calibri"/>
              </a:rPr>
              <a:t>buyers scale.</a:t>
            </a:r>
          </a:p>
        </p:txBody>
      </p:sp>
      <p:sp>
        <p:nvSpPr>
          <p:cNvPr id="75" name="TextBox 74"/>
          <p:cNvSpPr txBox="1"/>
          <p:nvPr/>
        </p:nvSpPr>
        <p:spPr>
          <a:xfrm>
            <a:off x="2657475" y="3900000"/>
            <a:ext cx="2062013" cy="186689"/>
          </a:xfrm>
          <a:prstGeom prst="rect">
            <a:avLst/>
          </a:prstGeom>
          <a:noFill/>
        </p:spPr>
        <p:txBody>
          <a:bodyPr wrap="none" lIns="0" rIns="0" tIns="0" bIns="0">
            <a:spAutoFit/>
          </a:bodyPr>
          <a:lstStyle/>
          <a:p>
            <a:r>
              <a:rPr sz="1100" b="0">
                <a:solidFill>
                  <a:srgbClr val="2E2E2E"/>
                </a:solidFill>
                <a:latin typeface="Calibri"/>
              </a:rPr>
              <a:t>▸ Price sensitivity tracks realisation</a:t>
            </a:r>
          </a:p>
        </p:txBody>
      </p:sp>
      <p:sp>
        <p:nvSpPr>
          <p:cNvPr id="76" name="TextBox 75"/>
          <p:cNvSpPr txBox="1"/>
          <p:nvPr/>
        </p:nvSpPr>
        <p:spPr>
          <a:xfrm>
            <a:off x="2657475" y="4067640"/>
            <a:ext cx="495845" cy="186689"/>
          </a:xfrm>
          <a:prstGeom prst="rect">
            <a:avLst/>
          </a:prstGeom>
          <a:noFill/>
        </p:spPr>
        <p:txBody>
          <a:bodyPr wrap="none" lIns="0" rIns="0" tIns="0" bIns="0">
            <a:spAutoFit/>
          </a:bodyPr>
          <a:lstStyle/>
          <a:p>
            <a:r>
              <a:rPr sz="1100" b="0">
                <a:solidFill>
                  <a:srgbClr val="2E2E2E"/>
                </a:solidFill>
                <a:latin typeface="Calibri"/>
              </a:rPr>
              <a:t>moving</a:t>
            </a:r>
          </a:p>
        </p:txBody>
      </p:sp>
      <p:pic>
        <p:nvPicPr>
          <p:cNvPr id="77" name="Picture 76" descr="lock.png"/>
          <p:cNvPicPr>
            <a:picLocks noChangeAspect="1"/>
          </p:cNvPicPr>
          <p:nvPr/>
        </p:nvPicPr>
        <p:blipFill>
          <a:blip r:embed="rId4"/>
          <a:stretch>
            <a:fillRect/>
          </a:stretch>
        </p:blipFill>
        <p:spPr>
          <a:xfrm>
            <a:off x="3101372" y="4057861"/>
            <a:ext cx="128699" cy="187198"/>
          </a:xfrm>
          <a:prstGeom prst="rect">
            <a:avLst/>
          </a:prstGeom>
        </p:spPr>
      </p:pic>
      <p:sp>
        <p:nvSpPr>
          <p:cNvPr id="78" name="TextBox 77"/>
          <p:cNvSpPr txBox="1"/>
          <p:nvPr/>
        </p:nvSpPr>
        <p:spPr>
          <a:xfrm>
            <a:off x="3268868" y="4067640"/>
            <a:ext cx="1316583" cy="186689"/>
          </a:xfrm>
          <a:prstGeom prst="rect">
            <a:avLst/>
          </a:prstGeom>
          <a:noFill/>
        </p:spPr>
        <p:txBody>
          <a:bodyPr wrap="none" lIns="0" rIns="0" tIns="0" bIns="0">
            <a:spAutoFit/>
          </a:bodyPr>
          <a:lstStyle/>
          <a:p>
            <a:r>
              <a:rPr sz="1100" b="0">
                <a:solidFill>
                  <a:srgbClr val="2E2E2E"/>
                </a:solidFill>
                <a:latin typeface="Calibri"/>
              </a:rPr>
              <a:t>a year against volume</a:t>
            </a:r>
          </a:p>
        </p:txBody>
      </p:sp>
      <p:sp>
        <p:nvSpPr>
          <p:cNvPr id="79" name="TextBox 78"/>
          <p:cNvSpPr txBox="1"/>
          <p:nvPr/>
        </p:nvSpPr>
        <p:spPr>
          <a:xfrm>
            <a:off x="2657475" y="4235280"/>
            <a:ext cx="632544" cy="186689"/>
          </a:xfrm>
          <a:prstGeom prst="rect">
            <a:avLst/>
          </a:prstGeom>
          <a:noFill/>
        </p:spPr>
        <p:txBody>
          <a:bodyPr wrap="none" lIns="0" rIns="0" tIns="0" bIns="0">
            <a:spAutoFit/>
          </a:bodyPr>
          <a:lstStyle/>
          <a:p>
            <a:r>
              <a:rPr sz="1100" b="0">
                <a:solidFill>
                  <a:srgbClr val="2E2E2E"/>
                </a:solidFill>
                <a:latin typeface="Calibri"/>
              </a:rPr>
              <a:t>growth of</a:t>
            </a:r>
          </a:p>
        </p:txBody>
      </p:sp>
      <p:pic>
        <p:nvPicPr>
          <p:cNvPr id="80" name="Picture 79" descr="lock.png"/>
          <p:cNvPicPr>
            <a:picLocks noChangeAspect="1"/>
          </p:cNvPicPr>
          <p:nvPr/>
        </p:nvPicPr>
        <p:blipFill>
          <a:blip r:embed="rId4"/>
          <a:stretch>
            <a:fillRect/>
          </a:stretch>
        </p:blipFill>
        <p:spPr>
          <a:xfrm>
            <a:off x="3238070" y="4225501"/>
            <a:ext cx="128699" cy="187198"/>
          </a:xfrm>
          <a:prstGeom prst="rect">
            <a:avLst/>
          </a:prstGeom>
        </p:spPr>
      </p:pic>
      <p:sp>
        <p:nvSpPr>
          <p:cNvPr id="81" name="TextBox 80"/>
          <p:cNvSpPr txBox="1"/>
          <p:nvPr/>
        </p:nvSpPr>
        <p:spPr>
          <a:xfrm>
            <a:off x="3405566" y="4235280"/>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2" name="TextBox 81"/>
          <p:cNvSpPr txBox="1"/>
          <p:nvPr/>
        </p:nvSpPr>
        <p:spPr>
          <a:xfrm>
            <a:off x="5038725" y="2841285"/>
            <a:ext cx="2114550" cy="186689"/>
          </a:xfrm>
          <a:prstGeom prst="rect">
            <a:avLst/>
          </a:prstGeom>
          <a:noFill/>
        </p:spPr>
        <p:txBody>
          <a:bodyPr wrap="none" lIns="0" rIns="0" tIns="0" bIns="0">
            <a:spAutoFit/>
          </a:bodyPr>
          <a:lstStyle/>
          <a:p>
            <a:r>
              <a:rPr sz="1100" b="0">
                <a:solidFill>
                  <a:srgbClr val="2E2E2E"/>
                </a:solidFill>
                <a:latin typeface="Calibri"/>
              </a:rPr>
              <a:t>▸ Assessed low. 2 product type lines</a:t>
            </a:r>
          </a:p>
        </p:txBody>
      </p:sp>
      <p:sp>
        <p:nvSpPr>
          <p:cNvPr id="83" name="TextBox 82"/>
          <p:cNvSpPr txBox="1"/>
          <p:nvPr/>
        </p:nvSpPr>
        <p:spPr>
          <a:xfrm>
            <a:off x="5038725" y="3008925"/>
            <a:ext cx="1950690" cy="186689"/>
          </a:xfrm>
          <a:prstGeom prst="rect">
            <a:avLst/>
          </a:prstGeom>
          <a:noFill/>
        </p:spPr>
        <p:txBody>
          <a:bodyPr wrap="none" lIns="0" rIns="0" tIns="0" bIns="0">
            <a:spAutoFit/>
          </a:bodyPr>
          <a:lstStyle/>
          <a:p>
            <a:r>
              <a:rPr sz="1100" b="0">
                <a:solidFill>
                  <a:srgbClr val="2E2E2E"/>
                </a:solidFill>
                <a:latin typeface="Calibri"/>
              </a:rPr>
              <a:t>compete inside the segment; the</a:t>
            </a:r>
          </a:p>
        </p:txBody>
      </p:sp>
      <p:sp>
        <p:nvSpPr>
          <p:cNvPr id="84" name="TextBox 83"/>
          <p:cNvSpPr txBox="1"/>
          <p:nvPr/>
        </p:nvSpPr>
        <p:spPr>
          <a:xfrm>
            <a:off x="5038725" y="3176565"/>
            <a:ext cx="775518" cy="186689"/>
          </a:xfrm>
          <a:prstGeom prst="rect">
            <a:avLst/>
          </a:prstGeom>
          <a:noFill/>
        </p:spPr>
        <p:txBody>
          <a:bodyPr wrap="none" lIns="0" rIns="0" tIns="0" bIns="0">
            <a:spAutoFit/>
          </a:bodyPr>
          <a:lstStyle/>
          <a:p>
            <a:r>
              <a:rPr sz="1100" b="0">
                <a:solidFill>
                  <a:srgbClr val="2E2E2E"/>
                </a:solidFill>
                <a:latin typeface="Calibri"/>
              </a:rPr>
              <a:t>leader holds</a:t>
            </a:r>
          </a:p>
        </p:txBody>
      </p:sp>
      <p:pic>
        <p:nvPicPr>
          <p:cNvPr id="85" name="Picture 84" descr="lock.png"/>
          <p:cNvPicPr>
            <a:picLocks noChangeAspect="1"/>
          </p:cNvPicPr>
          <p:nvPr/>
        </p:nvPicPr>
        <p:blipFill>
          <a:blip r:embed="rId4"/>
          <a:stretch>
            <a:fillRect/>
          </a:stretch>
        </p:blipFill>
        <p:spPr>
          <a:xfrm>
            <a:off x="5762295" y="3166786"/>
            <a:ext cx="128699" cy="187198"/>
          </a:xfrm>
          <a:prstGeom prst="rect">
            <a:avLst/>
          </a:prstGeom>
        </p:spPr>
      </p:pic>
      <p:sp>
        <p:nvSpPr>
          <p:cNvPr id="86" name="TextBox 85"/>
          <p:cNvSpPr txBox="1"/>
          <p:nvPr/>
        </p:nvSpPr>
        <p:spPr>
          <a:xfrm>
            <a:off x="5929790" y="3176565"/>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87" name="TextBox 86"/>
          <p:cNvSpPr txBox="1"/>
          <p:nvPr/>
        </p:nvSpPr>
        <p:spPr>
          <a:xfrm>
            <a:off x="5038725" y="3525799"/>
            <a:ext cx="1934046" cy="186689"/>
          </a:xfrm>
          <a:prstGeom prst="rect">
            <a:avLst/>
          </a:prstGeom>
          <a:noFill/>
        </p:spPr>
        <p:txBody>
          <a:bodyPr wrap="none" lIns="0" rIns="0" tIns="0" bIns="0">
            <a:spAutoFit/>
          </a:bodyPr>
          <a:lstStyle/>
          <a:p>
            <a:r>
              <a:rPr sz="1100" b="0">
                <a:solidFill>
                  <a:srgbClr val="2E2E2E"/>
                </a:solidFill>
                <a:latin typeface="Calibri"/>
              </a:rPr>
              <a:t>▸ Growth is unevenly distributed</a:t>
            </a:r>
          </a:p>
        </p:txBody>
      </p:sp>
      <p:sp>
        <p:nvSpPr>
          <p:cNvPr id="88" name="TextBox 87"/>
          <p:cNvSpPr txBox="1"/>
          <p:nvPr/>
        </p:nvSpPr>
        <p:spPr>
          <a:xfrm>
            <a:off x="5038725" y="3693439"/>
            <a:ext cx="1185341" cy="186689"/>
          </a:xfrm>
          <a:prstGeom prst="rect">
            <a:avLst/>
          </a:prstGeom>
          <a:noFill/>
        </p:spPr>
        <p:txBody>
          <a:bodyPr wrap="none" lIns="0" rIns="0" tIns="0" bIns="0">
            <a:spAutoFit/>
          </a:bodyPr>
          <a:lstStyle/>
          <a:p>
            <a:r>
              <a:rPr sz="1100" b="0">
                <a:solidFill>
                  <a:srgbClr val="2E2E2E"/>
                </a:solidFill>
                <a:latin typeface="Calibri"/>
              </a:rPr>
              <a:t>'Matcha Powder' at</a:t>
            </a:r>
          </a:p>
        </p:txBody>
      </p:sp>
      <p:pic>
        <p:nvPicPr>
          <p:cNvPr id="89" name="Picture 88" descr="lock.png"/>
          <p:cNvPicPr>
            <a:picLocks noChangeAspect="1"/>
          </p:cNvPicPr>
          <p:nvPr/>
        </p:nvPicPr>
        <p:blipFill>
          <a:blip r:embed="rId4"/>
          <a:stretch>
            <a:fillRect/>
          </a:stretch>
        </p:blipFill>
        <p:spPr>
          <a:xfrm>
            <a:off x="6172118" y="3683660"/>
            <a:ext cx="128699" cy="187198"/>
          </a:xfrm>
          <a:prstGeom prst="rect">
            <a:avLst/>
          </a:prstGeom>
        </p:spPr>
      </p:pic>
      <p:sp>
        <p:nvSpPr>
          <p:cNvPr id="90" name="TextBox 89"/>
          <p:cNvSpPr txBox="1"/>
          <p:nvPr/>
        </p:nvSpPr>
        <p:spPr>
          <a:xfrm>
            <a:off x="6339614" y="3693439"/>
            <a:ext cx="482748" cy="186689"/>
          </a:xfrm>
          <a:prstGeom prst="rect">
            <a:avLst/>
          </a:prstGeom>
          <a:noFill/>
        </p:spPr>
        <p:txBody>
          <a:bodyPr wrap="none" lIns="0" rIns="0" tIns="0" bIns="0">
            <a:spAutoFit/>
          </a:bodyPr>
          <a:lstStyle/>
          <a:p>
            <a:r>
              <a:rPr sz="1100" b="0">
                <a:solidFill>
                  <a:srgbClr val="2E2E2E"/>
                </a:solidFill>
                <a:latin typeface="Calibri"/>
              </a:rPr>
              <a:t>against</a:t>
            </a:r>
          </a:p>
        </p:txBody>
      </p:sp>
      <p:sp>
        <p:nvSpPr>
          <p:cNvPr id="91" name="TextBox 90"/>
          <p:cNvSpPr txBox="1"/>
          <p:nvPr/>
        </p:nvSpPr>
        <p:spPr>
          <a:xfrm>
            <a:off x="5038725" y="3861079"/>
            <a:ext cx="952326" cy="186689"/>
          </a:xfrm>
          <a:prstGeom prst="rect">
            <a:avLst/>
          </a:prstGeom>
          <a:noFill/>
        </p:spPr>
        <p:txBody>
          <a:bodyPr wrap="none" lIns="0" rIns="0" tIns="0" bIns="0">
            <a:spAutoFit/>
          </a:bodyPr>
          <a:lstStyle/>
          <a:p>
            <a:r>
              <a:rPr sz="1100" b="0">
                <a:solidFill>
                  <a:srgbClr val="2E2E2E"/>
                </a:solidFill>
                <a:latin typeface="Calibri"/>
              </a:rPr>
              <a:t>'Matcha Tea' at</a:t>
            </a:r>
          </a:p>
        </p:txBody>
      </p:sp>
      <p:pic>
        <p:nvPicPr>
          <p:cNvPr id="92" name="Picture 91" descr="lock.png"/>
          <p:cNvPicPr>
            <a:picLocks noChangeAspect="1"/>
          </p:cNvPicPr>
          <p:nvPr/>
        </p:nvPicPr>
        <p:blipFill>
          <a:blip r:embed="rId4"/>
          <a:stretch>
            <a:fillRect/>
          </a:stretch>
        </p:blipFill>
        <p:spPr>
          <a:xfrm>
            <a:off x="5939102" y="3851300"/>
            <a:ext cx="128699" cy="187198"/>
          </a:xfrm>
          <a:prstGeom prst="rect">
            <a:avLst/>
          </a:prstGeom>
        </p:spPr>
      </p:pic>
      <p:sp>
        <p:nvSpPr>
          <p:cNvPr id="93" name="TextBox 92"/>
          <p:cNvSpPr txBox="1"/>
          <p:nvPr/>
        </p:nvSpPr>
        <p:spPr>
          <a:xfrm>
            <a:off x="6106598" y="3861079"/>
            <a:ext cx="111397" cy="186689"/>
          </a:xfrm>
          <a:prstGeom prst="rect">
            <a:avLst/>
          </a:prstGeom>
          <a:noFill/>
        </p:spPr>
        <p:txBody>
          <a:bodyPr wrap="none" lIns="0" rIns="0" tIns="0" bIns="0">
            <a:spAutoFit/>
          </a:bodyPr>
          <a:lstStyle/>
          <a:p>
            <a:r>
              <a:rPr sz="1100" b="0">
                <a:solidFill>
                  <a:srgbClr val="2E2E2E"/>
                </a:solidFill>
                <a:latin typeface="Calibri"/>
              </a:rPr>
              <a:t>.</a:t>
            </a:r>
          </a:p>
        </p:txBody>
      </p:sp>
      <p:sp>
        <p:nvSpPr>
          <p:cNvPr id="94" name="TextBox 93"/>
          <p:cNvSpPr txBox="1"/>
          <p:nvPr/>
        </p:nvSpPr>
        <p:spPr>
          <a:xfrm>
            <a:off x="5038725" y="4210313"/>
            <a:ext cx="2114550" cy="186689"/>
          </a:xfrm>
          <a:prstGeom prst="rect">
            <a:avLst/>
          </a:prstGeom>
          <a:noFill/>
        </p:spPr>
        <p:txBody>
          <a:bodyPr wrap="none" lIns="0" rIns="0" tIns="0" bIns="0">
            <a:spAutoFit/>
          </a:bodyPr>
          <a:lstStyle/>
          <a:p>
            <a:r>
              <a:rPr sz="1100" b="0">
                <a:solidFill>
                  <a:srgbClr val="2E2E2E"/>
                </a:solidFill>
                <a:latin typeface="Calibri"/>
              </a:rPr>
              <a:t>▸ 3 of 6 regions grow at or above the</a:t>
            </a:r>
          </a:p>
        </p:txBody>
      </p:sp>
      <p:pic>
        <p:nvPicPr>
          <p:cNvPr id="95" name="Picture 94" descr="lock.png"/>
          <p:cNvPicPr>
            <a:picLocks noChangeAspect="1"/>
          </p:cNvPicPr>
          <p:nvPr/>
        </p:nvPicPr>
        <p:blipFill>
          <a:blip r:embed="rId4"/>
          <a:stretch>
            <a:fillRect/>
          </a:stretch>
        </p:blipFill>
        <p:spPr>
          <a:xfrm>
            <a:off x="5025257" y="4368174"/>
            <a:ext cx="128699" cy="187198"/>
          </a:xfrm>
          <a:prstGeom prst="rect">
            <a:avLst/>
          </a:prstGeom>
        </p:spPr>
      </p:pic>
      <p:sp>
        <p:nvSpPr>
          <p:cNvPr id="96" name="TextBox 95"/>
          <p:cNvSpPr txBox="1"/>
          <p:nvPr/>
        </p:nvSpPr>
        <p:spPr>
          <a:xfrm>
            <a:off x="5192753" y="4377953"/>
            <a:ext cx="1643186" cy="186689"/>
          </a:xfrm>
          <a:prstGeom prst="rect">
            <a:avLst/>
          </a:prstGeom>
          <a:noFill/>
        </p:spPr>
        <p:txBody>
          <a:bodyPr wrap="none" lIns="0" rIns="0" tIns="0" bIns="0">
            <a:spAutoFit/>
          </a:bodyPr>
          <a:lstStyle/>
          <a:p>
            <a:r>
              <a:rPr sz="1100" b="0">
                <a:solidFill>
                  <a:srgbClr val="2E2E2E"/>
                </a:solidFill>
                <a:latin typeface="Calibri"/>
              </a:rPr>
              <a:t>market pace, keeping share</a:t>
            </a:r>
          </a:p>
        </p:txBody>
      </p:sp>
      <p:sp>
        <p:nvSpPr>
          <p:cNvPr id="97" name="TextBox 96"/>
          <p:cNvSpPr txBox="1"/>
          <p:nvPr/>
        </p:nvSpPr>
        <p:spPr>
          <a:xfrm>
            <a:off x="5038725" y="4545593"/>
            <a:ext cx="678656" cy="186689"/>
          </a:xfrm>
          <a:prstGeom prst="rect">
            <a:avLst/>
          </a:prstGeom>
          <a:noFill/>
        </p:spPr>
        <p:txBody>
          <a:bodyPr wrap="none" lIns="0" rIns="0" tIns="0" bIns="0">
            <a:spAutoFit/>
          </a:bodyPr>
          <a:lstStyle/>
          <a:p>
            <a:r>
              <a:rPr sz="1100" b="0">
                <a:solidFill>
                  <a:srgbClr val="2E2E2E"/>
                </a:solidFill>
                <a:latin typeface="Calibri"/>
              </a:rPr>
              <a:t>contested.</a:t>
            </a:r>
          </a:p>
        </p:txBody>
      </p:sp>
      <p:sp>
        <p:nvSpPr>
          <p:cNvPr id="98" name="TextBox 97"/>
          <p:cNvSpPr txBox="1"/>
          <p:nvPr/>
        </p:nvSpPr>
        <p:spPr>
          <a:xfrm>
            <a:off x="7419975" y="2944566"/>
            <a:ext cx="2041549" cy="186689"/>
          </a:xfrm>
          <a:prstGeom prst="rect">
            <a:avLst/>
          </a:prstGeom>
          <a:noFill/>
        </p:spPr>
        <p:txBody>
          <a:bodyPr wrap="none" lIns="0" rIns="0" tIns="0" bIns="0">
            <a:spAutoFit/>
          </a:bodyPr>
          <a:lstStyle/>
          <a:p>
            <a:r>
              <a:rPr sz="1100" b="0">
                <a:solidFill>
                  <a:srgbClr val="2E2E2E"/>
                </a:solidFill>
                <a:latin typeface="Calibri"/>
              </a:rPr>
              <a:t>▸ Assessed low. 'Matcha Tea' loses</a:t>
            </a:r>
          </a:p>
        </p:txBody>
      </p:sp>
      <p:pic>
        <p:nvPicPr>
          <p:cNvPr id="99" name="Picture 98" descr="lock.png"/>
          <p:cNvPicPr>
            <a:picLocks noChangeAspect="1"/>
          </p:cNvPicPr>
          <p:nvPr/>
        </p:nvPicPr>
        <p:blipFill>
          <a:blip r:embed="rId4"/>
          <a:stretch>
            <a:fillRect/>
          </a:stretch>
        </p:blipFill>
        <p:spPr>
          <a:xfrm>
            <a:off x="7406507" y="3102427"/>
            <a:ext cx="128699" cy="187198"/>
          </a:xfrm>
          <a:prstGeom prst="rect">
            <a:avLst/>
          </a:prstGeom>
        </p:spPr>
      </p:pic>
      <p:sp>
        <p:nvSpPr>
          <p:cNvPr id="100" name="TextBox 99"/>
          <p:cNvSpPr txBox="1"/>
          <p:nvPr/>
        </p:nvSpPr>
        <p:spPr>
          <a:xfrm>
            <a:off x="7574003" y="3112206"/>
            <a:ext cx="1428998" cy="186689"/>
          </a:xfrm>
          <a:prstGeom prst="rect">
            <a:avLst/>
          </a:prstGeom>
          <a:noFill/>
        </p:spPr>
        <p:txBody>
          <a:bodyPr wrap="none" lIns="0" rIns="0" tIns="0" bIns="0">
            <a:spAutoFit/>
          </a:bodyPr>
          <a:lstStyle/>
          <a:p>
            <a:r>
              <a:rPr sz="1100" b="0">
                <a:solidFill>
                  <a:srgbClr val="2E2E2E"/>
                </a:solidFill>
                <a:latin typeface="Calibri"/>
              </a:rPr>
              <a:t>BPS of share to 'Matcha</a:t>
            </a:r>
          </a:p>
        </p:txBody>
      </p:sp>
      <p:sp>
        <p:nvSpPr>
          <p:cNvPr id="101" name="TextBox 100"/>
          <p:cNvSpPr txBox="1"/>
          <p:nvPr/>
        </p:nvSpPr>
        <p:spPr>
          <a:xfrm>
            <a:off x="7419975" y="3279846"/>
            <a:ext cx="688206" cy="186689"/>
          </a:xfrm>
          <a:prstGeom prst="rect">
            <a:avLst/>
          </a:prstGeom>
          <a:noFill/>
        </p:spPr>
        <p:txBody>
          <a:bodyPr wrap="none" lIns="0" rIns="0" tIns="0" bIns="0">
            <a:spAutoFit/>
          </a:bodyPr>
          <a:lstStyle/>
          <a:p>
            <a:r>
              <a:rPr sz="1100" b="0">
                <a:solidFill>
                  <a:srgbClr val="2E2E2E"/>
                </a:solidFill>
                <a:latin typeface="Calibri"/>
              </a:rPr>
              <a:t>Powder' (+</a:t>
            </a:r>
          </a:p>
        </p:txBody>
      </p:sp>
      <p:pic>
        <p:nvPicPr>
          <p:cNvPr id="102" name="Picture 101" descr="lock.png"/>
          <p:cNvPicPr>
            <a:picLocks noChangeAspect="1"/>
          </p:cNvPicPr>
          <p:nvPr/>
        </p:nvPicPr>
        <p:blipFill>
          <a:blip r:embed="rId4"/>
          <a:stretch>
            <a:fillRect/>
          </a:stretch>
        </p:blipFill>
        <p:spPr>
          <a:xfrm>
            <a:off x="8056232" y="3270067"/>
            <a:ext cx="128699" cy="187198"/>
          </a:xfrm>
          <a:prstGeom prst="rect">
            <a:avLst/>
          </a:prstGeom>
        </p:spPr>
      </p:pic>
      <p:sp>
        <p:nvSpPr>
          <p:cNvPr id="103" name="TextBox 102"/>
          <p:cNvSpPr txBox="1"/>
          <p:nvPr/>
        </p:nvSpPr>
        <p:spPr>
          <a:xfrm>
            <a:off x="8223728" y="3279846"/>
            <a:ext cx="814809" cy="186689"/>
          </a:xfrm>
          <a:prstGeom prst="rect">
            <a:avLst/>
          </a:prstGeom>
          <a:noFill/>
        </p:spPr>
        <p:txBody>
          <a:bodyPr wrap="none" lIns="0" rIns="0" tIns="0" bIns="0">
            <a:spAutoFit/>
          </a:bodyPr>
          <a:lstStyle/>
          <a:p>
            <a:r>
              <a:rPr sz="1100" b="0">
                <a:solidFill>
                  <a:srgbClr val="2E2E2E"/>
                </a:solidFill>
                <a:latin typeface="Calibri"/>
              </a:rPr>
              <a:t>BPS) by 2036</a:t>
            </a:r>
          </a:p>
        </p:txBody>
      </p:sp>
      <p:sp>
        <p:nvSpPr>
          <p:cNvPr id="104" name="TextBox 103"/>
          <p:cNvSpPr txBox="1"/>
          <p:nvPr/>
        </p:nvSpPr>
        <p:spPr>
          <a:xfrm>
            <a:off x="7419975" y="3447486"/>
            <a:ext cx="2114550" cy="186689"/>
          </a:xfrm>
          <a:prstGeom prst="rect">
            <a:avLst/>
          </a:prstGeom>
          <a:noFill/>
        </p:spPr>
        <p:txBody>
          <a:bodyPr wrap="none" lIns="0" rIns="0" tIns="0" bIns="0">
            <a:spAutoFit/>
          </a:bodyPr>
          <a:lstStyle/>
          <a:p>
            <a:r>
              <a:rPr sz="1100" b="0">
                <a:solidFill>
                  <a:srgbClr val="2E2E2E"/>
                </a:solidFill>
                <a:latin typeface="Calibri"/>
              </a:rPr>
              <a:t>substitution is visible inside the mix.</a:t>
            </a:r>
          </a:p>
        </p:txBody>
      </p:sp>
      <p:sp>
        <p:nvSpPr>
          <p:cNvPr id="105" name="TextBox 104"/>
          <p:cNvSpPr txBox="1"/>
          <p:nvPr/>
        </p:nvSpPr>
        <p:spPr>
          <a:xfrm>
            <a:off x="7419975" y="3894694"/>
            <a:ext cx="1550384" cy="179984"/>
          </a:xfrm>
          <a:prstGeom prst="rect">
            <a:avLst/>
          </a:prstGeom>
          <a:noFill/>
        </p:spPr>
        <p:txBody>
          <a:bodyPr wrap="none" lIns="0" rIns="0" tIns="0" bIns="0">
            <a:spAutoFit/>
          </a:bodyPr>
          <a:lstStyle/>
          <a:p>
            <a:r>
              <a:rPr sz="1055" b="0">
                <a:solidFill>
                  <a:srgbClr val="2E2E2E"/>
                </a:solidFill>
                <a:latin typeface="Calibri"/>
              </a:rPr>
              <a:t>▸ The slowest line grows at</a:t>
            </a:r>
          </a:p>
        </p:txBody>
      </p:sp>
      <p:pic>
        <p:nvPicPr>
          <p:cNvPr id="106" name="Picture 105" descr="lock.png"/>
          <p:cNvPicPr>
            <a:picLocks noChangeAspect="1"/>
          </p:cNvPicPr>
          <p:nvPr/>
        </p:nvPicPr>
        <p:blipFill>
          <a:blip r:embed="rId4"/>
          <a:stretch>
            <a:fillRect/>
          </a:stretch>
        </p:blipFill>
        <p:spPr>
          <a:xfrm>
            <a:off x="8917440" y="3885306"/>
            <a:ext cx="123551" cy="179710"/>
          </a:xfrm>
          <a:prstGeom prst="rect">
            <a:avLst/>
          </a:prstGeom>
        </p:spPr>
      </p:pic>
      <p:sp>
        <p:nvSpPr>
          <p:cNvPr id="107" name="TextBox 106"/>
          <p:cNvSpPr txBox="1"/>
          <p:nvPr/>
        </p:nvSpPr>
        <p:spPr>
          <a:xfrm>
            <a:off x="9078236" y="3894694"/>
            <a:ext cx="181236" cy="179984"/>
          </a:xfrm>
          <a:prstGeom prst="rect">
            <a:avLst/>
          </a:prstGeom>
          <a:noFill/>
        </p:spPr>
        <p:txBody>
          <a:bodyPr wrap="none" lIns="0" rIns="0" tIns="0" bIns="0">
            <a:spAutoFit/>
          </a:bodyPr>
          <a:lstStyle/>
          <a:p>
            <a:r>
              <a:rPr sz="1055" b="0">
                <a:solidFill>
                  <a:srgbClr val="2E2E2E"/>
                </a:solidFill>
                <a:latin typeface="Calibri"/>
              </a:rPr>
              <a:t>, -</a:t>
            </a:r>
          </a:p>
        </p:txBody>
      </p:sp>
      <p:pic>
        <p:nvPicPr>
          <p:cNvPr id="108" name="Picture 107" descr="lock.png"/>
          <p:cNvPicPr>
            <a:picLocks noChangeAspect="1"/>
          </p:cNvPicPr>
          <p:nvPr/>
        </p:nvPicPr>
        <p:blipFill>
          <a:blip r:embed="rId4"/>
          <a:stretch>
            <a:fillRect/>
          </a:stretch>
        </p:blipFill>
        <p:spPr>
          <a:xfrm>
            <a:off x="9206555" y="3885306"/>
            <a:ext cx="123551" cy="179710"/>
          </a:xfrm>
          <a:prstGeom prst="rect">
            <a:avLst/>
          </a:prstGeom>
        </p:spPr>
      </p:pic>
      <p:sp>
        <p:nvSpPr>
          <p:cNvPr id="109" name="TextBox 108"/>
          <p:cNvSpPr txBox="1"/>
          <p:nvPr/>
        </p:nvSpPr>
        <p:spPr>
          <a:xfrm>
            <a:off x="7419975" y="4055628"/>
            <a:ext cx="1368861" cy="179984"/>
          </a:xfrm>
          <a:prstGeom prst="rect">
            <a:avLst/>
          </a:prstGeom>
          <a:noFill/>
        </p:spPr>
        <p:txBody>
          <a:bodyPr wrap="none" lIns="0" rIns="0" tIns="0" bIns="0">
            <a:spAutoFit/>
          </a:bodyPr>
          <a:lstStyle/>
          <a:p>
            <a:r>
              <a:rPr sz="1055" b="0">
                <a:solidFill>
                  <a:srgbClr val="2E2E2E"/>
                </a:solidFill>
                <a:latin typeface="Calibri"/>
              </a:rPr>
              <a:t>BPS against the market.</a:t>
            </a:r>
          </a:p>
        </p:txBody>
      </p:sp>
      <p:sp>
        <p:nvSpPr>
          <p:cNvPr id="110" name="TextBox 109"/>
          <p:cNvSpPr txBox="1"/>
          <p:nvPr/>
        </p:nvSpPr>
        <p:spPr>
          <a:xfrm>
            <a:off x="7419975" y="4392850"/>
            <a:ext cx="1254373" cy="186689"/>
          </a:xfrm>
          <a:prstGeom prst="rect">
            <a:avLst/>
          </a:prstGeom>
          <a:noFill/>
        </p:spPr>
        <p:txBody>
          <a:bodyPr wrap="none" lIns="0" rIns="0" tIns="0" bIns="0">
            <a:spAutoFit/>
          </a:bodyPr>
          <a:lstStyle/>
          <a:p>
            <a:r>
              <a:rPr sz="1100" b="0">
                <a:solidFill>
                  <a:srgbClr val="2E2E2E"/>
                </a:solidFill>
                <a:latin typeface="Calibri"/>
              </a:rPr>
              <a:t>▸ Realisation moving</a:t>
            </a:r>
          </a:p>
        </p:txBody>
      </p:sp>
      <p:pic>
        <p:nvPicPr>
          <p:cNvPr id="111" name="Picture 110" descr="lock.png"/>
          <p:cNvPicPr>
            <a:picLocks noChangeAspect="1"/>
          </p:cNvPicPr>
          <p:nvPr/>
        </p:nvPicPr>
        <p:blipFill>
          <a:blip r:embed="rId4"/>
          <a:stretch>
            <a:fillRect/>
          </a:stretch>
        </p:blipFill>
        <p:spPr>
          <a:xfrm>
            <a:off x="8622399" y="4383071"/>
            <a:ext cx="128699" cy="187198"/>
          </a:xfrm>
          <a:prstGeom prst="rect">
            <a:avLst/>
          </a:prstGeom>
        </p:spPr>
      </p:pic>
      <p:sp>
        <p:nvSpPr>
          <p:cNvPr id="112" name="TextBox 111"/>
          <p:cNvSpPr txBox="1"/>
          <p:nvPr/>
        </p:nvSpPr>
        <p:spPr>
          <a:xfrm>
            <a:off x="8789895" y="4392850"/>
            <a:ext cx="423267" cy="186689"/>
          </a:xfrm>
          <a:prstGeom prst="rect">
            <a:avLst/>
          </a:prstGeom>
          <a:noFill/>
        </p:spPr>
        <p:txBody>
          <a:bodyPr wrap="none" lIns="0" rIns="0" tIns="0" bIns="0">
            <a:spAutoFit/>
          </a:bodyPr>
          <a:lstStyle/>
          <a:p>
            <a:r>
              <a:rPr sz="1100" b="0">
                <a:solidFill>
                  <a:srgbClr val="2E2E2E"/>
                </a:solidFill>
                <a:latin typeface="Calibri"/>
              </a:rPr>
              <a:t>a year</a:t>
            </a:r>
          </a:p>
        </p:txBody>
      </p:sp>
      <p:sp>
        <p:nvSpPr>
          <p:cNvPr id="113" name="TextBox 112"/>
          <p:cNvSpPr txBox="1"/>
          <p:nvPr/>
        </p:nvSpPr>
        <p:spPr>
          <a:xfrm>
            <a:off x="7419975" y="4560490"/>
            <a:ext cx="1911399" cy="186689"/>
          </a:xfrm>
          <a:prstGeom prst="rect">
            <a:avLst/>
          </a:prstGeom>
          <a:noFill/>
        </p:spPr>
        <p:txBody>
          <a:bodyPr wrap="none" lIns="0" rIns="0" tIns="0" bIns="0">
            <a:spAutoFit/>
          </a:bodyPr>
          <a:lstStyle/>
          <a:p>
            <a:r>
              <a:rPr sz="1100" b="0">
                <a:solidFill>
                  <a:srgbClr val="2E2E2E"/>
                </a:solidFill>
                <a:latin typeface="Calibri"/>
              </a:rPr>
              <a:t>widens the price gap substitutes</a:t>
            </a:r>
          </a:p>
        </p:txBody>
      </p:sp>
      <p:sp>
        <p:nvSpPr>
          <p:cNvPr id="114" name="TextBox 113"/>
          <p:cNvSpPr txBox="1"/>
          <p:nvPr/>
        </p:nvSpPr>
        <p:spPr>
          <a:xfrm>
            <a:off x="7419975" y="4728130"/>
            <a:ext cx="718765" cy="186689"/>
          </a:xfrm>
          <a:prstGeom prst="rect">
            <a:avLst/>
          </a:prstGeom>
          <a:noFill/>
        </p:spPr>
        <p:txBody>
          <a:bodyPr wrap="none" lIns="0" rIns="0" tIns="0" bIns="0">
            <a:spAutoFit/>
          </a:bodyPr>
          <a:lstStyle/>
          <a:p>
            <a:r>
              <a:rPr sz="1100" b="0">
                <a:solidFill>
                  <a:srgbClr val="2E2E2E"/>
                </a:solidFill>
                <a:latin typeface="Calibri"/>
              </a:rPr>
              <a:t>must close.</a:t>
            </a:r>
          </a:p>
        </p:txBody>
      </p:sp>
      <p:sp>
        <p:nvSpPr>
          <p:cNvPr id="115" name="TextBox 114"/>
          <p:cNvSpPr txBox="1"/>
          <p:nvPr/>
        </p:nvSpPr>
        <p:spPr>
          <a:xfrm>
            <a:off x="9801225" y="2932554"/>
            <a:ext cx="2058193" cy="186689"/>
          </a:xfrm>
          <a:prstGeom prst="rect">
            <a:avLst/>
          </a:prstGeom>
          <a:noFill/>
        </p:spPr>
        <p:txBody>
          <a:bodyPr wrap="none" lIns="0" rIns="0" tIns="0" bIns="0">
            <a:spAutoFit/>
          </a:bodyPr>
          <a:lstStyle/>
          <a:p>
            <a:r>
              <a:rPr sz="1100" b="0">
                <a:solidFill>
                  <a:srgbClr val="2E2E2E"/>
                </a:solidFill>
                <a:latin typeface="Calibri"/>
              </a:rPr>
              <a:t>▸ Assessed high. The market grows</a:t>
            </a:r>
          </a:p>
        </p:txBody>
      </p:sp>
      <p:sp>
        <p:nvSpPr>
          <p:cNvPr id="116" name="TextBox 115"/>
          <p:cNvSpPr txBox="1"/>
          <p:nvPr/>
        </p:nvSpPr>
        <p:spPr>
          <a:xfrm>
            <a:off x="9801225" y="3100194"/>
            <a:ext cx="189979" cy="186689"/>
          </a:xfrm>
          <a:prstGeom prst="rect">
            <a:avLst/>
          </a:prstGeom>
          <a:noFill/>
        </p:spPr>
        <p:txBody>
          <a:bodyPr wrap="none" lIns="0" rIns="0" tIns="0" bIns="0">
            <a:spAutoFit/>
          </a:bodyPr>
          <a:lstStyle/>
          <a:p>
            <a:r>
              <a:rPr sz="1100" b="0">
                <a:solidFill>
                  <a:srgbClr val="2E2E2E"/>
                </a:solidFill>
                <a:latin typeface="Calibri"/>
              </a:rPr>
              <a:t>at</a:t>
            </a:r>
          </a:p>
        </p:txBody>
      </p:sp>
      <p:pic>
        <p:nvPicPr>
          <p:cNvPr id="117" name="Picture 116" descr="lock.png"/>
          <p:cNvPicPr>
            <a:picLocks noChangeAspect="1"/>
          </p:cNvPicPr>
          <p:nvPr/>
        </p:nvPicPr>
        <p:blipFill>
          <a:blip r:embed="rId4"/>
          <a:stretch>
            <a:fillRect/>
          </a:stretch>
        </p:blipFill>
        <p:spPr>
          <a:xfrm>
            <a:off x="9939255" y="3090415"/>
            <a:ext cx="128699" cy="187198"/>
          </a:xfrm>
          <a:prstGeom prst="rect">
            <a:avLst/>
          </a:prstGeom>
        </p:spPr>
      </p:pic>
      <p:sp>
        <p:nvSpPr>
          <p:cNvPr id="118" name="TextBox 117"/>
          <p:cNvSpPr txBox="1"/>
          <p:nvPr/>
        </p:nvSpPr>
        <p:spPr>
          <a:xfrm>
            <a:off x="10106751" y="3100194"/>
            <a:ext cx="940576" cy="186689"/>
          </a:xfrm>
          <a:prstGeom prst="rect">
            <a:avLst/>
          </a:prstGeom>
          <a:noFill/>
        </p:spPr>
        <p:txBody>
          <a:bodyPr wrap="none" lIns="0" rIns="0" tIns="0" bIns="0">
            <a:spAutoFit/>
          </a:bodyPr>
          <a:lstStyle/>
          <a:p>
            <a:r>
              <a:rPr sz="1100" b="0">
                <a:solidFill>
                  <a:srgbClr val="2E2E2E"/>
                </a:solidFill>
                <a:latin typeface="Calibri"/>
              </a:rPr>
              <a:t>CAGR and adds</a:t>
            </a:r>
          </a:p>
        </p:txBody>
      </p:sp>
      <p:pic>
        <p:nvPicPr>
          <p:cNvPr id="119" name="Picture 118" descr="lock.png"/>
          <p:cNvPicPr>
            <a:picLocks noChangeAspect="1"/>
          </p:cNvPicPr>
          <p:nvPr/>
        </p:nvPicPr>
        <p:blipFill>
          <a:blip r:embed="rId4"/>
          <a:stretch>
            <a:fillRect/>
          </a:stretch>
        </p:blipFill>
        <p:spPr>
          <a:xfrm>
            <a:off x="10995379" y="3090415"/>
            <a:ext cx="128699" cy="187198"/>
          </a:xfrm>
          <a:prstGeom prst="rect">
            <a:avLst/>
          </a:prstGeom>
        </p:spPr>
      </p:pic>
      <p:sp>
        <p:nvSpPr>
          <p:cNvPr id="120" name="TextBox 119"/>
          <p:cNvSpPr txBox="1"/>
          <p:nvPr/>
        </p:nvSpPr>
        <p:spPr>
          <a:xfrm>
            <a:off x="11162875" y="3100194"/>
            <a:ext cx="525586" cy="186689"/>
          </a:xfrm>
          <a:prstGeom prst="rect">
            <a:avLst/>
          </a:prstGeom>
          <a:noFill/>
        </p:spPr>
        <p:txBody>
          <a:bodyPr wrap="none" lIns="0" rIns="0" tIns="0" bIns="0">
            <a:spAutoFit/>
          </a:bodyPr>
          <a:lstStyle/>
          <a:p>
            <a:r>
              <a:rPr sz="1100" b="0">
                <a:solidFill>
                  <a:srgbClr val="2E2E2E"/>
                </a:solidFill>
                <a:latin typeface="Calibri"/>
              </a:rPr>
              <a:t>US$ Mn</a:t>
            </a:r>
          </a:p>
        </p:txBody>
      </p:sp>
      <p:sp>
        <p:nvSpPr>
          <p:cNvPr id="121" name="TextBox 120"/>
          <p:cNvSpPr txBox="1"/>
          <p:nvPr/>
        </p:nvSpPr>
        <p:spPr>
          <a:xfrm>
            <a:off x="9801225" y="3267834"/>
            <a:ext cx="1517674" cy="186689"/>
          </a:xfrm>
          <a:prstGeom prst="rect">
            <a:avLst/>
          </a:prstGeom>
          <a:noFill/>
        </p:spPr>
        <p:txBody>
          <a:bodyPr wrap="none" lIns="0" rIns="0" tIns="0" bIns="0">
            <a:spAutoFit/>
          </a:bodyPr>
          <a:lstStyle/>
          <a:p>
            <a:r>
              <a:rPr sz="1100" b="0">
                <a:solidFill>
                  <a:srgbClr val="2E2E2E"/>
                </a:solidFill>
                <a:latin typeface="Calibri"/>
              </a:rPr>
              <a:t>by 2036, attracting entry.</a:t>
            </a:r>
          </a:p>
        </p:txBody>
      </p:sp>
      <p:sp>
        <p:nvSpPr>
          <p:cNvPr id="122" name="TextBox 121"/>
          <p:cNvSpPr txBox="1"/>
          <p:nvPr/>
        </p:nvSpPr>
        <p:spPr>
          <a:xfrm>
            <a:off x="9801225" y="3708336"/>
            <a:ext cx="1971426" cy="186689"/>
          </a:xfrm>
          <a:prstGeom prst="rect">
            <a:avLst/>
          </a:prstGeom>
          <a:noFill/>
        </p:spPr>
        <p:txBody>
          <a:bodyPr wrap="none" lIns="0" rIns="0" tIns="0" bIns="0">
            <a:spAutoFit/>
          </a:bodyPr>
          <a:lstStyle/>
          <a:p>
            <a:r>
              <a:rPr sz="1100" b="0">
                <a:solidFill>
                  <a:srgbClr val="2E2E2E"/>
                </a:solidFill>
                <a:latin typeface="Calibri"/>
              </a:rPr>
              <a:t>▸ Demand spreads over 6 regions</a:t>
            </a:r>
          </a:p>
        </p:txBody>
      </p:sp>
      <p:sp>
        <p:nvSpPr>
          <p:cNvPr id="123" name="TextBox 122"/>
          <p:cNvSpPr txBox="1"/>
          <p:nvPr/>
        </p:nvSpPr>
        <p:spPr>
          <a:xfrm>
            <a:off x="9801225" y="3875976"/>
            <a:ext cx="1493118" cy="186689"/>
          </a:xfrm>
          <a:prstGeom prst="rect">
            <a:avLst/>
          </a:prstGeom>
          <a:noFill/>
        </p:spPr>
        <p:txBody>
          <a:bodyPr wrap="none" lIns="0" rIns="0" tIns="0" bIns="0">
            <a:spAutoFit/>
          </a:bodyPr>
          <a:lstStyle/>
          <a:p>
            <a:r>
              <a:rPr sz="1100" b="0">
                <a:solidFill>
                  <a:srgbClr val="2E2E2E"/>
                </a:solidFill>
                <a:latin typeface="Calibri"/>
              </a:rPr>
              <a:t>with no single one above</a:t>
            </a:r>
          </a:p>
        </p:txBody>
      </p:sp>
      <p:pic>
        <p:nvPicPr>
          <p:cNvPr id="124" name="Picture 123" descr="lock.png"/>
          <p:cNvPicPr>
            <a:picLocks noChangeAspect="1"/>
          </p:cNvPicPr>
          <p:nvPr/>
        </p:nvPicPr>
        <p:blipFill>
          <a:blip r:embed="rId4"/>
          <a:stretch>
            <a:fillRect/>
          </a:stretch>
        </p:blipFill>
        <p:spPr>
          <a:xfrm>
            <a:off x="11242394" y="3866197"/>
            <a:ext cx="128699" cy="187198"/>
          </a:xfrm>
          <a:prstGeom prst="rect">
            <a:avLst/>
          </a:prstGeom>
        </p:spPr>
      </p:pic>
      <p:sp>
        <p:nvSpPr>
          <p:cNvPr id="125" name="TextBox 124"/>
          <p:cNvSpPr txBox="1"/>
          <p:nvPr/>
        </p:nvSpPr>
        <p:spPr>
          <a:xfrm>
            <a:off x="11409890" y="3875976"/>
            <a:ext cx="271016" cy="186689"/>
          </a:xfrm>
          <a:prstGeom prst="rect">
            <a:avLst/>
          </a:prstGeom>
          <a:noFill/>
        </p:spPr>
        <p:txBody>
          <a:bodyPr wrap="none" lIns="0" rIns="0" tIns="0" bIns="0">
            <a:spAutoFit/>
          </a:bodyPr>
          <a:lstStyle/>
          <a:p>
            <a:r>
              <a:rPr sz="1100" b="0">
                <a:solidFill>
                  <a:srgbClr val="2E2E2E"/>
                </a:solidFill>
                <a:latin typeface="Calibri"/>
              </a:rPr>
              <a:t>, so</a:t>
            </a:r>
          </a:p>
        </p:txBody>
      </p:sp>
      <p:sp>
        <p:nvSpPr>
          <p:cNvPr id="126" name="TextBox 125"/>
          <p:cNvSpPr txBox="1"/>
          <p:nvPr/>
        </p:nvSpPr>
        <p:spPr>
          <a:xfrm>
            <a:off x="9801225" y="4043616"/>
            <a:ext cx="1498575" cy="186689"/>
          </a:xfrm>
          <a:prstGeom prst="rect">
            <a:avLst/>
          </a:prstGeom>
          <a:noFill/>
        </p:spPr>
        <p:txBody>
          <a:bodyPr wrap="none" lIns="0" rIns="0" tIns="0" bIns="0">
            <a:spAutoFit/>
          </a:bodyPr>
          <a:lstStyle/>
          <a:p>
            <a:r>
              <a:rPr sz="1100" b="0">
                <a:solidFill>
                  <a:srgbClr val="2E2E2E"/>
                </a:solidFill>
                <a:latin typeface="Calibri"/>
              </a:rPr>
              <a:t>regional entry is feasible.</a:t>
            </a:r>
          </a:p>
        </p:txBody>
      </p:sp>
      <p:sp>
        <p:nvSpPr>
          <p:cNvPr id="127" name="TextBox 126"/>
          <p:cNvSpPr txBox="1"/>
          <p:nvPr/>
        </p:nvSpPr>
        <p:spPr>
          <a:xfrm>
            <a:off x="9801225" y="4484119"/>
            <a:ext cx="2114550" cy="186689"/>
          </a:xfrm>
          <a:prstGeom prst="rect">
            <a:avLst/>
          </a:prstGeom>
          <a:noFill/>
        </p:spPr>
        <p:txBody>
          <a:bodyPr wrap="none" lIns="0" rIns="0" tIns="0" bIns="0">
            <a:spAutoFit/>
          </a:bodyPr>
          <a:lstStyle/>
          <a:p>
            <a:r>
              <a:rPr sz="1100" b="0">
                <a:solidFill>
                  <a:srgbClr val="2E2E2E"/>
                </a:solidFill>
                <a:latin typeface="Calibri"/>
              </a:rPr>
              <a:t>▸ Incumbent scale in 'North America'</a:t>
            </a:r>
          </a:p>
        </p:txBody>
      </p:sp>
      <p:sp>
        <p:nvSpPr>
          <p:cNvPr id="128" name="TextBox 127"/>
          <p:cNvSpPr txBox="1"/>
          <p:nvPr/>
        </p:nvSpPr>
        <p:spPr>
          <a:xfrm>
            <a:off x="9801225" y="4651759"/>
            <a:ext cx="1126132" cy="186689"/>
          </a:xfrm>
          <a:prstGeom prst="rect">
            <a:avLst/>
          </a:prstGeom>
          <a:noFill/>
        </p:spPr>
        <p:txBody>
          <a:bodyPr wrap="none" lIns="0" rIns="0" tIns="0" bIns="0">
            <a:spAutoFit/>
          </a:bodyPr>
          <a:lstStyle/>
          <a:p>
            <a:r>
              <a:rPr sz="1100" b="0">
                <a:solidFill>
                  <a:srgbClr val="2E2E2E"/>
                </a:solidFill>
                <a:latin typeface="Calibri"/>
              </a:rPr>
              <a:t>and 'Matcha Tea' (</a:t>
            </a:r>
          </a:p>
        </p:txBody>
      </p:sp>
      <p:pic>
        <p:nvPicPr>
          <p:cNvPr id="129" name="Picture 128" descr="lock.png"/>
          <p:cNvPicPr>
            <a:picLocks noChangeAspect="1"/>
          </p:cNvPicPr>
          <p:nvPr/>
        </p:nvPicPr>
        <p:blipFill>
          <a:blip r:embed="rId4"/>
          <a:stretch>
            <a:fillRect/>
          </a:stretch>
        </p:blipFill>
        <p:spPr>
          <a:xfrm>
            <a:off x="10875409" y="4641980"/>
            <a:ext cx="128699" cy="187198"/>
          </a:xfrm>
          <a:prstGeom prst="rect">
            <a:avLst/>
          </a:prstGeom>
        </p:spPr>
      </p:pic>
      <p:sp>
        <p:nvSpPr>
          <p:cNvPr id="130" name="TextBox 129"/>
          <p:cNvSpPr txBox="1"/>
          <p:nvPr/>
        </p:nvSpPr>
        <p:spPr>
          <a:xfrm>
            <a:off x="11042905" y="4651759"/>
            <a:ext cx="757783" cy="186689"/>
          </a:xfrm>
          <a:prstGeom prst="rect">
            <a:avLst/>
          </a:prstGeom>
          <a:noFill/>
        </p:spPr>
        <p:txBody>
          <a:bodyPr wrap="none" lIns="0" rIns="0" tIns="0" bIns="0">
            <a:spAutoFit/>
          </a:bodyPr>
          <a:lstStyle/>
          <a:p>
            <a:r>
              <a:rPr sz="1100" b="0">
                <a:solidFill>
                  <a:srgbClr val="2E2E2E"/>
                </a:solidFill>
                <a:latin typeface="Calibri"/>
              </a:rPr>
              <a:t>of segment)</a:t>
            </a:r>
          </a:p>
        </p:txBody>
      </p:sp>
      <p:sp>
        <p:nvSpPr>
          <p:cNvPr id="131" name="TextBox 130"/>
          <p:cNvSpPr txBox="1"/>
          <p:nvPr/>
        </p:nvSpPr>
        <p:spPr>
          <a:xfrm>
            <a:off x="9801225" y="4819399"/>
            <a:ext cx="1733500" cy="186689"/>
          </a:xfrm>
          <a:prstGeom prst="rect">
            <a:avLst/>
          </a:prstGeom>
          <a:noFill/>
        </p:spPr>
        <p:txBody>
          <a:bodyPr wrap="none" lIns="0" rIns="0" tIns="0" bIns="0">
            <a:spAutoFit/>
          </a:bodyPr>
          <a:lstStyle/>
          <a:p>
            <a:r>
              <a:rPr sz="1100" b="0">
                <a:solidFill>
                  <a:srgbClr val="2E2E2E"/>
                </a:solidFill>
                <a:latin typeface="Calibri"/>
              </a:rPr>
              <a:t>remains the principal barrier.</a:t>
            </a:r>
          </a:p>
        </p:txBody>
      </p:sp>
    </p:spTree>
  </p:cSld>
  <p:clrMapOvr>
    <a:masterClrMapping/>
  </p:clrMapOvr>
</p:sld>
</file>

<file path=ppt/slides/slide278.xml><?xml version="1.0" encoding="utf-8"?>
<p:sld xmlns:a="http://schemas.openxmlformats.org/drawingml/2006/main" xmlns:p="http://schemas.openxmlformats.org/presentationml/2006/main" xmlns:r="http://schemas.openxmlformats.org/officeDocument/2006/relationships">
  <p:cSld>
    <p:bg>
      <p:bgPr>
        <a:solidFill>
          <a:srgbClr val="0A2A63"/>
        </a:solidFill>
        <a:effectLst/>
      </p:bgPr>
    </p:bg>
    <p:spTree>
      <p:nvGrpSpPr>
        <p:cNvPr id="1" name=""/>
        <p:cNvGrpSpPr/>
        <p:nvPr/>
      </p:nvGrpSpPr>
      <p:grpSpPr/>
      <p:sp>
        <p:nvSpPr>
          <p:cNvPr id="2" name="FMI Section Breaker"/>
          <p:cNvSpPr/>
          <p:nvPr/>
        </p:nvSpPr>
        <p:spPr>
          <a:xfrm>
            <a:off x="0" y="0"/>
            <a:ext cx="12192000" cy="6858000"/>
          </a:xfrm>
          <a:prstGeom prst="rect">
            <a:avLst/>
          </a:prstGeom>
          <a:gradFill rotWithShape="1">
            <a:gsLst>
              <a:gs pos="0">
                <a:srgbClr val="0A2A63"/>
              </a:gs>
              <a:gs pos="100000">
                <a:srgbClr val="0F3F8F"/>
              </a:gs>
            </a:gsLst>
            <a:lin scaled="0" ang="195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399064" y="525547"/>
            <a:ext cx="1340395" cy="82342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4" name="Picture 3"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5" name="TextBox 4"/>
          <p:cNvSpPr txBox="1"/>
          <p:nvPr/>
        </p:nvSpPr>
        <p:spPr>
          <a:xfrm>
            <a:off x="914400" y="3000375"/>
            <a:ext cx="7239000" cy="247650"/>
          </a:xfrm>
          <a:prstGeom prst="rect">
            <a:avLst/>
          </a:prstGeom>
          <a:noFill/>
        </p:spPr>
        <p:txBody>
          <a:bodyPr wrap="none" lIns="0" tIns="0">
            <a:spAutoFit/>
          </a:bodyPr>
          <a:lstStyle/>
          <a:p>
            <a:r>
              <a:rPr sz="1400" b="0">
                <a:solidFill>
                  <a:srgbClr val="8FC8F2"/>
                </a:solidFill>
                <a:latin typeface="Calibri"/>
              </a:rPr>
              <a:t>Matcha Market</a:t>
            </a:r>
          </a:p>
        </p:txBody>
      </p:sp>
      <p:sp>
        <p:nvSpPr>
          <p:cNvPr id="6" name="FMI Breaker Title"/>
          <p:cNvSpPr txBox="1"/>
          <p:nvPr/>
        </p:nvSpPr>
        <p:spPr>
          <a:xfrm>
            <a:off x="914400" y="3305175"/>
            <a:ext cx="7239000" cy="514350"/>
          </a:xfrm>
          <a:prstGeom prst="rect">
            <a:avLst/>
          </a:prstGeom>
          <a:noFill/>
        </p:spPr>
        <p:txBody>
          <a:bodyPr wrap="square" lIns="0" rIns="0" tIns="0">
            <a:spAutoFit/>
          </a:bodyPr>
          <a:lstStyle/>
          <a:p>
            <a:r>
              <a:rPr sz="3000" b="1" cap="all" spc="400">
                <a:solidFill>
                  <a:srgbClr val="FFFFFF"/>
                </a:solidFill>
                <a:latin typeface="Calibri"/>
              </a:rPr>
              <a:t>Competition Assessment</a:t>
            </a:r>
          </a:p>
        </p:txBody>
      </p:sp>
      <p:sp>
        <p:nvSpPr>
          <p:cNvPr id="7" name="TextBox 6"/>
          <p:cNvSpPr txBox="1"/>
          <p:nvPr/>
        </p:nvSpPr>
        <p:spPr>
          <a:xfrm>
            <a:off x="914400" y="4010025"/>
            <a:ext cx="71247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Competitive Landscape</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Market Share by Leading Players</a:t>
            </a:r>
          </a:p>
          <a:p>
            <a:pPr marL="342900" indent="-323850">
              <a:lnSpc>
                <a:spcPct val="100000"/>
              </a:lnSpc>
              <a:spcAft>
                <a:spcPts val="800"/>
              </a:spcAft>
            </a:pPr>
            <a:r>
              <a:rPr sz="2000" b="0">
                <a:solidFill>
                  <a:srgbClr val="FFD447"/>
                </a:solidFill>
                <a:latin typeface="Calibri"/>
              </a:rPr>
              <a:t>➤	</a:t>
            </a:r>
            <a:r>
              <a:rPr sz="2000" b="0">
                <a:solidFill>
                  <a:srgbClr val="FFD447"/>
                </a:solidFill>
                <a:latin typeface="Calibri"/>
              </a:rPr>
              <a:t>Company Profiles &amp; Strategic Benchmarking</a:t>
            </a:r>
          </a:p>
        </p:txBody>
      </p:sp>
      <p:sp>
        <p:nvSpPr>
          <p:cNvPr id="8" name="TextBox 7"/>
          <p:cNvSpPr txBox="1"/>
          <p:nvPr/>
        </p:nvSpPr>
        <p:spPr>
          <a:xfrm>
            <a:off x="4000500" y="6734175"/>
            <a:ext cx="8020050" cy="123825"/>
          </a:xfrm>
          <a:prstGeom prst="rect">
            <a:avLst/>
          </a:prstGeom>
          <a:noFill/>
        </p:spPr>
        <p:txBody>
          <a:bodyPr wrap="square" lIns="28575" rIns="28575" tIns="9525" bIns="9525">
            <a:spAutoFit/>
          </a:bodyPr>
          <a:lstStyle/>
          <a:p>
            <a:pPr algn="r"/>
            <a:r>
              <a:rPr sz="700" b="0">
                <a:solidFill>
                  <a:srgbClr val="C9DCEE"/>
                </a:solidFill>
                <a:latin typeface="Calibri"/>
              </a:rPr>
              <a:t>©2026 Future Market Insights, All Rights Reserved</a:t>
            </a:r>
          </a:p>
        </p:txBody>
      </p:sp>
    </p:spTree>
  </p:cSld>
  <p:clrMapOvr>
    <a:masterClrMapping/>
  </p:clrMapOvr>
</p:sld>
</file>

<file path=ppt/slides/slide279.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18</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Market Share by Leading Players</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Advice for Vendors &amp; Suppliers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Value Share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Product Type</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Company Share by Region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Who Shaped Growth</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Advice for Market Vendors / Suppliers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Strategic advice for vendors and suppliers on pricing, product, geography, channel and competitive risk</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Strategic advice for vendors and suppliers where to compete, how to price, and which risks to manage across the Matcha Market.</a:t>
            </a:r>
          </a:p>
        </p:txBody>
      </p:sp>
      <p:sp>
        <p:nvSpPr>
          <p:cNvPr id="11" name="Rounded Rectangle 10"/>
          <p:cNvSpPr/>
          <p:nvPr/>
        </p:nvSpPr>
        <p:spPr>
          <a:xfrm>
            <a:off x="142875"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76225"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Pricing &amp; Margin Strategy</a:t>
            </a:r>
          </a:p>
        </p:txBody>
      </p:sp>
      <p:sp>
        <p:nvSpPr>
          <p:cNvPr id="13" name="Rectangle 12"/>
          <p:cNvSpPr/>
          <p:nvPr/>
        </p:nvSpPr>
        <p:spPr>
          <a:xfrm>
            <a:off x="276225"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276225"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5" name="Rounded Rectangle 14"/>
          <p:cNvSpPr/>
          <p:nvPr/>
        </p:nvSpPr>
        <p:spPr>
          <a:xfrm>
            <a:off x="6191250" y="1354081"/>
            <a:ext cx="5857875" cy="2601152"/>
          </a:xfrm>
          <a:prstGeom prst="roundRect">
            <a:avLst>
              <a:gd name="adj" fmla="val 29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324600" y="1439806"/>
            <a:ext cx="5591175" cy="209550"/>
          </a:xfrm>
          <a:prstGeom prst="rect">
            <a:avLst/>
          </a:prstGeom>
          <a:noFill/>
        </p:spPr>
        <p:txBody>
          <a:bodyPr wrap="square" lIns="0" rIns="19050" tIns="9525" bIns="9525">
            <a:spAutoFit/>
          </a:bodyPr>
          <a:lstStyle/>
          <a:p>
            <a:pPr algn="l"/>
            <a:r>
              <a:rPr sz="1300" b="1">
                <a:solidFill>
                  <a:srgbClr val="0B2E4A"/>
                </a:solidFill>
                <a:latin typeface="Calibri"/>
              </a:rPr>
              <a:t>Product &amp; Innovation</a:t>
            </a:r>
          </a:p>
        </p:txBody>
      </p:sp>
      <p:sp>
        <p:nvSpPr>
          <p:cNvPr id="17" name="Rectangle 16"/>
          <p:cNvSpPr/>
          <p:nvPr/>
        </p:nvSpPr>
        <p:spPr>
          <a:xfrm>
            <a:off x="6324600" y="1677931"/>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6324600" y="1763656"/>
            <a:ext cx="5591175" cy="2115377"/>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19" name="Rounded Rectangle 18"/>
          <p:cNvSpPr/>
          <p:nvPr/>
        </p:nvSpPr>
        <p:spPr>
          <a:xfrm>
            <a:off x="142875"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Geographic &amp; Channel Expansion</a:t>
            </a:r>
          </a:p>
        </p:txBody>
      </p:sp>
      <p:sp>
        <p:nvSpPr>
          <p:cNvPr id="21" name="Rectangle 20"/>
          <p:cNvSpPr/>
          <p:nvPr/>
        </p:nvSpPr>
        <p:spPr>
          <a:xfrm>
            <a:off x="276225"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276225"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Expand selectively into under-penetrated regions where the leaders are thin, rather than head-on in saturated markets.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Balance retail, hospital/clinic and online channels online is the fastest-shifting route to end customers.</a:t>
            </a:r>
          </a:p>
          <a:p>
            <a:pPr algn="l">
              <a:lnSpc>
                <a:spcPct val="110000"/>
              </a:lnSpc>
              <a:spcBef>
                <a:spcPts val="0"/>
              </a:spcBef>
              <a:spcAft>
                <a:spcPts val="500"/>
              </a:spcAft>
            </a:pPr>
            <a:r>
              <a:rPr sz="1100" b="0">
                <a:solidFill>
                  <a:srgbClr val="0E72AE"/>
                </a:solidFill>
                <a:latin typeface="Calibri"/>
              </a:rPr>
              <a:t>▪  </a:t>
            </a:r>
            <a:r>
              <a:rPr sz="1150" b="0">
                <a:solidFill>
                  <a:srgbClr val="2E2E2E"/>
                </a:solidFill>
                <a:latin typeface="Calibri"/>
              </a:rPr>
              <a:t>Build reliable distribution and logistics partnerships to convert demand into fulfilled volume.</a:t>
            </a:r>
          </a:p>
        </p:txBody>
      </p:sp>
      <p:sp>
        <p:nvSpPr>
          <p:cNvPr id="23" name="Rounded Rectangle 22"/>
          <p:cNvSpPr/>
          <p:nvPr/>
        </p:nvSpPr>
        <p:spPr>
          <a:xfrm>
            <a:off x="6191250" y="4046502"/>
            <a:ext cx="5857875" cy="2509883"/>
          </a:xfrm>
          <a:prstGeom prst="roundRect">
            <a:avLst>
              <a:gd name="adj" fmla="val 303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324600" y="4132227"/>
            <a:ext cx="5591175" cy="209550"/>
          </a:xfrm>
          <a:prstGeom prst="rect">
            <a:avLst/>
          </a:prstGeom>
          <a:noFill/>
        </p:spPr>
        <p:txBody>
          <a:bodyPr wrap="square" lIns="0" rIns="19050" tIns="9525" bIns="9525">
            <a:spAutoFit/>
          </a:bodyPr>
          <a:lstStyle/>
          <a:p>
            <a:pPr algn="l"/>
            <a:r>
              <a:rPr sz="1300" b="1">
                <a:solidFill>
                  <a:srgbClr val="0B2E4A"/>
                </a:solidFill>
                <a:latin typeface="Calibri"/>
              </a:rPr>
              <a:t>Competitive &amp; Risk Positioning</a:t>
            </a:r>
          </a:p>
        </p:txBody>
      </p:sp>
      <p:sp>
        <p:nvSpPr>
          <p:cNvPr id="25" name="Rectangle 24"/>
          <p:cNvSpPr/>
          <p:nvPr/>
        </p:nvSpPr>
        <p:spPr>
          <a:xfrm>
            <a:off x="6324600" y="4370352"/>
            <a:ext cx="5591175"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6324600" y="4456077"/>
            <a:ext cx="5591175" cy="2024108"/>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7" name="TextBox 2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28" name="TextBox 27"/>
          <p:cNvSpPr txBox="1"/>
          <p:nvPr/>
        </p:nvSpPr>
        <p:spPr>
          <a:xfrm>
            <a:off x="276225" y="1773181"/>
            <a:ext cx="3235387" cy="194310"/>
          </a:xfrm>
          <a:prstGeom prst="rect">
            <a:avLst/>
          </a:prstGeom>
          <a:noFill/>
        </p:spPr>
        <p:txBody>
          <a:bodyPr wrap="none" lIns="0" rIns="0" tIns="0" bIns="0">
            <a:spAutoFit/>
          </a:bodyPr>
          <a:lstStyle/>
          <a:p>
            <a:r>
              <a:rPr sz="1150" b="0">
                <a:solidFill>
                  <a:srgbClr val="2E2E2E"/>
                </a:solidFill>
                <a:latin typeface="Calibri"/>
              </a:rPr>
              <a:t>▪ Hold price discipline: with the top three players at ~</a:t>
            </a:r>
          </a:p>
        </p:txBody>
      </p:sp>
      <p:pic>
        <p:nvPicPr>
          <p:cNvPr id="29" name="Picture 28" descr="lock.png"/>
          <p:cNvPicPr>
            <a:picLocks noChangeAspect="1"/>
          </p:cNvPicPr>
          <p:nvPr/>
        </p:nvPicPr>
        <p:blipFill>
          <a:blip r:embed="rId4"/>
          <a:stretch>
            <a:fillRect/>
          </a:stretch>
        </p:blipFill>
        <p:spPr>
          <a:xfrm>
            <a:off x="3460765" y="1762957"/>
            <a:ext cx="134549" cy="195707"/>
          </a:xfrm>
          <a:prstGeom prst="rect">
            <a:avLst/>
          </a:prstGeom>
        </p:spPr>
      </p:pic>
      <p:sp>
        <p:nvSpPr>
          <p:cNvPr id="30" name="TextBox 29"/>
          <p:cNvSpPr txBox="1"/>
          <p:nvPr/>
        </p:nvSpPr>
        <p:spPr>
          <a:xfrm>
            <a:off x="3635875" y="1773181"/>
            <a:ext cx="1859892" cy="194310"/>
          </a:xfrm>
          <a:prstGeom prst="rect">
            <a:avLst/>
          </a:prstGeom>
          <a:noFill/>
        </p:spPr>
        <p:txBody>
          <a:bodyPr wrap="none" lIns="0" rIns="0" tIns="0" bIns="0">
            <a:spAutoFit/>
          </a:bodyPr>
          <a:lstStyle/>
          <a:p>
            <a:r>
              <a:rPr sz="1150" b="0">
                <a:solidFill>
                  <a:srgbClr val="2E2E2E"/>
                </a:solidFill>
                <a:latin typeface="Calibri"/>
              </a:rPr>
              <a:t>share, avoid value-destructive</a:t>
            </a:r>
          </a:p>
        </p:txBody>
      </p:sp>
      <p:sp>
        <p:nvSpPr>
          <p:cNvPr id="31" name="TextBox 30"/>
          <p:cNvSpPr txBox="1"/>
          <p:nvPr/>
        </p:nvSpPr>
        <p:spPr>
          <a:xfrm>
            <a:off x="276225" y="1948441"/>
            <a:ext cx="3646723" cy="194310"/>
          </a:xfrm>
          <a:prstGeom prst="rect">
            <a:avLst/>
          </a:prstGeom>
          <a:noFill/>
        </p:spPr>
        <p:txBody>
          <a:bodyPr wrap="none" lIns="0" rIns="0" tIns="0" bIns="0">
            <a:spAutoFit/>
          </a:bodyPr>
          <a:lstStyle/>
          <a:p>
            <a:r>
              <a:rPr sz="1150" b="0">
                <a:solidFill>
                  <a:srgbClr val="2E2E2E"/>
                </a:solidFill>
                <a:latin typeface="Calibri"/>
              </a:rPr>
              <a:t>discounting compete on mix and service, not headline price.</a:t>
            </a:r>
          </a:p>
        </p:txBody>
      </p:sp>
      <p:sp>
        <p:nvSpPr>
          <p:cNvPr id="32" name="TextBox 31"/>
          <p:cNvSpPr txBox="1"/>
          <p:nvPr/>
        </p:nvSpPr>
        <p:spPr>
          <a:xfrm>
            <a:off x="276225" y="2176279"/>
            <a:ext cx="5572125" cy="194310"/>
          </a:xfrm>
          <a:prstGeom prst="rect">
            <a:avLst/>
          </a:prstGeom>
          <a:noFill/>
        </p:spPr>
        <p:txBody>
          <a:bodyPr wrap="none" lIns="0" rIns="0" tIns="0" bIns="0">
            <a:spAutoFit/>
          </a:bodyPr>
          <a:lstStyle/>
          <a:p>
            <a:r>
              <a:rPr sz="1150" b="0">
                <a:solidFill>
                  <a:srgbClr val="2E2E2E"/>
                </a:solidFill>
                <a:latin typeface="Calibri"/>
              </a:rPr>
              <a:t>▪ Premiumise toward higher-value formulations (e.g. 'Organic') to lift blended ASP and defend</a:t>
            </a:r>
          </a:p>
        </p:txBody>
      </p:sp>
      <p:sp>
        <p:nvSpPr>
          <p:cNvPr id="33" name="TextBox 32"/>
          <p:cNvSpPr txBox="1"/>
          <p:nvPr/>
        </p:nvSpPr>
        <p:spPr>
          <a:xfrm>
            <a:off x="276225" y="2351539"/>
            <a:ext cx="1736377" cy="194310"/>
          </a:xfrm>
          <a:prstGeom prst="rect">
            <a:avLst/>
          </a:prstGeom>
          <a:noFill/>
        </p:spPr>
        <p:txBody>
          <a:bodyPr wrap="none" lIns="0" rIns="0" tIns="0" bIns="0">
            <a:spAutoFit/>
          </a:bodyPr>
          <a:lstStyle/>
          <a:p>
            <a:r>
              <a:rPr sz="1150" b="0">
                <a:solidFill>
                  <a:srgbClr val="2E2E2E"/>
                </a:solidFill>
                <a:latin typeface="Calibri"/>
              </a:rPr>
              <a:t>margin as input costs move.</a:t>
            </a:r>
          </a:p>
        </p:txBody>
      </p:sp>
      <p:sp>
        <p:nvSpPr>
          <p:cNvPr id="34" name="TextBox 33"/>
          <p:cNvSpPr txBox="1"/>
          <p:nvPr/>
        </p:nvSpPr>
        <p:spPr>
          <a:xfrm>
            <a:off x="276225" y="2579377"/>
            <a:ext cx="4816264" cy="194310"/>
          </a:xfrm>
          <a:prstGeom prst="rect">
            <a:avLst/>
          </a:prstGeom>
          <a:noFill/>
        </p:spPr>
        <p:txBody>
          <a:bodyPr wrap="none" lIns="0" rIns="0" tIns="0" bIns="0">
            <a:spAutoFit/>
          </a:bodyPr>
          <a:lstStyle/>
          <a:p>
            <a:r>
              <a:rPr sz="1150" b="0">
                <a:solidFill>
                  <a:srgbClr val="2E2E2E"/>
                </a:solidFill>
                <a:latin typeface="Calibri"/>
              </a:rPr>
              <a:t>▪ Set transparent, corridor-based regional pricing to limit grey-market arbitrage.</a:t>
            </a:r>
          </a:p>
        </p:txBody>
      </p:sp>
      <p:sp>
        <p:nvSpPr>
          <p:cNvPr id="35" name="TextBox 34"/>
          <p:cNvSpPr txBox="1"/>
          <p:nvPr/>
        </p:nvSpPr>
        <p:spPr>
          <a:xfrm>
            <a:off x="6324600" y="1773181"/>
            <a:ext cx="5495453" cy="194310"/>
          </a:xfrm>
          <a:prstGeom prst="rect">
            <a:avLst/>
          </a:prstGeom>
          <a:noFill/>
        </p:spPr>
        <p:txBody>
          <a:bodyPr wrap="none" lIns="0" rIns="0" tIns="0" bIns="0">
            <a:spAutoFit/>
          </a:bodyPr>
          <a:lstStyle/>
          <a:p>
            <a:r>
              <a:rPr sz="1150" b="0">
                <a:solidFill>
                  <a:srgbClr val="2E2E2E"/>
                </a:solidFill>
                <a:latin typeface="Calibri"/>
              </a:rPr>
              <a:t>▪ Prioritise R&amp;D in the fastest-growing formulations a differentiated portfolio is the clearest</a:t>
            </a:r>
          </a:p>
        </p:txBody>
      </p:sp>
      <p:sp>
        <p:nvSpPr>
          <p:cNvPr id="36" name="TextBox 35"/>
          <p:cNvSpPr txBox="1"/>
          <p:nvPr/>
        </p:nvSpPr>
        <p:spPr>
          <a:xfrm>
            <a:off x="6324600" y="1948441"/>
            <a:ext cx="1660500" cy="194310"/>
          </a:xfrm>
          <a:prstGeom prst="rect">
            <a:avLst/>
          </a:prstGeom>
          <a:noFill/>
        </p:spPr>
        <p:txBody>
          <a:bodyPr wrap="none" lIns="0" rIns="0" tIns="0" bIns="0">
            <a:spAutoFit/>
          </a:bodyPr>
          <a:lstStyle/>
          <a:p>
            <a:r>
              <a:rPr sz="1150" b="0">
                <a:solidFill>
                  <a:srgbClr val="2E2E2E"/>
                </a:solidFill>
                <a:latin typeface="Calibri"/>
              </a:rPr>
              <a:t>route to out-growing the ~</a:t>
            </a:r>
          </a:p>
        </p:txBody>
      </p:sp>
      <p:pic>
        <p:nvPicPr>
          <p:cNvPr id="37" name="Picture 36" descr="lock.png"/>
          <p:cNvPicPr>
            <a:picLocks noChangeAspect="1"/>
          </p:cNvPicPr>
          <p:nvPr/>
        </p:nvPicPr>
        <p:blipFill>
          <a:blip r:embed="rId4"/>
          <a:stretch>
            <a:fillRect/>
          </a:stretch>
        </p:blipFill>
        <p:spPr>
          <a:xfrm>
            <a:off x="7934254" y="1938217"/>
            <a:ext cx="134549" cy="195707"/>
          </a:xfrm>
          <a:prstGeom prst="rect">
            <a:avLst/>
          </a:prstGeom>
        </p:spPr>
      </p:pic>
      <p:sp>
        <p:nvSpPr>
          <p:cNvPr id="38" name="TextBox 37"/>
          <p:cNvSpPr txBox="1"/>
          <p:nvPr/>
        </p:nvSpPr>
        <p:spPr>
          <a:xfrm>
            <a:off x="8109363" y="1948441"/>
            <a:ext cx="905700" cy="194310"/>
          </a:xfrm>
          <a:prstGeom prst="rect">
            <a:avLst/>
          </a:prstGeom>
          <a:noFill/>
        </p:spPr>
        <p:txBody>
          <a:bodyPr wrap="none" lIns="0" rIns="0" tIns="0" bIns="0">
            <a:spAutoFit/>
          </a:bodyPr>
          <a:lstStyle/>
          <a:p>
            <a:r>
              <a:rPr sz="1150" b="0">
                <a:solidFill>
                  <a:srgbClr val="2E2E2E"/>
                </a:solidFill>
                <a:latin typeface="Calibri"/>
              </a:rPr>
              <a:t>market CAGR.</a:t>
            </a:r>
          </a:p>
        </p:txBody>
      </p:sp>
      <p:sp>
        <p:nvSpPr>
          <p:cNvPr id="39" name="TextBox 38"/>
          <p:cNvSpPr txBox="1"/>
          <p:nvPr/>
        </p:nvSpPr>
        <p:spPr>
          <a:xfrm>
            <a:off x="6324600" y="2176279"/>
            <a:ext cx="5383919" cy="194310"/>
          </a:xfrm>
          <a:prstGeom prst="rect">
            <a:avLst/>
          </a:prstGeom>
          <a:noFill/>
        </p:spPr>
        <p:txBody>
          <a:bodyPr wrap="none" lIns="0" rIns="0" tIns="0" bIns="0">
            <a:spAutoFit/>
          </a:bodyPr>
          <a:lstStyle/>
          <a:p>
            <a:r>
              <a:rPr sz="1150" b="0">
                <a:solidFill>
                  <a:srgbClr val="2E2E2E"/>
                </a:solidFill>
                <a:latin typeface="Calibri"/>
              </a:rPr>
              <a:t>▪ Pursue certification and clinical validation to build switching costs and support premium</a:t>
            </a:r>
          </a:p>
        </p:txBody>
      </p:sp>
      <p:sp>
        <p:nvSpPr>
          <p:cNvPr id="40" name="TextBox 39"/>
          <p:cNvSpPr txBox="1"/>
          <p:nvPr/>
        </p:nvSpPr>
        <p:spPr>
          <a:xfrm>
            <a:off x="6324600" y="2351539"/>
            <a:ext cx="773075" cy="194310"/>
          </a:xfrm>
          <a:prstGeom prst="rect">
            <a:avLst/>
          </a:prstGeom>
          <a:noFill/>
        </p:spPr>
        <p:txBody>
          <a:bodyPr wrap="none" lIns="0" rIns="0" tIns="0" bIns="0">
            <a:spAutoFit/>
          </a:bodyPr>
          <a:lstStyle/>
          <a:p>
            <a:r>
              <a:rPr sz="1150" b="0">
                <a:solidFill>
                  <a:srgbClr val="2E2E2E"/>
                </a:solidFill>
                <a:latin typeface="Calibri"/>
              </a:rPr>
              <a:t>positioning.</a:t>
            </a:r>
          </a:p>
        </p:txBody>
      </p:sp>
      <p:sp>
        <p:nvSpPr>
          <p:cNvPr id="41" name="TextBox 40"/>
          <p:cNvSpPr txBox="1"/>
          <p:nvPr/>
        </p:nvSpPr>
        <p:spPr>
          <a:xfrm>
            <a:off x="6324600" y="2579377"/>
            <a:ext cx="3931406" cy="194310"/>
          </a:xfrm>
          <a:prstGeom prst="rect">
            <a:avLst/>
          </a:prstGeom>
          <a:noFill/>
        </p:spPr>
        <p:txBody>
          <a:bodyPr wrap="none" lIns="0" rIns="0" tIns="0" bIns="0">
            <a:spAutoFit/>
          </a:bodyPr>
          <a:lstStyle/>
          <a:p>
            <a:r>
              <a:rPr sz="1150" b="0">
                <a:solidFill>
                  <a:srgbClr val="2E2E2E"/>
                </a:solidFill>
                <a:latin typeface="Calibri"/>
              </a:rPr>
              <a:t>▪ Localise formats and pack sizes to each channel and geography.</a:t>
            </a:r>
          </a:p>
        </p:txBody>
      </p:sp>
      <p:sp>
        <p:nvSpPr>
          <p:cNvPr id="42" name="TextBox 41"/>
          <p:cNvSpPr txBox="1"/>
          <p:nvPr/>
        </p:nvSpPr>
        <p:spPr>
          <a:xfrm>
            <a:off x="6324600" y="4465602"/>
            <a:ext cx="3280742" cy="194310"/>
          </a:xfrm>
          <a:prstGeom prst="rect">
            <a:avLst/>
          </a:prstGeom>
          <a:noFill/>
        </p:spPr>
        <p:txBody>
          <a:bodyPr wrap="none" lIns="0" rIns="0" tIns="0" bIns="0">
            <a:spAutoFit/>
          </a:bodyPr>
          <a:lstStyle/>
          <a:p>
            <a:r>
              <a:rPr sz="1150" b="0">
                <a:solidFill>
                  <a:srgbClr val="2E2E2E"/>
                </a:solidFill>
                <a:latin typeface="Calibri"/>
              </a:rPr>
              <a:t>▪ Benchmark relentlessly against 'Jade Leaf Matcha' (~</a:t>
            </a:r>
          </a:p>
        </p:txBody>
      </p:sp>
      <p:pic>
        <p:nvPicPr>
          <p:cNvPr id="43" name="Picture 42" descr="lock.png"/>
          <p:cNvPicPr>
            <a:picLocks noChangeAspect="1"/>
          </p:cNvPicPr>
          <p:nvPr/>
        </p:nvPicPr>
        <p:blipFill>
          <a:blip r:embed="rId4"/>
          <a:stretch>
            <a:fillRect/>
          </a:stretch>
        </p:blipFill>
        <p:spPr>
          <a:xfrm>
            <a:off x="9554496" y="4455378"/>
            <a:ext cx="134549" cy="195707"/>
          </a:xfrm>
          <a:prstGeom prst="rect">
            <a:avLst/>
          </a:prstGeom>
        </p:spPr>
      </p:pic>
      <p:sp>
        <p:nvSpPr>
          <p:cNvPr id="44" name="TextBox 43"/>
          <p:cNvSpPr txBox="1"/>
          <p:nvPr/>
        </p:nvSpPr>
        <p:spPr>
          <a:xfrm>
            <a:off x="9729605" y="4465602"/>
            <a:ext cx="2032756" cy="194310"/>
          </a:xfrm>
          <a:prstGeom prst="rect">
            <a:avLst/>
          </a:prstGeom>
          <a:noFill/>
        </p:spPr>
        <p:txBody>
          <a:bodyPr wrap="none" lIns="0" rIns="0" tIns="0" bIns="0">
            <a:spAutoFit/>
          </a:bodyPr>
          <a:lstStyle/>
          <a:p>
            <a:r>
              <a:rPr sz="1150" b="0">
                <a:solidFill>
                  <a:srgbClr val="2E2E2E"/>
                </a:solidFill>
                <a:latin typeface="Calibri"/>
              </a:rPr>
              <a:t>share) match on service and lead</a:t>
            </a:r>
          </a:p>
        </p:txBody>
      </p:sp>
      <p:sp>
        <p:nvSpPr>
          <p:cNvPr id="45" name="TextBox 44"/>
          <p:cNvSpPr txBox="1"/>
          <p:nvPr/>
        </p:nvSpPr>
        <p:spPr>
          <a:xfrm>
            <a:off x="6324600" y="4640861"/>
            <a:ext cx="1747217" cy="194310"/>
          </a:xfrm>
          <a:prstGeom prst="rect">
            <a:avLst/>
          </a:prstGeom>
          <a:noFill/>
        </p:spPr>
        <p:txBody>
          <a:bodyPr wrap="none" lIns="0" rIns="0" tIns="0" bIns="0">
            <a:spAutoFit/>
          </a:bodyPr>
          <a:lstStyle/>
          <a:p>
            <a:r>
              <a:rPr sz="1150" b="0">
                <a:solidFill>
                  <a:srgbClr val="2E2E2E"/>
                </a:solidFill>
                <a:latin typeface="Calibri"/>
              </a:rPr>
              <a:t>on innovation to take share.</a:t>
            </a:r>
          </a:p>
        </p:txBody>
      </p:sp>
      <p:sp>
        <p:nvSpPr>
          <p:cNvPr id="46" name="TextBox 45"/>
          <p:cNvSpPr txBox="1"/>
          <p:nvPr/>
        </p:nvSpPr>
        <p:spPr>
          <a:xfrm>
            <a:off x="6324600" y="4868699"/>
            <a:ext cx="5455518" cy="194310"/>
          </a:xfrm>
          <a:prstGeom prst="rect">
            <a:avLst/>
          </a:prstGeom>
          <a:noFill/>
        </p:spPr>
        <p:txBody>
          <a:bodyPr wrap="none" lIns="0" rIns="0" tIns="0" bIns="0">
            <a:spAutoFit/>
          </a:bodyPr>
          <a:lstStyle/>
          <a:p>
            <a:r>
              <a:rPr sz="1150" b="0">
                <a:solidFill>
                  <a:srgbClr val="2E2E2E"/>
                </a:solidFill>
                <a:latin typeface="Calibri"/>
              </a:rPr>
              <a:t>▪ Diversify the customer base to cut dependence on a few large accounts and single-region</a:t>
            </a:r>
          </a:p>
        </p:txBody>
      </p:sp>
      <p:sp>
        <p:nvSpPr>
          <p:cNvPr id="47" name="TextBox 46"/>
          <p:cNvSpPr txBox="1"/>
          <p:nvPr/>
        </p:nvSpPr>
        <p:spPr>
          <a:xfrm>
            <a:off x="6324600" y="5043959"/>
            <a:ext cx="660400" cy="194310"/>
          </a:xfrm>
          <a:prstGeom prst="rect">
            <a:avLst/>
          </a:prstGeom>
          <a:noFill/>
        </p:spPr>
        <p:txBody>
          <a:bodyPr wrap="none" lIns="0" rIns="0" tIns="0" bIns="0">
            <a:spAutoFit/>
          </a:bodyPr>
          <a:lstStyle/>
          <a:p>
            <a:r>
              <a:rPr sz="1150" b="0">
                <a:solidFill>
                  <a:srgbClr val="2E2E2E"/>
                </a:solidFill>
                <a:latin typeface="Calibri"/>
              </a:rPr>
              <a:t>exposure.</a:t>
            </a:r>
          </a:p>
        </p:txBody>
      </p:sp>
      <p:sp>
        <p:nvSpPr>
          <p:cNvPr id="48" name="TextBox 47"/>
          <p:cNvSpPr txBox="1"/>
          <p:nvPr/>
        </p:nvSpPr>
        <p:spPr>
          <a:xfrm>
            <a:off x="6324600" y="5271797"/>
            <a:ext cx="5230167" cy="194310"/>
          </a:xfrm>
          <a:prstGeom prst="rect">
            <a:avLst/>
          </a:prstGeom>
          <a:noFill/>
        </p:spPr>
        <p:txBody>
          <a:bodyPr wrap="none" lIns="0" rIns="0" tIns="0" bIns="0">
            <a:spAutoFit/>
          </a:bodyPr>
          <a:lstStyle/>
          <a:p>
            <a:r>
              <a:rPr sz="1150" b="0">
                <a:solidFill>
                  <a:srgbClr val="2E2E2E"/>
                </a:solidFill>
                <a:latin typeface="Calibri"/>
              </a:rPr>
              <a:t>▪ Stress-test for regulatory, currency and supply shocks; keep flexible capacity and dual</a:t>
            </a:r>
          </a:p>
        </p:txBody>
      </p:sp>
      <p:sp>
        <p:nvSpPr>
          <p:cNvPr id="49" name="TextBox 48"/>
          <p:cNvSpPr txBox="1"/>
          <p:nvPr/>
        </p:nvSpPr>
        <p:spPr>
          <a:xfrm>
            <a:off x="6324600" y="5447057"/>
            <a:ext cx="615900" cy="194310"/>
          </a:xfrm>
          <a:prstGeom prst="rect">
            <a:avLst/>
          </a:prstGeom>
          <a:noFill/>
        </p:spPr>
        <p:txBody>
          <a:bodyPr wrap="none" lIns="0" rIns="0" tIns="0" bIns="0">
            <a:spAutoFit/>
          </a:bodyPr>
          <a:lstStyle/>
          <a:p>
            <a:r>
              <a:rPr sz="1150" b="0">
                <a:solidFill>
                  <a:srgbClr val="2E2E2E"/>
                </a:solidFill>
                <a:latin typeface="Calibri"/>
              </a:rPr>
              <a:t>sourcing.</a:t>
            </a:r>
          </a:p>
        </p:txBody>
      </p:sp>
    </p:spTree>
  </p:cSld>
  <p:clrMapOvr>
    <a:masterClrMapping/>
  </p:clrMapOvr>
</p:sld>
</file>

<file path=ppt/slides/slide28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Company Value Share (Global)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value share by company in the global market, 2025, highlighting leadership and the long tail</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Target market value share by key companies leadership, concentration and how the competitive mix shifts by region.</a:t>
            </a:r>
          </a:p>
        </p:txBody>
      </p:sp>
      <p:sp>
        <p:nvSpPr>
          <p:cNvPr id="11" name="Rounded Rectangle 10"/>
          <p:cNvSpPr/>
          <p:nvPr/>
        </p:nvSpPr>
        <p:spPr>
          <a:xfrm>
            <a:off x="142875" y="1354081"/>
            <a:ext cx="7543800" cy="5220558"/>
          </a:xfrm>
          <a:prstGeom prst="roundRect">
            <a:avLst>
              <a:gd name="adj" fmla="val 145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73533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Global Value Share by Key Company (US$ Mn, 2026)</a:t>
            </a:r>
          </a:p>
        </p:txBody>
      </p:sp>
      <p:graphicFrame>
        <p:nvGraphicFramePr>
          <p:cNvPr id="13" name="Chart 12"/>
          <p:cNvGraphicFramePr>
            <a:graphicFrameLocks noGrp="1"/>
          </p:cNvGraphicFramePr>
          <p:nvPr/>
        </p:nvGraphicFramePr>
        <p:xfrm>
          <a:off x="238125" y="1639831"/>
          <a:ext cx="7353300" cy="4877658"/>
        </p:xfrm>
        <a:graphic>
          <a:graphicData uri="http://schemas.openxmlformats.org/drawingml/2006/chart">
            <c:chart xmlns:c="http://schemas.openxmlformats.org/drawingml/2006/chart" r:id="rId3"/>
          </a:graphicData>
        </a:graphic>
      </p:graphicFrame>
      <p:sp>
        <p:nvSpPr>
          <p:cNvPr id="14" name="TextBox 13"/>
          <p:cNvSpPr txBox="1"/>
          <p:nvPr/>
        </p:nvSpPr>
        <p:spPr>
          <a:xfrm>
            <a:off x="2049780" y="3878635"/>
            <a:ext cx="1524000" cy="400050"/>
          </a:xfrm>
          <a:prstGeom prst="rect">
            <a:avLst/>
          </a:prstGeom>
          <a:noFill/>
        </p:spPr>
        <p:txBody>
          <a:bodyPr wrap="square" lIns="28575" rIns="28575" tIns="9525" bIns="9525" anchor="ctr">
            <a:spAutoFit/>
          </a:bodyPr>
          <a:lstStyle/>
          <a:p>
            <a:pPr algn="ctr"/>
            <a:r>
              <a:rPr sz="1300" b="1">
                <a:solidFill>
                  <a:srgbClr val="2E2E2E"/>
                </a:solidFill>
                <a:latin typeface="Calibri"/>
              </a:rPr>
              <a:t>100% =</a:t>
            </a:r>
          </a:p>
          <a:p>
            <a:pPr algn="ctr"/>
            <a:r>
              <a:rPr sz="1300" b="1">
                <a:solidFill>
                  <a:srgbClr val="2E2E2E"/>
                </a:solidFill>
                <a:latin typeface="Calibri"/>
              </a:rPr>
              <a:t>3,374 US$ Mn</a:t>
            </a:r>
          </a:p>
        </p:txBody>
      </p:sp>
      <p:sp>
        <p:nvSpPr>
          <p:cNvPr id="15" name="Rounded Rectangle 14"/>
          <p:cNvSpPr/>
          <p:nvPr/>
        </p:nvSpPr>
        <p:spPr>
          <a:xfrm>
            <a:off x="7800975" y="1354081"/>
            <a:ext cx="4248150" cy="5220558"/>
          </a:xfrm>
          <a:prstGeom prst="roundRect">
            <a:avLst>
              <a:gd name="adj" fmla="val 179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7934325" y="1439806"/>
            <a:ext cx="39814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17" name="Rectangle 16"/>
          <p:cNvSpPr/>
          <p:nvPr/>
        </p:nvSpPr>
        <p:spPr>
          <a:xfrm>
            <a:off x="7934325" y="1677931"/>
            <a:ext cx="39814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7934325" y="1763656"/>
            <a:ext cx="3981450" cy="4734783"/>
          </a:xfrm>
          <a:prstGeom prst="rect">
            <a:avLst/>
          </a:prstGeom>
          <a:noFill/>
        </p:spPr>
        <p:txBody>
          <a:bodyPr wrap="square" lIns="0" rIns="19050" tIns="9525" bIns="9525">
            <a:spAutoFit/>
          </a:bodyPr>
          <a:lstStyle/>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a:p>
            <a:pPr algn="l">
              <a:lnSpc>
                <a:spcPct val="110000"/>
              </a:lnSpc>
              <a:spcBef>
                <a:spcPts val="0"/>
              </a:spcBef>
              <a:spcAft>
                <a:spcPts val="500"/>
              </a:spcAft>
            </a:pPr>
            <a:r>
              <a:rPr sz="1150" b="0">
                <a:solidFill>
                  <a:srgbClr val="2E2E2E"/>
                </a:solidFill>
                <a:latin typeface="Calibri"/>
              </a:rPr>
              <a:t/>
            </a:r>
          </a:p>
        </p:txBody>
      </p:sp>
      <p:sp>
        <p:nvSpPr>
          <p:cNvPr id="19" name="TextBox 1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0" name="Picture 19" descr="lock.png"/>
          <p:cNvPicPr>
            <a:picLocks noChangeAspect="1"/>
          </p:cNvPicPr>
          <p:nvPr/>
        </p:nvPicPr>
        <p:blipFill>
          <a:blip r:embed="rId5"/>
          <a:stretch>
            <a:fillRect/>
          </a:stretch>
        </p:blipFill>
        <p:spPr>
          <a:xfrm>
            <a:off x="2533173" y="3678610"/>
            <a:ext cx="523875" cy="762000"/>
          </a:xfrm>
          <a:prstGeom prst="rect">
            <a:avLst/>
          </a:prstGeom>
        </p:spPr>
      </p:pic>
      <p:sp>
        <p:nvSpPr>
          <p:cNvPr id="21" name="TextBox 20"/>
          <p:cNvSpPr txBox="1"/>
          <p:nvPr/>
        </p:nvSpPr>
        <p:spPr>
          <a:xfrm>
            <a:off x="7934325" y="1773181"/>
            <a:ext cx="3777084" cy="194310"/>
          </a:xfrm>
          <a:prstGeom prst="rect">
            <a:avLst/>
          </a:prstGeom>
          <a:noFill/>
        </p:spPr>
        <p:txBody>
          <a:bodyPr wrap="none" lIns="0" rIns="0" tIns="0" bIns="0">
            <a:spAutoFit/>
          </a:bodyPr>
          <a:lstStyle/>
          <a:p>
            <a:r>
              <a:rPr sz="1150" b="0">
                <a:solidFill>
                  <a:srgbClr val="2E2E2E"/>
                </a:solidFill>
                <a:latin typeface="Calibri"/>
              </a:rPr>
              <a:t>Jade Leaf Matcha accounted for the largest share of the global</a:t>
            </a:r>
          </a:p>
        </p:txBody>
      </p:sp>
      <p:sp>
        <p:nvSpPr>
          <p:cNvPr id="22" name="TextBox 21"/>
          <p:cNvSpPr txBox="1"/>
          <p:nvPr/>
        </p:nvSpPr>
        <p:spPr>
          <a:xfrm>
            <a:off x="7934325" y="1948441"/>
            <a:ext cx="3962400" cy="194310"/>
          </a:xfrm>
          <a:prstGeom prst="rect">
            <a:avLst/>
          </a:prstGeom>
          <a:noFill/>
        </p:spPr>
        <p:txBody>
          <a:bodyPr wrap="none" lIns="0" rIns="0" tIns="0" bIns="0">
            <a:spAutoFit/>
          </a:bodyPr>
          <a:lstStyle/>
          <a:p>
            <a:r>
              <a:rPr sz="1150" b="0">
                <a:solidFill>
                  <a:srgbClr val="2E2E2E"/>
                </a:solidFill>
                <a:latin typeface="Calibri"/>
              </a:rPr>
              <a:t>matcha market in 2026. The global matcha market is fragmented,</a:t>
            </a:r>
          </a:p>
        </p:txBody>
      </p:sp>
      <p:sp>
        <p:nvSpPr>
          <p:cNvPr id="23" name="TextBox 22"/>
          <p:cNvSpPr txBox="1"/>
          <p:nvPr/>
        </p:nvSpPr>
        <p:spPr>
          <a:xfrm>
            <a:off x="7934325" y="2123701"/>
            <a:ext cx="3324956" cy="194310"/>
          </a:xfrm>
          <a:prstGeom prst="rect">
            <a:avLst/>
          </a:prstGeom>
          <a:noFill/>
        </p:spPr>
        <p:txBody>
          <a:bodyPr wrap="none" lIns="0" rIns="0" tIns="0" bIns="0">
            <a:spAutoFit/>
          </a:bodyPr>
          <a:lstStyle/>
          <a:p>
            <a:r>
              <a:rPr sz="1150" b="0">
                <a:solidFill>
                  <a:srgbClr val="2E2E2E"/>
                </a:solidFill>
                <a:latin typeface="Calibri"/>
              </a:rPr>
              <a:t>with the top three players accounting for an estimated</a:t>
            </a:r>
          </a:p>
        </p:txBody>
      </p:sp>
      <p:pic>
        <p:nvPicPr>
          <p:cNvPr id="24" name="Picture 23" descr="lock.png"/>
          <p:cNvPicPr>
            <a:picLocks noChangeAspect="1"/>
          </p:cNvPicPr>
          <p:nvPr/>
        </p:nvPicPr>
        <p:blipFill>
          <a:blip r:embed="rId5"/>
          <a:stretch>
            <a:fillRect/>
          </a:stretch>
        </p:blipFill>
        <p:spPr>
          <a:xfrm>
            <a:off x="11208435" y="2113477"/>
            <a:ext cx="134549" cy="195707"/>
          </a:xfrm>
          <a:prstGeom prst="rect">
            <a:avLst/>
          </a:prstGeom>
        </p:spPr>
      </p:pic>
      <p:sp>
        <p:nvSpPr>
          <p:cNvPr id="25" name="TextBox 24"/>
          <p:cNvSpPr txBox="1"/>
          <p:nvPr/>
        </p:nvSpPr>
        <p:spPr>
          <a:xfrm>
            <a:off x="11383544" y="2123701"/>
            <a:ext cx="403671" cy="194310"/>
          </a:xfrm>
          <a:prstGeom prst="rect">
            <a:avLst/>
          </a:prstGeom>
          <a:noFill/>
        </p:spPr>
        <p:txBody>
          <a:bodyPr wrap="none" lIns="0" rIns="0" tIns="0" bIns="0">
            <a:spAutoFit/>
          </a:bodyPr>
          <a:lstStyle/>
          <a:p>
            <a:r>
              <a:rPr sz="1150" b="0">
                <a:solidFill>
                  <a:srgbClr val="2E2E2E"/>
                </a:solidFill>
                <a:latin typeface="Calibri"/>
              </a:rPr>
              <a:t>share</a:t>
            </a:r>
          </a:p>
        </p:txBody>
      </p:sp>
      <p:sp>
        <p:nvSpPr>
          <p:cNvPr id="26" name="TextBox 25"/>
          <p:cNvSpPr txBox="1"/>
          <p:nvPr/>
        </p:nvSpPr>
        <p:spPr>
          <a:xfrm>
            <a:off x="7934325" y="2298961"/>
            <a:ext cx="1398351" cy="194310"/>
          </a:xfrm>
          <a:prstGeom prst="rect">
            <a:avLst/>
          </a:prstGeom>
          <a:noFill/>
        </p:spPr>
        <p:txBody>
          <a:bodyPr wrap="none" lIns="0" rIns="0" tIns="0" bIns="0">
            <a:spAutoFit/>
          </a:bodyPr>
          <a:lstStyle/>
          <a:p>
            <a:r>
              <a:rPr sz="1150" b="0">
                <a:solidFill>
                  <a:srgbClr val="2E2E2E"/>
                </a:solidFill>
                <a:latin typeface="Calibri"/>
              </a:rPr>
              <a:t>of the market in 2026.</a:t>
            </a:r>
          </a:p>
        </p:txBody>
      </p:sp>
      <p:sp>
        <p:nvSpPr>
          <p:cNvPr id="27" name="TextBox 26"/>
          <p:cNvSpPr txBox="1"/>
          <p:nvPr/>
        </p:nvSpPr>
        <p:spPr>
          <a:xfrm>
            <a:off x="7934325" y="2526799"/>
            <a:ext cx="2780977" cy="194310"/>
          </a:xfrm>
          <a:prstGeom prst="rect">
            <a:avLst/>
          </a:prstGeom>
          <a:noFill/>
        </p:spPr>
        <p:txBody>
          <a:bodyPr wrap="none" lIns="0" rIns="0" tIns="0" bIns="0">
            <a:spAutoFit/>
          </a:bodyPr>
          <a:lstStyle/>
          <a:p>
            <a:r>
              <a:rPr sz="1150" b="0">
                <a:solidFill>
                  <a:srgbClr val="2E2E2E"/>
                </a:solidFill>
                <a:latin typeface="Calibri"/>
              </a:rPr>
              <a:t>Jade Leaf Matcha accounted for an estimated</a:t>
            </a:r>
          </a:p>
        </p:txBody>
      </p:sp>
      <p:pic>
        <p:nvPicPr>
          <p:cNvPr id="28" name="Picture 27" descr="lock.png"/>
          <p:cNvPicPr>
            <a:picLocks noChangeAspect="1"/>
          </p:cNvPicPr>
          <p:nvPr/>
        </p:nvPicPr>
        <p:blipFill>
          <a:blip r:embed="rId5"/>
          <a:stretch>
            <a:fillRect/>
          </a:stretch>
        </p:blipFill>
        <p:spPr>
          <a:xfrm>
            <a:off x="10664456" y="2516575"/>
            <a:ext cx="134549" cy="195707"/>
          </a:xfrm>
          <a:prstGeom prst="rect">
            <a:avLst/>
          </a:prstGeom>
        </p:spPr>
      </p:pic>
      <p:sp>
        <p:nvSpPr>
          <p:cNvPr id="29" name="TextBox 28"/>
          <p:cNvSpPr txBox="1"/>
          <p:nvPr/>
        </p:nvSpPr>
        <p:spPr>
          <a:xfrm>
            <a:off x="10839565" y="2526799"/>
            <a:ext cx="789905" cy="194310"/>
          </a:xfrm>
          <a:prstGeom prst="rect">
            <a:avLst/>
          </a:prstGeom>
          <a:noFill/>
        </p:spPr>
        <p:txBody>
          <a:bodyPr wrap="none" lIns="0" rIns="0" tIns="0" bIns="0">
            <a:spAutoFit/>
          </a:bodyPr>
          <a:lstStyle/>
          <a:p>
            <a:r>
              <a:rPr sz="1150" b="0">
                <a:solidFill>
                  <a:srgbClr val="2E2E2E"/>
                </a:solidFill>
                <a:latin typeface="Calibri"/>
              </a:rPr>
              <a:t>share of the</a:t>
            </a:r>
          </a:p>
        </p:txBody>
      </p:sp>
      <p:sp>
        <p:nvSpPr>
          <p:cNvPr id="30" name="TextBox 29"/>
          <p:cNvSpPr txBox="1"/>
          <p:nvPr/>
        </p:nvSpPr>
        <p:spPr>
          <a:xfrm>
            <a:off x="7934325" y="2702058"/>
            <a:ext cx="2216745" cy="194310"/>
          </a:xfrm>
          <a:prstGeom prst="rect">
            <a:avLst/>
          </a:prstGeom>
          <a:noFill/>
        </p:spPr>
        <p:txBody>
          <a:bodyPr wrap="none" lIns="0" rIns="0" tIns="0" bIns="0">
            <a:spAutoFit/>
          </a:bodyPr>
          <a:lstStyle/>
          <a:p>
            <a:r>
              <a:rPr sz="1150" b="0">
                <a:solidFill>
                  <a:srgbClr val="2E2E2E"/>
                </a:solidFill>
                <a:latin typeface="Calibri"/>
              </a:rPr>
              <a:t>market, followed by DoMatcha with</a:t>
            </a:r>
          </a:p>
        </p:txBody>
      </p:sp>
      <p:pic>
        <p:nvPicPr>
          <p:cNvPr id="31" name="Picture 30" descr="lock.png"/>
          <p:cNvPicPr>
            <a:picLocks noChangeAspect="1"/>
          </p:cNvPicPr>
          <p:nvPr/>
        </p:nvPicPr>
        <p:blipFill>
          <a:blip r:embed="rId5"/>
          <a:stretch>
            <a:fillRect/>
          </a:stretch>
        </p:blipFill>
        <p:spPr>
          <a:xfrm>
            <a:off x="10100224" y="2691835"/>
            <a:ext cx="134549" cy="195707"/>
          </a:xfrm>
          <a:prstGeom prst="rect">
            <a:avLst/>
          </a:prstGeom>
        </p:spPr>
      </p:pic>
      <p:sp>
        <p:nvSpPr>
          <p:cNvPr id="32" name="TextBox 31"/>
          <p:cNvSpPr txBox="1"/>
          <p:nvPr/>
        </p:nvSpPr>
        <p:spPr>
          <a:xfrm>
            <a:off x="10275333" y="2702058"/>
            <a:ext cx="1577451" cy="194310"/>
          </a:xfrm>
          <a:prstGeom prst="rect">
            <a:avLst/>
          </a:prstGeom>
          <a:noFill/>
        </p:spPr>
        <p:txBody>
          <a:bodyPr wrap="none" lIns="0" rIns="0" tIns="0" bIns="0">
            <a:spAutoFit/>
          </a:bodyPr>
          <a:lstStyle/>
          <a:p>
            <a:r>
              <a:rPr sz="1150" b="0">
                <a:solidFill>
                  <a:srgbClr val="2E2E2E"/>
                </a:solidFill>
                <a:latin typeface="Calibri"/>
              </a:rPr>
              <a:t>. Key players are focusing</a:t>
            </a:r>
          </a:p>
        </p:txBody>
      </p:sp>
      <p:sp>
        <p:nvSpPr>
          <p:cNvPr id="33" name="TextBox 32"/>
          <p:cNvSpPr txBox="1"/>
          <p:nvPr/>
        </p:nvSpPr>
        <p:spPr>
          <a:xfrm>
            <a:off x="7934325" y="2877318"/>
            <a:ext cx="3568278" cy="194310"/>
          </a:xfrm>
          <a:prstGeom prst="rect">
            <a:avLst/>
          </a:prstGeom>
          <a:noFill/>
        </p:spPr>
        <p:txBody>
          <a:bodyPr wrap="none" lIns="0" rIns="0" tIns="0" bIns="0">
            <a:spAutoFit/>
          </a:bodyPr>
          <a:lstStyle/>
          <a:p>
            <a:r>
              <a:rPr sz="1150" b="0">
                <a:solidFill>
                  <a:srgbClr val="2E2E2E"/>
                </a:solidFill>
                <a:latin typeface="Calibri"/>
              </a:rPr>
              <a:t>on product innovation, geographic expansion and strategic</a:t>
            </a:r>
          </a:p>
        </p:txBody>
      </p:sp>
      <p:sp>
        <p:nvSpPr>
          <p:cNvPr id="34" name="TextBox 33"/>
          <p:cNvSpPr txBox="1"/>
          <p:nvPr/>
        </p:nvSpPr>
        <p:spPr>
          <a:xfrm>
            <a:off x="7934325" y="3052578"/>
            <a:ext cx="2993776" cy="194310"/>
          </a:xfrm>
          <a:prstGeom prst="rect">
            <a:avLst/>
          </a:prstGeom>
          <a:noFill/>
        </p:spPr>
        <p:txBody>
          <a:bodyPr wrap="none" lIns="0" rIns="0" tIns="0" bIns="0">
            <a:spAutoFit/>
          </a:bodyPr>
          <a:lstStyle/>
          <a:p>
            <a:r>
              <a:rPr sz="1150" b="0">
                <a:solidFill>
                  <a:srgbClr val="2E2E2E"/>
                </a:solidFill>
                <a:latin typeface="Calibri"/>
              </a:rPr>
              <a:t>partnerships to strengthen their market position.</a:t>
            </a:r>
          </a:p>
        </p:txBody>
      </p:sp>
      <p:sp>
        <p:nvSpPr>
          <p:cNvPr id="35" name="TextBox 34"/>
          <p:cNvSpPr txBox="1"/>
          <p:nvPr/>
        </p:nvSpPr>
        <p:spPr>
          <a:xfrm>
            <a:off x="7934325" y="3280416"/>
            <a:ext cx="3647864" cy="194310"/>
          </a:xfrm>
          <a:prstGeom prst="rect">
            <a:avLst/>
          </a:prstGeom>
          <a:noFill/>
        </p:spPr>
        <p:txBody>
          <a:bodyPr wrap="none" lIns="0" rIns="0" tIns="0" bIns="0">
            <a:spAutoFit/>
          </a:bodyPr>
          <a:lstStyle/>
          <a:p>
            <a:r>
              <a:rPr sz="1150" b="0">
                <a:solidFill>
                  <a:srgbClr val="2E2E2E"/>
                </a:solidFill>
                <a:latin typeface="Calibri"/>
              </a:rPr>
              <a:t>Regional share differs from the global picture use the region</a:t>
            </a:r>
          </a:p>
        </p:txBody>
      </p:sp>
      <p:sp>
        <p:nvSpPr>
          <p:cNvPr id="36" name="TextBox 35"/>
          <p:cNvSpPr txBox="1"/>
          <p:nvPr/>
        </p:nvSpPr>
        <p:spPr>
          <a:xfrm>
            <a:off x="7934325" y="3455676"/>
            <a:ext cx="3444763" cy="194310"/>
          </a:xfrm>
          <a:prstGeom prst="rect">
            <a:avLst/>
          </a:prstGeom>
          <a:noFill/>
        </p:spPr>
        <p:txBody>
          <a:bodyPr wrap="none" lIns="0" rIns="0" tIns="0" bIns="0">
            <a:spAutoFit/>
          </a:bodyPr>
          <a:lstStyle/>
          <a:p>
            <a:r>
              <a:rPr sz="1150" b="0">
                <a:solidFill>
                  <a:srgbClr val="2E2E2E"/>
                </a:solidFill>
                <a:latin typeface="Calibri"/>
              </a:rPr>
              <a:t>selector to see how leadership shifts across geographies.</a:t>
            </a:r>
          </a:p>
        </p:txBody>
      </p:sp>
      <p:sp>
        <p:nvSpPr>
          <p:cNvPr id="37" name="lockshield_13"/>
          <p:cNvSpPr/>
          <p:nvPr/>
        </p:nvSpPr>
        <p:spPr>
          <a:xfrm>
            <a:off x="238125" y="1639831"/>
            <a:ext cx="7353300" cy="4877658"/>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Company Share by Product Type (Top 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company value share within each leading nature, highlighting where leadership differs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leading product types where each player concentrates, and how leadership varies by formulation.</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Organic</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Conventional</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19" name="Rectangle 18"/>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1" name="TextBox 2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2" name="Picture 21" descr="lock.png"/>
          <p:cNvPicPr>
            <a:picLocks noChangeAspect="1"/>
          </p:cNvPicPr>
          <p:nvPr/>
        </p:nvPicPr>
        <p:blipFill>
          <a:blip r:embed="rId6"/>
          <a:stretch>
            <a:fillRect/>
          </a:stretch>
        </p:blipFill>
        <p:spPr>
          <a:xfrm>
            <a:off x="1233011" y="2619895"/>
            <a:ext cx="523875" cy="762000"/>
          </a:xfrm>
          <a:prstGeom prst="rect">
            <a:avLst/>
          </a:prstGeom>
        </p:spPr>
      </p:pic>
      <p:pic>
        <p:nvPicPr>
          <p:cNvPr id="23" name="Picture 22" descr="lock.png"/>
          <p:cNvPicPr>
            <a:picLocks noChangeAspect="1"/>
          </p:cNvPicPr>
          <p:nvPr/>
        </p:nvPicPr>
        <p:blipFill>
          <a:blip r:embed="rId6"/>
          <a:stretch>
            <a:fillRect/>
          </a:stretch>
        </p:blipFill>
        <p:spPr>
          <a:xfrm>
            <a:off x="5214461" y="2619895"/>
            <a:ext cx="523875" cy="762000"/>
          </a:xfrm>
          <a:prstGeom prst="rect">
            <a:avLst/>
          </a:prstGeom>
        </p:spPr>
      </p:pic>
      <p:sp>
        <p:nvSpPr>
          <p:cNvPr id="24" name="TextBox 23"/>
          <p:cNvSpPr txBox="1"/>
          <p:nvPr/>
        </p:nvSpPr>
        <p:spPr>
          <a:xfrm>
            <a:off x="276225" y="5022340"/>
            <a:ext cx="2390179" cy="194310"/>
          </a:xfrm>
          <a:prstGeom prst="rect">
            <a:avLst/>
          </a:prstGeom>
          <a:noFill/>
        </p:spPr>
        <p:txBody>
          <a:bodyPr wrap="none" lIns="0" rIns="0" tIns="0" bIns="0">
            <a:spAutoFit/>
          </a:bodyPr>
          <a:lstStyle/>
          <a:p>
            <a:r>
              <a:rPr sz="1150" b="0">
                <a:solidFill>
                  <a:srgbClr val="2E2E2E"/>
                </a:solidFill>
                <a:latin typeface="Calibri"/>
              </a:rPr>
              <a:t>▪ Organic: 'Jade Leaf Matcha' leads at ~</a:t>
            </a:r>
          </a:p>
        </p:txBody>
      </p:sp>
      <p:pic>
        <p:nvPicPr>
          <p:cNvPr id="25" name="Picture 24" descr="lock.png"/>
          <p:cNvPicPr>
            <a:picLocks noChangeAspect="1"/>
          </p:cNvPicPr>
          <p:nvPr/>
        </p:nvPicPr>
        <p:blipFill>
          <a:blip r:embed="rId6"/>
          <a:stretch>
            <a:fillRect/>
          </a:stretch>
        </p:blipFill>
        <p:spPr>
          <a:xfrm>
            <a:off x="2615558" y="5012116"/>
            <a:ext cx="134549" cy="195707"/>
          </a:xfrm>
          <a:prstGeom prst="rect">
            <a:avLst/>
          </a:prstGeom>
        </p:spPr>
      </p:pic>
      <p:sp>
        <p:nvSpPr>
          <p:cNvPr id="26" name="TextBox 25"/>
          <p:cNvSpPr txBox="1"/>
          <p:nvPr/>
        </p:nvSpPr>
        <p:spPr>
          <a:xfrm>
            <a:off x="2790667" y="5022340"/>
            <a:ext cx="2339404" cy="194310"/>
          </a:xfrm>
          <a:prstGeom prst="rect">
            <a:avLst/>
          </a:prstGeom>
          <a:noFill/>
        </p:spPr>
        <p:txBody>
          <a:bodyPr wrap="none" lIns="0" rIns="0" tIns="0" bIns="0">
            <a:spAutoFit/>
          </a:bodyPr>
          <a:lstStyle/>
          <a:p>
            <a:r>
              <a:rPr sz="1150" b="0">
                <a:solidFill>
                  <a:srgbClr val="2E2E2E"/>
                </a:solidFill>
                <a:latin typeface="Calibri"/>
              </a:rPr>
              <a:t>, ahead of 'Rishi Tea and Botanicals' (~</a:t>
            </a:r>
          </a:p>
        </p:txBody>
      </p:sp>
      <p:pic>
        <p:nvPicPr>
          <p:cNvPr id="27" name="Picture 26" descr="lock.png"/>
          <p:cNvPicPr>
            <a:picLocks noChangeAspect="1"/>
          </p:cNvPicPr>
          <p:nvPr/>
        </p:nvPicPr>
        <p:blipFill>
          <a:blip r:embed="rId6"/>
          <a:stretch>
            <a:fillRect/>
          </a:stretch>
        </p:blipFill>
        <p:spPr>
          <a:xfrm>
            <a:off x="5079226" y="5012116"/>
            <a:ext cx="134549" cy="195707"/>
          </a:xfrm>
          <a:prstGeom prst="rect">
            <a:avLst/>
          </a:prstGeom>
        </p:spPr>
      </p:pic>
      <p:sp>
        <p:nvSpPr>
          <p:cNvPr id="28" name="TextBox 27"/>
          <p:cNvSpPr txBox="1"/>
          <p:nvPr/>
        </p:nvSpPr>
        <p:spPr>
          <a:xfrm>
            <a:off x="5254335"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29" name="Picture 28" descr="lock.png"/>
          <p:cNvPicPr>
            <a:picLocks noChangeAspect="1"/>
          </p:cNvPicPr>
          <p:nvPr/>
        </p:nvPicPr>
        <p:blipFill>
          <a:blip r:embed="rId6"/>
          <a:stretch>
            <a:fillRect/>
          </a:stretch>
        </p:blipFill>
        <p:spPr>
          <a:xfrm>
            <a:off x="6589004" y="5012116"/>
            <a:ext cx="134549" cy="195707"/>
          </a:xfrm>
          <a:prstGeom prst="rect">
            <a:avLst/>
          </a:prstGeom>
        </p:spPr>
      </p:pic>
      <p:sp>
        <p:nvSpPr>
          <p:cNvPr id="30" name="TextBox 29"/>
          <p:cNvSpPr txBox="1"/>
          <p:nvPr/>
        </p:nvSpPr>
        <p:spPr>
          <a:xfrm>
            <a:off x="6764114"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1" name="Picture 30" descr="lock.png"/>
          <p:cNvPicPr>
            <a:picLocks noChangeAspect="1"/>
          </p:cNvPicPr>
          <p:nvPr/>
        </p:nvPicPr>
        <p:blipFill>
          <a:blip r:embed="rId6"/>
          <a:stretch>
            <a:fillRect/>
          </a:stretch>
        </p:blipFill>
        <p:spPr>
          <a:xfrm>
            <a:off x="8319570" y="5012116"/>
            <a:ext cx="134549" cy="195707"/>
          </a:xfrm>
          <a:prstGeom prst="rect">
            <a:avLst/>
          </a:prstGeom>
        </p:spPr>
      </p:pic>
      <p:sp>
        <p:nvSpPr>
          <p:cNvPr id="32" name="TextBox 31"/>
          <p:cNvSpPr txBox="1"/>
          <p:nvPr/>
        </p:nvSpPr>
        <p:spPr>
          <a:xfrm>
            <a:off x="8494679"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3" name="TextBox 32"/>
          <p:cNvSpPr txBox="1"/>
          <p:nvPr/>
        </p:nvSpPr>
        <p:spPr>
          <a:xfrm>
            <a:off x="276225" y="5250177"/>
            <a:ext cx="2042169" cy="194310"/>
          </a:xfrm>
          <a:prstGeom prst="rect">
            <a:avLst/>
          </a:prstGeom>
          <a:noFill/>
        </p:spPr>
        <p:txBody>
          <a:bodyPr wrap="none" lIns="0" rIns="0" tIns="0" bIns="0">
            <a:spAutoFit/>
          </a:bodyPr>
          <a:lstStyle/>
          <a:p>
            <a:r>
              <a:rPr sz="1150" b="0">
                <a:solidFill>
                  <a:srgbClr val="2E2E2E"/>
                </a:solidFill>
                <a:latin typeface="Calibri"/>
              </a:rPr>
              <a:t>▪ Conventional: 'Encha' leads at ~</a:t>
            </a:r>
          </a:p>
        </p:txBody>
      </p:sp>
      <p:pic>
        <p:nvPicPr>
          <p:cNvPr id="34" name="Picture 33" descr="lock.png"/>
          <p:cNvPicPr>
            <a:picLocks noChangeAspect="1"/>
          </p:cNvPicPr>
          <p:nvPr/>
        </p:nvPicPr>
        <p:blipFill>
          <a:blip r:embed="rId6"/>
          <a:stretch>
            <a:fillRect/>
          </a:stretch>
        </p:blipFill>
        <p:spPr>
          <a:xfrm>
            <a:off x="2267548" y="5239954"/>
            <a:ext cx="134549" cy="195707"/>
          </a:xfrm>
          <a:prstGeom prst="rect">
            <a:avLst/>
          </a:prstGeom>
        </p:spPr>
      </p:pic>
      <p:sp>
        <p:nvSpPr>
          <p:cNvPr id="35" name="TextBox 34"/>
          <p:cNvSpPr txBox="1"/>
          <p:nvPr/>
        </p:nvSpPr>
        <p:spPr>
          <a:xfrm>
            <a:off x="2442658" y="5250177"/>
            <a:ext cx="1533276" cy="194310"/>
          </a:xfrm>
          <a:prstGeom prst="rect">
            <a:avLst/>
          </a:prstGeom>
          <a:noFill/>
        </p:spPr>
        <p:txBody>
          <a:bodyPr wrap="none" lIns="0" rIns="0" tIns="0" bIns="0">
            <a:spAutoFit/>
          </a:bodyPr>
          <a:lstStyle/>
          <a:p>
            <a:r>
              <a:rPr sz="1150" b="0">
                <a:solidFill>
                  <a:srgbClr val="2E2E2E"/>
                </a:solidFill>
                <a:latin typeface="Calibri"/>
              </a:rPr>
              <a:t>, ahead of 'DoMatcha' (~</a:t>
            </a:r>
          </a:p>
        </p:txBody>
      </p:sp>
      <p:pic>
        <p:nvPicPr>
          <p:cNvPr id="36" name="Picture 35" descr="lock.png"/>
          <p:cNvPicPr>
            <a:picLocks noChangeAspect="1"/>
          </p:cNvPicPr>
          <p:nvPr/>
        </p:nvPicPr>
        <p:blipFill>
          <a:blip r:embed="rId6"/>
          <a:stretch>
            <a:fillRect/>
          </a:stretch>
        </p:blipFill>
        <p:spPr>
          <a:xfrm>
            <a:off x="3925089" y="5239954"/>
            <a:ext cx="134549" cy="195707"/>
          </a:xfrm>
          <a:prstGeom prst="rect">
            <a:avLst/>
          </a:prstGeom>
        </p:spPr>
      </p:pic>
      <p:sp>
        <p:nvSpPr>
          <p:cNvPr id="37" name="TextBox 36"/>
          <p:cNvSpPr txBox="1"/>
          <p:nvPr/>
        </p:nvSpPr>
        <p:spPr>
          <a:xfrm>
            <a:off x="4100198"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8" name="Picture 37" descr="lock.png"/>
          <p:cNvPicPr>
            <a:picLocks noChangeAspect="1"/>
          </p:cNvPicPr>
          <p:nvPr/>
        </p:nvPicPr>
        <p:blipFill>
          <a:blip r:embed="rId6"/>
          <a:stretch>
            <a:fillRect/>
          </a:stretch>
        </p:blipFill>
        <p:spPr>
          <a:xfrm>
            <a:off x="5434867" y="5239954"/>
            <a:ext cx="134549" cy="195707"/>
          </a:xfrm>
          <a:prstGeom prst="rect">
            <a:avLst/>
          </a:prstGeom>
        </p:spPr>
      </p:pic>
      <p:sp>
        <p:nvSpPr>
          <p:cNvPr id="39" name="TextBox 38"/>
          <p:cNvSpPr txBox="1"/>
          <p:nvPr/>
        </p:nvSpPr>
        <p:spPr>
          <a:xfrm>
            <a:off x="5609976"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0" name="Picture 39" descr="lock.png"/>
          <p:cNvPicPr>
            <a:picLocks noChangeAspect="1"/>
          </p:cNvPicPr>
          <p:nvPr/>
        </p:nvPicPr>
        <p:blipFill>
          <a:blip r:embed="rId6"/>
          <a:stretch>
            <a:fillRect/>
          </a:stretch>
        </p:blipFill>
        <p:spPr>
          <a:xfrm>
            <a:off x="7165432" y="5239954"/>
            <a:ext cx="134549" cy="195707"/>
          </a:xfrm>
          <a:prstGeom prst="rect">
            <a:avLst/>
          </a:prstGeom>
        </p:spPr>
      </p:pic>
      <p:sp>
        <p:nvSpPr>
          <p:cNvPr id="41" name="TextBox 40"/>
          <p:cNvSpPr txBox="1"/>
          <p:nvPr/>
        </p:nvSpPr>
        <p:spPr>
          <a:xfrm>
            <a:off x="7340542"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2" name="TextBox 41"/>
          <p:cNvSpPr txBox="1"/>
          <p:nvPr/>
        </p:nvSpPr>
        <p:spPr>
          <a:xfrm>
            <a:off x="276225" y="5478015"/>
            <a:ext cx="8908516" cy="194310"/>
          </a:xfrm>
          <a:prstGeom prst="rect">
            <a:avLst/>
          </a:prstGeom>
          <a:noFill/>
        </p:spPr>
        <p:txBody>
          <a:bodyPr wrap="none" lIns="0" rIns="0" tIns="0" bIns="0">
            <a:spAutoFit/>
          </a:bodyPr>
          <a:lstStyle/>
          <a:p>
            <a:r>
              <a:rPr sz="1150" b="0">
                <a:solidFill>
                  <a:srgbClr val="2E2E2E"/>
                </a:solidFill>
                <a:latin typeface="Calibri"/>
              </a:rPr>
              <a:t>▪ Leadership shifts across formulations a strong position in one product type does not carry over to the others, so product-level targeting is essential.</a:t>
            </a:r>
          </a:p>
        </p:txBody>
      </p:sp>
      <p:sp>
        <p:nvSpPr>
          <p:cNvPr id="43" name="TextBox 42"/>
          <p:cNvSpPr txBox="1"/>
          <p:nvPr/>
        </p:nvSpPr>
        <p:spPr>
          <a:xfrm>
            <a:off x="276225" y="5705853"/>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44"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Company Share by Region (Top 3)</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Company value share within the largest regions, highlighting where leadership shifts across geographies</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Company value share within each of the largest regions where each player concentrates, and how leadership varies by geography.</a:t>
            </a:r>
          </a:p>
        </p:txBody>
      </p:sp>
      <p:sp>
        <p:nvSpPr>
          <p:cNvPr id="11" name="Rounded Rectangle 10"/>
          <p:cNvSpPr/>
          <p:nvPr/>
        </p:nvSpPr>
        <p:spPr>
          <a:xfrm>
            <a:off x="14287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North America</a:t>
            </a:r>
          </a:p>
        </p:txBody>
      </p:sp>
      <p:graphicFrame>
        <p:nvGraphicFramePr>
          <p:cNvPr id="13" name="Chart 12"/>
          <p:cNvGraphicFramePr>
            <a:graphicFrameLocks noGrp="1"/>
          </p:cNvGraphicFramePr>
          <p:nvPr/>
        </p:nvGraphicFramePr>
        <p:xfrm>
          <a:off x="238125" y="1585070"/>
          <a:ext cx="3638550" cy="2869751"/>
        </p:xfrm>
        <a:graphic>
          <a:graphicData uri="http://schemas.openxmlformats.org/drawingml/2006/chart">
            <c:chart xmlns:c="http://schemas.openxmlformats.org/drawingml/2006/chart" r:id="rId3"/>
          </a:graphicData>
        </a:graphic>
      </p:graphicFrame>
      <p:sp>
        <p:nvSpPr>
          <p:cNvPr id="14" name="Rounded Rectangle 13"/>
          <p:cNvSpPr/>
          <p:nvPr/>
        </p:nvSpPr>
        <p:spPr>
          <a:xfrm>
            <a:off x="4124325" y="1299320"/>
            <a:ext cx="38290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4219575" y="1356470"/>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Europe</a:t>
            </a:r>
          </a:p>
        </p:txBody>
      </p:sp>
      <p:graphicFrame>
        <p:nvGraphicFramePr>
          <p:cNvPr id="16" name="Chart 15"/>
          <p:cNvGraphicFramePr>
            <a:graphicFrameLocks noGrp="1"/>
          </p:cNvGraphicFramePr>
          <p:nvPr/>
        </p:nvGraphicFramePr>
        <p:xfrm>
          <a:off x="4219575" y="1585070"/>
          <a:ext cx="3638550" cy="2869751"/>
        </p:xfrm>
        <a:graphic>
          <a:graphicData uri="http://schemas.openxmlformats.org/drawingml/2006/chart">
            <c:chart xmlns:c="http://schemas.openxmlformats.org/drawingml/2006/chart" r:id="rId4"/>
          </a:graphicData>
        </a:graphic>
      </p:graphicFrame>
      <p:sp>
        <p:nvSpPr>
          <p:cNvPr id="17" name="Rounded Rectangle 16"/>
          <p:cNvSpPr/>
          <p:nvPr/>
        </p:nvSpPr>
        <p:spPr>
          <a:xfrm>
            <a:off x="8105775" y="1299320"/>
            <a:ext cx="3943350" cy="3212651"/>
          </a:xfrm>
          <a:prstGeom prst="roundRect">
            <a:avLst>
              <a:gd name="adj" fmla="val 237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201025" y="1356470"/>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South Asia &amp; Pacific</a:t>
            </a:r>
          </a:p>
        </p:txBody>
      </p:sp>
      <p:graphicFrame>
        <p:nvGraphicFramePr>
          <p:cNvPr id="19" name="Chart 18"/>
          <p:cNvGraphicFramePr>
            <a:graphicFrameLocks noGrp="1"/>
          </p:cNvGraphicFramePr>
          <p:nvPr/>
        </p:nvGraphicFramePr>
        <p:xfrm>
          <a:off x="8201025" y="1585070"/>
          <a:ext cx="3752850" cy="2869751"/>
        </p:xfrm>
        <a:graphic>
          <a:graphicData uri="http://schemas.openxmlformats.org/drawingml/2006/chart">
            <c:chart xmlns:c="http://schemas.openxmlformats.org/drawingml/2006/chart" r:id="rId5"/>
          </a:graphicData>
        </a:graphic>
      </p:graphicFrame>
      <p:sp>
        <p:nvSpPr>
          <p:cNvPr id="20" name="Rounded Rectangle 19"/>
          <p:cNvSpPr/>
          <p:nvPr/>
        </p:nvSpPr>
        <p:spPr>
          <a:xfrm>
            <a:off x="142875" y="4603240"/>
            <a:ext cx="11906250" cy="1971399"/>
          </a:xfrm>
          <a:prstGeom prst="roundRect">
            <a:avLst>
              <a:gd name="adj" fmla="val 386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76225" y="4688965"/>
            <a:ext cx="11639550" cy="209550"/>
          </a:xfrm>
          <a:prstGeom prst="rect">
            <a:avLst/>
          </a:prstGeom>
          <a:noFill/>
        </p:spPr>
        <p:txBody>
          <a:bodyPr wrap="square" lIns="0" rIns="19050" tIns="9525" bIns="9525">
            <a:spAutoFit/>
          </a:bodyPr>
          <a:lstStyle/>
          <a:p>
            <a:pPr algn="l"/>
            <a:r>
              <a:rPr sz="1300" b="1">
                <a:solidFill>
                  <a:srgbClr val="0B2E4A"/>
                </a:solidFill>
                <a:latin typeface="Calibri"/>
              </a:rPr>
              <a:t>Company Share Key Takeaways</a:t>
            </a:r>
          </a:p>
        </p:txBody>
      </p:sp>
      <p:sp>
        <p:nvSpPr>
          <p:cNvPr id="22" name="Rectangle 21"/>
          <p:cNvSpPr/>
          <p:nvPr/>
        </p:nvSpPr>
        <p:spPr>
          <a:xfrm>
            <a:off x="276225" y="4927090"/>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76225" y="5012815"/>
            <a:ext cx="11639550" cy="1485624"/>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7"/>
          <a:stretch>
            <a:fillRect/>
          </a:stretch>
        </p:blipFill>
        <p:spPr>
          <a:xfrm>
            <a:off x="1233011" y="2619895"/>
            <a:ext cx="523875" cy="762000"/>
          </a:xfrm>
          <a:prstGeom prst="rect">
            <a:avLst/>
          </a:prstGeom>
        </p:spPr>
      </p:pic>
      <p:pic>
        <p:nvPicPr>
          <p:cNvPr id="26" name="Picture 25" descr="lock.png"/>
          <p:cNvPicPr>
            <a:picLocks noChangeAspect="1"/>
          </p:cNvPicPr>
          <p:nvPr/>
        </p:nvPicPr>
        <p:blipFill>
          <a:blip r:embed="rId7"/>
          <a:stretch>
            <a:fillRect/>
          </a:stretch>
        </p:blipFill>
        <p:spPr>
          <a:xfrm>
            <a:off x="5214461" y="2619895"/>
            <a:ext cx="523875" cy="762000"/>
          </a:xfrm>
          <a:prstGeom prst="rect">
            <a:avLst/>
          </a:prstGeom>
        </p:spPr>
      </p:pic>
      <p:pic>
        <p:nvPicPr>
          <p:cNvPr id="27" name="Picture 26" descr="lock.png"/>
          <p:cNvPicPr>
            <a:picLocks noChangeAspect="1"/>
          </p:cNvPicPr>
          <p:nvPr/>
        </p:nvPicPr>
        <p:blipFill>
          <a:blip r:embed="rId7"/>
          <a:stretch>
            <a:fillRect/>
          </a:stretch>
        </p:blipFill>
        <p:spPr>
          <a:xfrm>
            <a:off x="9235916" y="2619895"/>
            <a:ext cx="523875" cy="762000"/>
          </a:xfrm>
          <a:prstGeom prst="rect">
            <a:avLst/>
          </a:prstGeom>
        </p:spPr>
      </p:pic>
      <p:sp>
        <p:nvSpPr>
          <p:cNvPr id="28" name="TextBox 27"/>
          <p:cNvSpPr txBox="1"/>
          <p:nvPr/>
        </p:nvSpPr>
        <p:spPr>
          <a:xfrm>
            <a:off x="276225" y="5022340"/>
            <a:ext cx="2803227" cy="194310"/>
          </a:xfrm>
          <a:prstGeom prst="rect">
            <a:avLst/>
          </a:prstGeom>
          <a:noFill/>
        </p:spPr>
        <p:txBody>
          <a:bodyPr wrap="none" lIns="0" rIns="0" tIns="0" bIns="0">
            <a:spAutoFit/>
          </a:bodyPr>
          <a:lstStyle/>
          <a:p>
            <a:r>
              <a:rPr sz="1150" b="0">
                <a:solidFill>
                  <a:srgbClr val="2E2E2E"/>
                </a:solidFill>
                <a:latin typeface="Calibri"/>
              </a:rPr>
              <a:t>▪ North America: 'Jade Leaf Matcha' leads at ~</a:t>
            </a:r>
          </a:p>
        </p:txBody>
      </p:sp>
      <p:pic>
        <p:nvPicPr>
          <p:cNvPr id="29" name="Picture 28" descr="lock.png"/>
          <p:cNvPicPr>
            <a:picLocks noChangeAspect="1"/>
          </p:cNvPicPr>
          <p:nvPr/>
        </p:nvPicPr>
        <p:blipFill>
          <a:blip r:embed="rId7"/>
          <a:stretch>
            <a:fillRect/>
          </a:stretch>
        </p:blipFill>
        <p:spPr>
          <a:xfrm>
            <a:off x="3028606" y="5012116"/>
            <a:ext cx="134549" cy="195707"/>
          </a:xfrm>
          <a:prstGeom prst="rect">
            <a:avLst/>
          </a:prstGeom>
        </p:spPr>
      </p:pic>
      <p:sp>
        <p:nvSpPr>
          <p:cNvPr id="30" name="TextBox 29"/>
          <p:cNvSpPr txBox="1"/>
          <p:nvPr/>
        </p:nvSpPr>
        <p:spPr>
          <a:xfrm>
            <a:off x="3203715" y="5022340"/>
            <a:ext cx="1533276" cy="194310"/>
          </a:xfrm>
          <a:prstGeom prst="rect">
            <a:avLst/>
          </a:prstGeom>
          <a:noFill/>
        </p:spPr>
        <p:txBody>
          <a:bodyPr wrap="none" lIns="0" rIns="0" tIns="0" bIns="0">
            <a:spAutoFit/>
          </a:bodyPr>
          <a:lstStyle/>
          <a:p>
            <a:r>
              <a:rPr sz="1150" b="0">
                <a:solidFill>
                  <a:srgbClr val="2E2E2E"/>
                </a:solidFill>
                <a:latin typeface="Calibri"/>
              </a:rPr>
              <a:t>, ahead of 'DoMatcha' (~</a:t>
            </a:r>
          </a:p>
        </p:txBody>
      </p:sp>
      <p:pic>
        <p:nvPicPr>
          <p:cNvPr id="31" name="Picture 30" descr="lock.png"/>
          <p:cNvPicPr>
            <a:picLocks noChangeAspect="1"/>
          </p:cNvPicPr>
          <p:nvPr/>
        </p:nvPicPr>
        <p:blipFill>
          <a:blip r:embed="rId7"/>
          <a:stretch>
            <a:fillRect/>
          </a:stretch>
        </p:blipFill>
        <p:spPr>
          <a:xfrm>
            <a:off x="4686146" y="5012116"/>
            <a:ext cx="134549" cy="195707"/>
          </a:xfrm>
          <a:prstGeom prst="rect">
            <a:avLst/>
          </a:prstGeom>
        </p:spPr>
      </p:pic>
      <p:sp>
        <p:nvSpPr>
          <p:cNvPr id="32" name="TextBox 31"/>
          <p:cNvSpPr txBox="1"/>
          <p:nvPr/>
        </p:nvSpPr>
        <p:spPr>
          <a:xfrm>
            <a:off x="4861255" y="5022340"/>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33" name="Picture 32" descr="lock.png"/>
          <p:cNvPicPr>
            <a:picLocks noChangeAspect="1"/>
          </p:cNvPicPr>
          <p:nvPr/>
        </p:nvPicPr>
        <p:blipFill>
          <a:blip r:embed="rId7"/>
          <a:stretch>
            <a:fillRect/>
          </a:stretch>
        </p:blipFill>
        <p:spPr>
          <a:xfrm>
            <a:off x="6195925" y="5012116"/>
            <a:ext cx="134549" cy="195707"/>
          </a:xfrm>
          <a:prstGeom prst="rect">
            <a:avLst/>
          </a:prstGeom>
        </p:spPr>
      </p:pic>
      <p:sp>
        <p:nvSpPr>
          <p:cNvPr id="34" name="TextBox 33"/>
          <p:cNvSpPr txBox="1"/>
          <p:nvPr/>
        </p:nvSpPr>
        <p:spPr>
          <a:xfrm>
            <a:off x="6371034" y="5022340"/>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35" name="Picture 34" descr="lock.png"/>
          <p:cNvPicPr>
            <a:picLocks noChangeAspect="1"/>
          </p:cNvPicPr>
          <p:nvPr/>
        </p:nvPicPr>
        <p:blipFill>
          <a:blip r:embed="rId7"/>
          <a:stretch>
            <a:fillRect/>
          </a:stretch>
        </p:blipFill>
        <p:spPr>
          <a:xfrm>
            <a:off x="7926490" y="5012116"/>
            <a:ext cx="134549" cy="195707"/>
          </a:xfrm>
          <a:prstGeom prst="rect">
            <a:avLst/>
          </a:prstGeom>
        </p:spPr>
      </p:pic>
      <p:sp>
        <p:nvSpPr>
          <p:cNvPr id="36" name="TextBox 35"/>
          <p:cNvSpPr txBox="1"/>
          <p:nvPr/>
        </p:nvSpPr>
        <p:spPr>
          <a:xfrm>
            <a:off x="8101599" y="5022340"/>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37" name="TextBox 36"/>
          <p:cNvSpPr txBox="1"/>
          <p:nvPr/>
        </p:nvSpPr>
        <p:spPr>
          <a:xfrm>
            <a:off x="276225" y="5250177"/>
            <a:ext cx="2357090" cy="194310"/>
          </a:xfrm>
          <a:prstGeom prst="rect">
            <a:avLst/>
          </a:prstGeom>
          <a:noFill/>
        </p:spPr>
        <p:txBody>
          <a:bodyPr wrap="none" lIns="0" rIns="0" tIns="0" bIns="0">
            <a:spAutoFit/>
          </a:bodyPr>
          <a:lstStyle/>
          <a:p>
            <a:r>
              <a:rPr sz="1150" b="0">
                <a:solidFill>
                  <a:srgbClr val="2E2E2E"/>
                </a:solidFill>
                <a:latin typeface="Calibri"/>
              </a:rPr>
              <a:t>▪ Europe: 'Jade Leaf Matcha' leads at ~</a:t>
            </a:r>
          </a:p>
        </p:txBody>
      </p:sp>
      <p:pic>
        <p:nvPicPr>
          <p:cNvPr id="38" name="Picture 37" descr="lock.png"/>
          <p:cNvPicPr>
            <a:picLocks noChangeAspect="1"/>
          </p:cNvPicPr>
          <p:nvPr/>
        </p:nvPicPr>
        <p:blipFill>
          <a:blip r:embed="rId7"/>
          <a:stretch>
            <a:fillRect/>
          </a:stretch>
        </p:blipFill>
        <p:spPr>
          <a:xfrm>
            <a:off x="2582469" y="5239954"/>
            <a:ext cx="134549" cy="195707"/>
          </a:xfrm>
          <a:prstGeom prst="rect">
            <a:avLst/>
          </a:prstGeom>
        </p:spPr>
      </p:pic>
      <p:sp>
        <p:nvSpPr>
          <p:cNvPr id="39" name="TextBox 38"/>
          <p:cNvSpPr txBox="1"/>
          <p:nvPr/>
        </p:nvSpPr>
        <p:spPr>
          <a:xfrm>
            <a:off x="2757578" y="5250177"/>
            <a:ext cx="2339404" cy="194310"/>
          </a:xfrm>
          <a:prstGeom prst="rect">
            <a:avLst/>
          </a:prstGeom>
          <a:noFill/>
        </p:spPr>
        <p:txBody>
          <a:bodyPr wrap="none" lIns="0" rIns="0" tIns="0" bIns="0">
            <a:spAutoFit/>
          </a:bodyPr>
          <a:lstStyle/>
          <a:p>
            <a:r>
              <a:rPr sz="1150" b="0">
                <a:solidFill>
                  <a:srgbClr val="2E2E2E"/>
                </a:solidFill>
                <a:latin typeface="Calibri"/>
              </a:rPr>
              <a:t>, ahead of 'Rishi Tea and Botanicals' (~</a:t>
            </a:r>
          </a:p>
        </p:txBody>
      </p:sp>
      <p:pic>
        <p:nvPicPr>
          <p:cNvPr id="40" name="Picture 39" descr="lock.png"/>
          <p:cNvPicPr>
            <a:picLocks noChangeAspect="1"/>
          </p:cNvPicPr>
          <p:nvPr/>
        </p:nvPicPr>
        <p:blipFill>
          <a:blip r:embed="rId7"/>
          <a:stretch>
            <a:fillRect/>
          </a:stretch>
        </p:blipFill>
        <p:spPr>
          <a:xfrm>
            <a:off x="5046136" y="5239954"/>
            <a:ext cx="134549" cy="195707"/>
          </a:xfrm>
          <a:prstGeom prst="rect">
            <a:avLst/>
          </a:prstGeom>
        </p:spPr>
      </p:pic>
      <p:sp>
        <p:nvSpPr>
          <p:cNvPr id="41" name="TextBox 40"/>
          <p:cNvSpPr txBox="1"/>
          <p:nvPr/>
        </p:nvSpPr>
        <p:spPr>
          <a:xfrm>
            <a:off x="5221246" y="5250177"/>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42" name="Picture 41" descr="lock.png"/>
          <p:cNvPicPr>
            <a:picLocks noChangeAspect="1"/>
          </p:cNvPicPr>
          <p:nvPr/>
        </p:nvPicPr>
        <p:blipFill>
          <a:blip r:embed="rId7"/>
          <a:stretch>
            <a:fillRect/>
          </a:stretch>
        </p:blipFill>
        <p:spPr>
          <a:xfrm>
            <a:off x="6555915" y="5239954"/>
            <a:ext cx="134549" cy="195707"/>
          </a:xfrm>
          <a:prstGeom prst="rect">
            <a:avLst/>
          </a:prstGeom>
        </p:spPr>
      </p:pic>
      <p:sp>
        <p:nvSpPr>
          <p:cNvPr id="43" name="TextBox 42"/>
          <p:cNvSpPr txBox="1"/>
          <p:nvPr/>
        </p:nvSpPr>
        <p:spPr>
          <a:xfrm>
            <a:off x="6731024" y="5250177"/>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44" name="Picture 43" descr="lock.png"/>
          <p:cNvPicPr>
            <a:picLocks noChangeAspect="1"/>
          </p:cNvPicPr>
          <p:nvPr/>
        </p:nvPicPr>
        <p:blipFill>
          <a:blip r:embed="rId7"/>
          <a:stretch>
            <a:fillRect/>
          </a:stretch>
        </p:blipFill>
        <p:spPr>
          <a:xfrm>
            <a:off x="8286480" y="5239954"/>
            <a:ext cx="134549" cy="195707"/>
          </a:xfrm>
          <a:prstGeom prst="rect">
            <a:avLst/>
          </a:prstGeom>
        </p:spPr>
      </p:pic>
      <p:sp>
        <p:nvSpPr>
          <p:cNvPr id="45" name="TextBox 44"/>
          <p:cNvSpPr txBox="1"/>
          <p:nvPr/>
        </p:nvSpPr>
        <p:spPr>
          <a:xfrm>
            <a:off x="8461589" y="5250177"/>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478015"/>
            <a:ext cx="2426692" cy="194310"/>
          </a:xfrm>
          <a:prstGeom prst="rect">
            <a:avLst/>
          </a:prstGeom>
          <a:noFill/>
        </p:spPr>
        <p:txBody>
          <a:bodyPr wrap="none" lIns="0" rIns="0" tIns="0" bIns="0">
            <a:spAutoFit/>
          </a:bodyPr>
          <a:lstStyle/>
          <a:p>
            <a:r>
              <a:rPr sz="1150" b="0">
                <a:solidFill>
                  <a:srgbClr val="2E2E2E"/>
                </a:solidFill>
                <a:latin typeface="Calibri"/>
              </a:rPr>
              <a:t>▪ South Asia &amp; Pacific: 'Encha' leads at ~</a:t>
            </a:r>
          </a:p>
        </p:txBody>
      </p:sp>
      <p:pic>
        <p:nvPicPr>
          <p:cNvPr id="47" name="Picture 46" descr="lock.png"/>
          <p:cNvPicPr>
            <a:picLocks noChangeAspect="1"/>
          </p:cNvPicPr>
          <p:nvPr/>
        </p:nvPicPr>
        <p:blipFill>
          <a:blip r:embed="rId7"/>
          <a:stretch>
            <a:fillRect/>
          </a:stretch>
        </p:blipFill>
        <p:spPr>
          <a:xfrm>
            <a:off x="2652071" y="5467792"/>
            <a:ext cx="134549" cy="195707"/>
          </a:xfrm>
          <a:prstGeom prst="rect">
            <a:avLst/>
          </a:prstGeom>
        </p:spPr>
      </p:pic>
      <p:sp>
        <p:nvSpPr>
          <p:cNvPr id="48" name="TextBox 47"/>
          <p:cNvSpPr txBox="1"/>
          <p:nvPr/>
        </p:nvSpPr>
        <p:spPr>
          <a:xfrm>
            <a:off x="2827180" y="5478015"/>
            <a:ext cx="1533276" cy="194310"/>
          </a:xfrm>
          <a:prstGeom prst="rect">
            <a:avLst/>
          </a:prstGeom>
          <a:noFill/>
        </p:spPr>
        <p:txBody>
          <a:bodyPr wrap="none" lIns="0" rIns="0" tIns="0" bIns="0">
            <a:spAutoFit/>
          </a:bodyPr>
          <a:lstStyle/>
          <a:p>
            <a:r>
              <a:rPr sz="1150" b="0">
                <a:solidFill>
                  <a:srgbClr val="2E2E2E"/>
                </a:solidFill>
                <a:latin typeface="Calibri"/>
              </a:rPr>
              <a:t>, ahead of 'DoMatcha' (~</a:t>
            </a:r>
          </a:p>
        </p:txBody>
      </p:sp>
      <p:pic>
        <p:nvPicPr>
          <p:cNvPr id="49" name="Picture 48" descr="lock.png"/>
          <p:cNvPicPr>
            <a:picLocks noChangeAspect="1"/>
          </p:cNvPicPr>
          <p:nvPr/>
        </p:nvPicPr>
        <p:blipFill>
          <a:blip r:embed="rId7"/>
          <a:stretch>
            <a:fillRect/>
          </a:stretch>
        </p:blipFill>
        <p:spPr>
          <a:xfrm>
            <a:off x="4309611" y="5467792"/>
            <a:ext cx="134549" cy="195707"/>
          </a:xfrm>
          <a:prstGeom prst="rect">
            <a:avLst/>
          </a:prstGeom>
        </p:spPr>
      </p:pic>
      <p:sp>
        <p:nvSpPr>
          <p:cNvPr id="50" name="TextBox 49"/>
          <p:cNvSpPr txBox="1"/>
          <p:nvPr/>
        </p:nvSpPr>
        <p:spPr>
          <a:xfrm>
            <a:off x="4484720" y="5478015"/>
            <a:ext cx="1385515" cy="194310"/>
          </a:xfrm>
          <a:prstGeom prst="rect">
            <a:avLst/>
          </a:prstGeom>
          <a:noFill/>
        </p:spPr>
        <p:txBody>
          <a:bodyPr wrap="none" lIns="0" rIns="0" tIns="0" bIns="0">
            <a:spAutoFit/>
          </a:bodyPr>
          <a:lstStyle/>
          <a:p>
            <a:r>
              <a:rPr sz="1150" b="0">
                <a:solidFill>
                  <a:srgbClr val="2E2E2E"/>
                </a:solidFill>
                <a:latin typeface="Calibri"/>
              </a:rPr>
              <a:t>); the top three hold ~</a:t>
            </a:r>
          </a:p>
        </p:txBody>
      </p:sp>
      <p:pic>
        <p:nvPicPr>
          <p:cNvPr id="51" name="Picture 50" descr="lock.png"/>
          <p:cNvPicPr>
            <a:picLocks noChangeAspect="1"/>
          </p:cNvPicPr>
          <p:nvPr/>
        </p:nvPicPr>
        <p:blipFill>
          <a:blip r:embed="rId7"/>
          <a:stretch>
            <a:fillRect/>
          </a:stretch>
        </p:blipFill>
        <p:spPr>
          <a:xfrm>
            <a:off x="5819389" y="5467792"/>
            <a:ext cx="134549" cy="195707"/>
          </a:xfrm>
          <a:prstGeom prst="rect">
            <a:avLst/>
          </a:prstGeom>
        </p:spPr>
      </p:pic>
      <p:sp>
        <p:nvSpPr>
          <p:cNvPr id="52" name="TextBox 51"/>
          <p:cNvSpPr txBox="1"/>
          <p:nvPr/>
        </p:nvSpPr>
        <p:spPr>
          <a:xfrm>
            <a:off x="5994499" y="5478015"/>
            <a:ext cx="1606301" cy="194310"/>
          </a:xfrm>
          <a:prstGeom prst="rect">
            <a:avLst/>
          </a:prstGeom>
          <a:noFill/>
        </p:spPr>
        <p:txBody>
          <a:bodyPr wrap="none" lIns="0" rIns="0" tIns="0" bIns="0">
            <a:spAutoFit/>
          </a:bodyPr>
          <a:lstStyle/>
          <a:p>
            <a:r>
              <a:rPr sz="1150" b="0">
                <a:solidFill>
                  <a:srgbClr val="2E2E2E"/>
                </a:solidFill>
                <a:latin typeface="Calibri"/>
              </a:rPr>
              <a:t>and a long tail ('Others') ~</a:t>
            </a:r>
          </a:p>
        </p:txBody>
      </p:sp>
      <p:pic>
        <p:nvPicPr>
          <p:cNvPr id="53" name="Picture 52" descr="lock.png"/>
          <p:cNvPicPr>
            <a:picLocks noChangeAspect="1"/>
          </p:cNvPicPr>
          <p:nvPr/>
        </p:nvPicPr>
        <p:blipFill>
          <a:blip r:embed="rId7"/>
          <a:stretch>
            <a:fillRect/>
          </a:stretch>
        </p:blipFill>
        <p:spPr>
          <a:xfrm>
            <a:off x="7549955" y="5467792"/>
            <a:ext cx="134549" cy="195707"/>
          </a:xfrm>
          <a:prstGeom prst="rect">
            <a:avLst/>
          </a:prstGeom>
        </p:spPr>
      </p:pic>
      <p:sp>
        <p:nvSpPr>
          <p:cNvPr id="54" name="TextBox 53"/>
          <p:cNvSpPr txBox="1"/>
          <p:nvPr/>
        </p:nvSpPr>
        <p:spPr>
          <a:xfrm>
            <a:off x="7725064" y="5478015"/>
            <a:ext cx="112997" cy="194310"/>
          </a:xfrm>
          <a:prstGeom prst="rect">
            <a:avLst/>
          </a:prstGeom>
          <a:noFill/>
        </p:spPr>
        <p:txBody>
          <a:bodyPr wrap="none" lIns="0" rIns="0" tIns="0" bIns="0">
            <a:spAutoFit/>
          </a:bodyPr>
          <a:lstStyle/>
          <a:p>
            <a:r>
              <a:rPr sz="1150" b="0">
                <a:solidFill>
                  <a:srgbClr val="2E2E2E"/>
                </a:solidFill>
                <a:latin typeface="Calibri"/>
              </a:rPr>
              <a:t>.</a:t>
            </a:r>
          </a:p>
        </p:txBody>
      </p:sp>
      <p:sp>
        <p:nvSpPr>
          <p:cNvPr id="55" name="TextBox 54"/>
          <p:cNvSpPr txBox="1"/>
          <p:nvPr/>
        </p:nvSpPr>
        <p:spPr>
          <a:xfrm>
            <a:off x="276225" y="5705853"/>
            <a:ext cx="9705801" cy="194310"/>
          </a:xfrm>
          <a:prstGeom prst="rect">
            <a:avLst/>
          </a:prstGeom>
          <a:noFill/>
        </p:spPr>
        <p:txBody>
          <a:bodyPr wrap="none" lIns="0" rIns="0" tIns="0" bIns="0">
            <a:spAutoFit/>
          </a:bodyPr>
          <a:lstStyle/>
          <a:p>
            <a:r>
              <a:rPr sz="1150" b="0">
                <a:solidFill>
                  <a:srgbClr val="2E2E2E"/>
                </a:solidFill>
                <a:latin typeface="Calibri"/>
              </a:rPr>
              <a:t>▪ Leadership is not uniform across geographies a strong position in one region does not carry over to the others, so region-level go-to-market planning is essential.</a:t>
            </a:r>
          </a:p>
        </p:txBody>
      </p:sp>
      <p:sp>
        <p:nvSpPr>
          <p:cNvPr id="56" name="TextBox 55"/>
          <p:cNvSpPr txBox="1"/>
          <p:nvPr/>
        </p:nvSpPr>
        <p:spPr>
          <a:xfrm>
            <a:off x="276225" y="5933691"/>
            <a:ext cx="7218957" cy="194310"/>
          </a:xfrm>
          <a:prstGeom prst="rect">
            <a:avLst/>
          </a:prstGeom>
          <a:noFill/>
        </p:spPr>
        <p:txBody>
          <a:bodyPr wrap="none" lIns="0" rIns="0" tIns="0" bIns="0">
            <a:spAutoFit/>
          </a:bodyPr>
          <a:lstStyle/>
          <a:p>
            <a:r>
              <a:rPr sz="1150" b="0">
                <a:solidFill>
                  <a:srgbClr val="2E2E2E"/>
                </a:solidFill>
                <a:latin typeface="Calibri"/>
              </a:rPr>
              <a:t>▪ Note: competitor figures are indicative derived from market modelling and expert validation, not company disclosures.</a:t>
            </a:r>
          </a:p>
        </p:txBody>
      </p:sp>
      <p:sp>
        <p:nvSpPr>
          <p:cNvPr id="57" name="lockshield_13"/>
          <p:cNvSpPr/>
          <p:nvPr/>
        </p:nvSpPr>
        <p:spPr>
          <a:xfrm>
            <a:off x="23812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lockshield_16"/>
          <p:cNvSpPr/>
          <p:nvPr/>
        </p:nvSpPr>
        <p:spPr>
          <a:xfrm>
            <a:off x="4219575" y="1585070"/>
            <a:ext cx="36385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19"/>
          <p:cNvSpPr/>
          <p:nvPr/>
        </p:nvSpPr>
        <p:spPr>
          <a:xfrm>
            <a:off x="8201025" y="1585070"/>
            <a:ext cx="3752850" cy="2869751"/>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Who Shaped Growth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Ranking of the players that shaped growth, by value share, growth role and signature move</a:t>
            </a:r>
          </a:p>
        </p:txBody>
      </p:sp>
      <p:sp>
        <p:nvSpPr>
          <p:cNvPr id="10" name="TextBox 9"/>
          <p:cNvSpPr txBox="1"/>
          <p:nvPr/>
        </p:nvSpPr>
        <p:spPr>
          <a:xfrm>
            <a:off x="142875" y="970754"/>
            <a:ext cx="11906250" cy="182537"/>
          </a:xfrm>
          <a:prstGeom prst="rect">
            <a:avLst/>
          </a:prstGeom>
          <a:noFill/>
        </p:spPr>
        <p:txBody>
          <a:bodyPr wrap="square" lIns="28575" rIns="28575" tIns="9525" bIns="9525" anchor="ctr">
            <a:spAutoFit/>
          </a:bodyPr>
          <a:lstStyle/>
          <a:p>
            <a:pPr algn="l"/>
            <a:r>
              <a:rPr sz="1100" b="0">
                <a:solidFill>
                  <a:srgbClr val="6C7A89"/>
                </a:solidFill>
                <a:latin typeface="Calibri"/>
              </a:rPr>
              <a:t>A framework to identify the companies that most influenced annual Matcha Market growth, ranked by growth-shaping impact.</a:t>
            </a:r>
          </a:p>
        </p:txBody>
      </p:sp>
      <p:sp>
        <p:nvSpPr>
          <p:cNvPr id="11" name="Rounded Rectangle 10"/>
          <p:cNvSpPr/>
          <p:nvPr/>
        </p:nvSpPr>
        <p:spPr>
          <a:xfrm>
            <a:off x="3619500" y="1189798"/>
            <a:ext cx="4953000" cy="419835"/>
          </a:xfrm>
          <a:prstGeom prst="roundRect">
            <a:avLst>
              <a:gd name="adj" fmla="val 1538"/>
            </a:avLst>
          </a:prstGeom>
          <a:solidFill>
            <a:srgbClr val="F4F8FB"/>
          </a:solidFill>
          <a:ln w="12700">
            <a:solidFill>
              <a:srgbClr val="CFE0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3733800" y="1226305"/>
            <a:ext cx="4724400" cy="173410"/>
          </a:xfrm>
          <a:prstGeom prst="rect">
            <a:avLst/>
          </a:prstGeom>
          <a:noFill/>
        </p:spPr>
        <p:txBody>
          <a:bodyPr wrap="square" lIns="28575" rIns="28575" tIns="9525" bIns="9525" anchor="ctr">
            <a:spAutoFit/>
          </a:bodyPr>
          <a:lstStyle/>
          <a:p>
            <a:pPr algn="ctr"/>
            <a:r>
              <a:rPr sz="1100" b="1">
                <a:solidFill>
                  <a:srgbClr val="0B2E4A"/>
                </a:solidFill>
                <a:latin typeface="Calibri"/>
              </a:rPr>
              <a:t>RANKED BY GROWTH-SHAPING IMPACT</a:t>
            </a:r>
          </a:p>
        </p:txBody>
      </p:sp>
      <p:sp>
        <p:nvSpPr>
          <p:cNvPr id="13" name="TextBox 12"/>
          <p:cNvSpPr txBox="1"/>
          <p:nvPr/>
        </p:nvSpPr>
        <p:spPr>
          <a:xfrm>
            <a:off x="3733800" y="1399716"/>
            <a:ext cx="4724400" cy="173410"/>
          </a:xfrm>
          <a:prstGeom prst="rect">
            <a:avLst/>
          </a:prstGeom>
          <a:noFill/>
        </p:spPr>
        <p:txBody>
          <a:bodyPr wrap="square" lIns="28575" rIns="28575" tIns="9525" bIns="9525" anchor="ctr">
            <a:spAutoFit/>
          </a:bodyPr>
          <a:lstStyle/>
          <a:p>
            <a:pPr algn="ctr"/>
            <a:r>
              <a:rPr sz="1100" b="0">
                <a:solidFill>
                  <a:srgbClr val="6C7A89"/>
                </a:solidFill>
                <a:latin typeface="Calibri"/>
              </a:rPr>
              <a:t>Ranked by overall contribution to category growth, not share alone.</a:t>
            </a:r>
          </a:p>
        </p:txBody>
      </p:sp>
      <p:cxnSp>
        <p:nvCxnSpPr>
          <p:cNvPr id="14" name="Connector 13"/>
          <p:cNvCxnSpPr/>
          <p:nvPr/>
        </p:nvCxnSpPr>
        <p:spPr>
          <a:xfrm>
            <a:off x="428625"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8743950" y="1399716"/>
            <a:ext cx="3019425" cy="0"/>
          </a:xfrm>
          <a:prstGeom prst="line">
            <a:avLst/>
          </a:prstGeom>
          <a:ln w="12700">
            <a:solidFill>
              <a:srgbClr val="C4D0D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523875" y="1792170"/>
            <a:ext cx="11106150" cy="0"/>
          </a:xfrm>
          <a:prstGeom prst="line">
            <a:avLst/>
          </a:prstGeom>
          <a:ln w="25400">
            <a:solidFill>
              <a:srgbClr val="0B2E4A"/>
            </a:solidFill>
          </a:ln>
          <a:effectLst/>
        </p:spPr>
        <p:style>
          <a:lnRef idx="2">
            <a:schemeClr val="accent1"/>
          </a:lnRef>
          <a:fillRef idx="0">
            <a:schemeClr val="accent1"/>
          </a:fillRef>
          <a:effectRef idx="1">
            <a:schemeClr val="accent1"/>
          </a:effectRef>
          <a:fontRef idx="minor">
            <a:schemeClr val="tx1"/>
          </a:fontRef>
        </p:style>
      </p:cxnSp>
      <p:sp>
        <p:nvSpPr>
          <p:cNvPr id="17" name="Freeform 16"/>
          <p:cNvSpPr/>
          <p:nvPr/>
        </p:nvSpPr>
        <p:spPr>
          <a:xfrm>
            <a:off x="11630025" y="1728282"/>
            <a:ext cx="171450" cy="127776"/>
          </a:xfrm>
          <a:custGeom>
            <a:avLst/>
            <a:gdLst/>
            <a:ahLst/>
            <a:cxnLst/>
            <a:rect l="l" t="t" r="r" b="b"/>
            <a:pathLst>
              <a:path w="18" h="14">
                <a:moveTo>
                  <a:pt x="0" y="0"/>
                </a:moveTo>
                <a:lnTo>
                  <a:pt x="18" y="7"/>
                </a:lnTo>
                <a:lnTo>
                  <a:pt x="0" y="14"/>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Oval 17"/>
          <p:cNvSpPr/>
          <p:nvPr/>
        </p:nvSpPr>
        <p:spPr>
          <a:xfrm>
            <a:off x="1152525" y="1655267"/>
            <a:ext cx="285750" cy="273805"/>
          </a:xfrm>
          <a:prstGeom prst="ellipse">
            <a:avLst/>
          </a:prstGeom>
          <a:solidFill>
            <a:srgbClr val="0E72AE"/>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11525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0" name="Rounded Rectangle 19"/>
          <p:cNvSpPr/>
          <p:nvPr/>
        </p:nvSpPr>
        <p:spPr>
          <a:xfrm>
            <a:off x="142875" y="1992961"/>
            <a:ext cx="2305050" cy="2135683"/>
          </a:xfrm>
          <a:prstGeom prst="roundRect">
            <a:avLst>
              <a:gd name="adj" fmla="val 3719"/>
            </a:avLst>
          </a:prstGeom>
          <a:solidFill>
            <a:srgbClr val="FFFFFF"/>
          </a:solidFill>
          <a:ln w="2032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Rounded Rectangle 20"/>
          <p:cNvSpPr/>
          <p:nvPr/>
        </p:nvSpPr>
        <p:spPr>
          <a:xfrm>
            <a:off x="142875" y="1992961"/>
            <a:ext cx="2305050" cy="310313"/>
          </a:xfrm>
          <a:prstGeom prst="roundRect">
            <a:avLst>
              <a:gd name="adj" fmla="val 3719"/>
            </a:avLst>
          </a:prstGeom>
          <a:solidFill>
            <a:srgbClr val="0E72AE"/>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Oval 21"/>
          <p:cNvSpPr/>
          <p:nvPr/>
        </p:nvSpPr>
        <p:spPr>
          <a:xfrm>
            <a:off x="2571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571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24" name="TextBox 23"/>
          <p:cNvSpPr txBox="1"/>
          <p:nvPr/>
        </p:nvSpPr>
        <p:spPr>
          <a:xfrm>
            <a:off x="5238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Jade Leaf Matcha</a:t>
            </a:r>
          </a:p>
        </p:txBody>
      </p:sp>
      <p:sp>
        <p:nvSpPr>
          <p:cNvPr id="25" name="TextBox 24"/>
          <p:cNvSpPr txBox="1"/>
          <p:nvPr/>
        </p:nvSpPr>
        <p:spPr>
          <a:xfrm>
            <a:off x="2381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6" name="TextBox 25"/>
          <p:cNvSpPr txBox="1"/>
          <p:nvPr/>
        </p:nvSpPr>
        <p:spPr>
          <a:xfrm>
            <a:off x="4286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27" name="Connector 26"/>
          <p:cNvCxnSpPr/>
          <p:nvPr/>
        </p:nvCxnSpPr>
        <p:spPr>
          <a:xfrm>
            <a:off x="2381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81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29" name="TextBox 28"/>
          <p:cNvSpPr txBox="1"/>
          <p:nvPr/>
        </p:nvSpPr>
        <p:spPr>
          <a:xfrm>
            <a:off x="4286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30" name="TextBox 29"/>
          <p:cNvSpPr txBox="1"/>
          <p:nvPr/>
        </p:nvSpPr>
        <p:spPr>
          <a:xfrm>
            <a:off x="428625" y="2805250"/>
            <a:ext cx="1924050" cy="164283"/>
          </a:xfrm>
          <a:prstGeom prst="rect">
            <a:avLst/>
          </a:prstGeom>
          <a:noFill/>
        </p:spPr>
        <p:txBody>
          <a:bodyPr wrap="square" lIns="28575" rIns="28575" tIns="9525" bIns="9525" anchor="ctr">
            <a:spAutoFit/>
          </a:bodyPr>
          <a:lstStyle/>
          <a:p>
            <a:pPr algn="l"/>
            <a:r>
              <a:rPr sz="1100" b="1">
                <a:solidFill>
                  <a:srgbClr val="0E72AE"/>
                </a:solidFill>
                <a:latin typeface="Calibri"/>
              </a:rPr>
              <a:t>Market leader</a:t>
            </a:r>
          </a:p>
        </p:txBody>
      </p:sp>
      <p:cxnSp>
        <p:nvCxnSpPr>
          <p:cNvPr id="31" name="Connector 30"/>
          <p:cNvCxnSpPr/>
          <p:nvPr/>
        </p:nvCxnSpPr>
        <p:spPr>
          <a:xfrm>
            <a:off x="2381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2381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3" name="TextBox 32"/>
          <p:cNvSpPr txBox="1"/>
          <p:nvPr/>
        </p:nvSpPr>
        <p:spPr>
          <a:xfrm>
            <a:off x="4286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34" name="TextBox 33"/>
          <p:cNvSpPr txBox="1"/>
          <p:nvPr/>
        </p:nvSpPr>
        <p:spPr>
          <a:xfrm>
            <a:off x="4286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Expanded reach across its core segment</a:t>
            </a:r>
          </a:p>
        </p:txBody>
      </p:sp>
      <p:cxnSp>
        <p:nvCxnSpPr>
          <p:cNvPr id="35" name="Connector 34"/>
          <p:cNvCxnSpPr/>
          <p:nvPr/>
        </p:nvCxnSpPr>
        <p:spPr>
          <a:xfrm>
            <a:off x="2381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2381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37" name="TextBox 36"/>
          <p:cNvSpPr txBox="1"/>
          <p:nvPr/>
        </p:nvSpPr>
        <p:spPr>
          <a:xfrm>
            <a:off x="4286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38" name="TextBox 37"/>
          <p:cNvSpPr txBox="1"/>
          <p:nvPr/>
        </p:nvSpPr>
        <p:spPr>
          <a:xfrm>
            <a:off x="4286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New launch</a:t>
            </a:r>
          </a:p>
        </p:txBody>
      </p:sp>
      <p:sp>
        <p:nvSpPr>
          <p:cNvPr id="39" name="Oval 38"/>
          <p:cNvSpPr/>
          <p:nvPr/>
        </p:nvSpPr>
        <p:spPr>
          <a:xfrm>
            <a:off x="3552825" y="1655267"/>
            <a:ext cx="285750" cy="273805"/>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35528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Rounded Rectangle 40"/>
          <p:cNvSpPr/>
          <p:nvPr/>
        </p:nvSpPr>
        <p:spPr>
          <a:xfrm>
            <a:off x="2543175" y="1992961"/>
            <a:ext cx="2305050" cy="2135683"/>
          </a:xfrm>
          <a:prstGeom prst="roundRect">
            <a:avLst>
              <a:gd name="adj" fmla="val 3719"/>
            </a:avLst>
          </a:prstGeom>
          <a:solidFill>
            <a:srgbClr val="FFFFFF"/>
          </a:solidFill>
          <a:ln w="2032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ounded Rectangle 41"/>
          <p:cNvSpPr/>
          <p:nvPr/>
        </p:nvSpPr>
        <p:spPr>
          <a:xfrm>
            <a:off x="2543175" y="1992961"/>
            <a:ext cx="2305050" cy="310313"/>
          </a:xfrm>
          <a:prstGeom prst="roundRect">
            <a:avLst>
              <a:gd name="adj" fmla="val 3719"/>
            </a:avLst>
          </a:prstGeom>
          <a:solidFill>
            <a:srgbClr val="A35313"/>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26574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26574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45" name="TextBox 44"/>
          <p:cNvSpPr txBox="1"/>
          <p:nvPr/>
        </p:nvSpPr>
        <p:spPr>
          <a:xfrm>
            <a:off x="29241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DoMatcha</a:t>
            </a:r>
          </a:p>
        </p:txBody>
      </p:sp>
      <p:sp>
        <p:nvSpPr>
          <p:cNvPr id="46" name="TextBox 45"/>
          <p:cNvSpPr txBox="1"/>
          <p:nvPr/>
        </p:nvSpPr>
        <p:spPr>
          <a:xfrm>
            <a:off x="26384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47" name="TextBox 46"/>
          <p:cNvSpPr txBox="1"/>
          <p:nvPr/>
        </p:nvSpPr>
        <p:spPr>
          <a:xfrm>
            <a:off x="28289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48" name="Connector 47"/>
          <p:cNvCxnSpPr/>
          <p:nvPr/>
        </p:nvCxnSpPr>
        <p:spPr>
          <a:xfrm>
            <a:off x="26384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nvSpPr>
        <p:spPr>
          <a:xfrm>
            <a:off x="26384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0" name="TextBox 49"/>
          <p:cNvSpPr txBox="1"/>
          <p:nvPr/>
        </p:nvSpPr>
        <p:spPr>
          <a:xfrm>
            <a:off x="28289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51" name="TextBox 50"/>
          <p:cNvSpPr txBox="1"/>
          <p:nvPr/>
        </p:nvSpPr>
        <p:spPr>
          <a:xfrm>
            <a:off x="2828925" y="2805250"/>
            <a:ext cx="1924050" cy="164283"/>
          </a:xfrm>
          <a:prstGeom prst="rect">
            <a:avLst/>
          </a:prstGeom>
          <a:noFill/>
        </p:spPr>
        <p:txBody>
          <a:bodyPr wrap="square" lIns="28575" rIns="28575" tIns="9525" bIns="9525" anchor="ctr">
            <a:spAutoFit/>
          </a:bodyPr>
          <a:lstStyle/>
          <a:p>
            <a:pPr algn="l"/>
            <a:r>
              <a:rPr sz="1100" b="1">
                <a:solidFill>
                  <a:srgbClr val="A35313"/>
                </a:solidFill>
                <a:latin typeface="Calibri"/>
              </a:rPr>
              <a:t>Portfolio expander</a:t>
            </a:r>
          </a:p>
        </p:txBody>
      </p:sp>
      <p:cxnSp>
        <p:nvCxnSpPr>
          <p:cNvPr id="52" name="Connector 51"/>
          <p:cNvCxnSpPr/>
          <p:nvPr/>
        </p:nvCxnSpPr>
        <p:spPr>
          <a:xfrm>
            <a:off x="26384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3" name="TextBox 52"/>
          <p:cNvSpPr txBox="1"/>
          <p:nvPr/>
        </p:nvSpPr>
        <p:spPr>
          <a:xfrm>
            <a:off x="26384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4" name="TextBox 53"/>
          <p:cNvSpPr txBox="1"/>
          <p:nvPr/>
        </p:nvSpPr>
        <p:spPr>
          <a:xfrm>
            <a:off x="28289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55" name="TextBox 54"/>
          <p:cNvSpPr txBox="1"/>
          <p:nvPr/>
        </p:nvSpPr>
        <p:spPr>
          <a:xfrm>
            <a:off x="28289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Drove new customer adoption</a:t>
            </a:r>
          </a:p>
        </p:txBody>
      </p:sp>
      <p:cxnSp>
        <p:nvCxnSpPr>
          <p:cNvPr id="56" name="Connector 55"/>
          <p:cNvCxnSpPr/>
          <p:nvPr/>
        </p:nvCxnSpPr>
        <p:spPr>
          <a:xfrm>
            <a:off x="26384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57" name="TextBox 56"/>
          <p:cNvSpPr txBox="1"/>
          <p:nvPr/>
        </p:nvSpPr>
        <p:spPr>
          <a:xfrm>
            <a:off x="26384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58" name="TextBox 57"/>
          <p:cNvSpPr txBox="1"/>
          <p:nvPr/>
        </p:nvSpPr>
        <p:spPr>
          <a:xfrm>
            <a:off x="28289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59" name="TextBox 58"/>
          <p:cNvSpPr txBox="1"/>
          <p:nvPr/>
        </p:nvSpPr>
        <p:spPr>
          <a:xfrm>
            <a:off x="28289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expansion</a:t>
            </a:r>
          </a:p>
        </p:txBody>
      </p:sp>
      <p:sp>
        <p:nvSpPr>
          <p:cNvPr id="60" name="Oval 59"/>
          <p:cNvSpPr/>
          <p:nvPr/>
        </p:nvSpPr>
        <p:spPr>
          <a:xfrm>
            <a:off x="5953125" y="1655267"/>
            <a:ext cx="285750" cy="273805"/>
          </a:xfrm>
          <a:prstGeom prst="ellipse">
            <a:avLst/>
          </a:prstGeom>
          <a:solidFill>
            <a:srgbClr val="69B1E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59531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62" name="Rounded Rectangle 61"/>
          <p:cNvSpPr/>
          <p:nvPr/>
        </p:nvSpPr>
        <p:spPr>
          <a:xfrm>
            <a:off x="4943475" y="1992961"/>
            <a:ext cx="2305050" cy="2135683"/>
          </a:xfrm>
          <a:prstGeom prst="roundRect">
            <a:avLst>
              <a:gd name="adj" fmla="val 3719"/>
            </a:avLst>
          </a:prstGeom>
          <a:solidFill>
            <a:srgbClr val="FFFFFF"/>
          </a:solidFill>
          <a:ln w="2032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ounded Rectangle 62"/>
          <p:cNvSpPr/>
          <p:nvPr/>
        </p:nvSpPr>
        <p:spPr>
          <a:xfrm>
            <a:off x="4943475" y="1992961"/>
            <a:ext cx="2305050" cy="310313"/>
          </a:xfrm>
          <a:prstGeom prst="roundRect">
            <a:avLst>
              <a:gd name="adj" fmla="val 3719"/>
            </a:avLst>
          </a:prstGeom>
          <a:solidFill>
            <a:srgbClr val="69B1E0"/>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50577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50577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66" name="TextBox 65"/>
          <p:cNvSpPr txBox="1"/>
          <p:nvPr/>
        </p:nvSpPr>
        <p:spPr>
          <a:xfrm>
            <a:off x="53244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Encha</a:t>
            </a:r>
          </a:p>
        </p:txBody>
      </p:sp>
      <p:sp>
        <p:nvSpPr>
          <p:cNvPr id="67" name="TextBox 66"/>
          <p:cNvSpPr txBox="1"/>
          <p:nvPr/>
        </p:nvSpPr>
        <p:spPr>
          <a:xfrm>
            <a:off x="50387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68" name="TextBox 67"/>
          <p:cNvSpPr txBox="1"/>
          <p:nvPr/>
        </p:nvSpPr>
        <p:spPr>
          <a:xfrm>
            <a:off x="52292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69" name="Connector 68"/>
          <p:cNvCxnSpPr/>
          <p:nvPr/>
        </p:nvCxnSpPr>
        <p:spPr>
          <a:xfrm>
            <a:off x="50387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0" name="TextBox 69"/>
          <p:cNvSpPr txBox="1"/>
          <p:nvPr/>
        </p:nvSpPr>
        <p:spPr>
          <a:xfrm>
            <a:off x="50387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1" name="TextBox 70"/>
          <p:cNvSpPr txBox="1"/>
          <p:nvPr/>
        </p:nvSpPr>
        <p:spPr>
          <a:xfrm>
            <a:off x="52292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72" name="TextBox 71"/>
          <p:cNvSpPr txBox="1"/>
          <p:nvPr/>
        </p:nvSpPr>
        <p:spPr>
          <a:xfrm>
            <a:off x="5229225" y="2805250"/>
            <a:ext cx="1924050" cy="164283"/>
          </a:xfrm>
          <a:prstGeom prst="rect">
            <a:avLst/>
          </a:prstGeom>
          <a:noFill/>
        </p:spPr>
        <p:txBody>
          <a:bodyPr wrap="square" lIns="28575" rIns="28575" tIns="9525" bIns="9525" anchor="ctr">
            <a:spAutoFit/>
          </a:bodyPr>
          <a:lstStyle/>
          <a:p>
            <a:pPr algn="l"/>
            <a:r>
              <a:rPr sz="1100" b="1">
                <a:solidFill>
                  <a:srgbClr val="69B1E0"/>
                </a:solidFill>
                <a:latin typeface="Calibri"/>
              </a:rPr>
              <a:t>Access builder</a:t>
            </a:r>
          </a:p>
        </p:txBody>
      </p:sp>
      <p:cxnSp>
        <p:nvCxnSpPr>
          <p:cNvPr id="73" name="Connector 72"/>
          <p:cNvCxnSpPr/>
          <p:nvPr/>
        </p:nvCxnSpPr>
        <p:spPr>
          <a:xfrm>
            <a:off x="50387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4" name="TextBox 73"/>
          <p:cNvSpPr txBox="1"/>
          <p:nvPr/>
        </p:nvSpPr>
        <p:spPr>
          <a:xfrm>
            <a:off x="50387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5" name="TextBox 74"/>
          <p:cNvSpPr txBox="1"/>
          <p:nvPr/>
        </p:nvSpPr>
        <p:spPr>
          <a:xfrm>
            <a:off x="52292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76" name="TextBox 75"/>
          <p:cNvSpPr txBox="1"/>
          <p:nvPr/>
        </p:nvSpPr>
        <p:spPr>
          <a:xfrm>
            <a:off x="52292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Won through wider channel availability</a:t>
            </a:r>
          </a:p>
        </p:txBody>
      </p:sp>
      <p:cxnSp>
        <p:nvCxnSpPr>
          <p:cNvPr id="77" name="Connector 76"/>
          <p:cNvCxnSpPr/>
          <p:nvPr/>
        </p:nvCxnSpPr>
        <p:spPr>
          <a:xfrm>
            <a:off x="50387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78" name="TextBox 77"/>
          <p:cNvSpPr txBox="1"/>
          <p:nvPr/>
        </p:nvSpPr>
        <p:spPr>
          <a:xfrm>
            <a:off x="50387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79" name="TextBox 78"/>
          <p:cNvSpPr txBox="1"/>
          <p:nvPr/>
        </p:nvSpPr>
        <p:spPr>
          <a:xfrm>
            <a:off x="52292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80" name="TextBox 79"/>
          <p:cNvSpPr txBox="1"/>
          <p:nvPr/>
        </p:nvSpPr>
        <p:spPr>
          <a:xfrm>
            <a:off x="52292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Pricing strategy</a:t>
            </a:r>
          </a:p>
        </p:txBody>
      </p:sp>
      <p:sp>
        <p:nvSpPr>
          <p:cNvPr id="81" name="Oval 80"/>
          <p:cNvSpPr/>
          <p:nvPr/>
        </p:nvSpPr>
        <p:spPr>
          <a:xfrm>
            <a:off x="8353425" y="1655267"/>
            <a:ext cx="285750" cy="273805"/>
          </a:xfrm>
          <a:prstGeom prst="ellipse">
            <a:avLst/>
          </a:prstGeom>
          <a:solidFill>
            <a:srgbClr val="6F3CC2"/>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83534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83" name="Rounded Rectangle 82"/>
          <p:cNvSpPr/>
          <p:nvPr/>
        </p:nvSpPr>
        <p:spPr>
          <a:xfrm>
            <a:off x="7343775" y="1992961"/>
            <a:ext cx="2305050" cy="2135683"/>
          </a:xfrm>
          <a:prstGeom prst="roundRect">
            <a:avLst>
              <a:gd name="adj" fmla="val 3719"/>
            </a:avLst>
          </a:prstGeom>
          <a:solidFill>
            <a:srgbClr val="FFFFFF"/>
          </a:solidFill>
          <a:ln w="2032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ounded Rectangle 83"/>
          <p:cNvSpPr/>
          <p:nvPr/>
        </p:nvSpPr>
        <p:spPr>
          <a:xfrm>
            <a:off x="7343775" y="1992961"/>
            <a:ext cx="2305050" cy="310313"/>
          </a:xfrm>
          <a:prstGeom prst="roundRect">
            <a:avLst>
              <a:gd name="adj" fmla="val 3719"/>
            </a:avLst>
          </a:prstGeom>
          <a:solidFill>
            <a:srgbClr val="6F3CC2"/>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74580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74580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87" name="TextBox 86"/>
          <p:cNvSpPr txBox="1"/>
          <p:nvPr/>
        </p:nvSpPr>
        <p:spPr>
          <a:xfrm>
            <a:off x="77247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Rishi Tea and Botanicals</a:t>
            </a:r>
          </a:p>
        </p:txBody>
      </p:sp>
      <p:sp>
        <p:nvSpPr>
          <p:cNvPr id="88" name="TextBox 87"/>
          <p:cNvSpPr txBox="1"/>
          <p:nvPr/>
        </p:nvSpPr>
        <p:spPr>
          <a:xfrm>
            <a:off x="74390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89" name="TextBox 88"/>
          <p:cNvSpPr txBox="1"/>
          <p:nvPr/>
        </p:nvSpPr>
        <p:spPr>
          <a:xfrm>
            <a:off x="76295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90" name="Connector 89"/>
          <p:cNvCxnSpPr/>
          <p:nvPr/>
        </p:nvCxnSpPr>
        <p:spPr>
          <a:xfrm>
            <a:off x="74390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1" name="TextBox 90"/>
          <p:cNvSpPr txBox="1"/>
          <p:nvPr/>
        </p:nvSpPr>
        <p:spPr>
          <a:xfrm>
            <a:off x="74390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2" name="TextBox 91"/>
          <p:cNvSpPr txBox="1"/>
          <p:nvPr/>
        </p:nvSpPr>
        <p:spPr>
          <a:xfrm>
            <a:off x="76295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93" name="TextBox 92"/>
          <p:cNvSpPr txBox="1"/>
          <p:nvPr/>
        </p:nvSpPr>
        <p:spPr>
          <a:xfrm>
            <a:off x="7629525" y="2805250"/>
            <a:ext cx="1924050" cy="164283"/>
          </a:xfrm>
          <a:prstGeom prst="rect">
            <a:avLst/>
          </a:prstGeom>
          <a:noFill/>
        </p:spPr>
        <p:txBody>
          <a:bodyPr wrap="square" lIns="28575" rIns="28575" tIns="9525" bIns="9525" anchor="ctr">
            <a:spAutoFit/>
          </a:bodyPr>
          <a:lstStyle/>
          <a:p>
            <a:pPr algn="l"/>
            <a:r>
              <a:rPr sz="1100" b="1">
                <a:solidFill>
                  <a:srgbClr val="6F3CC2"/>
                </a:solidFill>
                <a:latin typeface="Calibri"/>
              </a:rPr>
              <a:t>Premiumiser</a:t>
            </a:r>
          </a:p>
        </p:txBody>
      </p:sp>
      <p:cxnSp>
        <p:nvCxnSpPr>
          <p:cNvPr id="94" name="Connector 93"/>
          <p:cNvCxnSpPr/>
          <p:nvPr/>
        </p:nvCxnSpPr>
        <p:spPr>
          <a:xfrm>
            <a:off x="74390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5" name="TextBox 94"/>
          <p:cNvSpPr txBox="1"/>
          <p:nvPr/>
        </p:nvSpPr>
        <p:spPr>
          <a:xfrm>
            <a:off x="74390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96" name="TextBox 95"/>
          <p:cNvSpPr txBox="1"/>
          <p:nvPr/>
        </p:nvSpPr>
        <p:spPr>
          <a:xfrm>
            <a:off x="76295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97" name="TextBox 96"/>
          <p:cNvSpPr txBox="1"/>
          <p:nvPr/>
        </p:nvSpPr>
        <p:spPr>
          <a:xfrm>
            <a:off x="76295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Supported premium SKU growth</a:t>
            </a:r>
          </a:p>
        </p:txBody>
      </p:sp>
      <p:cxnSp>
        <p:nvCxnSpPr>
          <p:cNvPr id="98" name="Connector 97"/>
          <p:cNvCxnSpPr/>
          <p:nvPr/>
        </p:nvCxnSpPr>
        <p:spPr>
          <a:xfrm>
            <a:off x="74390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74390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00" name="TextBox 99"/>
          <p:cNvSpPr txBox="1"/>
          <p:nvPr/>
        </p:nvSpPr>
        <p:spPr>
          <a:xfrm>
            <a:off x="76295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01" name="TextBox 100"/>
          <p:cNvSpPr txBox="1"/>
          <p:nvPr/>
        </p:nvSpPr>
        <p:spPr>
          <a:xfrm>
            <a:off x="76295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Portfolio/brand investment</a:t>
            </a:r>
          </a:p>
        </p:txBody>
      </p:sp>
      <p:sp>
        <p:nvSpPr>
          <p:cNvPr id="102" name="Oval 101"/>
          <p:cNvSpPr/>
          <p:nvPr/>
        </p:nvSpPr>
        <p:spPr>
          <a:xfrm>
            <a:off x="10753725" y="1655267"/>
            <a:ext cx="285750" cy="273805"/>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10753725" y="1710028"/>
            <a:ext cx="285750" cy="164283"/>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104" name="Rounded Rectangle 103"/>
          <p:cNvSpPr/>
          <p:nvPr/>
        </p:nvSpPr>
        <p:spPr>
          <a:xfrm>
            <a:off x="9744075" y="1992961"/>
            <a:ext cx="2305050" cy="2135683"/>
          </a:xfrm>
          <a:prstGeom prst="roundRect">
            <a:avLst>
              <a:gd name="adj" fmla="val 3719"/>
            </a:avLst>
          </a:prstGeom>
          <a:solidFill>
            <a:srgbClr val="FFFFFF"/>
          </a:solidFill>
          <a:ln w="2032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Rounded Rectangle 104"/>
          <p:cNvSpPr/>
          <p:nvPr/>
        </p:nvSpPr>
        <p:spPr>
          <a:xfrm>
            <a:off x="9744075" y="1992961"/>
            <a:ext cx="2305050" cy="310313"/>
          </a:xfrm>
          <a:prstGeom prst="roundRect">
            <a:avLst>
              <a:gd name="adj" fmla="val 3719"/>
            </a:avLst>
          </a:prstGeom>
          <a:solidFill>
            <a:srgbClr val="A86F00"/>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9858375" y="2038595"/>
            <a:ext cx="228600" cy="219044"/>
          </a:xfrm>
          <a:prstGeom prst="ellipse">
            <a:avLst/>
          </a:prstGeom>
          <a:solidFill>
            <a:srgbClr val="FFFFFF"/>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9858375" y="2065976"/>
            <a:ext cx="228600" cy="164283"/>
          </a:xfrm>
          <a:prstGeom prst="rect">
            <a:avLst/>
          </a:prstGeom>
          <a:noFill/>
        </p:spPr>
        <p:txBody>
          <a:bodyPr wrap="none" lIns="0" rIns="0" tIns="0" bIns="0" anchor="ctr">
            <a:spAutoFit/>
          </a:bodyPr>
          <a:lstStyle/>
          <a:p>
            <a:pPr algn="ctr"/>
            <a:r>
              <a:rPr sz="1100" b="0">
                <a:solidFill>
                  <a:srgbClr val="2E2E2E"/>
                </a:solidFill>
                <a:latin typeface="Calibri"/>
              </a:rPr>
              <a:t>⚡</a:t>
            </a:r>
          </a:p>
        </p:txBody>
      </p:sp>
      <p:sp>
        <p:nvSpPr>
          <p:cNvPr id="108" name="TextBox 107"/>
          <p:cNvSpPr txBox="1"/>
          <p:nvPr/>
        </p:nvSpPr>
        <p:spPr>
          <a:xfrm>
            <a:off x="10125075" y="2065976"/>
            <a:ext cx="1828800" cy="173410"/>
          </a:xfrm>
          <a:prstGeom prst="rect">
            <a:avLst/>
          </a:prstGeom>
          <a:noFill/>
        </p:spPr>
        <p:txBody>
          <a:bodyPr wrap="square" lIns="28575" rIns="28575" tIns="9525" bIns="9525" anchor="ctr">
            <a:spAutoFit/>
          </a:bodyPr>
          <a:lstStyle/>
          <a:p>
            <a:pPr algn="ctr"/>
            <a:r>
              <a:rPr sz="1100" b="1">
                <a:solidFill>
                  <a:srgbClr val="FFFFFF"/>
                </a:solidFill>
                <a:latin typeface="Calibri"/>
              </a:rPr>
              <a:t>Tenzo</a:t>
            </a:r>
          </a:p>
        </p:txBody>
      </p:sp>
      <p:sp>
        <p:nvSpPr>
          <p:cNvPr id="109" name="TextBox 108"/>
          <p:cNvSpPr txBox="1"/>
          <p:nvPr/>
        </p:nvSpPr>
        <p:spPr>
          <a:xfrm>
            <a:off x="9839325" y="2376288"/>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0" name="TextBox 109"/>
          <p:cNvSpPr txBox="1"/>
          <p:nvPr/>
        </p:nvSpPr>
        <p:spPr>
          <a:xfrm>
            <a:off x="10029825" y="2376288"/>
            <a:ext cx="1924050" cy="164283"/>
          </a:xfrm>
          <a:prstGeom prst="rect">
            <a:avLst/>
          </a:prstGeom>
          <a:noFill/>
        </p:spPr>
        <p:txBody>
          <a:bodyPr wrap="square" lIns="28575" rIns="28575" tIns="9525" bIns="9525" anchor="ctr">
            <a:spAutoFit/>
          </a:bodyPr>
          <a:lstStyle/>
          <a:p>
            <a:pPr algn="l"/>
            <a:r>
              <a:rPr sz="1100" b="1">
                <a:solidFill>
                  <a:srgbClr val="2E2E2E"/>
                </a:solidFill>
                <a:latin typeface="Calibri"/>
              </a:rPr>
              <a:t/>
            </a:r>
          </a:p>
        </p:txBody>
      </p:sp>
      <p:cxnSp>
        <p:nvCxnSpPr>
          <p:cNvPr id="111" name="Connector 110"/>
          <p:cNvCxnSpPr/>
          <p:nvPr/>
        </p:nvCxnSpPr>
        <p:spPr>
          <a:xfrm>
            <a:off x="9839325" y="2595333"/>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2" name="TextBox 111"/>
          <p:cNvSpPr txBox="1"/>
          <p:nvPr/>
        </p:nvSpPr>
        <p:spPr>
          <a:xfrm>
            <a:off x="9839325" y="272310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3" name="TextBox 112"/>
          <p:cNvSpPr txBox="1"/>
          <p:nvPr/>
        </p:nvSpPr>
        <p:spPr>
          <a:xfrm>
            <a:off x="10029825" y="2640967"/>
            <a:ext cx="1924050" cy="164283"/>
          </a:xfrm>
          <a:prstGeom prst="rect">
            <a:avLst/>
          </a:prstGeom>
          <a:noFill/>
        </p:spPr>
        <p:txBody>
          <a:bodyPr wrap="square" lIns="28575" rIns="28575" tIns="9525" bIns="9525" anchor="ctr">
            <a:spAutoFit/>
          </a:bodyPr>
          <a:lstStyle/>
          <a:p>
            <a:pPr algn="l"/>
            <a:r>
              <a:rPr sz="1100" b="0">
                <a:solidFill>
                  <a:srgbClr val="6C7A89"/>
                </a:solidFill>
                <a:latin typeface="Calibri"/>
              </a:rPr>
              <a:t>Growth role:</a:t>
            </a:r>
          </a:p>
        </p:txBody>
      </p:sp>
      <p:sp>
        <p:nvSpPr>
          <p:cNvPr id="114" name="TextBox 113"/>
          <p:cNvSpPr txBox="1"/>
          <p:nvPr/>
        </p:nvSpPr>
        <p:spPr>
          <a:xfrm>
            <a:off x="10029825" y="2805250"/>
            <a:ext cx="1924050" cy="164283"/>
          </a:xfrm>
          <a:prstGeom prst="rect">
            <a:avLst/>
          </a:prstGeom>
          <a:noFill/>
        </p:spPr>
        <p:txBody>
          <a:bodyPr wrap="square" lIns="28575" rIns="28575" tIns="9525" bIns="9525" anchor="ctr">
            <a:spAutoFit/>
          </a:bodyPr>
          <a:lstStyle/>
          <a:p>
            <a:pPr algn="l"/>
            <a:r>
              <a:rPr sz="1100" b="1">
                <a:solidFill>
                  <a:srgbClr val="A86F00"/>
                </a:solidFill>
                <a:latin typeface="Calibri"/>
              </a:rPr>
              <a:t>Disruptor</a:t>
            </a:r>
          </a:p>
        </p:txBody>
      </p:sp>
      <p:cxnSp>
        <p:nvCxnSpPr>
          <p:cNvPr id="115" name="Connector 114"/>
          <p:cNvCxnSpPr/>
          <p:nvPr/>
        </p:nvCxnSpPr>
        <p:spPr>
          <a:xfrm>
            <a:off x="9839325" y="3015168"/>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16" name="TextBox 115"/>
          <p:cNvSpPr txBox="1"/>
          <p:nvPr/>
        </p:nvSpPr>
        <p:spPr>
          <a:xfrm>
            <a:off x="9839325" y="3124690"/>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17" name="TextBox 116"/>
          <p:cNvSpPr txBox="1"/>
          <p:nvPr/>
        </p:nvSpPr>
        <p:spPr>
          <a:xfrm>
            <a:off x="10029825" y="306080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Why it shaped growth:</a:t>
            </a:r>
          </a:p>
        </p:txBody>
      </p:sp>
      <p:sp>
        <p:nvSpPr>
          <p:cNvPr id="118" name="TextBox 117"/>
          <p:cNvSpPr txBox="1"/>
          <p:nvPr/>
        </p:nvSpPr>
        <p:spPr>
          <a:xfrm>
            <a:off x="10029825" y="3225085"/>
            <a:ext cx="1924050" cy="383328"/>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Strengthened end-user and specifier pull</a:t>
            </a:r>
          </a:p>
        </p:txBody>
      </p:sp>
      <p:cxnSp>
        <p:nvCxnSpPr>
          <p:cNvPr id="119" name="Connector 118"/>
          <p:cNvCxnSpPr/>
          <p:nvPr/>
        </p:nvCxnSpPr>
        <p:spPr>
          <a:xfrm>
            <a:off x="9839325" y="3654047"/>
            <a:ext cx="2114550" cy="0"/>
          </a:xfrm>
          <a:prstGeom prst="line">
            <a:avLst/>
          </a:prstGeom>
          <a:ln w="12700">
            <a:solidFill>
              <a:srgbClr val="E4EAEF"/>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9839325" y="3763569"/>
            <a:ext cx="171450" cy="164283"/>
          </a:xfrm>
          <a:prstGeom prst="rect">
            <a:avLst/>
          </a:prstGeom>
          <a:noFill/>
        </p:spPr>
        <p:txBody>
          <a:bodyPr wrap="none" lIns="0" rIns="0" tIns="0" bIns="0" anchor="ctr">
            <a:spAutoFit/>
          </a:bodyPr>
          <a:lstStyle/>
          <a:p>
            <a:pPr algn="l"/>
            <a:r>
              <a:rPr sz="1100" b="0">
                <a:solidFill>
                  <a:srgbClr val="2E2E2E"/>
                </a:solidFill>
                <a:latin typeface="Calibri"/>
              </a:rPr>
              <a:t>🚀</a:t>
            </a:r>
          </a:p>
        </p:txBody>
      </p:sp>
      <p:sp>
        <p:nvSpPr>
          <p:cNvPr id="121" name="TextBox 120"/>
          <p:cNvSpPr txBox="1"/>
          <p:nvPr/>
        </p:nvSpPr>
        <p:spPr>
          <a:xfrm>
            <a:off x="10029825" y="3699682"/>
            <a:ext cx="1924050" cy="164283"/>
          </a:xfrm>
          <a:prstGeom prst="rect">
            <a:avLst/>
          </a:prstGeom>
          <a:noFill/>
        </p:spPr>
        <p:txBody>
          <a:bodyPr wrap="square" lIns="28575" rIns="28575" tIns="9525" bIns="9525" anchor="ctr">
            <a:spAutoFit/>
          </a:bodyPr>
          <a:lstStyle/>
          <a:p>
            <a:pPr algn="l"/>
            <a:r>
              <a:rPr sz="1100" b="1">
                <a:solidFill>
                  <a:srgbClr val="0B2E4A"/>
                </a:solidFill>
                <a:latin typeface="Calibri"/>
              </a:rPr>
              <a:t>Signature move:</a:t>
            </a:r>
          </a:p>
        </p:txBody>
      </p:sp>
      <p:sp>
        <p:nvSpPr>
          <p:cNvPr id="122" name="TextBox 121"/>
          <p:cNvSpPr txBox="1"/>
          <p:nvPr/>
        </p:nvSpPr>
        <p:spPr>
          <a:xfrm>
            <a:off x="10029825" y="3863965"/>
            <a:ext cx="1924050" cy="219044"/>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Partnership / acquisition</a:t>
            </a:r>
          </a:p>
        </p:txBody>
      </p:sp>
      <p:sp>
        <p:nvSpPr>
          <p:cNvPr id="123" name="Rounded Rectangle 122"/>
          <p:cNvSpPr/>
          <p:nvPr/>
        </p:nvSpPr>
        <p:spPr>
          <a:xfrm>
            <a:off x="142875" y="4238166"/>
            <a:ext cx="7886700" cy="2391234"/>
          </a:xfrm>
          <a:prstGeom prst="roundRect">
            <a:avLst>
              <a:gd name="adj" fmla="val 1086"/>
            </a:avLst>
          </a:prstGeom>
          <a:solidFill>
            <a:srgbClr val="F7FAFC"/>
          </a:solidFill>
          <a:ln w="12700">
            <a:solidFill>
              <a:srgbClr val="DCE6ED"/>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142875" y="4311180"/>
            <a:ext cx="7886700" cy="182537"/>
          </a:xfrm>
          <a:prstGeom prst="rect">
            <a:avLst/>
          </a:prstGeom>
          <a:noFill/>
        </p:spPr>
        <p:txBody>
          <a:bodyPr wrap="square" lIns="28575" rIns="28575" tIns="9525" bIns="9525" anchor="ctr">
            <a:spAutoFit/>
          </a:bodyPr>
          <a:lstStyle/>
          <a:p>
            <a:pPr algn="ctr"/>
            <a:r>
              <a:rPr sz="1100" b="1">
                <a:solidFill>
                  <a:srgbClr val="0B2E4A"/>
                </a:solidFill>
                <a:latin typeface="Calibri"/>
              </a:rPr>
              <a:t>HOW TO DECIDE WHO SHAPED GROWTH</a:t>
            </a:r>
          </a:p>
        </p:txBody>
      </p:sp>
      <p:sp>
        <p:nvSpPr>
          <p:cNvPr id="125" name="Oval 124"/>
          <p:cNvSpPr/>
          <p:nvPr/>
        </p:nvSpPr>
        <p:spPr>
          <a:xfrm>
            <a:off x="815340" y="4539352"/>
            <a:ext cx="400050" cy="383328"/>
          </a:xfrm>
          <a:prstGeom prst="ellipse">
            <a:avLst/>
          </a:prstGeom>
          <a:solidFill>
            <a:srgbClr val="FFFFFF"/>
          </a:solidFill>
          <a:ln w="1270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81534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27" name="TextBox 126"/>
          <p:cNvSpPr txBox="1"/>
          <p:nvPr/>
        </p:nvSpPr>
        <p:spPr>
          <a:xfrm>
            <a:off x="27622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0E72AE"/>
                </a:solidFill>
                <a:latin typeface="Calibri"/>
              </a:rPr>
              <a:t>1. SHARE GAIN</a:t>
            </a:r>
          </a:p>
        </p:txBody>
      </p:sp>
      <p:sp>
        <p:nvSpPr>
          <p:cNvPr id="128" name="TextBox 127"/>
          <p:cNvSpPr txBox="1"/>
          <p:nvPr/>
        </p:nvSpPr>
        <p:spPr>
          <a:xfrm>
            <a:off x="27622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Company gained value or volume share</a:t>
            </a:r>
          </a:p>
        </p:txBody>
      </p:sp>
      <p:sp>
        <p:nvSpPr>
          <p:cNvPr id="129" name="Rounded Rectangle 128"/>
          <p:cNvSpPr/>
          <p:nvPr/>
        </p:nvSpPr>
        <p:spPr>
          <a:xfrm>
            <a:off x="520065" y="6027028"/>
            <a:ext cx="990600" cy="237298"/>
          </a:xfrm>
          <a:prstGeom prst="roundRect">
            <a:avLst>
              <a:gd name="adj" fmla="val 11538"/>
            </a:avLst>
          </a:prstGeom>
          <a:solidFill>
            <a:srgbClr val="FFFFFF"/>
          </a:solidFill>
          <a:ln w="15240">
            <a:solidFill>
              <a:srgbClr val="0E72A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520065" y="6036155"/>
            <a:ext cx="990600" cy="219044"/>
          </a:xfrm>
          <a:prstGeom prst="rect">
            <a:avLst/>
          </a:prstGeom>
          <a:noFill/>
        </p:spPr>
        <p:txBody>
          <a:bodyPr wrap="square" lIns="28575" rIns="28575" tIns="9525" bIns="9525" anchor="ctr">
            <a:spAutoFit/>
          </a:bodyPr>
          <a:lstStyle/>
          <a:p>
            <a:pPr algn="ctr"/>
            <a:r>
              <a:rPr sz="1100" b="1">
                <a:solidFill>
                  <a:srgbClr val="0E72AE"/>
                </a:solidFill>
                <a:latin typeface="Calibri"/>
              </a:rPr>
              <a:t> </a:t>
            </a:r>
          </a:p>
        </p:txBody>
      </p:sp>
      <p:sp>
        <p:nvSpPr>
          <p:cNvPr id="131" name="TextBox 130"/>
          <p:cNvSpPr txBox="1"/>
          <p:nvPr/>
        </p:nvSpPr>
        <p:spPr>
          <a:xfrm>
            <a:off x="175450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2" name="Oval 131"/>
          <p:cNvSpPr/>
          <p:nvPr/>
        </p:nvSpPr>
        <p:spPr>
          <a:xfrm>
            <a:off x="2350770" y="4539352"/>
            <a:ext cx="400050" cy="383328"/>
          </a:xfrm>
          <a:prstGeom prst="ellipse">
            <a:avLst/>
          </a:prstGeom>
          <a:solidFill>
            <a:srgbClr val="FFFFFF"/>
          </a:solidFill>
          <a:ln w="1270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235077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34" name="TextBox 133"/>
          <p:cNvSpPr txBox="1"/>
          <p:nvPr/>
        </p:nvSpPr>
        <p:spPr>
          <a:xfrm>
            <a:off x="181165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35313"/>
                </a:solidFill>
                <a:latin typeface="Calibri"/>
              </a:rPr>
              <a:t>2. DISTRIBUTION EXPANSION</a:t>
            </a:r>
          </a:p>
        </p:txBody>
      </p:sp>
      <p:sp>
        <p:nvSpPr>
          <p:cNvPr id="135" name="TextBox 134"/>
          <p:cNvSpPr txBox="1"/>
          <p:nvPr/>
        </p:nvSpPr>
        <p:spPr>
          <a:xfrm>
            <a:off x="181165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Expanded channel, retail or e-commerce reach</a:t>
            </a:r>
          </a:p>
        </p:txBody>
      </p:sp>
      <p:sp>
        <p:nvSpPr>
          <p:cNvPr id="136" name="Rounded Rectangle 135"/>
          <p:cNvSpPr/>
          <p:nvPr/>
        </p:nvSpPr>
        <p:spPr>
          <a:xfrm>
            <a:off x="2055495" y="6027028"/>
            <a:ext cx="990600" cy="237298"/>
          </a:xfrm>
          <a:prstGeom prst="roundRect">
            <a:avLst>
              <a:gd name="adj" fmla="val 11538"/>
            </a:avLst>
          </a:prstGeom>
          <a:solidFill>
            <a:srgbClr val="FFFFFF"/>
          </a:solidFill>
          <a:ln w="15240">
            <a:solidFill>
              <a:srgbClr val="A3531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2055495" y="6036155"/>
            <a:ext cx="990600" cy="219044"/>
          </a:xfrm>
          <a:prstGeom prst="rect">
            <a:avLst/>
          </a:prstGeom>
          <a:noFill/>
        </p:spPr>
        <p:txBody>
          <a:bodyPr wrap="square" lIns="28575" rIns="28575" tIns="9525" bIns="9525" anchor="ctr">
            <a:spAutoFit/>
          </a:bodyPr>
          <a:lstStyle/>
          <a:p>
            <a:pPr algn="ctr"/>
            <a:r>
              <a:rPr sz="1100" b="1">
                <a:solidFill>
                  <a:srgbClr val="A35313"/>
                </a:solidFill>
                <a:latin typeface="Calibri"/>
              </a:rPr>
              <a:t> </a:t>
            </a:r>
          </a:p>
        </p:txBody>
      </p:sp>
      <p:sp>
        <p:nvSpPr>
          <p:cNvPr id="138" name="TextBox 137"/>
          <p:cNvSpPr txBox="1"/>
          <p:nvPr/>
        </p:nvSpPr>
        <p:spPr>
          <a:xfrm>
            <a:off x="328993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39" name="Oval 138"/>
          <p:cNvSpPr/>
          <p:nvPr/>
        </p:nvSpPr>
        <p:spPr>
          <a:xfrm>
            <a:off x="3886200" y="4539352"/>
            <a:ext cx="400050" cy="383328"/>
          </a:xfrm>
          <a:prstGeom prst="ellipse">
            <a:avLst/>
          </a:prstGeom>
          <a:solidFill>
            <a:srgbClr val="FFFFFF"/>
          </a:solidFill>
          <a:ln w="1270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388620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1" name="TextBox 140"/>
          <p:cNvSpPr txBox="1"/>
          <p:nvPr/>
        </p:nvSpPr>
        <p:spPr>
          <a:xfrm>
            <a:off x="334708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9B1E0"/>
                </a:solidFill>
                <a:latin typeface="Calibri"/>
              </a:rPr>
              <a:t>3. INNOVATION / LAUNCHES</a:t>
            </a:r>
          </a:p>
        </p:txBody>
      </p:sp>
      <p:sp>
        <p:nvSpPr>
          <p:cNvPr id="142" name="TextBox 141"/>
          <p:cNvSpPr txBox="1"/>
          <p:nvPr/>
        </p:nvSpPr>
        <p:spPr>
          <a:xfrm>
            <a:off x="334708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New SKUs, pack sizes or product improvements</a:t>
            </a:r>
          </a:p>
        </p:txBody>
      </p:sp>
      <p:sp>
        <p:nvSpPr>
          <p:cNvPr id="143" name="Rounded Rectangle 142"/>
          <p:cNvSpPr/>
          <p:nvPr/>
        </p:nvSpPr>
        <p:spPr>
          <a:xfrm>
            <a:off x="3590925" y="6027028"/>
            <a:ext cx="990600" cy="237298"/>
          </a:xfrm>
          <a:prstGeom prst="roundRect">
            <a:avLst>
              <a:gd name="adj" fmla="val 11538"/>
            </a:avLst>
          </a:prstGeom>
          <a:solidFill>
            <a:srgbClr val="FFFFFF"/>
          </a:solidFill>
          <a:ln w="15240">
            <a:solidFill>
              <a:srgbClr val="69B1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590925" y="6036155"/>
            <a:ext cx="990600" cy="219044"/>
          </a:xfrm>
          <a:prstGeom prst="rect">
            <a:avLst/>
          </a:prstGeom>
          <a:noFill/>
        </p:spPr>
        <p:txBody>
          <a:bodyPr wrap="square" lIns="28575" rIns="28575" tIns="9525" bIns="9525" anchor="ctr">
            <a:spAutoFit/>
          </a:bodyPr>
          <a:lstStyle/>
          <a:p>
            <a:pPr algn="ctr"/>
            <a:r>
              <a:rPr sz="1100" b="1">
                <a:solidFill>
                  <a:srgbClr val="69B1E0"/>
                </a:solidFill>
                <a:latin typeface="Calibri"/>
              </a:rPr>
              <a:t> </a:t>
            </a:r>
          </a:p>
        </p:txBody>
      </p:sp>
      <p:sp>
        <p:nvSpPr>
          <p:cNvPr id="145" name="TextBox 144"/>
          <p:cNvSpPr txBox="1"/>
          <p:nvPr/>
        </p:nvSpPr>
        <p:spPr>
          <a:xfrm>
            <a:off x="482536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46" name="Oval 145"/>
          <p:cNvSpPr/>
          <p:nvPr/>
        </p:nvSpPr>
        <p:spPr>
          <a:xfrm>
            <a:off x="5421630" y="4539352"/>
            <a:ext cx="400050" cy="383328"/>
          </a:xfrm>
          <a:prstGeom prst="ellipse">
            <a:avLst/>
          </a:prstGeom>
          <a:solidFill>
            <a:srgbClr val="FFFFFF"/>
          </a:solidFill>
          <a:ln w="1270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542163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48" name="TextBox 147"/>
          <p:cNvSpPr txBox="1"/>
          <p:nvPr/>
        </p:nvSpPr>
        <p:spPr>
          <a:xfrm>
            <a:off x="488251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6F3CC2"/>
                </a:solidFill>
                <a:latin typeface="Calibri"/>
              </a:rPr>
              <a:t>4. BUYER INFLUENCE</a:t>
            </a:r>
          </a:p>
        </p:txBody>
      </p:sp>
      <p:sp>
        <p:nvSpPr>
          <p:cNvPr id="149" name="TextBox 148"/>
          <p:cNvSpPr txBox="1"/>
          <p:nvPr/>
        </p:nvSpPr>
        <p:spPr>
          <a:xfrm>
            <a:off x="488251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Stronger specifier, channel or end-user pull</a:t>
            </a:r>
          </a:p>
        </p:txBody>
      </p:sp>
      <p:sp>
        <p:nvSpPr>
          <p:cNvPr id="150" name="Rounded Rectangle 149"/>
          <p:cNvSpPr/>
          <p:nvPr/>
        </p:nvSpPr>
        <p:spPr>
          <a:xfrm>
            <a:off x="5126355" y="6027028"/>
            <a:ext cx="990600" cy="237298"/>
          </a:xfrm>
          <a:prstGeom prst="roundRect">
            <a:avLst>
              <a:gd name="adj" fmla="val 11538"/>
            </a:avLst>
          </a:prstGeom>
          <a:solidFill>
            <a:srgbClr val="FFFFFF"/>
          </a:solidFill>
          <a:ln w="15240">
            <a:solidFill>
              <a:srgbClr val="6F3CC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126355" y="6036155"/>
            <a:ext cx="990600" cy="219044"/>
          </a:xfrm>
          <a:prstGeom prst="rect">
            <a:avLst/>
          </a:prstGeom>
          <a:noFill/>
        </p:spPr>
        <p:txBody>
          <a:bodyPr wrap="square" lIns="28575" rIns="28575" tIns="9525" bIns="9525" anchor="ctr">
            <a:spAutoFit/>
          </a:bodyPr>
          <a:lstStyle/>
          <a:p>
            <a:pPr algn="ctr"/>
            <a:r>
              <a:rPr sz="1100" b="1">
                <a:solidFill>
                  <a:srgbClr val="6F3CC2"/>
                </a:solidFill>
                <a:latin typeface="Calibri"/>
              </a:rPr>
              <a:t> </a:t>
            </a:r>
          </a:p>
        </p:txBody>
      </p:sp>
      <p:sp>
        <p:nvSpPr>
          <p:cNvPr id="152" name="TextBox 151"/>
          <p:cNvSpPr txBox="1"/>
          <p:nvPr/>
        </p:nvSpPr>
        <p:spPr>
          <a:xfrm>
            <a:off x="6360795" y="4648874"/>
            <a:ext cx="57150" cy="164283"/>
          </a:xfrm>
          <a:prstGeom prst="rect">
            <a:avLst/>
          </a:prstGeom>
          <a:noFill/>
        </p:spPr>
        <p:txBody>
          <a:bodyPr wrap="none" lIns="0" rIns="0" tIns="0" bIns="0" anchor="ctr">
            <a:spAutoFit/>
          </a:bodyPr>
          <a:lstStyle/>
          <a:p>
            <a:pPr algn="ctr"/>
            <a:r>
              <a:rPr sz="1100" b="1">
                <a:solidFill>
                  <a:srgbClr val="6C7A89"/>
                </a:solidFill>
                <a:latin typeface="Calibri"/>
              </a:rPr>
              <a:t>+</a:t>
            </a:r>
          </a:p>
        </p:txBody>
      </p:sp>
      <p:sp>
        <p:nvSpPr>
          <p:cNvPr id="153" name="Oval 152"/>
          <p:cNvSpPr/>
          <p:nvPr/>
        </p:nvSpPr>
        <p:spPr>
          <a:xfrm>
            <a:off x="6957060" y="4539352"/>
            <a:ext cx="400050" cy="383328"/>
          </a:xfrm>
          <a:prstGeom prst="ellipse">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6957060" y="4630620"/>
            <a:ext cx="400050" cy="200791"/>
          </a:xfrm>
          <a:prstGeom prst="rect">
            <a:avLst/>
          </a:prstGeom>
          <a:noFill/>
        </p:spPr>
        <p:txBody>
          <a:bodyPr wrap="none" lIns="0" rIns="0" tIns="0" bIns="0" anchor="ctr">
            <a:spAutoFit/>
          </a:bodyPr>
          <a:lstStyle/>
          <a:p>
            <a:pPr algn="ctr"/>
            <a:r>
              <a:rPr sz="1500" b="0">
                <a:solidFill>
                  <a:srgbClr val="2E2E2E"/>
                </a:solidFill>
                <a:latin typeface="Calibri"/>
              </a:rPr>
              <a:t>💲</a:t>
            </a:r>
          </a:p>
        </p:txBody>
      </p:sp>
      <p:sp>
        <p:nvSpPr>
          <p:cNvPr id="155" name="TextBox 154"/>
          <p:cNvSpPr txBox="1"/>
          <p:nvPr/>
        </p:nvSpPr>
        <p:spPr>
          <a:xfrm>
            <a:off x="6417945" y="4968314"/>
            <a:ext cx="1478280" cy="346820"/>
          </a:xfrm>
          <a:prstGeom prst="rect">
            <a:avLst/>
          </a:prstGeom>
          <a:noFill/>
        </p:spPr>
        <p:txBody>
          <a:bodyPr wrap="square" lIns="28575" rIns="28575" tIns="9525" bIns="9525" anchor="ctr">
            <a:spAutoFit/>
          </a:bodyPr>
          <a:lstStyle/>
          <a:p>
            <a:pPr algn="ctr">
              <a:lnSpc>
                <a:spcPct val="115000"/>
              </a:lnSpc>
            </a:pPr>
            <a:r>
              <a:rPr sz="1100" b="1">
                <a:solidFill>
                  <a:srgbClr val="A86F00"/>
                </a:solidFill>
                <a:latin typeface="Calibri"/>
              </a:rPr>
              <a:t>5. BRAND / PRICING POWER</a:t>
            </a:r>
          </a:p>
        </p:txBody>
      </p:sp>
      <p:sp>
        <p:nvSpPr>
          <p:cNvPr id="156" name="TextBox 155"/>
          <p:cNvSpPr txBox="1"/>
          <p:nvPr/>
        </p:nvSpPr>
        <p:spPr>
          <a:xfrm>
            <a:off x="6417945" y="5333387"/>
            <a:ext cx="1478280" cy="602372"/>
          </a:xfrm>
          <a:prstGeom prst="rect">
            <a:avLst/>
          </a:prstGeom>
          <a:noFill/>
        </p:spPr>
        <p:txBody>
          <a:bodyPr wrap="square" lIns="28575" rIns="28575" tIns="9525" bIns="9525" anchor="ctr">
            <a:spAutoFit/>
          </a:bodyPr>
          <a:lstStyle/>
          <a:p>
            <a:pPr algn="ctr">
              <a:lnSpc>
                <a:spcPct val="115000"/>
              </a:lnSpc>
            </a:pPr>
            <a:r>
              <a:rPr sz="1100" b="0">
                <a:solidFill>
                  <a:srgbClr val="6C7A89"/>
                </a:solidFill>
                <a:latin typeface="Calibri"/>
              </a:rPr>
              <a:t>Premiumisation, positioning or pricing execution</a:t>
            </a:r>
          </a:p>
        </p:txBody>
      </p:sp>
      <p:sp>
        <p:nvSpPr>
          <p:cNvPr id="157" name="Rounded Rectangle 156"/>
          <p:cNvSpPr/>
          <p:nvPr/>
        </p:nvSpPr>
        <p:spPr>
          <a:xfrm>
            <a:off x="6661785" y="6027028"/>
            <a:ext cx="990600" cy="237298"/>
          </a:xfrm>
          <a:prstGeom prst="roundRect">
            <a:avLst>
              <a:gd name="adj" fmla="val 11538"/>
            </a:avLst>
          </a:prstGeom>
          <a:solidFill>
            <a:srgbClr val="FFFFFF"/>
          </a:solidFill>
          <a:ln w="1524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6661785" y="6036155"/>
            <a:ext cx="990600" cy="219044"/>
          </a:xfrm>
          <a:prstGeom prst="rect">
            <a:avLst/>
          </a:prstGeom>
          <a:noFill/>
        </p:spPr>
        <p:txBody>
          <a:bodyPr wrap="square" lIns="28575" rIns="28575" tIns="9525" bIns="9525" anchor="ctr">
            <a:spAutoFit/>
          </a:bodyPr>
          <a:lstStyle/>
          <a:p>
            <a:pPr algn="ctr"/>
            <a:r>
              <a:rPr sz="1100" b="1">
                <a:solidFill>
                  <a:srgbClr val="A86F00"/>
                </a:solidFill>
                <a:latin typeface="Calibri"/>
              </a:rPr>
              <a:t> </a:t>
            </a:r>
          </a:p>
        </p:txBody>
      </p:sp>
      <p:sp>
        <p:nvSpPr>
          <p:cNvPr id="159" name="Rounded Rectangle 158"/>
          <p:cNvSpPr/>
          <p:nvPr/>
        </p:nvSpPr>
        <p:spPr>
          <a:xfrm>
            <a:off x="8191500" y="4238166"/>
            <a:ext cx="3857625" cy="2391234"/>
          </a:xfrm>
          <a:prstGeom prst="roundRect">
            <a:avLst>
              <a:gd name="adj" fmla="val 2222"/>
            </a:avLst>
          </a:prstGeom>
          <a:solidFill>
            <a:srgbClr val="F4FAF9"/>
          </a:solidFill>
          <a:ln w="12700">
            <a:solidFill>
              <a:srgbClr val="CFE3E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8191500" y="4311180"/>
            <a:ext cx="3857625" cy="182537"/>
          </a:xfrm>
          <a:prstGeom prst="rect">
            <a:avLst/>
          </a:prstGeom>
          <a:noFill/>
        </p:spPr>
        <p:txBody>
          <a:bodyPr wrap="square" lIns="28575" rIns="28575" tIns="9525" bIns="9525" anchor="ctr">
            <a:spAutoFit/>
          </a:bodyPr>
          <a:lstStyle/>
          <a:p>
            <a:pPr algn="ctr"/>
            <a:r>
              <a:rPr sz="1100" b="1">
                <a:solidFill>
                  <a:srgbClr val="1F6F63"/>
                </a:solidFill>
                <a:latin typeface="Calibri"/>
              </a:rPr>
              <a:t>BEST WAY TO USE THIS SLIDE</a:t>
            </a:r>
          </a:p>
        </p:txBody>
      </p:sp>
      <p:cxnSp>
        <p:nvCxnSpPr>
          <p:cNvPr id="161" name="Connector 160"/>
          <p:cNvCxnSpPr/>
          <p:nvPr/>
        </p:nvCxnSpPr>
        <p:spPr>
          <a:xfrm>
            <a:off x="8343900" y="4548478"/>
            <a:ext cx="3552825" cy="0"/>
          </a:xfrm>
          <a:prstGeom prst="line">
            <a:avLst/>
          </a:prstGeom>
          <a:ln w="12700">
            <a:solidFill>
              <a:srgbClr val="CFE3E0"/>
            </a:solidFill>
          </a:ln>
          <a:effectLst/>
        </p:spPr>
        <p:style>
          <a:lnRef idx="2">
            <a:schemeClr val="accent1"/>
          </a:lnRef>
          <a:fillRef idx="0">
            <a:schemeClr val="accent1"/>
          </a:fillRef>
          <a:effectRef idx="1">
            <a:schemeClr val="accent1"/>
          </a:effectRef>
          <a:fontRef idx="minor">
            <a:schemeClr val="tx1"/>
          </a:fontRef>
        </p:style>
      </p:cxnSp>
      <p:sp>
        <p:nvSpPr>
          <p:cNvPr id="162" name="Oval 161"/>
          <p:cNvSpPr/>
          <p:nvPr/>
        </p:nvSpPr>
        <p:spPr>
          <a:xfrm>
            <a:off x="8372475" y="4721889"/>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TextBox 162"/>
          <p:cNvSpPr txBox="1"/>
          <p:nvPr/>
        </p:nvSpPr>
        <p:spPr>
          <a:xfrm>
            <a:off x="8372475" y="4767523"/>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4" name="TextBox 163"/>
          <p:cNvSpPr txBox="1"/>
          <p:nvPr/>
        </p:nvSpPr>
        <p:spPr>
          <a:xfrm>
            <a:off x="8743950" y="4694508"/>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Rank companies by impact on category growth</a:t>
            </a:r>
          </a:p>
        </p:txBody>
      </p:sp>
      <p:sp>
        <p:nvSpPr>
          <p:cNvPr id="165" name="Oval 164"/>
          <p:cNvSpPr/>
          <p:nvPr/>
        </p:nvSpPr>
        <p:spPr>
          <a:xfrm>
            <a:off x="8372475" y="5360768"/>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372475" y="540640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67" name="TextBox 166"/>
          <p:cNvSpPr txBox="1"/>
          <p:nvPr/>
        </p:nvSpPr>
        <p:spPr>
          <a:xfrm>
            <a:off x="8743950" y="533338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Mention the one move that explains their impact</a:t>
            </a:r>
          </a:p>
        </p:txBody>
      </p:sp>
      <p:sp>
        <p:nvSpPr>
          <p:cNvPr id="168" name="Oval 167"/>
          <p:cNvSpPr/>
          <p:nvPr/>
        </p:nvSpPr>
        <p:spPr>
          <a:xfrm>
            <a:off x="8372475" y="5999647"/>
            <a:ext cx="285750" cy="273805"/>
          </a:xfrm>
          <a:prstGeom prst="ellipse">
            <a:avLst/>
          </a:prstGeom>
          <a:solidFill>
            <a:srgbClr val="FFFFFF"/>
          </a:solidFill>
          <a:ln w="12700">
            <a:solidFill>
              <a:srgbClr val="1F6F6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372475" y="6045282"/>
            <a:ext cx="285750" cy="182537"/>
          </a:xfrm>
          <a:prstGeom prst="rect">
            <a:avLst/>
          </a:prstGeom>
          <a:noFill/>
        </p:spPr>
        <p:txBody>
          <a:bodyPr wrap="none" lIns="0" rIns="0" tIns="0" bIns="0" anchor="ctr">
            <a:spAutoFit/>
          </a:bodyPr>
          <a:lstStyle/>
          <a:p>
            <a:pPr algn="ctr"/>
            <a:r>
              <a:rPr sz="1200" b="0">
                <a:solidFill>
                  <a:srgbClr val="2E2E2E"/>
                </a:solidFill>
                <a:latin typeface="Calibri"/>
              </a:rPr>
              <a:t>🚫</a:t>
            </a:r>
          </a:p>
        </p:txBody>
      </p:sp>
      <p:sp>
        <p:nvSpPr>
          <p:cNvPr id="170" name="TextBox 169"/>
          <p:cNvSpPr txBox="1"/>
          <p:nvPr/>
        </p:nvSpPr>
        <p:spPr>
          <a:xfrm>
            <a:off x="8743950" y="5972267"/>
            <a:ext cx="3152775" cy="401581"/>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Do not rely on market share alone</a:t>
            </a:r>
          </a:p>
        </p:txBody>
      </p:sp>
      <p:sp>
        <p:nvSpPr>
          <p:cNvPr id="171" name="TextBox 17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2" name="Picture 171" descr="lock.png"/>
          <p:cNvPicPr>
            <a:picLocks noChangeAspect="1"/>
          </p:cNvPicPr>
          <p:nvPr/>
        </p:nvPicPr>
        <p:blipFill>
          <a:blip r:embed="rId4"/>
          <a:stretch>
            <a:fillRect/>
          </a:stretch>
        </p:blipFill>
        <p:spPr>
          <a:xfrm>
            <a:off x="951015" y="6052078"/>
            <a:ext cx="128699" cy="187198"/>
          </a:xfrm>
          <a:prstGeom prst="rect">
            <a:avLst/>
          </a:prstGeom>
        </p:spPr>
      </p:pic>
      <p:pic>
        <p:nvPicPr>
          <p:cNvPr id="173" name="Picture 172" descr="lock.png"/>
          <p:cNvPicPr>
            <a:picLocks noChangeAspect="1"/>
          </p:cNvPicPr>
          <p:nvPr/>
        </p:nvPicPr>
        <p:blipFill>
          <a:blip r:embed="rId4"/>
          <a:stretch>
            <a:fillRect/>
          </a:stretch>
        </p:blipFill>
        <p:spPr>
          <a:xfrm>
            <a:off x="2486445" y="6052078"/>
            <a:ext cx="128699" cy="187198"/>
          </a:xfrm>
          <a:prstGeom prst="rect">
            <a:avLst/>
          </a:prstGeom>
        </p:spPr>
      </p:pic>
      <p:pic>
        <p:nvPicPr>
          <p:cNvPr id="174" name="Picture 173" descr="lock.png"/>
          <p:cNvPicPr>
            <a:picLocks noChangeAspect="1"/>
          </p:cNvPicPr>
          <p:nvPr/>
        </p:nvPicPr>
        <p:blipFill>
          <a:blip r:embed="rId4"/>
          <a:stretch>
            <a:fillRect/>
          </a:stretch>
        </p:blipFill>
        <p:spPr>
          <a:xfrm>
            <a:off x="4021875" y="6052078"/>
            <a:ext cx="128699" cy="187198"/>
          </a:xfrm>
          <a:prstGeom prst="rect">
            <a:avLst/>
          </a:prstGeom>
        </p:spPr>
      </p:pic>
      <p:pic>
        <p:nvPicPr>
          <p:cNvPr id="175" name="Picture 174" descr="lock.png"/>
          <p:cNvPicPr>
            <a:picLocks noChangeAspect="1"/>
          </p:cNvPicPr>
          <p:nvPr/>
        </p:nvPicPr>
        <p:blipFill>
          <a:blip r:embed="rId4"/>
          <a:stretch>
            <a:fillRect/>
          </a:stretch>
        </p:blipFill>
        <p:spPr>
          <a:xfrm>
            <a:off x="5557305" y="6052078"/>
            <a:ext cx="128699" cy="187198"/>
          </a:xfrm>
          <a:prstGeom prst="rect">
            <a:avLst/>
          </a:prstGeom>
        </p:spPr>
      </p:pic>
      <p:pic>
        <p:nvPicPr>
          <p:cNvPr id="176" name="Picture 175" descr="lock.png"/>
          <p:cNvPicPr>
            <a:picLocks noChangeAspect="1"/>
          </p:cNvPicPr>
          <p:nvPr/>
        </p:nvPicPr>
        <p:blipFill>
          <a:blip r:embed="rId4"/>
          <a:stretch>
            <a:fillRect/>
          </a:stretch>
        </p:blipFill>
        <p:spPr>
          <a:xfrm>
            <a:off x="7092735" y="6052078"/>
            <a:ext cx="128699" cy="187198"/>
          </a:xfrm>
          <a:prstGeom prst="rect">
            <a:avLst/>
          </a:prstGeom>
        </p:spPr>
      </p:pic>
      <p:sp>
        <p:nvSpPr>
          <p:cNvPr id="177" name="TextBox 176"/>
          <p:cNvSpPr txBox="1"/>
          <p:nvPr/>
        </p:nvSpPr>
        <p:spPr>
          <a:xfrm>
            <a:off x="4572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78" name="Picture 177" descr="lock.png"/>
          <p:cNvPicPr>
            <a:picLocks noChangeAspect="1"/>
          </p:cNvPicPr>
          <p:nvPr/>
        </p:nvPicPr>
        <p:blipFill>
          <a:blip r:embed="rId4"/>
          <a:stretch>
            <a:fillRect/>
          </a:stretch>
        </p:blipFill>
        <p:spPr>
          <a:xfrm>
            <a:off x="994083" y="2391038"/>
            <a:ext cx="92663" cy="134782"/>
          </a:xfrm>
          <a:prstGeom prst="rect">
            <a:avLst/>
          </a:prstGeom>
        </p:spPr>
      </p:pic>
      <p:sp>
        <p:nvSpPr>
          <p:cNvPr id="179" name="TextBox 178"/>
          <p:cNvSpPr txBox="1"/>
          <p:nvPr/>
        </p:nvSpPr>
        <p:spPr>
          <a:xfrm>
            <a:off x="28575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0" name="Picture 179" descr="lock.png"/>
          <p:cNvPicPr>
            <a:picLocks noChangeAspect="1"/>
          </p:cNvPicPr>
          <p:nvPr/>
        </p:nvPicPr>
        <p:blipFill>
          <a:blip r:embed="rId4"/>
          <a:stretch>
            <a:fillRect/>
          </a:stretch>
        </p:blipFill>
        <p:spPr>
          <a:xfrm>
            <a:off x="3394383" y="2391038"/>
            <a:ext cx="92663" cy="134782"/>
          </a:xfrm>
          <a:prstGeom prst="rect">
            <a:avLst/>
          </a:prstGeom>
        </p:spPr>
      </p:pic>
      <p:sp>
        <p:nvSpPr>
          <p:cNvPr id="181" name="TextBox 180"/>
          <p:cNvSpPr txBox="1"/>
          <p:nvPr/>
        </p:nvSpPr>
        <p:spPr>
          <a:xfrm>
            <a:off x="52578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2" name="Picture 181" descr="lock.png"/>
          <p:cNvPicPr>
            <a:picLocks noChangeAspect="1"/>
          </p:cNvPicPr>
          <p:nvPr/>
        </p:nvPicPr>
        <p:blipFill>
          <a:blip r:embed="rId4"/>
          <a:stretch>
            <a:fillRect/>
          </a:stretch>
        </p:blipFill>
        <p:spPr>
          <a:xfrm>
            <a:off x="5794683" y="2391038"/>
            <a:ext cx="92663" cy="134782"/>
          </a:xfrm>
          <a:prstGeom prst="rect">
            <a:avLst/>
          </a:prstGeom>
        </p:spPr>
      </p:pic>
      <p:sp>
        <p:nvSpPr>
          <p:cNvPr id="183" name="TextBox 182"/>
          <p:cNvSpPr txBox="1"/>
          <p:nvPr/>
        </p:nvSpPr>
        <p:spPr>
          <a:xfrm>
            <a:off x="76581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4" name="Picture 183" descr="lock.png"/>
          <p:cNvPicPr>
            <a:picLocks noChangeAspect="1"/>
          </p:cNvPicPr>
          <p:nvPr/>
        </p:nvPicPr>
        <p:blipFill>
          <a:blip r:embed="rId4"/>
          <a:stretch>
            <a:fillRect/>
          </a:stretch>
        </p:blipFill>
        <p:spPr>
          <a:xfrm>
            <a:off x="8194983" y="2391038"/>
            <a:ext cx="92663" cy="134782"/>
          </a:xfrm>
          <a:prstGeom prst="rect">
            <a:avLst/>
          </a:prstGeom>
        </p:spPr>
      </p:pic>
      <p:sp>
        <p:nvSpPr>
          <p:cNvPr id="185" name="TextBox 184"/>
          <p:cNvSpPr txBox="1"/>
          <p:nvPr/>
        </p:nvSpPr>
        <p:spPr>
          <a:xfrm>
            <a:off x="10058400" y="2398079"/>
            <a:ext cx="595622" cy="139750"/>
          </a:xfrm>
          <a:prstGeom prst="rect">
            <a:avLst/>
          </a:prstGeom>
          <a:noFill/>
        </p:spPr>
        <p:txBody>
          <a:bodyPr wrap="none" lIns="0" rIns="0" tIns="0" bIns="0">
            <a:spAutoFit/>
          </a:bodyPr>
          <a:lstStyle/>
          <a:p>
            <a:r>
              <a:rPr sz="791" b="1">
                <a:solidFill>
                  <a:srgbClr val="2E2E2E"/>
                </a:solidFill>
                <a:latin typeface="Calibri"/>
              </a:rPr>
              <a:t>Value share:</a:t>
            </a:r>
          </a:p>
        </p:txBody>
      </p:sp>
      <p:pic>
        <p:nvPicPr>
          <p:cNvPr id="186" name="Picture 185" descr="lock.png"/>
          <p:cNvPicPr>
            <a:picLocks noChangeAspect="1"/>
          </p:cNvPicPr>
          <p:nvPr/>
        </p:nvPicPr>
        <p:blipFill>
          <a:blip r:embed="rId4"/>
          <a:stretch>
            <a:fillRect/>
          </a:stretch>
        </p:blipFill>
        <p:spPr>
          <a:xfrm>
            <a:off x="10595283" y="2391038"/>
            <a:ext cx="92663" cy="134782"/>
          </a:xfrm>
          <a:prstGeom prst="rect">
            <a:avLst/>
          </a:prstGeom>
        </p:spPr>
      </p:pic>
    </p:spTree>
  </p:cSld>
  <p:clrMapOvr>
    <a:masterClrMapping/>
  </p:clrMapOvr>
</p:sld>
</file>

<file path=ppt/slides/slide285.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19</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3590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2701925"/>
            <a:ext cx="8572500" cy="514350"/>
          </a:xfrm>
          <a:prstGeom prst="rect">
            <a:avLst/>
          </a:prstGeom>
          <a:noFill/>
        </p:spPr>
        <p:txBody>
          <a:bodyPr wrap="square" lIns="0" rIns="0" tIns="0">
            <a:spAutoFit/>
          </a:bodyPr>
          <a:lstStyle/>
          <a:p>
            <a:r>
              <a:rPr sz="3000" b="1">
                <a:solidFill>
                  <a:srgbClr val="0B3C8C"/>
                </a:solidFill>
                <a:latin typeface="Calibri"/>
              </a:rPr>
              <a:t>Company Profiles &amp; Strategic Benchmarking</a:t>
            </a:r>
          </a:p>
        </p:txBody>
      </p:sp>
      <p:sp>
        <p:nvSpPr>
          <p:cNvPr id="11" name="TextBox 10"/>
          <p:cNvSpPr txBox="1"/>
          <p:nvPr/>
        </p:nvSpPr>
        <p:spPr>
          <a:xfrm>
            <a:off x="914400" y="3387725"/>
            <a:ext cx="8458200" cy="20637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Jade Leaf Matcha Snapshot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Jade Leaf Matcha Penetration &amp; Win</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Jade Leaf Matcha SWOT Analysis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Jade Leaf Matcha Key Financials</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Jade Leaf Matcha Strategy Analysis</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8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Jade Leaf Matcha Executive Market Snapshot (1/5)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Overview of total market, addressable opportunity and share of market by end-market, region and product</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Executive snapshot and strategic positioning Jade Leaf Matcha: market, addressable opportunity and SOM splits by end-market, region and product.</a:t>
            </a:r>
          </a:p>
        </p:txBody>
      </p:sp>
      <p:sp>
        <p:nvSpPr>
          <p:cNvPr id="11" name="Rounded Rectangle 10"/>
          <p:cNvSpPr/>
          <p:nvPr/>
        </p:nvSpPr>
        <p:spPr>
          <a:xfrm>
            <a:off x="1428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TAM (US$ MN)</a:t>
            </a:r>
          </a:p>
          <a:p>
            <a:pPr algn="ctr">
              <a:lnSpc>
                <a:spcPct val="95000"/>
              </a:lnSpc>
            </a:pPr>
            <a:r>
              <a:rPr sz="1500" b="1">
                <a:solidFill>
                  <a:srgbClr val="0E72AE"/>
                </a:solidFill>
                <a:latin typeface="Calibri"/>
              </a:rPr>
              <a:t>6,718</a:t>
            </a:r>
          </a:p>
          <a:p>
            <a:pPr algn="ctr">
              <a:lnSpc>
                <a:spcPct val="95000"/>
              </a:lnSpc>
            </a:pPr>
            <a:r>
              <a:rPr sz="1100" b="0">
                <a:solidFill>
                  <a:srgbClr val="6C7A89"/>
                </a:solidFill>
                <a:latin typeface="Calibri"/>
              </a:rPr>
              <a:t>Total market</a:t>
            </a:r>
          </a:p>
        </p:txBody>
      </p:sp>
      <p:sp>
        <p:nvSpPr>
          <p:cNvPr id="12" name="Rounded Rectangle 11"/>
          <p:cNvSpPr/>
          <p:nvPr/>
        </p:nvSpPr>
        <p:spPr>
          <a:xfrm>
            <a:off x="254317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SAM (US$ MN)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Addressable</a:t>
            </a:r>
          </a:p>
        </p:txBody>
      </p:sp>
      <p:sp>
        <p:nvSpPr>
          <p:cNvPr id="13" name="Rounded Rectangle 12"/>
          <p:cNvSpPr/>
          <p:nvPr/>
        </p:nvSpPr>
        <p:spPr>
          <a:xfrm>
            <a:off x="49530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
            </a:r>
          </a:p>
          <a:p>
            <a:pPr algn="ctr">
              <a:lnSpc>
                <a:spcPct val="95000"/>
              </a:lnSpc>
            </a:pPr>
            <a:r>
              <a:rPr sz="1500" b="1">
                <a:solidFill>
                  <a:srgbClr val="0E72AE"/>
                </a:solidFill>
                <a:latin typeface="Calibri"/>
              </a:rPr>
              <a:t/>
            </a:r>
          </a:p>
          <a:p>
            <a:pPr algn="ctr">
              <a:lnSpc>
                <a:spcPct val="95000"/>
              </a:lnSpc>
            </a:pPr>
            <a:r>
              <a:rPr sz="1100" b="0">
                <a:solidFill>
                  <a:srgbClr val="6C7A89"/>
                </a:solidFill>
                <a:latin typeface="Calibri"/>
              </a:rPr>
              <a:t/>
            </a:r>
          </a:p>
        </p:txBody>
      </p:sp>
      <p:sp>
        <p:nvSpPr>
          <p:cNvPr id="14" name="Rounded Rectangle 13"/>
          <p:cNvSpPr/>
          <p:nvPr/>
        </p:nvSpPr>
        <p:spPr>
          <a:xfrm>
            <a:off x="7353300"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35828"/>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3812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End-Market (US$ Mn)</a:t>
            </a:r>
          </a:p>
        </p:txBody>
      </p:sp>
      <p:graphicFrame>
        <p:nvGraphicFramePr>
          <p:cNvPr id="18" name="Chart 17"/>
          <p:cNvGraphicFramePr>
            <a:graphicFrameLocks noGrp="1"/>
          </p:cNvGraphicFramePr>
          <p:nvPr/>
        </p:nvGraphicFramePr>
        <p:xfrm>
          <a:off x="238125" y="2351726"/>
          <a:ext cx="3638550" cy="2267379"/>
        </p:xfrm>
        <a:graphic>
          <a:graphicData uri="http://schemas.openxmlformats.org/drawingml/2006/chart">
            <c:chart xmlns:c="http://schemas.openxmlformats.org/drawingml/2006/chart" r:id="rId3"/>
          </a:graphicData>
        </a:graphic>
      </p:graphicFrame>
      <p:sp>
        <p:nvSpPr>
          <p:cNvPr id="19" name="Rounded Rectangle 18"/>
          <p:cNvSpPr/>
          <p:nvPr/>
        </p:nvSpPr>
        <p:spPr>
          <a:xfrm>
            <a:off x="4124325" y="2065976"/>
            <a:ext cx="38290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4219575" y="2123126"/>
            <a:ext cx="36385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Region (US$ Mn)</a:t>
            </a:r>
          </a:p>
        </p:txBody>
      </p:sp>
      <p:graphicFrame>
        <p:nvGraphicFramePr>
          <p:cNvPr id="21" name="Chart 20"/>
          <p:cNvGraphicFramePr>
            <a:graphicFrameLocks noGrp="1"/>
          </p:cNvGraphicFramePr>
          <p:nvPr/>
        </p:nvGraphicFramePr>
        <p:xfrm>
          <a:off x="4219575" y="2351726"/>
          <a:ext cx="3638550" cy="2267379"/>
        </p:xfrm>
        <a:graphic>
          <a:graphicData uri="http://schemas.openxmlformats.org/drawingml/2006/chart">
            <c:chart xmlns:c="http://schemas.openxmlformats.org/drawingml/2006/chart" r:id="rId4"/>
          </a:graphicData>
        </a:graphic>
      </p:graphicFrame>
      <p:sp>
        <p:nvSpPr>
          <p:cNvPr id="22" name="Rounded Rectangle 21"/>
          <p:cNvSpPr/>
          <p:nvPr/>
        </p:nvSpPr>
        <p:spPr>
          <a:xfrm>
            <a:off x="8105775" y="2065976"/>
            <a:ext cx="3943350" cy="2610279"/>
          </a:xfrm>
          <a:prstGeom prst="roundRect">
            <a:avLst>
              <a:gd name="adj" fmla="val 291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8201025" y="2123126"/>
            <a:ext cx="3752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by Product Line (US$ Mn)</a:t>
            </a:r>
          </a:p>
        </p:txBody>
      </p:sp>
      <p:graphicFrame>
        <p:nvGraphicFramePr>
          <p:cNvPr id="24" name="Chart 23"/>
          <p:cNvGraphicFramePr>
            <a:graphicFrameLocks noGrp="1"/>
          </p:cNvGraphicFramePr>
          <p:nvPr/>
        </p:nvGraphicFramePr>
        <p:xfrm>
          <a:off x="8201025" y="2351726"/>
          <a:ext cx="3752850" cy="2267379"/>
        </p:xfrm>
        <a:graphic>
          <a:graphicData uri="http://schemas.openxmlformats.org/drawingml/2006/chart">
            <c:chart xmlns:c="http://schemas.openxmlformats.org/drawingml/2006/chart" r:id="rId5"/>
          </a:graphicData>
        </a:graphic>
      </p:graphicFrame>
      <p:sp>
        <p:nvSpPr>
          <p:cNvPr id="25" name="Rounded Rectangle 24"/>
          <p:cNvSpPr/>
          <p:nvPr/>
        </p:nvSpPr>
        <p:spPr>
          <a:xfrm>
            <a:off x="142875" y="4785777"/>
            <a:ext cx="11906250" cy="1807116"/>
          </a:xfrm>
          <a:prstGeom prst="roundRect">
            <a:avLst>
              <a:gd name="adj" fmla="val 421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76225" y="4871502"/>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27" name="Rectangle 26"/>
          <p:cNvSpPr/>
          <p:nvPr/>
        </p:nvSpPr>
        <p:spPr>
          <a:xfrm>
            <a:off x="276225" y="5109627"/>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276225" y="5195352"/>
            <a:ext cx="11639550" cy="1321341"/>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9" name="TextBox 2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0" name="Picture 29" descr="lock.png"/>
          <p:cNvPicPr>
            <a:picLocks noChangeAspect="1"/>
          </p:cNvPicPr>
          <p:nvPr/>
        </p:nvPicPr>
        <p:blipFill>
          <a:blip r:embed="rId7"/>
          <a:stretch>
            <a:fillRect/>
          </a:stretch>
        </p:blipFill>
        <p:spPr>
          <a:xfrm>
            <a:off x="3602831" y="1522714"/>
            <a:ext cx="157162" cy="228600"/>
          </a:xfrm>
          <a:prstGeom prst="rect">
            <a:avLst/>
          </a:prstGeom>
        </p:spPr>
      </p:pic>
      <p:pic>
        <p:nvPicPr>
          <p:cNvPr id="31" name="Picture 30" descr="lock.png"/>
          <p:cNvPicPr>
            <a:picLocks noChangeAspect="1"/>
          </p:cNvPicPr>
          <p:nvPr/>
        </p:nvPicPr>
        <p:blipFill>
          <a:blip r:embed="rId7"/>
          <a:stretch>
            <a:fillRect/>
          </a:stretch>
        </p:blipFill>
        <p:spPr>
          <a:xfrm>
            <a:off x="8412956" y="1522714"/>
            <a:ext cx="157162" cy="228600"/>
          </a:xfrm>
          <a:prstGeom prst="rect">
            <a:avLst/>
          </a:prstGeom>
        </p:spPr>
      </p:pic>
      <p:pic>
        <p:nvPicPr>
          <p:cNvPr id="32" name="Picture 31" descr="lock.png"/>
          <p:cNvPicPr>
            <a:picLocks noChangeAspect="1"/>
          </p:cNvPicPr>
          <p:nvPr/>
        </p:nvPicPr>
        <p:blipFill>
          <a:blip r:embed="rId7"/>
          <a:stretch>
            <a:fillRect/>
          </a:stretch>
        </p:blipFill>
        <p:spPr>
          <a:xfrm>
            <a:off x="10822781" y="1522714"/>
            <a:ext cx="157162" cy="228600"/>
          </a:xfrm>
          <a:prstGeom prst="rect">
            <a:avLst/>
          </a:prstGeom>
        </p:spPr>
      </p:pic>
      <p:pic>
        <p:nvPicPr>
          <p:cNvPr id="33" name="Picture 32" descr="lock.png"/>
          <p:cNvPicPr>
            <a:picLocks noChangeAspect="1"/>
          </p:cNvPicPr>
          <p:nvPr/>
        </p:nvPicPr>
        <p:blipFill>
          <a:blip r:embed="rId7"/>
          <a:stretch>
            <a:fillRect/>
          </a:stretch>
        </p:blipFill>
        <p:spPr>
          <a:xfrm>
            <a:off x="2104623" y="3299104"/>
            <a:ext cx="197242" cy="286897"/>
          </a:xfrm>
          <a:prstGeom prst="rect">
            <a:avLst/>
          </a:prstGeom>
        </p:spPr>
      </p:pic>
      <p:pic>
        <p:nvPicPr>
          <p:cNvPr id="34" name="Picture 33" descr="lock.png"/>
          <p:cNvPicPr>
            <a:picLocks noChangeAspect="1"/>
          </p:cNvPicPr>
          <p:nvPr/>
        </p:nvPicPr>
        <p:blipFill>
          <a:blip r:embed="rId7"/>
          <a:stretch>
            <a:fillRect/>
          </a:stretch>
        </p:blipFill>
        <p:spPr>
          <a:xfrm>
            <a:off x="6086073" y="3299104"/>
            <a:ext cx="197242" cy="286897"/>
          </a:xfrm>
          <a:prstGeom prst="rect">
            <a:avLst/>
          </a:prstGeom>
        </p:spPr>
      </p:pic>
      <p:pic>
        <p:nvPicPr>
          <p:cNvPr id="35" name="Picture 34" descr="lock.png"/>
          <p:cNvPicPr>
            <a:picLocks noChangeAspect="1"/>
          </p:cNvPicPr>
          <p:nvPr/>
        </p:nvPicPr>
        <p:blipFill>
          <a:blip r:embed="rId7"/>
          <a:stretch>
            <a:fillRect/>
          </a:stretch>
        </p:blipFill>
        <p:spPr>
          <a:xfrm>
            <a:off x="9278088" y="3145920"/>
            <a:ext cx="444576" cy="646656"/>
          </a:xfrm>
          <a:prstGeom prst="rect">
            <a:avLst/>
          </a:prstGeom>
        </p:spPr>
      </p:pic>
      <p:sp>
        <p:nvSpPr>
          <p:cNvPr id="36" name="TextBox 35"/>
          <p:cNvSpPr txBox="1"/>
          <p:nvPr/>
        </p:nvSpPr>
        <p:spPr>
          <a:xfrm>
            <a:off x="5758516" y="1377568"/>
            <a:ext cx="741641" cy="146456"/>
          </a:xfrm>
          <a:prstGeom prst="rect">
            <a:avLst/>
          </a:prstGeom>
          <a:noFill/>
        </p:spPr>
        <p:txBody>
          <a:bodyPr wrap="none" lIns="0" rIns="0" tIns="0" bIns="0">
            <a:spAutoFit/>
          </a:bodyPr>
          <a:lstStyle/>
          <a:p>
            <a:r>
              <a:rPr sz="835" b="1">
                <a:solidFill>
                  <a:srgbClr val="6C7A89"/>
                </a:solidFill>
                <a:latin typeface="Calibri"/>
              </a:rPr>
              <a:t>SOM (US$ MN)</a:t>
            </a:r>
          </a:p>
        </p:txBody>
      </p:sp>
      <p:pic>
        <p:nvPicPr>
          <p:cNvPr id="37" name="Picture 36" descr="lock.png"/>
          <p:cNvPicPr>
            <a:picLocks noChangeAspect="1"/>
          </p:cNvPicPr>
          <p:nvPr/>
        </p:nvPicPr>
        <p:blipFill>
          <a:blip r:embed="rId7"/>
          <a:stretch>
            <a:fillRect/>
          </a:stretch>
        </p:blipFill>
        <p:spPr>
          <a:xfrm>
            <a:off x="6017010" y="1533061"/>
            <a:ext cx="133378" cy="194005"/>
          </a:xfrm>
          <a:prstGeom prst="rect">
            <a:avLst/>
          </a:prstGeom>
        </p:spPr>
      </p:pic>
      <p:pic>
        <p:nvPicPr>
          <p:cNvPr id="38" name="Picture 37" descr="lock.png"/>
          <p:cNvPicPr>
            <a:picLocks noChangeAspect="1"/>
          </p:cNvPicPr>
          <p:nvPr/>
        </p:nvPicPr>
        <p:blipFill>
          <a:blip r:embed="rId7"/>
          <a:stretch>
            <a:fillRect/>
          </a:stretch>
        </p:blipFill>
        <p:spPr>
          <a:xfrm>
            <a:off x="5865805" y="1761621"/>
            <a:ext cx="97811" cy="142270"/>
          </a:xfrm>
          <a:prstGeom prst="rect">
            <a:avLst/>
          </a:prstGeom>
        </p:spPr>
      </p:pic>
      <p:sp>
        <p:nvSpPr>
          <p:cNvPr id="39" name="TextBox 38"/>
          <p:cNvSpPr txBox="1"/>
          <p:nvPr/>
        </p:nvSpPr>
        <p:spPr>
          <a:xfrm>
            <a:off x="5993102" y="1769053"/>
            <a:ext cx="389531" cy="146456"/>
          </a:xfrm>
          <a:prstGeom prst="rect">
            <a:avLst/>
          </a:prstGeom>
          <a:noFill/>
        </p:spPr>
        <p:txBody>
          <a:bodyPr wrap="none" lIns="0" rIns="0" tIns="0" bIns="0">
            <a:spAutoFit/>
          </a:bodyPr>
          <a:lstStyle/>
          <a:p>
            <a:r>
              <a:rPr sz="835" b="0">
                <a:solidFill>
                  <a:srgbClr val="6C7A89"/>
                </a:solidFill>
                <a:latin typeface="Calibri"/>
              </a:rPr>
              <a:t>of SAM</a:t>
            </a:r>
          </a:p>
        </p:txBody>
      </p:sp>
      <p:sp>
        <p:nvSpPr>
          <p:cNvPr id="40" name="TextBox 39"/>
          <p:cNvSpPr txBox="1"/>
          <p:nvPr/>
        </p:nvSpPr>
        <p:spPr>
          <a:xfrm>
            <a:off x="276225" y="5204877"/>
            <a:ext cx="2867124" cy="194310"/>
          </a:xfrm>
          <a:prstGeom prst="rect">
            <a:avLst/>
          </a:prstGeom>
          <a:noFill/>
        </p:spPr>
        <p:txBody>
          <a:bodyPr wrap="none" lIns="0" rIns="0" tIns="0" bIns="0">
            <a:spAutoFit/>
          </a:bodyPr>
          <a:lstStyle/>
          <a:p>
            <a:r>
              <a:rPr sz="1150" b="0">
                <a:solidFill>
                  <a:srgbClr val="2E2E2E"/>
                </a:solidFill>
                <a:latin typeface="Calibri"/>
              </a:rPr>
              <a:t>▪ Market Position: Jade Leaf Matcha captures ~</a:t>
            </a:r>
          </a:p>
        </p:txBody>
      </p:sp>
      <p:pic>
        <p:nvPicPr>
          <p:cNvPr id="41" name="Picture 40" descr="lock.png"/>
          <p:cNvPicPr>
            <a:picLocks noChangeAspect="1"/>
          </p:cNvPicPr>
          <p:nvPr/>
        </p:nvPicPr>
        <p:blipFill>
          <a:blip r:embed="rId7"/>
          <a:stretch>
            <a:fillRect/>
          </a:stretch>
        </p:blipFill>
        <p:spPr>
          <a:xfrm>
            <a:off x="3092503" y="5194653"/>
            <a:ext cx="134549" cy="195707"/>
          </a:xfrm>
          <a:prstGeom prst="rect">
            <a:avLst/>
          </a:prstGeom>
        </p:spPr>
      </p:pic>
      <p:sp>
        <p:nvSpPr>
          <p:cNvPr id="42" name="TextBox 41"/>
          <p:cNvSpPr txBox="1"/>
          <p:nvPr/>
        </p:nvSpPr>
        <p:spPr>
          <a:xfrm>
            <a:off x="3267612" y="5204877"/>
            <a:ext cx="4454245" cy="194310"/>
          </a:xfrm>
          <a:prstGeom prst="rect">
            <a:avLst/>
          </a:prstGeom>
          <a:noFill/>
        </p:spPr>
        <p:txBody>
          <a:bodyPr wrap="none" lIns="0" rIns="0" tIns="0" bIns="0">
            <a:spAutoFit/>
          </a:bodyPr>
          <a:lstStyle/>
          <a:p>
            <a:r>
              <a:rPr sz="1150" b="0">
                <a:solidFill>
                  <a:srgbClr val="2E2E2E"/>
                </a:solidFill>
                <a:latin typeface="Calibri"/>
              </a:rPr>
              <a:t>of a US$ Mn SAM, with its strongest end-market in 'Other Food Products'.</a:t>
            </a:r>
          </a:p>
        </p:txBody>
      </p:sp>
      <p:sp>
        <p:nvSpPr>
          <p:cNvPr id="43" name="TextBox 42"/>
          <p:cNvSpPr txBox="1"/>
          <p:nvPr/>
        </p:nvSpPr>
        <p:spPr>
          <a:xfrm>
            <a:off x="276225" y="5432715"/>
            <a:ext cx="7358446" cy="194310"/>
          </a:xfrm>
          <a:prstGeom prst="rect">
            <a:avLst/>
          </a:prstGeom>
          <a:noFill/>
        </p:spPr>
        <p:txBody>
          <a:bodyPr wrap="none" lIns="0" rIns="0" tIns="0" bIns="0">
            <a:spAutoFit/>
          </a:bodyPr>
          <a:lstStyle/>
          <a:p>
            <a:r>
              <a:rPr sz="1150" b="0">
                <a:solidFill>
                  <a:srgbClr val="2E2E2E"/>
                </a:solidFill>
                <a:latin typeface="Calibri"/>
              </a:rPr>
              <a:t>▪ Geographic Balance: 'North America' is the largest SOM region; 'Rest of the World' shows the highest SAM penetration (~</a:t>
            </a:r>
          </a:p>
        </p:txBody>
      </p:sp>
      <p:pic>
        <p:nvPicPr>
          <p:cNvPr id="44" name="Picture 43" descr="lock.png"/>
          <p:cNvPicPr>
            <a:picLocks noChangeAspect="1"/>
          </p:cNvPicPr>
          <p:nvPr/>
        </p:nvPicPr>
        <p:blipFill>
          <a:blip r:embed="rId7"/>
          <a:stretch>
            <a:fillRect/>
          </a:stretch>
        </p:blipFill>
        <p:spPr>
          <a:xfrm>
            <a:off x="7583825" y="5422491"/>
            <a:ext cx="134549" cy="195707"/>
          </a:xfrm>
          <a:prstGeom prst="rect">
            <a:avLst/>
          </a:prstGeom>
        </p:spPr>
      </p:pic>
      <p:sp>
        <p:nvSpPr>
          <p:cNvPr id="45" name="TextBox 44"/>
          <p:cNvSpPr txBox="1"/>
          <p:nvPr/>
        </p:nvSpPr>
        <p:spPr>
          <a:xfrm>
            <a:off x="7758935" y="5432715"/>
            <a:ext cx="157212" cy="194310"/>
          </a:xfrm>
          <a:prstGeom prst="rect">
            <a:avLst/>
          </a:prstGeom>
          <a:noFill/>
        </p:spPr>
        <p:txBody>
          <a:bodyPr wrap="none" lIns="0" rIns="0" tIns="0" bIns="0">
            <a:spAutoFit/>
          </a:bodyPr>
          <a:lstStyle/>
          <a:p>
            <a:r>
              <a:rPr sz="1150" b="0">
                <a:solidFill>
                  <a:srgbClr val="2E2E2E"/>
                </a:solidFill>
                <a:latin typeface="Calibri"/>
              </a:rPr>
              <a:t>).</a:t>
            </a:r>
          </a:p>
        </p:txBody>
      </p:sp>
      <p:sp>
        <p:nvSpPr>
          <p:cNvPr id="46" name="TextBox 45"/>
          <p:cNvSpPr txBox="1"/>
          <p:nvPr/>
        </p:nvSpPr>
        <p:spPr>
          <a:xfrm>
            <a:off x="276225" y="5660552"/>
            <a:ext cx="1391791" cy="194310"/>
          </a:xfrm>
          <a:prstGeom prst="rect">
            <a:avLst/>
          </a:prstGeom>
          <a:noFill/>
        </p:spPr>
        <p:txBody>
          <a:bodyPr wrap="none" lIns="0" rIns="0" tIns="0" bIns="0">
            <a:spAutoFit/>
          </a:bodyPr>
          <a:lstStyle/>
          <a:p>
            <a:r>
              <a:rPr sz="1150" b="0">
                <a:solidFill>
                  <a:srgbClr val="2E2E2E"/>
                </a:solidFill>
                <a:latin typeface="Calibri"/>
              </a:rPr>
              <a:t>▪ Growth Trajectory: a</a:t>
            </a:r>
          </a:p>
        </p:txBody>
      </p:sp>
      <p:pic>
        <p:nvPicPr>
          <p:cNvPr id="47" name="Picture 46" descr="lock.png"/>
          <p:cNvPicPr>
            <a:picLocks noChangeAspect="1"/>
          </p:cNvPicPr>
          <p:nvPr/>
        </p:nvPicPr>
        <p:blipFill>
          <a:blip r:embed="rId7"/>
          <a:stretch>
            <a:fillRect/>
          </a:stretch>
        </p:blipFill>
        <p:spPr>
          <a:xfrm>
            <a:off x="1617169" y="5650329"/>
            <a:ext cx="134549" cy="195707"/>
          </a:xfrm>
          <a:prstGeom prst="rect">
            <a:avLst/>
          </a:prstGeom>
        </p:spPr>
      </p:pic>
      <p:sp>
        <p:nvSpPr>
          <p:cNvPr id="48" name="TextBox 47"/>
          <p:cNvSpPr txBox="1"/>
          <p:nvPr/>
        </p:nvSpPr>
        <p:spPr>
          <a:xfrm>
            <a:off x="1792279" y="5660552"/>
            <a:ext cx="1129072" cy="194310"/>
          </a:xfrm>
          <a:prstGeom prst="rect">
            <a:avLst/>
          </a:prstGeom>
          <a:noFill/>
        </p:spPr>
        <p:txBody>
          <a:bodyPr wrap="none" lIns="0" rIns="0" tIns="0" bIns="0">
            <a:spAutoFit/>
          </a:bodyPr>
          <a:lstStyle/>
          <a:p>
            <a:r>
              <a:rPr sz="1150" b="0">
                <a:solidFill>
                  <a:srgbClr val="2E2E2E"/>
                </a:solidFill>
                <a:latin typeface="Calibri"/>
              </a:rPr>
              <a:t>book-to-bill and ~</a:t>
            </a:r>
          </a:p>
        </p:txBody>
      </p:sp>
      <p:pic>
        <p:nvPicPr>
          <p:cNvPr id="49" name="Picture 48" descr="lock.png"/>
          <p:cNvPicPr>
            <a:picLocks noChangeAspect="1"/>
          </p:cNvPicPr>
          <p:nvPr/>
        </p:nvPicPr>
        <p:blipFill>
          <a:blip r:embed="rId7"/>
          <a:stretch>
            <a:fillRect/>
          </a:stretch>
        </p:blipFill>
        <p:spPr>
          <a:xfrm>
            <a:off x="2870505" y="5650329"/>
            <a:ext cx="134549" cy="195707"/>
          </a:xfrm>
          <a:prstGeom prst="rect">
            <a:avLst/>
          </a:prstGeom>
        </p:spPr>
      </p:pic>
      <p:sp>
        <p:nvSpPr>
          <p:cNvPr id="50" name="TextBox 49"/>
          <p:cNvSpPr txBox="1"/>
          <p:nvPr/>
        </p:nvSpPr>
        <p:spPr>
          <a:xfrm>
            <a:off x="3045614" y="5660552"/>
            <a:ext cx="4503594" cy="194310"/>
          </a:xfrm>
          <a:prstGeom prst="rect">
            <a:avLst/>
          </a:prstGeom>
          <a:noFill/>
        </p:spPr>
        <p:txBody>
          <a:bodyPr wrap="none" lIns="0" rIns="0" tIns="0" bIns="0">
            <a:spAutoFit/>
          </a:bodyPr>
          <a:lstStyle/>
          <a:p>
            <a:r>
              <a:rPr sz="1150" b="0">
                <a:solidFill>
                  <a:srgbClr val="2E2E2E"/>
                </a:solidFill>
                <a:latin typeface="Calibri"/>
              </a:rPr>
              <a:t>EBITDA margin point to a path to capture more of the addressable market.</a:t>
            </a:r>
          </a:p>
        </p:txBody>
      </p:sp>
      <p:sp>
        <p:nvSpPr>
          <p:cNvPr id="51" name="TextBox 50"/>
          <p:cNvSpPr txBox="1"/>
          <p:nvPr/>
        </p:nvSpPr>
        <p:spPr>
          <a:xfrm>
            <a:off x="276225" y="5888390"/>
            <a:ext cx="1353535" cy="194310"/>
          </a:xfrm>
          <a:prstGeom prst="rect">
            <a:avLst/>
          </a:prstGeom>
          <a:noFill/>
        </p:spPr>
        <p:txBody>
          <a:bodyPr wrap="none" lIns="0" rIns="0" tIns="0" bIns="0">
            <a:spAutoFit/>
          </a:bodyPr>
          <a:lstStyle/>
          <a:p>
            <a:r>
              <a:rPr sz="1150" b="0">
                <a:solidFill>
                  <a:srgbClr val="2E2E2E"/>
                </a:solidFill>
                <a:latin typeface="Calibri"/>
              </a:rPr>
              <a:t>▪ Competitive Edge: ~</a:t>
            </a:r>
          </a:p>
        </p:txBody>
      </p:sp>
      <p:pic>
        <p:nvPicPr>
          <p:cNvPr id="52" name="Picture 51" descr="lock.png"/>
          <p:cNvPicPr>
            <a:picLocks noChangeAspect="1"/>
          </p:cNvPicPr>
          <p:nvPr/>
        </p:nvPicPr>
        <p:blipFill>
          <a:blip r:embed="rId7"/>
          <a:stretch>
            <a:fillRect/>
          </a:stretch>
        </p:blipFill>
        <p:spPr>
          <a:xfrm>
            <a:off x="1578914" y="5878167"/>
            <a:ext cx="134549" cy="195707"/>
          </a:xfrm>
          <a:prstGeom prst="rect">
            <a:avLst/>
          </a:prstGeom>
        </p:spPr>
      </p:pic>
      <p:sp>
        <p:nvSpPr>
          <p:cNvPr id="53" name="TextBox 52"/>
          <p:cNvSpPr txBox="1"/>
          <p:nvPr/>
        </p:nvSpPr>
        <p:spPr>
          <a:xfrm>
            <a:off x="1754024" y="5888390"/>
            <a:ext cx="1072591" cy="194310"/>
          </a:xfrm>
          <a:prstGeom prst="rect">
            <a:avLst/>
          </a:prstGeom>
          <a:noFill/>
        </p:spPr>
        <p:txBody>
          <a:bodyPr wrap="none" lIns="0" rIns="0" tIns="0" bIns="0">
            <a:spAutoFit/>
          </a:bodyPr>
          <a:lstStyle/>
          <a:p>
            <a:r>
              <a:rPr sz="1150" b="0">
                <a:solidFill>
                  <a:srgbClr val="2E2E2E"/>
                </a:solidFill>
                <a:latin typeface="Calibri"/>
              </a:rPr>
              <a:t>win rate with a +</a:t>
            </a:r>
          </a:p>
        </p:txBody>
      </p:sp>
      <p:pic>
        <p:nvPicPr>
          <p:cNvPr id="54" name="Picture 53" descr="lock.png"/>
          <p:cNvPicPr>
            <a:picLocks noChangeAspect="1"/>
          </p:cNvPicPr>
          <p:nvPr/>
        </p:nvPicPr>
        <p:blipFill>
          <a:blip r:embed="rId7"/>
          <a:stretch>
            <a:fillRect/>
          </a:stretch>
        </p:blipFill>
        <p:spPr>
          <a:xfrm>
            <a:off x="2775769" y="5878167"/>
            <a:ext cx="134549" cy="195707"/>
          </a:xfrm>
          <a:prstGeom prst="rect">
            <a:avLst/>
          </a:prstGeom>
        </p:spPr>
      </p:pic>
      <p:sp>
        <p:nvSpPr>
          <p:cNvPr id="55" name="TextBox 54"/>
          <p:cNvSpPr txBox="1"/>
          <p:nvPr/>
        </p:nvSpPr>
        <p:spPr>
          <a:xfrm>
            <a:off x="2950879" y="5888390"/>
            <a:ext cx="1137059" cy="194310"/>
          </a:xfrm>
          <a:prstGeom prst="rect">
            <a:avLst/>
          </a:prstGeom>
          <a:noFill/>
        </p:spPr>
        <p:txBody>
          <a:bodyPr wrap="none" lIns="0" rIns="0" tIns="0" bIns="0">
            <a:spAutoFit/>
          </a:bodyPr>
          <a:lstStyle/>
          <a:p>
            <a:r>
              <a:rPr sz="1150" b="0">
                <a:solidFill>
                  <a:srgbClr val="2E2E2E"/>
                </a:solidFill>
                <a:latin typeface="Calibri"/>
              </a:rPr>
              <a:t>ASP premium and</a:t>
            </a:r>
          </a:p>
        </p:txBody>
      </p:sp>
      <p:pic>
        <p:nvPicPr>
          <p:cNvPr id="56" name="Picture 55" descr="lock.png"/>
          <p:cNvPicPr>
            <a:picLocks noChangeAspect="1"/>
          </p:cNvPicPr>
          <p:nvPr/>
        </p:nvPicPr>
        <p:blipFill>
          <a:blip r:embed="rId7"/>
          <a:stretch>
            <a:fillRect/>
          </a:stretch>
        </p:blipFill>
        <p:spPr>
          <a:xfrm>
            <a:off x="4037092" y="5878167"/>
            <a:ext cx="134549" cy="195707"/>
          </a:xfrm>
          <a:prstGeom prst="rect">
            <a:avLst/>
          </a:prstGeom>
        </p:spPr>
      </p:pic>
      <p:sp>
        <p:nvSpPr>
          <p:cNvPr id="57" name="TextBox 56"/>
          <p:cNvSpPr txBox="1"/>
          <p:nvPr/>
        </p:nvSpPr>
        <p:spPr>
          <a:xfrm>
            <a:off x="4212201" y="5888390"/>
            <a:ext cx="1259147" cy="194310"/>
          </a:xfrm>
          <a:prstGeom prst="rect">
            <a:avLst/>
          </a:prstGeom>
          <a:noFill/>
        </p:spPr>
        <p:txBody>
          <a:bodyPr wrap="none" lIns="0" rIns="0" tIns="0" bIns="0">
            <a:spAutoFit/>
          </a:bodyPr>
          <a:lstStyle/>
          <a:p>
            <a:r>
              <a:rPr sz="1150" b="0">
                <a:solidFill>
                  <a:srgbClr val="2E2E2E"/>
                </a:solidFill>
                <a:latin typeface="Calibri"/>
              </a:rPr>
              <a:t>x pipeline coverage.</a:t>
            </a:r>
          </a:p>
        </p:txBody>
      </p:sp>
      <p:sp>
        <p:nvSpPr>
          <p:cNvPr id="58" name="lockshield_18"/>
          <p:cNvSpPr/>
          <p:nvPr/>
        </p:nvSpPr>
        <p:spPr>
          <a:xfrm>
            <a:off x="23812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lockshield_21"/>
          <p:cNvSpPr/>
          <p:nvPr/>
        </p:nvSpPr>
        <p:spPr>
          <a:xfrm>
            <a:off x="4219575" y="2351726"/>
            <a:ext cx="36385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lockshield_24"/>
          <p:cNvSpPr/>
          <p:nvPr/>
        </p:nvSpPr>
        <p:spPr>
          <a:xfrm>
            <a:off x="8201025" y="2351726"/>
            <a:ext cx="3752850" cy="226737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Jade Leaf Matcha Regional Penetration &amp; Win Position (2/5)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Regional penetration and competitive positioning highlighting growth potential, win rates and sales efficiency</a:t>
            </a:r>
          </a:p>
        </p:txBody>
      </p:sp>
      <p:sp>
        <p:nvSpPr>
          <p:cNvPr id="10" name="Rounded Rectangle 9"/>
          <p:cNvSpPr/>
          <p:nvPr/>
        </p:nvSpPr>
        <p:spPr>
          <a:xfrm>
            <a:off x="142875" y="1007261"/>
            <a:ext cx="11906250" cy="255552"/>
          </a:xfrm>
          <a:prstGeom prst="roundRect">
            <a:avLst>
              <a:gd name="adj" fmla="val 2981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Regional penetration and competitive positioning Jade Leaf Matcha: SOM vs SAM by region, win position, TAM/SAM/SOM and go-to-market benchmarks.</a:t>
            </a:r>
          </a:p>
        </p:txBody>
      </p:sp>
      <p:sp>
        <p:nvSpPr>
          <p:cNvPr id="11" name="Rounded Rectangle 10"/>
          <p:cNvSpPr/>
          <p:nvPr/>
        </p:nvSpPr>
        <p:spPr>
          <a:xfrm>
            <a:off x="142875" y="1299320"/>
            <a:ext cx="590550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356470"/>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SOM vs SAM Penetration by Region</a:t>
            </a:r>
          </a:p>
        </p:txBody>
      </p:sp>
      <p:graphicFrame>
        <p:nvGraphicFramePr>
          <p:cNvPr id="13" name="Chart 12"/>
          <p:cNvGraphicFramePr>
            <a:graphicFrameLocks noGrp="1"/>
          </p:cNvGraphicFramePr>
          <p:nvPr/>
        </p:nvGraphicFramePr>
        <p:xfrm>
          <a:off x="238125" y="1585070"/>
          <a:ext cx="5715000" cy="1920559"/>
        </p:xfrm>
        <a:graphic>
          <a:graphicData uri="http://schemas.openxmlformats.org/drawingml/2006/chart">
            <c:chart xmlns:c="http://schemas.openxmlformats.org/drawingml/2006/chart" r:id="rId3"/>
          </a:graphicData>
        </a:graphic>
      </p:graphicFrame>
      <p:sp>
        <p:nvSpPr>
          <p:cNvPr id="14" name="Rounded Rectangle 13"/>
          <p:cNvSpPr/>
          <p:nvPr/>
        </p:nvSpPr>
        <p:spPr>
          <a:xfrm>
            <a:off x="6162675" y="1299320"/>
            <a:ext cx="5886450" cy="2263459"/>
          </a:xfrm>
          <a:prstGeom prst="roundRect">
            <a:avLst>
              <a:gd name="adj" fmla="val 336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6257925" y="1356470"/>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Competitive Win Position</a:t>
            </a:r>
          </a:p>
        </p:txBody>
      </p:sp>
      <p:cxnSp>
        <p:nvCxnSpPr>
          <p:cNvPr id="16" name="Connector 15"/>
          <p:cNvCxnSpPr/>
          <p:nvPr/>
        </p:nvCxnSpPr>
        <p:spPr>
          <a:xfrm>
            <a:off x="6581775" y="3219879"/>
            <a:ext cx="5257800" cy="0"/>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6581775" y="1680320"/>
            <a:ext cx="0" cy="1539559"/>
          </a:xfrm>
          <a:prstGeom prst="line">
            <a:avLst/>
          </a:prstGeom>
          <a:ln w="12700">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6467475" y="3238929"/>
            <a:ext cx="228600" cy="114300"/>
          </a:xfrm>
          <a:prstGeom prst="rect">
            <a:avLst/>
          </a:prstGeom>
          <a:noFill/>
        </p:spPr>
        <p:txBody>
          <a:bodyPr wrap="none" lIns="0" rIns="0" tIns="0" bIns="0">
            <a:spAutoFit/>
          </a:bodyPr>
          <a:lstStyle/>
          <a:p>
            <a:pPr algn="ctr"/>
            <a:r>
              <a:rPr sz="1100" b="0">
                <a:solidFill>
                  <a:srgbClr val="6C7A89"/>
                </a:solidFill>
                <a:latin typeface="Calibri"/>
              </a:rPr>
              <a:t>0</a:t>
            </a:r>
          </a:p>
        </p:txBody>
      </p:sp>
      <p:sp>
        <p:nvSpPr>
          <p:cNvPr id="19" name="TextBox 18"/>
          <p:cNvSpPr txBox="1"/>
          <p:nvPr/>
        </p:nvSpPr>
        <p:spPr>
          <a:xfrm>
            <a:off x="7969704" y="3238929"/>
            <a:ext cx="228600" cy="114300"/>
          </a:xfrm>
          <a:prstGeom prst="rect">
            <a:avLst/>
          </a:prstGeom>
          <a:noFill/>
        </p:spPr>
        <p:txBody>
          <a:bodyPr wrap="none" lIns="0" rIns="0" tIns="0" bIns="0">
            <a:spAutoFit/>
          </a:bodyPr>
          <a:lstStyle/>
          <a:p>
            <a:pPr algn="ctr"/>
            <a:r>
              <a:rPr sz="1100" b="0">
                <a:solidFill>
                  <a:srgbClr val="6C7A89"/>
                </a:solidFill>
                <a:latin typeface="Calibri"/>
              </a:rPr>
              <a:t>1</a:t>
            </a:r>
          </a:p>
        </p:txBody>
      </p:sp>
      <p:sp>
        <p:nvSpPr>
          <p:cNvPr id="20" name="TextBox 19"/>
          <p:cNvSpPr txBox="1"/>
          <p:nvPr/>
        </p:nvSpPr>
        <p:spPr>
          <a:xfrm>
            <a:off x="9471932" y="3238929"/>
            <a:ext cx="228600" cy="114300"/>
          </a:xfrm>
          <a:prstGeom prst="rect">
            <a:avLst/>
          </a:prstGeom>
          <a:noFill/>
        </p:spPr>
        <p:txBody>
          <a:bodyPr wrap="none" lIns="0" rIns="0" tIns="0" bIns="0">
            <a:spAutoFit/>
          </a:bodyPr>
          <a:lstStyle/>
          <a:p>
            <a:pPr algn="ctr"/>
            <a:r>
              <a:rPr sz="1100" b="0">
                <a:solidFill>
                  <a:srgbClr val="6C7A89"/>
                </a:solidFill>
                <a:latin typeface="Calibri"/>
              </a:rPr>
              <a:t>2</a:t>
            </a:r>
          </a:p>
        </p:txBody>
      </p:sp>
      <p:sp>
        <p:nvSpPr>
          <p:cNvPr id="21" name="TextBox 20"/>
          <p:cNvSpPr txBox="1"/>
          <p:nvPr/>
        </p:nvSpPr>
        <p:spPr>
          <a:xfrm>
            <a:off x="10974161" y="3238929"/>
            <a:ext cx="228600" cy="114300"/>
          </a:xfrm>
          <a:prstGeom prst="rect">
            <a:avLst/>
          </a:prstGeom>
          <a:noFill/>
        </p:spPr>
        <p:txBody>
          <a:bodyPr wrap="none" lIns="0" rIns="0" tIns="0" bIns="0">
            <a:spAutoFit/>
          </a:bodyPr>
          <a:lstStyle/>
          <a:p>
            <a:pPr algn="ctr"/>
            <a:r>
              <a:rPr sz="1100" b="0">
                <a:solidFill>
                  <a:srgbClr val="6C7A89"/>
                </a:solidFill>
                <a:latin typeface="Calibri"/>
              </a:rPr>
              <a:t>3</a:t>
            </a:r>
          </a:p>
        </p:txBody>
      </p:sp>
      <p:sp>
        <p:nvSpPr>
          <p:cNvPr id="22" name="TextBox 21"/>
          <p:cNvSpPr txBox="1"/>
          <p:nvPr/>
        </p:nvSpPr>
        <p:spPr>
          <a:xfrm>
            <a:off x="6581775" y="3353229"/>
            <a:ext cx="5257800" cy="114300"/>
          </a:xfrm>
          <a:prstGeom prst="rect">
            <a:avLst/>
          </a:prstGeom>
          <a:noFill/>
        </p:spPr>
        <p:txBody>
          <a:bodyPr wrap="square" lIns="28575" rIns="28575" tIns="9525" bIns="9525">
            <a:spAutoFit/>
          </a:bodyPr>
          <a:lstStyle/>
          <a:p>
            <a:pPr algn="ctr"/>
            <a:r>
              <a:rPr sz="1100" b="0">
                <a:solidFill>
                  <a:srgbClr val="6C7A89"/>
                </a:solidFill>
                <a:latin typeface="Calibri"/>
              </a:rPr>
              <a:t>Win Rate %</a:t>
            </a:r>
          </a:p>
        </p:txBody>
      </p:sp>
      <p:sp>
        <p:nvSpPr>
          <p:cNvPr id="23" name="TextBox 22"/>
          <p:cNvSpPr txBox="1"/>
          <p:nvPr/>
        </p:nvSpPr>
        <p:spPr>
          <a:xfrm rot="16200000">
            <a:off x="6029325" y="2373900"/>
            <a:ext cx="571500" cy="152400"/>
          </a:xfrm>
          <a:prstGeom prst="rect">
            <a:avLst/>
          </a:prstGeom>
          <a:noFill/>
        </p:spPr>
        <p:txBody>
          <a:bodyPr wrap="square" lIns="28575" rIns="28575" tIns="9525" bIns="9525">
            <a:spAutoFit/>
          </a:bodyPr>
          <a:lstStyle/>
          <a:p>
            <a:pPr algn="ctr"/>
            <a:r>
              <a:rPr sz="1100" b="0">
                <a:solidFill>
                  <a:srgbClr val="6C7A89"/>
                </a:solidFill>
                <a:latin typeface="Calibri"/>
              </a:rPr>
              <a:t>ASP vs Peer</a:t>
            </a:r>
          </a:p>
        </p:txBody>
      </p:sp>
      <p:sp>
        <p:nvSpPr>
          <p:cNvPr id="24" name="Oval 23"/>
          <p:cNvSpPr/>
          <p:nvPr/>
        </p:nvSpPr>
        <p:spPr>
          <a:xfrm>
            <a:off x="7359287" y="1979874"/>
            <a:ext cx="247650" cy="247650"/>
          </a:xfrm>
          <a:prstGeom prst="ellipse">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7645037" y="201797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Jade Leaf Matcha</a:t>
            </a:r>
          </a:p>
        </p:txBody>
      </p:sp>
      <p:sp>
        <p:nvSpPr>
          <p:cNvPr id="26" name="Oval 25"/>
          <p:cNvSpPr/>
          <p:nvPr/>
        </p:nvSpPr>
        <p:spPr>
          <a:xfrm>
            <a:off x="9283609" y="1912810"/>
            <a:ext cx="304800" cy="304800"/>
          </a:xfrm>
          <a:prstGeom prst="ellipse">
            <a:avLst/>
          </a:prstGeom>
          <a:solidFill>
            <a:srgbClr val="8C8C8C"/>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9626509" y="1979485"/>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Industry Avg.</a:t>
            </a:r>
          </a:p>
        </p:txBody>
      </p:sp>
      <p:sp>
        <p:nvSpPr>
          <p:cNvPr id="28" name="Oval 27"/>
          <p:cNvSpPr/>
          <p:nvPr/>
        </p:nvSpPr>
        <p:spPr>
          <a:xfrm>
            <a:off x="10513967" y="2711164"/>
            <a:ext cx="247650" cy="247650"/>
          </a:xfrm>
          <a:prstGeom prst="ellipse">
            <a:avLst/>
          </a:prstGeom>
          <a:solidFill>
            <a:srgbClr val="0E72AE"/>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0706100" y="2749264"/>
            <a:ext cx="1428750" cy="171450"/>
          </a:xfrm>
          <a:prstGeom prst="rect">
            <a:avLst/>
          </a:prstGeom>
          <a:noFill/>
        </p:spPr>
        <p:txBody>
          <a:bodyPr wrap="square" lIns="28575" rIns="28575" tIns="9525" bIns="9525" anchor="ctr">
            <a:spAutoFit/>
          </a:bodyPr>
          <a:lstStyle/>
          <a:p>
            <a:pPr algn="l"/>
            <a:r>
              <a:rPr sz="1100" b="1">
                <a:solidFill>
                  <a:srgbClr val="2E2E2E"/>
                </a:solidFill>
                <a:latin typeface="Calibri"/>
              </a:rPr>
              <a:t>Market Leader</a:t>
            </a:r>
          </a:p>
        </p:txBody>
      </p:sp>
      <p:sp>
        <p:nvSpPr>
          <p:cNvPr id="30" name="Rounded Rectangle 29"/>
          <p:cNvSpPr/>
          <p:nvPr/>
        </p:nvSpPr>
        <p:spPr>
          <a:xfrm>
            <a:off x="142875" y="3635794"/>
            <a:ext cx="590550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38125" y="3692944"/>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TAM · SAM · SOM (US$ Mn)</a:t>
            </a:r>
          </a:p>
        </p:txBody>
      </p:sp>
      <p:sp>
        <p:nvSpPr>
          <p:cNvPr id="32" name="Rectangle 31"/>
          <p:cNvSpPr/>
          <p:nvPr/>
        </p:nvSpPr>
        <p:spPr>
          <a:xfrm>
            <a:off x="238125" y="3921544"/>
            <a:ext cx="5715000" cy="363195"/>
          </a:xfrm>
          <a:prstGeom prst="rect">
            <a:avLst/>
          </a:prstGeom>
          <a:solidFill>
            <a:srgbClr val="0A2E4D"/>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TAM  ·  100%  ·  6,718 US$ Mn</a:t>
            </a:r>
          </a:p>
        </p:txBody>
      </p:sp>
      <p:sp>
        <p:nvSpPr>
          <p:cNvPr id="33" name="Rectangle 32"/>
          <p:cNvSpPr/>
          <p:nvPr/>
        </p:nvSpPr>
        <p:spPr>
          <a:xfrm>
            <a:off x="238125" y="4399039"/>
            <a:ext cx="4400550" cy="363195"/>
          </a:xfrm>
          <a:prstGeom prst="rect">
            <a:avLst/>
          </a:prstGeom>
          <a:solidFill>
            <a:srgbClr val="1668A8"/>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4" name="Rectangle 33"/>
          <p:cNvSpPr/>
          <p:nvPr/>
        </p:nvSpPr>
        <p:spPr>
          <a:xfrm>
            <a:off x="238125" y="4876535"/>
            <a:ext cx="3086100" cy="363195"/>
          </a:xfrm>
          <a:prstGeom prst="rect">
            <a:avLst/>
          </a:prstGeom>
          <a:solidFill>
            <a:srgbClr val="29ABE2"/>
          </a:solidFill>
          <a:ln w="1905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57150" tIns="19050" bIns="19050"/>
          <a:lstStyle/>
          <a:p>
            <a:pPr algn="l"/>
            <a:r>
              <a:rPr sz="1150" b="1">
                <a:solidFill>
                  <a:srgbClr val="FFFFFF"/>
                </a:solidFill>
                <a:latin typeface="Calibri"/>
              </a:rPr>
              <a:t/>
            </a:r>
          </a:p>
        </p:txBody>
      </p:sp>
      <p:sp>
        <p:nvSpPr>
          <p:cNvPr id="35" name="Rounded Rectangle 34"/>
          <p:cNvSpPr/>
          <p:nvPr/>
        </p:nvSpPr>
        <p:spPr>
          <a:xfrm>
            <a:off x="6162675" y="3635794"/>
            <a:ext cx="5886450" cy="1661086"/>
          </a:xfrm>
          <a:prstGeom prst="roundRect">
            <a:avLst>
              <a:gd name="adj" fmla="val 4587"/>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6257925" y="3692944"/>
            <a:ext cx="56959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Go-to-Market Benchmarks (Target vs Actual)</a:t>
            </a:r>
          </a:p>
        </p:txBody>
      </p:sp>
      <p:sp>
        <p:nvSpPr>
          <p:cNvPr id="37" name="Rectangle 36"/>
          <p:cNvSpPr/>
          <p:nvPr/>
        </p:nvSpPr>
        <p:spPr>
          <a:xfrm>
            <a:off x="10391775" y="3940594"/>
            <a:ext cx="95250" cy="95250"/>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050607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Target</a:t>
            </a:r>
          </a:p>
        </p:txBody>
      </p:sp>
      <p:sp>
        <p:nvSpPr>
          <p:cNvPr id="39" name="Rectangle 38"/>
          <p:cNvSpPr/>
          <p:nvPr/>
        </p:nvSpPr>
        <p:spPr>
          <a:xfrm>
            <a:off x="11134725" y="3940594"/>
            <a:ext cx="95250" cy="95250"/>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1249025" y="3912019"/>
            <a:ext cx="571500" cy="133350"/>
          </a:xfrm>
          <a:prstGeom prst="rect">
            <a:avLst/>
          </a:prstGeom>
          <a:noFill/>
        </p:spPr>
        <p:txBody>
          <a:bodyPr wrap="square" lIns="28575" rIns="28575" tIns="9525" bIns="9525">
            <a:spAutoFit/>
          </a:bodyPr>
          <a:lstStyle/>
          <a:p>
            <a:pPr algn="l"/>
            <a:r>
              <a:rPr sz="1100" b="0">
                <a:solidFill>
                  <a:srgbClr val="2E2E2E"/>
                </a:solidFill>
                <a:latin typeface="Calibri"/>
              </a:rPr>
              <a:t>Actual</a:t>
            </a:r>
          </a:p>
        </p:txBody>
      </p:sp>
      <p:sp>
        <p:nvSpPr>
          <p:cNvPr id="41" name="TextBox 40"/>
          <p:cNvSpPr txBox="1"/>
          <p:nvPr/>
        </p:nvSpPr>
        <p:spPr>
          <a:xfrm>
            <a:off x="6276975" y="4153941"/>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Conversion (%)</a:t>
            </a:r>
          </a:p>
        </p:txBody>
      </p:sp>
      <p:sp>
        <p:nvSpPr>
          <p:cNvPr id="42" name="Rectangle 41"/>
          <p:cNvSpPr/>
          <p:nvPr/>
        </p:nvSpPr>
        <p:spPr>
          <a:xfrm>
            <a:off x="7381875" y="4164998"/>
            <a:ext cx="1597914"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7381875" y="4277766"/>
            <a:ext cx="301828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6276975" y="4466337"/>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Sales Cycle (Days)</a:t>
            </a:r>
          </a:p>
        </p:txBody>
      </p:sp>
      <p:sp>
        <p:nvSpPr>
          <p:cNvPr id="45" name="Rectangle 44"/>
          <p:cNvSpPr/>
          <p:nvPr/>
        </p:nvSpPr>
        <p:spPr>
          <a:xfrm>
            <a:off x="7381875" y="4477393"/>
            <a:ext cx="3817239"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Rectangle 45"/>
          <p:cNvSpPr/>
          <p:nvPr/>
        </p:nvSpPr>
        <p:spPr>
          <a:xfrm>
            <a:off x="7381875" y="4590162"/>
            <a:ext cx="2219325"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6276975" y="4778732"/>
            <a:ext cx="1066800" cy="228600"/>
          </a:xfrm>
          <a:prstGeom prst="rect">
            <a:avLst/>
          </a:prstGeom>
          <a:noFill/>
        </p:spPr>
        <p:txBody>
          <a:bodyPr wrap="square" lIns="28575" rIns="28575" tIns="9525" bIns="9525" anchor="ctr">
            <a:spAutoFit/>
          </a:bodyPr>
          <a:lstStyle/>
          <a:p>
            <a:pPr algn="l"/>
            <a:r>
              <a:rPr sz="1100" b="0">
                <a:solidFill>
                  <a:srgbClr val="2E2E2E"/>
                </a:solidFill>
                <a:latin typeface="Calibri"/>
              </a:rPr>
              <a:t>Pipeline Coverage</a:t>
            </a:r>
          </a:p>
        </p:txBody>
      </p:sp>
      <p:sp>
        <p:nvSpPr>
          <p:cNvPr id="48" name="Rectangle 47"/>
          <p:cNvSpPr/>
          <p:nvPr/>
        </p:nvSpPr>
        <p:spPr>
          <a:xfrm>
            <a:off x="7381875" y="4789789"/>
            <a:ext cx="2130552" cy="93719"/>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7381875" y="4902557"/>
            <a:ext cx="3906012" cy="93719"/>
          </a:xfrm>
          <a:prstGeom prst="rect">
            <a:avLst/>
          </a:pr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Rounded Rectangle 49"/>
          <p:cNvSpPr/>
          <p:nvPr/>
        </p:nvSpPr>
        <p:spPr>
          <a:xfrm>
            <a:off x="142875" y="5369895"/>
            <a:ext cx="11906250" cy="1259505"/>
          </a:xfrm>
          <a:prstGeom prst="roundRect">
            <a:avLst>
              <a:gd name="adj" fmla="val 604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276225" y="5455620"/>
            <a:ext cx="11639550" cy="209550"/>
          </a:xfrm>
          <a:prstGeom prst="rect">
            <a:avLst/>
          </a:prstGeom>
          <a:noFill/>
        </p:spPr>
        <p:txBody>
          <a:bodyPr wrap="square" lIns="0" rIns="19050" tIns="9525" bIns="9525">
            <a:spAutoFit/>
          </a:bodyPr>
          <a:lstStyle/>
          <a:p>
            <a:pPr algn="l"/>
            <a:r>
              <a:rPr sz="1300" b="1">
                <a:solidFill>
                  <a:srgbClr val="0B2E4A"/>
                </a:solidFill>
                <a:latin typeface="Calibri"/>
              </a:rPr>
              <a:t>Key Takeaways</a:t>
            </a:r>
          </a:p>
        </p:txBody>
      </p:sp>
      <p:sp>
        <p:nvSpPr>
          <p:cNvPr id="52" name="Rectangle 51"/>
          <p:cNvSpPr/>
          <p:nvPr/>
        </p:nvSpPr>
        <p:spPr>
          <a:xfrm>
            <a:off x="276225" y="5693745"/>
            <a:ext cx="116395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76225" y="5779470"/>
            <a:ext cx="11639550" cy="773730"/>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00" b="0">
                <a:solidFill>
                  <a:srgbClr val="2E2E2E"/>
                </a:solidFill>
                <a:latin typeface="Calibri"/>
              </a:rPr>
              <a:t/>
            </a:r>
          </a:p>
        </p:txBody>
      </p:sp>
      <p:sp>
        <p:nvSpPr>
          <p:cNvPr id="54" name="TextBox 5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55" name="Picture 54" descr="lock.png"/>
          <p:cNvPicPr>
            <a:picLocks noChangeAspect="1"/>
          </p:cNvPicPr>
          <p:nvPr/>
        </p:nvPicPr>
        <p:blipFill>
          <a:blip r:embed="rId5"/>
          <a:stretch>
            <a:fillRect/>
          </a:stretch>
        </p:blipFill>
        <p:spPr>
          <a:xfrm>
            <a:off x="3327425" y="2314517"/>
            <a:ext cx="199521" cy="290213"/>
          </a:xfrm>
          <a:prstGeom prst="rect">
            <a:avLst/>
          </a:prstGeom>
        </p:spPr>
      </p:pic>
      <p:sp>
        <p:nvSpPr>
          <p:cNvPr id="56" name="TextBox 55"/>
          <p:cNvSpPr txBox="1"/>
          <p:nvPr/>
        </p:nvSpPr>
        <p:spPr>
          <a:xfrm>
            <a:off x="352425" y="4493006"/>
            <a:ext cx="433623" cy="194310"/>
          </a:xfrm>
          <a:prstGeom prst="rect">
            <a:avLst/>
          </a:prstGeom>
          <a:noFill/>
        </p:spPr>
        <p:txBody>
          <a:bodyPr wrap="none" lIns="0" rIns="0" tIns="0" bIns="0">
            <a:spAutoFit/>
          </a:bodyPr>
          <a:lstStyle/>
          <a:p>
            <a:r>
              <a:rPr sz="1150" b="1">
                <a:solidFill>
                  <a:srgbClr val="FFFFFF"/>
                </a:solidFill>
                <a:latin typeface="Calibri"/>
              </a:rPr>
              <a:t>SAM ·</a:t>
            </a:r>
          </a:p>
        </p:txBody>
      </p:sp>
      <p:pic>
        <p:nvPicPr>
          <p:cNvPr id="57" name="Picture 56" descr="lock.png"/>
          <p:cNvPicPr>
            <a:picLocks noChangeAspect="1"/>
          </p:cNvPicPr>
          <p:nvPr/>
        </p:nvPicPr>
        <p:blipFill>
          <a:blip r:embed="rId5"/>
          <a:stretch>
            <a:fillRect/>
          </a:stretch>
        </p:blipFill>
        <p:spPr>
          <a:xfrm>
            <a:off x="735202" y="4482783"/>
            <a:ext cx="134549" cy="195707"/>
          </a:xfrm>
          <a:prstGeom prst="rect">
            <a:avLst/>
          </a:prstGeom>
        </p:spPr>
      </p:pic>
      <p:sp>
        <p:nvSpPr>
          <p:cNvPr id="58" name="TextBox 57"/>
          <p:cNvSpPr txBox="1"/>
          <p:nvPr/>
        </p:nvSpPr>
        <p:spPr>
          <a:xfrm>
            <a:off x="910311" y="4493006"/>
            <a:ext cx="594791" cy="194310"/>
          </a:xfrm>
          <a:prstGeom prst="rect">
            <a:avLst/>
          </a:prstGeom>
          <a:noFill/>
        </p:spPr>
        <p:txBody>
          <a:bodyPr wrap="none" lIns="0" rIns="0" tIns="0" bIns="0">
            <a:spAutoFit/>
          </a:bodyPr>
          <a:lstStyle/>
          <a:p>
            <a:r>
              <a:rPr sz="1150" b="1">
                <a:solidFill>
                  <a:srgbClr val="FFFFFF"/>
                </a:solidFill>
                <a:latin typeface="Calibri"/>
              </a:rPr>
              <a:t>of TAM ·</a:t>
            </a:r>
          </a:p>
        </p:txBody>
      </p:sp>
      <p:pic>
        <p:nvPicPr>
          <p:cNvPr id="59" name="Picture 58" descr="lock.png"/>
          <p:cNvPicPr>
            <a:picLocks noChangeAspect="1"/>
          </p:cNvPicPr>
          <p:nvPr/>
        </p:nvPicPr>
        <p:blipFill>
          <a:blip r:embed="rId5"/>
          <a:stretch>
            <a:fillRect/>
          </a:stretch>
        </p:blipFill>
        <p:spPr>
          <a:xfrm>
            <a:off x="1454256" y="4482783"/>
            <a:ext cx="134549" cy="195707"/>
          </a:xfrm>
          <a:prstGeom prst="rect">
            <a:avLst/>
          </a:prstGeom>
        </p:spPr>
      </p:pic>
      <p:sp>
        <p:nvSpPr>
          <p:cNvPr id="60" name="TextBox 59"/>
          <p:cNvSpPr txBox="1"/>
          <p:nvPr/>
        </p:nvSpPr>
        <p:spPr>
          <a:xfrm>
            <a:off x="1629366" y="4493006"/>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1" name="TextBox 60"/>
          <p:cNvSpPr txBox="1"/>
          <p:nvPr/>
        </p:nvSpPr>
        <p:spPr>
          <a:xfrm>
            <a:off x="352425" y="4970502"/>
            <a:ext cx="443892" cy="194310"/>
          </a:xfrm>
          <a:prstGeom prst="rect">
            <a:avLst/>
          </a:prstGeom>
          <a:noFill/>
        </p:spPr>
        <p:txBody>
          <a:bodyPr wrap="none" lIns="0" rIns="0" tIns="0" bIns="0">
            <a:spAutoFit/>
          </a:bodyPr>
          <a:lstStyle/>
          <a:p>
            <a:r>
              <a:rPr sz="1150" b="1">
                <a:solidFill>
                  <a:srgbClr val="FFFFFF"/>
                </a:solidFill>
                <a:latin typeface="Calibri"/>
              </a:rPr>
              <a:t>SOM ·</a:t>
            </a:r>
          </a:p>
        </p:txBody>
      </p:sp>
      <p:pic>
        <p:nvPicPr>
          <p:cNvPr id="62" name="Picture 61" descr="lock.png"/>
          <p:cNvPicPr>
            <a:picLocks noChangeAspect="1"/>
          </p:cNvPicPr>
          <p:nvPr/>
        </p:nvPicPr>
        <p:blipFill>
          <a:blip r:embed="rId5"/>
          <a:stretch>
            <a:fillRect/>
          </a:stretch>
        </p:blipFill>
        <p:spPr>
          <a:xfrm>
            <a:off x="745471" y="4960279"/>
            <a:ext cx="134549" cy="195707"/>
          </a:xfrm>
          <a:prstGeom prst="rect">
            <a:avLst/>
          </a:prstGeom>
        </p:spPr>
      </p:pic>
      <p:sp>
        <p:nvSpPr>
          <p:cNvPr id="63" name="TextBox 62"/>
          <p:cNvSpPr txBox="1"/>
          <p:nvPr/>
        </p:nvSpPr>
        <p:spPr>
          <a:xfrm>
            <a:off x="920580" y="4970502"/>
            <a:ext cx="591368" cy="194310"/>
          </a:xfrm>
          <a:prstGeom prst="rect">
            <a:avLst/>
          </a:prstGeom>
          <a:noFill/>
        </p:spPr>
        <p:txBody>
          <a:bodyPr wrap="none" lIns="0" rIns="0" tIns="0" bIns="0">
            <a:spAutoFit/>
          </a:bodyPr>
          <a:lstStyle/>
          <a:p>
            <a:r>
              <a:rPr sz="1150" b="1">
                <a:solidFill>
                  <a:srgbClr val="FFFFFF"/>
                </a:solidFill>
                <a:latin typeface="Calibri"/>
              </a:rPr>
              <a:t>of SAM ·</a:t>
            </a:r>
          </a:p>
        </p:txBody>
      </p:sp>
      <p:pic>
        <p:nvPicPr>
          <p:cNvPr id="64" name="Picture 63" descr="lock.png"/>
          <p:cNvPicPr>
            <a:picLocks noChangeAspect="1"/>
          </p:cNvPicPr>
          <p:nvPr/>
        </p:nvPicPr>
        <p:blipFill>
          <a:blip r:embed="rId5"/>
          <a:stretch>
            <a:fillRect/>
          </a:stretch>
        </p:blipFill>
        <p:spPr>
          <a:xfrm>
            <a:off x="1461102" y="4960279"/>
            <a:ext cx="134549" cy="195707"/>
          </a:xfrm>
          <a:prstGeom prst="rect">
            <a:avLst/>
          </a:prstGeom>
        </p:spPr>
      </p:pic>
      <p:sp>
        <p:nvSpPr>
          <p:cNvPr id="65" name="TextBox 64"/>
          <p:cNvSpPr txBox="1"/>
          <p:nvPr/>
        </p:nvSpPr>
        <p:spPr>
          <a:xfrm>
            <a:off x="1636212" y="4970502"/>
            <a:ext cx="554000" cy="194310"/>
          </a:xfrm>
          <a:prstGeom prst="rect">
            <a:avLst/>
          </a:prstGeom>
          <a:noFill/>
        </p:spPr>
        <p:txBody>
          <a:bodyPr wrap="none" lIns="0" rIns="0" tIns="0" bIns="0">
            <a:spAutoFit/>
          </a:bodyPr>
          <a:lstStyle/>
          <a:p>
            <a:r>
              <a:rPr sz="1150" b="1">
                <a:solidFill>
                  <a:srgbClr val="FFFFFF"/>
                </a:solidFill>
                <a:latin typeface="Calibri"/>
              </a:rPr>
              <a:t>US$ Mn</a:t>
            </a:r>
          </a:p>
        </p:txBody>
      </p:sp>
      <p:sp>
        <p:nvSpPr>
          <p:cNvPr id="66" name="TextBox 65"/>
          <p:cNvSpPr txBox="1"/>
          <p:nvPr/>
        </p:nvSpPr>
        <p:spPr>
          <a:xfrm>
            <a:off x="276225" y="5788995"/>
            <a:ext cx="7663656" cy="186689"/>
          </a:xfrm>
          <a:prstGeom prst="rect">
            <a:avLst/>
          </a:prstGeom>
          <a:noFill/>
        </p:spPr>
        <p:txBody>
          <a:bodyPr wrap="none" lIns="0" rIns="0" tIns="0" bIns="0">
            <a:spAutoFit/>
          </a:bodyPr>
          <a:lstStyle/>
          <a:p>
            <a:r>
              <a:rPr sz="1100" b="0">
                <a:solidFill>
                  <a:srgbClr val="2E2E2E"/>
                </a:solidFill>
                <a:latin typeface="Calibri"/>
              </a:rPr>
              <a:t>▪ Regional Opportunity: 'Rest of the World' shows the highest SAM penetration; lower-penetration regions are the growth headroom.</a:t>
            </a:r>
          </a:p>
        </p:txBody>
      </p:sp>
      <p:sp>
        <p:nvSpPr>
          <p:cNvPr id="67" name="TextBox 66"/>
          <p:cNvSpPr txBox="1"/>
          <p:nvPr/>
        </p:nvSpPr>
        <p:spPr>
          <a:xfrm>
            <a:off x="276225" y="6006927"/>
            <a:ext cx="1297999" cy="186689"/>
          </a:xfrm>
          <a:prstGeom prst="rect">
            <a:avLst/>
          </a:prstGeom>
          <a:noFill/>
        </p:spPr>
        <p:txBody>
          <a:bodyPr wrap="none" lIns="0" rIns="0" tIns="0" bIns="0">
            <a:spAutoFit/>
          </a:bodyPr>
          <a:lstStyle/>
          <a:p>
            <a:r>
              <a:rPr sz="1100" b="0">
                <a:solidFill>
                  <a:srgbClr val="2E2E2E"/>
                </a:solidFill>
                <a:latin typeface="Calibri"/>
              </a:rPr>
              <a:t>▪ Competitive Edge: ~</a:t>
            </a:r>
          </a:p>
        </p:txBody>
      </p:sp>
      <p:pic>
        <p:nvPicPr>
          <p:cNvPr id="68" name="Picture 67" descr="lock.png"/>
          <p:cNvPicPr>
            <a:picLocks noChangeAspect="1"/>
          </p:cNvPicPr>
          <p:nvPr/>
        </p:nvPicPr>
        <p:blipFill>
          <a:blip r:embed="rId5"/>
          <a:stretch>
            <a:fillRect/>
          </a:stretch>
        </p:blipFill>
        <p:spPr>
          <a:xfrm>
            <a:off x="1522276" y="5997147"/>
            <a:ext cx="128699" cy="187198"/>
          </a:xfrm>
          <a:prstGeom prst="rect">
            <a:avLst/>
          </a:prstGeom>
        </p:spPr>
      </p:pic>
      <p:sp>
        <p:nvSpPr>
          <p:cNvPr id="69" name="TextBox 68"/>
          <p:cNvSpPr txBox="1"/>
          <p:nvPr/>
        </p:nvSpPr>
        <p:spPr>
          <a:xfrm>
            <a:off x="1689771" y="6006927"/>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70" name="Picture 69" descr="lock.png"/>
          <p:cNvPicPr>
            <a:picLocks noChangeAspect="1"/>
          </p:cNvPicPr>
          <p:nvPr/>
        </p:nvPicPr>
        <p:blipFill>
          <a:blip r:embed="rId5"/>
          <a:stretch>
            <a:fillRect/>
          </a:stretch>
        </p:blipFill>
        <p:spPr>
          <a:xfrm>
            <a:off x="2667093" y="5997147"/>
            <a:ext cx="128699" cy="187198"/>
          </a:xfrm>
          <a:prstGeom prst="rect">
            <a:avLst/>
          </a:prstGeom>
        </p:spPr>
      </p:pic>
      <p:sp>
        <p:nvSpPr>
          <p:cNvPr id="71" name="TextBox 70"/>
          <p:cNvSpPr txBox="1"/>
          <p:nvPr/>
        </p:nvSpPr>
        <p:spPr>
          <a:xfrm>
            <a:off x="2834589" y="6006927"/>
            <a:ext cx="2311400" cy="186689"/>
          </a:xfrm>
          <a:prstGeom prst="rect">
            <a:avLst/>
          </a:prstGeom>
          <a:noFill/>
        </p:spPr>
        <p:txBody>
          <a:bodyPr wrap="none" lIns="0" rIns="0" tIns="0" bIns="0">
            <a:spAutoFit/>
          </a:bodyPr>
          <a:lstStyle/>
          <a:p>
            <a:r>
              <a:rPr sz="1100" b="0">
                <a:solidFill>
                  <a:srgbClr val="2E2E2E"/>
                </a:solidFill>
                <a:latin typeface="Calibri"/>
              </a:rPr>
              <a:t>ASP premium signals value recognition;</a:t>
            </a:r>
          </a:p>
        </p:txBody>
      </p:sp>
      <p:pic>
        <p:nvPicPr>
          <p:cNvPr id="72" name="Picture 71" descr="lock.png"/>
          <p:cNvPicPr>
            <a:picLocks noChangeAspect="1"/>
          </p:cNvPicPr>
          <p:nvPr/>
        </p:nvPicPr>
        <p:blipFill>
          <a:blip r:embed="rId5"/>
          <a:stretch>
            <a:fillRect/>
          </a:stretch>
        </p:blipFill>
        <p:spPr>
          <a:xfrm>
            <a:off x="5094041" y="5997147"/>
            <a:ext cx="128699" cy="187198"/>
          </a:xfrm>
          <a:prstGeom prst="rect">
            <a:avLst/>
          </a:prstGeom>
        </p:spPr>
      </p:pic>
      <p:sp>
        <p:nvSpPr>
          <p:cNvPr id="73" name="TextBox 72"/>
          <p:cNvSpPr txBox="1"/>
          <p:nvPr/>
        </p:nvSpPr>
        <p:spPr>
          <a:xfrm>
            <a:off x="5261537" y="6006927"/>
            <a:ext cx="2251645" cy="186689"/>
          </a:xfrm>
          <a:prstGeom prst="rect">
            <a:avLst/>
          </a:prstGeom>
          <a:noFill/>
        </p:spPr>
        <p:txBody>
          <a:bodyPr wrap="none" lIns="0" rIns="0" tIns="0" bIns="0">
            <a:spAutoFit/>
          </a:bodyPr>
          <a:lstStyle/>
          <a:p>
            <a:r>
              <a:rPr sz="1100" b="0">
                <a:solidFill>
                  <a:srgbClr val="2E2E2E"/>
                </a:solidFill>
                <a:latin typeface="Calibri"/>
              </a:rPr>
              <a:t>x pipeline coverage underpins growth.</a:t>
            </a:r>
          </a:p>
        </p:txBody>
      </p:sp>
      <p:sp>
        <p:nvSpPr>
          <p:cNvPr id="74" name="TextBox 73"/>
          <p:cNvSpPr txBox="1"/>
          <p:nvPr/>
        </p:nvSpPr>
        <p:spPr>
          <a:xfrm>
            <a:off x="276225" y="6224859"/>
            <a:ext cx="2615015" cy="186689"/>
          </a:xfrm>
          <a:prstGeom prst="rect">
            <a:avLst/>
          </a:prstGeom>
          <a:noFill/>
        </p:spPr>
        <p:txBody>
          <a:bodyPr wrap="none" lIns="0" rIns="0" tIns="0" bIns="0">
            <a:spAutoFit/>
          </a:bodyPr>
          <a:lstStyle/>
          <a:p>
            <a:r>
              <a:rPr sz="1100" b="0">
                <a:solidFill>
                  <a:srgbClr val="2E2E2E"/>
                </a:solidFill>
                <a:latin typeface="Calibri"/>
              </a:rPr>
              <a:t>▪ Sales Efficiency: a ~95-day sales cycle and ~</a:t>
            </a:r>
          </a:p>
        </p:txBody>
      </p:sp>
      <p:pic>
        <p:nvPicPr>
          <p:cNvPr id="75" name="Picture 74" descr="lock.png"/>
          <p:cNvPicPr>
            <a:picLocks noChangeAspect="1"/>
          </p:cNvPicPr>
          <p:nvPr/>
        </p:nvPicPr>
        <p:blipFill>
          <a:blip r:embed="rId5"/>
          <a:stretch>
            <a:fillRect/>
          </a:stretch>
        </p:blipFill>
        <p:spPr>
          <a:xfrm>
            <a:off x="2839292" y="6215079"/>
            <a:ext cx="128699" cy="187198"/>
          </a:xfrm>
          <a:prstGeom prst="rect">
            <a:avLst/>
          </a:prstGeom>
        </p:spPr>
      </p:pic>
      <p:sp>
        <p:nvSpPr>
          <p:cNvPr id="76" name="TextBox 75"/>
          <p:cNvSpPr txBox="1"/>
          <p:nvPr/>
        </p:nvSpPr>
        <p:spPr>
          <a:xfrm>
            <a:off x="3006787" y="6224859"/>
            <a:ext cx="2384524" cy="186689"/>
          </a:xfrm>
          <a:prstGeom prst="rect">
            <a:avLst/>
          </a:prstGeom>
          <a:noFill/>
        </p:spPr>
        <p:txBody>
          <a:bodyPr wrap="none" lIns="0" rIns="0" tIns="0" bIns="0">
            <a:spAutoFit/>
          </a:bodyPr>
          <a:lstStyle/>
          <a:p>
            <a:r>
              <a:rPr sz="1100" b="0">
                <a:solidFill>
                  <a:srgbClr val="2E2E2E"/>
                </a:solidFill>
                <a:latin typeface="Calibri"/>
              </a:rPr>
              <a:t>conversion support faster share capture.</a:t>
            </a:r>
          </a:p>
        </p:txBody>
      </p:sp>
      <p:sp>
        <p:nvSpPr>
          <p:cNvPr id="77" name="lockshield_13"/>
          <p:cNvSpPr/>
          <p:nvPr/>
        </p:nvSpPr>
        <p:spPr>
          <a:xfrm>
            <a:off x="238125" y="1585070"/>
            <a:ext cx="5715000" cy="1920559"/>
          </a:xfrm>
          <a:prstGeom prst="rect">
            <a:avLst/>
          </a:prstGeom>
          <a:solidFill>
            <a:srgbClr val="FFFFFF">
              <a:alpha val="1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Tree>
  </p:cSld>
  <p:clrMapOvr>
    <a:masterClrMapping/>
  </p:clrMapOvr>
</p:sld>
</file>

<file path=ppt/slides/slide28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Jade Leaf Matcha SWOT Analysis (3/5)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SWOT assessment of Jade Leaf Matcha: strengths, weaknesses, opportunities and threats shaping its competitive position</a:t>
            </a:r>
          </a:p>
        </p:txBody>
      </p:sp>
      <p:sp>
        <p:nvSpPr>
          <p:cNvPr id="10" name="TextBox 9"/>
          <p:cNvSpPr txBox="1"/>
          <p:nvPr/>
        </p:nvSpPr>
        <p:spPr>
          <a:xfrm>
            <a:off x="142875" y="1007261"/>
            <a:ext cx="11906250" cy="164283"/>
          </a:xfrm>
          <a:prstGeom prst="rect">
            <a:avLst/>
          </a:prstGeom>
          <a:noFill/>
        </p:spPr>
        <p:txBody>
          <a:bodyPr wrap="square" lIns="28575" rIns="28575" tIns="9525" bIns="9525" anchor="ctr">
            <a:spAutoFit/>
          </a:bodyPr>
          <a:lstStyle/>
          <a:p>
            <a:pPr algn="l"/>
            <a:r>
              <a:rPr sz="1150" b="0">
                <a:solidFill>
                  <a:srgbClr val="2E2E2E"/>
                </a:solidFill>
                <a:latin typeface="Calibri"/>
              </a:rPr>
              <a:t>SWOT assessment Jade Leaf Matcha: strengths, weaknesses, opportunities and threats (indicative).</a:t>
            </a:r>
          </a:p>
        </p:txBody>
      </p:sp>
      <p:cxnSp>
        <p:nvCxnSpPr>
          <p:cNvPr id="11" name="Connector 10"/>
          <p:cNvCxnSpPr/>
          <p:nvPr/>
        </p:nvCxnSpPr>
        <p:spPr>
          <a:xfrm>
            <a:off x="3810000" y="3891345"/>
            <a:ext cx="4572000" cy="0"/>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cxnSp>
        <p:nvCxnSpPr>
          <p:cNvPr id="12" name="Connector 11"/>
          <p:cNvCxnSpPr/>
          <p:nvPr/>
        </p:nvCxnSpPr>
        <p:spPr>
          <a:xfrm>
            <a:off x="6096000" y="1919946"/>
            <a:ext cx="0" cy="3942799"/>
          </a:xfrm>
          <a:prstGeom prst="line">
            <a:avLst/>
          </a:prstGeom>
          <a:ln w="17780">
            <a:solidFill>
              <a:srgbClr val="B9C4CE"/>
            </a:solidFill>
          </a:ln>
          <a:effectLst/>
        </p:spPr>
        <p:style>
          <a:lnRef idx="2">
            <a:schemeClr val="accent1"/>
          </a:lnRef>
          <a:fillRef idx="0">
            <a:schemeClr val="accent1"/>
          </a:fillRef>
          <a:effectRef idx="1">
            <a:schemeClr val="accent1"/>
          </a:effectRef>
          <a:fontRef idx="minor">
            <a:schemeClr val="tx1"/>
          </a:fontRef>
        </p:style>
      </p:cxnSp>
      <p:sp>
        <p:nvSpPr>
          <p:cNvPr id="13" name="Oval 12"/>
          <p:cNvSpPr/>
          <p:nvPr/>
        </p:nvSpPr>
        <p:spPr>
          <a:xfrm>
            <a:off x="3757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Oval 13"/>
          <p:cNvSpPr/>
          <p:nvPr/>
        </p:nvSpPr>
        <p:spPr>
          <a:xfrm>
            <a:off x="8329612" y="38411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Oval 14"/>
          <p:cNvSpPr/>
          <p:nvPr/>
        </p:nvSpPr>
        <p:spPr>
          <a:xfrm>
            <a:off x="6043612" y="1869748"/>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Oval 15"/>
          <p:cNvSpPr/>
          <p:nvPr/>
        </p:nvSpPr>
        <p:spPr>
          <a:xfrm>
            <a:off x="6043612" y="5812547"/>
            <a:ext cx="104775" cy="100395"/>
          </a:xfrm>
          <a:prstGeom prst="ellipse">
            <a:avLst/>
          </a:prstGeom>
          <a:solidFill>
            <a:srgbClr val="B9C4CE"/>
          </a:solidFill>
          <a:ln w="12700">
            <a:solidFill>
              <a:srgbClr val="B9C4C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Rounded Rectangle 16"/>
          <p:cNvSpPr/>
          <p:nvPr/>
        </p:nvSpPr>
        <p:spPr>
          <a:xfrm>
            <a:off x="4724400" y="2577079"/>
            <a:ext cx="1257300" cy="1204744"/>
          </a:xfrm>
          <a:prstGeom prst="roundRect">
            <a:avLst>
              <a:gd name="adj" fmla="val 12121"/>
            </a:avLst>
          </a:prstGeom>
          <a:noFill/>
          <a:ln w="19050">
            <a:solidFill>
              <a:srgbClr val="69B1E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Rounded Rectangle 17"/>
          <p:cNvSpPr/>
          <p:nvPr/>
        </p:nvSpPr>
        <p:spPr>
          <a:xfrm>
            <a:off x="6210300" y="2577079"/>
            <a:ext cx="1257300" cy="1204744"/>
          </a:xfrm>
          <a:prstGeom prst="roundRect">
            <a:avLst>
              <a:gd name="adj" fmla="val 12121"/>
            </a:avLst>
          </a:prstGeom>
          <a:noFill/>
          <a:ln w="19050">
            <a:solidFill>
              <a:srgbClr val="0B2E4A"/>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Rounded Rectangle 18"/>
          <p:cNvSpPr/>
          <p:nvPr/>
        </p:nvSpPr>
        <p:spPr>
          <a:xfrm>
            <a:off x="4724400" y="4000868"/>
            <a:ext cx="1257300" cy="1204744"/>
          </a:xfrm>
          <a:prstGeom prst="roundRect">
            <a:avLst>
              <a:gd name="adj" fmla="val 12121"/>
            </a:avLst>
          </a:prstGeom>
          <a:noFill/>
          <a:ln w="19050">
            <a:solidFill>
              <a:srgbClr val="A35313"/>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Rounded Rectangle 19"/>
          <p:cNvSpPr/>
          <p:nvPr/>
        </p:nvSpPr>
        <p:spPr>
          <a:xfrm>
            <a:off x="6210300" y="4000868"/>
            <a:ext cx="1257300" cy="1204744"/>
          </a:xfrm>
          <a:prstGeom prst="roundRect">
            <a:avLst>
              <a:gd name="adj" fmla="val 12121"/>
            </a:avLst>
          </a:prstGeom>
          <a:noFill/>
          <a:ln w="19050">
            <a:solidFill>
              <a:srgbClr val="A86F00"/>
            </a:solidFill>
            <a:prstDash val="dash"/>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Freeform 20"/>
          <p:cNvSpPr/>
          <p:nvPr/>
        </p:nvSpPr>
        <p:spPr>
          <a:xfrm>
            <a:off x="5524500" y="2978660"/>
            <a:ext cx="1143000" cy="803163"/>
          </a:xfrm>
          <a:custGeom>
            <a:avLst/>
            <a:gdLst/>
            <a:ahLst/>
            <a:cxnLst/>
            <a:rect l="l" t="t" r="r" b="b"/>
            <a:pathLst>
              <a:path w="120" h="88">
                <a:moveTo>
                  <a:pt x="0" y="0"/>
                </a:moveTo>
                <a:lnTo>
                  <a:pt x="120" y="0"/>
                </a:lnTo>
                <a:lnTo>
                  <a:pt x="60" y="88"/>
                </a:lnTo>
                <a:close/>
              </a:path>
            </a:pathLst>
          </a:custGeom>
          <a:solidFill>
            <a:srgbClr val="69B1E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Freeform 21"/>
          <p:cNvSpPr/>
          <p:nvPr/>
        </p:nvSpPr>
        <p:spPr>
          <a:xfrm>
            <a:off x="5524500" y="4000868"/>
            <a:ext cx="1143000" cy="803163"/>
          </a:xfrm>
          <a:custGeom>
            <a:avLst/>
            <a:gdLst/>
            <a:ahLst/>
            <a:cxnLst/>
            <a:rect l="l" t="t" r="r" b="b"/>
            <a:pathLst>
              <a:path w="120" h="88">
                <a:moveTo>
                  <a:pt x="0" y="88"/>
                </a:moveTo>
                <a:lnTo>
                  <a:pt x="120" y="88"/>
                </a:lnTo>
                <a:lnTo>
                  <a:pt x="60" y="0"/>
                </a:lnTo>
                <a:close/>
              </a:path>
            </a:pathLst>
          </a:cu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Freeform 22"/>
          <p:cNvSpPr/>
          <p:nvPr/>
        </p:nvSpPr>
        <p:spPr>
          <a:xfrm>
            <a:off x="5143500" y="3343734"/>
            <a:ext cx="838200" cy="1095222"/>
          </a:xfrm>
          <a:custGeom>
            <a:avLst/>
            <a:gdLst/>
            <a:ahLst/>
            <a:cxnLst/>
            <a:rect l="l" t="t" r="r" b="b"/>
            <a:pathLst>
              <a:path w="88" h="120">
                <a:moveTo>
                  <a:pt x="0" y="0"/>
                </a:moveTo>
                <a:lnTo>
                  <a:pt x="0" y="120"/>
                </a:lnTo>
                <a:lnTo>
                  <a:pt x="88" y="60"/>
                </a:lnTo>
                <a:close/>
              </a:path>
            </a:pathLst>
          </a:cu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Freeform 23"/>
          <p:cNvSpPr/>
          <p:nvPr/>
        </p:nvSpPr>
        <p:spPr>
          <a:xfrm>
            <a:off x="6210300" y="3343734"/>
            <a:ext cx="838200" cy="1095222"/>
          </a:xfrm>
          <a:custGeom>
            <a:avLst/>
            <a:gdLst/>
            <a:ahLst/>
            <a:cxnLst/>
            <a:rect l="l" t="t" r="r" b="b"/>
            <a:pathLst>
              <a:path w="88" h="120">
                <a:moveTo>
                  <a:pt x="88" y="0"/>
                </a:moveTo>
                <a:lnTo>
                  <a:pt x="88" y="120"/>
                </a:lnTo>
                <a:lnTo>
                  <a:pt x="0" y="60"/>
                </a:lnTo>
                <a:close/>
              </a:path>
            </a:pathLst>
          </a:cu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5886450" y="3243339"/>
            <a:ext cx="419100" cy="273805"/>
          </a:xfrm>
          <a:prstGeom prst="rect">
            <a:avLst/>
          </a:prstGeom>
          <a:noFill/>
        </p:spPr>
        <p:txBody>
          <a:bodyPr wrap="none" lIns="0" rIns="0" tIns="0" bIns="0" anchor="ctr">
            <a:spAutoFit/>
          </a:bodyPr>
          <a:lstStyle/>
          <a:p>
            <a:pPr algn="ctr"/>
            <a:r>
              <a:rPr sz="2100" b="1">
                <a:solidFill>
                  <a:srgbClr val="1F2933"/>
                </a:solidFill>
                <a:latin typeface="Calibri"/>
              </a:rPr>
              <a:t>S</a:t>
            </a:r>
          </a:p>
        </p:txBody>
      </p:sp>
      <p:sp>
        <p:nvSpPr>
          <p:cNvPr id="26" name="TextBox 25"/>
          <p:cNvSpPr txBox="1"/>
          <p:nvPr/>
        </p:nvSpPr>
        <p:spPr>
          <a:xfrm>
            <a:off x="5886450" y="4265546"/>
            <a:ext cx="419100" cy="273805"/>
          </a:xfrm>
          <a:prstGeom prst="rect">
            <a:avLst/>
          </a:prstGeom>
          <a:noFill/>
        </p:spPr>
        <p:txBody>
          <a:bodyPr wrap="none" lIns="0" rIns="0" tIns="0" bIns="0" anchor="ctr">
            <a:spAutoFit/>
          </a:bodyPr>
          <a:lstStyle/>
          <a:p>
            <a:pPr algn="ctr"/>
            <a:r>
              <a:rPr sz="2100" b="1">
                <a:solidFill>
                  <a:srgbClr val="FFFFFF"/>
                </a:solidFill>
                <a:latin typeface="Calibri"/>
              </a:rPr>
              <a:t>O</a:t>
            </a:r>
          </a:p>
        </p:txBody>
      </p:sp>
      <p:sp>
        <p:nvSpPr>
          <p:cNvPr id="27" name="TextBox 26"/>
          <p:cNvSpPr txBox="1"/>
          <p:nvPr/>
        </p:nvSpPr>
        <p:spPr>
          <a:xfrm>
            <a:off x="53530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T</a:t>
            </a:r>
          </a:p>
        </p:txBody>
      </p:sp>
      <p:sp>
        <p:nvSpPr>
          <p:cNvPr id="28" name="TextBox 27"/>
          <p:cNvSpPr txBox="1"/>
          <p:nvPr/>
        </p:nvSpPr>
        <p:spPr>
          <a:xfrm>
            <a:off x="6419850" y="3754443"/>
            <a:ext cx="419100" cy="273805"/>
          </a:xfrm>
          <a:prstGeom prst="rect">
            <a:avLst/>
          </a:prstGeom>
          <a:noFill/>
        </p:spPr>
        <p:txBody>
          <a:bodyPr wrap="none" lIns="0" rIns="0" tIns="0" bIns="0" anchor="ctr">
            <a:spAutoFit/>
          </a:bodyPr>
          <a:lstStyle/>
          <a:p>
            <a:pPr algn="ctr"/>
            <a:r>
              <a:rPr sz="2100" b="1">
                <a:solidFill>
                  <a:srgbClr val="FFFFFF"/>
                </a:solidFill>
                <a:latin typeface="Calibri"/>
              </a:rPr>
              <a:t>W</a:t>
            </a:r>
          </a:p>
        </p:txBody>
      </p:sp>
      <p:sp>
        <p:nvSpPr>
          <p:cNvPr id="29" name="TextBox 28"/>
          <p:cNvSpPr txBox="1"/>
          <p:nvPr/>
        </p:nvSpPr>
        <p:spPr>
          <a:xfrm>
            <a:off x="190500" y="1299320"/>
            <a:ext cx="3667125" cy="182537"/>
          </a:xfrm>
          <a:prstGeom prst="rect">
            <a:avLst/>
          </a:prstGeom>
          <a:noFill/>
        </p:spPr>
        <p:txBody>
          <a:bodyPr wrap="square" lIns="28575" rIns="28575" tIns="9525" bIns="9525" anchor="ctr">
            <a:spAutoFit/>
          </a:bodyPr>
          <a:lstStyle/>
          <a:p>
            <a:pPr algn="l"/>
            <a:r>
              <a:rPr sz="1350" b="1">
                <a:solidFill>
                  <a:srgbClr val="0B2E4A"/>
                </a:solidFill>
                <a:latin typeface="Calibri"/>
              </a:rPr>
              <a:t>Strengths</a:t>
            </a:r>
          </a:p>
        </p:txBody>
      </p:sp>
      <p:sp>
        <p:nvSpPr>
          <p:cNvPr id="30" name="Rectangle 29"/>
          <p:cNvSpPr/>
          <p:nvPr/>
        </p:nvSpPr>
        <p:spPr>
          <a:xfrm>
            <a:off x="190500" y="1500111"/>
            <a:ext cx="1428750" cy="18254"/>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Oval 30"/>
          <p:cNvSpPr/>
          <p:nvPr/>
        </p:nvSpPr>
        <p:spPr>
          <a:xfrm>
            <a:off x="204788" y="1605070"/>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TextBox 31"/>
          <p:cNvSpPr txBox="1"/>
          <p:nvPr/>
        </p:nvSpPr>
        <p:spPr>
          <a:xfrm>
            <a:off x="333375"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3" name="Oval 32"/>
          <p:cNvSpPr/>
          <p:nvPr/>
        </p:nvSpPr>
        <p:spPr>
          <a:xfrm>
            <a:off x="204788" y="2116174"/>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333375"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Balanced SOM across regions and end-markets; strongest in 'North America'.</a:t>
            </a:r>
          </a:p>
        </p:txBody>
      </p:sp>
      <p:sp>
        <p:nvSpPr>
          <p:cNvPr id="35" name="Oval 34"/>
          <p:cNvSpPr/>
          <p:nvPr/>
        </p:nvSpPr>
        <p:spPr>
          <a:xfrm>
            <a:off x="204788" y="2627277"/>
            <a:ext cx="66675" cy="63888"/>
          </a:xfrm>
          <a:prstGeom prst="ellipse">
            <a:avLst/>
          </a:prstGeom>
          <a:solidFill>
            <a:srgbClr val="0B2E4A"/>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333375"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37" name="TextBox 36"/>
          <p:cNvSpPr txBox="1"/>
          <p:nvPr/>
        </p:nvSpPr>
        <p:spPr>
          <a:xfrm>
            <a:off x="8334375" y="1299320"/>
            <a:ext cx="3667125" cy="182537"/>
          </a:xfrm>
          <a:prstGeom prst="rect">
            <a:avLst/>
          </a:prstGeom>
          <a:noFill/>
        </p:spPr>
        <p:txBody>
          <a:bodyPr wrap="square" lIns="28575" rIns="28575" tIns="9525" bIns="9525" anchor="ctr">
            <a:spAutoFit/>
          </a:bodyPr>
          <a:lstStyle/>
          <a:p>
            <a:pPr algn="l"/>
            <a:r>
              <a:rPr sz="1350" b="1">
                <a:solidFill>
                  <a:srgbClr val="082238"/>
                </a:solidFill>
                <a:latin typeface="Calibri"/>
              </a:rPr>
              <a:t>Weaknesses</a:t>
            </a:r>
          </a:p>
        </p:txBody>
      </p:sp>
      <p:sp>
        <p:nvSpPr>
          <p:cNvPr id="38" name="Rectangle 37"/>
          <p:cNvSpPr/>
          <p:nvPr/>
        </p:nvSpPr>
        <p:spPr>
          <a:xfrm>
            <a:off x="8334375" y="1500111"/>
            <a:ext cx="1428750" cy="18254"/>
          </a:xfrm>
          <a:prstGeom prst="rect">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Oval 38"/>
          <p:cNvSpPr/>
          <p:nvPr/>
        </p:nvSpPr>
        <p:spPr>
          <a:xfrm>
            <a:off x="8348662" y="1605070"/>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8477250" y="1573126"/>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1" name="Oval 40"/>
          <p:cNvSpPr/>
          <p:nvPr/>
        </p:nvSpPr>
        <p:spPr>
          <a:xfrm>
            <a:off x="8348662" y="2116174"/>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8477250" y="2084229"/>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Uneven SAM penetration strong in 'Rest of the World', thin elsewhere.</a:t>
            </a:r>
          </a:p>
        </p:txBody>
      </p:sp>
      <p:sp>
        <p:nvSpPr>
          <p:cNvPr id="43" name="Oval 42"/>
          <p:cNvSpPr/>
          <p:nvPr/>
        </p:nvSpPr>
        <p:spPr>
          <a:xfrm>
            <a:off x="8348662" y="2627277"/>
            <a:ext cx="66675" cy="63888"/>
          </a:xfrm>
          <a:prstGeom prst="ellipse">
            <a:avLst/>
          </a:prstGeom>
          <a:solidFill>
            <a:srgbClr val="082238"/>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8477250" y="2595333"/>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Reliance on a few large accounts/regions raises concentration risk.</a:t>
            </a:r>
          </a:p>
        </p:txBody>
      </p:sp>
      <p:sp>
        <p:nvSpPr>
          <p:cNvPr id="45" name="TextBox 44"/>
          <p:cNvSpPr txBox="1"/>
          <p:nvPr/>
        </p:nvSpPr>
        <p:spPr>
          <a:xfrm>
            <a:off x="190500" y="4055629"/>
            <a:ext cx="3667125" cy="182537"/>
          </a:xfrm>
          <a:prstGeom prst="rect">
            <a:avLst/>
          </a:prstGeom>
          <a:noFill/>
        </p:spPr>
        <p:txBody>
          <a:bodyPr wrap="square" lIns="28575" rIns="28575" tIns="9525" bIns="9525" anchor="ctr">
            <a:spAutoFit/>
          </a:bodyPr>
          <a:lstStyle/>
          <a:p>
            <a:pPr algn="l"/>
            <a:r>
              <a:rPr sz="1350" b="1">
                <a:solidFill>
                  <a:srgbClr val="A35313"/>
                </a:solidFill>
                <a:latin typeface="Calibri"/>
              </a:rPr>
              <a:t>Threats</a:t>
            </a:r>
          </a:p>
        </p:txBody>
      </p:sp>
      <p:sp>
        <p:nvSpPr>
          <p:cNvPr id="46" name="Rectangle 45"/>
          <p:cNvSpPr/>
          <p:nvPr/>
        </p:nvSpPr>
        <p:spPr>
          <a:xfrm>
            <a:off x="190500" y="4256419"/>
            <a:ext cx="1428750" cy="18254"/>
          </a:xfrm>
          <a:prstGeom prst="rect">
            <a:avLst/>
          </a:prstGeom>
          <a:solidFill>
            <a:srgbClr val="A3531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204788" y="4361379"/>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333375"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
            </a:r>
          </a:p>
        </p:txBody>
      </p:sp>
      <p:sp>
        <p:nvSpPr>
          <p:cNvPr id="49" name="Oval 48"/>
          <p:cNvSpPr/>
          <p:nvPr/>
        </p:nvSpPr>
        <p:spPr>
          <a:xfrm>
            <a:off x="204788" y="4872482"/>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333375"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Input-cost inflation and price pressure can squeeze margin.</a:t>
            </a:r>
          </a:p>
        </p:txBody>
      </p:sp>
      <p:sp>
        <p:nvSpPr>
          <p:cNvPr id="51" name="Oval 50"/>
          <p:cNvSpPr/>
          <p:nvPr/>
        </p:nvSpPr>
        <p:spPr>
          <a:xfrm>
            <a:off x="204788" y="5383586"/>
            <a:ext cx="66675" cy="63888"/>
          </a:xfrm>
          <a:prstGeom prst="ellipse">
            <a:avLst/>
          </a:prstGeom>
          <a:solidFill>
            <a:srgbClr val="A35313"/>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333375"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Tier-1 incumbents and regulation raise barriers and switching friction.</a:t>
            </a:r>
          </a:p>
        </p:txBody>
      </p:sp>
      <p:sp>
        <p:nvSpPr>
          <p:cNvPr id="53" name="TextBox 52"/>
          <p:cNvSpPr txBox="1"/>
          <p:nvPr/>
        </p:nvSpPr>
        <p:spPr>
          <a:xfrm>
            <a:off x="8334375" y="4055629"/>
            <a:ext cx="3667125" cy="182537"/>
          </a:xfrm>
          <a:prstGeom prst="rect">
            <a:avLst/>
          </a:prstGeom>
          <a:noFill/>
        </p:spPr>
        <p:txBody>
          <a:bodyPr wrap="square" lIns="28575" rIns="28575" tIns="9525" bIns="9525" anchor="ctr">
            <a:spAutoFit/>
          </a:bodyPr>
          <a:lstStyle/>
          <a:p>
            <a:pPr algn="l"/>
            <a:r>
              <a:rPr sz="1350" b="1">
                <a:solidFill>
                  <a:srgbClr val="A86F00"/>
                </a:solidFill>
                <a:latin typeface="Calibri"/>
              </a:rPr>
              <a:t>Opportunities</a:t>
            </a:r>
          </a:p>
        </p:txBody>
      </p:sp>
      <p:sp>
        <p:nvSpPr>
          <p:cNvPr id="54" name="Rectangle 53"/>
          <p:cNvSpPr/>
          <p:nvPr/>
        </p:nvSpPr>
        <p:spPr>
          <a:xfrm>
            <a:off x="8334375" y="4256419"/>
            <a:ext cx="1428750" cy="18254"/>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8348662" y="4361379"/>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8477250" y="4329434"/>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Premiumisation headroom in 'Organic' and adjacent high-value lines.</a:t>
            </a:r>
          </a:p>
        </p:txBody>
      </p:sp>
      <p:sp>
        <p:nvSpPr>
          <p:cNvPr id="57" name="Oval 56"/>
          <p:cNvSpPr/>
          <p:nvPr/>
        </p:nvSpPr>
        <p:spPr>
          <a:xfrm>
            <a:off x="8348662" y="4872482"/>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477250" y="4840538"/>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Under-penetrated regions offer share-capture runway.</a:t>
            </a:r>
          </a:p>
        </p:txBody>
      </p:sp>
      <p:sp>
        <p:nvSpPr>
          <p:cNvPr id="59" name="Oval 58"/>
          <p:cNvSpPr/>
          <p:nvPr/>
        </p:nvSpPr>
        <p:spPr>
          <a:xfrm>
            <a:off x="8348662" y="5383586"/>
            <a:ext cx="66675" cy="63888"/>
          </a:xfrm>
          <a:prstGeom prst="ellipse">
            <a:avLst/>
          </a:prstGeom>
          <a:solidFill>
            <a:srgbClr val="A86F00"/>
          </a:solidFill>
          <a:ln w="12700">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8477250" y="5351641"/>
            <a:ext cx="3505200" cy="474596"/>
          </a:xfrm>
          <a:prstGeom prst="rect">
            <a:avLst/>
          </a:prstGeom>
          <a:noFill/>
        </p:spPr>
        <p:txBody>
          <a:bodyPr wrap="square" lIns="28575" rIns="28575" tIns="9525" bIns="9525" anchor="ctr">
            <a:spAutoFit/>
          </a:bodyPr>
          <a:lstStyle/>
          <a:p>
            <a:pPr algn="l">
              <a:lnSpc>
                <a:spcPct val="115000"/>
              </a:lnSpc>
            </a:pPr>
            <a:r>
              <a:rPr sz="1100" b="0">
                <a:solidFill>
                  <a:srgbClr val="2E2E2E"/>
                </a:solidFill>
                <a:latin typeface="Calibri"/>
              </a:rPr>
              <a:t>Channel shift to online and clinics opens new demand pools.</a:t>
            </a:r>
          </a:p>
        </p:txBody>
      </p:sp>
      <p:sp>
        <p:nvSpPr>
          <p:cNvPr id="61" name="TextBox 60"/>
          <p:cNvSpPr txBox="1"/>
          <p:nvPr/>
        </p:nvSpPr>
        <p:spPr>
          <a:xfrm>
            <a:off x="2857500" y="6428609"/>
            <a:ext cx="9191625" cy="182537"/>
          </a:xfrm>
          <a:prstGeom prst="rect">
            <a:avLst/>
          </a:prstGeom>
          <a:noFill/>
        </p:spPr>
        <p:txBody>
          <a:bodyPr wrap="square" lIns="28575" rIns="28575" tIns="9525" bIns="9525" anchor="ctr">
            <a:spAutoFit/>
          </a:bodyPr>
          <a:lstStyle/>
          <a:p>
            <a:pPr algn="l"/>
            <a:r>
              <a:rPr sz="1100" b="0">
                <a:solidFill>
                  <a:srgbClr val="C0392B"/>
                </a:solidFill>
                <a:latin typeface="Calibri"/>
              </a:rPr>
              <a:t>Note: competitor figures are indicative derived from market modelling and expert validation, not company disclosures.</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63" name="TextBox 62"/>
          <p:cNvSpPr txBox="1"/>
          <p:nvPr/>
        </p:nvSpPr>
        <p:spPr>
          <a:xfrm>
            <a:off x="361950" y="1642784"/>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64" name="Picture 63" descr="lock.png"/>
          <p:cNvPicPr>
            <a:picLocks noChangeAspect="1"/>
          </p:cNvPicPr>
          <p:nvPr/>
        </p:nvPicPr>
        <p:blipFill>
          <a:blip r:embed="rId4"/>
          <a:stretch>
            <a:fillRect/>
          </a:stretch>
        </p:blipFill>
        <p:spPr>
          <a:xfrm>
            <a:off x="455778" y="1633005"/>
            <a:ext cx="128699" cy="187198"/>
          </a:xfrm>
          <a:prstGeom prst="rect">
            <a:avLst/>
          </a:prstGeom>
        </p:spPr>
      </p:pic>
      <p:sp>
        <p:nvSpPr>
          <p:cNvPr id="65" name="TextBox 64"/>
          <p:cNvSpPr txBox="1"/>
          <p:nvPr/>
        </p:nvSpPr>
        <p:spPr>
          <a:xfrm>
            <a:off x="623274" y="1642784"/>
            <a:ext cx="1029270" cy="186689"/>
          </a:xfrm>
          <a:prstGeom prst="rect">
            <a:avLst/>
          </a:prstGeom>
          <a:noFill/>
        </p:spPr>
        <p:txBody>
          <a:bodyPr wrap="none" lIns="0" rIns="0" tIns="0" bIns="0">
            <a:spAutoFit/>
          </a:bodyPr>
          <a:lstStyle/>
          <a:p>
            <a:r>
              <a:rPr sz="1100" b="0">
                <a:solidFill>
                  <a:srgbClr val="2E2E2E"/>
                </a:solidFill>
                <a:latin typeface="Calibri"/>
              </a:rPr>
              <a:t>win rate with a +</a:t>
            </a:r>
          </a:p>
        </p:txBody>
      </p:sp>
      <p:pic>
        <p:nvPicPr>
          <p:cNvPr id="66" name="Picture 65" descr="lock.png"/>
          <p:cNvPicPr>
            <a:picLocks noChangeAspect="1"/>
          </p:cNvPicPr>
          <p:nvPr/>
        </p:nvPicPr>
        <p:blipFill>
          <a:blip r:embed="rId4"/>
          <a:stretch>
            <a:fillRect/>
          </a:stretch>
        </p:blipFill>
        <p:spPr>
          <a:xfrm>
            <a:off x="1600596" y="1633005"/>
            <a:ext cx="128699" cy="187198"/>
          </a:xfrm>
          <a:prstGeom prst="rect">
            <a:avLst/>
          </a:prstGeom>
        </p:spPr>
      </p:pic>
      <p:sp>
        <p:nvSpPr>
          <p:cNvPr id="67" name="TextBox 66"/>
          <p:cNvSpPr txBox="1"/>
          <p:nvPr/>
        </p:nvSpPr>
        <p:spPr>
          <a:xfrm>
            <a:off x="1768092" y="1642784"/>
            <a:ext cx="1490662" cy="186689"/>
          </a:xfrm>
          <a:prstGeom prst="rect">
            <a:avLst/>
          </a:prstGeom>
          <a:noFill/>
        </p:spPr>
        <p:txBody>
          <a:bodyPr wrap="none" lIns="0" rIns="0" tIns="0" bIns="0">
            <a:spAutoFit/>
          </a:bodyPr>
          <a:lstStyle/>
          <a:p>
            <a:r>
              <a:rPr sz="1100" b="0">
                <a:solidFill>
                  <a:srgbClr val="2E2E2E"/>
                </a:solidFill>
                <a:latin typeface="Calibri"/>
              </a:rPr>
              <a:t>ASP premium clear value</a:t>
            </a:r>
          </a:p>
        </p:txBody>
      </p:sp>
      <p:sp>
        <p:nvSpPr>
          <p:cNvPr id="68" name="TextBox 67"/>
          <p:cNvSpPr txBox="1"/>
          <p:nvPr/>
        </p:nvSpPr>
        <p:spPr>
          <a:xfrm>
            <a:off x="361950" y="1810424"/>
            <a:ext cx="760238" cy="186689"/>
          </a:xfrm>
          <a:prstGeom prst="rect">
            <a:avLst/>
          </a:prstGeom>
          <a:noFill/>
        </p:spPr>
        <p:txBody>
          <a:bodyPr wrap="none" lIns="0" rIns="0" tIns="0" bIns="0">
            <a:spAutoFit/>
          </a:bodyPr>
          <a:lstStyle/>
          <a:p>
            <a:r>
              <a:rPr sz="1100" b="0">
                <a:solidFill>
                  <a:srgbClr val="2E2E2E"/>
                </a:solidFill>
                <a:latin typeface="Calibri"/>
              </a:rPr>
              <a:t>recognition.</a:t>
            </a:r>
          </a:p>
        </p:txBody>
      </p:sp>
      <p:pic>
        <p:nvPicPr>
          <p:cNvPr id="69" name="Picture 68" descr="lock.png"/>
          <p:cNvPicPr>
            <a:picLocks noChangeAspect="1"/>
          </p:cNvPicPr>
          <p:nvPr/>
        </p:nvPicPr>
        <p:blipFill>
          <a:blip r:embed="rId4"/>
          <a:stretch>
            <a:fillRect/>
          </a:stretch>
        </p:blipFill>
        <p:spPr>
          <a:xfrm>
            <a:off x="348482" y="2655212"/>
            <a:ext cx="128699" cy="187198"/>
          </a:xfrm>
          <a:prstGeom prst="rect">
            <a:avLst/>
          </a:prstGeom>
        </p:spPr>
      </p:pic>
      <p:sp>
        <p:nvSpPr>
          <p:cNvPr id="70" name="TextBox 69"/>
          <p:cNvSpPr txBox="1"/>
          <p:nvPr/>
        </p:nvSpPr>
        <p:spPr>
          <a:xfrm>
            <a:off x="515978" y="2664991"/>
            <a:ext cx="1083295" cy="186689"/>
          </a:xfrm>
          <a:prstGeom prst="rect">
            <a:avLst/>
          </a:prstGeom>
          <a:noFill/>
        </p:spPr>
        <p:txBody>
          <a:bodyPr wrap="none" lIns="0" rIns="0" tIns="0" bIns="0">
            <a:spAutoFit/>
          </a:bodyPr>
          <a:lstStyle/>
          <a:p>
            <a:r>
              <a:rPr sz="1100" b="0">
                <a:solidFill>
                  <a:srgbClr val="2E2E2E"/>
                </a:solidFill>
                <a:latin typeface="Calibri"/>
              </a:rPr>
              <a:t>book-to-bill and ~</a:t>
            </a:r>
          </a:p>
        </p:txBody>
      </p:sp>
      <p:pic>
        <p:nvPicPr>
          <p:cNvPr id="71" name="Picture 70" descr="lock.png"/>
          <p:cNvPicPr>
            <a:picLocks noChangeAspect="1"/>
          </p:cNvPicPr>
          <p:nvPr/>
        </p:nvPicPr>
        <p:blipFill>
          <a:blip r:embed="rId4"/>
          <a:stretch>
            <a:fillRect/>
          </a:stretch>
        </p:blipFill>
        <p:spPr>
          <a:xfrm>
            <a:off x="1547325" y="2655212"/>
            <a:ext cx="128699" cy="187198"/>
          </a:xfrm>
          <a:prstGeom prst="rect">
            <a:avLst/>
          </a:prstGeom>
        </p:spPr>
      </p:pic>
      <p:sp>
        <p:nvSpPr>
          <p:cNvPr id="72" name="TextBox 71"/>
          <p:cNvSpPr txBox="1"/>
          <p:nvPr/>
        </p:nvSpPr>
        <p:spPr>
          <a:xfrm>
            <a:off x="1714820" y="2664991"/>
            <a:ext cx="1304547" cy="186689"/>
          </a:xfrm>
          <a:prstGeom prst="rect">
            <a:avLst/>
          </a:prstGeom>
          <a:noFill/>
        </p:spPr>
        <p:txBody>
          <a:bodyPr wrap="none" lIns="0" rIns="0" tIns="0" bIns="0">
            <a:spAutoFit/>
          </a:bodyPr>
          <a:lstStyle/>
          <a:p>
            <a:r>
              <a:rPr sz="1100" b="0">
                <a:solidFill>
                  <a:srgbClr val="2E2E2E"/>
                </a:solidFill>
                <a:latin typeface="Calibri"/>
              </a:rPr>
              <a:t>EBITDA signal healthy</a:t>
            </a:r>
          </a:p>
        </p:txBody>
      </p:sp>
      <p:sp>
        <p:nvSpPr>
          <p:cNvPr id="73" name="TextBox 72"/>
          <p:cNvSpPr txBox="1"/>
          <p:nvPr/>
        </p:nvSpPr>
        <p:spPr>
          <a:xfrm>
            <a:off x="361950" y="2832631"/>
            <a:ext cx="783158" cy="186689"/>
          </a:xfrm>
          <a:prstGeom prst="rect">
            <a:avLst/>
          </a:prstGeom>
          <a:noFill/>
        </p:spPr>
        <p:txBody>
          <a:bodyPr wrap="none" lIns="0" rIns="0" tIns="0" bIns="0">
            <a:spAutoFit/>
          </a:bodyPr>
          <a:lstStyle/>
          <a:p>
            <a:r>
              <a:rPr sz="1100" b="0">
                <a:solidFill>
                  <a:srgbClr val="2E2E2E"/>
                </a:solidFill>
                <a:latin typeface="Calibri"/>
              </a:rPr>
              <a:t>momentum.</a:t>
            </a:r>
          </a:p>
        </p:txBody>
      </p:sp>
      <p:sp>
        <p:nvSpPr>
          <p:cNvPr id="74" name="TextBox 73"/>
          <p:cNvSpPr txBox="1"/>
          <p:nvPr/>
        </p:nvSpPr>
        <p:spPr>
          <a:xfrm>
            <a:off x="8505825" y="1726603"/>
            <a:ext cx="145777" cy="186689"/>
          </a:xfrm>
          <a:prstGeom prst="rect">
            <a:avLst/>
          </a:prstGeom>
          <a:noFill/>
        </p:spPr>
        <p:txBody>
          <a:bodyPr wrap="none" lIns="0" rIns="0" tIns="0" bIns="0">
            <a:spAutoFit/>
          </a:bodyPr>
          <a:lstStyle/>
          <a:p>
            <a:r>
              <a:rPr sz="1100" b="0">
                <a:solidFill>
                  <a:srgbClr val="2E2E2E"/>
                </a:solidFill>
                <a:latin typeface="Calibri"/>
              </a:rPr>
              <a:t>~</a:t>
            </a:r>
          </a:p>
        </p:txBody>
      </p:sp>
      <p:pic>
        <p:nvPicPr>
          <p:cNvPr id="75" name="Picture 74" descr="lock.png"/>
          <p:cNvPicPr>
            <a:picLocks noChangeAspect="1"/>
          </p:cNvPicPr>
          <p:nvPr/>
        </p:nvPicPr>
        <p:blipFill>
          <a:blip r:embed="rId4"/>
          <a:stretch>
            <a:fillRect/>
          </a:stretch>
        </p:blipFill>
        <p:spPr>
          <a:xfrm>
            <a:off x="8599653" y="1716825"/>
            <a:ext cx="128699" cy="187198"/>
          </a:xfrm>
          <a:prstGeom prst="rect">
            <a:avLst/>
          </a:prstGeom>
        </p:spPr>
      </p:pic>
      <p:sp>
        <p:nvSpPr>
          <p:cNvPr id="76" name="TextBox 75"/>
          <p:cNvSpPr txBox="1"/>
          <p:nvPr/>
        </p:nvSpPr>
        <p:spPr>
          <a:xfrm>
            <a:off x="8767149" y="1726603"/>
            <a:ext cx="2910582" cy="186689"/>
          </a:xfrm>
          <a:prstGeom prst="rect">
            <a:avLst/>
          </a:prstGeom>
          <a:noFill/>
        </p:spPr>
        <p:txBody>
          <a:bodyPr wrap="none" lIns="0" rIns="0" tIns="0" bIns="0">
            <a:spAutoFit/>
          </a:bodyPr>
          <a:lstStyle/>
          <a:p>
            <a:r>
              <a:rPr sz="1100" b="0">
                <a:solidFill>
                  <a:srgbClr val="2E2E2E"/>
                </a:solidFill>
                <a:latin typeface="Calibri"/>
              </a:rPr>
              <a:t>share leaves a scale gap versus the market leader.</a:t>
            </a:r>
          </a:p>
        </p:txBody>
      </p:sp>
      <p:sp>
        <p:nvSpPr>
          <p:cNvPr id="77" name="TextBox 76"/>
          <p:cNvSpPr txBox="1"/>
          <p:nvPr/>
        </p:nvSpPr>
        <p:spPr>
          <a:xfrm>
            <a:off x="361950" y="4482912"/>
            <a:ext cx="1324495" cy="186689"/>
          </a:xfrm>
          <a:prstGeom prst="rect">
            <a:avLst/>
          </a:prstGeom>
          <a:noFill/>
        </p:spPr>
        <p:txBody>
          <a:bodyPr wrap="none" lIns="0" rIns="0" tIns="0" bIns="0">
            <a:spAutoFit/>
          </a:bodyPr>
          <a:lstStyle/>
          <a:p>
            <a:r>
              <a:rPr sz="1100" b="0">
                <a:solidFill>
                  <a:srgbClr val="2E2E2E"/>
                </a:solidFill>
                <a:latin typeface="Calibri"/>
              </a:rPr>
              <a:t>Intense competition ~</a:t>
            </a:r>
          </a:p>
        </p:txBody>
      </p:sp>
      <p:pic>
        <p:nvPicPr>
          <p:cNvPr id="78" name="Picture 77" descr="lock.png"/>
          <p:cNvPicPr>
            <a:picLocks noChangeAspect="1"/>
          </p:cNvPicPr>
          <p:nvPr/>
        </p:nvPicPr>
        <p:blipFill>
          <a:blip r:embed="rId4"/>
          <a:stretch>
            <a:fillRect/>
          </a:stretch>
        </p:blipFill>
        <p:spPr>
          <a:xfrm>
            <a:off x="1634497" y="4473133"/>
            <a:ext cx="128699" cy="187198"/>
          </a:xfrm>
          <a:prstGeom prst="rect">
            <a:avLst/>
          </a:prstGeom>
        </p:spPr>
      </p:pic>
      <p:sp>
        <p:nvSpPr>
          <p:cNvPr id="79" name="TextBox 78"/>
          <p:cNvSpPr txBox="1"/>
          <p:nvPr/>
        </p:nvSpPr>
        <p:spPr>
          <a:xfrm>
            <a:off x="1801993" y="4482912"/>
            <a:ext cx="1738684" cy="186689"/>
          </a:xfrm>
          <a:prstGeom prst="rect">
            <a:avLst/>
          </a:prstGeom>
          <a:noFill/>
        </p:spPr>
        <p:txBody>
          <a:bodyPr wrap="none" lIns="0" rIns="0" tIns="0" bIns="0">
            <a:spAutoFit/>
          </a:bodyPr>
          <a:lstStyle/>
          <a:p>
            <a:r>
              <a:rPr sz="1100" b="0">
                <a:solidFill>
                  <a:srgbClr val="2E2E2E"/>
                </a:solidFill>
                <a:latin typeface="Calibri"/>
              </a:rPr>
              <a:t>x pipeline needed to convert.</a:t>
            </a:r>
          </a:p>
        </p:txBody>
      </p:sp>
    </p:spTree>
  </p:cSld>
  <p:clrMapOvr>
    <a:masterClrMapping/>
  </p:clrMapOvr>
</p:sld>
</file>

<file path=ppt/slides/slide28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Jade Leaf Matcha Key Financials (4/5)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Jade Leaf Matcha's financial performance, key ratios and pricing, highlighting margin and momentum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Key financials and pricing Jade Leaf Matcha (all figures indicative, USD Mn unless noted).</a:t>
            </a:r>
          </a:p>
        </p:txBody>
      </p:sp>
      <p:sp>
        <p:nvSpPr>
          <p:cNvPr id="11" name="Rounded Rectangle 10"/>
          <p:cNvSpPr/>
          <p:nvPr/>
        </p:nvSpPr>
        <p:spPr>
          <a:xfrm>
            <a:off x="142875" y="1354081"/>
            <a:ext cx="5905500" cy="1916638"/>
          </a:xfrm>
          <a:prstGeom prst="roundRect">
            <a:avLst>
              <a:gd name="adj" fmla="val 397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38125" y="1411231"/>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Jade Leaf Matcha Financial Performance</a:t>
            </a:r>
          </a:p>
        </p:txBody>
      </p:sp>
      <p:graphicFrame>
        <p:nvGraphicFramePr>
          <p:cNvPr id="13" name="Table 12"/>
          <p:cNvGraphicFramePr>
            <a:graphicFrameLocks noGrp="1"/>
          </p:cNvGraphicFramePr>
          <p:nvPr/>
        </p:nvGraphicFramePr>
        <p:xfrm>
          <a:off x="152400" y="1611256"/>
          <a:ext cx="5886449" cy="1449914"/>
        </p:xfrm>
        <a:graphic>
          <a:graphicData uri="http://schemas.openxmlformats.org/drawingml/2006/table">
            <a:tbl>
              <a:tblPr>
                <a:tableStyleId>{5C22544A-7EE6-4342-B048-85BDC9FD1C3A}</a:tableStyleId>
              </a:tblPr>
              <a:tblGrid>
                <a:gridCol w="2446649"/>
                <a:gridCol w="687960"/>
                <a:gridCol w="687960"/>
                <a:gridCol w="687960"/>
                <a:gridCol w="687960"/>
                <a:gridCol w="687960"/>
              </a:tblGrid>
              <a:tr h="246126">
                <a:tc>
                  <a:txBody>
                    <a:bodyPr wrap="none"/>
                    <a:lstStyle/>
                    <a:p>
                      <a:pPr algn="l"/>
                      <a:r>
                        <a:rPr sz="1100" b="1">
                          <a:solidFill>
                            <a:srgbClr val="0B2E4A"/>
                          </a:solidFill>
                          <a:latin typeface="Calibri"/>
                        </a:rPr>
                        <a:t>USD Mn</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300947">
                <a:tc>
                  <a:txBody>
                    <a:bodyPr wrap="none"/>
                    <a:lstStyle/>
                    <a:p>
                      <a:pPr algn="l"/>
                      <a:r>
                        <a:rPr sz="1100" b="1">
                          <a:solidFill>
                            <a:srgbClr val="2E2E2E"/>
                          </a:solidFill>
                          <a:latin typeface="Calibri"/>
                        </a:rPr>
                        <a:t>Revenue</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Gross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300947">
                <a:tc>
                  <a:txBody>
                    <a:bodyPr wrap="none"/>
                    <a:lstStyle/>
                    <a:p>
                      <a:pPr algn="l"/>
                      <a:r>
                        <a:rPr sz="1100" b="1">
                          <a:solidFill>
                            <a:srgbClr val="2E2E2E"/>
                          </a:solidFill>
                          <a:latin typeface="Calibri"/>
                        </a:rPr>
                        <a:t>Pre-Tax Profit</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300947">
                <a:tc>
                  <a:txBody>
                    <a:bodyPr wrap="none"/>
                    <a:lstStyle/>
                    <a:p>
                      <a:pPr algn="l"/>
                      <a:r>
                        <a:rPr sz="1100" b="1">
                          <a:solidFill>
                            <a:srgbClr val="2E2E2E"/>
                          </a:solidFill>
                          <a:latin typeface="Calibri"/>
                        </a:rPr>
                        <a:t>Profit After Tax / Net Profit</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14" name="TextBox 13"/>
          <p:cNvSpPr txBox="1"/>
          <p:nvPr/>
        </p:nvSpPr>
        <p:spPr>
          <a:xfrm>
            <a:off x="219075" y="3070695"/>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5" name="Rounded Rectangle 14"/>
          <p:cNvSpPr/>
          <p:nvPr/>
        </p:nvSpPr>
        <p:spPr>
          <a:xfrm>
            <a:off x="142875" y="3398495"/>
            <a:ext cx="5905500" cy="3194397"/>
          </a:xfrm>
          <a:prstGeom prst="roundRect">
            <a:avLst>
              <a:gd name="adj" fmla="val 2385"/>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238125" y="3455645"/>
            <a:ext cx="571500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Jade Leaf Matcha Key Ratios</a:t>
            </a:r>
          </a:p>
        </p:txBody>
      </p:sp>
      <p:graphicFrame>
        <p:nvGraphicFramePr>
          <p:cNvPr id="17" name="Table 16"/>
          <p:cNvGraphicFramePr>
            <a:graphicFrameLocks noGrp="1"/>
          </p:cNvGraphicFramePr>
          <p:nvPr/>
        </p:nvGraphicFramePr>
        <p:xfrm>
          <a:off x="152400" y="3655670"/>
          <a:ext cx="5886450" cy="2727671"/>
        </p:xfrm>
        <a:graphic>
          <a:graphicData uri="http://schemas.openxmlformats.org/drawingml/2006/table">
            <a:tbl>
              <a:tblPr>
                <a:tableStyleId>{5C22544A-7EE6-4342-B048-85BDC9FD1C3A}</a:tableStyleId>
              </a:tblPr>
              <a:tblGrid>
                <a:gridCol w="1859260"/>
                <a:gridCol w="805438"/>
                <a:gridCol w="805438"/>
                <a:gridCol w="805438"/>
                <a:gridCol w="805438"/>
                <a:gridCol w="805438"/>
              </a:tblGrid>
              <a:tr h="246126">
                <a:tc>
                  <a:txBody>
                    <a:bodyPr wrap="none"/>
                    <a:lstStyle/>
                    <a:p>
                      <a:pPr algn="l"/>
                      <a:r>
                        <a:rPr sz="1100" b="1">
                          <a:solidFill>
                            <a:srgbClr val="0B2E4A"/>
                          </a:solidFill>
                          <a:latin typeface="Calibri"/>
                        </a:rPr>
                        <a:t>Key Ratios</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2021A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2022A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2023A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496309">
                <a:tc>
                  <a:txBody>
                    <a:bodyPr wrap="none"/>
                    <a:lstStyle/>
                    <a:p>
                      <a:pPr algn="l"/>
                      <a:r>
                        <a:rPr sz="1100" b="1">
                          <a:solidFill>
                            <a:srgbClr val="2E2E2E"/>
                          </a:solidFill>
                          <a:latin typeface="Calibri"/>
                        </a:rPr>
                        <a:t>Gross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Pre-Tax Margin</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Net Margin</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496309">
                <a:tc>
                  <a:txBody>
                    <a:bodyPr wrap="none"/>
                    <a:lstStyle/>
                    <a:p>
                      <a:pPr algn="l"/>
                      <a:r>
                        <a:rPr sz="1100" b="1">
                          <a:solidFill>
                            <a:srgbClr val="2E2E2E"/>
                          </a:solidFill>
                          <a:latin typeface="Calibri"/>
                        </a:rPr>
                        <a:t>Return on Equity</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r h="496309">
                <a:tc>
                  <a:txBody>
                    <a:bodyPr wrap="none"/>
                    <a:lstStyle/>
                    <a:p>
                      <a:pPr algn="l"/>
                      <a:r>
                        <a:rPr sz="1100" b="1">
                          <a:solidFill>
                            <a:srgbClr val="2E2E2E"/>
                          </a:solidFill>
                          <a:latin typeface="Calibri"/>
                        </a:rPr>
                        <a:t>Return on Assets</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bl>
          </a:graphicData>
        </a:graphic>
      </p:graphicFrame>
      <p:sp>
        <p:nvSpPr>
          <p:cNvPr id="18" name="TextBox 17"/>
          <p:cNvSpPr txBox="1"/>
          <p:nvPr/>
        </p:nvSpPr>
        <p:spPr>
          <a:xfrm>
            <a:off x="219075" y="6392868"/>
            <a:ext cx="575310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19" name="Rounded Rectangle 18"/>
          <p:cNvSpPr/>
          <p:nvPr/>
        </p:nvSpPr>
        <p:spPr>
          <a:xfrm>
            <a:off x="6200775" y="1354081"/>
            <a:ext cx="5848350" cy="5238811"/>
          </a:xfrm>
          <a:prstGeom prst="roundRect">
            <a:avLst>
              <a:gd name="adj" fmla="val 1454"/>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6296025" y="1411231"/>
            <a:ext cx="5657850" cy="209550"/>
          </a:xfrm>
          <a:prstGeom prst="rect">
            <a:avLst/>
          </a:prstGeom>
          <a:noFill/>
        </p:spPr>
        <p:txBody>
          <a:bodyPr wrap="square" lIns="0" rIns="19050" tIns="9525" bIns="9525">
            <a:spAutoFit/>
          </a:bodyPr>
          <a:lstStyle/>
          <a:p>
            <a:pPr algn="l">
              <a:lnSpc>
                <a:spcPct val="100000"/>
              </a:lnSpc>
            </a:pPr>
            <a:r>
              <a:rPr sz="1200" b="1">
                <a:solidFill>
                  <a:srgbClr val="2E2E2E"/>
                </a:solidFill>
                <a:latin typeface="Calibri"/>
              </a:rPr>
              <a:t>Jade Leaf Matcha Pricing Analysis (US$/MT)</a:t>
            </a:r>
          </a:p>
        </p:txBody>
      </p:sp>
      <p:graphicFrame>
        <p:nvGraphicFramePr>
          <p:cNvPr id="21" name="Table 20"/>
          <p:cNvGraphicFramePr>
            <a:graphicFrameLocks noGrp="1"/>
          </p:cNvGraphicFramePr>
          <p:nvPr/>
        </p:nvGraphicFramePr>
        <p:xfrm>
          <a:off x="6210300" y="1611256"/>
          <a:ext cx="5829300" cy="4772086"/>
        </p:xfrm>
        <a:graphic>
          <a:graphicData uri="http://schemas.openxmlformats.org/drawingml/2006/table">
            <a:tbl>
              <a:tblPr>
                <a:tableStyleId>{5C22544A-7EE6-4342-B048-85BDC9FD1C3A}</a:tableStyleId>
              </a:tblPr>
              <a:tblGrid>
                <a:gridCol w="2805398"/>
                <a:gridCol w="1511951"/>
                <a:gridCol w="1511951"/>
              </a:tblGrid>
              <a:tr h="246126">
                <a:tc>
                  <a:txBody>
                    <a:bodyPr wrap="none"/>
                    <a:lstStyle/>
                    <a:p>
                      <a:pPr algn="l"/>
                      <a:r>
                        <a:rPr sz="1100" b="1">
                          <a:solidFill>
                            <a:srgbClr val="0B2E4A"/>
                          </a:solidFill>
                          <a:latin typeface="Calibri"/>
                        </a:rPr>
                        <a:t>Product Type</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2020A</a:t>
                      </a:r>
                      <a:endParaRPr sz="1100"/>
                    </a:p>
                  </a:txBody>
                  <a:tcPr marL="47625" marR="38100" marT="19050" marB="19050" anchor="ctr">
                    <a:solidFill>
                      <a:srgbClr val="E0E8EF"/>
                    </a:solidFill>
                  </a:tcPr>
                </a:tc>
                <a:tc>
                  <a:txBody>
                    <a:bodyPr wrap="none"/>
                    <a:lstStyle/>
                    <a:p>
                      <a:pPr algn="ctr"/>
                      <a:r>
                        <a:rPr sz="1100" b="1">
                          <a:solidFill>
                            <a:srgbClr val="0B2E4A"/>
                          </a:solidFill>
                          <a:latin typeface="Calibri"/>
                        </a:rPr>
                        <a:t>2024A</a:t>
                      </a:r>
                      <a:endParaRPr sz="1100"/>
                    </a:p>
                  </a:txBody>
                  <a:tcPr marL="47625" marR="38100" marT="19050" marB="19050" anchor="ctr">
                    <a:solidFill>
                      <a:srgbClr val="E0E8EF"/>
                    </a:solidFill>
                  </a:tcPr>
                </a:tc>
              </a:tr>
              <a:tr h="2262980">
                <a:tc>
                  <a:txBody>
                    <a:bodyPr wrap="none"/>
                    <a:lstStyle/>
                    <a:p>
                      <a:pPr algn="l"/>
                      <a:r>
                        <a:rPr sz="1100" b="1">
                          <a:solidFill>
                            <a:srgbClr val="2E2E2E"/>
                          </a:solidFill>
                          <a:latin typeface="Calibri"/>
                        </a:rPr>
                        <a:t>Organic</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c>
                  <a:txBody>
                    <a:bodyPr wrap="none"/>
                    <a:lstStyle/>
                    <a:p>
                      <a:pPr algn="ctr"/>
                      <a:r>
                        <a:rPr sz="1100"/>
                        <a:t> </a:t>
                      </a:r>
                      <a:endParaRPr sz="1100"/>
                    </a:p>
                  </a:txBody>
                  <a:tcPr marL="47625" marR="38100" marT="19050" marB="19050" anchor="ctr">
                    <a:solidFill>
                      <a:srgbClr val="FFFFFF"/>
                    </a:solidFill>
                  </a:tcPr>
                </a:tc>
              </a:tr>
              <a:tr h="2262980">
                <a:tc>
                  <a:txBody>
                    <a:bodyPr wrap="none"/>
                    <a:lstStyle/>
                    <a:p>
                      <a:pPr algn="l"/>
                      <a:r>
                        <a:rPr sz="1100" b="1">
                          <a:solidFill>
                            <a:srgbClr val="2E2E2E"/>
                          </a:solidFill>
                          <a:latin typeface="Calibri"/>
                        </a:rPr>
                        <a:t>Conventional</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c>
                  <a:txBody>
                    <a:bodyPr wrap="none"/>
                    <a:lstStyle/>
                    <a:p>
                      <a:pPr algn="ctr"/>
                      <a:r>
                        <a:rPr sz="1100"/>
                        <a:t> </a:t>
                      </a:r>
                      <a:endParaRPr sz="1100"/>
                    </a:p>
                  </a:txBody>
                  <a:tcPr marL="47625" marR="38100" marT="19050" marB="19050" anchor="ctr">
                    <a:solidFill>
                      <a:srgbClr val="F5F8FA"/>
                    </a:solidFill>
                  </a:tcPr>
                </a:tc>
              </a:tr>
            </a:tbl>
          </a:graphicData>
        </a:graphic>
      </p:graphicFrame>
      <p:sp>
        <p:nvSpPr>
          <p:cNvPr id="22" name="TextBox 21"/>
          <p:cNvSpPr txBox="1"/>
          <p:nvPr/>
        </p:nvSpPr>
        <p:spPr>
          <a:xfrm>
            <a:off x="6276975" y="6392868"/>
            <a:ext cx="5695950" cy="171450"/>
          </a:xfrm>
          <a:prstGeom prst="rect">
            <a:avLst/>
          </a:prstGeom>
          <a:noFill/>
        </p:spPr>
        <p:txBody>
          <a:bodyPr wrap="square" lIns="0" rIns="0" tIns="0" bIns="0" anchor="b">
            <a:spAutoFit/>
          </a:bodyPr>
          <a:lstStyle/>
          <a:p>
            <a:pPr algn="l"/>
            <a:r>
              <a:rPr sz="1100" b="0" i="1">
                <a:solidFill>
                  <a:srgbClr val="6C7A89"/>
                </a:solidFill>
                <a:latin typeface="Calibri"/>
              </a:rPr>
              <a:t>Source: FMI Analysis, 2026</a:t>
            </a:r>
          </a:p>
        </p:txBody>
      </p:sp>
      <p:sp>
        <p:nvSpPr>
          <p:cNvPr id="23" name="TextBox 2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4" name="Picture 23" descr="lock.png"/>
          <p:cNvPicPr>
            <a:picLocks noChangeAspect="1"/>
          </p:cNvPicPr>
          <p:nvPr/>
        </p:nvPicPr>
        <p:blipFill>
          <a:blip r:embed="rId4"/>
          <a:stretch>
            <a:fillRect/>
          </a:stretch>
        </p:blipFill>
        <p:spPr>
          <a:xfrm>
            <a:off x="4150927" y="2219245"/>
            <a:ext cx="330041" cy="480060"/>
          </a:xfrm>
          <a:prstGeom prst="rect">
            <a:avLst/>
          </a:prstGeom>
        </p:spPr>
      </p:pic>
      <p:pic>
        <p:nvPicPr>
          <p:cNvPr id="25" name="Picture 24" descr="lock.png"/>
          <p:cNvPicPr>
            <a:picLocks noChangeAspect="1"/>
          </p:cNvPicPr>
          <p:nvPr/>
        </p:nvPicPr>
        <p:blipFill>
          <a:blip r:embed="rId4"/>
          <a:stretch>
            <a:fillRect/>
          </a:stretch>
        </p:blipFill>
        <p:spPr>
          <a:xfrm>
            <a:off x="3838564" y="4875868"/>
            <a:ext cx="366712" cy="533400"/>
          </a:xfrm>
          <a:prstGeom prst="rect">
            <a:avLst/>
          </a:prstGeom>
        </p:spPr>
      </p:pic>
      <p:pic>
        <p:nvPicPr>
          <p:cNvPr id="26" name="Picture 25" descr="lock.png"/>
          <p:cNvPicPr>
            <a:picLocks noChangeAspect="1"/>
          </p:cNvPicPr>
          <p:nvPr/>
        </p:nvPicPr>
        <p:blipFill>
          <a:blip r:embed="rId4"/>
          <a:stretch>
            <a:fillRect/>
          </a:stretch>
        </p:blipFill>
        <p:spPr>
          <a:xfrm>
            <a:off x="10340959" y="3853662"/>
            <a:ext cx="366712" cy="533400"/>
          </a:xfrm>
          <a:prstGeom prst="rect">
            <a:avLst/>
          </a:prstGeom>
        </p:spPr>
      </p:pic>
    </p:spTree>
  </p:cSld>
  <p:clrMapOvr>
    <a:masterClrMapping/>
  </p:clrMapOvr>
</p:sld>
</file>

<file path=ppt/slides/slide29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Jade Leaf Matcha Strategy Analysis (5/5)</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Analysis of Jade Leaf Matcha's strategic priorities and the competitive moves that support them</a:t>
            </a:r>
          </a:p>
        </p:txBody>
      </p:sp>
      <p:sp>
        <p:nvSpPr>
          <p:cNvPr id="10" name="Rounded Rectangle 9"/>
          <p:cNvSpPr/>
          <p:nvPr/>
        </p:nvSpPr>
        <p:spPr>
          <a:xfrm>
            <a:off x="142875" y="1007261"/>
            <a:ext cx="11906250" cy="273805"/>
          </a:xfrm>
          <a:prstGeom prst="roundRect">
            <a:avLst>
              <a:gd name="adj" fmla="val 27829"/>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114300" rIns="114300" tIns="57150" bIns="57150"/>
          <a:lstStyle/>
          <a:p>
            <a:pPr algn="l">
              <a:lnSpc>
                <a:spcPct val="112000"/>
              </a:lnSpc>
            </a:pPr>
            <a:r>
              <a:rPr sz="1100" b="0">
                <a:solidFill>
                  <a:srgbClr val="2E2E2E"/>
                </a:solidFill>
                <a:latin typeface="Calibri"/>
              </a:rPr>
              <a:t>Strategy analysis Jade Leaf Matcha: strategic priorities and the competitive moves that support them (indicative).</a:t>
            </a:r>
          </a:p>
        </p:txBody>
      </p:sp>
      <p:sp>
        <p:nvSpPr>
          <p:cNvPr id="11" name="Rounded Rectangle 10"/>
          <p:cNvSpPr/>
          <p:nvPr/>
        </p:nvSpPr>
        <p:spPr>
          <a:xfrm>
            <a:off x="1428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MARKET SHARE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of global value</a:t>
            </a:r>
          </a:p>
        </p:txBody>
      </p:sp>
      <p:sp>
        <p:nvSpPr>
          <p:cNvPr id="12" name="Rounded Rectangle 11"/>
          <p:cNvSpPr/>
          <p:nvPr/>
        </p:nvSpPr>
        <p:spPr>
          <a:xfrm>
            <a:off x="254317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WIN RATE</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deals won</a:t>
            </a:r>
          </a:p>
        </p:txBody>
      </p:sp>
      <p:sp>
        <p:nvSpPr>
          <p:cNvPr id="13" name="Rounded Rectangle 12"/>
          <p:cNvSpPr/>
          <p:nvPr/>
        </p:nvSpPr>
        <p:spPr>
          <a:xfrm>
            <a:off x="49530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ASP PREMIUM</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vs peers</a:t>
            </a:r>
          </a:p>
        </p:txBody>
      </p:sp>
      <p:sp>
        <p:nvSpPr>
          <p:cNvPr id="14" name="Rounded Rectangle 13"/>
          <p:cNvSpPr/>
          <p:nvPr/>
        </p:nvSpPr>
        <p:spPr>
          <a:xfrm>
            <a:off x="7353300"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BOOK-TO-BILL</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order momentum</a:t>
            </a:r>
          </a:p>
        </p:txBody>
      </p:sp>
      <p:sp>
        <p:nvSpPr>
          <p:cNvPr id="15" name="Rounded Rectangle 14"/>
          <p:cNvSpPr/>
          <p:nvPr/>
        </p:nvSpPr>
        <p:spPr>
          <a:xfrm>
            <a:off x="9763125" y="1354081"/>
            <a:ext cx="2276475" cy="602372"/>
          </a:xfrm>
          <a:prstGeom prst="roundRect">
            <a:avLst>
              <a:gd name="adj" fmla="val 8000"/>
            </a:avLst>
          </a:prstGeom>
          <a:solidFill>
            <a:srgbClr val="EAF6FB"/>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wrap="square" lIns="57150" rIns="57150" tIns="9525" bIns="9525"/>
          <a:lstStyle/>
          <a:p>
            <a:pPr algn="ctr">
              <a:lnSpc>
                <a:spcPct val="95000"/>
              </a:lnSpc>
            </a:pPr>
            <a:r>
              <a:rPr sz="1100" b="1">
                <a:solidFill>
                  <a:srgbClr val="6C7A89"/>
                </a:solidFill>
                <a:latin typeface="Calibri"/>
              </a:rPr>
              <a:t>EBITDA MARGIN</a:t>
            </a:r>
          </a:p>
          <a:p>
            <a:pPr algn="ctr">
              <a:lnSpc>
                <a:spcPct val="95000"/>
              </a:lnSpc>
            </a:pPr>
            <a:r>
              <a:rPr sz="1500" b="1">
                <a:solidFill>
                  <a:srgbClr val="0E72AE"/>
                </a:solidFill>
                <a:latin typeface="Calibri"/>
              </a:rPr>
              <a:t> </a:t>
            </a:r>
          </a:p>
          <a:p>
            <a:pPr algn="ctr">
              <a:lnSpc>
                <a:spcPct val="95000"/>
              </a:lnSpc>
            </a:pPr>
            <a:r>
              <a:rPr sz="1100" b="0">
                <a:solidFill>
                  <a:srgbClr val="6C7A89"/>
                </a:solidFill>
                <a:latin typeface="Calibri"/>
              </a:rPr>
              <a:t>profitability</a:t>
            </a:r>
          </a:p>
        </p:txBody>
      </p:sp>
      <p:sp>
        <p:nvSpPr>
          <p:cNvPr id="16" name="Rounded Rectangle 15"/>
          <p:cNvSpPr/>
          <p:nvPr/>
        </p:nvSpPr>
        <p:spPr>
          <a:xfrm>
            <a:off x="142875" y="2084229"/>
            <a:ext cx="590550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76225" y="2169954"/>
            <a:ext cx="5638800" cy="209550"/>
          </a:xfrm>
          <a:prstGeom prst="rect">
            <a:avLst/>
          </a:prstGeom>
          <a:noFill/>
        </p:spPr>
        <p:txBody>
          <a:bodyPr wrap="square" lIns="0" rIns="19050" tIns="9525" bIns="9525">
            <a:spAutoFit/>
          </a:bodyPr>
          <a:lstStyle/>
          <a:p>
            <a:pPr algn="l"/>
            <a:r>
              <a:rPr sz="1300" b="1">
                <a:solidFill>
                  <a:srgbClr val="0B2E4A"/>
                </a:solidFill>
                <a:latin typeface="Calibri"/>
              </a:rPr>
              <a:t>Strategic Priorities</a:t>
            </a:r>
          </a:p>
        </p:txBody>
      </p:sp>
      <p:sp>
        <p:nvSpPr>
          <p:cNvPr id="18" name="Rectangle 17"/>
          <p:cNvSpPr/>
          <p:nvPr/>
        </p:nvSpPr>
        <p:spPr>
          <a:xfrm>
            <a:off x="276225" y="2408079"/>
            <a:ext cx="563880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76225" y="2493804"/>
            <a:ext cx="563880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0" name="Rounded Rectangle 19"/>
          <p:cNvSpPr/>
          <p:nvPr/>
        </p:nvSpPr>
        <p:spPr>
          <a:xfrm>
            <a:off x="6200775" y="2084229"/>
            <a:ext cx="5848350" cy="4490410"/>
          </a:xfrm>
          <a:prstGeom prst="roundRect">
            <a:avLst>
              <a:gd name="adj" fmla="val 1696"/>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6334125" y="2169954"/>
            <a:ext cx="5581650" cy="209550"/>
          </a:xfrm>
          <a:prstGeom prst="rect">
            <a:avLst/>
          </a:prstGeom>
          <a:noFill/>
        </p:spPr>
        <p:txBody>
          <a:bodyPr wrap="square" lIns="0" rIns="19050" tIns="9525" bIns="9525">
            <a:spAutoFit/>
          </a:bodyPr>
          <a:lstStyle/>
          <a:p>
            <a:pPr algn="l"/>
            <a:r>
              <a:rPr sz="1300" b="1">
                <a:solidFill>
                  <a:srgbClr val="0B2E4A"/>
                </a:solidFill>
                <a:latin typeface="Calibri"/>
              </a:rPr>
              <a:t>Competitive Moves</a:t>
            </a:r>
          </a:p>
        </p:txBody>
      </p:sp>
      <p:sp>
        <p:nvSpPr>
          <p:cNvPr id="22" name="Rectangle 21"/>
          <p:cNvSpPr/>
          <p:nvPr/>
        </p:nvSpPr>
        <p:spPr>
          <a:xfrm>
            <a:off x="6334125" y="2408079"/>
            <a:ext cx="5581650" cy="19050"/>
          </a:xfrm>
          <a:prstGeom prst="rect">
            <a:avLst/>
          </a:prstGeom>
          <a:solidFill>
            <a:srgbClr val="0E72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6334125" y="2493804"/>
            <a:ext cx="5581650" cy="4004635"/>
          </a:xfrm>
          <a:prstGeom prst="rect">
            <a:avLst/>
          </a:prstGeom>
          <a:noFill/>
        </p:spPr>
        <p:txBody>
          <a:bodyPr wrap="square" lIns="0" rIns="19050" tIns="9525" bIns="9525">
            <a:spAutoFit/>
          </a:bodyPr>
          <a:lstStyle/>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a:p>
            <a:pPr algn="l">
              <a:lnSpc>
                <a:spcPct val="110000"/>
              </a:lnSpc>
              <a:spcBef>
                <a:spcPts val="0"/>
              </a:spcBef>
              <a:spcAft>
                <a:spcPts val="500"/>
              </a:spcAft>
            </a:pPr>
            <a:r>
              <a:rPr sz="1100" b="0">
                <a:solidFill>
                  <a:srgbClr val="0E72AE"/>
                </a:solidFill>
                <a:latin typeface="Calibri"/>
              </a:rPr>
              <a:t/>
            </a:r>
            <a:r>
              <a:rPr sz="1150" b="0">
                <a:solidFill>
                  <a:srgbClr val="2E2E2E"/>
                </a:solidFill>
                <a:latin typeface="Calibri"/>
              </a:rPr>
              <a:t/>
            </a:r>
          </a:p>
        </p:txBody>
      </p:sp>
      <p:sp>
        <p:nvSpPr>
          <p:cNvPr id="24" name="TextBox 2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5" name="Picture 24" descr="lock.png"/>
          <p:cNvPicPr>
            <a:picLocks noChangeAspect="1"/>
          </p:cNvPicPr>
          <p:nvPr/>
        </p:nvPicPr>
        <p:blipFill>
          <a:blip r:embed="rId4"/>
          <a:stretch>
            <a:fillRect/>
          </a:stretch>
        </p:blipFill>
        <p:spPr>
          <a:xfrm>
            <a:off x="1202531" y="1540967"/>
            <a:ext cx="157162" cy="228600"/>
          </a:xfrm>
          <a:prstGeom prst="rect">
            <a:avLst/>
          </a:prstGeom>
        </p:spPr>
      </p:pic>
      <p:pic>
        <p:nvPicPr>
          <p:cNvPr id="26" name="Picture 25" descr="lock.png"/>
          <p:cNvPicPr>
            <a:picLocks noChangeAspect="1"/>
          </p:cNvPicPr>
          <p:nvPr/>
        </p:nvPicPr>
        <p:blipFill>
          <a:blip r:embed="rId4"/>
          <a:stretch>
            <a:fillRect/>
          </a:stretch>
        </p:blipFill>
        <p:spPr>
          <a:xfrm>
            <a:off x="3602831" y="1540967"/>
            <a:ext cx="157162" cy="228600"/>
          </a:xfrm>
          <a:prstGeom prst="rect">
            <a:avLst/>
          </a:prstGeom>
        </p:spPr>
      </p:pic>
      <p:pic>
        <p:nvPicPr>
          <p:cNvPr id="27" name="Picture 26" descr="lock.png"/>
          <p:cNvPicPr>
            <a:picLocks noChangeAspect="1"/>
          </p:cNvPicPr>
          <p:nvPr/>
        </p:nvPicPr>
        <p:blipFill>
          <a:blip r:embed="rId4"/>
          <a:stretch>
            <a:fillRect/>
          </a:stretch>
        </p:blipFill>
        <p:spPr>
          <a:xfrm>
            <a:off x="6012656" y="1540967"/>
            <a:ext cx="157162" cy="228600"/>
          </a:xfrm>
          <a:prstGeom prst="rect">
            <a:avLst/>
          </a:prstGeom>
        </p:spPr>
      </p:pic>
      <p:pic>
        <p:nvPicPr>
          <p:cNvPr id="28" name="Picture 27" descr="lock.png"/>
          <p:cNvPicPr>
            <a:picLocks noChangeAspect="1"/>
          </p:cNvPicPr>
          <p:nvPr/>
        </p:nvPicPr>
        <p:blipFill>
          <a:blip r:embed="rId4"/>
          <a:stretch>
            <a:fillRect/>
          </a:stretch>
        </p:blipFill>
        <p:spPr>
          <a:xfrm>
            <a:off x="8412956" y="1540967"/>
            <a:ext cx="157162" cy="228600"/>
          </a:xfrm>
          <a:prstGeom prst="rect">
            <a:avLst/>
          </a:prstGeom>
        </p:spPr>
      </p:pic>
      <p:pic>
        <p:nvPicPr>
          <p:cNvPr id="29" name="Picture 28" descr="lock.png"/>
          <p:cNvPicPr>
            <a:picLocks noChangeAspect="1"/>
          </p:cNvPicPr>
          <p:nvPr/>
        </p:nvPicPr>
        <p:blipFill>
          <a:blip r:embed="rId4"/>
          <a:stretch>
            <a:fillRect/>
          </a:stretch>
        </p:blipFill>
        <p:spPr>
          <a:xfrm>
            <a:off x="10822781" y="1540967"/>
            <a:ext cx="157162" cy="228600"/>
          </a:xfrm>
          <a:prstGeom prst="rect">
            <a:avLst/>
          </a:prstGeom>
        </p:spPr>
      </p:pic>
      <p:sp>
        <p:nvSpPr>
          <p:cNvPr id="30" name="TextBox 29"/>
          <p:cNvSpPr txBox="1"/>
          <p:nvPr/>
        </p:nvSpPr>
        <p:spPr>
          <a:xfrm>
            <a:off x="276225" y="2503329"/>
            <a:ext cx="5172515" cy="194310"/>
          </a:xfrm>
          <a:prstGeom prst="rect">
            <a:avLst/>
          </a:prstGeom>
          <a:noFill/>
        </p:spPr>
        <p:txBody>
          <a:bodyPr wrap="none" lIns="0" rIns="0" tIns="0" bIns="0">
            <a:spAutoFit/>
          </a:bodyPr>
          <a:lstStyle/>
          <a:p>
            <a:r>
              <a:rPr sz="1150" b="0">
                <a:solidFill>
                  <a:srgbClr val="2E2E2E"/>
                </a:solidFill>
                <a:latin typeface="Calibri"/>
              </a:rPr>
              <a:t>▪ Defend and extend leadership in 'Other Food Products' Jade Leaf Matcha's strongest</a:t>
            </a:r>
          </a:p>
        </p:txBody>
      </p:sp>
      <p:sp>
        <p:nvSpPr>
          <p:cNvPr id="31" name="TextBox 30"/>
          <p:cNvSpPr txBox="1"/>
          <p:nvPr/>
        </p:nvSpPr>
        <p:spPr>
          <a:xfrm>
            <a:off x="276225" y="2678589"/>
            <a:ext cx="3174913" cy="194310"/>
          </a:xfrm>
          <a:prstGeom prst="rect">
            <a:avLst/>
          </a:prstGeom>
          <a:noFill/>
        </p:spPr>
        <p:txBody>
          <a:bodyPr wrap="none" lIns="0" rIns="0" tIns="0" bIns="0">
            <a:spAutoFit/>
          </a:bodyPr>
          <a:lstStyle/>
          <a:p>
            <a:r>
              <a:rPr sz="1150" b="0">
                <a:solidFill>
                  <a:srgbClr val="2E2E2E"/>
                </a:solidFill>
                <a:latin typeface="Calibri"/>
              </a:rPr>
              <a:t>end-market while scaling the next-best applications.</a:t>
            </a:r>
          </a:p>
        </p:txBody>
      </p:sp>
      <p:sp>
        <p:nvSpPr>
          <p:cNvPr id="32" name="TextBox 31"/>
          <p:cNvSpPr txBox="1"/>
          <p:nvPr/>
        </p:nvSpPr>
        <p:spPr>
          <a:xfrm>
            <a:off x="276225" y="2906426"/>
            <a:ext cx="909997" cy="194310"/>
          </a:xfrm>
          <a:prstGeom prst="rect">
            <a:avLst/>
          </a:prstGeom>
          <a:noFill/>
        </p:spPr>
        <p:txBody>
          <a:bodyPr wrap="none" lIns="0" rIns="0" tIns="0" bIns="0">
            <a:spAutoFit/>
          </a:bodyPr>
          <a:lstStyle/>
          <a:p>
            <a:r>
              <a:rPr sz="1150" b="0">
                <a:solidFill>
                  <a:srgbClr val="2E2E2E"/>
                </a:solidFill>
                <a:latin typeface="Calibri"/>
              </a:rPr>
              <a:t>▪ Convert its ~</a:t>
            </a:r>
          </a:p>
        </p:txBody>
      </p:sp>
      <p:pic>
        <p:nvPicPr>
          <p:cNvPr id="33" name="Picture 32" descr="lock.png"/>
          <p:cNvPicPr>
            <a:picLocks noChangeAspect="1"/>
          </p:cNvPicPr>
          <p:nvPr/>
        </p:nvPicPr>
        <p:blipFill>
          <a:blip r:embed="rId4"/>
          <a:stretch>
            <a:fillRect/>
          </a:stretch>
        </p:blipFill>
        <p:spPr>
          <a:xfrm>
            <a:off x="1135376" y="2896203"/>
            <a:ext cx="134549" cy="195707"/>
          </a:xfrm>
          <a:prstGeom prst="rect">
            <a:avLst/>
          </a:prstGeom>
        </p:spPr>
      </p:pic>
      <p:sp>
        <p:nvSpPr>
          <p:cNvPr id="34" name="TextBox 33"/>
          <p:cNvSpPr txBox="1"/>
          <p:nvPr/>
        </p:nvSpPr>
        <p:spPr>
          <a:xfrm>
            <a:off x="1310485" y="2906426"/>
            <a:ext cx="929109" cy="194310"/>
          </a:xfrm>
          <a:prstGeom prst="rect">
            <a:avLst/>
          </a:prstGeom>
          <a:noFill/>
        </p:spPr>
        <p:txBody>
          <a:bodyPr wrap="none" lIns="0" rIns="0" tIns="0" bIns="0">
            <a:spAutoFit/>
          </a:bodyPr>
          <a:lstStyle/>
          <a:p>
            <a:r>
              <a:rPr sz="1150" b="0">
                <a:solidFill>
                  <a:srgbClr val="2E2E2E"/>
                </a:solidFill>
                <a:latin typeface="Calibri"/>
              </a:rPr>
              <a:t>win rate and +</a:t>
            </a:r>
          </a:p>
        </p:txBody>
      </p:sp>
      <p:pic>
        <p:nvPicPr>
          <p:cNvPr id="35" name="Picture 34" descr="lock.png"/>
          <p:cNvPicPr>
            <a:picLocks noChangeAspect="1"/>
          </p:cNvPicPr>
          <p:nvPr/>
        </p:nvPicPr>
        <p:blipFill>
          <a:blip r:embed="rId4"/>
          <a:stretch>
            <a:fillRect/>
          </a:stretch>
        </p:blipFill>
        <p:spPr>
          <a:xfrm>
            <a:off x="2188748" y="2896203"/>
            <a:ext cx="134549" cy="195707"/>
          </a:xfrm>
          <a:prstGeom prst="rect">
            <a:avLst/>
          </a:prstGeom>
        </p:spPr>
      </p:pic>
      <p:sp>
        <p:nvSpPr>
          <p:cNvPr id="36" name="TextBox 35"/>
          <p:cNvSpPr txBox="1"/>
          <p:nvPr/>
        </p:nvSpPr>
        <p:spPr>
          <a:xfrm>
            <a:off x="2363857" y="2906426"/>
            <a:ext cx="3109019" cy="194310"/>
          </a:xfrm>
          <a:prstGeom prst="rect">
            <a:avLst/>
          </a:prstGeom>
          <a:noFill/>
        </p:spPr>
        <p:txBody>
          <a:bodyPr wrap="none" lIns="0" rIns="0" tIns="0" bIns="0">
            <a:spAutoFit/>
          </a:bodyPr>
          <a:lstStyle/>
          <a:p>
            <a:r>
              <a:rPr sz="1150" b="0">
                <a:solidFill>
                  <a:srgbClr val="2E2E2E"/>
                </a:solidFill>
                <a:latin typeface="Calibri"/>
              </a:rPr>
              <a:t>ASP premium into share gains through value-based</a:t>
            </a:r>
          </a:p>
        </p:txBody>
      </p:sp>
      <p:sp>
        <p:nvSpPr>
          <p:cNvPr id="37" name="TextBox 36"/>
          <p:cNvSpPr txBox="1"/>
          <p:nvPr/>
        </p:nvSpPr>
        <p:spPr>
          <a:xfrm>
            <a:off x="276225" y="3081686"/>
            <a:ext cx="489247" cy="194310"/>
          </a:xfrm>
          <a:prstGeom prst="rect">
            <a:avLst/>
          </a:prstGeom>
          <a:noFill/>
        </p:spPr>
        <p:txBody>
          <a:bodyPr wrap="none" lIns="0" rIns="0" tIns="0" bIns="0">
            <a:spAutoFit/>
          </a:bodyPr>
          <a:lstStyle/>
          <a:p>
            <a:r>
              <a:rPr sz="1150" b="0">
                <a:solidFill>
                  <a:srgbClr val="2E2E2E"/>
                </a:solidFill>
                <a:latin typeface="Calibri"/>
              </a:rPr>
              <a:t>selling.</a:t>
            </a:r>
          </a:p>
        </p:txBody>
      </p:sp>
      <p:sp>
        <p:nvSpPr>
          <p:cNvPr id="38" name="TextBox 37"/>
          <p:cNvSpPr txBox="1"/>
          <p:nvPr/>
        </p:nvSpPr>
        <p:spPr>
          <a:xfrm>
            <a:off x="276225" y="3309524"/>
            <a:ext cx="3294434" cy="194310"/>
          </a:xfrm>
          <a:prstGeom prst="rect">
            <a:avLst/>
          </a:prstGeom>
          <a:noFill/>
        </p:spPr>
        <p:txBody>
          <a:bodyPr wrap="none" lIns="0" rIns="0" tIns="0" bIns="0">
            <a:spAutoFit/>
          </a:bodyPr>
          <a:lstStyle/>
          <a:p>
            <a:r>
              <a:rPr sz="1150" b="0">
                <a:solidFill>
                  <a:srgbClr val="2E2E2E"/>
                </a:solidFill>
                <a:latin typeface="Calibri"/>
              </a:rPr>
              <a:t>▪ Raise SAM penetration beyond 'Rest of the World' (~</a:t>
            </a:r>
          </a:p>
        </p:txBody>
      </p:sp>
      <p:pic>
        <p:nvPicPr>
          <p:cNvPr id="39" name="Picture 38" descr="lock.png"/>
          <p:cNvPicPr>
            <a:picLocks noChangeAspect="1"/>
          </p:cNvPicPr>
          <p:nvPr/>
        </p:nvPicPr>
        <p:blipFill>
          <a:blip r:embed="rId4"/>
          <a:stretch>
            <a:fillRect/>
          </a:stretch>
        </p:blipFill>
        <p:spPr>
          <a:xfrm>
            <a:off x="3519813" y="3299301"/>
            <a:ext cx="134549" cy="195707"/>
          </a:xfrm>
          <a:prstGeom prst="rect">
            <a:avLst/>
          </a:prstGeom>
        </p:spPr>
      </p:pic>
      <p:sp>
        <p:nvSpPr>
          <p:cNvPr id="40" name="TextBox 39"/>
          <p:cNvSpPr txBox="1"/>
          <p:nvPr/>
        </p:nvSpPr>
        <p:spPr>
          <a:xfrm>
            <a:off x="3694922" y="3309524"/>
            <a:ext cx="2019064" cy="194310"/>
          </a:xfrm>
          <a:prstGeom prst="rect">
            <a:avLst/>
          </a:prstGeom>
          <a:noFill/>
        </p:spPr>
        <p:txBody>
          <a:bodyPr wrap="none" lIns="0" rIns="0" tIns="0" bIns="0">
            <a:spAutoFit/>
          </a:bodyPr>
          <a:lstStyle/>
          <a:p>
            <a:r>
              <a:rPr sz="1150" b="0">
                <a:solidFill>
                  <a:srgbClr val="2E2E2E"/>
                </a:solidFill>
                <a:latin typeface="Calibri"/>
              </a:rPr>
              <a:t>) into lower-penetration regions.</a:t>
            </a:r>
          </a:p>
        </p:txBody>
      </p:sp>
      <p:sp>
        <p:nvSpPr>
          <p:cNvPr id="41" name="TextBox 40"/>
          <p:cNvSpPr txBox="1"/>
          <p:nvPr/>
        </p:nvSpPr>
        <p:spPr>
          <a:xfrm>
            <a:off x="276225" y="3537362"/>
            <a:ext cx="694059" cy="194310"/>
          </a:xfrm>
          <a:prstGeom prst="rect">
            <a:avLst/>
          </a:prstGeom>
          <a:noFill/>
        </p:spPr>
        <p:txBody>
          <a:bodyPr wrap="none" lIns="0" rIns="0" tIns="0" bIns="0">
            <a:spAutoFit/>
          </a:bodyPr>
          <a:lstStyle/>
          <a:p>
            <a:r>
              <a:rPr sz="1150" b="0">
                <a:solidFill>
                  <a:srgbClr val="2E2E2E"/>
                </a:solidFill>
                <a:latin typeface="Calibri"/>
              </a:rPr>
              <a:t>▪ Sustain a</a:t>
            </a:r>
          </a:p>
        </p:txBody>
      </p:sp>
      <p:pic>
        <p:nvPicPr>
          <p:cNvPr id="42" name="Picture 41" descr="lock.png"/>
          <p:cNvPicPr>
            <a:picLocks noChangeAspect="1"/>
          </p:cNvPicPr>
          <p:nvPr/>
        </p:nvPicPr>
        <p:blipFill>
          <a:blip r:embed="rId4"/>
          <a:stretch>
            <a:fillRect/>
          </a:stretch>
        </p:blipFill>
        <p:spPr>
          <a:xfrm>
            <a:off x="919438" y="3527139"/>
            <a:ext cx="134549" cy="195707"/>
          </a:xfrm>
          <a:prstGeom prst="rect">
            <a:avLst/>
          </a:prstGeom>
        </p:spPr>
      </p:pic>
      <p:sp>
        <p:nvSpPr>
          <p:cNvPr id="43" name="TextBox 42"/>
          <p:cNvSpPr txBox="1"/>
          <p:nvPr/>
        </p:nvSpPr>
        <p:spPr>
          <a:xfrm>
            <a:off x="1094548" y="3537362"/>
            <a:ext cx="3750555" cy="194310"/>
          </a:xfrm>
          <a:prstGeom prst="rect">
            <a:avLst/>
          </a:prstGeom>
          <a:noFill/>
        </p:spPr>
        <p:txBody>
          <a:bodyPr wrap="none" lIns="0" rIns="0" tIns="0" bIns="0">
            <a:spAutoFit/>
          </a:bodyPr>
          <a:lstStyle/>
          <a:p>
            <a:r>
              <a:rPr sz="1150" b="0">
                <a:solidFill>
                  <a:srgbClr val="2E2E2E"/>
                </a:solidFill>
                <a:latin typeface="Calibri"/>
              </a:rPr>
              <a:t>book-to-bill with disciplined capacity and channel investment.</a:t>
            </a:r>
          </a:p>
        </p:txBody>
      </p:sp>
      <p:sp>
        <p:nvSpPr>
          <p:cNvPr id="44" name="TextBox 43"/>
          <p:cNvSpPr txBox="1"/>
          <p:nvPr/>
        </p:nvSpPr>
        <p:spPr>
          <a:xfrm>
            <a:off x="276225" y="3765200"/>
            <a:ext cx="5321163" cy="194310"/>
          </a:xfrm>
          <a:prstGeom prst="rect">
            <a:avLst/>
          </a:prstGeom>
          <a:noFill/>
        </p:spPr>
        <p:txBody>
          <a:bodyPr wrap="none" lIns="0" rIns="0" tIns="0" bIns="0">
            <a:spAutoFit/>
          </a:bodyPr>
          <a:lstStyle/>
          <a:p>
            <a:r>
              <a:rPr sz="1150" b="0">
                <a:solidFill>
                  <a:srgbClr val="2E2E2E"/>
                </a:solidFill>
                <a:latin typeface="Calibri"/>
              </a:rPr>
              <a:t>▪ Protect margin through corridor-based pricing and cost discipline as input prices move.</a:t>
            </a:r>
          </a:p>
        </p:txBody>
      </p:sp>
      <p:sp>
        <p:nvSpPr>
          <p:cNvPr id="45" name="TextBox 44"/>
          <p:cNvSpPr txBox="1"/>
          <p:nvPr/>
        </p:nvSpPr>
        <p:spPr>
          <a:xfrm>
            <a:off x="6334125" y="2503329"/>
            <a:ext cx="5302907" cy="194310"/>
          </a:xfrm>
          <a:prstGeom prst="rect">
            <a:avLst/>
          </a:prstGeom>
          <a:noFill/>
        </p:spPr>
        <p:txBody>
          <a:bodyPr wrap="none" lIns="0" rIns="0" tIns="0" bIns="0">
            <a:spAutoFit/>
          </a:bodyPr>
          <a:lstStyle/>
          <a:p>
            <a:r>
              <a:rPr sz="1150" b="0">
                <a:solidFill>
                  <a:srgbClr val="2E2E2E"/>
                </a:solidFill>
                <a:latin typeface="Calibri"/>
              </a:rPr>
              <a:t>▪ Premiumise the portfolio around 'Organic' and adjacent high-value lines to lift blended</a:t>
            </a:r>
          </a:p>
        </p:txBody>
      </p:sp>
      <p:sp>
        <p:nvSpPr>
          <p:cNvPr id="46" name="TextBox 45"/>
          <p:cNvSpPr txBox="1"/>
          <p:nvPr/>
        </p:nvSpPr>
        <p:spPr>
          <a:xfrm>
            <a:off x="6334125" y="2678589"/>
            <a:ext cx="515491" cy="194310"/>
          </a:xfrm>
          <a:prstGeom prst="rect">
            <a:avLst/>
          </a:prstGeom>
          <a:noFill/>
        </p:spPr>
        <p:txBody>
          <a:bodyPr wrap="none" lIns="0" rIns="0" tIns="0" bIns="0">
            <a:spAutoFit/>
          </a:bodyPr>
          <a:lstStyle/>
          <a:p>
            <a:r>
              <a:rPr sz="1150" b="0">
                <a:solidFill>
                  <a:srgbClr val="2E2E2E"/>
                </a:solidFill>
                <a:latin typeface="Calibri"/>
              </a:rPr>
              <a:t>pricing.</a:t>
            </a:r>
          </a:p>
        </p:txBody>
      </p:sp>
      <p:sp>
        <p:nvSpPr>
          <p:cNvPr id="47" name="TextBox 46"/>
          <p:cNvSpPr txBox="1"/>
          <p:nvPr/>
        </p:nvSpPr>
        <p:spPr>
          <a:xfrm>
            <a:off x="6334125" y="2906426"/>
            <a:ext cx="5219613" cy="194310"/>
          </a:xfrm>
          <a:prstGeom prst="rect">
            <a:avLst/>
          </a:prstGeom>
          <a:noFill/>
        </p:spPr>
        <p:txBody>
          <a:bodyPr wrap="none" lIns="0" rIns="0" tIns="0" bIns="0">
            <a:spAutoFit/>
          </a:bodyPr>
          <a:lstStyle/>
          <a:p>
            <a:r>
              <a:rPr sz="1150" b="0">
                <a:solidFill>
                  <a:srgbClr val="2E2E2E"/>
                </a:solidFill>
                <a:latin typeface="Calibri"/>
              </a:rPr>
              <a:t>▪ Deepen presence in 'North America' (largest SOM region) and build out under-served</a:t>
            </a:r>
          </a:p>
        </p:txBody>
      </p:sp>
      <p:sp>
        <p:nvSpPr>
          <p:cNvPr id="48" name="TextBox 47"/>
          <p:cNvSpPr txBox="1"/>
          <p:nvPr/>
        </p:nvSpPr>
        <p:spPr>
          <a:xfrm>
            <a:off x="6334125" y="3081686"/>
            <a:ext cx="838113" cy="194310"/>
          </a:xfrm>
          <a:prstGeom prst="rect">
            <a:avLst/>
          </a:prstGeom>
          <a:noFill/>
        </p:spPr>
        <p:txBody>
          <a:bodyPr wrap="none" lIns="0" rIns="0" tIns="0" bIns="0">
            <a:spAutoFit/>
          </a:bodyPr>
          <a:lstStyle/>
          <a:p>
            <a:r>
              <a:rPr sz="1150" b="0">
                <a:solidFill>
                  <a:srgbClr val="2E2E2E"/>
                </a:solidFill>
                <a:latin typeface="Calibri"/>
              </a:rPr>
              <a:t>geographies.</a:t>
            </a:r>
          </a:p>
        </p:txBody>
      </p:sp>
      <p:sp>
        <p:nvSpPr>
          <p:cNvPr id="49" name="TextBox 48"/>
          <p:cNvSpPr txBox="1"/>
          <p:nvPr/>
        </p:nvSpPr>
        <p:spPr>
          <a:xfrm>
            <a:off x="6334125" y="3309524"/>
            <a:ext cx="5471144" cy="194310"/>
          </a:xfrm>
          <a:prstGeom prst="rect">
            <a:avLst/>
          </a:prstGeom>
          <a:noFill/>
        </p:spPr>
        <p:txBody>
          <a:bodyPr wrap="none" lIns="0" rIns="0" tIns="0" bIns="0">
            <a:spAutoFit/>
          </a:bodyPr>
          <a:lstStyle/>
          <a:p>
            <a:r>
              <a:rPr sz="1150" b="0">
                <a:solidFill>
                  <a:srgbClr val="2E2E2E"/>
                </a:solidFill>
                <a:latin typeface="Calibri"/>
              </a:rPr>
              <a:t>▪ Invest in R&amp;D, certification and selective M&amp;A to move up the price ladder and widen the</a:t>
            </a:r>
          </a:p>
        </p:txBody>
      </p:sp>
      <p:sp>
        <p:nvSpPr>
          <p:cNvPr id="50" name="TextBox 49"/>
          <p:cNvSpPr txBox="1"/>
          <p:nvPr/>
        </p:nvSpPr>
        <p:spPr>
          <a:xfrm>
            <a:off x="6334125" y="3484784"/>
            <a:ext cx="425636" cy="194310"/>
          </a:xfrm>
          <a:prstGeom prst="rect">
            <a:avLst/>
          </a:prstGeom>
          <a:noFill/>
        </p:spPr>
        <p:txBody>
          <a:bodyPr wrap="none" lIns="0" rIns="0" tIns="0" bIns="0">
            <a:spAutoFit/>
          </a:bodyPr>
          <a:lstStyle/>
          <a:p>
            <a:r>
              <a:rPr sz="1150" b="0">
                <a:solidFill>
                  <a:srgbClr val="2E2E2E"/>
                </a:solidFill>
                <a:latin typeface="Calibri"/>
              </a:rPr>
              <a:t>moat.</a:t>
            </a:r>
          </a:p>
        </p:txBody>
      </p:sp>
      <p:sp>
        <p:nvSpPr>
          <p:cNvPr id="51" name="TextBox 50"/>
          <p:cNvSpPr txBox="1"/>
          <p:nvPr/>
        </p:nvSpPr>
        <p:spPr>
          <a:xfrm>
            <a:off x="6334125" y="3712622"/>
            <a:ext cx="5267535" cy="194310"/>
          </a:xfrm>
          <a:prstGeom prst="rect">
            <a:avLst/>
          </a:prstGeom>
          <a:noFill/>
        </p:spPr>
        <p:txBody>
          <a:bodyPr wrap="none" lIns="0" rIns="0" tIns="0" bIns="0">
            <a:spAutoFit/>
          </a:bodyPr>
          <a:lstStyle/>
          <a:p>
            <a:r>
              <a:rPr sz="1150" b="0">
                <a:solidFill>
                  <a:srgbClr val="2E2E2E"/>
                </a:solidFill>
                <a:latin typeface="Calibri"/>
              </a:rPr>
              <a:t>▪ Diversify the customer base and secure supply to de-risk concentration and input-cost</a:t>
            </a:r>
          </a:p>
        </p:txBody>
      </p:sp>
      <p:sp>
        <p:nvSpPr>
          <p:cNvPr id="52" name="TextBox 51"/>
          <p:cNvSpPr txBox="1"/>
          <p:nvPr/>
        </p:nvSpPr>
        <p:spPr>
          <a:xfrm>
            <a:off x="6334125" y="3887882"/>
            <a:ext cx="509215" cy="194310"/>
          </a:xfrm>
          <a:prstGeom prst="rect">
            <a:avLst/>
          </a:prstGeom>
          <a:noFill/>
        </p:spPr>
        <p:txBody>
          <a:bodyPr wrap="none" lIns="0" rIns="0" tIns="0" bIns="0">
            <a:spAutoFit/>
          </a:bodyPr>
          <a:lstStyle/>
          <a:p>
            <a:r>
              <a:rPr sz="1150" b="0">
                <a:solidFill>
                  <a:srgbClr val="2E2E2E"/>
                </a:solidFill>
                <a:latin typeface="Calibri"/>
              </a:rPr>
              <a:t>shocks.</a:t>
            </a:r>
          </a:p>
        </p:txBody>
      </p:sp>
      <p:sp>
        <p:nvSpPr>
          <p:cNvPr id="53" name="TextBox 52"/>
          <p:cNvSpPr txBox="1"/>
          <p:nvPr/>
        </p:nvSpPr>
        <p:spPr>
          <a:xfrm>
            <a:off x="6334125" y="4115720"/>
            <a:ext cx="3102173" cy="194310"/>
          </a:xfrm>
          <a:prstGeom prst="rect">
            <a:avLst/>
          </a:prstGeom>
          <a:noFill/>
        </p:spPr>
        <p:txBody>
          <a:bodyPr wrap="none" lIns="0" rIns="0" tIns="0" bIns="0">
            <a:spAutoFit/>
          </a:bodyPr>
          <a:lstStyle/>
          <a:p>
            <a:r>
              <a:rPr sz="1150" b="0">
                <a:solidFill>
                  <a:srgbClr val="2E2E2E"/>
                </a:solidFill>
                <a:latin typeface="Calibri"/>
              </a:rPr>
              <a:t>▪ Sharpen go-to-market a ~95-day sales cycle and ~</a:t>
            </a:r>
          </a:p>
        </p:txBody>
      </p:sp>
      <p:pic>
        <p:nvPicPr>
          <p:cNvPr id="54" name="Picture 53" descr="lock.png"/>
          <p:cNvPicPr>
            <a:picLocks noChangeAspect="1"/>
          </p:cNvPicPr>
          <p:nvPr/>
        </p:nvPicPr>
        <p:blipFill>
          <a:blip r:embed="rId4"/>
          <a:stretch>
            <a:fillRect/>
          </a:stretch>
        </p:blipFill>
        <p:spPr>
          <a:xfrm>
            <a:off x="9385452" y="4105497"/>
            <a:ext cx="134549" cy="195707"/>
          </a:xfrm>
          <a:prstGeom prst="rect">
            <a:avLst/>
          </a:prstGeom>
        </p:spPr>
      </p:pic>
      <p:sp>
        <p:nvSpPr>
          <p:cNvPr id="55" name="TextBox 54"/>
          <p:cNvSpPr txBox="1"/>
          <p:nvPr/>
        </p:nvSpPr>
        <p:spPr>
          <a:xfrm>
            <a:off x="9560561" y="4115720"/>
            <a:ext cx="2003660" cy="194310"/>
          </a:xfrm>
          <a:prstGeom prst="rect">
            <a:avLst/>
          </a:prstGeom>
          <a:noFill/>
        </p:spPr>
        <p:txBody>
          <a:bodyPr wrap="none" lIns="0" rIns="0" tIns="0" bIns="0">
            <a:spAutoFit/>
          </a:bodyPr>
          <a:lstStyle/>
          <a:p>
            <a:r>
              <a:rPr sz="1150" b="0">
                <a:solidFill>
                  <a:srgbClr val="2E2E2E"/>
                </a:solidFill>
                <a:latin typeface="Calibri"/>
              </a:rPr>
              <a:t>conversion speed share capture.</a:t>
            </a:r>
          </a:p>
        </p:txBody>
      </p:sp>
    </p:spTree>
  </p:cSld>
  <p:clrMapOvr>
    <a:masterClrMapping/>
  </p:clrMapOvr>
</p:sld>
</file>

<file path=ppt/slides/slide291.xml><?xml version="1.0" encoding="utf-8"?>
<p:sld xmlns:a="http://schemas.openxmlformats.org/drawingml/2006/main" xmlns:p="http://schemas.openxmlformats.org/presentationml/2006/main" xmlns:r="http://schemas.openxmlformats.org/officeDocument/2006/relationships">
  <p:cSld>
    <p:bg>
      <p:bgPr>
        <a:solidFill>
          <a:srgbClr val="F1F8FE"/>
        </a:solidFill>
        <a:effectLst/>
      </p:bgPr>
    </p:bg>
    <p:spTree>
      <p:nvGrpSpPr>
        <p:cNvPr id="1" name=""/>
        <p:cNvGrpSpPr/>
        <p:nvPr/>
      </p:nvGrpSpPr>
      <p:grpSpPr/>
      <p:sp>
        <p:nvSpPr>
          <p:cNvPr id="2" name="Rectangle 1"/>
          <p:cNvSpPr/>
          <p:nvPr/>
        </p:nvSpPr>
        <p:spPr>
          <a:xfrm>
            <a:off x="0" y="0"/>
            <a:ext cx="12192000" cy="6858000"/>
          </a:xfrm>
          <a:prstGeom prst="rect">
            <a:avLst/>
          </a:prstGeom>
          <a:gradFill rotWithShape="1">
            <a:gsLst>
              <a:gs pos="0">
                <a:srgbClr val="F1F8FE"/>
              </a:gs>
              <a:gs pos="100000">
                <a:srgbClr val="DAEAF9"/>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Freeform 2"/>
          <p:cNvSpPr/>
          <p:nvPr/>
        </p:nvSpPr>
        <p:spPr>
          <a:xfrm>
            <a:off x="0" y="5591183"/>
            <a:ext cx="12192000" cy="1266817"/>
          </a:xfrm>
          <a:custGeom>
            <a:avLst/>
            <a:gdLst/>
            <a:ahLst/>
            <a:cxnLst/>
            <a:rect l="l" t="t" r="r" b="b"/>
            <a:pathLst>
              <a:path w="12192000" h="1266817">
                <a:moveTo>
                  <a:pt x="0" y="1266817"/>
                </a:moveTo>
                <a:lnTo>
                  <a:pt x="0" y="475605"/>
                </a:lnTo>
                <a:lnTo>
                  <a:pt x="152400" y="486239"/>
                </a:lnTo>
                <a:lnTo>
                  <a:pt x="304800" y="495887"/>
                </a:lnTo>
                <a:lnTo>
                  <a:pt x="457200" y="504505"/>
                </a:lnTo>
                <a:lnTo>
                  <a:pt x="609600" y="512056"/>
                </a:lnTo>
                <a:lnTo>
                  <a:pt x="762000" y="518505"/>
                </a:lnTo>
                <a:lnTo>
                  <a:pt x="914400" y="523824"/>
                </a:lnTo>
                <a:lnTo>
                  <a:pt x="1066800" y="527988"/>
                </a:lnTo>
                <a:lnTo>
                  <a:pt x="1219200" y="530979"/>
                </a:lnTo>
                <a:lnTo>
                  <a:pt x="1371600" y="532783"/>
                </a:lnTo>
                <a:lnTo>
                  <a:pt x="1524000" y="533392"/>
                </a:lnTo>
                <a:lnTo>
                  <a:pt x="1676400" y="532804"/>
                </a:lnTo>
                <a:lnTo>
                  <a:pt x="1828800" y="531021"/>
                </a:lnTo>
                <a:lnTo>
                  <a:pt x="1981200" y="528051"/>
                </a:lnTo>
                <a:lnTo>
                  <a:pt x="2133600" y="523907"/>
                </a:lnTo>
                <a:lnTo>
                  <a:pt x="2286000" y="518609"/>
                </a:lnTo>
                <a:lnTo>
                  <a:pt x="2438400" y="512179"/>
                </a:lnTo>
                <a:lnTo>
                  <a:pt x="2590800" y="504648"/>
                </a:lnTo>
                <a:lnTo>
                  <a:pt x="2743200" y="496047"/>
                </a:lnTo>
                <a:lnTo>
                  <a:pt x="2895600" y="486417"/>
                </a:lnTo>
                <a:lnTo>
                  <a:pt x="3048000" y="475801"/>
                </a:lnTo>
                <a:lnTo>
                  <a:pt x="3200400" y="464245"/>
                </a:lnTo>
                <a:lnTo>
                  <a:pt x="3352800" y="451803"/>
                </a:lnTo>
                <a:lnTo>
                  <a:pt x="3505200" y="438529"/>
                </a:lnTo>
                <a:lnTo>
                  <a:pt x="3657600" y="424484"/>
                </a:lnTo>
                <a:lnTo>
                  <a:pt x="3810000" y="409730"/>
                </a:lnTo>
                <a:lnTo>
                  <a:pt x="3962400" y="394334"/>
                </a:lnTo>
                <a:lnTo>
                  <a:pt x="4114800" y="378365"/>
                </a:lnTo>
                <a:lnTo>
                  <a:pt x="4267200" y="361894"/>
                </a:lnTo>
                <a:lnTo>
                  <a:pt x="4419600" y="344996"/>
                </a:lnTo>
                <a:lnTo>
                  <a:pt x="4572000" y="327746"/>
                </a:lnTo>
                <a:lnTo>
                  <a:pt x="4724400" y="310223"/>
                </a:lnTo>
                <a:lnTo>
                  <a:pt x="4876800" y="292503"/>
                </a:lnTo>
                <a:lnTo>
                  <a:pt x="5029200" y="274668"/>
                </a:lnTo>
                <a:lnTo>
                  <a:pt x="5181600" y="256797"/>
                </a:lnTo>
                <a:lnTo>
                  <a:pt x="5334000" y="238971"/>
                </a:lnTo>
                <a:lnTo>
                  <a:pt x="5486400" y="221269"/>
                </a:lnTo>
                <a:lnTo>
                  <a:pt x="5638800" y="203771"/>
                </a:lnTo>
                <a:lnTo>
                  <a:pt x="5791200" y="186555"/>
                </a:lnTo>
                <a:lnTo>
                  <a:pt x="5943600" y="169699"/>
                </a:lnTo>
                <a:lnTo>
                  <a:pt x="6096000" y="153279"/>
                </a:lnTo>
                <a:lnTo>
                  <a:pt x="6248400" y="137368"/>
                </a:lnTo>
                <a:lnTo>
                  <a:pt x="6400800" y="122038"/>
                </a:lnTo>
                <a:lnTo>
                  <a:pt x="6553200" y="107357"/>
                </a:lnTo>
                <a:lnTo>
                  <a:pt x="6705600" y="93391"/>
                </a:lnTo>
                <a:lnTo>
                  <a:pt x="6858000" y="80204"/>
                </a:lnTo>
                <a:lnTo>
                  <a:pt x="7010400" y="67854"/>
                </a:lnTo>
                <a:lnTo>
                  <a:pt x="7162800" y="56397"/>
                </a:lnTo>
                <a:lnTo>
                  <a:pt x="7315200" y="45884"/>
                </a:lnTo>
                <a:lnTo>
                  <a:pt x="7467600" y="36363"/>
                </a:lnTo>
                <a:lnTo>
                  <a:pt x="7620000" y="27876"/>
                </a:lnTo>
                <a:lnTo>
                  <a:pt x="7772400" y="20461"/>
                </a:lnTo>
                <a:lnTo>
                  <a:pt x="7924800" y="14151"/>
                </a:lnTo>
                <a:lnTo>
                  <a:pt x="8077200" y="8976"/>
                </a:lnTo>
                <a:lnTo>
                  <a:pt x="8229600" y="4958"/>
                </a:lnTo>
                <a:lnTo>
                  <a:pt x="8382000" y="2115"/>
                </a:lnTo>
                <a:lnTo>
                  <a:pt x="8534400" y="460"/>
                </a:lnTo>
                <a:lnTo>
                  <a:pt x="8686800" y="0"/>
                </a:lnTo>
                <a:lnTo>
                  <a:pt x="8839200" y="738"/>
                </a:lnTo>
                <a:lnTo>
                  <a:pt x="8991600" y="2670"/>
                </a:lnTo>
                <a:lnTo>
                  <a:pt x="9144000" y="5787"/>
                </a:lnTo>
                <a:lnTo>
                  <a:pt x="9296400" y="10076"/>
                </a:lnTo>
                <a:lnTo>
                  <a:pt x="9448800" y="15518"/>
                </a:lnTo>
                <a:lnTo>
                  <a:pt x="9601200" y="22086"/>
                </a:lnTo>
                <a:lnTo>
                  <a:pt x="9753600" y="29754"/>
                </a:lnTo>
                <a:lnTo>
                  <a:pt x="9906000" y="38485"/>
                </a:lnTo>
                <a:lnTo>
                  <a:pt x="10058400" y="48241"/>
                </a:lnTo>
                <a:lnTo>
                  <a:pt x="10210800" y="58977"/>
                </a:lnTo>
                <a:lnTo>
                  <a:pt x="10363200" y="70647"/>
                </a:lnTo>
                <a:lnTo>
                  <a:pt x="10515600" y="83196"/>
                </a:lnTo>
                <a:lnTo>
                  <a:pt x="10668000" y="96570"/>
                </a:lnTo>
                <a:lnTo>
                  <a:pt x="10820400" y="110707"/>
                </a:lnTo>
                <a:lnTo>
                  <a:pt x="10972800" y="125545"/>
                </a:lnTo>
                <a:lnTo>
                  <a:pt x="11125200" y="141016"/>
                </a:lnTo>
                <a:lnTo>
                  <a:pt x="11277600" y="157052"/>
                </a:lnTo>
                <a:lnTo>
                  <a:pt x="11430000" y="173580"/>
                </a:lnTo>
                <a:lnTo>
                  <a:pt x="11582400" y="190527"/>
                </a:lnTo>
                <a:lnTo>
                  <a:pt x="11734800" y="207815"/>
                </a:lnTo>
                <a:lnTo>
                  <a:pt x="11887200" y="225367"/>
                </a:lnTo>
                <a:lnTo>
                  <a:pt x="12039600" y="243105"/>
                </a:lnTo>
                <a:lnTo>
                  <a:pt x="12192000" y="260949"/>
                </a:lnTo>
                <a:lnTo>
                  <a:pt x="12192000" y="1266817"/>
                </a:lnTo>
                <a:close/>
              </a:path>
            </a:pathLst>
          </a:custGeom>
          <a:solidFill>
            <a:srgbClr val="C8E0F6">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Freeform 3"/>
          <p:cNvSpPr/>
          <p:nvPr/>
        </p:nvSpPr>
        <p:spPr>
          <a:xfrm>
            <a:off x="0" y="5905543"/>
            <a:ext cx="12192000" cy="952457"/>
          </a:xfrm>
          <a:custGeom>
            <a:avLst/>
            <a:gdLst/>
            <a:ahLst/>
            <a:cxnLst/>
            <a:rect l="l" t="t" r="r" b="b"/>
            <a:pathLst>
              <a:path w="12192000" h="952457">
                <a:moveTo>
                  <a:pt x="0" y="952457"/>
                </a:moveTo>
                <a:lnTo>
                  <a:pt x="0" y="288660"/>
                </a:lnTo>
                <a:lnTo>
                  <a:pt x="152400" y="275228"/>
                </a:lnTo>
                <a:lnTo>
                  <a:pt x="304800" y="261249"/>
                </a:lnTo>
                <a:lnTo>
                  <a:pt x="457200" y="246812"/>
                </a:lnTo>
                <a:lnTo>
                  <a:pt x="609600" y="232010"/>
                </a:lnTo>
                <a:lnTo>
                  <a:pt x="762000" y="216940"/>
                </a:lnTo>
                <a:lnTo>
                  <a:pt x="914400" y="201698"/>
                </a:lnTo>
                <a:lnTo>
                  <a:pt x="1066800" y="186384"/>
                </a:lnTo>
                <a:lnTo>
                  <a:pt x="1219200" y="171097"/>
                </a:lnTo>
                <a:lnTo>
                  <a:pt x="1371600" y="155934"/>
                </a:lnTo>
                <a:lnTo>
                  <a:pt x="1524000" y="140995"/>
                </a:lnTo>
                <a:lnTo>
                  <a:pt x="1676400" y="126375"/>
                </a:lnTo>
                <a:lnTo>
                  <a:pt x="1828800" y="112170"/>
                </a:lnTo>
                <a:lnTo>
                  <a:pt x="1981200" y="98470"/>
                </a:lnTo>
                <a:lnTo>
                  <a:pt x="2133600" y="85366"/>
                </a:lnTo>
                <a:lnTo>
                  <a:pt x="2286000" y="72940"/>
                </a:lnTo>
                <a:lnTo>
                  <a:pt x="2438400" y="61275"/>
                </a:lnTo>
                <a:lnTo>
                  <a:pt x="2590800" y="50444"/>
                </a:lnTo>
                <a:lnTo>
                  <a:pt x="2743200" y="40519"/>
                </a:lnTo>
                <a:lnTo>
                  <a:pt x="2895600" y="31563"/>
                </a:lnTo>
                <a:lnTo>
                  <a:pt x="3048000" y="23634"/>
                </a:lnTo>
                <a:lnTo>
                  <a:pt x="3200400" y="16784"/>
                </a:lnTo>
                <a:lnTo>
                  <a:pt x="3352800" y="11056"/>
                </a:lnTo>
                <a:lnTo>
                  <a:pt x="3505200" y="6489"/>
                </a:lnTo>
                <a:lnTo>
                  <a:pt x="3657600" y="3110"/>
                </a:lnTo>
                <a:lnTo>
                  <a:pt x="3810000" y="943"/>
                </a:lnTo>
                <a:lnTo>
                  <a:pt x="3962400" y="0"/>
                </a:lnTo>
                <a:lnTo>
                  <a:pt x="4114800" y="289"/>
                </a:lnTo>
                <a:lnTo>
                  <a:pt x="4267200" y="1808"/>
                </a:lnTo>
                <a:lnTo>
                  <a:pt x="4419600" y="4546"/>
                </a:lnTo>
                <a:lnTo>
                  <a:pt x="4572000" y="8485"/>
                </a:lnTo>
                <a:lnTo>
                  <a:pt x="4724400" y="13601"/>
                </a:lnTo>
                <a:lnTo>
                  <a:pt x="4876800" y="19861"/>
                </a:lnTo>
                <a:lnTo>
                  <a:pt x="5029200" y="27223"/>
                </a:lnTo>
                <a:lnTo>
                  <a:pt x="5181600" y="35641"/>
                </a:lnTo>
                <a:lnTo>
                  <a:pt x="5334000" y="45059"/>
                </a:lnTo>
                <a:lnTo>
                  <a:pt x="5486400" y="55417"/>
                </a:lnTo>
                <a:lnTo>
                  <a:pt x="5638800" y="66649"/>
                </a:lnTo>
                <a:lnTo>
                  <a:pt x="5791200" y="78680"/>
                </a:lnTo>
                <a:lnTo>
                  <a:pt x="5943600" y="91435"/>
                </a:lnTo>
                <a:lnTo>
                  <a:pt x="6096000" y="104829"/>
                </a:lnTo>
                <a:lnTo>
                  <a:pt x="6248400" y="118777"/>
                </a:lnTo>
                <a:lnTo>
                  <a:pt x="6400800" y="133188"/>
                </a:lnTo>
                <a:lnTo>
                  <a:pt x="6553200" y="147970"/>
                </a:lnTo>
                <a:lnTo>
                  <a:pt x="6705600" y="163026"/>
                </a:lnTo>
                <a:lnTo>
                  <a:pt x="6858000" y="178260"/>
                </a:lnTo>
                <a:lnTo>
                  <a:pt x="7010400" y="193572"/>
                </a:lnTo>
                <a:lnTo>
                  <a:pt x="7162800" y="208865"/>
                </a:lnTo>
                <a:lnTo>
                  <a:pt x="7315200" y="224038"/>
                </a:lnTo>
                <a:lnTo>
                  <a:pt x="7467600" y="238994"/>
                </a:lnTo>
                <a:lnTo>
                  <a:pt x="7620000" y="253637"/>
                </a:lnTo>
                <a:lnTo>
                  <a:pt x="7772400" y="267871"/>
                </a:lnTo>
                <a:lnTo>
                  <a:pt x="7924800" y="281604"/>
                </a:lnTo>
                <a:lnTo>
                  <a:pt x="8077200" y="294748"/>
                </a:lnTo>
                <a:lnTo>
                  <a:pt x="8229600" y="307218"/>
                </a:lnTo>
                <a:lnTo>
                  <a:pt x="8382000" y="318934"/>
                </a:lnTo>
                <a:lnTo>
                  <a:pt x="8534400" y="329818"/>
                </a:lnTo>
                <a:lnTo>
                  <a:pt x="8686800" y="339802"/>
                </a:lnTo>
                <a:lnTo>
                  <a:pt x="8839200" y="348821"/>
                </a:lnTo>
                <a:lnTo>
                  <a:pt x="8991600" y="356815"/>
                </a:lnTo>
                <a:lnTo>
                  <a:pt x="9144000" y="363734"/>
                </a:lnTo>
                <a:lnTo>
                  <a:pt x="9296400" y="369533"/>
                </a:lnTo>
                <a:lnTo>
                  <a:pt x="9448800" y="374174"/>
                </a:lnTo>
                <a:lnTo>
                  <a:pt x="9601200" y="377628"/>
                </a:lnTo>
                <a:lnTo>
                  <a:pt x="9753600" y="379872"/>
                </a:lnTo>
                <a:lnTo>
                  <a:pt x="9906000" y="380891"/>
                </a:lnTo>
                <a:lnTo>
                  <a:pt x="10058400" y="380679"/>
                </a:lnTo>
                <a:lnTo>
                  <a:pt x="10210800" y="379237"/>
                </a:lnTo>
                <a:lnTo>
                  <a:pt x="10363200" y="376575"/>
                </a:lnTo>
                <a:lnTo>
                  <a:pt x="10515600" y="372710"/>
                </a:lnTo>
                <a:lnTo>
                  <a:pt x="10668000" y="367666"/>
                </a:lnTo>
                <a:lnTo>
                  <a:pt x="10820400" y="361477"/>
                </a:lnTo>
                <a:lnTo>
                  <a:pt x="10972800" y="354182"/>
                </a:lnTo>
                <a:lnTo>
                  <a:pt x="11125200" y="345829"/>
                </a:lnTo>
                <a:lnTo>
                  <a:pt x="11277600" y="336472"/>
                </a:lnTo>
                <a:lnTo>
                  <a:pt x="11430000" y="326170"/>
                </a:lnTo>
                <a:lnTo>
                  <a:pt x="11582400" y="314991"/>
                </a:lnTo>
                <a:lnTo>
                  <a:pt x="11734800" y="303008"/>
                </a:lnTo>
                <a:lnTo>
                  <a:pt x="11887200" y="290296"/>
                </a:lnTo>
                <a:lnTo>
                  <a:pt x="12039600" y="276939"/>
                </a:lnTo>
                <a:lnTo>
                  <a:pt x="12192000" y="263023"/>
                </a:lnTo>
                <a:lnTo>
                  <a:pt x="12192000" y="952457"/>
                </a:lnTo>
                <a:close/>
              </a:path>
            </a:pathLst>
          </a:custGeom>
          <a:solidFill>
            <a:srgbClr val="A7CDF1">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0" y="6638925"/>
            <a:ext cx="12192000" cy="219075"/>
          </a:xfrm>
          <a:prstGeom prst="rect">
            <a:avLst/>
          </a:prstGeom>
          <a:solidFill>
            <a:srgbClr val="A9CEF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0" y="6238875"/>
            <a:ext cx="12192000" cy="400050"/>
          </a:xfrm>
          <a:prstGeom prst="rect">
            <a:avLst/>
          </a:prstGeom>
          <a:gradFill rotWithShape="1">
            <a:gsLst>
              <a:gs pos="0">
                <a:srgbClr val="2C6BB2"/>
              </a:gs>
              <a:gs pos="100000">
                <a:srgbClr val="7FB5E4"/>
              </a:gs>
            </a:gsLst>
            <a:lin scaled="0" ang="162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 name="FMI Section Bar"/>
          <p:cNvSpPr txBox="1"/>
          <p:nvPr/>
        </p:nvSpPr>
        <p:spPr>
          <a:xfrm>
            <a:off x="285750" y="6238875"/>
            <a:ext cx="3810000" cy="400050"/>
          </a:xfrm>
          <a:prstGeom prst="rect">
            <a:avLst/>
          </a:prstGeom>
          <a:noFill/>
        </p:spPr>
        <p:txBody>
          <a:bodyPr wrap="none" anchor="ctr" lIns="0" tIns="0" bIns="0">
            <a:spAutoFit/>
          </a:bodyPr>
          <a:lstStyle/>
          <a:p>
            <a:r>
              <a:rPr sz="1500" b="1">
                <a:solidFill>
                  <a:srgbClr val="FFFFFF"/>
                </a:solidFill>
                <a:latin typeface="Calibri"/>
              </a:rPr>
              <a:t>Section 20</a:t>
            </a:r>
          </a:p>
        </p:txBody>
      </p:sp>
      <p:pic>
        <p:nvPicPr>
          <p:cNvPr id="8" name="Picture 7" descr="fmi_logo_template.png"/>
          <p:cNvPicPr>
            <a:picLocks noChangeAspect="1"/>
          </p:cNvPicPr>
          <p:nvPr/>
        </p:nvPicPr>
        <p:blipFill>
          <a:blip r:embed="rId2"/>
          <a:stretch>
            <a:fillRect/>
          </a:stretch>
        </p:blipFill>
        <p:spPr>
          <a:xfrm>
            <a:off x="411480" y="274320"/>
            <a:ext cx="1307592" cy="1325880"/>
          </a:xfrm>
          <a:prstGeom prst="rect">
            <a:avLst/>
          </a:prstGeom>
        </p:spPr>
      </p:pic>
      <p:sp>
        <p:nvSpPr>
          <p:cNvPr id="9" name="TextBox 8"/>
          <p:cNvSpPr txBox="1"/>
          <p:nvPr/>
        </p:nvSpPr>
        <p:spPr>
          <a:xfrm>
            <a:off x="914400" y="2752725"/>
            <a:ext cx="8572500" cy="304800"/>
          </a:xfrm>
          <a:prstGeom prst="rect">
            <a:avLst/>
          </a:prstGeom>
          <a:noFill/>
        </p:spPr>
        <p:txBody>
          <a:bodyPr wrap="none" lIns="0" tIns="0">
            <a:spAutoFit/>
          </a:bodyPr>
          <a:lstStyle/>
          <a:p>
            <a:r>
              <a:rPr sz="1800" b="0">
                <a:solidFill>
                  <a:srgbClr val="0E72AE"/>
                </a:solidFill>
                <a:latin typeface="Calibri"/>
              </a:rPr>
              <a:t>Matcha Market</a:t>
            </a:r>
          </a:p>
        </p:txBody>
      </p:sp>
      <p:sp>
        <p:nvSpPr>
          <p:cNvPr id="10" name="FMI Section Title"/>
          <p:cNvSpPr txBox="1"/>
          <p:nvPr/>
        </p:nvSpPr>
        <p:spPr>
          <a:xfrm>
            <a:off x="914400" y="3095625"/>
            <a:ext cx="8572500" cy="514350"/>
          </a:xfrm>
          <a:prstGeom prst="rect">
            <a:avLst/>
          </a:prstGeom>
          <a:noFill/>
        </p:spPr>
        <p:txBody>
          <a:bodyPr wrap="square" lIns="0" rIns="0" tIns="0">
            <a:spAutoFit/>
          </a:bodyPr>
          <a:lstStyle/>
          <a:p>
            <a:r>
              <a:rPr sz="3000" b="1">
                <a:solidFill>
                  <a:srgbClr val="0B3C8C"/>
                </a:solidFill>
                <a:latin typeface="Calibri"/>
              </a:rPr>
              <a:t>Competitive Landscape</a:t>
            </a:r>
          </a:p>
        </p:txBody>
      </p:sp>
      <p:sp>
        <p:nvSpPr>
          <p:cNvPr id="11" name="TextBox 10"/>
          <p:cNvSpPr txBox="1"/>
          <p:nvPr/>
        </p:nvSpPr>
        <p:spPr>
          <a:xfrm>
            <a:off x="914400" y="3781425"/>
            <a:ext cx="8458200" cy="1276350"/>
          </a:xfrm>
          <a:prstGeom prst="rect">
            <a:avLst/>
          </a:prstGeom>
          <a:noFill/>
        </p:spPr>
        <p:txBody>
          <a:bodyPr wrap="square" lIns="0" rIns="0" tIns="0" bIns="0">
            <a:spAutoFit/>
          </a:bodyPr>
          <a:lstStyle/>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Pipeline Assessment</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Strategic Outlook</a:t>
            </a:r>
          </a:p>
          <a:p>
            <a:pPr marL="342900" indent="-323850">
              <a:lnSpc>
                <a:spcPct val="100000"/>
              </a:lnSpc>
              <a:spcAft>
                <a:spcPts val="800"/>
              </a:spcAft>
            </a:pPr>
            <a:r>
              <a:rPr sz="2000" b="0">
                <a:solidFill>
                  <a:srgbClr val="000000"/>
                </a:solidFill>
                <a:latin typeface="Calibri"/>
              </a:rPr>
              <a:t>➤	</a:t>
            </a:r>
            <a:r>
              <a:rPr sz="2000" b="0">
                <a:solidFill>
                  <a:srgbClr val="000000"/>
                </a:solidFill>
                <a:latin typeface="Calibri"/>
              </a:rPr>
              <a:t>Competition Dashboard</a:t>
            </a:r>
          </a:p>
        </p:txBody>
      </p:sp>
      <p:sp>
        <p:nvSpPr>
          <p:cNvPr id="12" name="TextBox 1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29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Competitive Landscape at a Glance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Market concentration, segment leadership and the moves that will shift share, 2026–2036, in one page</a:t>
            </a:r>
          </a:p>
        </p:txBody>
      </p:sp>
      <p:cxnSp>
        <p:nvCxnSpPr>
          <p:cNvPr id="10" name="Connector 9"/>
          <p:cNvCxnSpPr/>
          <p:nvPr/>
        </p:nvCxnSpPr>
        <p:spPr>
          <a:xfrm>
            <a:off x="190500" y="10477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476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2" name="TextBox 11"/>
          <p:cNvSpPr txBox="1"/>
          <p:nvPr/>
        </p:nvSpPr>
        <p:spPr>
          <a:xfrm>
            <a:off x="2476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E87722"/>
                </a:solidFill>
                <a:latin typeface="Calibri"/>
              </a:rPr>
              <a:t> </a:t>
            </a:r>
          </a:p>
        </p:txBody>
      </p:sp>
      <p:cxnSp>
        <p:nvCxnSpPr>
          <p:cNvPr id="13" name="Connector 12"/>
          <p:cNvCxnSpPr/>
          <p:nvPr/>
        </p:nvCxnSpPr>
        <p:spPr>
          <a:xfrm>
            <a:off x="16668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4" name="TextBox 13"/>
          <p:cNvSpPr txBox="1"/>
          <p:nvPr/>
        </p:nvSpPr>
        <p:spPr>
          <a:xfrm>
            <a:off x="17240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5" name="TextBox 14"/>
          <p:cNvSpPr txBox="1"/>
          <p:nvPr/>
        </p:nvSpPr>
        <p:spPr>
          <a:xfrm>
            <a:off x="17240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6" name="Connector 15"/>
          <p:cNvCxnSpPr/>
          <p:nvPr/>
        </p:nvCxnSpPr>
        <p:spPr>
          <a:xfrm>
            <a:off x="31432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32004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Top 3 product types</a:t>
            </a:r>
          </a:p>
        </p:txBody>
      </p:sp>
      <p:sp>
        <p:nvSpPr>
          <p:cNvPr id="18" name="TextBox 17"/>
          <p:cNvSpPr txBox="1"/>
          <p:nvPr/>
        </p:nvSpPr>
        <p:spPr>
          <a:xfrm>
            <a:off x="32004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19" name="Connector 18"/>
          <p:cNvCxnSpPr/>
          <p:nvPr/>
        </p:nvCxnSpPr>
        <p:spPr>
          <a:xfrm>
            <a:off x="46196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nvSpPr>
        <p:spPr>
          <a:xfrm>
            <a:off x="46767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end use</a:t>
            </a:r>
          </a:p>
        </p:txBody>
      </p:sp>
      <p:sp>
        <p:nvSpPr>
          <p:cNvPr id="21" name="TextBox 20"/>
          <p:cNvSpPr txBox="1"/>
          <p:nvPr/>
        </p:nvSpPr>
        <p:spPr>
          <a:xfrm>
            <a:off x="46767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r>
          </a:p>
        </p:txBody>
      </p:sp>
      <p:cxnSp>
        <p:nvCxnSpPr>
          <p:cNvPr id="22" name="Connector 21"/>
          <p:cNvCxnSpPr/>
          <p:nvPr/>
        </p:nvCxnSpPr>
        <p:spPr>
          <a:xfrm>
            <a:off x="609600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615315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Named competitors</a:t>
            </a:r>
          </a:p>
        </p:txBody>
      </p:sp>
      <p:sp>
        <p:nvSpPr>
          <p:cNvPr id="24" name="TextBox 23"/>
          <p:cNvSpPr txBox="1"/>
          <p:nvPr/>
        </p:nvSpPr>
        <p:spPr>
          <a:xfrm>
            <a:off x="615315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10</a:t>
            </a:r>
          </a:p>
        </p:txBody>
      </p:sp>
      <p:cxnSp>
        <p:nvCxnSpPr>
          <p:cNvPr id="25" name="Connector 24"/>
          <p:cNvCxnSpPr/>
          <p:nvPr/>
        </p:nvCxnSpPr>
        <p:spPr>
          <a:xfrm>
            <a:off x="757237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762952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Moves tracked</a:t>
            </a:r>
          </a:p>
        </p:txBody>
      </p:sp>
      <p:sp>
        <p:nvSpPr>
          <p:cNvPr id="27" name="TextBox 26"/>
          <p:cNvSpPr txBox="1"/>
          <p:nvPr/>
        </p:nvSpPr>
        <p:spPr>
          <a:xfrm>
            <a:off x="762952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50</a:t>
            </a:r>
          </a:p>
        </p:txBody>
      </p:sp>
      <p:cxnSp>
        <p:nvCxnSpPr>
          <p:cNvPr id="28" name="Connector 27"/>
          <p:cNvCxnSpPr/>
          <p:nvPr/>
        </p:nvCxnSpPr>
        <p:spPr>
          <a:xfrm>
            <a:off x="9048750"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9105900"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Largest player</a:t>
            </a:r>
          </a:p>
        </p:txBody>
      </p:sp>
      <p:sp>
        <p:nvSpPr>
          <p:cNvPr id="30" name="TextBox 29"/>
          <p:cNvSpPr txBox="1"/>
          <p:nvPr/>
        </p:nvSpPr>
        <p:spPr>
          <a:xfrm>
            <a:off x="9105900"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Jade Leaf Matcha</a:t>
            </a:r>
          </a:p>
        </p:txBody>
      </p:sp>
      <p:cxnSp>
        <p:nvCxnSpPr>
          <p:cNvPr id="31" name="Connector 30"/>
          <p:cNvCxnSpPr/>
          <p:nvPr/>
        </p:nvCxnSpPr>
        <p:spPr>
          <a:xfrm>
            <a:off x="10525125" y="1123950"/>
            <a:ext cx="0" cy="4762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10582275" y="1104900"/>
            <a:ext cx="1381125" cy="17145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sp>
        <p:nvSpPr>
          <p:cNvPr id="33" name="TextBox 32"/>
          <p:cNvSpPr txBox="1"/>
          <p:nvPr/>
        </p:nvSpPr>
        <p:spPr>
          <a:xfrm>
            <a:off x="10582275" y="1295400"/>
            <a:ext cx="1381125" cy="400050"/>
          </a:xfrm>
          <a:prstGeom prst="rect">
            <a:avLst/>
          </a:prstGeom>
          <a:noFill/>
        </p:spPr>
        <p:txBody>
          <a:bodyPr wrap="square" lIns="28575" rIns="28575" tIns="9525" bIns="9525" anchor="t">
            <a:spAutoFit/>
          </a:bodyPr>
          <a:lstStyle/>
          <a:p>
            <a:pPr algn="l">
              <a:lnSpc>
                <a:spcPct val="115000"/>
              </a:lnSpc>
            </a:pPr>
            <a:r>
              <a:rPr sz="1100" b="1">
                <a:solidFill>
                  <a:srgbClr val="0F2D52"/>
                </a:solidFill>
                <a:latin typeface="Calibri"/>
              </a:rPr>
              <a:t> </a:t>
            </a:r>
          </a:p>
        </p:txBody>
      </p:sp>
      <p:cxnSp>
        <p:nvCxnSpPr>
          <p:cNvPr id="34" name="Connector 33"/>
          <p:cNvCxnSpPr/>
          <p:nvPr/>
        </p:nvCxnSpPr>
        <p:spPr>
          <a:xfrm>
            <a:off x="190500" y="1733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190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7" name="TextBox 36"/>
          <p:cNvSpPr txBox="1"/>
          <p:nvPr/>
        </p:nvSpPr>
        <p:spPr>
          <a:xfrm>
            <a:off x="495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Leadership is concentrated in value, spread in capability</a:t>
            </a:r>
          </a:p>
        </p:txBody>
      </p:sp>
      <p:sp>
        <p:nvSpPr>
          <p:cNvPr id="38" name="TextBox 37"/>
          <p:cNvSpPr txBox="1"/>
          <p:nvPr/>
        </p:nvSpPr>
        <p:spPr>
          <a:xfrm>
            <a:off x="495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39" name="Rectangle 38"/>
          <p:cNvSpPr/>
          <p:nvPr/>
        </p:nvSpPr>
        <p:spPr>
          <a:xfrm>
            <a:off x="190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190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1" name="TextBox 40"/>
          <p:cNvSpPr txBox="1"/>
          <p:nvPr/>
        </p:nvSpPr>
        <p:spPr>
          <a:xfrm>
            <a:off x="495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The tier structure is steep</a:t>
            </a:r>
          </a:p>
        </p:txBody>
      </p:sp>
      <p:sp>
        <p:nvSpPr>
          <p:cNvPr id="42" name="TextBox 41"/>
          <p:cNvSpPr txBox="1"/>
          <p:nvPr/>
        </p:nvSpPr>
        <p:spPr>
          <a:xfrm>
            <a:off x="495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3" name="Rectangle 42"/>
          <p:cNvSpPr/>
          <p:nvPr/>
        </p:nvSpPr>
        <p:spPr>
          <a:xfrm>
            <a:off x="190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190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3</a:t>
            </a:r>
          </a:p>
        </p:txBody>
      </p:sp>
      <p:sp>
        <p:nvSpPr>
          <p:cNvPr id="45" name="TextBox 44"/>
          <p:cNvSpPr txBox="1"/>
          <p:nvPr/>
        </p:nvSpPr>
        <p:spPr>
          <a:xfrm>
            <a:off x="495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Growth is shifting inside the product mix</a:t>
            </a:r>
          </a:p>
        </p:txBody>
      </p:sp>
      <p:sp>
        <p:nvSpPr>
          <p:cNvPr id="46" name="TextBox 45"/>
          <p:cNvSpPr txBox="1"/>
          <p:nvPr/>
        </p:nvSpPr>
        <p:spPr>
          <a:xfrm>
            <a:off x="495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47" name="Rectangle 46"/>
          <p:cNvSpPr/>
          <p:nvPr/>
        </p:nvSpPr>
        <p:spPr>
          <a:xfrm>
            <a:off x="6286500" y="19240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286500" y="1924050"/>
            <a:ext cx="209550" cy="209550"/>
          </a:xfrm>
          <a:prstGeom prst="rect">
            <a:avLst/>
          </a:prstGeom>
          <a:noFill/>
        </p:spPr>
        <p:txBody>
          <a:bodyPr wrap="none" lIns="0" rIns="0" tIns="0" bIns="0" anchor="ctr">
            <a:spAutoFit/>
          </a:bodyPr>
          <a:lstStyle/>
          <a:p>
            <a:pPr algn="ctr"/>
            <a:r>
              <a:rPr sz="1100" b="1">
                <a:solidFill>
                  <a:srgbClr val="FFFFFF"/>
                </a:solidFill>
                <a:latin typeface="Calibri"/>
              </a:rPr>
              <a:t>4</a:t>
            </a:r>
          </a:p>
        </p:txBody>
      </p:sp>
      <p:sp>
        <p:nvSpPr>
          <p:cNvPr id="49" name="TextBox 48"/>
          <p:cNvSpPr txBox="1"/>
          <p:nvPr/>
        </p:nvSpPr>
        <p:spPr>
          <a:xfrm>
            <a:off x="6591300" y="19050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Reach divides the field</a:t>
            </a:r>
          </a:p>
        </p:txBody>
      </p:sp>
      <p:sp>
        <p:nvSpPr>
          <p:cNvPr id="50" name="TextBox 49"/>
          <p:cNvSpPr txBox="1"/>
          <p:nvPr/>
        </p:nvSpPr>
        <p:spPr>
          <a:xfrm>
            <a:off x="6591300" y="21145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players compete globally, 2 regionally and 4 in one market or niche.</a:t>
            </a:r>
          </a:p>
        </p:txBody>
      </p:sp>
      <p:sp>
        <p:nvSpPr>
          <p:cNvPr id="51" name="Rectangle 50"/>
          <p:cNvSpPr/>
          <p:nvPr/>
        </p:nvSpPr>
        <p:spPr>
          <a:xfrm>
            <a:off x="6286500" y="30289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6286500" y="3028950"/>
            <a:ext cx="209550" cy="209550"/>
          </a:xfrm>
          <a:prstGeom prst="rect">
            <a:avLst/>
          </a:prstGeom>
          <a:noFill/>
        </p:spPr>
        <p:txBody>
          <a:bodyPr wrap="none" lIns="0" rIns="0" tIns="0" bIns="0" anchor="ctr">
            <a:spAutoFit/>
          </a:bodyPr>
          <a:lstStyle/>
          <a:p>
            <a:pPr algn="ctr"/>
            <a:r>
              <a:rPr sz="1100" b="1">
                <a:solidFill>
                  <a:srgbClr val="FFFFFF"/>
                </a:solidFill>
                <a:latin typeface="Calibri"/>
              </a:rPr>
              <a:t>5</a:t>
            </a:r>
          </a:p>
        </p:txBody>
      </p:sp>
      <p:sp>
        <p:nvSpPr>
          <p:cNvPr id="53" name="TextBox 52"/>
          <p:cNvSpPr txBox="1"/>
          <p:nvPr/>
        </p:nvSpPr>
        <p:spPr>
          <a:xfrm>
            <a:off x="6591300" y="30099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Consolidation is an active lever</a:t>
            </a:r>
          </a:p>
        </p:txBody>
      </p:sp>
      <p:sp>
        <p:nvSpPr>
          <p:cNvPr id="54" name="TextBox 53"/>
          <p:cNvSpPr txBox="1"/>
          <p:nvPr/>
        </p:nvSpPr>
        <p:spPr>
          <a:xfrm>
            <a:off x="6591300" y="32194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is an active strategy at 5 of 10 named players; the independent target list is shrinking.</a:t>
            </a:r>
          </a:p>
        </p:txBody>
      </p:sp>
      <p:sp>
        <p:nvSpPr>
          <p:cNvPr id="55" name="Rectangle 54"/>
          <p:cNvSpPr/>
          <p:nvPr/>
        </p:nvSpPr>
        <p:spPr>
          <a:xfrm>
            <a:off x="6286500" y="4133850"/>
            <a:ext cx="20955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6286500" y="4133850"/>
            <a:ext cx="209550" cy="209550"/>
          </a:xfrm>
          <a:prstGeom prst="rect">
            <a:avLst/>
          </a:prstGeom>
          <a:noFill/>
        </p:spPr>
        <p:txBody>
          <a:bodyPr wrap="none" lIns="0" rIns="0" tIns="0" bIns="0" anchor="ctr">
            <a:spAutoFit/>
          </a:bodyPr>
          <a:lstStyle/>
          <a:p>
            <a:pPr algn="ctr"/>
            <a:r>
              <a:rPr sz="1100" b="1">
                <a:solidFill>
                  <a:srgbClr val="FFFFFF"/>
                </a:solidFill>
                <a:latin typeface="Calibri"/>
              </a:rPr>
              <a:t>6</a:t>
            </a:r>
          </a:p>
        </p:txBody>
      </p:sp>
      <p:sp>
        <p:nvSpPr>
          <p:cNvPr id="57" name="TextBox 56"/>
          <p:cNvSpPr txBox="1"/>
          <p:nvPr/>
        </p:nvSpPr>
        <p:spPr>
          <a:xfrm>
            <a:off x="6591300" y="4114800"/>
            <a:ext cx="5410200" cy="190500"/>
          </a:xfrm>
          <a:prstGeom prst="rect">
            <a:avLst/>
          </a:prstGeom>
          <a:noFill/>
        </p:spPr>
        <p:txBody>
          <a:bodyPr wrap="square" lIns="28575" rIns="28575" tIns="9525" bIns="9525" anchor="t">
            <a:spAutoFit/>
          </a:bodyPr>
          <a:lstStyle/>
          <a:p>
            <a:pPr algn="l"/>
            <a:r>
              <a:rPr sz="1100" b="1">
                <a:solidFill>
                  <a:srgbClr val="1F2933"/>
                </a:solidFill>
                <a:latin typeface="Calibri"/>
              </a:rPr>
              <a:t>Success factors, in order</a:t>
            </a:r>
          </a:p>
        </p:txBody>
      </p:sp>
      <p:sp>
        <p:nvSpPr>
          <p:cNvPr id="58" name="TextBox 57"/>
          <p:cNvSpPr txBox="1"/>
          <p:nvPr/>
        </p:nvSpPr>
        <p:spPr>
          <a:xfrm>
            <a:off x="6591300" y="4324350"/>
            <a:ext cx="5410200" cy="7620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 segment breadth, 2 scale and share, 3 geographic reach, 4 innovation pipeline, 5 strategic momentum.  Ranking leads: DoMatcha, Jade Leaf Matcha, Encha.</a:t>
            </a:r>
          </a:p>
        </p:txBody>
      </p:sp>
      <p:cxnSp>
        <p:nvCxnSpPr>
          <p:cNvPr id="59" name="Connector 58"/>
          <p:cNvCxnSpPr/>
          <p:nvPr/>
        </p:nvCxnSpPr>
        <p:spPr>
          <a:xfrm>
            <a:off x="190500" y="521970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0" name="TextBox 59"/>
          <p:cNvSpPr txBox="1"/>
          <p:nvPr/>
        </p:nvSpPr>
        <p:spPr>
          <a:xfrm>
            <a:off x="190500" y="5276850"/>
            <a:ext cx="3810000" cy="152400"/>
          </a:xfrm>
          <a:prstGeom prst="rect">
            <a:avLst/>
          </a:prstGeom>
          <a:noFill/>
        </p:spPr>
        <p:txBody>
          <a:bodyPr wrap="square" lIns="28575" rIns="28575" tIns="9525" bIns="9525" anchor="t">
            <a:spAutoFit/>
          </a:bodyPr>
          <a:lstStyle/>
          <a:p>
            <a:pPr algn="l"/>
            <a:r>
              <a:rPr sz="1100" b="1">
                <a:solidFill>
                  <a:srgbClr val="0F2D52"/>
                </a:solidFill>
                <a:latin typeface="Calibri"/>
              </a:rPr>
              <a:t>HOW THIS SECTION IS BUILT</a:t>
            </a:r>
          </a:p>
        </p:txBody>
      </p:sp>
      <p:sp>
        <p:nvSpPr>
          <p:cNvPr id="61" name="TextBox 60"/>
          <p:cNvSpPr txBox="1"/>
          <p:nvPr/>
        </p:nvSpPr>
        <p:spPr>
          <a:xfrm>
            <a:off x="190500" y="5448300"/>
            <a:ext cx="11811000" cy="5715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Pages 2 to 4 show where the market is and who plays.  Pages 5 to 7 rate every named company on twenty Ps (who they are, what they sell, how they win); a cell reads n/a where no evidence exists.  Page 8 turns the pattern into five success factors and a ranking.  Pages 9 and 10 list what each player is doing and what each of your departments should do about it.</a:t>
            </a:r>
          </a:p>
        </p:txBody>
      </p:sp>
      <p:sp>
        <p:nvSpPr>
          <p:cNvPr id="62" name="TextBox 61"/>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63" name="Picture 62" descr="lock.png"/>
          <p:cNvPicPr>
            <a:picLocks noChangeAspect="1"/>
          </p:cNvPicPr>
          <p:nvPr/>
        </p:nvPicPr>
        <p:blipFill>
          <a:blip r:embed="rId4"/>
          <a:stretch>
            <a:fillRect/>
          </a:stretch>
        </p:blipFill>
        <p:spPr>
          <a:xfrm>
            <a:off x="873863" y="1401826"/>
            <a:ext cx="128699" cy="187198"/>
          </a:xfrm>
          <a:prstGeom prst="rect">
            <a:avLst/>
          </a:prstGeom>
        </p:spPr>
      </p:pic>
      <p:pic>
        <p:nvPicPr>
          <p:cNvPr id="64" name="Picture 63" descr="lock.png"/>
          <p:cNvPicPr>
            <a:picLocks noChangeAspect="1"/>
          </p:cNvPicPr>
          <p:nvPr/>
        </p:nvPicPr>
        <p:blipFill>
          <a:blip r:embed="rId4"/>
          <a:stretch>
            <a:fillRect/>
          </a:stretch>
        </p:blipFill>
        <p:spPr>
          <a:xfrm>
            <a:off x="2350238" y="1401826"/>
            <a:ext cx="128699" cy="187198"/>
          </a:xfrm>
          <a:prstGeom prst="rect">
            <a:avLst/>
          </a:prstGeom>
        </p:spPr>
      </p:pic>
      <p:pic>
        <p:nvPicPr>
          <p:cNvPr id="65" name="Picture 64" descr="lock.png"/>
          <p:cNvPicPr>
            <a:picLocks noChangeAspect="1"/>
          </p:cNvPicPr>
          <p:nvPr/>
        </p:nvPicPr>
        <p:blipFill>
          <a:blip r:embed="rId4"/>
          <a:stretch>
            <a:fillRect/>
          </a:stretch>
        </p:blipFill>
        <p:spPr>
          <a:xfrm>
            <a:off x="3826613" y="1401826"/>
            <a:ext cx="128699" cy="187198"/>
          </a:xfrm>
          <a:prstGeom prst="rect">
            <a:avLst/>
          </a:prstGeom>
        </p:spPr>
      </p:pic>
      <p:pic>
        <p:nvPicPr>
          <p:cNvPr id="66" name="Picture 65" descr="lock.png"/>
          <p:cNvPicPr>
            <a:picLocks noChangeAspect="1"/>
          </p:cNvPicPr>
          <p:nvPr/>
        </p:nvPicPr>
        <p:blipFill>
          <a:blip r:embed="rId4"/>
          <a:stretch>
            <a:fillRect/>
          </a:stretch>
        </p:blipFill>
        <p:spPr>
          <a:xfrm>
            <a:off x="11208488" y="1401826"/>
            <a:ext cx="128699" cy="187198"/>
          </a:xfrm>
          <a:prstGeom prst="rect">
            <a:avLst/>
          </a:prstGeom>
        </p:spPr>
      </p:pic>
      <p:sp>
        <p:nvSpPr>
          <p:cNvPr id="67" name="TextBox 66"/>
          <p:cNvSpPr txBox="1"/>
          <p:nvPr/>
        </p:nvSpPr>
        <p:spPr>
          <a:xfrm>
            <a:off x="4705350" y="1304925"/>
            <a:ext cx="708397" cy="186689"/>
          </a:xfrm>
          <a:prstGeom prst="rect">
            <a:avLst/>
          </a:prstGeom>
          <a:noFill/>
        </p:spPr>
        <p:txBody>
          <a:bodyPr wrap="none" lIns="0" rIns="0" tIns="0" bIns="0">
            <a:spAutoFit/>
          </a:bodyPr>
          <a:lstStyle/>
          <a:p>
            <a:r>
              <a:rPr sz="1100" b="1">
                <a:solidFill>
                  <a:srgbClr val="0F2D52"/>
                </a:solidFill>
                <a:latin typeface="Calibri"/>
              </a:rPr>
              <a:t>Beverages,</a:t>
            </a:r>
          </a:p>
        </p:txBody>
      </p:sp>
      <p:pic>
        <p:nvPicPr>
          <p:cNvPr id="68" name="Picture 67" descr="lock.png"/>
          <p:cNvPicPr>
            <a:picLocks noChangeAspect="1"/>
          </p:cNvPicPr>
          <p:nvPr/>
        </p:nvPicPr>
        <p:blipFill>
          <a:blip r:embed="rId4"/>
          <a:stretch>
            <a:fillRect/>
          </a:stretch>
        </p:blipFill>
        <p:spPr>
          <a:xfrm>
            <a:off x="5361798" y="1295146"/>
            <a:ext cx="128699" cy="187198"/>
          </a:xfrm>
          <a:prstGeom prst="rect">
            <a:avLst/>
          </a:prstGeom>
        </p:spPr>
      </p:pic>
      <p:sp>
        <p:nvSpPr>
          <p:cNvPr id="69" name="TextBox 68"/>
          <p:cNvSpPr txBox="1"/>
          <p:nvPr/>
        </p:nvSpPr>
        <p:spPr>
          <a:xfrm>
            <a:off x="523875" y="2124075"/>
            <a:ext cx="1137319" cy="186689"/>
          </a:xfrm>
          <a:prstGeom prst="rect">
            <a:avLst/>
          </a:prstGeom>
          <a:noFill/>
        </p:spPr>
        <p:txBody>
          <a:bodyPr wrap="none" lIns="0" rIns="0" tIns="0" bIns="0">
            <a:spAutoFit/>
          </a:bodyPr>
          <a:lstStyle/>
          <a:p>
            <a:r>
              <a:rPr sz="1100" b="0">
                <a:solidFill>
                  <a:srgbClr val="1F2933"/>
                </a:solidFill>
                <a:latin typeface="Calibri"/>
              </a:rPr>
              <a:t>The top three hold</a:t>
            </a:r>
          </a:p>
        </p:txBody>
      </p:sp>
      <p:pic>
        <p:nvPicPr>
          <p:cNvPr id="70" name="Picture 69" descr="lock.png"/>
          <p:cNvPicPr>
            <a:picLocks noChangeAspect="1"/>
          </p:cNvPicPr>
          <p:nvPr/>
        </p:nvPicPr>
        <p:blipFill>
          <a:blip r:embed="rId4"/>
          <a:stretch>
            <a:fillRect/>
          </a:stretch>
        </p:blipFill>
        <p:spPr>
          <a:xfrm>
            <a:off x="1609246" y="2114296"/>
            <a:ext cx="128699" cy="187198"/>
          </a:xfrm>
          <a:prstGeom prst="rect">
            <a:avLst/>
          </a:prstGeom>
        </p:spPr>
      </p:pic>
      <p:sp>
        <p:nvSpPr>
          <p:cNvPr id="71" name="TextBox 70"/>
          <p:cNvSpPr txBox="1"/>
          <p:nvPr/>
        </p:nvSpPr>
        <p:spPr>
          <a:xfrm>
            <a:off x="1776742" y="2124075"/>
            <a:ext cx="3949327" cy="186689"/>
          </a:xfrm>
          <a:prstGeom prst="rect">
            <a:avLst/>
          </a:prstGeom>
          <a:noFill/>
        </p:spPr>
        <p:txBody>
          <a:bodyPr wrap="none" lIns="0" rIns="0" tIns="0" bIns="0">
            <a:spAutoFit/>
          </a:bodyPr>
          <a:lstStyle/>
          <a:p>
            <a:r>
              <a:rPr sz="1100" b="0">
                <a:solidFill>
                  <a:srgbClr val="1F2933"/>
                </a:solidFill>
                <a:latin typeface="Calibri"/>
              </a:rPr>
              <a:t>of 2026 value, but 3 companies lead the 6 sub-segments tracked; no</a:t>
            </a:r>
          </a:p>
        </p:txBody>
      </p:sp>
      <p:sp>
        <p:nvSpPr>
          <p:cNvPr id="72" name="TextBox 71"/>
          <p:cNvSpPr txBox="1"/>
          <p:nvPr/>
        </p:nvSpPr>
        <p:spPr>
          <a:xfrm>
            <a:off x="523875" y="2291715"/>
            <a:ext cx="1386433" cy="186689"/>
          </a:xfrm>
          <a:prstGeom prst="rect">
            <a:avLst/>
          </a:prstGeom>
          <a:noFill/>
        </p:spPr>
        <p:txBody>
          <a:bodyPr wrap="none" lIns="0" rIns="0" tIns="0" bIns="0">
            <a:spAutoFit/>
          </a:bodyPr>
          <a:lstStyle/>
          <a:p>
            <a:r>
              <a:rPr sz="1100" b="0">
                <a:solidFill>
                  <a:srgbClr val="1F2933"/>
                </a:solidFill>
                <a:latin typeface="Calibri"/>
              </a:rPr>
              <a:t>one leads more than 3.</a:t>
            </a:r>
          </a:p>
        </p:txBody>
      </p:sp>
      <p:sp>
        <p:nvSpPr>
          <p:cNvPr id="73" name="TextBox 72"/>
          <p:cNvSpPr txBox="1"/>
          <p:nvPr/>
        </p:nvSpPr>
        <p:spPr>
          <a:xfrm>
            <a:off x="523875" y="3228975"/>
            <a:ext cx="1364059" cy="186689"/>
          </a:xfrm>
          <a:prstGeom prst="rect">
            <a:avLst/>
          </a:prstGeom>
          <a:noFill/>
        </p:spPr>
        <p:txBody>
          <a:bodyPr wrap="none" lIns="0" rIns="0" tIns="0" bIns="0">
            <a:spAutoFit/>
          </a:bodyPr>
          <a:lstStyle/>
          <a:p>
            <a:r>
              <a:rPr sz="1100" b="0">
                <a:solidFill>
                  <a:srgbClr val="1F2933"/>
                </a:solidFill>
                <a:latin typeface="Calibri"/>
              </a:rPr>
              <a:t>Tier 1 (4 players) holds</a:t>
            </a:r>
          </a:p>
        </p:txBody>
      </p:sp>
      <p:pic>
        <p:nvPicPr>
          <p:cNvPr id="74" name="Picture 73" descr="lock.png"/>
          <p:cNvPicPr>
            <a:picLocks noChangeAspect="1"/>
          </p:cNvPicPr>
          <p:nvPr/>
        </p:nvPicPr>
        <p:blipFill>
          <a:blip r:embed="rId4"/>
          <a:stretch>
            <a:fillRect/>
          </a:stretch>
        </p:blipFill>
        <p:spPr>
          <a:xfrm>
            <a:off x="1835985" y="3219196"/>
            <a:ext cx="128699" cy="187198"/>
          </a:xfrm>
          <a:prstGeom prst="rect">
            <a:avLst/>
          </a:prstGeom>
        </p:spPr>
      </p:pic>
      <p:sp>
        <p:nvSpPr>
          <p:cNvPr id="75" name="TextBox 74"/>
          <p:cNvSpPr txBox="1"/>
          <p:nvPr/>
        </p:nvSpPr>
        <p:spPr>
          <a:xfrm>
            <a:off x="2003481" y="3228975"/>
            <a:ext cx="1875656" cy="186689"/>
          </a:xfrm>
          <a:prstGeom prst="rect">
            <a:avLst/>
          </a:prstGeom>
          <a:noFill/>
        </p:spPr>
        <p:txBody>
          <a:bodyPr wrap="none" lIns="0" rIns="0" tIns="0" bIns="0">
            <a:spAutoFit/>
          </a:bodyPr>
          <a:lstStyle/>
          <a:p>
            <a:r>
              <a:rPr sz="1100" b="0">
                <a:solidFill>
                  <a:srgbClr val="1F2933"/>
                </a:solidFill>
                <a:latin typeface="Calibri"/>
              </a:rPr>
              <a:t>; Tier 2 and Tier 3 together hold</a:t>
            </a:r>
          </a:p>
        </p:txBody>
      </p:sp>
      <p:pic>
        <p:nvPicPr>
          <p:cNvPr id="76" name="Picture 75" descr="lock.png"/>
          <p:cNvPicPr>
            <a:picLocks noChangeAspect="1"/>
          </p:cNvPicPr>
          <p:nvPr/>
        </p:nvPicPr>
        <p:blipFill>
          <a:blip r:embed="rId4"/>
          <a:stretch>
            <a:fillRect/>
          </a:stretch>
        </p:blipFill>
        <p:spPr>
          <a:xfrm>
            <a:off x="3827189" y="3219196"/>
            <a:ext cx="128699" cy="187198"/>
          </a:xfrm>
          <a:prstGeom prst="rect">
            <a:avLst/>
          </a:prstGeom>
        </p:spPr>
      </p:pic>
      <p:sp>
        <p:nvSpPr>
          <p:cNvPr id="77" name="TextBox 76"/>
          <p:cNvSpPr txBox="1"/>
          <p:nvPr/>
        </p:nvSpPr>
        <p:spPr>
          <a:xfrm>
            <a:off x="3994685" y="3228975"/>
            <a:ext cx="111397" cy="186689"/>
          </a:xfrm>
          <a:prstGeom prst="rect">
            <a:avLst/>
          </a:prstGeom>
          <a:noFill/>
        </p:spPr>
        <p:txBody>
          <a:bodyPr wrap="none" lIns="0" rIns="0" tIns="0" bIns="0">
            <a:spAutoFit/>
          </a:bodyPr>
          <a:lstStyle/>
          <a:p>
            <a:r>
              <a:rPr sz="1100" b="0">
                <a:solidFill>
                  <a:srgbClr val="1F2933"/>
                </a:solidFill>
                <a:latin typeface="Calibri"/>
              </a:rPr>
              <a:t>.</a:t>
            </a:r>
          </a:p>
        </p:txBody>
      </p:sp>
      <p:sp>
        <p:nvSpPr>
          <p:cNvPr id="78" name="TextBox 77"/>
          <p:cNvSpPr txBox="1"/>
          <p:nvPr/>
        </p:nvSpPr>
        <p:spPr>
          <a:xfrm>
            <a:off x="523875" y="4333875"/>
            <a:ext cx="3712492" cy="186689"/>
          </a:xfrm>
          <a:prstGeom prst="rect">
            <a:avLst/>
          </a:prstGeom>
          <a:noFill/>
        </p:spPr>
        <p:txBody>
          <a:bodyPr wrap="none" lIns="0" rIns="0" tIns="0" bIns="0">
            <a:spAutoFit/>
          </a:bodyPr>
          <a:lstStyle/>
          <a:p>
            <a:r>
              <a:rPr sz="1100" b="0">
                <a:solidFill>
                  <a:srgbClr val="1F2933"/>
                </a:solidFill>
                <a:latin typeface="Calibri"/>
              </a:rPr>
              <a:t>'Organic' is the largest line; 'Conventional' compounds fastest at</a:t>
            </a:r>
          </a:p>
        </p:txBody>
      </p:sp>
      <p:pic>
        <p:nvPicPr>
          <p:cNvPr id="79" name="Picture 78" descr="lock.png"/>
          <p:cNvPicPr>
            <a:picLocks noChangeAspect="1"/>
          </p:cNvPicPr>
          <p:nvPr/>
        </p:nvPicPr>
        <p:blipFill>
          <a:blip r:embed="rId4"/>
          <a:stretch>
            <a:fillRect/>
          </a:stretch>
        </p:blipFill>
        <p:spPr>
          <a:xfrm>
            <a:off x="4184419" y="4324096"/>
            <a:ext cx="128699" cy="187198"/>
          </a:xfrm>
          <a:prstGeom prst="rect">
            <a:avLst/>
          </a:prstGeom>
        </p:spPr>
      </p:pic>
      <p:sp>
        <p:nvSpPr>
          <p:cNvPr id="80" name="TextBox 79"/>
          <p:cNvSpPr txBox="1"/>
          <p:nvPr/>
        </p:nvSpPr>
        <p:spPr>
          <a:xfrm>
            <a:off x="4351915" y="4333875"/>
            <a:ext cx="430617" cy="186689"/>
          </a:xfrm>
          <a:prstGeom prst="rect">
            <a:avLst/>
          </a:prstGeom>
          <a:noFill/>
        </p:spPr>
        <p:txBody>
          <a:bodyPr wrap="none" lIns="0" rIns="0" tIns="0" bIns="0">
            <a:spAutoFit/>
          </a:bodyPr>
          <a:lstStyle/>
          <a:p>
            <a:r>
              <a:rPr sz="1100" b="0">
                <a:solidFill>
                  <a:srgbClr val="1F2933"/>
                </a:solidFill>
                <a:latin typeface="Calibri"/>
              </a:rPr>
              <a:t>CAGR.</a:t>
            </a:r>
          </a:p>
        </p:txBody>
      </p:sp>
    </p:spTree>
  </p:cSld>
  <p:clrMapOvr>
    <a:masterClrMapping/>
  </p:clrMapOvr>
</p:sld>
</file>

<file path=ppt/slides/slide29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Segment Leadership Map</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Share by player group and which named player leads or is active in each sub-segment, 2026</a:t>
            </a:r>
          </a:p>
        </p:txBody>
      </p:sp>
      <p:sp>
        <p:nvSpPr>
          <p:cNvPr id="10" name="TextBox 9"/>
          <p:cNvSpPr txBox="1"/>
          <p:nvPr/>
        </p:nvSpPr>
        <p:spPr>
          <a:xfrm>
            <a:off x="190500" y="104775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Who holds the market, 2026</a:t>
            </a:r>
          </a:p>
        </p:txBody>
      </p:sp>
      <p:sp>
        <p:nvSpPr>
          <p:cNvPr id="11" name="Rectangle 10"/>
          <p:cNvSpPr/>
          <p:nvPr/>
        </p:nvSpPr>
        <p:spPr>
          <a:xfrm>
            <a:off x="190500" y="1257300"/>
            <a:ext cx="4509884" cy="266700"/>
          </a:xfrm>
          <a:prstGeom prst="rect">
            <a:avLst/>
          </a:prstGeom>
          <a:solidFill>
            <a:srgbClr val="0F2D52"/>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TextBox 11"/>
          <p:cNvSpPr txBox="1"/>
          <p:nvPr/>
        </p:nvSpPr>
        <p:spPr>
          <a:xfrm>
            <a:off x="247650" y="1257300"/>
            <a:ext cx="4433684"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3" name="Rectangle 12"/>
          <p:cNvSpPr/>
          <p:nvPr/>
        </p:nvSpPr>
        <p:spPr>
          <a:xfrm>
            <a:off x="4700384" y="1257300"/>
            <a:ext cx="1536162" cy="266700"/>
          </a:xfrm>
          <a:prstGeom prst="rect">
            <a:avLst/>
          </a:prstGeom>
          <a:solidFill>
            <a:srgbClr val="1F6FA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 name="TextBox 13"/>
          <p:cNvSpPr txBox="1"/>
          <p:nvPr/>
        </p:nvSpPr>
        <p:spPr>
          <a:xfrm>
            <a:off x="4757534" y="1257300"/>
            <a:ext cx="1459962"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5" name="Rectangle 14"/>
          <p:cNvSpPr/>
          <p:nvPr/>
        </p:nvSpPr>
        <p:spPr>
          <a:xfrm>
            <a:off x="6236546" y="1257300"/>
            <a:ext cx="2242416" cy="266700"/>
          </a:xfrm>
          <a:prstGeom prst="rect">
            <a:avLst/>
          </a:prstGeom>
          <a:solidFill>
            <a:srgbClr val="6FA0CF"/>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6293696" y="1257300"/>
            <a:ext cx="2166216" cy="266700"/>
          </a:xfrm>
          <a:prstGeom prst="rect">
            <a:avLst/>
          </a:prstGeom>
          <a:noFill/>
        </p:spPr>
        <p:txBody>
          <a:bodyPr wrap="square" lIns="28575" rIns="28575" tIns="9525" bIns="9525" anchor="ctr">
            <a:spAutoFit/>
          </a:bodyPr>
          <a:lstStyle/>
          <a:p>
            <a:pPr algn="l"/>
            <a:r>
              <a:rPr sz="1100" b="1">
                <a:solidFill>
                  <a:srgbClr val="FFFFFF"/>
                </a:solidFill>
                <a:latin typeface="Calibri"/>
              </a:rPr>
              <a:t/>
            </a:r>
          </a:p>
        </p:txBody>
      </p:sp>
      <p:sp>
        <p:nvSpPr>
          <p:cNvPr id="17" name="Rectangle 16"/>
          <p:cNvSpPr/>
          <p:nvPr/>
        </p:nvSpPr>
        <p:spPr>
          <a:xfrm>
            <a:off x="8478962" y="1257300"/>
            <a:ext cx="3522538" cy="266700"/>
          </a:xfrm>
          <a:prstGeom prst="rect">
            <a:avLst/>
          </a:prstGeom>
          <a:solidFill>
            <a:srgbClr val="A9C6E3"/>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 name="TextBox 17"/>
          <p:cNvSpPr txBox="1"/>
          <p:nvPr/>
        </p:nvSpPr>
        <p:spPr>
          <a:xfrm>
            <a:off x="8536112" y="1257300"/>
            <a:ext cx="3446338" cy="266700"/>
          </a:xfrm>
          <a:prstGeom prst="rect">
            <a:avLst/>
          </a:prstGeom>
          <a:noFill/>
        </p:spPr>
        <p:txBody>
          <a:bodyPr wrap="square" lIns="28575" rIns="28575" tIns="9525" bIns="9525" anchor="ctr">
            <a:spAutoFit/>
          </a:bodyPr>
          <a:lstStyle/>
          <a:p>
            <a:pPr algn="l"/>
            <a:r>
              <a:rPr sz="1100" b="1">
                <a:solidFill>
                  <a:srgbClr val="0F2D52"/>
                </a:solidFill>
                <a:latin typeface="Calibri"/>
              </a:rPr>
              <a:t/>
            </a:r>
          </a:p>
        </p:txBody>
      </p:sp>
      <p:sp>
        <p:nvSpPr>
          <p:cNvPr id="19" name="Rectangle 18"/>
          <p:cNvSpPr/>
          <p:nvPr/>
        </p:nvSpPr>
        <p:spPr>
          <a:xfrm>
            <a:off x="190500" y="1600200"/>
            <a:ext cx="85725" cy="857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3143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Jade Leaf Matcha, DoMatcha, Encha</a:t>
            </a:r>
          </a:p>
        </p:txBody>
      </p:sp>
      <p:sp>
        <p:nvSpPr>
          <p:cNvPr id="21" name="Rectangle 20"/>
          <p:cNvSpPr/>
          <p:nvPr/>
        </p:nvSpPr>
        <p:spPr>
          <a:xfrm>
            <a:off x="3143250" y="1600200"/>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32670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Rishi Tea and Botanicals, Tenzo</a:t>
            </a:r>
          </a:p>
        </p:txBody>
      </p:sp>
      <p:sp>
        <p:nvSpPr>
          <p:cNvPr id="23" name="Rectangle 22"/>
          <p:cNvSpPr/>
          <p:nvPr/>
        </p:nvSpPr>
        <p:spPr>
          <a:xfrm>
            <a:off x="6096000" y="1600200"/>
            <a:ext cx="85725" cy="85725"/>
          </a:xfrm>
          <a:prstGeom prst="rect">
            <a:avLst/>
          </a:prstGeom>
          <a:solidFill>
            <a:srgbClr val="6FA0C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621982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Matchaful, Kettl, Harney and Sons, Sencha Naturals, Aoi Matcha</a:t>
            </a:r>
          </a:p>
        </p:txBody>
      </p:sp>
      <p:sp>
        <p:nvSpPr>
          <p:cNvPr id="25" name="Rectangle 24"/>
          <p:cNvSpPr/>
          <p:nvPr/>
        </p:nvSpPr>
        <p:spPr>
          <a:xfrm>
            <a:off x="9048750" y="1600200"/>
            <a:ext cx="85725" cy="857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9172575" y="1543050"/>
            <a:ext cx="276225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Long tail of regional and niche suppliers</a:t>
            </a:r>
          </a:p>
        </p:txBody>
      </p:sp>
      <p:cxnSp>
        <p:nvCxnSpPr>
          <p:cNvPr id="27" name="Connector 26"/>
          <p:cNvCxnSpPr/>
          <p:nvPr/>
        </p:nvCxnSpPr>
        <p:spPr>
          <a:xfrm>
            <a:off x="190500" y="19240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190500" y="1981200"/>
            <a:ext cx="8572500" cy="171450"/>
          </a:xfrm>
          <a:prstGeom prst="rect">
            <a:avLst/>
          </a:prstGeom>
          <a:noFill/>
        </p:spPr>
        <p:txBody>
          <a:bodyPr wrap="square" lIns="28575" rIns="28575" tIns="9525" bIns="9525" anchor="t">
            <a:spAutoFit/>
          </a:bodyPr>
          <a:lstStyle/>
          <a:p>
            <a:pPr algn="l"/>
            <a:r>
              <a:rPr sz="1100" b="1">
                <a:solidFill>
                  <a:srgbClr val="0F2D52"/>
                </a:solidFill>
                <a:latin typeface="Calibri"/>
              </a:rPr>
              <a:t>Who leads which sub-segment, 2026  (full = leader, half = active)</a:t>
            </a:r>
          </a:p>
        </p:txBody>
      </p:sp>
      <p:sp>
        <p:nvSpPr>
          <p:cNvPr id="29" name="TextBox 28"/>
          <p:cNvSpPr txBox="1"/>
          <p:nvPr/>
        </p:nvSpPr>
        <p:spPr>
          <a:xfrm>
            <a:off x="2114550" y="2114550"/>
            <a:ext cx="16129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Organic</a:t>
            </a:r>
          </a:p>
        </p:txBody>
      </p:sp>
      <p:sp>
        <p:nvSpPr>
          <p:cNvPr id="30" name="TextBox 29"/>
          <p:cNvSpPr txBox="1"/>
          <p:nvPr/>
        </p:nvSpPr>
        <p:spPr>
          <a:xfrm>
            <a:off x="3765550" y="2114550"/>
            <a:ext cx="16129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Conventional</a:t>
            </a:r>
          </a:p>
        </p:txBody>
      </p:sp>
      <p:sp>
        <p:nvSpPr>
          <p:cNvPr id="31" name="TextBox 30"/>
          <p:cNvSpPr txBox="1"/>
          <p:nvPr/>
        </p:nvSpPr>
        <p:spPr>
          <a:xfrm>
            <a:off x="5416550" y="2114550"/>
            <a:ext cx="16129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Beverages</a:t>
            </a:r>
          </a:p>
        </p:txBody>
      </p:sp>
      <p:sp>
        <p:nvSpPr>
          <p:cNvPr id="32" name="TextBox 31"/>
          <p:cNvSpPr txBox="1"/>
          <p:nvPr/>
        </p:nvSpPr>
        <p:spPr>
          <a:xfrm>
            <a:off x="7067550" y="2114550"/>
            <a:ext cx="16129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Dairy and Frozen Desserts</a:t>
            </a:r>
          </a:p>
        </p:txBody>
      </p:sp>
      <p:sp>
        <p:nvSpPr>
          <p:cNvPr id="33" name="TextBox 32"/>
          <p:cNvSpPr txBox="1"/>
          <p:nvPr/>
        </p:nvSpPr>
        <p:spPr>
          <a:xfrm>
            <a:off x="8718550" y="2114550"/>
            <a:ext cx="16129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Other Food Products</a:t>
            </a:r>
          </a:p>
        </p:txBody>
      </p:sp>
      <p:sp>
        <p:nvSpPr>
          <p:cNvPr id="34" name="TextBox 33"/>
          <p:cNvSpPr txBox="1"/>
          <p:nvPr/>
        </p:nvSpPr>
        <p:spPr>
          <a:xfrm>
            <a:off x="10369550" y="2114550"/>
            <a:ext cx="1612900" cy="476250"/>
          </a:xfrm>
          <a:prstGeom prst="rect">
            <a:avLst/>
          </a:prstGeom>
          <a:noFill/>
        </p:spPr>
        <p:txBody>
          <a:bodyPr wrap="square" lIns="28575" rIns="28575" tIns="9525" bIns="9525" anchor="ctr">
            <a:spAutoFit/>
          </a:bodyPr>
          <a:lstStyle/>
          <a:p>
            <a:pPr algn="ctr">
              <a:lnSpc>
                <a:spcPct val="115000"/>
              </a:lnSpc>
            </a:pPr>
            <a:r>
              <a:rPr sz="1100" b="1">
                <a:solidFill>
                  <a:srgbClr val="0F2D52"/>
                </a:solidFill>
                <a:latin typeface="Calibri"/>
              </a:rPr>
              <a:t>Dietary Supplements and Functional Nutrition</a:t>
            </a:r>
          </a:p>
        </p:txBody>
      </p:sp>
      <p:cxnSp>
        <p:nvCxnSpPr>
          <p:cNvPr id="35" name="Connector 34"/>
          <p:cNvCxnSpPr/>
          <p:nvPr/>
        </p:nvCxnSpPr>
        <p:spPr>
          <a:xfrm>
            <a:off x="190500" y="2609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38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6289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Jade Leaf Matcha</a:t>
            </a:r>
          </a:p>
        </p:txBody>
      </p:sp>
      <p:sp>
        <p:nvSpPr>
          <p:cNvPr id="38" name="TextBox 37"/>
          <p:cNvSpPr txBox="1"/>
          <p:nvPr/>
        </p:nvSpPr>
        <p:spPr>
          <a:xfrm>
            <a:off x="285750" y="27908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8448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924175" y="2705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4958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Oval 41"/>
          <p:cNvSpPr/>
          <p:nvPr/>
        </p:nvSpPr>
        <p:spPr>
          <a:xfrm>
            <a:off x="61468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7797800" y="2705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94488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11099800" y="2705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11172825" y="27051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7" name="Connector 46"/>
          <p:cNvCxnSpPr/>
          <p:nvPr/>
        </p:nvCxnSpPr>
        <p:spPr>
          <a:xfrm>
            <a:off x="190500" y="2952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8" name="Rectangle 47"/>
          <p:cNvSpPr/>
          <p:nvPr/>
        </p:nvSpPr>
        <p:spPr>
          <a:xfrm>
            <a:off x="190500" y="2981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285750" y="29718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DoMatcha</a:t>
            </a:r>
          </a:p>
        </p:txBody>
      </p:sp>
      <p:sp>
        <p:nvSpPr>
          <p:cNvPr id="50" name="TextBox 49"/>
          <p:cNvSpPr txBox="1"/>
          <p:nvPr/>
        </p:nvSpPr>
        <p:spPr>
          <a:xfrm>
            <a:off x="285750" y="31337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1" name="Oval 50"/>
          <p:cNvSpPr/>
          <p:nvPr/>
        </p:nvSpPr>
        <p:spPr>
          <a:xfrm>
            <a:off x="28448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Freeform 51"/>
          <p:cNvSpPr/>
          <p:nvPr/>
        </p:nvSpPr>
        <p:spPr>
          <a:xfrm>
            <a:off x="2924175" y="30480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Oval 52"/>
          <p:cNvSpPr/>
          <p:nvPr/>
        </p:nvSpPr>
        <p:spPr>
          <a:xfrm>
            <a:off x="44958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45720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61468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Freeform 55"/>
          <p:cNvSpPr/>
          <p:nvPr/>
        </p:nvSpPr>
        <p:spPr>
          <a:xfrm>
            <a:off x="6219825" y="3048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77978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Oval 57"/>
          <p:cNvSpPr/>
          <p:nvPr/>
        </p:nvSpPr>
        <p:spPr>
          <a:xfrm>
            <a:off x="9448800" y="3048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reeform 58"/>
          <p:cNvSpPr/>
          <p:nvPr/>
        </p:nvSpPr>
        <p:spPr>
          <a:xfrm>
            <a:off x="9525000" y="3048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Oval 59"/>
          <p:cNvSpPr/>
          <p:nvPr/>
        </p:nvSpPr>
        <p:spPr>
          <a:xfrm>
            <a:off x="11099800" y="3048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1" name="Connector 60"/>
          <p:cNvCxnSpPr/>
          <p:nvPr/>
        </p:nvCxnSpPr>
        <p:spPr>
          <a:xfrm>
            <a:off x="190500" y="3295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190500" y="3324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85750" y="33147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Encha</a:t>
            </a:r>
          </a:p>
        </p:txBody>
      </p:sp>
      <p:sp>
        <p:nvSpPr>
          <p:cNvPr id="64" name="TextBox 63"/>
          <p:cNvSpPr txBox="1"/>
          <p:nvPr/>
        </p:nvSpPr>
        <p:spPr>
          <a:xfrm>
            <a:off x="285750" y="34766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5" name="Oval 64"/>
          <p:cNvSpPr/>
          <p:nvPr/>
        </p:nvSpPr>
        <p:spPr>
          <a:xfrm>
            <a:off x="28448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Oval 65"/>
          <p:cNvSpPr/>
          <p:nvPr/>
        </p:nvSpPr>
        <p:spPr>
          <a:xfrm>
            <a:off x="44958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61468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77978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Freeform 68"/>
          <p:cNvSpPr/>
          <p:nvPr/>
        </p:nvSpPr>
        <p:spPr>
          <a:xfrm>
            <a:off x="7877175" y="3390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Oval 69"/>
          <p:cNvSpPr/>
          <p:nvPr/>
        </p:nvSpPr>
        <p:spPr>
          <a:xfrm>
            <a:off x="9448800" y="3390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Oval 70"/>
          <p:cNvSpPr/>
          <p:nvPr/>
        </p:nvSpPr>
        <p:spPr>
          <a:xfrm>
            <a:off x="11099800" y="3390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Freeform 71"/>
          <p:cNvSpPr/>
          <p:nvPr/>
        </p:nvSpPr>
        <p:spPr>
          <a:xfrm>
            <a:off x="11172825" y="3390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3" name="Connector 72"/>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667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85750" y="36576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Rishi Tea and Botanicals</a:t>
            </a:r>
          </a:p>
        </p:txBody>
      </p:sp>
      <p:sp>
        <p:nvSpPr>
          <p:cNvPr id="76" name="TextBox 75"/>
          <p:cNvSpPr txBox="1"/>
          <p:nvPr/>
        </p:nvSpPr>
        <p:spPr>
          <a:xfrm>
            <a:off x="285750" y="38195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7" name="Oval 76"/>
          <p:cNvSpPr/>
          <p:nvPr/>
        </p:nvSpPr>
        <p:spPr>
          <a:xfrm>
            <a:off x="28448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44958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4572000" y="37338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61468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reeform 80"/>
          <p:cNvSpPr/>
          <p:nvPr/>
        </p:nvSpPr>
        <p:spPr>
          <a:xfrm>
            <a:off x="6219825" y="3733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77978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Freeform 82"/>
          <p:cNvSpPr/>
          <p:nvPr/>
        </p:nvSpPr>
        <p:spPr>
          <a:xfrm>
            <a:off x="7877175" y="37338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Oval 83"/>
          <p:cNvSpPr/>
          <p:nvPr/>
        </p:nvSpPr>
        <p:spPr>
          <a:xfrm>
            <a:off x="94488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Oval 84"/>
          <p:cNvSpPr/>
          <p:nvPr/>
        </p:nvSpPr>
        <p:spPr>
          <a:xfrm>
            <a:off x="11099800" y="3733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3981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010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0005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Tenzo</a:t>
            </a:r>
          </a:p>
        </p:txBody>
      </p:sp>
      <p:sp>
        <p:nvSpPr>
          <p:cNvPr id="89" name="TextBox 88"/>
          <p:cNvSpPr txBox="1"/>
          <p:nvPr/>
        </p:nvSpPr>
        <p:spPr>
          <a:xfrm>
            <a:off x="285750" y="41624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90" name="Oval 89"/>
          <p:cNvSpPr/>
          <p:nvPr/>
        </p:nvSpPr>
        <p:spPr>
          <a:xfrm>
            <a:off x="28448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2924175" y="4076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44958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45720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61468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reeform 94"/>
          <p:cNvSpPr/>
          <p:nvPr/>
        </p:nvSpPr>
        <p:spPr>
          <a:xfrm>
            <a:off x="6219825" y="4076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Oval 95"/>
          <p:cNvSpPr/>
          <p:nvPr/>
        </p:nvSpPr>
        <p:spPr>
          <a:xfrm>
            <a:off x="77978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94488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9525000" y="4076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Oval 98"/>
          <p:cNvSpPr/>
          <p:nvPr/>
        </p:nvSpPr>
        <p:spPr>
          <a:xfrm>
            <a:off x="11099800" y="4076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0" name="Connector 99"/>
          <p:cNvCxnSpPr/>
          <p:nvPr/>
        </p:nvCxnSpPr>
        <p:spPr>
          <a:xfrm>
            <a:off x="190500" y="4324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1" name="Rectangle 100"/>
          <p:cNvSpPr/>
          <p:nvPr/>
        </p:nvSpPr>
        <p:spPr>
          <a:xfrm>
            <a:off x="190500" y="4352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285750" y="43434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Matchaful</a:t>
            </a:r>
          </a:p>
        </p:txBody>
      </p:sp>
      <p:sp>
        <p:nvSpPr>
          <p:cNvPr id="103" name="TextBox 102"/>
          <p:cNvSpPr txBox="1"/>
          <p:nvPr/>
        </p:nvSpPr>
        <p:spPr>
          <a:xfrm>
            <a:off x="285750" y="45053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4" name="Oval 103"/>
          <p:cNvSpPr/>
          <p:nvPr/>
        </p:nvSpPr>
        <p:spPr>
          <a:xfrm>
            <a:off x="28448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2924175" y="44196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44958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45720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61468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77978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Freeform 109"/>
          <p:cNvSpPr/>
          <p:nvPr/>
        </p:nvSpPr>
        <p:spPr>
          <a:xfrm>
            <a:off x="7877175" y="44196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Oval 110"/>
          <p:cNvSpPr/>
          <p:nvPr/>
        </p:nvSpPr>
        <p:spPr>
          <a:xfrm>
            <a:off x="94488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Freeform 111"/>
          <p:cNvSpPr/>
          <p:nvPr/>
        </p:nvSpPr>
        <p:spPr>
          <a:xfrm>
            <a:off x="9525000" y="4419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Oval 112"/>
          <p:cNvSpPr/>
          <p:nvPr/>
        </p:nvSpPr>
        <p:spPr>
          <a:xfrm>
            <a:off x="11099800" y="4419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4" name="Connector 113"/>
          <p:cNvCxnSpPr/>
          <p:nvPr/>
        </p:nvCxnSpPr>
        <p:spPr>
          <a:xfrm>
            <a:off x="190500" y="4667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4695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6863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Kettl</a:t>
            </a:r>
          </a:p>
        </p:txBody>
      </p:sp>
      <p:sp>
        <p:nvSpPr>
          <p:cNvPr id="117" name="TextBox 116"/>
          <p:cNvSpPr txBox="1"/>
          <p:nvPr/>
        </p:nvSpPr>
        <p:spPr>
          <a:xfrm>
            <a:off x="285750" y="48482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8448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reeform 118"/>
          <p:cNvSpPr/>
          <p:nvPr/>
        </p:nvSpPr>
        <p:spPr>
          <a:xfrm>
            <a:off x="2924175" y="4762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Oval 119"/>
          <p:cNvSpPr/>
          <p:nvPr/>
        </p:nvSpPr>
        <p:spPr>
          <a:xfrm>
            <a:off x="44958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Oval 120"/>
          <p:cNvSpPr/>
          <p:nvPr/>
        </p:nvSpPr>
        <p:spPr>
          <a:xfrm>
            <a:off x="61468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Freeform 121"/>
          <p:cNvSpPr/>
          <p:nvPr/>
        </p:nvSpPr>
        <p:spPr>
          <a:xfrm>
            <a:off x="6219825" y="4762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Oval 122"/>
          <p:cNvSpPr/>
          <p:nvPr/>
        </p:nvSpPr>
        <p:spPr>
          <a:xfrm>
            <a:off x="77978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Freeform 123"/>
          <p:cNvSpPr/>
          <p:nvPr/>
        </p:nvSpPr>
        <p:spPr>
          <a:xfrm>
            <a:off x="7877175" y="4762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Oval 124"/>
          <p:cNvSpPr/>
          <p:nvPr/>
        </p:nvSpPr>
        <p:spPr>
          <a:xfrm>
            <a:off x="94488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11099800" y="4762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27" name="Connector 126"/>
          <p:cNvCxnSpPr/>
          <p:nvPr/>
        </p:nvCxnSpPr>
        <p:spPr>
          <a:xfrm>
            <a:off x="190500" y="5010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5038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50292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Harney and Sons</a:t>
            </a:r>
          </a:p>
        </p:txBody>
      </p:sp>
      <p:sp>
        <p:nvSpPr>
          <p:cNvPr id="130" name="TextBox 129"/>
          <p:cNvSpPr txBox="1"/>
          <p:nvPr/>
        </p:nvSpPr>
        <p:spPr>
          <a:xfrm>
            <a:off x="285750" y="51911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1" name="Oval 130"/>
          <p:cNvSpPr/>
          <p:nvPr/>
        </p:nvSpPr>
        <p:spPr>
          <a:xfrm>
            <a:off x="28448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44958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45720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61468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Freeform 134"/>
          <p:cNvSpPr/>
          <p:nvPr/>
        </p:nvSpPr>
        <p:spPr>
          <a:xfrm>
            <a:off x="6219825" y="5105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Oval 135"/>
          <p:cNvSpPr/>
          <p:nvPr/>
        </p:nvSpPr>
        <p:spPr>
          <a:xfrm>
            <a:off x="77978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94488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Freeform 137"/>
          <p:cNvSpPr/>
          <p:nvPr/>
        </p:nvSpPr>
        <p:spPr>
          <a:xfrm>
            <a:off x="9525000" y="51054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Oval 138"/>
          <p:cNvSpPr/>
          <p:nvPr/>
        </p:nvSpPr>
        <p:spPr>
          <a:xfrm>
            <a:off x="11099800" y="5105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0" name="Connector 139"/>
          <p:cNvCxnSpPr/>
          <p:nvPr/>
        </p:nvCxnSpPr>
        <p:spPr>
          <a:xfrm>
            <a:off x="190500" y="5353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1" name="Rectangle 140"/>
          <p:cNvSpPr/>
          <p:nvPr/>
        </p:nvSpPr>
        <p:spPr>
          <a:xfrm>
            <a:off x="190500" y="5381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285750" y="53721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Sencha Naturals</a:t>
            </a:r>
          </a:p>
        </p:txBody>
      </p:sp>
      <p:sp>
        <p:nvSpPr>
          <p:cNvPr id="143" name="TextBox 142"/>
          <p:cNvSpPr txBox="1"/>
          <p:nvPr/>
        </p:nvSpPr>
        <p:spPr>
          <a:xfrm>
            <a:off x="285750" y="55340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44" name="Oval 143"/>
          <p:cNvSpPr/>
          <p:nvPr/>
        </p:nvSpPr>
        <p:spPr>
          <a:xfrm>
            <a:off x="28448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Freeform 144"/>
          <p:cNvSpPr/>
          <p:nvPr/>
        </p:nvSpPr>
        <p:spPr>
          <a:xfrm>
            <a:off x="2924175" y="5448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Oval 145"/>
          <p:cNvSpPr/>
          <p:nvPr/>
        </p:nvSpPr>
        <p:spPr>
          <a:xfrm>
            <a:off x="44958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Freeform 146"/>
          <p:cNvSpPr/>
          <p:nvPr/>
        </p:nvSpPr>
        <p:spPr>
          <a:xfrm>
            <a:off x="45720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Oval 147"/>
          <p:cNvSpPr/>
          <p:nvPr/>
        </p:nvSpPr>
        <p:spPr>
          <a:xfrm>
            <a:off x="61468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Oval 148"/>
          <p:cNvSpPr/>
          <p:nvPr/>
        </p:nvSpPr>
        <p:spPr>
          <a:xfrm>
            <a:off x="77978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7877175" y="5448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94488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Freeform 151"/>
          <p:cNvSpPr/>
          <p:nvPr/>
        </p:nvSpPr>
        <p:spPr>
          <a:xfrm>
            <a:off x="9525000" y="5448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Oval 152"/>
          <p:cNvSpPr/>
          <p:nvPr/>
        </p:nvSpPr>
        <p:spPr>
          <a:xfrm>
            <a:off x="11099800" y="5448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54" name="Connector 153"/>
          <p:cNvCxnSpPr/>
          <p:nvPr/>
        </p:nvCxnSpPr>
        <p:spPr>
          <a:xfrm>
            <a:off x="190500" y="5695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Rectangle 154"/>
          <p:cNvSpPr/>
          <p:nvPr/>
        </p:nvSpPr>
        <p:spPr>
          <a:xfrm>
            <a:off x="190500" y="5724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285750" y="5715000"/>
            <a:ext cx="1790700" cy="171450"/>
          </a:xfrm>
          <a:prstGeom prst="rect">
            <a:avLst/>
          </a:prstGeom>
          <a:noFill/>
        </p:spPr>
        <p:txBody>
          <a:bodyPr wrap="square" lIns="28575" rIns="28575" tIns="9525" bIns="9525" anchor="t">
            <a:spAutoFit/>
          </a:bodyPr>
          <a:lstStyle/>
          <a:p>
            <a:pPr algn="l"/>
            <a:r>
              <a:rPr sz="1100" b="1">
                <a:solidFill>
                  <a:srgbClr val="1F2933"/>
                </a:solidFill>
                <a:latin typeface="Calibri"/>
              </a:rPr>
              <a:t>Aoi Matcha</a:t>
            </a:r>
          </a:p>
        </p:txBody>
      </p:sp>
      <p:sp>
        <p:nvSpPr>
          <p:cNvPr id="157" name="TextBox 156"/>
          <p:cNvSpPr txBox="1"/>
          <p:nvPr/>
        </p:nvSpPr>
        <p:spPr>
          <a:xfrm>
            <a:off x="285750" y="5876925"/>
            <a:ext cx="179070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8" name="Oval 157"/>
          <p:cNvSpPr/>
          <p:nvPr/>
        </p:nvSpPr>
        <p:spPr>
          <a:xfrm>
            <a:off x="28448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Freeform 158"/>
          <p:cNvSpPr/>
          <p:nvPr/>
        </p:nvSpPr>
        <p:spPr>
          <a:xfrm>
            <a:off x="2924175" y="57912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Oval 159"/>
          <p:cNvSpPr/>
          <p:nvPr/>
        </p:nvSpPr>
        <p:spPr>
          <a:xfrm>
            <a:off x="44958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4572000" y="5791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Oval 161"/>
          <p:cNvSpPr/>
          <p:nvPr/>
        </p:nvSpPr>
        <p:spPr>
          <a:xfrm>
            <a:off x="61468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3" name="Freeform 162"/>
          <p:cNvSpPr/>
          <p:nvPr/>
        </p:nvSpPr>
        <p:spPr>
          <a:xfrm>
            <a:off x="6219825" y="5791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Oval 163"/>
          <p:cNvSpPr/>
          <p:nvPr/>
        </p:nvSpPr>
        <p:spPr>
          <a:xfrm>
            <a:off x="77978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Freeform 164"/>
          <p:cNvSpPr/>
          <p:nvPr/>
        </p:nvSpPr>
        <p:spPr>
          <a:xfrm>
            <a:off x="7877175" y="57912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Oval 165"/>
          <p:cNvSpPr/>
          <p:nvPr/>
        </p:nvSpPr>
        <p:spPr>
          <a:xfrm>
            <a:off x="94488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Oval 166"/>
          <p:cNvSpPr/>
          <p:nvPr/>
        </p:nvSpPr>
        <p:spPr>
          <a:xfrm>
            <a:off x="11099800" y="5791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68" name="Connector 167"/>
          <p:cNvCxnSpPr/>
          <p:nvPr/>
        </p:nvCxnSpPr>
        <p:spPr>
          <a:xfrm>
            <a:off x="190500" y="6038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9" name="Rectangle 168"/>
          <p:cNvSpPr/>
          <p:nvPr/>
        </p:nvSpPr>
        <p:spPr>
          <a:xfrm>
            <a:off x="190500" y="6124575"/>
            <a:ext cx="85725" cy="857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31432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1</a:t>
            </a:r>
          </a:p>
        </p:txBody>
      </p:sp>
      <p:sp>
        <p:nvSpPr>
          <p:cNvPr id="171" name="Rectangle 170"/>
          <p:cNvSpPr/>
          <p:nvPr/>
        </p:nvSpPr>
        <p:spPr>
          <a:xfrm>
            <a:off x="847725" y="6124575"/>
            <a:ext cx="85725" cy="85725"/>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1550"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2</a:t>
            </a:r>
          </a:p>
        </p:txBody>
      </p:sp>
      <p:sp>
        <p:nvSpPr>
          <p:cNvPr id="173" name="Rectangle 172"/>
          <p:cNvSpPr/>
          <p:nvPr/>
        </p:nvSpPr>
        <p:spPr>
          <a:xfrm>
            <a:off x="1504950" y="6124575"/>
            <a:ext cx="85725" cy="85725"/>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1628775" y="6076950"/>
            <a:ext cx="2095500" cy="171450"/>
          </a:xfrm>
          <a:prstGeom prst="rect">
            <a:avLst/>
          </a:prstGeom>
          <a:noFill/>
        </p:spPr>
        <p:txBody>
          <a:bodyPr wrap="square" lIns="28575" rIns="28575" tIns="9525" bIns="9525" anchor="t">
            <a:spAutoFit/>
          </a:bodyPr>
          <a:lstStyle/>
          <a:p>
            <a:pPr algn="l"/>
            <a:r>
              <a:rPr sz="1100" b="0">
                <a:solidFill>
                  <a:srgbClr val="1F2933"/>
                </a:solidFill>
                <a:latin typeface="Calibri"/>
              </a:rPr>
              <a:t>Tier 3</a:t>
            </a:r>
          </a:p>
        </p:txBody>
      </p:sp>
      <p:sp>
        <p:nvSpPr>
          <p:cNvPr id="175" name="TextBox 174"/>
          <p:cNvSpPr txBox="1"/>
          <p:nvPr/>
        </p:nvSpPr>
        <p:spPr>
          <a:xfrm>
            <a:off x="190500" y="6286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76" name="TextBox 175"/>
          <p:cNvSpPr txBox="1"/>
          <p:nvPr/>
        </p:nvSpPr>
        <p:spPr>
          <a:xfrm>
            <a:off x="190500" y="64008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Read across a row to see breadth; down a column to see contestability.  'Organic' is the most contested column (8 players active); 'Dietary Supplements and Functional Nutrition' is the most open (3).</a:t>
            </a:r>
          </a:p>
        </p:txBody>
      </p:sp>
      <p:sp>
        <p:nvSpPr>
          <p:cNvPr id="177" name="TextBox 17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78" name="TextBox 177"/>
          <p:cNvSpPr txBox="1"/>
          <p:nvPr/>
        </p:nvSpPr>
        <p:spPr>
          <a:xfrm>
            <a:off x="276225" y="1306830"/>
            <a:ext cx="398164" cy="186689"/>
          </a:xfrm>
          <a:prstGeom prst="rect">
            <a:avLst/>
          </a:prstGeom>
          <a:noFill/>
        </p:spPr>
        <p:txBody>
          <a:bodyPr wrap="none" lIns="0" rIns="0" tIns="0" bIns="0">
            <a:spAutoFit/>
          </a:bodyPr>
          <a:lstStyle/>
          <a:p>
            <a:r>
              <a:rPr sz="1100" b="1">
                <a:solidFill>
                  <a:srgbClr val="FFFFFF"/>
                </a:solidFill>
                <a:latin typeface="Calibri"/>
              </a:rPr>
              <a:t>Top 3</a:t>
            </a:r>
          </a:p>
        </p:txBody>
      </p:sp>
      <p:pic>
        <p:nvPicPr>
          <p:cNvPr id="179" name="Picture 178" descr="lock.png"/>
          <p:cNvPicPr>
            <a:picLocks noChangeAspect="1"/>
          </p:cNvPicPr>
          <p:nvPr/>
        </p:nvPicPr>
        <p:blipFill>
          <a:blip r:embed="rId4"/>
          <a:stretch>
            <a:fillRect/>
          </a:stretch>
        </p:blipFill>
        <p:spPr>
          <a:xfrm>
            <a:off x="622441" y="1297051"/>
            <a:ext cx="128699" cy="187198"/>
          </a:xfrm>
          <a:prstGeom prst="rect">
            <a:avLst/>
          </a:prstGeom>
        </p:spPr>
      </p:pic>
      <p:sp>
        <p:nvSpPr>
          <p:cNvPr id="180" name="TextBox 179"/>
          <p:cNvSpPr txBox="1"/>
          <p:nvPr/>
        </p:nvSpPr>
        <p:spPr>
          <a:xfrm>
            <a:off x="4786109" y="1306830"/>
            <a:ext cx="813172" cy="186689"/>
          </a:xfrm>
          <a:prstGeom prst="rect">
            <a:avLst/>
          </a:prstGeom>
          <a:noFill/>
        </p:spPr>
        <p:txBody>
          <a:bodyPr wrap="none" lIns="0" rIns="0" tIns="0" bIns="0">
            <a:spAutoFit/>
          </a:bodyPr>
          <a:lstStyle/>
          <a:p>
            <a:r>
              <a:rPr sz="1100" b="1">
                <a:solidFill>
                  <a:srgbClr val="FFFFFF"/>
                </a:solidFill>
                <a:latin typeface="Calibri"/>
              </a:rPr>
              <a:t>Rest of top 5</a:t>
            </a:r>
          </a:p>
        </p:txBody>
      </p:sp>
      <p:pic>
        <p:nvPicPr>
          <p:cNvPr id="181" name="Picture 180" descr="lock.png"/>
          <p:cNvPicPr>
            <a:picLocks noChangeAspect="1"/>
          </p:cNvPicPr>
          <p:nvPr/>
        </p:nvPicPr>
        <p:blipFill>
          <a:blip r:embed="rId4"/>
          <a:stretch>
            <a:fillRect/>
          </a:stretch>
        </p:blipFill>
        <p:spPr>
          <a:xfrm>
            <a:off x="5547332" y="1297051"/>
            <a:ext cx="128699" cy="187198"/>
          </a:xfrm>
          <a:prstGeom prst="rect">
            <a:avLst/>
          </a:prstGeom>
        </p:spPr>
      </p:pic>
      <p:sp>
        <p:nvSpPr>
          <p:cNvPr id="182" name="TextBox 181"/>
          <p:cNvSpPr txBox="1"/>
          <p:nvPr/>
        </p:nvSpPr>
        <p:spPr>
          <a:xfrm>
            <a:off x="6322271" y="1306830"/>
            <a:ext cx="620266" cy="186689"/>
          </a:xfrm>
          <a:prstGeom prst="rect">
            <a:avLst/>
          </a:prstGeom>
          <a:noFill/>
        </p:spPr>
        <p:txBody>
          <a:bodyPr wrap="none" lIns="0" rIns="0" tIns="0" bIns="0">
            <a:spAutoFit/>
          </a:bodyPr>
          <a:lstStyle/>
          <a:p>
            <a:r>
              <a:rPr sz="1100" b="1">
                <a:solidFill>
                  <a:srgbClr val="FFFFFF"/>
                </a:solidFill>
                <a:latin typeface="Calibri"/>
              </a:rPr>
              <a:t>Emerging</a:t>
            </a:r>
          </a:p>
        </p:txBody>
      </p:sp>
      <p:pic>
        <p:nvPicPr>
          <p:cNvPr id="183" name="Picture 182" descr="lock.png"/>
          <p:cNvPicPr>
            <a:picLocks noChangeAspect="1"/>
          </p:cNvPicPr>
          <p:nvPr/>
        </p:nvPicPr>
        <p:blipFill>
          <a:blip r:embed="rId4"/>
          <a:stretch>
            <a:fillRect/>
          </a:stretch>
        </p:blipFill>
        <p:spPr>
          <a:xfrm>
            <a:off x="6890588" y="1297051"/>
            <a:ext cx="128699" cy="187198"/>
          </a:xfrm>
          <a:prstGeom prst="rect">
            <a:avLst/>
          </a:prstGeom>
        </p:spPr>
      </p:pic>
      <p:sp>
        <p:nvSpPr>
          <p:cNvPr id="184" name="TextBox 183"/>
          <p:cNvSpPr txBox="1"/>
          <p:nvPr/>
        </p:nvSpPr>
        <p:spPr>
          <a:xfrm>
            <a:off x="8564687" y="1306830"/>
            <a:ext cx="469924" cy="186689"/>
          </a:xfrm>
          <a:prstGeom prst="rect">
            <a:avLst/>
          </a:prstGeom>
          <a:noFill/>
        </p:spPr>
        <p:txBody>
          <a:bodyPr wrap="none" lIns="0" rIns="0" tIns="0" bIns="0">
            <a:spAutoFit/>
          </a:bodyPr>
          <a:lstStyle/>
          <a:p>
            <a:r>
              <a:rPr sz="1100" b="1">
                <a:solidFill>
                  <a:srgbClr val="0F2D52"/>
                </a:solidFill>
                <a:latin typeface="Calibri"/>
              </a:rPr>
              <a:t>Others</a:t>
            </a:r>
          </a:p>
        </p:txBody>
      </p:sp>
      <p:pic>
        <p:nvPicPr>
          <p:cNvPr id="185" name="Picture 184" descr="lock.png"/>
          <p:cNvPicPr>
            <a:picLocks noChangeAspect="1"/>
          </p:cNvPicPr>
          <p:nvPr/>
        </p:nvPicPr>
        <p:blipFill>
          <a:blip r:embed="rId4"/>
          <a:stretch>
            <a:fillRect/>
          </a:stretch>
        </p:blipFill>
        <p:spPr>
          <a:xfrm>
            <a:off x="8982663" y="1297051"/>
            <a:ext cx="128699" cy="187198"/>
          </a:xfrm>
          <a:prstGeom prst="rect">
            <a:avLst/>
          </a:prstGeom>
        </p:spPr>
      </p:pic>
    </p:spTree>
  </p:cSld>
  <p:clrMapOvr>
    <a:masterClrMapping/>
  </p:clrMapOvr>
</p:sld>
</file>

<file path=ppt/slides/slide29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Value Chain Positioning of Leading Players</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How the market is organised by product type and end use, and who leads at each stage</a:t>
            </a:r>
          </a:p>
        </p:txBody>
      </p:sp>
      <p:sp>
        <p:nvSpPr>
          <p:cNvPr id="10" name="TextBox 9"/>
          <p:cNvSpPr txBox="1"/>
          <p:nvPr/>
        </p:nvSpPr>
        <p:spPr>
          <a:xfrm>
            <a:off x="2476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3 share, 2026</a:t>
            </a:r>
          </a:p>
        </p:txBody>
      </p:sp>
      <p:sp>
        <p:nvSpPr>
          <p:cNvPr id="11" name="TextBox 10"/>
          <p:cNvSpPr txBox="1"/>
          <p:nvPr/>
        </p:nvSpPr>
        <p:spPr>
          <a:xfrm>
            <a:off x="247650" y="1238250"/>
            <a:ext cx="2857500" cy="228600"/>
          </a:xfrm>
          <a:prstGeom prst="rect">
            <a:avLst/>
          </a:prstGeom>
          <a:noFill/>
        </p:spPr>
        <p:txBody>
          <a:bodyPr wrap="square" lIns="28575" rIns="28575" tIns="9525" bIns="9525" anchor="t">
            <a:spAutoFit/>
          </a:bodyPr>
          <a:lstStyle/>
          <a:p>
            <a:pPr algn="l"/>
            <a:r>
              <a:rPr sz="1100" b="1">
                <a:solidFill>
                  <a:srgbClr val="E87722"/>
                </a:solidFill>
                <a:latin typeface="Calibri"/>
              </a:rPr>
              <a:t> </a:t>
            </a:r>
          </a:p>
        </p:txBody>
      </p:sp>
      <p:cxnSp>
        <p:nvCxnSpPr>
          <p:cNvPr id="12" name="Connector 11"/>
          <p:cNvCxnSpPr/>
          <p:nvPr/>
        </p:nvCxnSpPr>
        <p:spPr>
          <a:xfrm>
            <a:off x="31432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32004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Top 5 share</a:t>
            </a:r>
          </a:p>
        </p:txBody>
      </p:sp>
      <p:sp>
        <p:nvSpPr>
          <p:cNvPr id="14" name="TextBox 13"/>
          <p:cNvSpPr txBox="1"/>
          <p:nvPr/>
        </p:nvSpPr>
        <p:spPr>
          <a:xfrm>
            <a:off x="32004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5" name="Connector 14"/>
          <p:cNvCxnSpPr/>
          <p:nvPr/>
        </p:nvCxnSpPr>
        <p:spPr>
          <a:xfrm>
            <a:off x="609600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615315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Organic, share</a:t>
            </a:r>
          </a:p>
        </p:txBody>
      </p:sp>
      <p:sp>
        <p:nvSpPr>
          <p:cNvPr id="17" name="TextBox 16"/>
          <p:cNvSpPr txBox="1"/>
          <p:nvPr/>
        </p:nvSpPr>
        <p:spPr>
          <a:xfrm>
            <a:off x="615315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18" name="Connector 17"/>
          <p:cNvCxnSpPr/>
          <p:nvPr/>
        </p:nvCxnSpPr>
        <p:spPr>
          <a:xfrm>
            <a:off x="9048750" y="1085850"/>
            <a:ext cx="0" cy="40005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9105900" y="1047750"/>
            <a:ext cx="2857500" cy="171450"/>
          </a:xfrm>
          <a:prstGeom prst="rect">
            <a:avLst/>
          </a:prstGeom>
          <a:noFill/>
        </p:spPr>
        <p:txBody>
          <a:bodyPr wrap="square" lIns="28575" rIns="28575" tIns="9525" bIns="9525" anchor="t">
            <a:spAutoFit/>
          </a:bodyPr>
          <a:lstStyle/>
          <a:p>
            <a:pPr algn="l"/>
            <a:r>
              <a:rPr sz="1100" b="0">
                <a:solidFill>
                  <a:srgbClr val="5F6B7A"/>
                </a:solidFill>
                <a:latin typeface="Calibri"/>
              </a:rPr>
              <a:t>Conventional, share</a:t>
            </a:r>
          </a:p>
        </p:txBody>
      </p:sp>
      <p:sp>
        <p:nvSpPr>
          <p:cNvPr id="20" name="TextBox 19"/>
          <p:cNvSpPr txBox="1"/>
          <p:nvPr/>
        </p:nvSpPr>
        <p:spPr>
          <a:xfrm>
            <a:off x="9105900" y="1238250"/>
            <a:ext cx="2857500" cy="22860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cxnSp>
        <p:nvCxnSpPr>
          <p:cNvPr id="21" name="Connector 20"/>
          <p:cNvCxnSpPr/>
          <p:nvPr/>
        </p:nvCxnSpPr>
        <p:spPr>
          <a:xfrm>
            <a:off x="190500" y="1543050"/>
            <a:ext cx="11811000"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22" name="Rectangle 21"/>
          <p:cNvSpPr/>
          <p:nvPr/>
        </p:nvSpPr>
        <p:spPr>
          <a:xfrm>
            <a:off x="190500"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Rectangle 22"/>
          <p:cNvSpPr/>
          <p:nvPr/>
        </p:nvSpPr>
        <p:spPr>
          <a:xfrm>
            <a:off x="190500"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285750"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 </a:t>
            </a:r>
          </a:p>
        </p:txBody>
      </p:sp>
      <p:sp>
        <p:nvSpPr>
          <p:cNvPr id="25" name="TextBox 24"/>
          <p:cNvSpPr txBox="1"/>
          <p:nvPr/>
        </p:nvSpPr>
        <p:spPr>
          <a:xfrm>
            <a:off x="285750"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26" name="TextBox 25"/>
          <p:cNvSpPr txBox="1"/>
          <p:nvPr/>
        </p:nvSpPr>
        <p:spPr>
          <a:xfrm>
            <a:off x="971550"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27" name="TextBox 26"/>
          <p:cNvSpPr txBox="1"/>
          <p:nvPr/>
        </p:nvSpPr>
        <p:spPr>
          <a:xfrm>
            <a:off x="285750"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28" name="TextBox 27"/>
          <p:cNvSpPr txBox="1"/>
          <p:nvPr/>
        </p:nvSpPr>
        <p:spPr>
          <a:xfrm>
            <a:off x="971550"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29" name="Connector 28"/>
          <p:cNvCxnSpPr/>
          <p:nvPr/>
        </p:nvCxnSpPr>
        <p:spPr>
          <a:xfrm>
            <a:off x="285750"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285750"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31" name="TextBox 30"/>
          <p:cNvSpPr txBox="1"/>
          <p:nvPr/>
        </p:nvSpPr>
        <p:spPr>
          <a:xfrm>
            <a:off x="285750"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Encha</a:t>
            </a:r>
          </a:p>
        </p:txBody>
      </p:sp>
      <p:sp>
        <p:nvSpPr>
          <p:cNvPr id="32" name="TextBox 31"/>
          <p:cNvSpPr txBox="1"/>
          <p:nvPr/>
        </p:nvSpPr>
        <p:spPr>
          <a:xfrm>
            <a:off x="285750"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33" name="TextBox 32"/>
          <p:cNvSpPr txBox="1"/>
          <p:nvPr/>
        </p:nvSpPr>
        <p:spPr>
          <a:xfrm>
            <a:off x="285750"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Jade Leaf Matcha</a:t>
            </a:r>
          </a:p>
        </p:txBody>
      </p:sp>
      <p:sp>
        <p:nvSpPr>
          <p:cNvPr id="34" name="TextBox 33"/>
          <p:cNvSpPr txBox="1"/>
          <p:nvPr/>
        </p:nvSpPr>
        <p:spPr>
          <a:xfrm>
            <a:off x="285750"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DoMatcha</a:t>
            </a:r>
          </a:p>
        </p:txBody>
      </p:sp>
      <p:sp>
        <p:nvSpPr>
          <p:cNvPr id="35" name="TextBox 34"/>
          <p:cNvSpPr txBox="1"/>
          <p:nvPr/>
        </p:nvSpPr>
        <p:spPr>
          <a:xfrm>
            <a:off x="285750"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Tenzo</a:t>
            </a:r>
          </a:p>
        </p:txBody>
      </p:sp>
      <p:sp>
        <p:nvSpPr>
          <p:cNvPr id="36" name="TextBox 35"/>
          <p:cNvSpPr txBox="1"/>
          <p:nvPr/>
        </p:nvSpPr>
        <p:spPr>
          <a:xfrm>
            <a:off x="285750"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Matchaful</a:t>
            </a:r>
          </a:p>
        </p:txBody>
      </p:sp>
      <p:cxnSp>
        <p:nvCxnSpPr>
          <p:cNvPr id="37" name="Connector 36"/>
          <p:cNvCxnSpPr/>
          <p:nvPr/>
        </p:nvCxnSpPr>
        <p:spPr>
          <a:xfrm>
            <a:off x="285750"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285750"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39" name="TextBox 38"/>
          <p:cNvSpPr txBox="1"/>
          <p:nvPr/>
        </p:nvSpPr>
        <p:spPr>
          <a:xfrm>
            <a:off x="285750"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40" name="Connector 39"/>
          <p:cNvCxnSpPr/>
          <p:nvPr/>
        </p:nvCxnSpPr>
        <p:spPr>
          <a:xfrm>
            <a:off x="2995612"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41" name="Freeform 40"/>
          <p:cNvSpPr/>
          <p:nvPr/>
        </p:nvSpPr>
        <p:spPr>
          <a:xfrm>
            <a:off x="3105150" y="3448050"/>
            <a:ext cx="57150" cy="95250"/>
          </a:xfrm>
          <a:custGeom>
            <a:avLst/>
            <a:gdLst/>
            <a:ahLst/>
            <a:cxnLst/>
            <a:rect l="l" t="t" r="r" b="b"/>
            <a:pathLst>
              <a:path w="6" h="10">
                <a:moveTo>
                  <a:pt x="6"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Rectangle 41"/>
          <p:cNvSpPr/>
          <p:nvPr/>
        </p:nvSpPr>
        <p:spPr>
          <a:xfrm>
            <a:off x="3205162"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Rectangle 42"/>
          <p:cNvSpPr/>
          <p:nvPr/>
        </p:nvSpPr>
        <p:spPr>
          <a:xfrm>
            <a:off x="3205162"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300412"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2. Conventional</a:t>
            </a:r>
          </a:p>
        </p:txBody>
      </p:sp>
      <p:sp>
        <p:nvSpPr>
          <p:cNvPr id="45" name="TextBox 44"/>
          <p:cNvSpPr txBox="1"/>
          <p:nvPr/>
        </p:nvSpPr>
        <p:spPr>
          <a:xfrm>
            <a:off x="3300412" y="1924050"/>
            <a:ext cx="666750" cy="190500"/>
          </a:xfrm>
          <a:prstGeom prst="rect">
            <a:avLst/>
          </a:prstGeom>
          <a:noFill/>
        </p:spPr>
        <p:txBody>
          <a:bodyPr wrap="none" lIns="0" rIns="0" tIns="0" bIns="0" anchor="t">
            <a:spAutoFit/>
          </a:bodyPr>
          <a:lstStyle/>
          <a:p>
            <a:pPr algn="l"/>
            <a:r>
              <a:rPr sz="1100" b="1">
                <a:solidFill>
                  <a:srgbClr val="1F2933"/>
                </a:solidFill>
                <a:latin typeface="Calibri"/>
              </a:rPr>
              <a:t> </a:t>
            </a:r>
          </a:p>
        </p:txBody>
      </p:sp>
      <p:sp>
        <p:nvSpPr>
          <p:cNvPr id="46" name="TextBox 45"/>
          <p:cNvSpPr txBox="1"/>
          <p:nvPr/>
        </p:nvSpPr>
        <p:spPr>
          <a:xfrm>
            <a:off x="3986212" y="1924050"/>
            <a:ext cx="1890712" cy="190500"/>
          </a:xfrm>
          <a:prstGeom prst="rect">
            <a:avLst/>
          </a:prstGeom>
          <a:noFill/>
        </p:spPr>
        <p:txBody>
          <a:bodyPr wrap="square" lIns="28575" rIns="28575" tIns="9525" bIns="9525" anchor="t">
            <a:spAutoFit/>
          </a:bodyPr>
          <a:lstStyle/>
          <a:p>
            <a:pPr algn="l"/>
            <a:r>
              <a:rPr sz="1100" b="1">
                <a:solidFill>
                  <a:srgbClr val="1F2933"/>
                </a:solidFill>
                <a:latin typeface="Calibri"/>
              </a:rPr>
              <a:t>of market</a:t>
            </a:r>
          </a:p>
        </p:txBody>
      </p:sp>
      <p:sp>
        <p:nvSpPr>
          <p:cNvPr id="47" name="TextBox 46"/>
          <p:cNvSpPr txBox="1"/>
          <p:nvPr/>
        </p:nvSpPr>
        <p:spPr>
          <a:xfrm>
            <a:off x="3300412" y="2133600"/>
            <a:ext cx="666750" cy="190500"/>
          </a:xfrm>
          <a:prstGeom prst="rect">
            <a:avLst/>
          </a:prstGeom>
          <a:noFill/>
        </p:spPr>
        <p:txBody>
          <a:bodyPr wrap="none" lIns="0" rIns="0" tIns="0" bIns="0" anchor="t">
            <a:spAutoFit/>
          </a:bodyPr>
          <a:lstStyle/>
          <a:p>
            <a:pPr algn="l"/>
            <a:r>
              <a:rPr sz="1100" b="0">
                <a:solidFill>
                  <a:srgbClr val="5F6B7A"/>
                </a:solidFill>
                <a:latin typeface="Calibri"/>
              </a:rPr>
              <a:t> </a:t>
            </a:r>
          </a:p>
        </p:txBody>
      </p:sp>
      <p:sp>
        <p:nvSpPr>
          <p:cNvPr id="48" name="TextBox 47"/>
          <p:cNvSpPr txBox="1"/>
          <p:nvPr/>
        </p:nvSpPr>
        <p:spPr>
          <a:xfrm>
            <a:off x="3986212" y="2133600"/>
            <a:ext cx="1890712" cy="190500"/>
          </a:xfrm>
          <a:prstGeom prst="rect">
            <a:avLst/>
          </a:prstGeom>
          <a:noFill/>
        </p:spPr>
        <p:txBody>
          <a:bodyPr wrap="square" lIns="28575" rIns="28575" tIns="9525" bIns="9525" anchor="t">
            <a:spAutoFit/>
          </a:bodyPr>
          <a:lstStyle/>
          <a:p>
            <a:pPr algn="l"/>
            <a:r>
              <a:rPr sz="1100" b="0">
                <a:solidFill>
                  <a:srgbClr val="5F6B7A"/>
                </a:solidFill>
                <a:latin typeface="Calibri"/>
              </a:rPr>
              <a:t>CAGR 2026–2036</a:t>
            </a:r>
          </a:p>
        </p:txBody>
      </p:sp>
      <p:cxnSp>
        <p:nvCxnSpPr>
          <p:cNvPr id="49" name="Connector 48"/>
          <p:cNvCxnSpPr/>
          <p:nvPr/>
        </p:nvCxnSpPr>
        <p:spPr>
          <a:xfrm>
            <a:off x="3300412" y="236220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3300412" y="241935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LEADS</a:t>
            </a:r>
          </a:p>
        </p:txBody>
      </p:sp>
      <p:sp>
        <p:nvSpPr>
          <p:cNvPr id="51" name="TextBox 50"/>
          <p:cNvSpPr txBox="1"/>
          <p:nvPr/>
        </p:nvSpPr>
        <p:spPr>
          <a:xfrm>
            <a:off x="3300412" y="2590800"/>
            <a:ext cx="2576512" cy="171450"/>
          </a:xfrm>
          <a:prstGeom prst="rect">
            <a:avLst/>
          </a:prstGeom>
          <a:noFill/>
        </p:spPr>
        <p:txBody>
          <a:bodyPr wrap="square" lIns="28575" rIns="28575" tIns="9525" bIns="9525" anchor="t">
            <a:spAutoFit/>
          </a:bodyPr>
          <a:lstStyle/>
          <a:p>
            <a:pPr algn="l"/>
            <a:r>
              <a:rPr sz="1100" b="1">
                <a:solidFill>
                  <a:srgbClr val="1F2933"/>
                </a:solidFill>
                <a:latin typeface="Calibri"/>
              </a:rPr>
              <a:t>●  Jade Leaf Matcha</a:t>
            </a:r>
          </a:p>
        </p:txBody>
      </p:sp>
      <p:sp>
        <p:nvSpPr>
          <p:cNvPr id="52" name="TextBox 51"/>
          <p:cNvSpPr txBox="1"/>
          <p:nvPr/>
        </p:nvSpPr>
        <p:spPr>
          <a:xfrm>
            <a:off x="3300412" y="28194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ALSO ACTIVE</a:t>
            </a:r>
          </a:p>
        </p:txBody>
      </p:sp>
      <p:sp>
        <p:nvSpPr>
          <p:cNvPr id="53" name="TextBox 52"/>
          <p:cNvSpPr txBox="1"/>
          <p:nvPr/>
        </p:nvSpPr>
        <p:spPr>
          <a:xfrm>
            <a:off x="3300412" y="29908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DoMatcha</a:t>
            </a:r>
          </a:p>
        </p:txBody>
      </p:sp>
      <p:sp>
        <p:nvSpPr>
          <p:cNvPr id="54" name="TextBox 53"/>
          <p:cNvSpPr txBox="1"/>
          <p:nvPr/>
        </p:nvSpPr>
        <p:spPr>
          <a:xfrm>
            <a:off x="3300412" y="31623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Rishi Tea and Botanicals</a:t>
            </a:r>
          </a:p>
        </p:txBody>
      </p:sp>
      <p:sp>
        <p:nvSpPr>
          <p:cNvPr id="55" name="TextBox 54"/>
          <p:cNvSpPr txBox="1"/>
          <p:nvPr/>
        </p:nvSpPr>
        <p:spPr>
          <a:xfrm>
            <a:off x="3300412" y="333375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Tenzo</a:t>
            </a:r>
          </a:p>
        </p:txBody>
      </p:sp>
      <p:sp>
        <p:nvSpPr>
          <p:cNvPr id="56" name="TextBox 55"/>
          <p:cNvSpPr txBox="1"/>
          <p:nvPr/>
        </p:nvSpPr>
        <p:spPr>
          <a:xfrm>
            <a:off x="3300412" y="3505200"/>
            <a:ext cx="2576512" cy="171450"/>
          </a:xfrm>
          <a:prstGeom prst="rect">
            <a:avLst/>
          </a:prstGeom>
          <a:noFill/>
        </p:spPr>
        <p:txBody>
          <a:bodyPr wrap="square" lIns="28575" rIns="28575" tIns="9525" bIns="9525" anchor="t">
            <a:spAutoFit/>
          </a:bodyPr>
          <a:lstStyle/>
          <a:p>
            <a:pPr algn="l"/>
            <a:r>
              <a:rPr sz="1100" b="0">
                <a:solidFill>
                  <a:srgbClr val="1F2933"/>
                </a:solidFill>
                <a:latin typeface="Calibri"/>
              </a:rPr>
              <a:t>●  Matchaful</a:t>
            </a:r>
          </a:p>
        </p:txBody>
      </p:sp>
      <p:cxnSp>
        <p:nvCxnSpPr>
          <p:cNvPr id="57" name="Connector 56"/>
          <p:cNvCxnSpPr/>
          <p:nvPr/>
        </p:nvCxnSpPr>
        <p:spPr>
          <a:xfrm>
            <a:off x="3300412" y="4438650"/>
            <a:ext cx="2576513"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58" name="TextBox 57"/>
          <p:cNvSpPr txBox="1"/>
          <p:nvPr/>
        </p:nvSpPr>
        <p:spPr>
          <a:xfrm>
            <a:off x="3300412"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59" name="TextBox 58"/>
          <p:cNvSpPr txBox="1"/>
          <p:nvPr/>
        </p:nvSpPr>
        <p:spPr>
          <a:xfrm>
            <a:off x="3300412"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cxnSp>
        <p:nvCxnSpPr>
          <p:cNvPr id="60" name="Connector 59"/>
          <p:cNvCxnSpPr/>
          <p:nvPr/>
        </p:nvCxnSpPr>
        <p:spPr>
          <a:xfrm>
            <a:off x="6010275" y="3495675"/>
            <a:ext cx="152400" cy="0"/>
          </a:xfrm>
          <a:prstGeom prst="line">
            <a:avLst/>
          </a:prstGeom>
          <a:ln w="254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61" name="Freeform 60"/>
          <p:cNvSpPr/>
          <p:nvPr/>
        </p:nvSpPr>
        <p:spPr>
          <a:xfrm>
            <a:off x="6115050" y="3448050"/>
            <a:ext cx="66675" cy="95250"/>
          </a:xfrm>
          <a:custGeom>
            <a:avLst/>
            <a:gdLst/>
            <a:ahLst/>
            <a:cxnLst/>
            <a:rect l="l" t="t" r="r" b="b"/>
            <a:pathLst>
              <a:path w="7" h="10">
                <a:moveTo>
                  <a:pt x="7" y="5"/>
                </a:moveTo>
                <a:lnTo>
                  <a:pt x="0" y="0"/>
                </a:lnTo>
                <a:lnTo>
                  <a:pt x="0" y="10"/>
                </a:lnTo>
                <a:close/>
              </a:path>
            </a:pathLst>
          </a:custGeom>
          <a:solidFill>
            <a:srgbClr val="0F2D52"/>
          </a:solidFill>
          <a:ln w="9525">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Rectangle 61"/>
          <p:cNvSpPr/>
          <p:nvPr/>
        </p:nvSpPr>
        <p:spPr>
          <a:xfrm>
            <a:off x="9234488" y="1638300"/>
            <a:ext cx="2767012" cy="37147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Rectangle 62"/>
          <p:cNvSpPr/>
          <p:nvPr/>
        </p:nvSpPr>
        <p:spPr>
          <a:xfrm>
            <a:off x="9234488" y="1638300"/>
            <a:ext cx="2767012" cy="476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9329738" y="1733550"/>
            <a:ext cx="2576512" cy="171450"/>
          </a:xfrm>
          <a:prstGeom prst="rect">
            <a:avLst/>
          </a:prstGeom>
          <a:noFill/>
        </p:spPr>
        <p:txBody>
          <a:bodyPr wrap="square" lIns="28575" rIns="28575" tIns="9525" bIns="9525" anchor="t">
            <a:spAutoFit/>
          </a:bodyPr>
          <a:lstStyle/>
          <a:p>
            <a:pPr algn="l"/>
            <a:r>
              <a:rPr sz="1100" b="1">
                <a:solidFill>
                  <a:srgbClr val="0F2D52"/>
                </a:solidFill>
                <a:latin typeface="Calibri"/>
              </a:rPr>
              <a:t>4. Application</a:t>
            </a:r>
          </a:p>
        </p:txBody>
      </p:sp>
      <p:sp>
        <p:nvSpPr>
          <p:cNvPr id="65" name="TextBox 64"/>
          <p:cNvSpPr txBox="1"/>
          <p:nvPr/>
        </p:nvSpPr>
        <p:spPr>
          <a:xfrm>
            <a:off x="9329738" y="1924050"/>
            <a:ext cx="2576512" cy="190500"/>
          </a:xfrm>
          <a:prstGeom prst="rect">
            <a:avLst/>
          </a:prstGeom>
          <a:noFill/>
        </p:spPr>
        <p:txBody>
          <a:bodyPr wrap="square" lIns="28575" rIns="28575" tIns="9525" bIns="9525" anchor="t">
            <a:spAutoFit/>
          </a:bodyPr>
          <a:lstStyle/>
          <a:p>
            <a:pPr algn="l"/>
            <a:r>
              <a:rPr sz="1100" b="1">
                <a:solidFill>
                  <a:srgbClr val="1F2933"/>
                </a:solidFill>
                <a:latin typeface="Calibri"/>
              </a:rPr>
              <a:t>By application</a:t>
            </a:r>
          </a:p>
        </p:txBody>
      </p:sp>
      <p:sp>
        <p:nvSpPr>
          <p:cNvPr id="66" name="TextBox 65"/>
          <p:cNvSpPr txBox="1"/>
          <p:nvPr/>
        </p:nvSpPr>
        <p:spPr>
          <a:xfrm>
            <a:off x="9329738" y="2133600"/>
            <a:ext cx="2576512" cy="190500"/>
          </a:xfrm>
          <a:prstGeom prst="rect">
            <a:avLst/>
          </a:prstGeom>
          <a:noFill/>
        </p:spPr>
        <p:txBody>
          <a:bodyPr wrap="square" lIns="28575" rIns="28575" tIns="9525" bIns="9525" anchor="t">
            <a:spAutoFit/>
          </a:bodyPr>
          <a:lstStyle/>
          <a:p>
            <a:pPr algn="l"/>
            <a:r>
              <a:rPr sz="1100" b="0">
                <a:solidFill>
                  <a:srgbClr val="5F6B7A"/>
                </a:solidFill>
                <a:latin typeface="Calibri"/>
              </a:rPr>
              <a:t>Who buys the output.</a:t>
            </a:r>
          </a:p>
        </p:txBody>
      </p:sp>
      <p:cxnSp>
        <p:nvCxnSpPr>
          <p:cNvPr id="67" name="Connector 66"/>
          <p:cNvCxnSpPr/>
          <p:nvPr/>
        </p:nvCxnSpPr>
        <p:spPr>
          <a:xfrm>
            <a:off x="9329738" y="236220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9329738" y="24193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a:t>
            </a:r>
          </a:p>
        </p:txBody>
      </p:sp>
      <p:sp>
        <p:nvSpPr>
          <p:cNvPr id="69" name="Rectangle 68"/>
          <p:cNvSpPr/>
          <p:nvPr/>
        </p:nvSpPr>
        <p:spPr>
          <a:xfrm>
            <a:off x="10682288" y="2524125"/>
            <a:ext cx="76676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1487150" y="24860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1" name="TextBox 70"/>
          <p:cNvSpPr txBox="1"/>
          <p:nvPr/>
        </p:nvSpPr>
        <p:spPr>
          <a:xfrm>
            <a:off x="9329738" y="27432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Dairy and Frozen Desserts</a:t>
            </a:r>
          </a:p>
        </p:txBody>
      </p:sp>
      <p:sp>
        <p:nvSpPr>
          <p:cNvPr id="72" name="Rectangle 71"/>
          <p:cNvSpPr/>
          <p:nvPr/>
        </p:nvSpPr>
        <p:spPr>
          <a:xfrm>
            <a:off x="10682288" y="2847975"/>
            <a:ext cx="52119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241580" y="28098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4" name="TextBox 73"/>
          <p:cNvSpPr txBox="1"/>
          <p:nvPr/>
        </p:nvSpPr>
        <p:spPr>
          <a:xfrm>
            <a:off x="9329738" y="30670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 Food Products</a:t>
            </a:r>
          </a:p>
        </p:txBody>
      </p:sp>
      <p:sp>
        <p:nvSpPr>
          <p:cNvPr id="75" name="Rectangle 74"/>
          <p:cNvSpPr/>
          <p:nvPr/>
        </p:nvSpPr>
        <p:spPr>
          <a:xfrm>
            <a:off x="10682288" y="3171825"/>
            <a:ext cx="51122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11231610" y="31337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77" name="TextBox 76"/>
          <p:cNvSpPr txBox="1"/>
          <p:nvPr/>
        </p:nvSpPr>
        <p:spPr>
          <a:xfrm>
            <a:off x="9329738" y="33909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Dietary Supplements and Functional Nutrition</a:t>
            </a:r>
          </a:p>
        </p:txBody>
      </p:sp>
      <p:sp>
        <p:nvSpPr>
          <p:cNvPr id="78" name="Rectangle 77"/>
          <p:cNvSpPr/>
          <p:nvPr/>
        </p:nvSpPr>
        <p:spPr>
          <a:xfrm>
            <a:off x="10682288" y="3495675"/>
            <a:ext cx="489287"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11209674" y="34575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80" name="TextBox 79"/>
          <p:cNvSpPr txBox="1"/>
          <p:nvPr/>
        </p:nvSpPr>
        <p:spPr>
          <a:xfrm>
            <a:off x="9329738" y="371475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Other Applications</a:t>
            </a:r>
          </a:p>
        </p:txBody>
      </p:sp>
      <p:sp>
        <p:nvSpPr>
          <p:cNvPr id="81" name="Rectangle 80"/>
          <p:cNvSpPr/>
          <p:nvPr/>
        </p:nvSpPr>
        <p:spPr>
          <a:xfrm>
            <a:off x="10682288" y="3819525"/>
            <a:ext cx="484348"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11204735" y="378142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sp>
        <p:nvSpPr>
          <p:cNvPr id="83" name="TextBox 82"/>
          <p:cNvSpPr txBox="1"/>
          <p:nvPr/>
        </p:nvSpPr>
        <p:spPr>
          <a:xfrm>
            <a:off x="9329738" y="4038600"/>
            <a:ext cx="1333500" cy="3238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Bakery and Confectionery</a:t>
            </a:r>
          </a:p>
        </p:txBody>
      </p:sp>
      <p:sp>
        <p:nvSpPr>
          <p:cNvPr id="84" name="Rectangle 83"/>
          <p:cNvSpPr/>
          <p:nvPr/>
        </p:nvSpPr>
        <p:spPr>
          <a:xfrm>
            <a:off x="10682288" y="4143375"/>
            <a:ext cx="423432" cy="1143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3819" y="4105275"/>
            <a:ext cx="476250" cy="1905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6" name="Connector 85"/>
          <p:cNvCxnSpPr/>
          <p:nvPr/>
        </p:nvCxnSpPr>
        <p:spPr>
          <a:xfrm>
            <a:off x="9329738" y="4438650"/>
            <a:ext cx="2576512" cy="0"/>
          </a:xfrm>
          <a:prstGeom prst="line">
            <a:avLst/>
          </a:prstGeom>
          <a:ln w="9525">
            <a:solidFill>
              <a:srgbClr val="D5DDE6"/>
            </a:solidFill>
          </a:ln>
          <a:effectLst/>
        </p:spPr>
        <p:style>
          <a:lnRef idx="2">
            <a:schemeClr val="accent1"/>
          </a:lnRef>
          <a:fillRef idx="0">
            <a:schemeClr val="accent1"/>
          </a:fillRef>
          <a:effectRef idx="1">
            <a:schemeClr val="accent1"/>
          </a:effectRef>
          <a:fontRef idx="minor">
            <a:schemeClr val="tx1"/>
          </a:fontRef>
        </p:style>
      </p:cxnSp>
      <p:sp>
        <p:nvSpPr>
          <p:cNvPr id="87" name="TextBox 86"/>
          <p:cNvSpPr txBox="1"/>
          <p:nvPr/>
        </p:nvSpPr>
        <p:spPr>
          <a:xfrm>
            <a:off x="9329738" y="4495800"/>
            <a:ext cx="2576512" cy="152400"/>
          </a:xfrm>
          <a:prstGeom prst="rect">
            <a:avLst/>
          </a:prstGeom>
          <a:noFill/>
        </p:spPr>
        <p:txBody>
          <a:bodyPr wrap="square" lIns="28575" rIns="28575" tIns="9525" bIns="9525" anchor="t">
            <a:spAutoFit/>
          </a:bodyPr>
          <a:lstStyle/>
          <a:p>
            <a:pPr algn="l"/>
            <a:r>
              <a:rPr sz="1100" b="1">
                <a:solidFill>
                  <a:srgbClr val="0F2D52"/>
                </a:solidFill>
                <a:latin typeface="Calibri"/>
              </a:rPr>
              <a:t>WHAT TO WATCH</a:t>
            </a:r>
          </a:p>
        </p:txBody>
      </p:sp>
      <p:sp>
        <p:nvSpPr>
          <p:cNvPr id="88" name="TextBox 87"/>
          <p:cNvSpPr txBox="1"/>
          <p:nvPr/>
        </p:nvSpPr>
        <p:spPr>
          <a:xfrm>
            <a:off x="9329738" y="4667250"/>
            <a:ext cx="2576512" cy="6667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9" name="Rectangle 88"/>
          <p:cNvSpPr/>
          <p:nvPr/>
        </p:nvSpPr>
        <p:spPr>
          <a:xfrm>
            <a:off x="190500" y="54673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Rectangle 89"/>
          <p:cNvSpPr/>
          <p:nvPr/>
        </p:nvSpPr>
        <p:spPr>
          <a:xfrm>
            <a:off x="190500" y="5467350"/>
            <a:ext cx="47625" cy="4000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304800" y="5467350"/>
            <a:ext cx="1047750" cy="400050"/>
          </a:xfrm>
          <a:prstGeom prst="rect">
            <a:avLst/>
          </a:prstGeom>
          <a:noFill/>
        </p:spPr>
        <p:txBody>
          <a:bodyPr wrap="square" lIns="28575" rIns="28575" tIns="9525" bIns="9525" anchor="ctr">
            <a:spAutoFit/>
          </a:bodyPr>
          <a:lstStyle/>
          <a:p>
            <a:pPr algn="l"/>
            <a:r>
              <a:rPr sz="1100" b="1">
                <a:solidFill>
                  <a:srgbClr val="0F2D52"/>
                </a:solidFill>
                <a:latin typeface="Calibri"/>
              </a:rPr>
              <a:t>ENABLERS</a:t>
            </a:r>
          </a:p>
        </p:txBody>
      </p:sp>
      <p:sp>
        <p:nvSpPr>
          <p:cNvPr id="92" name="TextBox 91"/>
          <p:cNvSpPr txBox="1"/>
          <p:nvPr/>
        </p:nvSpPr>
        <p:spPr>
          <a:xfrm>
            <a:off x="1428750" y="54673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Matcha Powder Compounds Fastest Across the Product Type Mix  |  South Asia &amp; Pacific Emerges as the Growth Engine Among Regions  |  Premiumisation Lifts Average Realisation</a:t>
            </a:r>
          </a:p>
        </p:txBody>
      </p:sp>
      <p:sp>
        <p:nvSpPr>
          <p:cNvPr id="93" name="Rectangle 92"/>
          <p:cNvSpPr/>
          <p:nvPr/>
        </p:nvSpPr>
        <p:spPr>
          <a:xfrm>
            <a:off x="190500" y="5924550"/>
            <a:ext cx="11811000" cy="400050"/>
          </a:xfrm>
          <a:prstGeom prst="rect">
            <a:avLst/>
          </a:prstGeom>
          <a:solidFill>
            <a:srgbClr val="FFFFFF"/>
          </a:solidFill>
          <a:ln w="9525">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Rectangle 93"/>
          <p:cNvSpPr/>
          <p:nvPr/>
        </p:nvSpPr>
        <p:spPr>
          <a:xfrm>
            <a:off x="190500" y="5924550"/>
            <a:ext cx="47625" cy="400050"/>
          </a:xfrm>
          <a:prstGeom prst="rect">
            <a:avLst/>
          </a:prstGeom>
          <a:solidFill>
            <a:srgbClr val="8B1E2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304800" y="5924550"/>
            <a:ext cx="1047750" cy="400050"/>
          </a:xfrm>
          <a:prstGeom prst="rect">
            <a:avLst/>
          </a:prstGeom>
          <a:noFill/>
        </p:spPr>
        <p:txBody>
          <a:bodyPr wrap="square" lIns="28575" rIns="28575" tIns="9525" bIns="9525" anchor="ctr">
            <a:spAutoFit/>
          </a:bodyPr>
          <a:lstStyle/>
          <a:p>
            <a:pPr algn="l"/>
            <a:r>
              <a:rPr sz="1100" b="1">
                <a:solidFill>
                  <a:srgbClr val="8B1E2D"/>
                </a:solidFill>
                <a:latin typeface="Calibri"/>
              </a:rPr>
              <a:t>CONSTRAINTS</a:t>
            </a:r>
          </a:p>
        </p:txBody>
      </p:sp>
      <p:sp>
        <p:nvSpPr>
          <p:cNvPr id="96" name="TextBox 95"/>
          <p:cNvSpPr txBox="1"/>
          <p:nvPr/>
        </p:nvSpPr>
        <p:spPr>
          <a:xfrm>
            <a:off x="1428750" y="5924550"/>
            <a:ext cx="10477500" cy="40005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Matcha Tea Lags the Category and Dilutes Blended Growth  |  Uneven Region Performance Caps the Blended Rate  |  Concentration Risk Limits Pricing and Sourcing Flexibility</a:t>
            </a:r>
          </a:p>
        </p:txBody>
      </p:sp>
      <p:sp>
        <p:nvSpPr>
          <p:cNvPr id="97" name="TextBox 96"/>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8" name="Picture 97" descr="lock.png"/>
          <p:cNvPicPr>
            <a:picLocks noChangeAspect="1"/>
          </p:cNvPicPr>
          <p:nvPr/>
        </p:nvPicPr>
        <p:blipFill>
          <a:blip r:embed="rId4"/>
          <a:stretch>
            <a:fillRect/>
          </a:stretch>
        </p:blipFill>
        <p:spPr>
          <a:xfrm>
            <a:off x="1612050" y="1258951"/>
            <a:ext cx="128699" cy="187198"/>
          </a:xfrm>
          <a:prstGeom prst="rect">
            <a:avLst/>
          </a:prstGeom>
        </p:spPr>
      </p:pic>
      <p:pic>
        <p:nvPicPr>
          <p:cNvPr id="99" name="Picture 98" descr="lock.png"/>
          <p:cNvPicPr>
            <a:picLocks noChangeAspect="1"/>
          </p:cNvPicPr>
          <p:nvPr/>
        </p:nvPicPr>
        <p:blipFill>
          <a:blip r:embed="rId4"/>
          <a:stretch>
            <a:fillRect/>
          </a:stretch>
        </p:blipFill>
        <p:spPr>
          <a:xfrm>
            <a:off x="4564800" y="1258951"/>
            <a:ext cx="128699" cy="187198"/>
          </a:xfrm>
          <a:prstGeom prst="rect">
            <a:avLst/>
          </a:prstGeom>
        </p:spPr>
      </p:pic>
      <p:pic>
        <p:nvPicPr>
          <p:cNvPr id="100" name="Picture 99" descr="lock.png"/>
          <p:cNvPicPr>
            <a:picLocks noChangeAspect="1"/>
          </p:cNvPicPr>
          <p:nvPr/>
        </p:nvPicPr>
        <p:blipFill>
          <a:blip r:embed="rId4"/>
          <a:stretch>
            <a:fillRect/>
          </a:stretch>
        </p:blipFill>
        <p:spPr>
          <a:xfrm>
            <a:off x="7517550" y="1258951"/>
            <a:ext cx="128699" cy="187198"/>
          </a:xfrm>
          <a:prstGeom prst="rect">
            <a:avLst/>
          </a:prstGeom>
        </p:spPr>
      </p:pic>
      <p:pic>
        <p:nvPicPr>
          <p:cNvPr id="101" name="Picture 100" descr="lock.png"/>
          <p:cNvPicPr>
            <a:picLocks noChangeAspect="1"/>
          </p:cNvPicPr>
          <p:nvPr/>
        </p:nvPicPr>
        <p:blipFill>
          <a:blip r:embed="rId4"/>
          <a:stretch>
            <a:fillRect/>
          </a:stretch>
        </p:blipFill>
        <p:spPr>
          <a:xfrm>
            <a:off x="10470300" y="1258951"/>
            <a:ext cx="128699" cy="187198"/>
          </a:xfrm>
          <a:prstGeom prst="rect">
            <a:avLst/>
          </a:prstGeom>
        </p:spPr>
      </p:pic>
      <p:pic>
        <p:nvPicPr>
          <p:cNvPr id="102" name="Picture 101" descr="lock.png"/>
          <p:cNvPicPr>
            <a:picLocks noChangeAspect="1"/>
          </p:cNvPicPr>
          <p:nvPr/>
        </p:nvPicPr>
        <p:blipFill>
          <a:blip r:embed="rId4"/>
          <a:stretch>
            <a:fillRect/>
          </a:stretch>
        </p:blipFill>
        <p:spPr>
          <a:xfrm>
            <a:off x="1509656" y="1725676"/>
            <a:ext cx="128699" cy="187198"/>
          </a:xfrm>
          <a:prstGeom prst="rect">
            <a:avLst/>
          </a:prstGeom>
        </p:spPr>
      </p:pic>
      <p:pic>
        <p:nvPicPr>
          <p:cNvPr id="103" name="Picture 102" descr="lock.png"/>
          <p:cNvPicPr>
            <a:picLocks noChangeAspect="1"/>
          </p:cNvPicPr>
          <p:nvPr/>
        </p:nvPicPr>
        <p:blipFill>
          <a:blip r:embed="rId4"/>
          <a:stretch>
            <a:fillRect/>
          </a:stretch>
        </p:blipFill>
        <p:spPr>
          <a:xfrm>
            <a:off x="554775" y="1925701"/>
            <a:ext cx="128699" cy="187198"/>
          </a:xfrm>
          <a:prstGeom prst="rect">
            <a:avLst/>
          </a:prstGeom>
        </p:spPr>
      </p:pic>
      <p:pic>
        <p:nvPicPr>
          <p:cNvPr id="104" name="Picture 103" descr="lock.png"/>
          <p:cNvPicPr>
            <a:picLocks noChangeAspect="1"/>
          </p:cNvPicPr>
          <p:nvPr/>
        </p:nvPicPr>
        <p:blipFill>
          <a:blip r:embed="rId4"/>
          <a:stretch>
            <a:fillRect/>
          </a:stretch>
        </p:blipFill>
        <p:spPr>
          <a:xfrm>
            <a:off x="554775" y="2135251"/>
            <a:ext cx="128699" cy="187198"/>
          </a:xfrm>
          <a:prstGeom prst="rect">
            <a:avLst/>
          </a:prstGeom>
        </p:spPr>
      </p:pic>
      <p:pic>
        <p:nvPicPr>
          <p:cNvPr id="105" name="Picture 104" descr="lock.png"/>
          <p:cNvPicPr>
            <a:picLocks noChangeAspect="1"/>
          </p:cNvPicPr>
          <p:nvPr/>
        </p:nvPicPr>
        <p:blipFill>
          <a:blip r:embed="rId4"/>
          <a:stretch>
            <a:fillRect/>
          </a:stretch>
        </p:blipFill>
        <p:spPr>
          <a:xfrm>
            <a:off x="3569437" y="1925701"/>
            <a:ext cx="128699" cy="187198"/>
          </a:xfrm>
          <a:prstGeom prst="rect">
            <a:avLst/>
          </a:prstGeom>
        </p:spPr>
      </p:pic>
      <p:pic>
        <p:nvPicPr>
          <p:cNvPr id="106" name="Picture 105" descr="lock.png"/>
          <p:cNvPicPr>
            <a:picLocks noChangeAspect="1"/>
          </p:cNvPicPr>
          <p:nvPr/>
        </p:nvPicPr>
        <p:blipFill>
          <a:blip r:embed="rId4"/>
          <a:stretch>
            <a:fillRect/>
          </a:stretch>
        </p:blipFill>
        <p:spPr>
          <a:xfrm>
            <a:off x="3569437" y="2135251"/>
            <a:ext cx="128699" cy="187198"/>
          </a:xfrm>
          <a:prstGeom prst="rect">
            <a:avLst/>
          </a:prstGeom>
        </p:spPr>
      </p:pic>
      <p:pic>
        <p:nvPicPr>
          <p:cNvPr id="107" name="Picture 106" descr="lock.png"/>
          <p:cNvPicPr>
            <a:picLocks noChangeAspect="1"/>
          </p:cNvPicPr>
          <p:nvPr/>
        </p:nvPicPr>
        <p:blipFill>
          <a:blip r:embed="rId4"/>
          <a:stretch>
            <a:fillRect/>
          </a:stretch>
        </p:blipFill>
        <p:spPr>
          <a:xfrm>
            <a:off x="11660925" y="2487676"/>
            <a:ext cx="128699" cy="187198"/>
          </a:xfrm>
          <a:prstGeom prst="rect">
            <a:avLst/>
          </a:prstGeom>
        </p:spPr>
      </p:pic>
      <p:pic>
        <p:nvPicPr>
          <p:cNvPr id="108" name="Picture 107" descr="lock.png"/>
          <p:cNvPicPr>
            <a:picLocks noChangeAspect="1"/>
          </p:cNvPicPr>
          <p:nvPr/>
        </p:nvPicPr>
        <p:blipFill>
          <a:blip r:embed="rId4"/>
          <a:stretch>
            <a:fillRect/>
          </a:stretch>
        </p:blipFill>
        <p:spPr>
          <a:xfrm>
            <a:off x="11415355" y="2811526"/>
            <a:ext cx="128699" cy="187198"/>
          </a:xfrm>
          <a:prstGeom prst="rect">
            <a:avLst/>
          </a:prstGeom>
        </p:spPr>
      </p:pic>
      <p:pic>
        <p:nvPicPr>
          <p:cNvPr id="109" name="Picture 108" descr="lock.png"/>
          <p:cNvPicPr>
            <a:picLocks noChangeAspect="1"/>
          </p:cNvPicPr>
          <p:nvPr/>
        </p:nvPicPr>
        <p:blipFill>
          <a:blip r:embed="rId4"/>
          <a:stretch>
            <a:fillRect/>
          </a:stretch>
        </p:blipFill>
        <p:spPr>
          <a:xfrm>
            <a:off x="11405385" y="3135376"/>
            <a:ext cx="128699" cy="187198"/>
          </a:xfrm>
          <a:prstGeom prst="rect">
            <a:avLst/>
          </a:prstGeom>
        </p:spPr>
      </p:pic>
      <p:pic>
        <p:nvPicPr>
          <p:cNvPr id="110" name="Picture 109" descr="lock.png"/>
          <p:cNvPicPr>
            <a:picLocks noChangeAspect="1"/>
          </p:cNvPicPr>
          <p:nvPr/>
        </p:nvPicPr>
        <p:blipFill>
          <a:blip r:embed="rId4"/>
          <a:stretch>
            <a:fillRect/>
          </a:stretch>
        </p:blipFill>
        <p:spPr>
          <a:xfrm>
            <a:off x="11383449" y="3459226"/>
            <a:ext cx="128699" cy="187198"/>
          </a:xfrm>
          <a:prstGeom prst="rect">
            <a:avLst/>
          </a:prstGeom>
        </p:spPr>
      </p:pic>
      <p:pic>
        <p:nvPicPr>
          <p:cNvPr id="111" name="Picture 110" descr="lock.png"/>
          <p:cNvPicPr>
            <a:picLocks noChangeAspect="1"/>
          </p:cNvPicPr>
          <p:nvPr/>
        </p:nvPicPr>
        <p:blipFill>
          <a:blip r:embed="rId4"/>
          <a:stretch>
            <a:fillRect/>
          </a:stretch>
        </p:blipFill>
        <p:spPr>
          <a:xfrm>
            <a:off x="11378510" y="3783076"/>
            <a:ext cx="128699" cy="187198"/>
          </a:xfrm>
          <a:prstGeom prst="rect">
            <a:avLst/>
          </a:prstGeom>
        </p:spPr>
      </p:pic>
      <p:pic>
        <p:nvPicPr>
          <p:cNvPr id="112" name="Picture 111" descr="lock.png"/>
          <p:cNvPicPr>
            <a:picLocks noChangeAspect="1"/>
          </p:cNvPicPr>
          <p:nvPr/>
        </p:nvPicPr>
        <p:blipFill>
          <a:blip r:embed="rId4"/>
          <a:stretch>
            <a:fillRect/>
          </a:stretch>
        </p:blipFill>
        <p:spPr>
          <a:xfrm>
            <a:off x="11317594" y="4106926"/>
            <a:ext cx="128699" cy="187198"/>
          </a:xfrm>
          <a:prstGeom prst="rect">
            <a:avLst/>
          </a:prstGeom>
        </p:spPr>
      </p:pic>
      <p:sp>
        <p:nvSpPr>
          <p:cNvPr id="113" name="TextBox 112"/>
          <p:cNvSpPr txBox="1"/>
          <p:nvPr/>
        </p:nvSpPr>
        <p:spPr>
          <a:xfrm>
            <a:off x="314325" y="4676775"/>
            <a:ext cx="2412082" cy="186689"/>
          </a:xfrm>
          <a:prstGeom prst="rect">
            <a:avLst/>
          </a:prstGeom>
          <a:noFill/>
        </p:spPr>
        <p:txBody>
          <a:bodyPr wrap="none" lIns="0" rIns="0" tIns="0" bIns="0">
            <a:spAutoFit/>
          </a:bodyPr>
          <a:lstStyle/>
          <a:p>
            <a:r>
              <a:rPr sz="1100" b="0">
                <a:solidFill>
                  <a:srgbClr val="1F2933"/>
                </a:solidFill>
                <a:latin typeface="Calibri"/>
              </a:rPr>
              <a:t>5 named players compete here; 'Organic'</a:t>
            </a:r>
          </a:p>
        </p:txBody>
      </p:sp>
      <p:sp>
        <p:nvSpPr>
          <p:cNvPr id="114" name="TextBox 113"/>
          <p:cNvSpPr txBox="1"/>
          <p:nvPr/>
        </p:nvSpPr>
        <p:spPr>
          <a:xfrm>
            <a:off x="314325" y="4844415"/>
            <a:ext cx="344413" cy="186689"/>
          </a:xfrm>
          <a:prstGeom prst="rect">
            <a:avLst/>
          </a:prstGeom>
          <a:noFill/>
        </p:spPr>
        <p:txBody>
          <a:bodyPr wrap="none" lIns="0" rIns="0" tIns="0" bIns="0">
            <a:spAutoFit/>
          </a:bodyPr>
          <a:lstStyle/>
          <a:p>
            <a:r>
              <a:rPr sz="1100" b="0">
                <a:solidFill>
                  <a:srgbClr val="1F2933"/>
                </a:solidFill>
                <a:latin typeface="Calibri"/>
              </a:rPr>
              <a:t>adds</a:t>
            </a:r>
          </a:p>
        </p:txBody>
      </p:sp>
      <p:pic>
        <p:nvPicPr>
          <p:cNvPr id="115" name="Picture 114" descr="lock.png"/>
          <p:cNvPicPr>
            <a:picLocks noChangeAspect="1"/>
          </p:cNvPicPr>
          <p:nvPr/>
        </p:nvPicPr>
        <p:blipFill>
          <a:blip r:embed="rId4"/>
          <a:stretch>
            <a:fillRect/>
          </a:stretch>
        </p:blipFill>
        <p:spPr>
          <a:xfrm>
            <a:off x="606789" y="4834636"/>
            <a:ext cx="128699" cy="187198"/>
          </a:xfrm>
          <a:prstGeom prst="rect">
            <a:avLst/>
          </a:prstGeom>
        </p:spPr>
      </p:pic>
      <p:sp>
        <p:nvSpPr>
          <p:cNvPr id="116" name="TextBox 115"/>
          <p:cNvSpPr txBox="1"/>
          <p:nvPr/>
        </p:nvSpPr>
        <p:spPr>
          <a:xfrm>
            <a:off x="774285"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17" name="TextBox 116"/>
          <p:cNvSpPr txBox="1"/>
          <p:nvPr/>
        </p:nvSpPr>
        <p:spPr>
          <a:xfrm>
            <a:off x="3328987" y="4676775"/>
            <a:ext cx="1880021" cy="186689"/>
          </a:xfrm>
          <a:prstGeom prst="rect">
            <a:avLst/>
          </a:prstGeom>
          <a:noFill/>
        </p:spPr>
        <p:txBody>
          <a:bodyPr wrap="none" lIns="0" rIns="0" tIns="0" bIns="0">
            <a:spAutoFit/>
          </a:bodyPr>
          <a:lstStyle/>
          <a:p>
            <a:r>
              <a:rPr sz="1100" b="0">
                <a:solidFill>
                  <a:srgbClr val="1F2933"/>
                </a:solidFill>
                <a:latin typeface="Calibri"/>
              </a:rPr>
              <a:t>5 named players compete here;</a:t>
            </a:r>
          </a:p>
        </p:txBody>
      </p:sp>
      <p:sp>
        <p:nvSpPr>
          <p:cNvPr id="118" name="TextBox 117"/>
          <p:cNvSpPr txBox="1"/>
          <p:nvPr/>
        </p:nvSpPr>
        <p:spPr>
          <a:xfrm>
            <a:off x="3328987" y="4844415"/>
            <a:ext cx="1190525" cy="186689"/>
          </a:xfrm>
          <a:prstGeom prst="rect">
            <a:avLst/>
          </a:prstGeom>
          <a:noFill/>
        </p:spPr>
        <p:txBody>
          <a:bodyPr wrap="none" lIns="0" rIns="0" tIns="0" bIns="0">
            <a:spAutoFit/>
          </a:bodyPr>
          <a:lstStyle/>
          <a:p>
            <a:r>
              <a:rPr sz="1100" b="0">
                <a:solidFill>
                  <a:srgbClr val="1F2933"/>
                </a:solidFill>
                <a:latin typeface="Calibri"/>
              </a:rPr>
              <a:t>'Conventional' adds</a:t>
            </a:r>
          </a:p>
        </p:txBody>
      </p:sp>
      <p:pic>
        <p:nvPicPr>
          <p:cNvPr id="119" name="Picture 118" descr="lock.png"/>
          <p:cNvPicPr>
            <a:picLocks noChangeAspect="1"/>
          </p:cNvPicPr>
          <p:nvPr/>
        </p:nvPicPr>
        <p:blipFill>
          <a:blip r:embed="rId4"/>
          <a:stretch>
            <a:fillRect/>
          </a:stretch>
        </p:blipFill>
        <p:spPr>
          <a:xfrm>
            <a:off x="4467564" y="4834636"/>
            <a:ext cx="128699" cy="187198"/>
          </a:xfrm>
          <a:prstGeom prst="rect">
            <a:avLst/>
          </a:prstGeom>
        </p:spPr>
      </p:pic>
      <p:sp>
        <p:nvSpPr>
          <p:cNvPr id="120" name="TextBox 119"/>
          <p:cNvSpPr txBox="1"/>
          <p:nvPr/>
        </p:nvSpPr>
        <p:spPr>
          <a:xfrm>
            <a:off x="4635060" y="4844415"/>
            <a:ext cx="1044550" cy="186689"/>
          </a:xfrm>
          <a:prstGeom prst="rect">
            <a:avLst/>
          </a:prstGeom>
          <a:noFill/>
        </p:spPr>
        <p:txBody>
          <a:bodyPr wrap="none" lIns="0" rIns="0" tIns="0" bIns="0">
            <a:spAutoFit/>
          </a:bodyPr>
          <a:lstStyle/>
          <a:p>
            <a:r>
              <a:rPr sz="1100" b="0">
                <a:solidFill>
                  <a:srgbClr val="1F2933"/>
                </a:solidFill>
                <a:latin typeface="Calibri"/>
              </a:rPr>
              <a:t>US$ Mn by 2036.</a:t>
            </a:r>
          </a:p>
        </p:txBody>
      </p:sp>
      <p:sp>
        <p:nvSpPr>
          <p:cNvPr id="121" name="TextBox 120"/>
          <p:cNvSpPr txBox="1"/>
          <p:nvPr/>
        </p:nvSpPr>
        <p:spPr>
          <a:xfrm>
            <a:off x="9358313" y="4676775"/>
            <a:ext cx="1728861" cy="186689"/>
          </a:xfrm>
          <a:prstGeom prst="rect">
            <a:avLst/>
          </a:prstGeom>
          <a:noFill/>
        </p:spPr>
        <p:txBody>
          <a:bodyPr wrap="none" lIns="0" rIns="0" tIns="0" bIns="0">
            <a:spAutoFit/>
          </a:bodyPr>
          <a:lstStyle/>
          <a:p>
            <a:r>
              <a:rPr sz="1100" b="0">
                <a:solidFill>
                  <a:srgbClr val="1F2933"/>
                </a:solidFill>
                <a:latin typeface="Calibri"/>
              </a:rPr>
              <a:t>The top two end uses pay for</a:t>
            </a:r>
          </a:p>
        </p:txBody>
      </p:sp>
      <p:pic>
        <p:nvPicPr>
          <p:cNvPr id="122" name="Picture 121" descr="lock.png"/>
          <p:cNvPicPr>
            <a:picLocks noChangeAspect="1"/>
          </p:cNvPicPr>
          <p:nvPr/>
        </p:nvPicPr>
        <p:blipFill>
          <a:blip r:embed="rId4"/>
          <a:stretch>
            <a:fillRect/>
          </a:stretch>
        </p:blipFill>
        <p:spPr>
          <a:xfrm>
            <a:off x="11035226" y="4666996"/>
            <a:ext cx="128699" cy="187198"/>
          </a:xfrm>
          <a:prstGeom prst="rect">
            <a:avLst/>
          </a:prstGeom>
        </p:spPr>
      </p:pic>
      <p:sp>
        <p:nvSpPr>
          <p:cNvPr id="123" name="TextBox 122"/>
          <p:cNvSpPr txBox="1"/>
          <p:nvPr/>
        </p:nvSpPr>
        <p:spPr>
          <a:xfrm>
            <a:off x="11202722" y="4676775"/>
            <a:ext cx="413990" cy="186689"/>
          </a:xfrm>
          <a:prstGeom prst="rect">
            <a:avLst/>
          </a:prstGeom>
          <a:noFill/>
        </p:spPr>
        <p:txBody>
          <a:bodyPr wrap="none" lIns="0" rIns="0" tIns="0" bIns="0">
            <a:spAutoFit/>
          </a:bodyPr>
          <a:lstStyle/>
          <a:p>
            <a:r>
              <a:rPr sz="1100" b="0">
                <a:solidFill>
                  <a:srgbClr val="1F2933"/>
                </a:solidFill>
                <a:latin typeface="Calibri"/>
              </a:rPr>
              <a:t>of the</a:t>
            </a:r>
          </a:p>
        </p:txBody>
      </p:sp>
      <p:sp>
        <p:nvSpPr>
          <p:cNvPr id="124" name="TextBox 123"/>
          <p:cNvSpPr txBox="1"/>
          <p:nvPr/>
        </p:nvSpPr>
        <p:spPr>
          <a:xfrm>
            <a:off x="9358313" y="4844415"/>
            <a:ext cx="2519361" cy="186689"/>
          </a:xfrm>
          <a:prstGeom prst="rect">
            <a:avLst/>
          </a:prstGeom>
          <a:noFill/>
        </p:spPr>
        <p:txBody>
          <a:bodyPr wrap="none" lIns="0" rIns="0" tIns="0" bIns="0">
            <a:spAutoFit/>
          </a:bodyPr>
          <a:lstStyle/>
          <a:p>
            <a:r>
              <a:rPr sz="1100" b="0">
                <a:solidFill>
                  <a:srgbClr val="1F2933"/>
                </a:solidFill>
                <a:latin typeface="Calibri"/>
              </a:rPr>
              <a:t>market; vendors package for one vertical at</a:t>
            </a:r>
          </a:p>
        </p:txBody>
      </p:sp>
      <p:sp>
        <p:nvSpPr>
          <p:cNvPr id="125" name="TextBox 124"/>
          <p:cNvSpPr txBox="1"/>
          <p:nvPr/>
        </p:nvSpPr>
        <p:spPr>
          <a:xfrm>
            <a:off x="9358313" y="5012055"/>
            <a:ext cx="470197" cy="186689"/>
          </a:xfrm>
          <a:prstGeom prst="rect">
            <a:avLst/>
          </a:prstGeom>
          <a:noFill/>
        </p:spPr>
        <p:txBody>
          <a:bodyPr wrap="none" lIns="0" rIns="0" tIns="0" bIns="0">
            <a:spAutoFit/>
          </a:bodyPr>
          <a:lstStyle/>
          <a:p>
            <a:r>
              <a:rPr sz="1100" b="0">
                <a:solidFill>
                  <a:srgbClr val="1F2933"/>
                </a:solidFill>
                <a:latin typeface="Calibri"/>
              </a:rPr>
              <a:t>a time.</a:t>
            </a:r>
          </a:p>
        </p:txBody>
      </p:sp>
    </p:spTree>
  </p:cSld>
  <p:clrMapOvr>
    <a:masterClrMapping/>
  </p:clrMapOvr>
</p:sld>
</file>

<file path=ppt/slides/slide295.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Player Landscape by Business Type and Reach</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Named players by business type and geographic reach, with how each group competes</a:t>
            </a:r>
          </a:p>
        </p:txBody>
      </p:sp>
      <p:sp>
        <p:nvSpPr>
          <p:cNvPr id="10" name="Rectangle 9"/>
          <p:cNvSpPr/>
          <p:nvPr/>
        </p:nvSpPr>
        <p:spPr>
          <a:xfrm>
            <a:off x="1638300" y="1047750"/>
            <a:ext cx="3422650" cy="2667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17145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1  (4)</a:t>
            </a:r>
          </a:p>
        </p:txBody>
      </p:sp>
      <p:sp>
        <p:nvSpPr>
          <p:cNvPr id="12" name="Rectangle 11"/>
          <p:cNvSpPr/>
          <p:nvPr/>
        </p:nvSpPr>
        <p:spPr>
          <a:xfrm>
            <a:off x="5099050" y="1047750"/>
            <a:ext cx="3422650" cy="2667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517525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2  (2)</a:t>
            </a:r>
          </a:p>
        </p:txBody>
      </p:sp>
      <p:sp>
        <p:nvSpPr>
          <p:cNvPr id="14" name="Rectangle 13"/>
          <p:cNvSpPr/>
          <p:nvPr/>
        </p:nvSpPr>
        <p:spPr>
          <a:xfrm>
            <a:off x="8559800" y="1047750"/>
            <a:ext cx="3422650" cy="2667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8636000" y="1047750"/>
            <a:ext cx="3308350" cy="266700"/>
          </a:xfrm>
          <a:prstGeom prst="rect">
            <a:avLst/>
          </a:prstGeom>
          <a:noFill/>
        </p:spPr>
        <p:txBody>
          <a:bodyPr wrap="square" lIns="28575" rIns="28575" tIns="9525" bIns="9525" anchor="ctr">
            <a:spAutoFit/>
          </a:bodyPr>
          <a:lstStyle/>
          <a:p>
            <a:pPr algn="l"/>
            <a:r>
              <a:rPr sz="1100" b="1">
                <a:solidFill>
                  <a:srgbClr val="FFFFFF"/>
                </a:solidFill>
                <a:latin typeface="Calibri"/>
              </a:rPr>
              <a:t>Tier 3  (4)</a:t>
            </a:r>
          </a:p>
        </p:txBody>
      </p:sp>
      <p:sp>
        <p:nvSpPr>
          <p:cNvPr id="16" name="TextBox 15"/>
          <p:cNvSpPr txBox="1"/>
          <p:nvPr/>
        </p:nvSpPr>
        <p:spPr>
          <a:xfrm>
            <a:off x="190500" y="14097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Global (4)</a:t>
            </a:r>
          </a:p>
        </p:txBody>
      </p:sp>
      <p:sp>
        <p:nvSpPr>
          <p:cNvPr id="17" name="TextBox 16"/>
          <p:cNvSpPr txBox="1"/>
          <p:nvPr/>
        </p:nvSpPr>
        <p:spPr>
          <a:xfrm>
            <a:off x="190500" y="15811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Sells in most major regions</a:t>
            </a:r>
          </a:p>
        </p:txBody>
      </p:sp>
      <p:cxnSp>
        <p:nvCxnSpPr>
          <p:cNvPr id="18" name="Connector 17"/>
          <p:cNvCxnSpPr/>
          <p:nvPr/>
        </p:nvCxnSpPr>
        <p:spPr>
          <a:xfrm>
            <a:off x="1647825" y="13906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733550" y="1447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1733550" y="1438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1" name="TextBox 20"/>
          <p:cNvSpPr txBox="1"/>
          <p:nvPr/>
        </p:nvSpPr>
        <p:spPr>
          <a:xfrm>
            <a:off x="1924050" y="1428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Jade Leaf Matcha</a:t>
            </a:r>
          </a:p>
        </p:txBody>
      </p:sp>
      <p:sp>
        <p:nvSpPr>
          <p:cNvPr id="22" name="Rectangle 21"/>
          <p:cNvSpPr/>
          <p:nvPr/>
        </p:nvSpPr>
        <p:spPr>
          <a:xfrm>
            <a:off x="1733550" y="1638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1733550" y="1628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4" name="TextBox 23"/>
          <p:cNvSpPr txBox="1"/>
          <p:nvPr/>
        </p:nvSpPr>
        <p:spPr>
          <a:xfrm>
            <a:off x="1924050" y="1619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DoMatcha</a:t>
            </a:r>
          </a:p>
        </p:txBody>
      </p:sp>
      <p:sp>
        <p:nvSpPr>
          <p:cNvPr id="25" name="Rectangle 24"/>
          <p:cNvSpPr/>
          <p:nvPr/>
        </p:nvSpPr>
        <p:spPr>
          <a:xfrm>
            <a:off x="1733550" y="18288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1733550" y="18192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27" name="TextBox 26"/>
          <p:cNvSpPr txBox="1"/>
          <p:nvPr/>
        </p:nvSpPr>
        <p:spPr>
          <a:xfrm>
            <a:off x="1924050" y="18097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Encha</a:t>
            </a:r>
          </a:p>
        </p:txBody>
      </p:sp>
      <p:sp>
        <p:nvSpPr>
          <p:cNvPr id="28" name="Rectangle 27"/>
          <p:cNvSpPr/>
          <p:nvPr/>
        </p:nvSpPr>
        <p:spPr>
          <a:xfrm>
            <a:off x="1733550" y="2019300"/>
            <a:ext cx="142875" cy="1428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1733550" y="2009775"/>
            <a:ext cx="142875" cy="161925"/>
          </a:xfrm>
          <a:prstGeom prst="rect">
            <a:avLst/>
          </a:prstGeom>
          <a:noFill/>
        </p:spPr>
        <p:txBody>
          <a:bodyPr wrap="none" lIns="0" rIns="0" tIns="0" bIns="0" anchor="ctr">
            <a:spAutoFit/>
          </a:bodyPr>
          <a:lstStyle/>
          <a:p>
            <a:pPr algn="ctr"/>
            <a:r>
              <a:rPr sz="1100" b="1">
                <a:solidFill>
                  <a:srgbClr val="FFFFFF"/>
                </a:solidFill>
                <a:latin typeface="Calibri"/>
              </a:rPr>
              <a:t>1</a:t>
            </a:r>
          </a:p>
        </p:txBody>
      </p:sp>
      <p:sp>
        <p:nvSpPr>
          <p:cNvPr id="30" name="TextBox 29"/>
          <p:cNvSpPr txBox="1"/>
          <p:nvPr/>
        </p:nvSpPr>
        <p:spPr>
          <a:xfrm>
            <a:off x="1924050" y="2000250"/>
            <a:ext cx="3079750" cy="171450"/>
          </a:xfrm>
          <a:prstGeom prst="rect">
            <a:avLst/>
          </a:prstGeom>
          <a:noFill/>
        </p:spPr>
        <p:txBody>
          <a:bodyPr wrap="square" lIns="28575" rIns="28575" tIns="9525" bIns="9525" anchor="t">
            <a:spAutoFit/>
          </a:bodyPr>
          <a:lstStyle/>
          <a:p>
            <a:pPr algn="l"/>
            <a:r>
              <a:rPr sz="1100" b="1">
                <a:solidFill>
                  <a:srgbClr val="1F2933"/>
                </a:solidFill>
                <a:latin typeface="Calibri"/>
              </a:rPr>
              <a:t>Rishi Tea and Botanicals</a:t>
            </a:r>
          </a:p>
        </p:txBody>
      </p:sp>
      <p:cxnSp>
        <p:nvCxnSpPr>
          <p:cNvPr id="31" name="Connector 30"/>
          <p:cNvCxnSpPr/>
          <p:nvPr/>
        </p:nvCxnSpPr>
        <p:spPr>
          <a:xfrm>
            <a:off x="5108575" y="13906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8569325" y="13906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90500" y="24384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Regional (2)</a:t>
            </a:r>
          </a:p>
        </p:txBody>
      </p:sp>
      <p:sp>
        <p:nvSpPr>
          <p:cNvPr id="34" name="TextBox 33"/>
          <p:cNvSpPr txBox="1"/>
          <p:nvPr/>
        </p:nvSpPr>
        <p:spPr>
          <a:xfrm>
            <a:off x="190500" y="26098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Strong in one or two regions</a:t>
            </a:r>
          </a:p>
        </p:txBody>
      </p:sp>
      <p:cxnSp>
        <p:nvCxnSpPr>
          <p:cNvPr id="35" name="Connector 34"/>
          <p:cNvCxnSpPr/>
          <p:nvPr/>
        </p:nvCxnSpPr>
        <p:spPr>
          <a:xfrm>
            <a:off x="190500" y="240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36" name="Connector 35"/>
          <p:cNvCxnSpPr/>
          <p:nvPr/>
        </p:nvCxnSpPr>
        <p:spPr>
          <a:xfrm>
            <a:off x="1647825" y="24193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37" name="Connector 36"/>
          <p:cNvCxnSpPr/>
          <p:nvPr/>
        </p:nvCxnSpPr>
        <p:spPr>
          <a:xfrm>
            <a:off x="5108575" y="24193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5194300" y="24765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5194300" y="24669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0" name="TextBox 39"/>
          <p:cNvSpPr txBox="1"/>
          <p:nvPr/>
        </p:nvSpPr>
        <p:spPr>
          <a:xfrm>
            <a:off x="5384800" y="24574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Tenzo</a:t>
            </a:r>
          </a:p>
        </p:txBody>
      </p:sp>
      <p:sp>
        <p:nvSpPr>
          <p:cNvPr id="41" name="Rectangle 40"/>
          <p:cNvSpPr/>
          <p:nvPr/>
        </p:nvSpPr>
        <p:spPr>
          <a:xfrm>
            <a:off x="5194300" y="2667000"/>
            <a:ext cx="142875" cy="14287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5194300" y="2657475"/>
            <a:ext cx="142875" cy="161925"/>
          </a:xfrm>
          <a:prstGeom prst="rect">
            <a:avLst/>
          </a:prstGeom>
          <a:noFill/>
        </p:spPr>
        <p:txBody>
          <a:bodyPr wrap="none" lIns="0" rIns="0" tIns="0" bIns="0" anchor="ctr">
            <a:spAutoFit/>
          </a:bodyPr>
          <a:lstStyle/>
          <a:p>
            <a:pPr algn="ctr"/>
            <a:r>
              <a:rPr sz="1100" b="1">
                <a:solidFill>
                  <a:srgbClr val="FFFFFF"/>
                </a:solidFill>
                <a:latin typeface="Calibri"/>
              </a:rPr>
              <a:t>2</a:t>
            </a:r>
          </a:p>
        </p:txBody>
      </p:sp>
      <p:sp>
        <p:nvSpPr>
          <p:cNvPr id="43" name="TextBox 42"/>
          <p:cNvSpPr txBox="1"/>
          <p:nvPr/>
        </p:nvSpPr>
        <p:spPr>
          <a:xfrm>
            <a:off x="5384800" y="26479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Matchaful</a:t>
            </a:r>
          </a:p>
        </p:txBody>
      </p:sp>
      <p:cxnSp>
        <p:nvCxnSpPr>
          <p:cNvPr id="44" name="Connector 43"/>
          <p:cNvCxnSpPr/>
          <p:nvPr/>
        </p:nvCxnSpPr>
        <p:spPr>
          <a:xfrm>
            <a:off x="8569325" y="24193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45" name="TextBox 44"/>
          <p:cNvSpPr txBox="1"/>
          <p:nvPr/>
        </p:nvSpPr>
        <p:spPr>
          <a:xfrm>
            <a:off x="190500" y="3467100"/>
            <a:ext cx="1381125" cy="171450"/>
          </a:xfrm>
          <a:prstGeom prst="rect">
            <a:avLst/>
          </a:prstGeom>
          <a:noFill/>
        </p:spPr>
        <p:txBody>
          <a:bodyPr wrap="square" lIns="28575" rIns="28575" tIns="9525" bIns="9525" anchor="t">
            <a:spAutoFit/>
          </a:bodyPr>
          <a:lstStyle/>
          <a:p>
            <a:pPr algn="l"/>
            <a:r>
              <a:rPr sz="1100" b="1">
                <a:solidFill>
                  <a:srgbClr val="0F2D52"/>
                </a:solidFill>
                <a:latin typeface="Calibri"/>
              </a:rPr>
              <a:t>Local or niche (4)</a:t>
            </a:r>
          </a:p>
        </p:txBody>
      </p:sp>
      <p:sp>
        <p:nvSpPr>
          <p:cNvPr id="46" name="TextBox 45"/>
          <p:cNvSpPr txBox="1"/>
          <p:nvPr/>
        </p:nvSpPr>
        <p:spPr>
          <a:xfrm>
            <a:off x="190500" y="3638550"/>
            <a:ext cx="1333500" cy="3810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One market or one specialist use</a:t>
            </a:r>
          </a:p>
        </p:txBody>
      </p:sp>
      <p:cxnSp>
        <p:nvCxnSpPr>
          <p:cNvPr id="47" name="Connector 46"/>
          <p:cNvCxnSpPr/>
          <p:nvPr/>
        </p:nvCxnSpPr>
        <p:spPr>
          <a:xfrm>
            <a:off x="190500" y="3429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cxnSp>
        <p:nvCxnSpPr>
          <p:cNvPr id="48" name="Connector 47"/>
          <p:cNvCxnSpPr/>
          <p:nvPr/>
        </p:nvCxnSpPr>
        <p:spPr>
          <a:xfrm>
            <a:off x="1647825" y="3448050"/>
            <a:ext cx="0" cy="971550"/>
          </a:xfrm>
          <a:prstGeom prst="line">
            <a:avLst/>
          </a:prstGeom>
          <a:ln w="31750">
            <a:solidFill>
              <a:srgbClr val="1F6FA8"/>
            </a:solidFill>
          </a:ln>
          <a:effectLst/>
        </p:spPr>
        <p:style>
          <a:lnRef idx="2">
            <a:schemeClr val="accent1"/>
          </a:lnRef>
          <a:fillRef idx="0">
            <a:schemeClr val="accent1"/>
          </a:fillRef>
          <a:effectRef idx="1">
            <a:schemeClr val="accent1"/>
          </a:effectRef>
          <a:fontRef idx="minor">
            <a:schemeClr val="tx1"/>
          </a:fontRef>
        </p:style>
      </p:cxnSp>
      <p:cxnSp>
        <p:nvCxnSpPr>
          <p:cNvPr id="49" name="Connector 48"/>
          <p:cNvCxnSpPr/>
          <p:nvPr/>
        </p:nvCxnSpPr>
        <p:spPr>
          <a:xfrm>
            <a:off x="5108575" y="3448050"/>
            <a:ext cx="0" cy="971550"/>
          </a:xfrm>
          <a:prstGeom prst="line">
            <a:avLst/>
          </a:prstGeom>
          <a:ln w="31750">
            <a:solidFill>
              <a:srgbClr val="E07B24"/>
            </a:solidFill>
          </a:ln>
          <a:effectLst/>
        </p:spPr>
        <p:style>
          <a:lnRef idx="2">
            <a:schemeClr val="accent1"/>
          </a:lnRef>
          <a:fillRef idx="0">
            <a:schemeClr val="accent1"/>
          </a:fillRef>
          <a:effectRef idx="1">
            <a:schemeClr val="accent1"/>
          </a:effectRef>
          <a:fontRef idx="minor">
            <a:schemeClr val="tx1"/>
          </a:fontRef>
        </p:style>
      </p:cxnSp>
      <p:cxnSp>
        <p:nvCxnSpPr>
          <p:cNvPr id="50" name="Connector 49"/>
          <p:cNvCxnSpPr/>
          <p:nvPr/>
        </p:nvCxnSpPr>
        <p:spPr>
          <a:xfrm>
            <a:off x="8569325" y="3448050"/>
            <a:ext cx="0" cy="971550"/>
          </a:xfrm>
          <a:prstGeom prst="line">
            <a:avLst/>
          </a:prstGeom>
          <a:ln w="31750">
            <a:solidFill>
              <a:srgbClr val="2E8B57"/>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8655050" y="3505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8655050" y="3495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3" name="TextBox 52"/>
          <p:cNvSpPr txBox="1"/>
          <p:nvPr/>
        </p:nvSpPr>
        <p:spPr>
          <a:xfrm>
            <a:off x="8845550" y="3486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Kettl</a:t>
            </a:r>
          </a:p>
        </p:txBody>
      </p:sp>
      <p:sp>
        <p:nvSpPr>
          <p:cNvPr id="54" name="Rectangle 53"/>
          <p:cNvSpPr/>
          <p:nvPr/>
        </p:nvSpPr>
        <p:spPr>
          <a:xfrm>
            <a:off x="8655050" y="3695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55050" y="3686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6" name="TextBox 55"/>
          <p:cNvSpPr txBox="1"/>
          <p:nvPr/>
        </p:nvSpPr>
        <p:spPr>
          <a:xfrm>
            <a:off x="8845550" y="3676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Harney and Sons</a:t>
            </a:r>
          </a:p>
        </p:txBody>
      </p:sp>
      <p:sp>
        <p:nvSpPr>
          <p:cNvPr id="57" name="Rectangle 56"/>
          <p:cNvSpPr/>
          <p:nvPr/>
        </p:nvSpPr>
        <p:spPr>
          <a:xfrm>
            <a:off x="8655050" y="38862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8655050" y="38766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59" name="TextBox 58"/>
          <p:cNvSpPr txBox="1"/>
          <p:nvPr/>
        </p:nvSpPr>
        <p:spPr>
          <a:xfrm>
            <a:off x="8845550" y="38671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Sencha Naturals</a:t>
            </a:r>
          </a:p>
        </p:txBody>
      </p:sp>
      <p:sp>
        <p:nvSpPr>
          <p:cNvPr id="60" name="Rectangle 59"/>
          <p:cNvSpPr/>
          <p:nvPr/>
        </p:nvSpPr>
        <p:spPr>
          <a:xfrm>
            <a:off x="8655050" y="4076700"/>
            <a:ext cx="142875" cy="14287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8655050" y="4067175"/>
            <a:ext cx="142875" cy="161925"/>
          </a:xfrm>
          <a:prstGeom prst="rect">
            <a:avLst/>
          </a:prstGeom>
          <a:noFill/>
        </p:spPr>
        <p:txBody>
          <a:bodyPr wrap="none" lIns="0" rIns="0" tIns="0" bIns="0" anchor="ctr">
            <a:spAutoFit/>
          </a:bodyPr>
          <a:lstStyle/>
          <a:p>
            <a:pPr algn="ctr"/>
            <a:r>
              <a:rPr sz="1100" b="1">
                <a:solidFill>
                  <a:srgbClr val="0F2D52"/>
                </a:solidFill>
                <a:latin typeface="Calibri"/>
              </a:rPr>
              <a:t>3</a:t>
            </a:r>
          </a:p>
        </p:txBody>
      </p:sp>
      <p:sp>
        <p:nvSpPr>
          <p:cNvPr id="62" name="TextBox 61"/>
          <p:cNvSpPr txBox="1"/>
          <p:nvPr/>
        </p:nvSpPr>
        <p:spPr>
          <a:xfrm>
            <a:off x="8845550" y="4057650"/>
            <a:ext cx="3079750" cy="171450"/>
          </a:xfrm>
          <a:prstGeom prst="rect">
            <a:avLst/>
          </a:prstGeom>
          <a:noFill/>
        </p:spPr>
        <p:txBody>
          <a:bodyPr wrap="square" lIns="28575" rIns="28575" tIns="9525" bIns="9525" anchor="t">
            <a:spAutoFit/>
          </a:bodyPr>
          <a:lstStyle/>
          <a:p>
            <a:pPr algn="l"/>
            <a:r>
              <a:rPr sz="1100" b="0">
                <a:solidFill>
                  <a:srgbClr val="1F2933"/>
                </a:solidFill>
                <a:latin typeface="Calibri"/>
              </a:rPr>
              <a:t>Aoi Matcha</a:t>
            </a:r>
          </a:p>
        </p:txBody>
      </p:sp>
      <p:sp>
        <p:nvSpPr>
          <p:cNvPr id="63" name="Rectangle 62"/>
          <p:cNvSpPr/>
          <p:nvPr/>
        </p:nvSpPr>
        <p:spPr>
          <a:xfrm>
            <a:off x="190500" y="4524375"/>
            <a:ext cx="123825" cy="12382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619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1</a:t>
            </a:r>
          </a:p>
        </p:txBody>
      </p:sp>
      <p:sp>
        <p:nvSpPr>
          <p:cNvPr id="65" name="TextBox 64"/>
          <p:cNvSpPr txBox="1"/>
          <p:nvPr/>
        </p:nvSpPr>
        <p:spPr>
          <a:xfrm>
            <a:off x="8191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66" name="TextBox 65"/>
          <p:cNvSpPr txBox="1"/>
          <p:nvPr/>
        </p:nvSpPr>
        <p:spPr>
          <a:xfrm>
            <a:off x="14478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67" name="Rectangle 66"/>
          <p:cNvSpPr/>
          <p:nvPr/>
        </p:nvSpPr>
        <p:spPr>
          <a:xfrm>
            <a:off x="2952750" y="4524375"/>
            <a:ext cx="123825" cy="123825"/>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312420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2</a:t>
            </a:r>
          </a:p>
        </p:txBody>
      </p:sp>
      <p:sp>
        <p:nvSpPr>
          <p:cNvPr id="69" name="TextBox 68"/>
          <p:cNvSpPr txBox="1"/>
          <p:nvPr/>
        </p:nvSpPr>
        <p:spPr>
          <a:xfrm>
            <a:off x="358140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0" name="TextBox 69"/>
          <p:cNvSpPr txBox="1"/>
          <p:nvPr/>
        </p:nvSpPr>
        <p:spPr>
          <a:xfrm>
            <a:off x="421005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1" name="Rectangle 70"/>
          <p:cNvSpPr/>
          <p:nvPr/>
        </p:nvSpPr>
        <p:spPr>
          <a:xfrm>
            <a:off x="5715000" y="4524375"/>
            <a:ext cx="123825" cy="123825"/>
          </a:xfrm>
          <a:prstGeom prst="rect">
            <a:avLst/>
          </a:prstGeom>
          <a:solidFill>
            <a:srgbClr val="A9C6E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5886450" y="4476750"/>
            <a:ext cx="476250" cy="209550"/>
          </a:xfrm>
          <a:prstGeom prst="rect">
            <a:avLst/>
          </a:prstGeom>
          <a:noFill/>
        </p:spPr>
        <p:txBody>
          <a:bodyPr wrap="square" lIns="28575" rIns="28575" tIns="9525" bIns="9525" anchor="ctr">
            <a:spAutoFit/>
          </a:bodyPr>
          <a:lstStyle/>
          <a:p>
            <a:pPr algn="l"/>
            <a:r>
              <a:rPr sz="1100" b="0">
                <a:solidFill>
                  <a:srgbClr val="1F2933"/>
                </a:solidFill>
                <a:latin typeface="Calibri"/>
              </a:rPr>
              <a:t>Tier 3</a:t>
            </a:r>
          </a:p>
        </p:txBody>
      </p:sp>
      <p:sp>
        <p:nvSpPr>
          <p:cNvPr id="73" name="TextBox 72"/>
          <p:cNvSpPr txBox="1"/>
          <p:nvPr/>
        </p:nvSpPr>
        <p:spPr>
          <a:xfrm>
            <a:off x="6343650" y="4476750"/>
            <a:ext cx="609600" cy="209550"/>
          </a:xfrm>
          <a:prstGeom prst="rect">
            <a:avLst/>
          </a:prstGeom>
          <a:noFill/>
        </p:spPr>
        <p:txBody>
          <a:bodyPr wrap="square" lIns="28575" rIns="28575" tIns="9525" bIns="9525" anchor="ctr">
            <a:spAutoFit/>
          </a:bodyPr>
          <a:lstStyle/>
          <a:p>
            <a:pPr algn="l"/>
            <a:r>
              <a:rPr sz="1100" b="1">
                <a:solidFill>
                  <a:srgbClr val="1F2933"/>
                </a:solidFill>
                <a:latin typeface="Calibri"/>
              </a:rPr>
              <a:t> </a:t>
            </a:r>
          </a:p>
        </p:txBody>
      </p:sp>
      <p:sp>
        <p:nvSpPr>
          <p:cNvPr id="74" name="TextBox 73"/>
          <p:cNvSpPr txBox="1"/>
          <p:nvPr/>
        </p:nvSpPr>
        <p:spPr>
          <a:xfrm>
            <a:off x="6972300" y="4476750"/>
            <a:ext cx="1238250" cy="209550"/>
          </a:xfrm>
          <a:prstGeom prst="rect">
            <a:avLst/>
          </a:prstGeom>
          <a:noFill/>
        </p:spPr>
        <p:txBody>
          <a:bodyPr wrap="square" lIns="28575" rIns="28575" tIns="9525" bIns="9525" anchor="ctr">
            <a:spAutoFit/>
          </a:bodyPr>
          <a:lstStyle/>
          <a:p>
            <a:pPr algn="l"/>
            <a:r>
              <a:rPr sz="1100" b="0">
                <a:solidFill>
                  <a:srgbClr val="1F2933"/>
                </a:solidFill>
                <a:latin typeface="Calibri"/>
              </a:rPr>
              <a:t>combined share</a:t>
            </a:r>
          </a:p>
        </p:txBody>
      </p:sp>
      <p:sp>
        <p:nvSpPr>
          <p:cNvPr id="75" name="TextBox 74"/>
          <p:cNvSpPr txBox="1"/>
          <p:nvPr/>
        </p:nvSpPr>
        <p:spPr>
          <a:xfrm>
            <a:off x="190500" y="4705350"/>
            <a:ext cx="11811000" cy="171450"/>
          </a:xfrm>
          <a:prstGeom prst="rect">
            <a:avLst/>
          </a:prstGeom>
          <a:noFill/>
        </p:spPr>
        <p:txBody>
          <a:bodyPr wrap="square" lIns="28575" rIns="28575" tIns="9525" bIns="9525" anchor="t">
            <a:spAutoFit/>
          </a:bodyPr>
          <a:lstStyle/>
          <a:p>
            <a:pPr algn="l"/>
            <a:r>
              <a:rPr sz="1100" b="0">
                <a:solidFill>
                  <a:srgbClr val="1F2933"/>
                </a:solidFill>
                <a:latin typeface="Calibri"/>
              </a:rPr>
              <a:t>BY TYPE   Tier 1 4   |   Tier 2 2   |   Tier 3 4      BY REACH   Global 4   |   Regional 2   |   Local or niche 4</a:t>
            </a:r>
          </a:p>
        </p:txBody>
      </p:sp>
      <p:sp>
        <p:nvSpPr>
          <p:cNvPr id="76" name="Rectangle 75"/>
          <p:cNvSpPr/>
          <p:nvPr/>
        </p:nvSpPr>
        <p:spPr>
          <a:xfrm>
            <a:off x="190500" y="4972050"/>
            <a:ext cx="2809875" cy="38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19050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78" name="TextBox 77"/>
          <p:cNvSpPr txBox="1"/>
          <p:nvPr/>
        </p:nvSpPr>
        <p:spPr>
          <a:xfrm>
            <a:off x="19050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79" name="TextBox 78"/>
          <p:cNvSpPr txBox="1"/>
          <p:nvPr/>
        </p:nvSpPr>
        <p:spPr>
          <a:xfrm>
            <a:off x="19050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Direct + key accounts; premium / bundled positioning.</a:t>
            </a:r>
          </a:p>
        </p:txBody>
      </p:sp>
      <p:sp>
        <p:nvSpPr>
          <p:cNvPr id="80" name="TextBox 79"/>
          <p:cNvSpPr txBox="1"/>
          <p:nvPr/>
        </p:nvSpPr>
        <p:spPr>
          <a:xfrm>
            <a:off x="19050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1" name="TextBox 80"/>
          <p:cNvSpPr txBox="1"/>
          <p:nvPr/>
        </p:nvSpPr>
        <p:spPr>
          <a:xfrm>
            <a:off x="19050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2" name="Rectangle 81"/>
          <p:cNvSpPr/>
          <p:nvPr/>
        </p:nvSpPr>
        <p:spPr>
          <a:xfrm>
            <a:off x="3190875" y="4972050"/>
            <a:ext cx="2809875" cy="38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3190875"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84" name="TextBox 83"/>
          <p:cNvSpPr txBox="1"/>
          <p:nvPr/>
        </p:nvSpPr>
        <p:spPr>
          <a:xfrm>
            <a:off x="3190875"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85" name="TextBox 84"/>
          <p:cNvSpPr txBox="1"/>
          <p:nvPr/>
        </p:nvSpPr>
        <p:spPr>
          <a:xfrm>
            <a:off x="3190875"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Distributors; mid / value-added positioning.</a:t>
            </a:r>
          </a:p>
        </p:txBody>
      </p:sp>
      <p:sp>
        <p:nvSpPr>
          <p:cNvPr id="86" name="TextBox 85"/>
          <p:cNvSpPr txBox="1"/>
          <p:nvPr/>
        </p:nvSpPr>
        <p:spPr>
          <a:xfrm>
            <a:off x="3190875"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87" name="TextBox 86"/>
          <p:cNvSpPr txBox="1"/>
          <p:nvPr/>
        </p:nvSpPr>
        <p:spPr>
          <a:xfrm>
            <a:off x="3190875"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88" name="Rectangle 87"/>
          <p:cNvSpPr/>
          <p:nvPr/>
        </p:nvSpPr>
        <p:spPr>
          <a:xfrm>
            <a:off x="6191250" y="4972050"/>
            <a:ext cx="2809875" cy="38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6191250" y="5048250"/>
            <a:ext cx="2809875"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90" name="TextBox 89"/>
          <p:cNvSpPr txBox="1"/>
          <p:nvPr/>
        </p:nvSpPr>
        <p:spPr>
          <a:xfrm>
            <a:off x="6191250" y="52197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HOW IT EARNS</a:t>
            </a:r>
          </a:p>
        </p:txBody>
      </p:sp>
      <p:sp>
        <p:nvSpPr>
          <p:cNvPr id="91" name="TextBox 90"/>
          <p:cNvSpPr txBox="1"/>
          <p:nvPr/>
        </p:nvSpPr>
        <p:spPr>
          <a:xfrm>
            <a:off x="6191250" y="53721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Regional partners; value / entry positioning.</a:t>
            </a:r>
          </a:p>
        </p:txBody>
      </p:sp>
      <p:sp>
        <p:nvSpPr>
          <p:cNvPr id="92" name="TextBox 91"/>
          <p:cNvSpPr txBox="1"/>
          <p:nvPr/>
        </p:nvSpPr>
        <p:spPr>
          <a:xfrm>
            <a:off x="6191250" y="5715000"/>
            <a:ext cx="2809875" cy="152400"/>
          </a:xfrm>
          <a:prstGeom prst="rect">
            <a:avLst/>
          </a:prstGeom>
          <a:noFill/>
        </p:spPr>
        <p:txBody>
          <a:bodyPr wrap="square" lIns="28575" rIns="28575" tIns="9525" bIns="9525" anchor="t">
            <a:spAutoFit/>
          </a:bodyPr>
          <a:lstStyle/>
          <a:p>
            <a:pPr algn="l"/>
            <a:r>
              <a:rPr sz="1100" b="1">
                <a:solidFill>
                  <a:srgbClr val="0F2D52"/>
                </a:solidFill>
                <a:latin typeface="Calibri"/>
              </a:rPr>
              <a:t>DOMINANT STRATEGY</a:t>
            </a:r>
          </a:p>
        </p:txBody>
      </p:sp>
      <p:sp>
        <p:nvSpPr>
          <p:cNvPr id="93" name="TextBox 92"/>
          <p:cNvSpPr txBox="1"/>
          <p:nvPr/>
        </p:nvSpPr>
        <p:spPr>
          <a:xfrm>
            <a:off x="6191250" y="5867400"/>
            <a:ext cx="2809875"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
            </a:r>
          </a:p>
        </p:txBody>
      </p:sp>
      <p:sp>
        <p:nvSpPr>
          <p:cNvPr id="94" name="TextBox 93"/>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95" name="Picture 94" descr="lock.png"/>
          <p:cNvPicPr>
            <a:picLocks noChangeAspect="1"/>
          </p:cNvPicPr>
          <p:nvPr/>
        </p:nvPicPr>
        <p:blipFill>
          <a:blip r:embed="rId4"/>
          <a:stretch>
            <a:fillRect/>
          </a:stretch>
        </p:blipFill>
        <p:spPr>
          <a:xfrm>
            <a:off x="1059600" y="4487926"/>
            <a:ext cx="128699" cy="187198"/>
          </a:xfrm>
          <a:prstGeom prst="rect">
            <a:avLst/>
          </a:prstGeom>
        </p:spPr>
      </p:pic>
      <p:pic>
        <p:nvPicPr>
          <p:cNvPr id="96" name="Picture 95" descr="lock.png"/>
          <p:cNvPicPr>
            <a:picLocks noChangeAspect="1"/>
          </p:cNvPicPr>
          <p:nvPr/>
        </p:nvPicPr>
        <p:blipFill>
          <a:blip r:embed="rId4"/>
          <a:stretch>
            <a:fillRect/>
          </a:stretch>
        </p:blipFill>
        <p:spPr>
          <a:xfrm>
            <a:off x="3821850" y="4487926"/>
            <a:ext cx="128699" cy="187198"/>
          </a:xfrm>
          <a:prstGeom prst="rect">
            <a:avLst/>
          </a:prstGeom>
        </p:spPr>
      </p:pic>
      <p:pic>
        <p:nvPicPr>
          <p:cNvPr id="97" name="Picture 96" descr="lock.png"/>
          <p:cNvPicPr>
            <a:picLocks noChangeAspect="1"/>
          </p:cNvPicPr>
          <p:nvPr/>
        </p:nvPicPr>
        <p:blipFill>
          <a:blip r:embed="rId4"/>
          <a:stretch>
            <a:fillRect/>
          </a:stretch>
        </p:blipFill>
        <p:spPr>
          <a:xfrm>
            <a:off x="6584100" y="4487926"/>
            <a:ext cx="128699" cy="187198"/>
          </a:xfrm>
          <a:prstGeom prst="rect">
            <a:avLst/>
          </a:prstGeom>
        </p:spPr>
      </p:pic>
      <p:sp>
        <p:nvSpPr>
          <p:cNvPr id="98" name="TextBox 97"/>
          <p:cNvSpPr txBox="1"/>
          <p:nvPr/>
        </p:nvSpPr>
        <p:spPr>
          <a:xfrm>
            <a:off x="219075"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99" name="Picture 98" descr="lock.png"/>
          <p:cNvPicPr>
            <a:picLocks noChangeAspect="1"/>
          </p:cNvPicPr>
          <p:nvPr/>
        </p:nvPicPr>
        <p:blipFill>
          <a:blip r:embed="rId4"/>
          <a:stretch>
            <a:fillRect/>
          </a:stretch>
        </p:blipFill>
        <p:spPr>
          <a:xfrm>
            <a:off x="959834" y="5867145"/>
            <a:ext cx="128699" cy="187198"/>
          </a:xfrm>
          <a:prstGeom prst="rect">
            <a:avLst/>
          </a:prstGeom>
        </p:spPr>
      </p:pic>
      <p:sp>
        <p:nvSpPr>
          <p:cNvPr id="100" name="TextBox 99"/>
          <p:cNvSpPr txBox="1"/>
          <p:nvPr/>
        </p:nvSpPr>
        <p:spPr>
          <a:xfrm>
            <a:off x="1127330"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1" name="TextBox 100"/>
          <p:cNvSpPr txBox="1"/>
          <p:nvPr/>
        </p:nvSpPr>
        <p:spPr>
          <a:xfrm>
            <a:off x="3219450"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102" name="Picture 101" descr="lock.png"/>
          <p:cNvPicPr>
            <a:picLocks noChangeAspect="1"/>
          </p:cNvPicPr>
          <p:nvPr/>
        </p:nvPicPr>
        <p:blipFill>
          <a:blip r:embed="rId4"/>
          <a:stretch>
            <a:fillRect/>
          </a:stretch>
        </p:blipFill>
        <p:spPr>
          <a:xfrm>
            <a:off x="3960209" y="5867145"/>
            <a:ext cx="128699" cy="187198"/>
          </a:xfrm>
          <a:prstGeom prst="rect">
            <a:avLst/>
          </a:prstGeom>
        </p:spPr>
      </p:pic>
      <p:sp>
        <p:nvSpPr>
          <p:cNvPr id="103" name="TextBox 102"/>
          <p:cNvSpPr txBox="1"/>
          <p:nvPr/>
        </p:nvSpPr>
        <p:spPr>
          <a:xfrm>
            <a:off x="4127705"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
        <p:nvSpPr>
          <p:cNvPr id="104" name="TextBox 103"/>
          <p:cNvSpPr txBox="1"/>
          <p:nvPr/>
        </p:nvSpPr>
        <p:spPr>
          <a:xfrm>
            <a:off x="6219825" y="5876925"/>
            <a:ext cx="792708" cy="186689"/>
          </a:xfrm>
          <a:prstGeom prst="rect">
            <a:avLst/>
          </a:prstGeom>
          <a:noFill/>
        </p:spPr>
        <p:txBody>
          <a:bodyPr wrap="none" lIns="0" rIns="0" tIns="0" bIns="0">
            <a:spAutoFit/>
          </a:bodyPr>
          <a:lstStyle/>
          <a:p>
            <a:r>
              <a:rPr sz="1100" b="0">
                <a:solidFill>
                  <a:srgbClr val="1F2933"/>
                </a:solidFill>
                <a:latin typeface="Calibri"/>
              </a:rPr>
              <a:t>Buy to scale;</a:t>
            </a:r>
          </a:p>
        </p:txBody>
      </p:sp>
      <p:pic>
        <p:nvPicPr>
          <p:cNvPr id="105" name="Picture 104" descr="lock.png"/>
          <p:cNvPicPr>
            <a:picLocks noChangeAspect="1"/>
          </p:cNvPicPr>
          <p:nvPr/>
        </p:nvPicPr>
        <p:blipFill>
          <a:blip r:embed="rId4"/>
          <a:stretch>
            <a:fillRect/>
          </a:stretch>
        </p:blipFill>
        <p:spPr>
          <a:xfrm>
            <a:off x="6960584" y="5867145"/>
            <a:ext cx="128699" cy="187198"/>
          </a:xfrm>
          <a:prstGeom prst="rect">
            <a:avLst/>
          </a:prstGeom>
        </p:spPr>
      </p:pic>
      <p:sp>
        <p:nvSpPr>
          <p:cNvPr id="106" name="TextBox 105"/>
          <p:cNvSpPr txBox="1"/>
          <p:nvPr/>
        </p:nvSpPr>
        <p:spPr>
          <a:xfrm>
            <a:off x="7128080" y="5876925"/>
            <a:ext cx="1022722" cy="186689"/>
          </a:xfrm>
          <a:prstGeom prst="rect">
            <a:avLst/>
          </a:prstGeom>
          <a:noFill/>
        </p:spPr>
        <p:txBody>
          <a:bodyPr wrap="none" lIns="0" rIns="0" tIns="0" bIns="0">
            <a:spAutoFit/>
          </a:bodyPr>
          <a:lstStyle/>
          <a:p>
            <a:r>
              <a:rPr sz="1100" b="0">
                <a:solidFill>
                  <a:srgbClr val="1F2933"/>
                </a:solidFill>
                <a:latin typeface="Calibri"/>
              </a:rPr>
              <a:t>combined share.</a:t>
            </a:r>
          </a:p>
        </p:txBody>
      </p:sp>
    </p:spTree>
  </p:cSld>
  <p:clrMapOvr>
    <a:masterClrMapping/>
  </p:clrMapOvr>
</p:sld>
</file>

<file path=ppt/slides/slide296.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Corporate Scorecard: Who They Are</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Eight corporate Ps for every named competitor: ownership, strategy, breadth, presence, scale and performance</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1, CORPORATE: WHO THEY ARE</a:t>
            </a:r>
          </a:p>
        </p:txBody>
      </p:sp>
      <p:sp>
        <p:nvSpPr>
          <p:cNvPr id="12" name="TextBox 11"/>
          <p:cNvSpPr txBox="1"/>
          <p:nvPr/>
        </p:nvSpPr>
        <p:spPr>
          <a:xfrm>
            <a:off x="2038350" y="1295400"/>
            <a:ext cx="230505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Parent and ownership</a:t>
            </a:r>
          </a:p>
        </p:txBody>
      </p:sp>
      <p:sp>
        <p:nvSpPr>
          <p:cNvPr id="13" name="TextBox 12"/>
          <p:cNvSpPr txBox="1"/>
          <p:nvPr/>
        </p:nvSpPr>
        <p:spPr>
          <a:xfrm>
            <a:off x="2038350" y="1657350"/>
            <a:ext cx="230505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From the company roster</a:t>
            </a:r>
          </a:p>
        </p:txBody>
      </p:sp>
      <p:sp>
        <p:nvSpPr>
          <p:cNvPr id="14" name="TextBox 13"/>
          <p:cNvSpPr txBox="1"/>
          <p:nvPr/>
        </p:nvSpPr>
        <p:spPr>
          <a:xfrm>
            <a:off x="4419600" y="1295400"/>
            <a:ext cx="1193800"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Purpose (strategy)</a:t>
            </a:r>
          </a:p>
        </p:txBody>
      </p:sp>
      <p:sp>
        <p:nvSpPr>
          <p:cNvPr id="15" name="TextBox 14"/>
          <p:cNvSpPr txBox="1"/>
          <p:nvPr/>
        </p:nvSpPr>
        <p:spPr>
          <a:xfrm>
            <a:off x="4419600" y="1657350"/>
            <a:ext cx="1193800"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Dominant active move</a:t>
            </a:r>
          </a:p>
        </p:txBody>
      </p:sp>
      <p:sp>
        <p:nvSpPr>
          <p:cNvPr id="16" name="TextBox 15"/>
          <p:cNvSpPr txBox="1"/>
          <p:nvPr/>
        </p:nvSpPr>
        <p:spPr>
          <a:xfrm>
            <a:off x="5689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Portfolio breadth</a:t>
            </a:r>
          </a:p>
        </p:txBody>
      </p:sp>
      <p:sp>
        <p:nvSpPr>
          <p:cNvPr id="17" name="TextBox 16"/>
          <p:cNvSpPr txBox="1"/>
          <p:nvPr/>
        </p:nvSpPr>
        <p:spPr>
          <a:xfrm>
            <a:off x="5689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Sub-segments: 6+ 3, 4+ 2, 2+ 1</a:t>
            </a:r>
          </a:p>
        </p:txBody>
      </p:sp>
      <p:sp>
        <p:nvSpPr>
          <p:cNvPr id="18" name="TextBox 17"/>
          <p:cNvSpPr txBox="1"/>
          <p:nvPr/>
        </p:nvSpPr>
        <p:spPr>
          <a:xfrm>
            <a:off x="6747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Presence</a:t>
            </a:r>
          </a:p>
        </p:txBody>
      </p:sp>
      <p:sp>
        <p:nvSpPr>
          <p:cNvPr id="19" name="TextBox 18"/>
          <p:cNvSpPr txBox="1"/>
          <p:nvPr/>
        </p:nvSpPr>
        <p:spPr>
          <a:xfrm>
            <a:off x="6747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3, regional 2, local 1</a:t>
            </a:r>
          </a:p>
        </p:txBody>
      </p:sp>
      <p:sp>
        <p:nvSpPr>
          <p:cNvPr id="20" name="TextBox 19"/>
          <p:cNvSpPr txBox="1"/>
          <p:nvPr/>
        </p:nvSpPr>
        <p:spPr>
          <a:xfrm>
            <a:off x="7806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Power (scale)</a:t>
            </a:r>
          </a:p>
        </p:txBody>
      </p:sp>
      <p:sp>
        <p:nvSpPr>
          <p:cNvPr id="21" name="TextBox 20"/>
          <p:cNvSpPr txBox="1"/>
          <p:nvPr/>
        </p:nvSpPr>
        <p:spPr>
          <a:xfrm>
            <a:off x="7806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1 = 3, 2 = 2, 3 = 1</a:t>
            </a:r>
          </a:p>
        </p:txBody>
      </p:sp>
      <p:sp>
        <p:nvSpPr>
          <p:cNvPr id="22" name="TextBox 21"/>
          <p:cNvSpPr txBox="1"/>
          <p:nvPr/>
        </p:nvSpPr>
        <p:spPr>
          <a:xfrm>
            <a:off x="8864600"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Performance</a:t>
            </a:r>
          </a:p>
        </p:txBody>
      </p:sp>
      <p:sp>
        <p:nvSpPr>
          <p:cNvPr id="23" name="TextBox 22"/>
          <p:cNvSpPr txBox="1"/>
          <p:nvPr/>
        </p:nvSpPr>
        <p:spPr>
          <a:xfrm>
            <a:off x="8864600"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
            </a:r>
          </a:p>
        </p:txBody>
      </p:sp>
      <p:sp>
        <p:nvSpPr>
          <p:cNvPr id="24" name="TextBox 23"/>
          <p:cNvSpPr txBox="1"/>
          <p:nvPr/>
        </p:nvSpPr>
        <p:spPr>
          <a:xfrm>
            <a:off x="9922933"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People</a:t>
            </a:r>
          </a:p>
        </p:txBody>
      </p:sp>
      <p:sp>
        <p:nvSpPr>
          <p:cNvPr id="25" name="TextBox 24"/>
          <p:cNvSpPr txBox="1"/>
          <p:nvPr/>
        </p:nvSpPr>
        <p:spPr>
          <a:xfrm>
            <a:off x="9922933"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Talent; not assessed</a:t>
            </a:r>
          </a:p>
        </p:txBody>
      </p:sp>
      <p:sp>
        <p:nvSpPr>
          <p:cNvPr id="26" name="TextBox 25"/>
          <p:cNvSpPr txBox="1"/>
          <p:nvPr/>
        </p:nvSpPr>
        <p:spPr>
          <a:xfrm>
            <a:off x="10981267" y="1295400"/>
            <a:ext cx="982133"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Partnerships</a:t>
            </a:r>
          </a:p>
        </p:txBody>
      </p:sp>
      <p:sp>
        <p:nvSpPr>
          <p:cNvPr id="27" name="TextBox 26"/>
          <p:cNvSpPr txBox="1"/>
          <p:nvPr/>
        </p:nvSpPr>
        <p:spPr>
          <a:xfrm>
            <a:off x="10981267" y="1657350"/>
            <a:ext cx="982133"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alliances</a:t>
            </a:r>
          </a:p>
        </p:txBody>
      </p:sp>
      <p:cxnSp>
        <p:nvCxnSpPr>
          <p:cNvPr id="28" name="Connector 27"/>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TextBox 29"/>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Jade Leaf Matcha</a:t>
            </a:r>
          </a:p>
        </p:txBody>
      </p:sp>
      <p:sp>
        <p:nvSpPr>
          <p:cNvPr id="31" name="TextBox 30"/>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2" name="TextBox 31"/>
          <p:cNvSpPr txBox="1"/>
          <p:nvPr/>
        </p:nvSpPr>
        <p:spPr>
          <a:xfrm>
            <a:off x="2000250" y="22288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TextBox 32"/>
          <p:cNvSpPr txBox="1"/>
          <p:nvPr/>
        </p:nvSpPr>
        <p:spPr>
          <a:xfrm>
            <a:off x="4419600" y="22288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34" name="Oval 33"/>
          <p:cNvSpPr/>
          <p:nvPr/>
        </p:nvSpPr>
        <p:spPr>
          <a:xfrm>
            <a:off x="6104467"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Freeform 34"/>
          <p:cNvSpPr/>
          <p:nvPr/>
        </p:nvSpPr>
        <p:spPr>
          <a:xfrm>
            <a:off x="6181725" y="23241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Oval 35"/>
          <p:cNvSpPr/>
          <p:nvPr/>
        </p:nvSpPr>
        <p:spPr>
          <a:xfrm>
            <a:off x="7162800"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Oval 36"/>
          <p:cNvSpPr/>
          <p:nvPr/>
        </p:nvSpPr>
        <p:spPr>
          <a:xfrm>
            <a:off x="8221133"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Oval 37"/>
          <p:cNvSpPr/>
          <p:nvPr/>
        </p:nvSpPr>
        <p:spPr>
          <a:xfrm>
            <a:off x="9279467"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9" name="TextBox 38"/>
          <p:cNvSpPr txBox="1"/>
          <p:nvPr/>
        </p:nvSpPr>
        <p:spPr>
          <a:xfrm>
            <a:off x="9884833"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TextBox 39"/>
          <p:cNvSpPr txBox="1"/>
          <p:nvPr/>
        </p:nvSpPr>
        <p:spPr>
          <a:xfrm>
            <a:off x="10943167" y="22288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1" name="Connector 40"/>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2" name="Rectangle 41"/>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DoMatcha</a:t>
            </a:r>
          </a:p>
        </p:txBody>
      </p:sp>
      <p:sp>
        <p:nvSpPr>
          <p:cNvPr id="44" name="TextBox 43"/>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5" name="TextBox 44"/>
          <p:cNvSpPr txBox="1"/>
          <p:nvPr/>
        </p:nvSpPr>
        <p:spPr>
          <a:xfrm>
            <a:off x="2000250" y="25717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6" name="TextBox 45"/>
          <p:cNvSpPr txBox="1"/>
          <p:nvPr/>
        </p:nvSpPr>
        <p:spPr>
          <a:xfrm>
            <a:off x="4419600" y="25717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47" name="Oval 46"/>
          <p:cNvSpPr/>
          <p:nvPr/>
        </p:nvSpPr>
        <p:spPr>
          <a:xfrm>
            <a:off x="6104467"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Freeform 47"/>
          <p:cNvSpPr/>
          <p:nvPr/>
        </p:nvSpPr>
        <p:spPr>
          <a:xfrm>
            <a:off x="6181725" y="26670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Oval 48"/>
          <p:cNvSpPr/>
          <p:nvPr/>
        </p:nvSpPr>
        <p:spPr>
          <a:xfrm>
            <a:off x="7162800"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Oval 49"/>
          <p:cNvSpPr/>
          <p:nvPr/>
        </p:nvSpPr>
        <p:spPr>
          <a:xfrm>
            <a:off x="8221133"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Oval 50"/>
          <p:cNvSpPr/>
          <p:nvPr/>
        </p:nvSpPr>
        <p:spPr>
          <a:xfrm>
            <a:off x="9279467"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9884833"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TextBox 52"/>
          <p:cNvSpPr txBox="1"/>
          <p:nvPr/>
        </p:nvSpPr>
        <p:spPr>
          <a:xfrm>
            <a:off x="10943167" y="25717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4" name="Connector 5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Encha</a:t>
            </a:r>
          </a:p>
        </p:txBody>
      </p:sp>
      <p:sp>
        <p:nvSpPr>
          <p:cNvPr id="57" name="TextBox 5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00250" y="29146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9" name="TextBox 58"/>
          <p:cNvSpPr txBox="1"/>
          <p:nvPr/>
        </p:nvSpPr>
        <p:spPr>
          <a:xfrm>
            <a:off x="4419600" y="29146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60" name="Oval 59"/>
          <p:cNvSpPr/>
          <p:nvPr/>
        </p:nvSpPr>
        <p:spPr>
          <a:xfrm>
            <a:off x="6104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Freeform 60"/>
          <p:cNvSpPr/>
          <p:nvPr/>
        </p:nvSpPr>
        <p:spPr>
          <a:xfrm>
            <a:off x="6181725" y="30099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Oval 61"/>
          <p:cNvSpPr/>
          <p:nvPr/>
        </p:nvSpPr>
        <p:spPr>
          <a:xfrm>
            <a:off x="7162800"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Oval 62"/>
          <p:cNvSpPr/>
          <p:nvPr/>
        </p:nvSpPr>
        <p:spPr>
          <a:xfrm>
            <a:off x="8221133"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9279467"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Freeform 64"/>
          <p:cNvSpPr/>
          <p:nvPr/>
        </p:nvSpPr>
        <p:spPr>
          <a:xfrm>
            <a:off x="9353550"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9884833"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7" name="TextBox 66"/>
          <p:cNvSpPr txBox="1"/>
          <p:nvPr/>
        </p:nvSpPr>
        <p:spPr>
          <a:xfrm>
            <a:off x="10943167" y="29146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8" name="Connector 6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9" name="Rectangle 6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Rishi Tea and Botanicals</a:t>
            </a:r>
          </a:p>
        </p:txBody>
      </p:sp>
      <p:sp>
        <p:nvSpPr>
          <p:cNvPr id="71" name="TextBox 7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72" name="TextBox 71"/>
          <p:cNvSpPr txBox="1"/>
          <p:nvPr/>
        </p:nvSpPr>
        <p:spPr>
          <a:xfrm>
            <a:off x="2000250" y="32575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TextBox 72"/>
          <p:cNvSpPr txBox="1"/>
          <p:nvPr/>
        </p:nvSpPr>
        <p:spPr>
          <a:xfrm>
            <a:off x="4419600" y="32575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74" name="Oval 73"/>
          <p:cNvSpPr/>
          <p:nvPr/>
        </p:nvSpPr>
        <p:spPr>
          <a:xfrm>
            <a:off x="6104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6181725" y="33528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Oval 75"/>
          <p:cNvSpPr/>
          <p:nvPr/>
        </p:nvSpPr>
        <p:spPr>
          <a:xfrm>
            <a:off x="7162800"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Oval 76"/>
          <p:cNvSpPr/>
          <p:nvPr/>
        </p:nvSpPr>
        <p:spPr>
          <a:xfrm>
            <a:off x="8221133"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9279467"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9353550"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9884833"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TextBox 80"/>
          <p:cNvSpPr txBox="1"/>
          <p:nvPr/>
        </p:nvSpPr>
        <p:spPr>
          <a:xfrm>
            <a:off x="10943167" y="32575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2" name="Connector 81"/>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3" name="Rectangle 82"/>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Tenzo</a:t>
            </a:r>
          </a:p>
        </p:txBody>
      </p:sp>
      <p:sp>
        <p:nvSpPr>
          <p:cNvPr id="85" name="TextBox 84"/>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6" name="TextBox 85"/>
          <p:cNvSpPr txBox="1"/>
          <p:nvPr/>
        </p:nvSpPr>
        <p:spPr>
          <a:xfrm>
            <a:off x="2000250" y="36004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7" name="TextBox 86"/>
          <p:cNvSpPr txBox="1"/>
          <p:nvPr/>
        </p:nvSpPr>
        <p:spPr>
          <a:xfrm>
            <a:off x="4419600" y="36004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88" name="Oval 87"/>
          <p:cNvSpPr/>
          <p:nvPr/>
        </p:nvSpPr>
        <p:spPr>
          <a:xfrm>
            <a:off x="6104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Freeform 88"/>
          <p:cNvSpPr/>
          <p:nvPr/>
        </p:nvSpPr>
        <p:spPr>
          <a:xfrm>
            <a:off x="618172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Oval 89"/>
          <p:cNvSpPr/>
          <p:nvPr/>
        </p:nvSpPr>
        <p:spPr>
          <a:xfrm>
            <a:off x="7162800"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Freeform 90"/>
          <p:cNvSpPr/>
          <p:nvPr/>
        </p:nvSpPr>
        <p:spPr>
          <a:xfrm>
            <a:off x="7239000"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Oval 91"/>
          <p:cNvSpPr/>
          <p:nvPr/>
        </p:nvSpPr>
        <p:spPr>
          <a:xfrm>
            <a:off x="8221133"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Freeform 92"/>
          <p:cNvSpPr/>
          <p:nvPr/>
        </p:nvSpPr>
        <p:spPr>
          <a:xfrm>
            <a:off x="8296275"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Oval 93"/>
          <p:cNvSpPr/>
          <p:nvPr/>
        </p:nvSpPr>
        <p:spPr>
          <a:xfrm>
            <a:off x="9279467"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Freeform 94"/>
          <p:cNvSpPr/>
          <p:nvPr/>
        </p:nvSpPr>
        <p:spPr>
          <a:xfrm>
            <a:off x="9353550" y="36957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9884833"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7" name="TextBox 96"/>
          <p:cNvSpPr txBox="1"/>
          <p:nvPr/>
        </p:nvSpPr>
        <p:spPr>
          <a:xfrm>
            <a:off x="10943167" y="36004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8" name="Connector 97"/>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9" name="Rectangle 98"/>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0" name="TextBox 99"/>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Matchaful</a:t>
            </a:r>
          </a:p>
        </p:txBody>
      </p:sp>
      <p:sp>
        <p:nvSpPr>
          <p:cNvPr id="101" name="TextBox 100"/>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102" name="TextBox 101"/>
          <p:cNvSpPr txBox="1"/>
          <p:nvPr/>
        </p:nvSpPr>
        <p:spPr>
          <a:xfrm>
            <a:off x="2000250" y="39433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TextBox 102"/>
          <p:cNvSpPr txBox="1"/>
          <p:nvPr/>
        </p:nvSpPr>
        <p:spPr>
          <a:xfrm>
            <a:off x="4419600" y="39433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04" name="Oval 103"/>
          <p:cNvSpPr/>
          <p:nvPr/>
        </p:nvSpPr>
        <p:spPr>
          <a:xfrm>
            <a:off x="6104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Freeform 104"/>
          <p:cNvSpPr/>
          <p:nvPr/>
        </p:nvSpPr>
        <p:spPr>
          <a:xfrm>
            <a:off x="618172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Oval 105"/>
          <p:cNvSpPr/>
          <p:nvPr/>
        </p:nvSpPr>
        <p:spPr>
          <a:xfrm>
            <a:off x="7162800"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7239000"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Oval 107"/>
          <p:cNvSpPr/>
          <p:nvPr/>
        </p:nvSpPr>
        <p:spPr>
          <a:xfrm>
            <a:off x="8221133"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Freeform 108"/>
          <p:cNvSpPr/>
          <p:nvPr/>
        </p:nvSpPr>
        <p:spPr>
          <a:xfrm>
            <a:off x="82962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279467"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9353550"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9884833"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943167" y="39433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Kettl</a:t>
            </a:r>
          </a:p>
        </p:txBody>
      </p:sp>
      <p:sp>
        <p:nvSpPr>
          <p:cNvPr id="117" name="TextBox 116"/>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TextBox 117"/>
          <p:cNvSpPr txBox="1"/>
          <p:nvPr/>
        </p:nvSpPr>
        <p:spPr>
          <a:xfrm>
            <a:off x="2000250" y="42862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9" name="TextBox 118"/>
          <p:cNvSpPr txBox="1"/>
          <p:nvPr/>
        </p:nvSpPr>
        <p:spPr>
          <a:xfrm>
            <a:off x="4419600" y="42862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20" name="Oval 119"/>
          <p:cNvSpPr/>
          <p:nvPr/>
        </p:nvSpPr>
        <p:spPr>
          <a:xfrm>
            <a:off x="6104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18172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162800"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239000"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8221133"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Freeform 124"/>
          <p:cNvSpPr/>
          <p:nvPr/>
        </p:nvSpPr>
        <p:spPr>
          <a:xfrm>
            <a:off x="8296275" y="43815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Oval 125"/>
          <p:cNvSpPr/>
          <p:nvPr/>
        </p:nvSpPr>
        <p:spPr>
          <a:xfrm>
            <a:off x="9279467"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Freeform 126"/>
          <p:cNvSpPr/>
          <p:nvPr/>
        </p:nvSpPr>
        <p:spPr>
          <a:xfrm>
            <a:off x="9353550"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9884833"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9" name="TextBox 128"/>
          <p:cNvSpPr txBox="1"/>
          <p:nvPr/>
        </p:nvSpPr>
        <p:spPr>
          <a:xfrm>
            <a:off x="10943167" y="42862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0" name="Connector 129"/>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Rectangle 130"/>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Harney and Sons</a:t>
            </a:r>
          </a:p>
        </p:txBody>
      </p:sp>
      <p:sp>
        <p:nvSpPr>
          <p:cNvPr id="133" name="TextBox 132"/>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34" name="TextBox 133"/>
          <p:cNvSpPr txBox="1"/>
          <p:nvPr/>
        </p:nvSpPr>
        <p:spPr>
          <a:xfrm>
            <a:off x="2000250" y="46291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4419600" y="46291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36" name="Oval 135"/>
          <p:cNvSpPr/>
          <p:nvPr/>
        </p:nvSpPr>
        <p:spPr>
          <a:xfrm>
            <a:off x="6104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618172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Oval 137"/>
          <p:cNvSpPr/>
          <p:nvPr/>
        </p:nvSpPr>
        <p:spPr>
          <a:xfrm>
            <a:off x="7162800"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Freeform 138"/>
          <p:cNvSpPr/>
          <p:nvPr/>
        </p:nvSpPr>
        <p:spPr>
          <a:xfrm>
            <a:off x="7239000"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Oval 139"/>
          <p:cNvSpPr/>
          <p:nvPr/>
        </p:nvSpPr>
        <p:spPr>
          <a:xfrm>
            <a:off x="8221133"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Freeform 140"/>
          <p:cNvSpPr/>
          <p:nvPr/>
        </p:nvSpPr>
        <p:spPr>
          <a:xfrm>
            <a:off x="8296275"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Oval 141"/>
          <p:cNvSpPr/>
          <p:nvPr/>
        </p:nvSpPr>
        <p:spPr>
          <a:xfrm>
            <a:off x="9279467"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9353550" y="47244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9884833"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45" name="TextBox 144"/>
          <p:cNvSpPr txBox="1"/>
          <p:nvPr/>
        </p:nvSpPr>
        <p:spPr>
          <a:xfrm>
            <a:off x="10943167" y="46291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46" name="Connector 145"/>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7" name="Rectangle 146"/>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Sencha Naturals</a:t>
            </a:r>
          </a:p>
        </p:txBody>
      </p:sp>
      <p:sp>
        <p:nvSpPr>
          <p:cNvPr id="149" name="TextBox 148"/>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50" name="TextBox 149"/>
          <p:cNvSpPr txBox="1"/>
          <p:nvPr/>
        </p:nvSpPr>
        <p:spPr>
          <a:xfrm>
            <a:off x="2000250" y="49720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51" name="TextBox 150"/>
          <p:cNvSpPr txBox="1"/>
          <p:nvPr/>
        </p:nvSpPr>
        <p:spPr>
          <a:xfrm>
            <a:off x="4419600" y="49720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Buy to scale</a:t>
            </a:r>
          </a:p>
        </p:txBody>
      </p:sp>
      <p:sp>
        <p:nvSpPr>
          <p:cNvPr id="152" name="Oval 151"/>
          <p:cNvSpPr/>
          <p:nvPr/>
        </p:nvSpPr>
        <p:spPr>
          <a:xfrm>
            <a:off x="6104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Freeform 152"/>
          <p:cNvSpPr/>
          <p:nvPr/>
        </p:nvSpPr>
        <p:spPr>
          <a:xfrm>
            <a:off x="618172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Oval 153"/>
          <p:cNvSpPr/>
          <p:nvPr/>
        </p:nvSpPr>
        <p:spPr>
          <a:xfrm>
            <a:off x="7162800"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Freeform 154"/>
          <p:cNvSpPr/>
          <p:nvPr/>
        </p:nvSpPr>
        <p:spPr>
          <a:xfrm>
            <a:off x="7239000" y="50673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Oval 155"/>
          <p:cNvSpPr/>
          <p:nvPr/>
        </p:nvSpPr>
        <p:spPr>
          <a:xfrm>
            <a:off x="8221133"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Freeform 156"/>
          <p:cNvSpPr/>
          <p:nvPr/>
        </p:nvSpPr>
        <p:spPr>
          <a:xfrm>
            <a:off x="8296275"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Oval 157"/>
          <p:cNvSpPr/>
          <p:nvPr/>
        </p:nvSpPr>
        <p:spPr>
          <a:xfrm>
            <a:off x="9279467"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Freeform 158"/>
          <p:cNvSpPr/>
          <p:nvPr/>
        </p:nvSpPr>
        <p:spPr>
          <a:xfrm>
            <a:off x="9353550" y="50673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9884833"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1" name="TextBox 160"/>
          <p:cNvSpPr txBox="1"/>
          <p:nvPr/>
        </p:nvSpPr>
        <p:spPr>
          <a:xfrm>
            <a:off x="10943167" y="49720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62" name="Connector 161"/>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63" name="Rectangle 162"/>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Aoi Matcha</a:t>
            </a:r>
          </a:p>
        </p:txBody>
      </p:sp>
      <p:sp>
        <p:nvSpPr>
          <p:cNvPr id="165" name="TextBox 164"/>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66" name="TextBox 165"/>
          <p:cNvSpPr txBox="1"/>
          <p:nvPr/>
        </p:nvSpPr>
        <p:spPr>
          <a:xfrm>
            <a:off x="2000250" y="5314950"/>
            <a:ext cx="2381250"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67" name="TextBox 166"/>
          <p:cNvSpPr txBox="1"/>
          <p:nvPr/>
        </p:nvSpPr>
        <p:spPr>
          <a:xfrm>
            <a:off x="4419600" y="5314950"/>
            <a:ext cx="1193800"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Launch-led growth</a:t>
            </a:r>
          </a:p>
        </p:txBody>
      </p:sp>
      <p:sp>
        <p:nvSpPr>
          <p:cNvPr id="168" name="Oval 167"/>
          <p:cNvSpPr/>
          <p:nvPr/>
        </p:nvSpPr>
        <p:spPr>
          <a:xfrm>
            <a:off x="6104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8172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7162800"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Freeform 170"/>
          <p:cNvSpPr/>
          <p:nvPr/>
        </p:nvSpPr>
        <p:spPr>
          <a:xfrm>
            <a:off x="7239000" y="54102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Oval 171"/>
          <p:cNvSpPr/>
          <p:nvPr/>
        </p:nvSpPr>
        <p:spPr>
          <a:xfrm>
            <a:off x="8221133"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Freeform 172"/>
          <p:cNvSpPr/>
          <p:nvPr/>
        </p:nvSpPr>
        <p:spPr>
          <a:xfrm>
            <a:off x="8296275"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Oval 173"/>
          <p:cNvSpPr/>
          <p:nvPr/>
        </p:nvSpPr>
        <p:spPr>
          <a:xfrm>
            <a:off x="9279467"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Freeform 174"/>
          <p:cNvSpPr/>
          <p:nvPr/>
        </p:nvSpPr>
        <p:spPr>
          <a:xfrm>
            <a:off x="9353550" y="5410200"/>
            <a:ext cx="76200" cy="76200"/>
          </a:xfrm>
          <a:custGeom>
            <a:avLst/>
            <a:gdLst/>
            <a:ahLst/>
            <a:cxnLst/>
            <a:rect l="l" t="t" r="r" b="b"/>
            <a:pathLst>
              <a:path w="8" h="8">
                <a:moveTo>
                  <a:pt x="0" y="8"/>
                </a:moveTo>
                <a:lnTo>
                  <a:pt x="0" y="0"/>
                </a:lnTo>
                <a:lnTo>
                  <a:pt x="2"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9884833"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77" name="TextBox 176"/>
          <p:cNvSpPr txBox="1"/>
          <p:nvPr/>
        </p:nvSpPr>
        <p:spPr>
          <a:xfrm>
            <a:off x="10943167" y="5314950"/>
            <a:ext cx="1058333"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78" name="Connector 177"/>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79" name="Oval 178"/>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81" name="Oval 180"/>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Freeform 181"/>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3" name="TextBox 182"/>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84" name="Oval 183"/>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5" name="Freeform 184"/>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87" name="Oval 186"/>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89" name="TextBox 188"/>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90" name="TextBox 189"/>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4 of 10 named players compete globally; scale and share follow the tier structure.</a:t>
            </a:r>
          </a:p>
        </p:txBody>
      </p:sp>
      <p:sp>
        <p:nvSpPr>
          <p:cNvPr id="191" name="TextBox 19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
        <p:nvSpPr>
          <p:cNvPr id="192" name="TextBox 191"/>
          <p:cNvSpPr txBox="1"/>
          <p:nvPr/>
        </p:nvSpPr>
        <p:spPr>
          <a:xfrm>
            <a:off x="8893175" y="1666875"/>
            <a:ext cx="398983" cy="186689"/>
          </a:xfrm>
          <a:prstGeom prst="rect">
            <a:avLst/>
          </a:prstGeom>
          <a:noFill/>
        </p:spPr>
        <p:txBody>
          <a:bodyPr wrap="none" lIns="0" rIns="0" tIns="0" bIns="0">
            <a:spAutoFit/>
          </a:bodyPr>
          <a:lstStyle/>
          <a:p>
            <a:r>
              <a:rPr sz="1100" b="0">
                <a:solidFill>
                  <a:srgbClr val="5F6B7A"/>
                </a:solidFill>
                <a:latin typeface="Calibri"/>
              </a:rPr>
              <a:t>Share</a:t>
            </a:r>
          </a:p>
        </p:txBody>
      </p:sp>
      <p:pic>
        <p:nvPicPr>
          <p:cNvPr id="193" name="Picture 192" descr="lock.png"/>
          <p:cNvPicPr>
            <a:picLocks noChangeAspect="1"/>
          </p:cNvPicPr>
          <p:nvPr/>
        </p:nvPicPr>
        <p:blipFill>
          <a:blip r:embed="rId4"/>
          <a:stretch>
            <a:fillRect/>
          </a:stretch>
        </p:blipFill>
        <p:spPr>
          <a:xfrm>
            <a:off x="9240209" y="1657096"/>
            <a:ext cx="128699" cy="187198"/>
          </a:xfrm>
          <a:prstGeom prst="rect">
            <a:avLst/>
          </a:prstGeom>
        </p:spPr>
      </p:pic>
      <p:sp>
        <p:nvSpPr>
          <p:cNvPr id="194" name="TextBox 193"/>
          <p:cNvSpPr txBox="1"/>
          <p:nvPr/>
        </p:nvSpPr>
        <p:spPr>
          <a:xfrm>
            <a:off x="9407705" y="1666875"/>
            <a:ext cx="384522" cy="186689"/>
          </a:xfrm>
          <a:prstGeom prst="rect">
            <a:avLst/>
          </a:prstGeom>
          <a:noFill/>
        </p:spPr>
        <p:txBody>
          <a:bodyPr wrap="none" lIns="0" rIns="0" tIns="0" bIns="0">
            <a:spAutoFit/>
          </a:bodyPr>
          <a:lstStyle/>
          <a:p>
            <a:r>
              <a:rPr sz="1100" b="0">
                <a:solidFill>
                  <a:srgbClr val="5F6B7A"/>
                </a:solidFill>
                <a:latin typeface="Calibri"/>
              </a:rPr>
              <a:t>+ = 3,</a:t>
            </a:r>
          </a:p>
        </p:txBody>
      </p:sp>
      <p:pic>
        <p:nvPicPr>
          <p:cNvPr id="195" name="Picture 194" descr="lock.png"/>
          <p:cNvPicPr>
            <a:picLocks noChangeAspect="1"/>
          </p:cNvPicPr>
          <p:nvPr/>
        </p:nvPicPr>
        <p:blipFill>
          <a:blip r:embed="rId4"/>
          <a:stretch>
            <a:fillRect/>
          </a:stretch>
        </p:blipFill>
        <p:spPr>
          <a:xfrm>
            <a:off x="8879707" y="1824736"/>
            <a:ext cx="128699" cy="187198"/>
          </a:xfrm>
          <a:prstGeom prst="rect">
            <a:avLst/>
          </a:prstGeom>
        </p:spPr>
      </p:pic>
      <p:sp>
        <p:nvSpPr>
          <p:cNvPr id="196" name="TextBox 195"/>
          <p:cNvSpPr txBox="1"/>
          <p:nvPr/>
        </p:nvSpPr>
        <p:spPr>
          <a:xfrm>
            <a:off x="9047203" y="1834515"/>
            <a:ext cx="643458" cy="186689"/>
          </a:xfrm>
          <a:prstGeom prst="rect">
            <a:avLst/>
          </a:prstGeom>
          <a:noFill/>
        </p:spPr>
        <p:txBody>
          <a:bodyPr wrap="none" lIns="0" rIns="0" tIns="0" bIns="0">
            <a:spAutoFit/>
          </a:bodyPr>
          <a:lstStyle/>
          <a:p>
            <a:r>
              <a:rPr sz="1100" b="0">
                <a:solidFill>
                  <a:srgbClr val="5F6B7A"/>
                </a:solidFill>
                <a:latin typeface="Calibri"/>
              </a:rPr>
              <a:t>= 2, else 1</a:t>
            </a:r>
          </a:p>
        </p:txBody>
      </p:sp>
      <p:pic>
        <p:nvPicPr>
          <p:cNvPr id="197" name="Picture 196" descr="lock.png"/>
          <p:cNvPicPr>
            <a:picLocks noChangeAspect="1"/>
          </p:cNvPicPr>
          <p:nvPr/>
        </p:nvPicPr>
        <p:blipFill>
          <a:blip r:embed="rId4"/>
          <a:stretch>
            <a:fillRect/>
          </a:stretch>
        </p:blipFill>
        <p:spPr>
          <a:xfrm>
            <a:off x="3126525" y="2306701"/>
            <a:ext cx="128699" cy="187198"/>
          </a:xfrm>
          <a:prstGeom prst="rect">
            <a:avLst/>
          </a:prstGeom>
        </p:spPr>
      </p:pic>
      <p:pic>
        <p:nvPicPr>
          <p:cNvPr id="198" name="Picture 197" descr="lock.png"/>
          <p:cNvPicPr>
            <a:picLocks noChangeAspect="1"/>
          </p:cNvPicPr>
          <p:nvPr/>
        </p:nvPicPr>
        <p:blipFill>
          <a:blip r:embed="rId4"/>
          <a:stretch>
            <a:fillRect/>
          </a:stretch>
        </p:blipFill>
        <p:spPr>
          <a:xfrm>
            <a:off x="10349650" y="2306701"/>
            <a:ext cx="128699" cy="187198"/>
          </a:xfrm>
          <a:prstGeom prst="rect">
            <a:avLst/>
          </a:prstGeom>
        </p:spPr>
      </p:pic>
      <p:pic>
        <p:nvPicPr>
          <p:cNvPr id="199" name="Picture 198" descr="lock.png"/>
          <p:cNvPicPr>
            <a:picLocks noChangeAspect="1"/>
          </p:cNvPicPr>
          <p:nvPr/>
        </p:nvPicPr>
        <p:blipFill>
          <a:blip r:embed="rId4"/>
          <a:stretch>
            <a:fillRect/>
          </a:stretch>
        </p:blipFill>
        <p:spPr>
          <a:xfrm>
            <a:off x="11407984" y="2306701"/>
            <a:ext cx="128699" cy="187198"/>
          </a:xfrm>
          <a:prstGeom prst="rect">
            <a:avLst/>
          </a:prstGeom>
        </p:spPr>
      </p:pic>
      <p:pic>
        <p:nvPicPr>
          <p:cNvPr id="200" name="Picture 199" descr="lock.png"/>
          <p:cNvPicPr>
            <a:picLocks noChangeAspect="1"/>
          </p:cNvPicPr>
          <p:nvPr/>
        </p:nvPicPr>
        <p:blipFill>
          <a:blip r:embed="rId4"/>
          <a:stretch>
            <a:fillRect/>
          </a:stretch>
        </p:blipFill>
        <p:spPr>
          <a:xfrm>
            <a:off x="3126525" y="2649601"/>
            <a:ext cx="128699" cy="187198"/>
          </a:xfrm>
          <a:prstGeom prst="rect">
            <a:avLst/>
          </a:prstGeom>
        </p:spPr>
      </p:pic>
      <p:pic>
        <p:nvPicPr>
          <p:cNvPr id="201" name="Picture 200" descr="lock.png"/>
          <p:cNvPicPr>
            <a:picLocks noChangeAspect="1"/>
          </p:cNvPicPr>
          <p:nvPr/>
        </p:nvPicPr>
        <p:blipFill>
          <a:blip r:embed="rId4"/>
          <a:stretch>
            <a:fillRect/>
          </a:stretch>
        </p:blipFill>
        <p:spPr>
          <a:xfrm>
            <a:off x="10349650" y="2649601"/>
            <a:ext cx="128699" cy="187198"/>
          </a:xfrm>
          <a:prstGeom prst="rect">
            <a:avLst/>
          </a:prstGeom>
        </p:spPr>
      </p:pic>
      <p:pic>
        <p:nvPicPr>
          <p:cNvPr id="202" name="Picture 201" descr="lock.png"/>
          <p:cNvPicPr>
            <a:picLocks noChangeAspect="1"/>
          </p:cNvPicPr>
          <p:nvPr/>
        </p:nvPicPr>
        <p:blipFill>
          <a:blip r:embed="rId4"/>
          <a:stretch>
            <a:fillRect/>
          </a:stretch>
        </p:blipFill>
        <p:spPr>
          <a:xfrm>
            <a:off x="11407984" y="2649601"/>
            <a:ext cx="128699" cy="187198"/>
          </a:xfrm>
          <a:prstGeom prst="rect">
            <a:avLst/>
          </a:prstGeom>
        </p:spPr>
      </p:pic>
      <p:pic>
        <p:nvPicPr>
          <p:cNvPr id="203" name="Picture 202" descr="lock.png"/>
          <p:cNvPicPr>
            <a:picLocks noChangeAspect="1"/>
          </p:cNvPicPr>
          <p:nvPr/>
        </p:nvPicPr>
        <p:blipFill>
          <a:blip r:embed="rId4"/>
          <a:stretch>
            <a:fillRect/>
          </a:stretch>
        </p:blipFill>
        <p:spPr>
          <a:xfrm>
            <a:off x="3126525" y="2992501"/>
            <a:ext cx="128699" cy="187198"/>
          </a:xfrm>
          <a:prstGeom prst="rect">
            <a:avLst/>
          </a:prstGeom>
        </p:spPr>
      </p:pic>
      <p:pic>
        <p:nvPicPr>
          <p:cNvPr id="204" name="Picture 203" descr="lock.png"/>
          <p:cNvPicPr>
            <a:picLocks noChangeAspect="1"/>
          </p:cNvPicPr>
          <p:nvPr/>
        </p:nvPicPr>
        <p:blipFill>
          <a:blip r:embed="rId4"/>
          <a:stretch>
            <a:fillRect/>
          </a:stretch>
        </p:blipFill>
        <p:spPr>
          <a:xfrm>
            <a:off x="10349650" y="2992501"/>
            <a:ext cx="128699" cy="187198"/>
          </a:xfrm>
          <a:prstGeom prst="rect">
            <a:avLst/>
          </a:prstGeom>
        </p:spPr>
      </p:pic>
      <p:pic>
        <p:nvPicPr>
          <p:cNvPr id="205" name="Picture 204" descr="lock.png"/>
          <p:cNvPicPr>
            <a:picLocks noChangeAspect="1"/>
          </p:cNvPicPr>
          <p:nvPr/>
        </p:nvPicPr>
        <p:blipFill>
          <a:blip r:embed="rId4"/>
          <a:stretch>
            <a:fillRect/>
          </a:stretch>
        </p:blipFill>
        <p:spPr>
          <a:xfrm>
            <a:off x="11407984" y="2992501"/>
            <a:ext cx="128699" cy="187198"/>
          </a:xfrm>
          <a:prstGeom prst="rect">
            <a:avLst/>
          </a:prstGeom>
        </p:spPr>
      </p:pic>
      <p:pic>
        <p:nvPicPr>
          <p:cNvPr id="206" name="Picture 205" descr="lock.png"/>
          <p:cNvPicPr>
            <a:picLocks noChangeAspect="1"/>
          </p:cNvPicPr>
          <p:nvPr/>
        </p:nvPicPr>
        <p:blipFill>
          <a:blip r:embed="rId4"/>
          <a:stretch>
            <a:fillRect/>
          </a:stretch>
        </p:blipFill>
        <p:spPr>
          <a:xfrm>
            <a:off x="3126525" y="3335401"/>
            <a:ext cx="128699" cy="187198"/>
          </a:xfrm>
          <a:prstGeom prst="rect">
            <a:avLst/>
          </a:prstGeom>
        </p:spPr>
      </p:pic>
      <p:pic>
        <p:nvPicPr>
          <p:cNvPr id="207" name="Picture 206" descr="lock.png"/>
          <p:cNvPicPr>
            <a:picLocks noChangeAspect="1"/>
          </p:cNvPicPr>
          <p:nvPr/>
        </p:nvPicPr>
        <p:blipFill>
          <a:blip r:embed="rId4"/>
          <a:stretch>
            <a:fillRect/>
          </a:stretch>
        </p:blipFill>
        <p:spPr>
          <a:xfrm>
            <a:off x="10349650" y="3335401"/>
            <a:ext cx="128699" cy="187198"/>
          </a:xfrm>
          <a:prstGeom prst="rect">
            <a:avLst/>
          </a:prstGeom>
        </p:spPr>
      </p:pic>
      <p:pic>
        <p:nvPicPr>
          <p:cNvPr id="208" name="Picture 207" descr="lock.png"/>
          <p:cNvPicPr>
            <a:picLocks noChangeAspect="1"/>
          </p:cNvPicPr>
          <p:nvPr/>
        </p:nvPicPr>
        <p:blipFill>
          <a:blip r:embed="rId4"/>
          <a:stretch>
            <a:fillRect/>
          </a:stretch>
        </p:blipFill>
        <p:spPr>
          <a:xfrm>
            <a:off x="11407984" y="3335401"/>
            <a:ext cx="128699" cy="187198"/>
          </a:xfrm>
          <a:prstGeom prst="rect">
            <a:avLst/>
          </a:prstGeom>
        </p:spPr>
      </p:pic>
      <p:pic>
        <p:nvPicPr>
          <p:cNvPr id="209" name="Picture 208" descr="lock.png"/>
          <p:cNvPicPr>
            <a:picLocks noChangeAspect="1"/>
          </p:cNvPicPr>
          <p:nvPr/>
        </p:nvPicPr>
        <p:blipFill>
          <a:blip r:embed="rId4"/>
          <a:stretch>
            <a:fillRect/>
          </a:stretch>
        </p:blipFill>
        <p:spPr>
          <a:xfrm>
            <a:off x="3126525" y="3678301"/>
            <a:ext cx="128699" cy="187198"/>
          </a:xfrm>
          <a:prstGeom prst="rect">
            <a:avLst/>
          </a:prstGeom>
        </p:spPr>
      </p:pic>
      <p:pic>
        <p:nvPicPr>
          <p:cNvPr id="210" name="Picture 209" descr="lock.png"/>
          <p:cNvPicPr>
            <a:picLocks noChangeAspect="1"/>
          </p:cNvPicPr>
          <p:nvPr/>
        </p:nvPicPr>
        <p:blipFill>
          <a:blip r:embed="rId4"/>
          <a:stretch>
            <a:fillRect/>
          </a:stretch>
        </p:blipFill>
        <p:spPr>
          <a:xfrm>
            <a:off x="10349650" y="3678301"/>
            <a:ext cx="128699" cy="187198"/>
          </a:xfrm>
          <a:prstGeom prst="rect">
            <a:avLst/>
          </a:prstGeom>
        </p:spPr>
      </p:pic>
      <p:pic>
        <p:nvPicPr>
          <p:cNvPr id="211" name="Picture 210" descr="lock.png"/>
          <p:cNvPicPr>
            <a:picLocks noChangeAspect="1"/>
          </p:cNvPicPr>
          <p:nvPr/>
        </p:nvPicPr>
        <p:blipFill>
          <a:blip r:embed="rId4"/>
          <a:stretch>
            <a:fillRect/>
          </a:stretch>
        </p:blipFill>
        <p:spPr>
          <a:xfrm>
            <a:off x="11407984" y="3678301"/>
            <a:ext cx="128699" cy="187198"/>
          </a:xfrm>
          <a:prstGeom prst="rect">
            <a:avLst/>
          </a:prstGeom>
        </p:spPr>
      </p:pic>
      <p:pic>
        <p:nvPicPr>
          <p:cNvPr id="212" name="Picture 211" descr="lock.png"/>
          <p:cNvPicPr>
            <a:picLocks noChangeAspect="1"/>
          </p:cNvPicPr>
          <p:nvPr/>
        </p:nvPicPr>
        <p:blipFill>
          <a:blip r:embed="rId4"/>
          <a:stretch>
            <a:fillRect/>
          </a:stretch>
        </p:blipFill>
        <p:spPr>
          <a:xfrm>
            <a:off x="3126525" y="4021201"/>
            <a:ext cx="128699" cy="187198"/>
          </a:xfrm>
          <a:prstGeom prst="rect">
            <a:avLst/>
          </a:prstGeom>
        </p:spPr>
      </p:pic>
      <p:pic>
        <p:nvPicPr>
          <p:cNvPr id="213" name="Picture 212" descr="lock.png"/>
          <p:cNvPicPr>
            <a:picLocks noChangeAspect="1"/>
          </p:cNvPicPr>
          <p:nvPr/>
        </p:nvPicPr>
        <p:blipFill>
          <a:blip r:embed="rId4"/>
          <a:stretch>
            <a:fillRect/>
          </a:stretch>
        </p:blipFill>
        <p:spPr>
          <a:xfrm>
            <a:off x="10349650" y="4021201"/>
            <a:ext cx="128699" cy="187198"/>
          </a:xfrm>
          <a:prstGeom prst="rect">
            <a:avLst/>
          </a:prstGeom>
        </p:spPr>
      </p:pic>
      <p:pic>
        <p:nvPicPr>
          <p:cNvPr id="214" name="Picture 213" descr="lock.png"/>
          <p:cNvPicPr>
            <a:picLocks noChangeAspect="1"/>
          </p:cNvPicPr>
          <p:nvPr/>
        </p:nvPicPr>
        <p:blipFill>
          <a:blip r:embed="rId4"/>
          <a:stretch>
            <a:fillRect/>
          </a:stretch>
        </p:blipFill>
        <p:spPr>
          <a:xfrm>
            <a:off x="11407984" y="4021201"/>
            <a:ext cx="128699" cy="187198"/>
          </a:xfrm>
          <a:prstGeom prst="rect">
            <a:avLst/>
          </a:prstGeom>
        </p:spPr>
      </p:pic>
      <p:pic>
        <p:nvPicPr>
          <p:cNvPr id="215" name="Picture 214" descr="lock.png"/>
          <p:cNvPicPr>
            <a:picLocks noChangeAspect="1"/>
          </p:cNvPicPr>
          <p:nvPr/>
        </p:nvPicPr>
        <p:blipFill>
          <a:blip r:embed="rId4"/>
          <a:stretch>
            <a:fillRect/>
          </a:stretch>
        </p:blipFill>
        <p:spPr>
          <a:xfrm>
            <a:off x="3126525" y="4364101"/>
            <a:ext cx="128699" cy="187198"/>
          </a:xfrm>
          <a:prstGeom prst="rect">
            <a:avLst/>
          </a:prstGeom>
        </p:spPr>
      </p:pic>
      <p:pic>
        <p:nvPicPr>
          <p:cNvPr id="216" name="Picture 215" descr="lock.png"/>
          <p:cNvPicPr>
            <a:picLocks noChangeAspect="1"/>
          </p:cNvPicPr>
          <p:nvPr/>
        </p:nvPicPr>
        <p:blipFill>
          <a:blip r:embed="rId4"/>
          <a:stretch>
            <a:fillRect/>
          </a:stretch>
        </p:blipFill>
        <p:spPr>
          <a:xfrm>
            <a:off x="10349650" y="4364101"/>
            <a:ext cx="128699" cy="187198"/>
          </a:xfrm>
          <a:prstGeom prst="rect">
            <a:avLst/>
          </a:prstGeom>
        </p:spPr>
      </p:pic>
      <p:pic>
        <p:nvPicPr>
          <p:cNvPr id="217" name="Picture 216" descr="lock.png"/>
          <p:cNvPicPr>
            <a:picLocks noChangeAspect="1"/>
          </p:cNvPicPr>
          <p:nvPr/>
        </p:nvPicPr>
        <p:blipFill>
          <a:blip r:embed="rId4"/>
          <a:stretch>
            <a:fillRect/>
          </a:stretch>
        </p:blipFill>
        <p:spPr>
          <a:xfrm>
            <a:off x="11407984" y="4364101"/>
            <a:ext cx="128699" cy="187198"/>
          </a:xfrm>
          <a:prstGeom prst="rect">
            <a:avLst/>
          </a:prstGeom>
        </p:spPr>
      </p:pic>
      <p:pic>
        <p:nvPicPr>
          <p:cNvPr id="218" name="Picture 217" descr="lock.png"/>
          <p:cNvPicPr>
            <a:picLocks noChangeAspect="1"/>
          </p:cNvPicPr>
          <p:nvPr/>
        </p:nvPicPr>
        <p:blipFill>
          <a:blip r:embed="rId4"/>
          <a:stretch>
            <a:fillRect/>
          </a:stretch>
        </p:blipFill>
        <p:spPr>
          <a:xfrm>
            <a:off x="3126525" y="4707001"/>
            <a:ext cx="128699" cy="187198"/>
          </a:xfrm>
          <a:prstGeom prst="rect">
            <a:avLst/>
          </a:prstGeom>
        </p:spPr>
      </p:pic>
      <p:pic>
        <p:nvPicPr>
          <p:cNvPr id="219" name="Picture 218" descr="lock.png"/>
          <p:cNvPicPr>
            <a:picLocks noChangeAspect="1"/>
          </p:cNvPicPr>
          <p:nvPr/>
        </p:nvPicPr>
        <p:blipFill>
          <a:blip r:embed="rId4"/>
          <a:stretch>
            <a:fillRect/>
          </a:stretch>
        </p:blipFill>
        <p:spPr>
          <a:xfrm>
            <a:off x="10349650" y="4707001"/>
            <a:ext cx="128699" cy="187198"/>
          </a:xfrm>
          <a:prstGeom prst="rect">
            <a:avLst/>
          </a:prstGeom>
        </p:spPr>
      </p:pic>
      <p:pic>
        <p:nvPicPr>
          <p:cNvPr id="220" name="Picture 219" descr="lock.png"/>
          <p:cNvPicPr>
            <a:picLocks noChangeAspect="1"/>
          </p:cNvPicPr>
          <p:nvPr/>
        </p:nvPicPr>
        <p:blipFill>
          <a:blip r:embed="rId4"/>
          <a:stretch>
            <a:fillRect/>
          </a:stretch>
        </p:blipFill>
        <p:spPr>
          <a:xfrm>
            <a:off x="11407984" y="4707001"/>
            <a:ext cx="128699" cy="187198"/>
          </a:xfrm>
          <a:prstGeom prst="rect">
            <a:avLst/>
          </a:prstGeom>
        </p:spPr>
      </p:pic>
      <p:pic>
        <p:nvPicPr>
          <p:cNvPr id="221" name="Picture 220" descr="lock.png"/>
          <p:cNvPicPr>
            <a:picLocks noChangeAspect="1"/>
          </p:cNvPicPr>
          <p:nvPr/>
        </p:nvPicPr>
        <p:blipFill>
          <a:blip r:embed="rId4"/>
          <a:stretch>
            <a:fillRect/>
          </a:stretch>
        </p:blipFill>
        <p:spPr>
          <a:xfrm>
            <a:off x="3126525" y="5049901"/>
            <a:ext cx="128699" cy="187198"/>
          </a:xfrm>
          <a:prstGeom prst="rect">
            <a:avLst/>
          </a:prstGeom>
        </p:spPr>
      </p:pic>
      <p:pic>
        <p:nvPicPr>
          <p:cNvPr id="222" name="Picture 221" descr="lock.png"/>
          <p:cNvPicPr>
            <a:picLocks noChangeAspect="1"/>
          </p:cNvPicPr>
          <p:nvPr/>
        </p:nvPicPr>
        <p:blipFill>
          <a:blip r:embed="rId4"/>
          <a:stretch>
            <a:fillRect/>
          </a:stretch>
        </p:blipFill>
        <p:spPr>
          <a:xfrm>
            <a:off x="10349650" y="5049901"/>
            <a:ext cx="128699" cy="187198"/>
          </a:xfrm>
          <a:prstGeom prst="rect">
            <a:avLst/>
          </a:prstGeom>
        </p:spPr>
      </p:pic>
      <p:pic>
        <p:nvPicPr>
          <p:cNvPr id="223" name="Picture 222" descr="lock.png"/>
          <p:cNvPicPr>
            <a:picLocks noChangeAspect="1"/>
          </p:cNvPicPr>
          <p:nvPr/>
        </p:nvPicPr>
        <p:blipFill>
          <a:blip r:embed="rId4"/>
          <a:stretch>
            <a:fillRect/>
          </a:stretch>
        </p:blipFill>
        <p:spPr>
          <a:xfrm>
            <a:off x="11407984" y="5049901"/>
            <a:ext cx="128699" cy="187198"/>
          </a:xfrm>
          <a:prstGeom prst="rect">
            <a:avLst/>
          </a:prstGeom>
        </p:spPr>
      </p:pic>
      <p:pic>
        <p:nvPicPr>
          <p:cNvPr id="224" name="Picture 223" descr="lock.png"/>
          <p:cNvPicPr>
            <a:picLocks noChangeAspect="1"/>
          </p:cNvPicPr>
          <p:nvPr/>
        </p:nvPicPr>
        <p:blipFill>
          <a:blip r:embed="rId4"/>
          <a:stretch>
            <a:fillRect/>
          </a:stretch>
        </p:blipFill>
        <p:spPr>
          <a:xfrm>
            <a:off x="3126525" y="5392801"/>
            <a:ext cx="128699" cy="187198"/>
          </a:xfrm>
          <a:prstGeom prst="rect">
            <a:avLst/>
          </a:prstGeom>
        </p:spPr>
      </p:pic>
      <p:pic>
        <p:nvPicPr>
          <p:cNvPr id="225" name="Picture 224" descr="lock.png"/>
          <p:cNvPicPr>
            <a:picLocks noChangeAspect="1"/>
          </p:cNvPicPr>
          <p:nvPr/>
        </p:nvPicPr>
        <p:blipFill>
          <a:blip r:embed="rId4"/>
          <a:stretch>
            <a:fillRect/>
          </a:stretch>
        </p:blipFill>
        <p:spPr>
          <a:xfrm>
            <a:off x="10349650" y="5392801"/>
            <a:ext cx="128699" cy="187198"/>
          </a:xfrm>
          <a:prstGeom prst="rect">
            <a:avLst/>
          </a:prstGeom>
        </p:spPr>
      </p:pic>
      <p:pic>
        <p:nvPicPr>
          <p:cNvPr id="226" name="Picture 225" descr="lock.png"/>
          <p:cNvPicPr>
            <a:picLocks noChangeAspect="1"/>
          </p:cNvPicPr>
          <p:nvPr/>
        </p:nvPicPr>
        <p:blipFill>
          <a:blip r:embed="rId4"/>
          <a:stretch>
            <a:fillRect/>
          </a:stretch>
        </p:blipFill>
        <p:spPr>
          <a:xfrm>
            <a:off x="11407984" y="5392801"/>
            <a:ext cx="128699" cy="187198"/>
          </a:xfrm>
          <a:prstGeom prst="rect">
            <a:avLst/>
          </a:prstGeom>
        </p:spPr>
      </p:pic>
    </p:spTree>
  </p:cSld>
  <p:clrMapOvr>
    <a:masterClrMapping/>
  </p:clrMapOvr>
</p:sld>
</file>

<file path=ppt/slides/slide297.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Offering Scorecard: What They Sell</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offering Ps: product, technology, price and model, verticals, proof and IP</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2, OFFERING: WHAT THEY SELL</a:t>
            </a:r>
          </a:p>
        </p:txBody>
      </p:sp>
      <p:sp>
        <p:nvSpPr>
          <p:cNvPr id="12" name="TextBox 11"/>
          <p:cNvSpPr txBox="1"/>
          <p:nvPr/>
        </p:nvSpPr>
        <p:spPr>
          <a:xfrm>
            <a:off x="2038350"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Product</a:t>
            </a:r>
          </a:p>
        </p:txBody>
      </p:sp>
      <p:sp>
        <p:nvSpPr>
          <p:cNvPr id="13" name="TextBox 12"/>
          <p:cNvSpPr txBox="1"/>
          <p:nvPr/>
        </p:nvSpPr>
        <p:spPr>
          <a:xfrm>
            <a:off x="2038350"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Of the top three types offered</a:t>
            </a:r>
          </a:p>
        </p:txBody>
      </p:sp>
      <p:sp>
        <p:nvSpPr>
          <p:cNvPr id="14" name="TextBox 13"/>
          <p:cNvSpPr txBox="1"/>
          <p:nvPr/>
        </p:nvSpPr>
        <p:spPr>
          <a:xfrm>
            <a:off x="3509122"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Platform (technology)</a:t>
            </a:r>
          </a:p>
        </p:txBody>
      </p:sp>
      <p:sp>
        <p:nvSpPr>
          <p:cNvPr id="15" name="TextBox 14"/>
          <p:cNvSpPr txBox="1"/>
          <p:nvPr/>
        </p:nvSpPr>
        <p:spPr>
          <a:xfrm>
            <a:off x="3509122"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development: both 3, one 2</a:t>
            </a:r>
          </a:p>
        </p:txBody>
      </p:sp>
      <p:sp>
        <p:nvSpPr>
          <p:cNvPr id="16" name="TextBox 15"/>
          <p:cNvSpPr txBox="1"/>
          <p:nvPr/>
        </p:nvSpPr>
        <p:spPr>
          <a:xfrm>
            <a:off x="497989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Price and model</a:t>
            </a:r>
          </a:p>
        </p:txBody>
      </p:sp>
      <p:sp>
        <p:nvSpPr>
          <p:cNvPr id="17" name="TextBox 16"/>
          <p:cNvSpPr txBox="1"/>
          <p:nvPr/>
        </p:nvSpPr>
        <p:spPr>
          <a:xfrm>
            <a:off x="497989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Positioning by tier</a:t>
            </a:r>
          </a:p>
        </p:txBody>
      </p:sp>
      <p:sp>
        <p:nvSpPr>
          <p:cNvPr id="18" name="TextBox 17"/>
          <p:cNvSpPr txBox="1"/>
          <p:nvPr/>
        </p:nvSpPr>
        <p:spPr>
          <a:xfrm>
            <a:off x="674482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Positioning (verticals)</a:t>
            </a:r>
          </a:p>
        </p:txBody>
      </p:sp>
      <p:sp>
        <p:nvSpPr>
          <p:cNvPr id="19" name="TextBox 18"/>
          <p:cNvSpPr txBox="1"/>
          <p:nvPr/>
        </p:nvSpPr>
        <p:spPr>
          <a:xfrm>
            <a:off x="674482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End uses served</a:t>
            </a:r>
          </a:p>
        </p:txBody>
      </p:sp>
      <p:sp>
        <p:nvSpPr>
          <p:cNvPr id="20" name="TextBox 19"/>
          <p:cNvSpPr txBox="1"/>
          <p:nvPr/>
        </p:nvSpPr>
        <p:spPr>
          <a:xfrm>
            <a:off x="8509747"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Proof</a:t>
            </a:r>
          </a:p>
        </p:txBody>
      </p:sp>
      <p:sp>
        <p:nvSpPr>
          <p:cNvPr id="21" name="TextBox 20"/>
          <p:cNvSpPr txBox="1"/>
          <p:nvPr/>
        </p:nvSpPr>
        <p:spPr>
          <a:xfrm>
            <a:off x="8509747"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Named customer references</a:t>
            </a:r>
          </a:p>
        </p:txBody>
      </p:sp>
      <p:sp>
        <p:nvSpPr>
          <p:cNvPr id="22" name="TextBox 21"/>
          <p:cNvSpPr txBox="1"/>
          <p:nvPr/>
        </p:nvSpPr>
        <p:spPr>
          <a:xfrm>
            <a:off x="10274674"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Patents and IP</a:t>
            </a:r>
          </a:p>
        </p:txBody>
      </p:sp>
      <p:sp>
        <p:nvSpPr>
          <p:cNvPr id="23" name="TextBox 22"/>
          <p:cNvSpPr txBox="1"/>
          <p:nvPr/>
        </p:nvSpPr>
        <p:spPr>
          <a:xfrm>
            <a:off x="10274674"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Where the study covers patents</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Jade Leaf Matcha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Oval 27"/>
          <p:cNvSpPr/>
          <p:nvPr/>
        </p:nvSpPr>
        <p:spPr>
          <a:xfrm>
            <a:off x="2659436"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Oval 28"/>
          <p:cNvSpPr/>
          <p:nvPr/>
        </p:nvSpPr>
        <p:spPr>
          <a:xfrm>
            <a:off x="4130208" y="23241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 name="Freeform 29"/>
          <p:cNvSpPr/>
          <p:nvPr/>
        </p:nvSpPr>
        <p:spPr>
          <a:xfrm>
            <a:off x="4210050" y="23241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4979894"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32" name="TextBox 31"/>
          <p:cNvSpPr txBox="1"/>
          <p:nvPr/>
        </p:nvSpPr>
        <p:spPr>
          <a:xfrm>
            <a:off x="6744821"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 Dairy and Frozen Desserts</a:t>
            </a:r>
          </a:p>
        </p:txBody>
      </p:sp>
      <p:sp>
        <p:nvSpPr>
          <p:cNvPr id="33" name="TextBox 32"/>
          <p:cNvSpPr txBox="1"/>
          <p:nvPr/>
        </p:nvSpPr>
        <p:spPr>
          <a:xfrm>
            <a:off x="8471647"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4" name="TextBox 33"/>
          <p:cNvSpPr txBox="1"/>
          <p:nvPr/>
        </p:nvSpPr>
        <p:spPr>
          <a:xfrm>
            <a:off x="10236574"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35" name="Connector 34"/>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DoMatcha</a:t>
            </a:r>
          </a:p>
        </p:txBody>
      </p:sp>
      <p:sp>
        <p:nvSpPr>
          <p:cNvPr id="38" name="TextBox 37"/>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9" name="Oval 38"/>
          <p:cNvSpPr/>
          <p:nvPr/>
        </p:nvSpPr>
        <p:spPr>
          <a:xfrm>
            <a:off x="2659436" y="26670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Freeform 39"/>
          <p:cNvSpPr/>
          <p:nvPr/>
        </p:nvSpPr>
        <p:spPr>
          <a:xfrm>
            <a:off x="2733675" y="26670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Oval 40"/>
          <p:cNvSpPr/>
          <p:nvPr/>
        </p:nvSpPr>
        <p:spPr>
          <a:xfrm>
            <a:off x="4130208"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4979894"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43" name="TextBox 42"/>
          <p:cNvSpPr txBox="1"/>
          <p:nvPr/>
        </p:nvSpPr>
        <p:spPr>
          <a:xfrm>
            <a:off x="6744821"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 Other Food Products</a:t>
            </a:r>
          </a:p>
        </p:txBody>
      </p:sp>
      <p:sp>
        <p:nvSpPr>
          <p:cNvPr id="44" name="TextBox 43"/>
          <p:cNvSpPr txBox="1"/>
          <p:nvPr/>
        </p:nvSpPr>
        <p:spPr>
          <a:xfrm>
            <a:off x="8471647"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5" name="TextBox 44"/>
          <p:cNvSpPr txBox="1"/>
          <p:nvPr/>
        </p:nvSpPr>
        <p:spPr>
          <a:xfrm>
            <a:off x="10236574"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46" name="Connector 45"/>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7" name="Rectangle 46"/>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Encha</a:t>
            </a:r>
          </a:p>
        </p:txBody>
      </p:sp>
      <p:sp>
        <p:nvSpPr>
          <p:cNvPr id="49" name="TextBox 48"/>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0" name="Oval 49"/>
          <p:cNvSpPr/>
          <p:nvPr/>
        </p:nvSpPr>
        <p:spPr>
          <a:xfrm>
            <a:off x="2659436"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reeform 50"/>
          <p:cNvSpPr/>
          <p:nvPr/>
        </p:nvSpPr>
        <p:spPr>
          <a:xfrm>
            <a:off x="2733675" y="30099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Oval 51"/>
          <p:cNvSpPr/>
          <p:nvPr/>
        </p:nvSpPr>
        <p:spPr>
          <a:xfrm>
            <a:off x="4130208" y="30099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4210050" y="30099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4979894"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55" name="TextBox 54"/>
          <p:cNvSpPr txBox="1"/>
          <p:nvPr/>
        </p:nvSpPr>
        <p:spPr>
          <a:xfrm>
            <a:off x="6744821"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Dairy and Frozen Desserts, Other Food Products</a:t>
            </a:r>
          </a:p>
        </p:txBody>
      </p:sp>
      <p:sp>
        <p:nvSpPr>
          <p:cNvPr id="56" name="TextBox 55"/>
          <p:cNvSpPr txBox="1"/>
          <p:nvPr/>
        </p:nvSpPr>
        <p:spPr>
          <a:xfrm>
            <a:off x="8471647"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7" name="TextBox 56"/>
          <p:cNvSpPr txBox="1"/>
          <p:nvPr/>
        </p:nvSpPr>
        <p:spPr>
          <a:xfrm>
            <a:off x="10236574"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58" name="Connector 57"/>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9" name="Rectangle 58"/>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Rishi Tea and Botanicals</a:t>
            </a:r>
          </a:p>
        </p:txBody>
      </p:sp>
      <p:sp>
        <p:nvSpPr>
          <p:cNvPr id="61" name="TextBox 60"/>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62" name="Oval 61"/>
          <p:cNvSpPr/>
          <p:nvPr/>
        </p:nvSpPr>
        <p:spPr>
          <a:xfrm>
            <a:off x="2659436" y="33528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Freeform 62"/>
          <p:cNvSpPr/>
          <p:nvPr/>
        </p:nvSpPr>
        <p:spPr>
          <a:xfrm>
            <a:off x="2733675" y="33528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Oval 63"/>
          <p:cNvSpPr/>
          <p:nvPr/>
        </p:nvSpPr>
        <p:spPr>
          <a:xfrm>
            <a:off x="4130208"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4979894"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Premium / bundled</a:t>
            </a:r>
          </a:p>
        </p:txBody>
      </p:sp>
      <p:sp>
        <p:nvSpPr>
          <p:cNvPr id="66" name="TextBox 65"/>
          <p:cNvSpPr txBox="1"/>
          <p:nvPr/>
        </p:nvSpPr>
        <p:spPr>
          <a:xfrm>
            <a:off x="6744821"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 Dairy and Frozen Desserts</a:t>
            </a:r>
          </a:p>
        </p:txBody>
      </p:sp>
      <p:sp>
        <p:nvSpPr>
          <p:cNvPr id="67" name="TextBox 66"/>
          <p:cNvSpPr txBox="1"/>
          <p:nvPr/>
        </p:nvSpPr>
        <p:spPr>
          <a:xfrm>
            <a:off x="8471647"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8" name="TextBox 67"/>
          <p:cNvSpPr txBox="1"/>
          <p:nvPr/>
        </p:nvSpPr>
        <p:spPr>
          <a:xfrm>
            <a:off x="10236574"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69" name="Connector 68"/>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0" name="Rectangle 69"/>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Tenzo</a:t>
            </a:r>
          </a:p>
        </p:txBody>
      </p:sp>
      <p:sp>
        <p:nvSpPr>
          <p:cNvPr id="72" name="TextBox 71"/>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3" name="Oval 72"/>
          <p:cNvSpPr/>
          <p:nvPr/>
        </p:nvSpPr>
        <p:spPr>
          <a:xfrm>
            <a:off x="2659436"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Oval 73"/>
          <p:cNvSpPr/>
          <p:nvPr/>
        </p:nvSpPr>
        <p:spPr>
          <a:xfrm>
            <a:off x="4130208"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Freeform 74"/>
          <p:cNvSpPr/>
          <p:nvPr/>
        </p:nvSpPr>
        <p:spPr>
          <a:xfrm>
            <a:off x="4210050" y="36957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6" name="TextBox 75"/>
          <p:cNvSpPr txBox="1"/>
          <p:nvPr/>
        </p:nvSpPr>
        <p:spPr>
          <a:xfrm>
            <a:off x="4979894"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77" name="TextBox 76"/>
          <p:cNvSpPr txBox="1"/>
          <p:nvPr/>
        </p:nvSpPr>
        <p:spPr>
          <a:xfrm>
            <a:off x="6744821"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 Other Food Products</a:t>
            </a:r>
          </a:p>
        </p:txBody>
      </p:sp>
      <p:sp>
        <p:nvSpPr>
          <p:cNvPr id="78" name="TextBox 77"/>
          <p:cNvSpPr txBox="1"/>
          <p:nvPr/>
        </p:nvSpPr>
        <p:spPr>
          <a:xfrm>
            <a:off x="8471647"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9" name="TextBox 78"/>
          <p:cNvSpPr txBox="1"/>
          <p:nvPr/>
        </p:nvSpPr>
        <p:spPr>
          <a:xfrm>
            <a:off x="10236574"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80" name="Connector 79"/>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1" name="Rectangle 80"/>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Matchaful</a:t>
            </a:r>
          </a:p>
        </p:txBody>
      </p:sp>
      <p:sp>
        <p:nvSpPr>
          <p:cNvPr id="83" name="TextBox 82"/>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84" name="Oval 83"/>
          <p:cNvSpPr/>
          <p:nvPr/>
        </p:nvSpPr>
        <p:spPr>
          <a:xfrm>
            <a:off x="2659436"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2733675" y="40386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Oval 85"/>
          <p:cNvSpPr/>
          <p:nvPr/>
        </p:nvSpPr>
        <p:spPr>
          <a:xfrm>
            <a:off x="4130208"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979894"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Mid / value-added</a:t>
            </a:r>
          </a:p>
        </p:txBody>
      </p:sp>
      <p:sp>
        <p:nvSpPr>
          <p:cNvPr id="88" name="TextBox 87"/>
          <p:cNvSpPr txBox="1"/>
          <p:nvPr/>
        </p:nvSpPr>
        <p:spPr>
          <a:xfrm>
            <a:off x="6744821"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Dairy and Frozen Desserts, Other Food Products</a:t>
            </a:r>
          </a:p>
        </p:txBody>
      </p:sp>
      <p:sp>
        <p:nvSpPr>
          <p:cNvPr id="89" name="TextBox 88"/>
          <p:cNvSpPr txBox="1"/>
          <p:nvPr/>
        </p:nvSpPr>
        <p:spPr>
          <a:xfrm>
            <a:off x="8471647"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0" name="TextBox 89"/>
          <p:cNvSpPr txBox="1"/>
          <p:nvPr/>
        </p:nvSpPr>
        <p:spPr>
          <a:xfrm>
            <a:off x="10236574"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91" name="Connector 90"/>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2" name="Rectangle 91"/>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Kettl</a:t>
            </a:r>
          </a:p>
        </p:txBody>
      </p:sp>
      <p:sp>
        <p:nvSpPr>
          <p:cNvPr id="94" name="TextBox 93"/>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5" name="Oval 94"/>
          <p:cNvSpPr/>
          <p:nvPr/>
        </p:nvSpPr>
        <p:spPr>
          <a:xfrm>
            <a:off x="2659436"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2733675" y="43815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4130208"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Freeform 97"/>
          <p:cNvSpPr/>
          <p:nvPr/>
        </p:nvSpPr>
        <p:spPr>
          <a:xfrm>
            <a:off x="4210050" y="43815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979894"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00" name="TextBox 99"/>
          <p:cNvSpPr txBox="1"/>
          <p:nvPr/>
        </p:nvSpPr>
        <p:spPr>
          <a:xfrm>
            <a:off x="6744821"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 Dairy and Frozen Desserts</a:t>
            </a:r>
          </a:p>
        </p:txBody>
      </p:sp>
      <p:sp>
        <p:nvSpPr>
          <p:cNvPr id="101" name="TextBox 100"/>
          <p:cNvSpPr txBox="1"/>
          <p:nvPr/>
        </p:nvSpPr>
        <p:spPr>
          <a:xfrm>
            <a:off x="8471647"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2" name="TextBox 101"/>
          <p:cNvSpPr txBox="1"/>
          <p:nvPr/>
        </p:nvSpPr>
        <p:spPr>
          <a:xfrm>
            <a:off x="10236574"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03" name="Connector 102"/>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4" name="Rectangle 103"/>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Harney and Sons</a:t>
            </a:r>
          </a:p>
        </p:txBody>
      </p:sp>
      <p:sp>
        <p:nvSpPr>
          <p:cNvPr id="106" name="TextBox 105"/>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7" name="Oval 106"/>
          <p:cNvSpPr/>
          <p:nvPr/>
        </p:nvSpPr>
        <p:spPr>
          <a:xfrm>
            <a:off x="2659436"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2733675" y="47244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4130208"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979894"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11" name="TextBox 110"/>
          <p:cNvSpPr txBox="1"/>
          <p:nvPr/>
        </p:nvSpPr>
        <p:spPr>
          <a:xfrm>
            <a:off x="6744821"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 Other Food Products</a:t>
            </a:r>
          </a:p>
        </p:txBody>
      </p:sp>
      <p:sp>
        <p:nvSpPr>
          <p:cNvPr id="112" name="TextBox 111"/>
          <p:cNvSpPr txBox="1"/>
          <p:nvPr/>
        </p:nvSpPr>
        <p:spPr>
          <a:xfrm>
            <a:off x="8471647"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3" name="TextBox 112"/>
          <p:cNvSpPr txBox="1"/>
          <p:nvPr/>
        </p:nvSpPr>
        <p:spPr>
          <a:xfrm>
            <a:off x="10236574"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14" name="Connector 113"/>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5" name="Rectangle 114"/>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Sencha Naturals</a:t>
            </a:r>
          </a:p>
        </p:txBody>
      </p:sp>
      <p:sp>
        <p:nvSpPr>
          <p:cNvPr id="117" name="TextBox 116"/>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8" name="Oval 117"/>
          <p:cNvSpPr/>
          <p:nvPr/>
        </p:nvSpPr>
        <p:spPr>
          <a:xfrm>
            <a:off x="2659436"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Oval 118"/>
          <p:cNvSpPr/>
          <p:nvPr/>
        </p:nvSpPr>
        <p:spPr>
          <a:xfrm>
            <a:off x="4130208"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Freeform 119"/>
          <p:cNvSpPr/>
          <p:nvPr/>
        </p:nvSpPr>
        <p:spPr>
          <a:xfrm>
            <a:off x="4210050" y="5067300"/>
            <a:ext cx="76200" cy="152400"/>
          </a:xfrm>
          <a:custGeom>
            <a:avLst/>
            <a:gdLst/>
            <a:ahLst/>
            <a:cxnLst/>
            <a:rect l="l" t="t" r="r" b="b"/>
            <a:pathLst>
              <a:path w="8" h="16">
                <a:moveTo>
                  <a:pt x="0" y="8"/>
                </a:moveTo>
                <a:lnTo>
                  <a:pt x="0" y="0"/>
                </a:lnTo>
                <a:lnTo>
                  <a:pt x="1" y="0"/>
                </a:lnTo>
                <a:lnTo>
                  <a:pt x="2" y="0"/>
                </a:lnTo>
                <a:lnTo>
                  <a:pt x="4" y="1"/>
                </a:lnTo>
                <a:lnTo>
                  <a:pt x="5" y="2"/>
                </a:lnTo>
                <a:lnTo>
                  <a:pt x="6" y="3"/>
                </a:lnTo>
                <a:lnTo>
                  <a:pt x="7" y="4"/>
                </a:lnTo>
                <a:lnTo>
                  <a:pt x="7" y="5"/>
                </a:lnTo>
                <a:lnTo>
                  <a:pt x="7" y="7"/>
                </a:lnTo>
                <a:lnTo>
                  <a:pt x="8" y="8"/>
                </a:lnTo>
                <a:lnTo>
                  <a:pt x="7" y="9"/>
                </a:lnTo>
                <a:lnTo>
                  <a:pt x="7" y="11"/>
                </a:lnTo>
                <a:lnTo>
                  <a:pt x="7" y="12"/>
                </a:lnTo>
                <a:lnTo>
                  <a:pt x="6" y="13"/>
                </a:lnTo>
                <a:lnTo>
                  <a:pt x="5" y="14"/>
                </a:lnTo>
                <a:lnTo>
                  <a:pt x="4" y="15"/>
                </a:lnTo>
                <a:lnTo>
                  <a:pt x="2"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4979894"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22" name="TextBox 121"/>
          <p:cNvSpPr txBox="1"/>
          <p:nvPr/>
        </p:nvSpPr>
        <p:spPr>
          <a:xfrm>
            <a:off x="6744821"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Dairy and Frozen Desserts, Other Food Products</a:t>
            </a:r>
          </a:p>
        </p:txBody>
      </p:sp>
      <p:sp>
        <p:nvSpPr>
          <p:cNvPr id="123" name="TextBox 122"/>
          <p:cNvSpPr txBox="1"/>
          <p:nvPr/>
        </p:nvSpPr>
        <p:spPr>
          <a:xfrm>
            <a:off x="8471647"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4" name="TextBox 123"/>
          <p:cNvSpPr txBox="1"/>
          <p:nvPr/>
        </p:nvSpPr>
        <p:spPr>
          <a:xfrm>
            <a:off x="10236574"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25" name="Connector 124"/>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6" name="Rectangle 125"/>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Aoi Matcha</a:t>
            </a:r>
          </a:p>
        </p:txBody>
      </p:sp>
      <p:sp>
        <p:nvSpPr>
          <p:cNvPr id="128" name="TextBox 127"/>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9" name="Oval 128"/>
          <p:cNvSpPr/>
          <p:nvPr/>
        </p:nvSpPr>
        <p:spPr>
          <a:xfrm>
            <a:off x="2659436"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Freeform 129"/>
          <p:cNvSpPr/>
          <p:nvPr/>
        </p:nvSpPr>
        <p:spPr>
          <a:xfrm>
            <a:off x="2733675" y="5410200"/>
            <a:ext cx="76200" cy="152400"/>
          </a:xfrm>
          <a:custGeom>
            <a:avLst/>
            <a:gdLst/>
            <a:ahLst/>
            <a:cxnLst/>
            <a:rect l="l" t="t" r="r" b="b"/>
            <a:pathLst>
              <a:path w="8" h="16">
                <a:moveTo>
                  <a:pt x="0" y="8"/>
                </a:moveTo>
                <a:lnTo>
                  <a:pt x="0" y="0"/>
                </a:lnTo>
                <a:lnTo>
                  <a:pt x="2"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2"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Oval 130"/>
          <p:cNvSpPr/>
          <p:nvPr/>
        </p:nvSpPr>
        <p:spPr>
          <a:xfrm>
            <a:off x="4130208"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4979894"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Value / entry</a:t>
            </a:r>
          </a:p>
        </p:txBody>
      </p:sp>
      <p:sp>
        <p:nvSpPr>
          <p:cNvPr id="133" name="TextBox 132"/>
          <p:cNvSpPr txBox="1"/>
          <p:nvPr/>
        </p:nvSpPr>
        <p:spPr>
          <a:xfrm>
            <a:off x="6744821"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Beverages, Dairy and Frozen Desserts</a:t>
            </a:r>
          </a:p>
        </p:txBody>
      </p:sp>
      <p:sp>
        <p:nvSpPr>
          <p:cNvPr id="134" name="TextBox 133"/>
          <p:cNvSpPr txBox="1"/>
          <p:nvPr/>
        </p:nvSpPr>
        <p:spPr>
          <a:xfrm>
            <a:off x="8471647"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35" name="TextBox 134"/>
          <p:cNvSpPr txBox="1"/>
          <p:nvPr/>
        </p:nvSpPr>
        <p:spPr>
          <a:xfrm>
            <a:off x="10236574"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cxnSp>
        <p:nvCxnSpPr>
          <p:cNvPr id="136" name="Connector 135"/>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7" name="Oval 136"/>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9" name="Oval 138"/>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42" name="Oval 141"/>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Freeform 142"/>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TextBox 143"/>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45" name="Oval 144"/>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7" name="TextBox 146"/>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8" name="TextBox 147"/>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breadth and technology strength do not always go together; the end uses each player serves show where it competes head to head.  Proof needs customer research.</a:t>
            </a:r>
          </a:p>
        </p:txBody>
      </p:sp>
      <p:sp>
        <p:nvSpPr>
          <p:cNvPr id="149" name="TextBox 148"/>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50" name="Picture 149" descr="lock.png"/>
          <p:cNvPicPr>
            <a:picLocks noChangeAspect="1"/>
          </p:cNvPicPr>
          <p:nvPr/>
        </p:nvPicPr>
        <p:blipFill>
          <a:blip r:embed="rId4"/>
          <a:stretch>
            <a:fillRect/>
          </a:stretch>
        </p:blipFill>
        <p:spPr>
          <a:xfrm>
            <a:off x="9289760" y="2306701"/>
            <a:ext cx="128699" cy="187198"/>
          </a:xfrm>
          <a:prstGeom prst="rect">
            <a:avLst/>
          </a:prstGeom>
        </p:spPr>
      </p:pic>
      <p:pic>
        <p:nvPicPr>
          <p:cNvPr id="151" name="Picture 150" descr="lock.png"/>
          <p:cNvPicPr>
            <a:picLocks noChangeAspect="1"/>
          </p:cNvPicPr>
          <p:nvPr/>
        </p:nvPicPr>
        <p:blipFill>
          <a:blip r:embed="rId4"/>
          <a:stretch>
            <a:fillRect/>
          </a:stretch>
        </p:blipFill>
        <p:spPr>
          <a:xfrm>
            <a:off x="11054687" y="2306701"/>
            <a:ext cx="128699" cy="187198"/>
          </a:xfrm>
          <a:prstGeom prst="rect">
            <a:avLst/>
          </a:prstGeom>
        </p:spPr>
      </p:pic>
      <p:pic>
        <p:nvPicPr>
          <p:cNvPr id="152" name="Picture 151" descr="lock.png"/>
          <p:cNvPicPr>
            <a:picLocks noChangeAspect="1"/>
          </p:cNvPicPr>
          <p:nvPr/>
        </p:nvPicPr>
        <p:blipFill>
          <a:blip r:embed="rId4"/>
          <a:stretch>
            <a:fillRect/>
          </a:stretch>
        </p:blipFill>
        <p:spPr>
          <a:xfrm>
            <a:off x="9289760" y="2649601"/>
            <a:ext cx="128699" cy="187198"/>
          </a:xfrm>
          <a:prstGeom prst="rect">
            <a:avLst/>
          </a:prstGeom>
        </p:spPr>
      </p:pic>
      <p:pic>
        <p:nvPicPr>
          <p:cNvPr id="153" name="Picture 152" descr="lock.png"/>
          <p:cNvPicPr>
            <a:picLocks noChangeAspect="1"/>
          </p:cNvPicPr>
          <p:nvPr/>
        </p:nvPicPr>
        <p:blipFill>
          <a:blip r:embed="rId4"/>
          <a:stretch>
            <a:fillRect/>
          </a:stretch>
        </p:blipFill>
        <p:spPr>
          <a:xfrm>
            <a:off x="11054687" y="2649601"/>
            <a:ext cx="128699" cy="187198"/>
          </a:xfrm>
          <a:prstGeom prst="rect">
            <a:avLst/>
          </a:prstGeom>
        </p:spPr>
      </p:pic>
      <p:pic>
        <p:nvPicPr>
          <p:cNvPr id="154" name="Picture 153" descr="lock.png"/>
          <p:cNvPicPr>
            <a:picLocks noChangeAspect="1"/>
          </p:cNvPicPr>
          <p:nvPr/>
        </p:nvPicPr>
        <p:blipFill>
          <a:blip r:embed="rId4"/>
          <a:stretch>
            <a:fillRect/>
          </a:stretch>
        </p:blipFill>
        <p:spPr>
          <a:xfrm>
            <a:off x="9289760" y="2992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11054687" y="29925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289760" y="3335401"/>
            <a:ext cx="128699" cy="187198"/>
          </a:xfrm>
          <a:prstGeom prst="rect">
            <a:avLst/>
          </a:prstGeom>
        </p:spPr>
      </p:pic>
      <p:pic>
        <p:nvPicPr>
          <p:cNvPr id="157" name="Picture 156" descr="lock.png"/>
          <p:cNvPicPr>
            <a:picLocks noChangeAspect="1"/>
          </p:cNvPicPr>
          <p:nvPr/>
        </p:nvPicPr>
        <p:blipFill>
          <a:blip r:embed="rId4"/>
          <a:stretch>
            <a:fillRect/>
          </a:stretch>
        </p:blipFill>
        <p:spPr>
          <a:xfrm>
            <a:off x="11054687" y="3335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289760" y="3678301"/>
            <a:ext cx="128699" cy="187198"/>
          </a:xfrm>
          <a:prstGeom prst="rect">
            <a:avLst/>
          </a:prstGeom>
        </p:spPr>
      </p:pic>
      <p:pic>
        <p:nvPicPr>
          <p:cNvPr id="159" name="Picture 158" descr="lock.png"/>
          <p:cNvPicPr>
            <a:picLocks noChangeAspect="1"/>
          </p:cNvPicPr>
          <p:nvPr/>
        </p:nvPicPr>
        <p:blipFill>
          <a:blip r:embed="rId4"/>
          <a:stretch>
            <a:fillRect/>
          </a:stretch>
        </p:blipFill>
        <p:spPr>
          <a:xfrm>
            <a:off x="11054687" y="3678301"/>
            <a:ext cx="128699" cy="187198"/>
          </a:xfrm>
          <a:prstGeom prst="rect">
            <a:avLst/>
          </a:prstGeom>
        </p:spPr>
      </p:pic>
      <p:pic>
        <p:nvPicPr>
          <p:cNvPr id="160" name="Picture 159" descr="lock.png"/>
          <p:cNvPicPr>
            <a:picLocks noChangeAspect="1"/>
          </p:cNvPicPr>
          <p:nvPr/>
        </p:nvPicPr>
        <p:blipFill>
          <a:blip r:embed="rId4"/>
          <a:stretch>
            <a:fillRect/>
          </a:stretch>
        </p:blipFill>
        <p:spPr>
          <a:xfrm>
            <a:off x="9289760" y="4021201"/>
            <a:ext cx="128699" cy="187198"/>
          </a:xfrm>
          <a:prstGeom prst="rect">
            <a:avLst/>
          </a:prstGeom>
        </p:spPr>
      </p:pic>
      <p:pic>
        <p:nvPicPr>
          <p:cNvPr id="161" name="Picture 160" descr="lock.png"/>
          <p:cNvPicPr>
            <a:picLocks noChangeAspect="1"/>
          </p:cNvPicPr>
          <p:nvPr/>
        </p:nvPicPr>
        <p:blipFill>
          <a:blip r:embed="rId4"/>
          <a:stretch>
            <a:fillRect/>
          </a:stretch>
        </p:blipFill>
        <p:spPr>
          <a:xfrm>
            <a:off x="11054687" y="4021201"/>
            <a:ext cx="128699" cy="187198"/>
          </a:xfrm>
          <a:prstGeom prst="rect">
            <a:avLst/>
          </a:prstGeom>
        </p:spPr>
      </p:pic>
      <p:pic>
        <p:nvPicPr>
          <p:cNvPr id="162" name="Picture 161" descr="lock.png"/>
          <p:cNvPicPr>
            <a:picLocks noChangeAspect="1"/>
          </p:cNvPicPr>
          <p:nvPr/>
        </p:nvPicPr>
        <p:blipFill>
          <a:blip r:embed="rId4"/>
          <a:stretch>
            <a:fillRect/>
          </a:stretch>
        </p:blipFill>
        <p:spPr>
          <a:xfrm>
            <a:off x="9289760" y="4364101"/>
            <a:ext cx="128699" cy="187198"/>
          </a:xfrm>
          <a:prstGeom prst="rect">
            <a:avLst/>
          </a:prstGeom>
        </p:spPr>
      </p:pic>
      <p:pic>
        <p:nvPicPr>
          <p:cNvPr id="163" name="Picture 162" descr="lock.png"/>
          <p:cNvPicPr>
            <a:picLocks noChangeAspect="1"/>
          </p:cNvPicPr>
          <p:nvPr/>
        </p:nvPicPr>
        <p:blipFill>
          <a:blip r:embed="rId4"/>
          <a:stretch>
            <a:fillRect/>
          </a:stretch>
        </p:blipFill>
        <p:spPr>
          <a:xfrm>
            <a:off x="11054687" y="4364101"/>
            <a:ext cx="128699" cy="187198"/>
          </a:xfrm>
          <a:prstGeom prst="rect">
            <a:avLst/>
          </a:prstGeom>
        </p:spPr>
      </p:pic>
      <p:pic>
        <p:nvPicPr>
          <p:cNvPr id="164" name="Picture 163" descr="lock.png"/>
          <p:cNvPicPr>
            <a:picLocks noChangeAspect="1"/>
          </p:cNvPicPr>
          <p:nvPr/>
        </p:nvPicPr>
        <p:blipFill>
          <a:blip r:embed="rId4"/>
          <a:stretch>
            <a:fillRect/>
          </a:stretch>
        </p:blipFill>
        <p:spPr>
          <a:xfrm>
            <a:off x="9289760" y="4707001"/>
            <a:ext cx="128699" cy="187198"/>
          </a:xfrm>
          <a:prstGeom prst="rect">
            <a:avLst/>
          </a:prstGeom>
        </p:spPr>
      </p:pic>
      <p:pic>
        <p:nvPicPr>
          <p:cNvPr id="165" name="Picture 164" descr="lock.png"/>
          <p:cNvPicPr>
            <a:picLocks noChangeAspect="1"/>
          </p:cNvPicPr>
          <p:nvPr/>
        </p:nvPicPr>
        <p:blipFill>
          <a:blip r:embed="rId4"/>
          <a:stretch>
            <a:fillRect/>
          </a:stretch>
        </p:blipFill>
        <p:spPr>
          <a:xfrm>
            <a:off x="11054687" y="47070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289760"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11054687" y="50499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289760" y="5392801"/>
            <a:ext cx="128699" cy="187198"/>
          </a:xfrm>
          <a:prstGeom prst="rect">
            <a:avLst/>
          </a:prstGeom>
        </p:spPr>
      </p:pic>
      <p:pic>
        <p:nvPicPr>
          <p:cNvPr id="169" name="Picture 168" descr="lock.png"/>
          <p:cNvPicPr>
            <a:picLocks noChangeAspect="1"/>
          </p:cNvPicPr>
          <p:nvPr/>
        </p:nvPicPr>
        <p:blipFill>
          <a:blip r:embed="rId4"/>
          <a:stretch>
            <a:fillRect/>
          </a:stretch>
        </p:blipFill>
        <p:spPr>
          <a:xfrm>
            <a:off x="11054687" y="5392801"/>
            <a:ext cx="128699" cy="187198"/>
          </a:xfrm>
          <a:prstGeom prst="rect">
            <a:avLst/>
          </a:prstGeom>
        </p:spPr>
      </p:pic>
    </p:spTree>
  </p:cSld>
  <p:clrMapOvr>
    <a:masterClrMapping/>
  </p:clrMapOvr>
</p:sld>
</file>

<file path=ppt/slides/slide298.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Execution Scorecard: How They Win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Six execution Ps: channel, promotion, momentum, pipeline, policy exposure and prospects</a:t>
            </a:r>
          </a:p>
        </p:txBody>
      </p:sp>
      <p:sp>
        <p:nvSpPr>
          <p:cNvPr id="10" name="Rectangle 9"/>
          <p:cNvSpPr/>
          <p:nvPr/>
        </p:nvSpPr>
        <p:spPr>
          <a:xfrm>
            <a:off x="190500" y="1047750"/>
            <a:ext cx="11811000" cy="2095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66700" y="1047750"/>
            <a:ext cx="6667500" cy="209550"/>
          </a:xfrm>
          <a:prstGeom prst="rect">
            <a:avLst/>
          </a:prstGeom>
          <a:noFill/>
        </p:spPr>
        <p:txBody>
          <a:bodyPr wrap="square" lIns="28575" rIns="28575" tIns="9525" bIns="9525" anchor="ctr">
            <a:spAutoFit/>
          </a:bodyPr>
          <a:lstStyle/>
          <a:p>
            <a:pPr algn="l"/>
            <a:r>
              <a:rPr sz="1100" b="1">
                <a:solidFill>
                  <a:srgbClr val="FFFFFF"/>
                </a:solidFill>
                <a:latin typeface="Calibri"/>
              </a:rPr>
              <a:t>LEVEL 3, EXECUTION: HOW THEY WIN</a:t>
            </a:r>
          </a:p>
        </p:txBody>
      </p:sp>
      <p:sp>
        <p:nvSpPr>
          <p:cNvPr id="12" name="TextBox 11"/>
          <p:cNvSpPr txBox="1"/>
          <p:nvPr/>
        </p:nvSpPr>
        <p:spPr>
          <a:xfrm>
            <a:off x="2038350"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Place (channel)</a:t>
            </a:r>
          </a:p>
        </p:txBody>
      </p:sp>
      <p:sp>
        <p:nvSpPr>
          <p:cNvPr id="13" name="TextBox 12"/>
          <p:cNvSpPr txBox="1"/>
          <p:nvPr/>
        </p:nvSpPr>
        <p:spPr>
          <a:xfrm>
            <a:off x="2038350"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Route to market by tier</a:t>
            </a:r>
          </a:p>
        </p:txBody>
      </p:sp>
      <p:sp>
        <p:nvSpPr>
          <p:cNvPr id="14" name="TextBox 13"/>
          <p:cNvSpPr txBox="1"/>
          <p:nvPr/>
        </p:nvSpPr>
        <p:spPr>
          <a:xfrm>
            <a:off x="3803276"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Promotion</a:t>
            </a:r>
          </a:p>
        </p:txBody>
      </p:sp>
      <p:sp>
        <p:nvSpPr>
          <p:cNvPr id="15" name="TextBox 14"/>
          <p:cNvSpPr txBox="1"/>
          <p:nvPr/>
        </p:nvSpPr>
        <p:spPr>
          <a:xfrm>
            <a:off x="3803276"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Go-to-market; not assessed</a:t>
            </a:r>
          </a:p>
        </p:txBody>
      </p:sp>
      <p:sp>
        <p:nvSpPr>
          <p:cNvPr id="16" name="TextBox 15"/>
          <p:cNvSpPr txBox="1"/>
          <p:nvPr/>
        </p:nvSpPr>
        <p:spPr>
          <a:xfrm>
            <a:off x="5568203"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Pace (momentum)</a:t>
            </a:r>
          </a:p>
        </p:txBody>
      </p:sp>
      <p:sp>
        <p:nvSpPr>
          <p:cNvPr id="17" name="TextBox 16"/>
          <p:cNvSpPr txBox="1"/>
          <p:nvPr/>
        </p:nvSpPr>
        <p:spPr>
          <a:xfrm>
            <a:off x="5568203"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Active moves: 5+ = 3, 3-4 = 2</a:t>
            </a:r>
          </a:p>
        </p:txBody>
      </p:sp>
      <p:sp>
        <p:nvSpPr>
          <p:cNvPr id="18" name="TextBox 17"/>
          <p:cNvSpPr txBox="1"/>
          <p:nvPr/>
        </p:nvSpPr>
        <p:spPr>
          <a:xfrm>
            <a:off x="7038975"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Pipeline</a:t>
            </a:r>
          </a:p>
        </p:txBody>
      </p:sp>
      <p:sp>
        <p:nvSpPr>
          <p:cNvPr id="19" name="TextBox 18"/>
          <p:cNvSpPr txBox="1"/>
          <p:nvPr/>
        </p:nvSpPr>
        <p:spPr>
          <a:xfrm>
            <a:off x="7038975"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Launch or development in motion</a:t>
            </a:r>
          </a:p>
        </p:txBody>
      </p:sp>
      <p:sp>
        <p:nvSpPr>
          <p:cNvPr id="20" name="TextBox 19"/>
          <p:cNvSpPr txBox="1"/>
          <p:nvPr/>
        </p:nvSpPr>
        <p:spPr>
          <a:xfrm>
            <a:off x="8803901" y="1295400"/>
            <a:ext cx="1688726"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Policy exposure</a:t>
            </a:r>
          </a:p>
        </p:txBody>
      </p:sp>
      <p:sp>
        <p:nvSpPr>
          <p:cNvPr id="21" name="TextBox 20"/>
          <p:cNvSpPr txBox="1"/>
          <p:nvPr/>
        </p:nvSpPr>
        <p:spPr>
          <a:xfrm>
            <a:off x="8803901" y="1657350"/>
            <a:ext cx="1688726"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Regulation in its favour or against</a:t>
            </a:r>
          </a:p>
        </p:txBody>
      </p:sp>
      <p:sp>
        <p:nvSpPr>
          <p:cNvPr id="22" name="TextBox 21"/>
          <p:cNvSpPr txBox="1"/>
          <p:nvPr/>
        </p:nvSpPr>
        <p:spPr>
          <a:xfrm>
            <a:off x="10568828" y="1295400"/>
            <a:ext cx="1394572" cy="342900"/>
          </a:xfrm>
          <a:prstGeom prst="rect">
            <a:avLst/>
          </a:prstGeom>
          <a:noFill/>
        </p:spPr>
        <p:txBody>
          <a:bodyPr wrap="square" lIns="28575" rIns="28575" tIns="9525" bIns="9525" anchor="ctr">
            <a:spAutoFit/>
          </a:bodyPr>
          <a:lstStyle/>
          <a:p>
            <a:pPr algn="l">
              <a:lnSpc>
                <a:spcPct val="115000"/>
              </a:lnSpc>
            </a:pPr>
            <a:r>
              <a:rPr sz="1100" b="1">
                <a:solidFill>
                  <a:srgbClr val="0F2D52"/>
                </a:solidFill>
                <a:latin typeface="Calibri"/>
              </a:rPr>
              <a:t>Prospects</a:t>
            </a:r>
          </a:p>
        </p:txBody>
      </p:sp>
      <p:sp>
        <p:nvSpPr>
          <p:cNvPr id="23" name="TextBox 22"/>
          <p:cNvSpPr txBox="1"/>
          <p:nvPr/>
        </p:nvSpPr>
        <p:spPr>
          <a:xfrm>
            <a:off x="10568828" y="1657350"/>
            <a:ext cx="1394572" cy="5143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Gaining 3, holding 2, at risk 1</a:t>
            </a:r>
          </a:p>
        </p:txBody>
      </p:sp>
      <p:cxnSp>
        <p:nvCxnSpPr>
          <p:cNvPr id="24" name="Connector 23"/>
          <p:cNvCxnSpPr/>
          <p:nvPr/>
        </p:nvCxnSpPr>
        <p:spPr>
          <a:xfrm>
            <a:off x="190500" y="22098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190500" y="22574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 name="TextBox 25"/>
          <p:cNvSpPr txBox="1"/>
          <p:nvPr/>
        </p:nvSpPr>
        <p:spPr>
          <a:xfrm>
            <a:off x="285750" y="22479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Jade Leaf Matcha</a:t>
            </a:r>
          </a:p>
        </p:txBody>
      </p:sp>
      <p:sp>
        <p:nvSpPr>
          <p:cNvPr id="27" name="TextBox 26"/>
          <p:cNvSpPr txBox="1"/>
          <p:nvPr/>
        </p:nvSpPr>
        <p:spPr>
          <a:xfrm>
            <a:off x="285750" y="24098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28" name="TextBox 27"/>
          <p:cNvSpPr txBox="1"/>
          <p:nvPr/>
        </p:nvSpPr>
        <p:spPr>
          <a:xfrm>
            <a:off x="2038350" y="22288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29" name="TextBox 28"/>
          <p:cNvSpPr txBox="1"/>
          <p:nvPr/>
        </p:nvSpPr>
        <p:spPr>
          <a:xfrm>
            <a:off x="3765176"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0" name="Oval 29"/>
          <p:cNvSpPr/>
          <p:nvPr/>
        </p:nvSpPr>
        <p:spPr>
          <a:xfrm>
            <a:off x="6189289"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7000875"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2" name="TextBox 31"/>
          <p:cNvSpPr txBox="1"/>
          <p:nvPr/>
        </p:nvSpPr>
        <p:spPr>
          <a:xfrm>
            <a:off x="8765801" y="22288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33" name="Oval 32"/>
          <p:cNvSpPr/>
          <p:nvPr/>
        </p:nvSpPr>
        <p:spPr>
          <a:xfrm>
            <a:off x="11189914" y="23241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4" name="Connector 33"/>
          <p:cNvCxnSpPr/>
          <p:nvPr/>
        </p:nvCxnSpPr>
        <p:spPr>
          <a:xfrm>
            <a:off x="190500" y="2571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190500" y="26003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TextBox 35"/>
          <p:cNvSpPr txBox="1"/>
          <p:nvPr/>
        </p:nvSpPr>
        <p:spPr>
          <a:xfrm>
            <a:off x="285750" y="25908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DoMatcha</a:t>
            </a:r>
          </a:p>
        </p:txBody>
      </p:sp>
      <p:sp>
        <p:nvSpPr>
          <p:cNvPr id="37" name="TextBox 36"/>
          <p:cNvSpPr txBox="1"/>
          <p:nvPr/>
        </p:nvSpPr>
        <p:spPr>
          <a:xfrm>
            <a:off x="285750" y="27527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38" name="TextBox 37"/>
          <p:cNvSpPr txBox="1"/>
          <p:nvPr/>
        </p:nvSpPr>
        <p:spPr>
          <a:xfrm>
            <a:off x="2038350"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39" name="TextBox 38"/>
          <p:cNvSpPr txBox="1"/>
          <p:nvPr/>
        </p:nvSpPr>
        <p:spPr>
          <a:xfrm>
            <a:off x="3765176"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0" name="Oval 39"/>
          <p:cNvSpPr/>
          <p:nvPr/>
        </p:nvSpPr>
        <p:spPr>
          <a:xfrm>
            <a:off x="6189289"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7038975" y="25717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42" name="TextBox 41"/>
          <p:cNvSpPr txBox="1"/>
          <p:nvPr/>
        </p:nvSpPr>
        <p:spPr>
          <a:xfrm>
            <a:off x="8765801" y="25717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43" name="Oval 42"/>
          <p:cNvSpPr/>
          <p:nvPr/>
        </p:nvSpPr>
        <p:spPr>
          <a:xfrm>
            <a:off x="11189914" y="26670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44" name="Connector 43"/>
          <p:cNvCxnSpPr/>
          <p:nvPr/>
        </p:nvCxnSpPr>
        <p:spPr>
          <a:xfrm>
            <a:off x="190500" y="29146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90500" y="29432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285750" y="29337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Encha</a:t>
            </a:r>
          </a:p>
        </p:txBody>
      </p:sp>
      <p:sp>
        <p:nvSpPr>
          <p:cNvPr id="47" name="TextBox 46"/>
          <p:cNvSpPr txBox="1"/>
          <p:nvPr/>
        </p:nvSpPr>
        <p:spPr>
          <a:xfrm>
            <a:off x="285750" y="30956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48" name="TextBox 47"/>
          <p:cNvSpPr txBox="1"/>
          <p:nvPr/>
        </p:nvSpPr>
        <p:spPr>
          <a:xfrm>
            <a:off x="2038350" y="29146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49" name="TextBox 48"/>
          <p:cNvSpPr txBox="1"/>
          <p:nvPr/>
        </p:nvSpPr>
        <p:spPr>
          <a:xfrm>
            <a:off x="3765176"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0" name="Oval 49"/>
          <p:cNvSpPr/>
          <p:nvPr/>
        </p:nvSpPr>
        <p:spPr>
          <a:xfrm>
            <a:off x="6189289"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7000875"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2" name="TextBox 51"/>
          <p:cNvSpPr txBox="1"/>
          <p:nvPr/>
        </p:nvSpPr>
        <p:spPr>
          <a:xfrm>
            <a:off x="8765801" y="29146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53" name="Oval 52"/>
          <p:cNvSpPr/>
          <p:nvPr/>
        </p:nvSpPr>
        <p:spPr>
          <a:xfrm>
            <a:off x="11189914" y="30099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54" name="Connector 53"/>
          <p:cNvCxnSpPr/>
          <p:nvPr/>
        </p:nvCxnSpPr>
        <p:spPr>
          <a:xfrm>
            <a:off x="190500" y="3257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5" name="Rectangle 54"/>
          <p:cNvSpPr/>
          <p:nvPr/>
        </p:nvSpPr>
        <p:spPr>
          <a:xfrm>
            <a:off x="190500" y="3286125"/>
            <a:ext cx="38100" cy="2857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TextBox 55"/>
          <p:cNvSpPr txBox="1"/>
          <p:nvPr/>
        </p:nvSpPr>
        <p:spPr>
          <a:xfrm>
            <a:off x="285750" y="32766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Rishi Tea and Botanicals</a:t>
            </a:r>
          </a:p>
        </p:txBody>
      </p:sp>
      <p:sp>
        <p:nvSpPr>
          <p:cNvPr id="57" name="TextBox 56"/>
          <p:cNvSpPr txBox="1"/>
          <p:nvPr/>
        </p:nvSpPr>
        <p:spPr>
          <a:xfrm>
            <a:off x="285750" y="34385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1</a:t>
            </a:r>
          </a:p>
        </p:txBody>
      </p:sp>
      <p:sp>
        <p:nvSpPr>
          <p:cNvPr id="58" name="TextBox 57"/>
          <p:cNvSpPr txBox="1"/>
          <p:nvPr/>
        </p:nvSpPr>
        <p:spPr>
          <a:xfrm>
            <a:off x="2038350"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Direct + key accounts</a:t>
            </a:r>
          </a:p>
        </p:txBody>
      </p:sp>
      <p:sp>
        <p:nvSpPr>
          <p:cNvPr id="59" name="TextBox 58"/>
          <p:cNvSpPr txBox="1"/>
          <p:nvPr/>
        </p:nvSpPr>
        <p:spPr>
          <a:xfrm>
            <a:off x="3765176"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0" name="Oval 59"/>
          <p:cNvSpPr/>
          <p:nvPr/>
        </p:nvSpPr>
        <p:spPr>
          <a:xfrm>
            <a:off x="6189289"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7038975" y="32575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62" name="TextBox 61"/>
          <p:cNvSpPr txBox="1"/>
          <p:nvPr/>
        </p:nvSpPr>
        <p:spPr>
          <a:xfrm>
            <a:off x="8765801" y="32575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63" name="Oval 62"/>
          <p:cNvSpPr/>
          <p:nvPr/>
        </p:nvSpPr>
        <p:spPr>
          <a:xfrm>
            <a:off x="11189914" y="33528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64" name="Connector 63"/>
          <p:cNvCxnSpPr/>
          <p:nvPr/>
        </p:nvCxnSpPr>
        <p:spPr>
          <a:xfrm>
            <a:off x="190500" y="36004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5" name="Rectangle 64"/>
          <p:cNvSpPr/>
          <p:nvPr/>
        </p:nvSpPr>
        <p:spPr>
          <a:xfrm>
            <a:off x="190500" y="36290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285750" y="36195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Tenzo</a:t>
            </a:r>
          </a:p>
        </p:txBody>
      </p:sp>
      <p:sp>
        <p:nvSpPr>
          <p:cNvPr id="67" name="TextBox 66"/>
          <p:cNvSpPr txBox="1"/>
          <p:nvPr/>
        </p:nvSpPr>
        <p:spPr>
          <a:xfrm>
            <a:off x="285750" y="37814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68" name="TextBox 67"/>
          <p:cNvSpPr txBox="1"/>
          <p:nvPr/>
        </p:nvSpPr>
        <p:spPr>
          <a:xfrm>
            <a:off x="2038350" y="36004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69" name="TextBox 68"/>
          <p:cNvSpPr txBox="1"/>
          <p:nvPr/>
        </p:nvSpPr>
        <p:spPr>
          <a:xfrm>
            <a:off x="3765176"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0" name="Oval 69"/>
          <p:cNvSpPr/>
          <p:nvPr/>
        </p:nvSpPr>
        <p:spPr>
          <a:xfrm>
            <a:off x="6189289" y="36957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7000875"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2" name="TextBox 71"/>
          <p:cNvSpPr txBox="1"/>
          <p:nvPr/>
        </p:nvSpPr>
        <p:spPr>
          <a:xfrm>
            <a:off x="8765801" y="36004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73" name="Oval 72"/>
          <p:cNvSpPr/>
          <p:nvPr/>
        </p:nvSpPr>
        <p:spPr>
          <a:xfrm>
            <a:off x="11189914" y="36957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4" name="Freeform 73"/>
          <p:cNvSpPr/>
          <p:nvPr/>
        </p:nvSpPr>
        <p:spPr>
          <a:xfrm>
            <a:off x="11268075" y="36957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75" name="Connector 74"/>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6" name="Rectangle 75"/>
          <p:cNvSpPr/>
          <p:nvPr/>
        </p:nvSpPr>
        <p:spPr>
          <a:xfrm>
            <a:off x="190500" y="3971925"/>
            <a:ext cx="38100" cy="2857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285750" y="39624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Matchaful</a:t>
            </a:r>
          </a:p>
        </p:txBody>
      </p:sp>
      <p:sp>
        <p:nvSpPr>
          <p:cNvPr id="78" name="TextBox 77"/>
          <p:cNvSpPr txBox="1"/>
          <p:nvPr/>
        </p:nvSpPr>
        <p:spPr>
          <a:xfrm>
            <a:off x="285750" y="41243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2</a:t>
            </a:r>
          </a:p>
        </p:txBody>
      </p:sp>
      <p:sp>
        <p:nvSpPr>
          <p:cNvPr id="79" name="TextBox 78"/>
          <p:cNvSpPr txBox="1"/>
          <p:nvPr/>
        </p:nvSpPr>
        <p:spPr>
          <a:xfrm>
            <a:off x="2038350"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Distributors</a:t>
            </a:r>
          </a:p>
        </p:txBody>
      </p:sp>
      <p:sp>
        <p:nvSpPr>
          <p:cNvPr id="80" name="TextBox 79"/>
          <p:cNvSpPr txBox="1"/>
          <p:nvPr/>
        </p:nvSpPr>
        <p:spPr>
          <a:xfrm>
            <a:off x="3765176"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1" name="Oval 80"/>
          <p:cNvSpPr/>
          <p:nvPr/>
        </p:nvSpPr>
        <p:spPr>
          <a:xfrm>
            <a:off x="6189289" y="40386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TextBox 81"/>
          <p:cNvSpPr txBox="1"/>
          <p:nvPr/>
        </p:nvSpPr>
        <p:spPr>
          <a:xfrm>
            <a:off x="7038975" y="39433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83" name="TextBox 82"/>
          <p:cNvSpPr txBox="1"/>
          <p:nvPr/>
        </p:nvSpPr>
        <p:spPr>
          <a:xfrm>
            <a:off x="8765801" y="39433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84" name="Oval 83"/>
          <p:cNvSpPr/>
          <p:nvPr/>
        </p:nvSpPr>
        <p:spPr>
          <a:xfrm>
            <a:off x="11189914" y="40386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Freeform 84"/>
          <p:cNvSpPr/>
          <p:nvPr/>
        </p:nvSpPr>
        <p:spPr>
          <a:xfrm>
            <a:off x="11268075" y="40386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86" name="Connector 85"/>
          <p:cNvCxnSpPr/>
          <p:nvPr/>
        </p:nvCxnSpPr>
        <p:spPr>
          <a:xfrm>
            <a:off x="190500" y="42862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43148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43053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Kettl</a:t>
            </a:r>
          </a:p>
        </p:txBody>
      </p:sp>
      <p:sp>
        <p:nvSpPr>
          <p:cNvPr id="89" name="TextBox 88"/>
          <p:cNvSpPr txBox="1"/>
          <p:nvPr/>
        </p:nvSpPr>
        <p:spPr>
          <a:xfrm>
            <a:off x="285750" y="44672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90" name="TextBox 89"/>
          <p:cNvSpPr txBox="1"/>
          <p:nvPr/>
        </p:nvSpPr>
        <p:spPr>
          <a:xfrm>
            <a:off x="2038350" y="42862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91" name="TextBox 90"/>
          <p:cNvSpPr txBox="1"/>
          <p:nvPr/>
        </p:nvSpPr>
        <p:spPr>
          <a:xfrm>
            <a:off x="3765176"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2" name="Oval 91"/>
          <p:cNvSpPr/>
          <p:nvPr/>
        </p:nvSpPr>
        <p:spPr>
          <a:xfrm>
            <a:off x="6189289" y="43815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7000875"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4" name="TextBox 93"/>
          <p:cNvSpPr txBox="1"/>
          <p:nvPr/>
        </p:nvSpPr>
        <p:spPr>
          <a:xfrm>
            <a:off x="8765801" y="42862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95" name="Oval 94"/>
          <p:cNvSpPr/>
          <p:nvPr/>
        </p:nvSpPr>
        <p:spPr>
          <a:xfrm>
            <a:off x="11189914" y="43815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11268075" y="43815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97" name="Connector 96"/>
          <p:cNvCxnSpPr/>
          <p:nvPr/>
        </p:nvCxnSpPr>
        <p:spPr>
          <a:xfrm>
            <a:off x="190500" y="4629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190500" y="46577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285750" y="46482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Harney and Sons</a:t>
            </a:r>
          </a:p>
        </p:txBody>
      </p:sp>
      <p:sp>
        <p:nvSpPr>
          <p:cNvPr id="100" name="TextBox 99"/>
          <p:cNvSpPr txBox="1"/>
          <p:nvPr/>
        </p:nvSpPr>
        <p:spPr>
          <a:xfrm>
            <a:off x="285750" y="48101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01" name="TextBox 100"/>
          <p:cNvSpPr txBox="1"/>
          <p:nvPr/>
        </p:nvSpPr>
        <p:spPr>
          <a:xfrm>
            <a:off x="2038350"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02" name="TextBox 101"/>
          <p:cNvSpPr txBox="1"/>
          <p:nvPr/>
        </p:nvSpPr>
        <p:spPr>
          <a:xfrm>
            <a:off x="3765176"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3" name="Oval 102"/>
          <p:cNvSpPr/>
          <p:nvPr/>
        </p:nvSpPr>
        <p:spPr>
          <a:xfrm>
            <a:off x="6189289" y="47244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7038975" y="46291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05" name="TextBox 104"/>
          <p:cNvSpPr txBox="1"/>
          <p:nvPr/>
        </p:nvSpPr>
        <p:spPr>
          <a:xfrm>
            <a:off x="8765801" y="46291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06" name="Oval 105"/>
          <p:cNvSpPr/>
          <p:nvPr/>
        </p:nvSpPr>
        <p:spPr>
          <a:xfrm>
            <a:off x="11189914" y="47244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Freeform 106"/>
          <p:cNvSpPr/>
          <p:nvPr/>
        </p:nvSpPr>
        <p:spPr>
          <a:xfrm>
            <a:off x="11268075" y="472440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7"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08" name="Connector 107"/>
          <p:cNvCxnSpPr/>
          <p:nvPr/>
        </p:nvCxnSpPr>
        <p:spPr>
          <a:xfrm>
            <a:off x="190500" y="49720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9" name="Rectangle 108"/>
          <p:cNvSpPr/>
          <p:nvPr/>
        </p:nvSpPr>
        <p:spPr>
          <a:xfrm>
            <a:off x="190500" y="50006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285750" y="49911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Sencha Naturals</a:t>
            </a:r>
          </a:p>
        </p:txBody>
      </p:sp>
      <p:sp>
        <p:nvSpPr>
          <p:cNvPr id="111" name="TextBox 110"/>
          <p:cNvSpPr txBox="1"/>
          <p:nvPr/>
        </p:nvSpPr>
        <p:spPr>
          <a:xfrm>
            <a:off x="285750" y="51530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12" name="TextBox 111"/>
          <p:cNvSpPr txBox="1"/>
          <p:nvPr/>
        </p:nvSpPr>
        <p:spPr>
          <a:xfrm>
            <a:off x="2038350" y="49720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13" name="TextBox 112"/>
          <p:cNvSpPr txBox="1"/>
          <p:nvPr/>
        </p:nvSpPr>
        <p:spPr>
          <a:xfrm>
            <a:off x="3765176"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4" name="Oval 113"/>
          <p:cNvSpPr/>
          <p:nvPr/>
        </p:nvSpPr>
        <p:spPr>
          <a:xfrm>
            <a:off x="6189289" y="50673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7000875"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6" name="TextBox 115"/>
          <p:cNvSpPr txBox="1"/>
          <p:nvPr/>
        </p:nvSpPr>
        <p:spPr>
          <a:xfrm>
            <a:off x="8765801" y="49720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17" name="Oval 116"/>
          <p:cNvSpPr/>
          <p:nvPr/>
        </p:nvSpPr>
        <p:spPr>
          <a:xfrm>
            <a:off x="11189914" y="50673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Freeform 117"/>
          <p:cNvSpPr/>
          <p:nvPr/>
        </p:nvSpPr>
        <p:spPr>
          <a:xfrm>
            <a:off x="11268075" y="50673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19" name="Connector 118"/>
          <p:cNvCxnSpPr/>
          <p:nvPr/>
        </p:nvCxnSpPr>
        <p:spPr>
          <a:xfrm>
            <a:off x="190500" y="5314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0" name="Rectangle 119"/>
          <p:cNvSpPr/>
          <p:nvPr/>
        </p:nvSpPr>
        <p:spPr>
          <a:xfrm>
            <a:off x="190500" y="5343525"/>
            <a:ext cx="38100" cy="2857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285750" y="5334000"/>
            <a:ext cx="1695450" cy="171450"/>
          </a:xfrm>
          <a:prstGeom prst="rect">
            <a:avLst/>
          </a:prstGeom>
          <a:noFill/>
        </p:spPr>
        <p:txBody>
          <a:bodyPr wrap="square" lIns="28575" rIns="28575" tIns="9525" bIns="9525" anchor="t">
            <a:spAutoFit/>
          </a:bodyPr>
          <a:lstStyle/>
          <a:p>
            <a:pPr algn="l"/>
            <a:r>
              <a:rPr sz="1100" b="1">
                <a:solidFill>
                  <a:srgbClr val="1F2933"/>
                </a:solidFill>
                <a:latin typeface="Calibri"/>
              </a:rPr>
              <a:t>Aoi Matcha</a:t>
            </a:r>
          </a:p>
        </p:txBody>
      </p:sp>
      <p:sp>
        <p:nvSpPr>
          <p:cNvPr id="122" name="TextBox 121"/>
          <p:cNvSpPr txBox="1"/>
          <p:nvPr/>
        </p:nvSpPr>
        <p:spPr>
          <a:xfrm>
            <a:off x="285750" y="5495925"/>
            <a:ext cx="1695450" cy="152400"/>
          </a:xfrm>
          <a:prstGeom prst="rect">
            <a:avLst/>
          </a:prstGeom>
          <a:noFill/>
        </p:spPr>
        <p:txBody>
          <a:bodyPr wrap="square" lIns="28575" rIns="28575" tIns="9525" bIns="9525" anchor="t">
            <a:spAutoFit/>
          </a:bodyPr>
          <a:lstStyle/>
          <a:p>
            <a:pPr algn="l"/>
            <a:r>
              <a:rPr sz="1100" b="0">
                <a:solidFill>
                  <a:srgbClr val="5F6B7A"/>
                </a:solidFill>
                <a:latin typeface="Calibri"/>
              </a:rPr>
              <a:t>Tier 3</a:t>
            </a:r>
          </a:p>
        </p:txBody>
      </p:sp>
      <p:sp>
        <p:nvSpPr>
          <p:cNvPr id="123" name="TextBox 122"/>
          <p:cNvSpPr txBox="1"/>
          <p:nvPr/>
        </p:nvSpPr>
        <p:spPr>
          <a:xfrm>
            <a:off x="2038350"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Regional partners</a:t>
            </a:r>
          </a:p>
        </p:txBody>
      </p:sp>
      <p:sp>
        <p:nvSpPr>
          <p:cNvPr id="124" name="TextBox 123"/>
          <p:cNvSpPr txBox="1"/>
          <p:nvPr/>
        </p:nvSpPr>
        <p:spPr>
          <a:xfrm>
            <a:off x="3765176"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5" name="Oval 124"/>
          <p:cNvSpPr/>
          <p:nvPr/>
        </p:nvSpPr>
        <p:spPr>
          <a:xfrm>
            <a:off x="6189289" y="541020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7038975" y="5314950"/>
            <a:ext cx="1688726" cy="342900"/>
          </a:xfrm>
          <a:prstGeom prst="rect">
            <a:avLst/>
          </a:prstGeom>
          <a:noFill/>
        </p:spPr>
        <p:txBody>
          <a:bodyPr wrap="square" lIns="28575" rIns="28575" tIns="9525" bIns="9525" anchor="ctr">
            <a:spAutoFit/>
          </a:bodyPr>
          <a:lstStyle/>
          <a:p>
            <a:pPr algn="l">
              <a:lnSpc>
                <a:spcPct val="115000"/>
              </a:lnSpc>
            </a:pPr>
            <a:r>
              <a:rPr sz="1100" b="0">
                <a:solidFill>
                  <a:srgbClr val="1F2933"/>
                </a:solidFill>
                <a:latin typeface="Calibri"/>
              </a:rPr>
              <a:t>Launch pipeline</a:t>
            </a:r>
          </a:p>
        </p:txBody>
      </p:sp>
      <p:sp>
        <p:nvSpPr>
          <p:cNvPr id="127" name="TextBox 126"/>
          <p:cNvSpPr txBox="1"/>
          <p:nvPr/>
        </p:nvSpPr>
        <p:spPr>
          <a:xfrm>
            <a:off x="8765801" y="5314950"/>
            <a:ext cx="1764926" cy="342900"/>
          </a:xfrm>
          <a:prstGeom prst="rect">
            <a:avLst/>
          </a:prstGeom>
          <a:noFill/>
        </p:spPr>
        <p:txBody>
          <a:bodyPr wrap="square" lIns="28575" rIns="28575" tIns="9525" bIns="9525" anchor="ctr">
            <a:spAutoFit/>
          </a:bodyPr>
          <a:lstStyle/>
          <a:p>
            <a:pPr algn="ctr"/>
            <a:r>
              <a:rPr sz="1100" b="0">
                <a:solidFill>
                  <a:srgbClr val="5F6B7A"/>
                </a:solidFill>
                <a:latin typeface="Calibri"/>
              </a:rPr>
              <a:t/>
            </a:r>
          </a:p>
        </p:txBody>
      </p:sp>
      <p:sp>
        <p:nvSpPr>
          <p:cNvPr id="128" name="Oval 127"/>
          <p:cNvSpPr/>
          <p:nvPr/>
        </p:nvSpPr>
        <p:spPr>
          <a:xfrm>
            <a:off x="11189914" y="541020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Freeform 128"/>
          <p:cNvSpPr/>
          <p:nvPr/>
        </p:nvSpPr>
        <p:spPr>
          <a:xfrm>
            <a:off x="11268075" y="541020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7" y="5"/>
                </a:lnTo>
                <a:lnTo>
                  <a:pt x="8" y="7"/>
                </a:lnTo>
                <a:lnTo>
                  <a:pt x="8" y="8"/>
                </a:lnTo>
                <a:lnTo>
                  <a:pt x="8" y="9"/>
                </a:lnTo>
                <a:lnTo>
                  <a:pt x="7"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30" name="Connector 129"/>
          <p:cNvCxnSpPr/>
          <p:nvPr/>
        </p:nvCxnSpPr>
        <p:spPr>
          <a:xfrm>
            <a:off x="190500" y="56578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31" name="Oval 130"/>
          <p:cNvSpPr/>
          <p:nvPr/>
        </p:nvSpPr>
        <p:spPr>
          <a:xfrm>
            <a:off x="200025" y="57340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TextBox 131"/>
          <p:cNvSpPr txBox="1"/>
          <p:nvPr/>
        </p:nvSpPr>
        <p:spPr>
          <a:xfrm>
            <a:off x="38100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33" name="Oval 132"/>
          <p:cNvSpPr/>
          <p:nvPr/>
        </p:nvSpPr>
        <p:spPr>
          <a:xfrm>
            <a:off x="2065020"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Freeform 133"/>
          <p:cNvSpPr/>
          <p:nvPr/>
        </p:nvSpPr>
        <p:spPr>
          <a:xfrm>
            <a:off x="2133600" y="57340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2245995"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36" name="Oval 135"/>
          <p:cNvSpPr/>
          <p:nvPr/>
        </p:nvSpPr>
        <p:spPr>
          <a:xfrm>
            <a:off x="367855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Freeform 136"/>
          <p:cNvSpPr/>
          <p:nvPr/>
        </p:nvSpPr>
        <p:spPr>
          <a:xfrm>
            <a:off x="3743325" y="57340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85953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39" name="Oval 138"/>
          <p:cNvSpPr/>
          <p:nvPr/>
        </p:nvSpPr>
        <p:spPr>
          <a:xfrm>
            <a:off x="5103495" y="57340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5284470" y="57150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41" name="TextBox 140"/>
          <p:cNvSpPr txBox="1"/>
          <p:nvPr/>
        </p:nvSpPr>
        <p:spPr>
          <a:xfrm>
            <a:off x="190500" y="59436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READING</a:t>
            </a:r>
          </a:p>
        </p:txBody>
      </p:sp>
      <p:sp>
        <p:nvSpPr>
          <p:cNvPr id="142" name="TextBox 141"/>
          <p:cNvSpPr txBox="1"/>
          <p:nvPr/>
        </p:nvSpPr>
        <p:spPr>
          <a:xfrm>
            <a:off x="190500" y="6096000"/>
            <a:ext cx="11811000" cy="2286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Momentum sits with the players running the most strategic moves; prospects combine breadth, reach, scale and pace.  Promotion and policy exposure need market and regulatory research.</a:t>
            </a:r>
          </a:p>
        </p:txBody>
      </p:sp>
      <p:sp>
        <p:nvSpPr>
          <p:cNvPr id="143" name="TextBox 14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4" name="Picture 143" descr="lock.png"/>
          <p:cNvPicPr>
            <a:picLocks noChangeAspect="1"/>
          </p:cNvPicPr>
          <p:nvPr/>
        </p:nvPicPr>
        <p:blipFill>
          <a:blip r:embed="rId4"/>
          <a:stretch>
            <a:fillRect/>
          </a:stretch>
        </p:blipFill>
        <p:spPr>
          <a:xfrm>
            <a:off x="4583289" y="2306701"/>
            <a:ext cx="128699" cy="187198"/>
          </a:xfrm>
          <a:prstGeom prst="rect">
            <a:avLst/>
          </a:prstGeom>
        </p:spPr>
      </p:pic>
      <p:pic>
        <p:nvPicPr>
          <p:cNvPr id="145" name="Picture 144" descr="lock.png"/>
          <p:cNvPicPr>
            <a:picLocks noChangeAspect="1"/>
          </p:cNvPicPr>
          <p:nvPr/>
        </p:nvPicPr>
        <p:blipFill>
          <a:blip r:embed="rId4"/>
          <a:stretch>
            <a:fillRect/>
          </a:stretch>
        </p:blipFill>
        <p:spPr>
          <a:xfrm>
            <a:off x="7818988" y="2306701"/>
            <a:ext cx="128699" cy="187198"/>
          </a:xfrm>
          <a:prstGeom prst="rect">
            <a:avLst/>
          </a:prstGeom>
        </p:spPr>
      </p:pic>
      <p:pic>
        <p:nvPicPr>
          <p:cNvPr id="146" name="Picture 145" descr="lock.png"/>
          <p:cNvPicPr>
            <a:picLocks noChangeAspect="1"/>
          </p:cNvPicPr>
          <p:nvPr/>
        </p:nvPicPr>
        <p:blipFill>
          <a:blip r:embed="rId4"/>
          <a:stretch>
            <a:fillRect/>
          </a:stretch>
        </p:blipFill>
        <p:spPr>
          <a:xfrm>
            <a:off x="9583914" y="2306701"/>
            <a:ext cx="128699" cy="187198"/>
          </a:xfrm>
          <a:prstGeom prst="rect">
            <a:avLst/>
          </a:prstGeom>
        </p:spPr>
      </p:pic>
      <p:pic>
        <p:nvPicPr>
          <p:cNvPr id="147" name="Picture 146" descr="lock.png"/>
          <p:cNvPicPr>
            <a:picLocks noChangeAspect="1"/>
          </p:cNvPicPr>
          <p:nvPr/>
        </p:nvPicPr>
        <p:blipFill>
          <a:blip r:embed="rId4"/>
          <a:stretch>
            <a:fillRect/>
          </a:stretch>
        </p:blipFill>
        <p:spPr>
          <a:xfrm>
            <a:off x="4583289" y="2649601"/>
            <a:ext cx="128699" cy="187198"/>
          </a:xfrm>
          <a:prstGeom prst="rect">
            <a:avLst/>
          </a:prstGeom>
        </p:spPr>
      </p:pic>
      <p:pic>
        <p:nvPicPr>
          <p:cNvPr id="148" name="Picture 147" descr="lock.png"/>
          <p:cNvPicPr>
            <a:picLocks noChangeAspect="1"/>
          </p:cNvPicPr>
          <p:nvPr/>
        </p:nvPicPr>
        <p:blipFill>
          <a:blip r:embed="rId4"/>
          <a:stretch>
            <a:fillRect/>
          </a:stretch>
        </p:blipFill>
        <p:spPr>
          <a:xfrm>
            <a:off x="9583914" y="2649601"/>
            <a:ext cx="128699" cy="187198"/>
          </a:xfrm>
          <a:prstGeom prst="rect">
            <a:avLst/>
          </a:prstGeom>
        </p:spPr>
      </p:pic>
      <p:pic>
        <p:nvPicPr>
          <p:cNvPr id="149" name="Picture 148" descr="lock.png"/>
          <p:cNvPicPr>
            <a:picLocks noChangeAspect="1"/>
          </p:cNvPicPr>
          <p:nvPr/>
        </p:nvPicPr>
        <p:blipFill>
          <a:blip r:embed="rId4"/>
          <a:stretch>
            <a:fillRect/>
          </a:stretch>
        </p:blipFill>
        <p:spPr>
          <a:xfrm>
            <a:off x="4583289" y="2992501"/>
            <a:ext cx="128699" cy="187198"/>
          </a:xfrm>
          <a:prstGeom prst="rect">
            <a:avLst/>
          </a:prstGeom>
        </p:spPr>
      </p:pic>
      <p:pic>
        <p:nvPicPr>
          <p:cNvPr id="150" name="Picture 149" descr="lock.png"/>
          <p:cNvPicPr>
            <a:picLocks noChangeAspect="1"/>
          </p:cNvPicPr>
          <p:nvPr/>
        </p:nvPicPr>
        <p:blipFill>
          <a:blip r:embed="rId4"/>
          <a:stretch>
            <a:fillRect/>
          </a:stretch>
        </p:blipFill>
        <p:spPr>
          <a:xfrm>
            <a:off x="7818988" y="2992501"/>
            <a:ext cx="128699" cy="187198"/>
          </a:xfrm>
          <a:prstGeom prst="rect">
            <a:avLst/>
          </a:prstGeom>
        </p:spPr>
      </p:pic>
      <p:pic>
        <p:nvPicPr>
          <p:cNvPr id="151" name="Picture 150" descr="lock.png"/>
          <p:cNvPicPr>
            <a:picLocks noChangeAspect="1"/>
          </p:cNvPicPr>
          <p:nvPr/>
        </p:nvPicPr>
        <p:blipFill>
          <a:blip r:embed="rId4"/>
          <a:stretch>
            <a:fillRect/>
          </a:stretch>
        </p:blipFill>
        <p:spPr>
          <a:xfrm>
            <a:off x="9583914" y="29925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583289" y="3335401"/>
            <a:ext cx="128699" cy="187198"/>
          </a:xfrm>
          <a:prstGeom prst="rect">
            <a:avLst/>
          </a:prstGeom>
        </p:spPr>
      </p:pic>
      <p:pic>
        <p:nvPicPr>
          <p:cNvPr id="153" name="Picture 152" descr="lock.png"/>
          <p:cNvPicPr>
            <a:picLocks noChangeAspect="1"/>
          </p:cNvPicPr>
          <p:nvPr/>
        </p:nvPicPr>
        <p:blipFill>
          <a:blip r:embed="rId4"/>
          <a:stretch>
            <a:fillRect/>
          </a:stretch>
        </p:blipFill>
        <p:spPr>
          <a:xfrm>
            <a:off x="9583914" y="33354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583289" y="3678301"/>
            <a:ext cx="128699" cy="187198"/>
          </a:xfrm>
          <a:prstGeom prst="rect">
            <a:avLst/>
          </a:prstGeom>
        </p:spPr>
      </p:pic>
      <p:pic>
        <p:nvPicPr>
          <p:cNvPr id="155" name="Picture 154" descr="lock.png"/>
          <p:cNvPicPr>
            <a:picLocks noChangeAspect="1"/>
          </p:cNvPicPr>
          <p:nvPr/>
        </p:nvPicPr>
        <p:blipFill>
          <a:blip r:embed="rId4"/>
          <a:stretch>
            <a:fillRect/>
          </a:stretch>
        </p:blipFill>
        <p:spPr>
          <a:xfrm>
            <a:off x="7818988" y="3678301"/>
            <a:ext cx="128699" cy="187198"/>
          </a:xfrm>
          <a:prstGeom prst="rect">
            <a:avLst/>
          </a:prstGeom>
        </p:spPr>
      </p:pic>
      <p:pic>
        <p:nvPicPr>
          <p:cNvPr id="156" name="Picture 155" descr="lock.png"/>
          <p:cNvPicPr>
            <a:picLocks noChangeAspect="1"/>
          </p:cNvPicPr>
          <p:nvPr/>
        </p:nvPicPr>
        <p:blipFill>
          <a:blip r:embed="rId4"/>
          <a:stretch>
            <a:fillRect/>
          </a:stretch>
        </p:blipFill>
        <p:spPr>
          <a:xfrm>
            <a:off x="9583914" y="36783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583289" y="4021201"/>
            <a:ext cx="128699" cy="187198"/>
          </a:xfrm>
          <a:prstGeom prst="rect">
            <a:avLst/>
          </a:prstGeom>
        </p:spPr>
      </p:pic>
      <p:pic>
        <p:nvPicPr>
          <p:cNvPr id="158" name="Picture 157" descr="lock.png"/>
          <p:cNvPicPr>
            <a:picLocks noChangeAspect="1"/>
          </p:cNvPicPr>
          <p:nvPr/>
        </p:nvPicPr>
        <p:blipFill>
          <a:blip r:embed="rId4"/>
          <a:stretch>
            <a:fillRect/>
          </a:stretch>
        </p:blipFill>
        <p:spPr>
          <a:xfrm>
            <a:off x="9583914" y="4021201"/>
            <a:ext cx="128699" cy="187198"/>
          </a:xfrm>
          <a:prstGeom prst="rect">
            <a:avLst/>
          </a:prstGeom>
        </p:spPr>
      </p:pic>
      <p:pic>
        <p:nvPicPr>
          <p:cNvPr id="159" name="Picture 158" descr="lock.png"/>
          <p:cNvPicPr>
            <a:picLocks noChangeAspect="1"/>
          </p:cNvPicPr>
          <p:nvPr/>
        </p:nvPicPr>
        <p:blipFill>
          <a:blip r:embed="rId4"/>
          <a:stretch>
            <a:fillRect/>
          </a:stretch>
        </p:blipFill>
        <p:spPr>
          <a:xfrm>
            <a:off x="4583289" y="4364101"/>
            <a:ext cx="128699" cy="187198"/>
          </a:xfrm>
          <a:prstGeom prst="rect">
            <a:avLst/>
          </a:prstGeom>
        </p:spPr>
      </p:pic>
      <p:pic>
        <p:nvPicPr>
          <p:cNvPr id="160" name="Picture 159" descr="lock.png"/>
          <p:cNvPicPr>
            <a:picLocks noChangeAspect="1"/>
          </p:cNvPicPr>
          <p:nvPr/>
        </p:nvPicPr>
        <p:blipFill>
          <a:blip r:embed="rId4"/>
          <a:stretch>
            <a:fillRect/>
          </a:stretch>
        </p:blipFill>
        <p:spPr>
          <a:xfrm>
            <a:off x="7818988" y="4364101"/>
            <a:ext cx="128699" cy="187198"/>
          </a:xfrm>
          <a:prstGeom prst="rect">
            <a:avLst/>
          </a:prstGeom>
        </p:spPr>
      </p:pic>
      <p:pic>
        <p:nvPicPr>
          <p:cNvPr id="161" name="Picture 160" descr="lock.png"/>
          <p:cNvPicPr>
            <a:picLocks noChangeAspect="1"/>
          </p:cNvPicPr>
          <p:nvPr/>
        </p:nvPicPr>
        <p:blipFill>
          <a:blip r:embed="rId4"/>
          <a:stretch>
            <a:fillRect/>
          </a:stretch>
        </p:blipFill>
        <p:spPr>
          <a:xfrm>
            <a:off x="9583914" y="4364101"/>
            <a:ext cx="128699" cy="187198"/>
          </a:xfrm>
          <a:prstGeom prst="rect">
            <a:avLst/>
          </a:prstGeom>
        </p:spPr>
      </p:pic>
      <p:pic>
        <p:nvPicPr>
          <p:cNvPr id="162" name="Picture 161" descr="lock.png"/>
          <p:cNvPicPr>
            <a:picLocks noChangeAspect="1"/>
          </p:cNvPicPr>
          <p:nvPr/>
        </p:nvPicPr>
        <p:blipFill>
          <a:blip r:embed="rId4"/>
          <a:stretch>
            <a:fillRect/>
          </a:stretch>
        </p:blipFill>
        <p:spPr>
          <a:xfrm>
            <a:off x="4583289" y="4707001"/>
            <a:ext cx="128699" cy="187198"/>
          </a:xfrm>
          <a:prstGeom prst="rect">
            <a:avLst/>
          </a:prstGeom>
        </p:spPr>
      </p:pic>
      <p:pic>
        <p:nvPicPr>
          <p:cNvPr id="163" name="Picture 162" descr="lock.png"/>
          <p:cNvPicPr>
            <a:picLocks noChangeAspect="1"/>
          </p:cNvPicPr>
          <p:nvPr/>
        </p:nvPicPr>
        <p:blipFill>
          <a:blip r:embed="rId4"/>
          <a:stretch>
            <a:fillRect/>
          </a:stretch>
        </p:blipFill>
        <p:spPr>
          <a:xfrm>
            <a:off x="9583914" y="4707001"/>
            <a:ext cx="128699" cy="187198"/>
          </a:xfrm>
          <a:prstGeom prst="rect">
            <a:avLst/>
          </a:prstGeom>
        </p:spPr>
      </p:pic>
      <p:pic>
        <p:nvPicPr>
          <p:cNvPr id="164" name="Picture 163" descr="lock.png"/>
          <p:cNvPicPr>
            <a:picLocks noChangeAspect="1"/>
          </p:cNvPicPr>
          <p:nvPr/>
        </p:nvPicPr>
        <p:blipFill>
          <a:blip r:embed="rId4"/>
          <a:stretch>
            <a:fillRect/>
          </a:stretch>
        </p:blipFill>
        <p:spPr>
          <a:xfrm>
            <a:off x="4583289" y="5049901"/>
            <a:ext cx="128699" cy="187198"/>
          </a:xfrm>
          <a:prstGeom prst="rect">
            <a:avLst/>
          </a:prstGeom>
        </p:spPr>
      </p:pic>
      <p:pic>
        <p:nvPicPr>
          <p:cNvPr id="165" name="Picture 164" descr="lock.png"/>
          <p:cNvPicPr>
            <a:picLocks noChangeAspect="1"/>
          </p:cNvPicPr>
          <p:nvPr/>
        </p:nvPicPr>
        <p:blipFill>
          <a:blip r:embed="rId4"/>
          <a:stretch>
            <a:fillRect/>
          </a:stretch>
        </p:blipFill>
        <p:spPr>
          <a:xfrm>
            <a:off x="7818988" y="5049901"/>
            <a:ext cx="128699" cy="187198"/>
          </a:xfrm>
          <a:prstGeom prst="rect">
            <a:avLst/>
          </a:prstGeom>
        </p:spPr>
      </p:pic>
      <p:pic>
        <p:nvPicPr>
          <p:cNvPr id="166" name="Picture 165" descr="lock.png"/>
          <p:cNvPicPr>
            <a:picLocks noChangeAspect="1"/>
          </p:cNvPicPr>
          <p:nvPr/>
        </p:nvPicPr>
        <p:blipFill>
          <a:blip r:embed="rId4"/>
          <a:stretch>
            <a:fillRect/>
          </a:stretch>
        </p:blipFill>
        <p:spPr>
          <a:xfrm>
            <a:off x="9583914" y="5049901"/>
            <a:ext cx="128699" cy="187198"/>
          </a:xfrm>
          <a:prstGeom prst="rect">
            <a:avLst/>
          </a:prstGeom>
        </p:spPr>
      </p:pic>
      <p:pic>
        <p:nvPicPr>
          <p:cNvPr id="167" name="Picture 166" descr="lock.png"/>
          <p:cNvPicPr>
            <a:picLocks noChangeAspect="1"/>
          </p:cNvPicPr>
          <p:nvPr/>
        </p:nvPicPr>
        <p:blipFill>
          <a:blip r:embed="rId4"/>
          <a:stretch>
            <a:fillRect/>
          </a:stretch>
        </p:blipFill>
        <p:spPr>
          <a:xfrm>
            <a:off x="4583289" y="5392801"/>
            <a:ext cx="128699" cy="187198"/>
          </a:xfrm>
          <a:prstGeom prst="rect">
            <a:avLst/>
          </a:prstGeom>
        </p:spPr>
      </p:pic>
      <p:pic>
        <p:nvPicPr>
          <p:cNvPr id="168" name="Picture 167" descr="lock.png"/>
          <p:cNvPicPr>
            <a:picLocks noChangeAspect="1"/>
          </p:cNvPicPr>
          <p:nvPr/>
        </p:nvPicPr>
        <p:blipFill>
          <a:blip r:embed="rId4"/>
          <a:stretch>
            <a:fillRect/>
          </a:stretch>
        </p:blipFill>
        <p:spPr>
          <a:xfrm>
            <a:off x="9583914" y="5392801"/>
            <a:ext cx="128699" cy="187198"/>
          </a:xfrm>
          <a:prstGeom prst="rect">
            <a:avLst/>
          </a:prstGeom>
        </p:spPr>
      </p:pic>
    </p:spTree>
  </p:cSld>
  <p:clrMapOvr>
    <a:masterClrMapping/>
  </p:clrMapOvr>
</p:sld>
</file>

<file path=ppt/slides/slide299.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Success Factors and Composite Ranking</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Five weighted success factors and the composite ranking they produce</a:t>
            </a:r>
          </a:p>
        </p:txBody>
      </p:sp>
      <p:sp>
        <p:nvSpPr>
          <p:cNvPr id="10" name="TextBox 9"/>
          <p:cNvSpPr txBox="1"/>
          <p:nvPr/>
        </p:nvSpPr>
        <p:spPr>
          <a:xfrm>
            <a:off x="21336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1. Segment breadth</a:t>
            </a:r>
          </a:p>
        </p:txBody>
      </p:sp>
      <p:sp>
        <p:nvSpPr>
          <p:cNvPr id="11" name="TextBox 10"/>
          <p:cNvSpPr txBox="1"/>
          <p:nvPr/>
        </p:nvSpPr>
        <p:spPr>
          <a:xfrm>
            <a:off x="21336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2" name="TextBox 11"/>
          <p:cNvSpPr txBox="1"/>
          <p:nvPr/>
        </p:nvSpPr>
        <p:spPr>
          <a:xfrm>
            <a:off x="21336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Lead or be active in several sub-segments</a:t>
            </a:r>
          </a:p>
        </p:txBody>
      </p:sp>
      <p:sp>
        <p:nvSpPr>
          <p:cNvPr id="13" name="TextBox 12"/>
          <p:cNvSpPr txBox="1"/>
          <p:nvPr/>
        </p:nvSpPr>
        <p:spPr>
          <a:xfrm>
            <a:off x="37909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2. Scale and share</a:t>
            </a:r>
          </a:p>
        </p:txBody>
      </p:sp>
      <p:sp>
        <p:nvSpPr>
          <p:cNvPr id="14" name="TextBox 13"/>
          <p:cNvSpPr txBox="1"/>
          <p:nvPr/>
        </p:nvSpPr>
        <p:spPr>
          <a:xfrm>
            <a:off x="37909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5" name="TextBox 14"/>
          <p:cNvSpPr txBox="1"/>
          <p:nvPr/>
        </p:nvSpPr>
        <p:spPr>
          <a:xfrm>
            <a:off x="37909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Tier position and share of market value</a:t>
            </a:r>
          </a:p>
        </p:txBody>
      </p:sp>
      <p:sp>
        <p:nvSpPr>
          <p:cNvPr id="16" name="TextBox 15"/>
          <p:cNvSpPr txBox="1"/>
          <p:nvPr/>
        </p:nvSpPr>
        <p:spPr>
          <a:xfrm>
            <a:off x="54483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3. Geographic reach</a:t>
            </a:r>
          </a:p>
        </p:txBody>
      </p:sp>
      <p:sp>
        <p:nvSpPr>
          <p:cNvPr id="17" name="TextBox 16"/>
          <p:cNvSpPr txBox="1"/>
          <p:nvPr/>
        </p:nvSpPr>
        <p:spPr>
          <a:xfrm>
            <a:off x="54483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18" name="TextBox 17"/>
          <p:cNvSpPr txBox="1"/>
          <p:nvPr/>
        </p:nvSpPr>
        <p:spPr>
          <a:xfrm>
            <a:off x="54483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Global, regional or single-market footprint</a:t>
            </a:r>
          </a:p>
        </p:txBody>
      </p:sp>
      <p:sp>
        <p:nvSpPr>
          <p:cNvPr id="19" name="TextBox 18"/>
          <p:cNvSpPr txBox="1"/>
          <p:nvPr/>
        </p:nvSpPr>
        <p:spPr>
          <a:xfrm>
            <a:off x="710565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4. Innovation pipeline</a:t>
            </a:r>
          </a:p>
        </p:txBody>
      </p:sp>
      <p:sp>
        <p:nvSpPr>
          <p:cNvPr id="20" name="TextBox 19"/>
          <p:cNvSpPr txBox="1"/>
          <p:nvPr/>
        </p:nvSpPr>
        <p:spPr>
          <a:xfrm>
            <a:off x="710565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1" name="TextBox 20"/>
          <p:cNvSpPr txBox="1"/>
          <p:nvPr/>
        </p:nvSpPr>
        <p:spPr>
          <a:xfrm>
            <a:off x="710565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R&amp;D and product development in motion</a:t>
            </a:r>
          </a:p>
        </p:txBody>
      </p:sp>
      <p:sp>
        <p:nvSpPr>
          <p:cNvPr id="22" name="TextBox 21"/>
          <p:cNvSpPr txBox="1"/>
          <p:nvPr/>
        </p:nvSpPr>
        <p:spPr>
          <a:xfrm>
            <a:off x="8763000" y="1047750"/>
            <a:ext cx="1581150" cy="171450"/>
          </a:xfrm>
          <a:prstGeom prst="rect">
            <a:avLst/>
          </a:prstGeom>
          <a:noFill/>
        </p:spPr>
        <p:txBody>
          <a:bodyPr wrap="square" lIns="28575" rIns="28575" tIns="9525" bIns="9525" anchor="t">
            <a:spAutoFit/>
          </a:bodyPr>
          <a:lstStyle/>
          <a:p>
            <a:pPr algn="l"/>
            <a:r>
              <a:rPr sz="1100" b="1">
                <a:solidFill>
                  <a:srgbClr val="0F2D52"/>
                </a:solidFill>
                <a:latin typeface="Calibri"/>
              </a:rPr>
              <a:t>5. Strategic momentum</a:t>
            </a:r>
          </a:p>
        </p:txBody>
      </p:sp>
      <p:sp>
        <p:nvSpPr>
          <p:cNvPr id="23" name="TextBox 22"/>
          <p:cNvSpPr txBox="1"/>
          <p:nvPr/>
        </p:nvSpPr>
        <p:spPr>
          <a:xfrm>
            <a:off x="8763000" y="1209675"/>
            <a:ext cx="1581150" cy="190500"/>
          </a:xfrm>
          <a:prstGeom prst="rect">
            <a:avLst/>
          </a:prstGeom>
          <a:noFill/>
        </p:spPr>
        <p:txBody>
          <a:bodyPr wrap="square" lIns="28575" rIns="28575" tIns="9525" bIns="9525" anchor="t">
            <a:spAutoFit/>
          </a:bodyPr>
          <a:lstStyle/>
          <a:p>
            <a:pPr algn="l"/>
            <a:r>
              <a:rPr sz="1100" b="1">
                <a:solidFill>
                  <a:srgbClr val="1F2933"/>
                </a:solidFill>
                <a:latin typeface="Calibri"/>
              </a:rPr>
              <a:t/>
            </a:r>
          </a:p>
        </p:txBody>
      </p:sp>
      <p:sp>
        <p:nvSpPr>
          <p:cNvPr id="24" name="TextBox 23"/>
          <p:cNvSpPr txBox="1"/>
          <p:nvPr/>
        </p:nvSpPr>
        <p:spPr>
          <a:xfrm>
            <a:off x="8763000" y="1371600"/>
            <a:ext cx="1581150" cy="34290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Number of active strategic moves</a:t>
            </a:r>
          </a:p>
        </p:txBody>
      </p:sp>
      <p:sp>
        <p:nvSpPr>
          <p:cNvPr id="25" name="TextBox 24"/>
          <p:cNvSpPr txBox="1"/>
          <p:nvPr/>
        </p:nvSpPr>
        <p:spPr>
          <a:xfrm>
            <a:off x="10420350" y="1047750"/>
            <a:ext cx="1619250" cy="171450"/>
          </a:xfrm>
          <a:prstGeom prst="rect">
            <a:avLst/>
          </a:prstGeom>
          <a:noFill/>
        </p:spPr>
        <p:txBody>
          <a:bodyPr wrap="square" lIns="28575" rIns="28575" tIns="9525" bIns="9525" anchor="t">
            <a:spAutoFit/>
          </a:bodyPr>
          <a:lstStyle/>
          <a:p>
            <a:pPr algn="l"/>
            <a:r>
              <a:rPr sz="1100" b="1">
                <a:solidFill>
                  <a:srgbClr val="0F2D52"/>
                </a:solidFill>
                <a:latin typeface="Calibri"/>
              </a:rPr>
              <a:t>Composite</a:t>
            </a:r>
          </a:p>
        </p:txBody>
      </p:sp>
      <p:sp>
        <p:nvSpPr>
          <p:cNvPr id="26" name="TextBox 25"/>
          <p:cNvSpPr txBox="1"/>
          <p:nvPr/>
        </p:nvSpPr>
        <p:spPr>
          <a:xfrm>
            <a:off x="10420350" y="1219200"/>
            <a:ext cx="1619250" cy="152400"/>
          </a:xfrm>
          <a:prstGeom prst="rect">
            <a:avLst/>
          </a:prstGeom>
          <a:noFill/>
        </p:spPr>
        <p:txBody>
          <a:bodyPr wrap="square" lIns="28575" rIns="28575" tIns="9525" bIns="9525" anchor="t">
            <a:spAutoFit/>
          </a:bodyPr>
          <a:lstStyle/>
          <a:p>
            <a:pPr algn="l"/>
            <a:r>
              <a:rPr sz="1100" b="0">
                <a:solidFill>
                  <a:srgbClr val="1F2933"/>
                </a:solidFill>
                <a:latin typeface="Calibri"/>
              </a:rPr>
              <a:t>weighted 0 to 3</a:t>
            </a:r>
          </a:p>
        </p:txBody>
      </p:sp>
      <p:cxnSp>
        <p:nvCxnSpPr>
          <p:cNvPr id="27" name="Connector 26"/>
          <p:cNvCxnSpPr/>
          <p:nvPr/>
        </p:nvCxnSpPr>
        <p:spPr>
          <a:xfrm>
            <a:off x="190500" y="1752600"/>
            <a:ext cx="11811000" cy="0"/>
          </a:xfrm>
          <a:prstGeom prst="line">
            <a:avLst/>
          </a:prstGeom>
          <a:ln w="1270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90500" y="18478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1809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DoMatcha</a:t>
            </a:r>
          </a:p>
        </p:txBody>
      </p:sp>
      <p:sp>
        <p:nvSpPr>
          <p:cNvPr id="30" name="Oval 29"/>
          <p:cNvSpPr/>
          <p:nvPr/>
        </p:nvSpPr>
        <p:spPr>
          <a:xfrm>
            <a:off x="2847975" y="1885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Freeform 30"/>
          <p:cNvSpPr/>
          <p:nvPr/>
        </p:nvSpPr>
        <p:spPr>
          <a:xfrm>
            <a:off x="2924175" y="1885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 name="Oval 31"/>
          <p:cNvSpPr/>
          <p:nvPr/>
        </p:nvSpPr>
        <p:spPr>
          <a:xfrm>
            <a:off x="45053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Oval 32"/>
          <p:cNvSpPr/>
          <p:nvPr/>
        </p:nvSpPr>
        <p:spPr>
          <a:xfrm>
            <a:off x="61626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Oval 33"/>
          <p:cNvSpPr/>
          <p:nvPr/>
        </p:nvSpPr>
        <p:spPr>
          <a:xfrm>
            <a:off x="782002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Oval 34"/>
          <p:cNvSpPr/>
          <p:nvPr/>
        </p:nvSpPr>
        <p:spPr>
          <a:xfrm>
            <a:off x="9477375" y="1885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 name="Rectangle 35"/>
          <p:cNvSpPr/>
          <p:nvPr/>
        </p:nvSpPr>
        <p:spPr>
          <a:xfrm>
            <a:off x="10420350" y="1895475"/>
            <a:ext cx="10287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7" name="TextBox 36"/>
          <p:cNvSpPr txBox="1"/>
          <p:nvPr/>
        </p:nvSpPr>
        <p:spPr>
          <a:xfrm>
            <a:off x="11487150" y="1809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38" name="Connector 37"/>
          <p:cNvCxnSpPr/>
          <p:nvPr/>
        </p:nvCxnSpPr>
        <p:spPr>
          <a:xfrm>
            <a:off x="190500" y="2114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190500" y="21526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85750" y="2114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Jade Leaf Matcha</a:t>
            </a:r>
          </a:p>
        </p:txBody>
      </p:sp>
      <p:sp>
        <p:nvSpPr>
          <p:cNvPr id="41" name="Oval 40"/>
          <p:cNvSpPr/>
          <p:nvPr/>
        </p:nvSpPr>
        <p:spPr>
          <a:xfrm>
            <a:off x="284797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Freeform 41"/>
          <p:cNvSpPr/>
          <p:nvPr/>
        </p:nvSpPr>
        <p:spPr>
          <a:xfrm>
            <a:off x="292417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Oval 42"/>
          <p:cNvSpPr/>
          <p:nvPr/>
        </p:nvSpPr>
        <p:spPr>
          <a:xfrm>
            <a:off x="450532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Oval 43"/>
          <p:cNvSpPr/>
          <p:nvPr/>
        </p:nvSpPr>
        <p:spPr>
          <a:xfrm>
            <a:off x="61626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Oval 44"/>
          <p:cNvSpPr/>
          <p:nvPr/>
        </p:nvSpPr>
        <p:spPr>
          <a:xfrm>
            <a:off x="7820025" y="2190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Freeform 45"/>
          <p:cNvSpPr/>
          <p:nvPr/>
        </p:nvSpPr>
        <p:spPr>
          <a:xfrm>
            <a:off x="7896225" y="2190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Oval 46"/>
          <p:cNvSpPr/>
          <p:nvPr/>
        </p:nvSpPr>
        <p:spPr>
          <a:xfrm>
            <a:off x="9477375" y="2190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0420350" y="22002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TextBox 48"/>
          <p:cNvSpPr txBox="1"/>
          <p:nvPr/>
        </p:nvSpPr>
        <p:spPr>
          <a:xfrm>
            <a:off x="11430000" y="2114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50" name="Connector 49"/>
          <p:cNvCxnSpPr/>
          <p:nvPr/>
        </p:nvCxnSpPr>
        <p:spPr>
          <a:xfrm>
            <a:off x="190500" y="2419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1" name="Rectangle 50"/>
          <p:cNvSpPr/>
          <p:nvPr/>
        </p:nvSpPr>
        <p:spPr>
          <a:xfrm>
            <a:off x="190500" y="24574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5750" y="2419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Encha</a:t>
            </a:r>
          </a:p>
        </p:txBody>
      </p:sp>
      <p:sp>
        <p:nvSpPr>
          <p:cNvPr id="53" name="Oval 52"/>
          <p:cNvSpPr/>
          <p:nvPr/>
        </p:nvSpPr>
        <p:spPr>
          <a:xfrm>
            <a:off x="284797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Freeform 53"/>
          <p:cNvSpPr/>
          <p:nvPr/>
        </p:nvSpPr>
        <p:spPr>
          <a:xfrm>
            <a:off x="292417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Oval 54"/>
          <p:cNvSpPr/>
          <p:nvPr/>
        </p:nvSpPr>
        <p:spPr>
          <a:xfrm>
            <a:off x="450532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Oval 55"/>
          <p:cNvSpPr/>
          <p:nvPr/>
        </p:nvSpPr>
        <p:spPr>
          <a:xfrm>
            <a:off x="61626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Oval 56"/>
          <p:cNvSpPr/>
          <p:nvPr/>
        </p:nvSpPr>
        <p:spPr>
          <a:xfrm>
            <a:off x="7820025" y="2495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Freeform 57"/>
          <p:cNvSpPr/>
          <p:nvPr/>
        </p:nvSpPr>
        <p:spPr>
          <a:xfrm>
            <a:off x="7896225" y="2495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Oval 58"/>
          <p:cNvSpPr/>
          <p:nvPr/>
        </p:nvSpPr>
        <p:spPr>
          <a:xfrm>
            <a:off x="9477375" y="2495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Rectangle 59"/>
          <p:cNvSpPr/>
          <p:nvPr/>
        </p:nvSpPr>
        <p:spPr>
          <a:xfrm>
            <a:off x="10420350" y="2505075"/>
            <a:ext cx="9715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430000" y="2419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62" name="Connector 61"/>
          <p:cNvCxnSpPr/>
          <p:nvPr/>
        </p:nvCxnSpPr>
        <p:spPr>
          <a:xfrm>
            <a:off x="190500" y="2724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2762250"/>
            <a:ext cx="38100" cy="2286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85750" y="2724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Rishi Tea and Botanicals</a:t>
            </a:r>
          </a:p>
        </p:txBody>
      </p:sp>
      <p:sp>
        <p:nvSpPr>
          <p:cNvPr id="65" name="Oval 64"/>
          <p:cNvSpPr/>
          <p:nvPr/>
        </p:nvSpPr>
        <p:spPr>
          <a:xfrm>
            <a:off x="2847975" y="2800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Freeform 65"/>
          <p:cNvSpPr/>
          <p:nvPr/>
        </p:nvSpPr>
        <p:spPr>
          <a:xfrm>
            <a:off x="2924175" y="2800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Oval 66"/>
          <p:cNvSpPr/>
          <p:nvPr/>
        </p:nvSpPr>
        <p:spPr>
          <a:xfrm>
            <a:off x="45053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Oval 67"/>
          <p:cNvSpPr/>
          <p:nvPr/>
        </p:nvSpPr>
        <p:spPr>
          <a:xfrm>
            <a:off x="61626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Oval 68"/>
          <p:cNvSpPr/>
          <p:nvPr/>
        </p:nvSpPr>
        <p:spPr>
          <a:xfrm>
            <a:off x="782002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Oval 69"/>
          <p:cNvSpPr/>
          <p:nvPr/>
        </p:nvSpPr>
        <p:spPr>
          <a:xfrm>
            <a:off x="9477375" y="2800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Rectangle 70"/>
          <p:cNvSpPr/>
          <p:nvPr/>
        </p:nvSpPr>
        <p:spPr>
          <a:xfrm>
            <a:off x="10420350" y="2809875"/>
            <a:ext cx="9144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2" name="TextBox 71"/>
          <p:cNvSpPr txBox="1"/>
          <p:nvPr/>
        </p:nvSpPr>
        <p:spPr>
          <a:xfrm>
            <a:off x="11372850" y="2724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73" name="Connector 72"/>
          <p:cNvCxnSpPr/>
          <p:nvPr/>
        </p:nvCxnSpPr>
        <p:spPr>
          <a:xfrm>
            <a:off x="190500" y="3028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0670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85750" y="3028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Matchaful</a:t>
            </a:r>
          </a:p>
        </p:txBody>
      </p:sp>
      <p:sp>
        <p:nvSpPr>
          <p:cNvPr id="76" name="Oval 75"/>
          <p:cNvSpPr/>
          <p:nvPr/>
        </p:nvSpPr>
        <p:spPr>
          <a:xfrm>
            <a:off x="28479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Freeform 76"/>
          <p:cNvSpPr/>
          <p:nvPr/>
        </p:nvSpPr>
        <p:spPr>
          <a:xfrm>
            <a:off x="29241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Oval 77"/>
          <p:cNvSpPr/>
          <p:nvPr/>
        </p:nvSpPr>
        <p:spPr>
          <a:xfrm>
            <a:off x="450532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Freeform 78"/>
          <p:cNvSpPr/>
          <p:nvPr/>
        </p:nvSpPr>
        <p:spPr>
          <a:xfrm>
            <a:off x="458152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Oval 79"/>
          <p:cNvSpPr/>
          <p:nvPr/>
        </p:nvSpPr>
        <p:spPr>
          <a:xfrm>
            <a:off x="6162675" y="3105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Freeform 80"/>
          <p:cNvSpPr/>
          <p:nvPr/>
        </p:nvSpPr>
        <p:spPr>
          <a:xfrm>
            <a:off x="6238875" y="3105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Oval 81"/>
          <p:cNvSpPr/>
          <p:nvPr/>
        </p:nvSpPr>
        <p:spPr>
          <a:xfrm>
            <a:off x="782002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9477375" y="3105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Rectangle 83"/>
          <p:cNvSpPr/>
          <p:nvPr/>
        </p:nvSpPr>
        <p:spPr>
          <a:xfrm>
            <a:off x="10420350" y="3114675"/>
            <a:ext cx="8763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334750" y="3028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86" name="Connector 85"/>
          <p:cNvCxnSpPr/>
          <p:nvPr/>
        </p:nvCxnSpPr>
        <p:spPr>
          <a:xfrm>
            <a:off x="190500" y="3333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7" name="Rectangle 86"/>
          <p:cNvSpPr/>
          <p:nvPr/>
        </p:nvSpPr>
        <p:spPr>
          <a:xfrm>
            <a:off x="190500" y="3371850"/>
            <a:ext cx="38100" cy="2286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8" name="TextBox 87"/>
          <p:cNvSpPr txBox="1"/>
          <p:nvPr/>
        </p:nvSpPr>
        <p:spPr>
          <a:xfrm>
            <a:off x="285750" y="33337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Tenzo</a:t>
            </a:r>
          </a:p>
        </p:txBody>
      </p:sp>
      <p:sp>
        <p:nvSpPr>
          <p:cNvPr id="89" name="Oval 88"/>
          <p:cNvSpPr/>
          <p:nvPr/>
        </p:nvSpPr>
        <p:spPr>
          <a:xfrm>
            <a:off x="28479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Freeform 89"/>
          <p:cNvSpPr/>
          <p:nvPr/>
        </p:nvSpPr>
        <p:spPr>
          <a:xfrm>
            <a:off x="29241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Oval 90"/>
          <p:cNvSpPr/>
          <p:nvPr/>
        </p:nvSpPr>
        <p:spPr>
          <a:xfrm>
            <a:off x="45053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Freeform 91"/>
          <p:cNvSpPr/>
          <p:nvPr/>
        </p:nvSpPr>
        <p:spPr>
          <a:xfrm>
            <a:off x="45815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Oval 92"/>
          <p:cNvSpPr/>
          <p:nvPr/>
        </p:nvSpPr>
        <p:spPr>
          <a:xfrm>
            <a:off x="616267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Freeform 93"/>
          <p:cNvSpPr/>
          <p:nvPr/>
        </p:nvSpPr>
        <p:spPr>
          <a:xfrm>
            <a:off x="623887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Oval 94"/>
          <p:cNvSpPr/>
          <p:nvPr/>
        </p:nvSpPr>
        <p:spPr>
          <a:xfrm>
            <a:off x="7820025" y="34099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Freeform 95"/>
          <p:cNvSpPr/>
          <p:nvPr/>
        </p:nvSpPr>
        <p:spPr>
          <a:xfrm>
            <a:off x="7896225" y="34099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Oval 96"/>
          <p:cNvSpPr/>
          <p:nvPr/>
        </p:nvSpPr>
        <p:spPr>
          <a:xfrm>
            <a:off x="9477375" y="34099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10420350" y="3419475"/>
            <a:ext cx="8191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1277600" y="33337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00" name="Connector 99"/>
          <p:cNvCxnSpPr/>
          <p:nvPr/>
        </p:nvCxnSpPr>
        <p:spPr>
          <a:xfrm>
            <a:off x="190500" y="36385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1" name="Rectangle 100"/>
          <p:cNvSpPr/>
          <p:nvPr/>
        </p:nvSpPr>
        <p:spPr>
          <a:xfrm>
            <a:off x="190500" y="36766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2" name="TextBox 101"/>
          <p:cNvSpPr txBox="1"/>
          <p:nvPr/>
        </p:nvSpPr>
        <p:spPr>
          <a:xfrm>
            <a:off x="285750" y="36385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Aoi Matcha</a:t>
            </a:r>
          </a:p>
        </p:txBody>
      </p:sp>
      <p:sp>
        <p:nvSpPr>
          <p:cNvPr id="103" name="Oval 102"/>
          <p:cNvSpPr/>
          <p:nvPr/>
        </p:nvSpPr>
        <p:spPr>
          <a:xfrm>
            <a:off x="28479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Freeform 103"/>
          <p:cNvSpPr/>
          <p:nvPr/>
        </p:nvSpPr>
        <p:spPr>
          <a:xfrm>
            <a:off x="2924175" y="37147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Oval 104"/>
          <p:cNvSpPr/>
          <p:nvPr/>
        </p:nvSpPr>
        <p:spPr>
          <a:xfrm>
            <a:off x="450532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Freeform 105"/>
          <p:cNvSpPr/>
          <p:nvPr/>
        </p:nvSpPr>
        <p:spPr>
          <a:xfrm>
            <a:off x="458152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Oval 106"/>
          <p:cNvSpPr/>
          <p:nvPr/>
        </p:nvSpPr>
        <p:spPr>
          <a:xfrm>
            <a:off x="6162675" y="37147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Freeform 107"/>
          <p:cNvSpPr/>
          <p:nvPr/>
        </p:nvSpPr>
        <p:spPr>
          <a:xfrm>
            <a:off x="6238875" y="37147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Oval 108"/>
          <p:cNvSpPr/>
          <p:nvPr/>
        </p:nvSpPr>
        <p:spPr>
          <a:xfrm>
            <a:off x="782002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Oval 109"/>
          <p:cNvSpPr/>
          <p:nvPr/>
        </p:nvSpPr>
        <p:spPr>
          <a:xfrm>
            <a:off x="9477375" y="37147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Rectangle 110"/>
          <p:cNvSpPr/>
          <p:nvPr/>
        </p:nvSpPr>
        <p:spPr>
          <a:xfrm>
            <a:off x="10420350" y="3724275"/>
            <a:ext cx="7239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11182350" y="36385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13" name="Connector 112"/>
          <p:cNvCxnSpPr/>
          <p:nvPr/>
        </p:nvCxnSpPr>
        <p:spPr>
          <a:xfrm>
            <a:off x="190500" y="39433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4" name="Rectangle 113"/>
          <p:cNvSpPr/>
          <p:nvPr/>
        </p:nvSpPr>
        <p:spPr>
          <a:xfrm>
            <a:off x="190500" y="39814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5750" y="39433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Sencha Naturals</a:t>
            </a:r>
          </a:p>
        </p:txBody>
      </p:sp>
      <p:sp>
        <p:nvSpPr>
          <p:cNvPr id="116" name="Oval 115"/>
          <p:cNvSpPr/>
          <p:nvPr/>
        </p:nvSpPr>
        <p:spPr>
          <a:xfrm>
            <a:off x="28479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Freeform 116"/>
          <p:cNvSpPr/>
          <p:nvPr/>
        </p:nvSpPr>
        <p:spPr>
          <a:xfrm>
            <a:off x="292417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Oval 117"/>
          <p:cNvSpPr/>
          <p:nvPr/>
        </p:nvSpPr>
        <p:spPr>
          <a:xfrm>
            <a:off x="45053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Freeform 118"/>
          <p:cNvSpPr/>
          <p:nvPr/>
        </p:nvSpPr>
        <p:spPr>
          <a:xfrm>
            <a:off x="458152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Oval 119"/>
          <p:cNvSpPr/>
          <p:nvPr/>
        </p:nvSpPr>
        <p:spPr>
          <a:xfrm>
            <a:off x="616267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Freeform 120"/>
          <p:cNvSpPr/>
          <p:nvPr/>
        </p:nvSpPr>
        <p:spPr>
          <a:xfrm>
            <a:off x="6238875" y="40195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Oval 121"/>
          <p:cNvSpPr/>
          <p:nvPr/>
        </p:nvSpPr>
        <p:spPr>
          <a:xfrm>
            <a:off x="7820025" y="40195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Freeform 122"/>
          <p:cNvSpPr/>
          <p:nvPr/>
        </p:nvSpPr>
        <p:spPr>
          <a:xfrm>
            <a:off x="7896225" y="40195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Oval 123"/>
          <p:cNvSpPr/>
          <p:nvPr/>
        </p:nvSpPr>
        <p:spPr>
          <a:xfrm>
            <a:off x="9477375" y="40195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Rectangle 124"/>
          <p:cNvSpPr/>
          <p:nvPr/>
        </p:nvSpPr>
        <p:spPr>
          <a:xfrm>
            <a:off x="10420350" y="4029075"/>
            <a:ext cx="6667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11125200" y="39433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27" name="Connector 126"/>
          <p:cNvCxnSpPr/>
          <p:nvPr/>
        </p:nvCxnSpPr>
        <p:spPr>
          <a:xfrm>
            <a:off x="190500" y="42481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8" name="Rectangle 127"/>
          <p:cNvSpPr/>
          <p:nvPr/>
        </p:nvSpPr>
        <p:spPr>
          <a:xfrm>
            <a:off x="190500" y="42862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285750" y="42481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Harney and Sons</a:t>
            </a:r>
          </a:p>
        </p:txBody>
      </p:sp>
      <p:sp>
        <p:nvSpPr>
          <p:cNvPr id="130" name="Oval 129"/>
          <p:cNvSpPr/>
          <p:nvPr/>
        </p:nvSpPr>
        <p:spPr>
          <a:xfrm>
            <a:off x="28479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Freeform 130"/>
          <p:cNvSpPr/>
          <p:nvPr/>
        </p:nvSpPr>
        <p:spPr>
          <a:xfrm>
            <a:off x="29241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2" name="Oval 131"/>
          <p:cNvSpPr/>
          <p:nvPr/>
        </p:nvSpPr>
        <p:spPr>
          <a:xfrm>
            <a:off x="450532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Freeform 132"/>
          <p:cNvSpPr/>
          <p:nvPr/>
        </p:nvSpPr>
        <p:spPr>
          <a:xfrm>
            <a:off x="458152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Oval 133"/>
          <p:cNvSpPr/>
          <p:nvPr/>
        </p:nvSpPr>
        <p:spPr>
          <a:xfrm>
            <a:off x="6162675" y="43243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Freeform 134"/>
          <p:cNvSpPr/>
          <p:nvPr/>
        </p:nvSpPr>
        <p:spPr>
          <a:xfrm>
            <a:off x="6238875" y="43243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Oval 135"/>
          <p:cNvSpPr/>
          <p:nvPr/>
        </p:nvSpPr>
        <p:spPr>
          <a:xfrm>
            <a:off x="782002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Oval 136"/>
          <p:cNvSpPr/>
          <p:nvPr/>
        </p:nvSpPr>
        <p:spPr>
          <a:xfrm>
            <a:off x="9477375" y="43243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Rectangle 137"/>
          <p:cNvSpPr/>
          <p:nvPr/>
        </p:nvSpPr>
        <p:spPr>
          <a:xfrm>
            <a:off x="10420350" y="4333875"/>
            <a:ext cx="60960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11068050" y="42481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40" name="Connector 139"/>
          <p:cNvCxnSpPr/>
          <p:nvPr/>
        </p:nvCxnSpPr>
        <p:spPr>
          <a:xfrm>
            <a:off x="190500" y="45529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41" name="Rectangle 140"/>
          <p:cNvSpPr/>
          <p:nvPr/>
        </p:nvSpPr>
        <p:spPr>
          <a:xfrm>
            <a:off x="190500" y="4591050"/>
            <a:ext cx="38100" cy="2286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285750" y="4552950"/>
            <a:ext cx="1809750" cy="304800"/>
          </a:xfrm>
          <a:prstGeom prst="rect">
            <a:avLst/>
          </a:prstGeom>
          <a:noFill/>
        </p:spPr>
        <p:txBody>
          <a:bodyPr wrap="square" lIns="28575" rIns="28575" tIns="9525" bIns="9525" anchor="ctr">
            <a:spAutoFit/>
          </a:bodyPr>
          <a:lstStyle/>
          <a:p>
            <a:pPr algn="l"/>
            <a:r>
              <a:rPr sz="1100" b="1">
                <a:solidFill>
                  <a:srgbClr val="1F2933"/>
                </a:solidFill>
                <a:latin typeface="Calibri"/>
              </a:rPr>
              <a:t>Kettl</a:t>
            </a:r>
          </a:p>
        </p:txBody>
      </p:sp>
      <p:sp>
        <p:nvSpPr>
          <p:cNvPr id="143" name="Oval 142"/>
          <p:cNvSpPr/>
          <p:nvPr/>
        </p:nvSpPr>
        <p:spPr>
          <a:xfrm>
            <a:off x="28479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4" name="Freeform 143"/>
          <p:cNvSpPr/>
          <p:nvPr/>
        </p:nvSpPr>
        <p:spPr>
          <a:xfrm>
            <a:off x="29241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Oval 144"/>
          <p:cNvSpPr/>
          <p:nvPr/>
        </p:nvSpPr>
        <p:spPr>
          <a:xfrm>
            <a:off x="45053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Freeform 145"/>
          <p:cNvSpPr/>
          <p:nvPr/>
        </p:nvSpPr>
        <p:spPr>
          <a:xfrm>
            <a:off x="458152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Oval 146"/>
          <p:cNvSpPr/>
          <p:nvPr/>
        </p:nvSpPr>
        <p:spPr>
          <a:xfrm>
            <a:off x="616267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Freeform 147"/>
          <p:cNvSpPr/>
          <p:nvPr/>
        </p:nvSpPr>
        <p:spPr>
          <a:xfrm>
            <a:off x="6238875" y="4629150"/>
            <a:ext cx="76200" cy="76200"/>
          </a:xfrm>
          <a:custGeom>
            <a:avLst/>
            <a:gdLst/>
            <a:ahLst/>
            <a:cxnLst/>
            <a:rect l="l" t="t" r="r" b="b"/>
            <a:pathLst>
              <a:path w="8" h="8">
                <a:moveTo>
                  <a:pt x="0" y="8"/>
                </a:moveTo>
                <a:lnTo>
                  <a:pt x="0" y="0"/>
                </a:lnTo>
                <a:lnTo>
                  <a:pt x="1" y="0"/>
                </a:lnTo>
                <a:lnTo>
                  <a:pt x="3" y="0"/>
                </a:lnTo>
                <a:lnTo>
                  <a:pt x="4" y="1"/>
                </a:lnTo>
                <a:lnTo>
                  <a:pt x="5" y="2"/>
                </a:lnTo>
                <a:lnTo>
                  <a:pt x="6" y="3"/>
                </a:lnTo>
                <a:lnTo>
                  <a:pt x="7" y="4"/>
                </a:lnTo>
                <a:lnTo>
                  <a:pt x="8" y="5"/>
                </a:lnTo>
                <a:lnTo>
                  <a:pt x="8" y="7"/>
                </a:lnTo>
                <a:lnTo>
                  <a:pt x="8" y="8"/>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Oval 148"/>
          <p:cNvSpPr/>
          <p:nvPr/>
        </p:nvSpPr>
        <p:spPr>
          <a:xfrm>
            <a:off x="7820025" y="4629150"/>
            <a:ext cx="152400" cy="15240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Freeform 149"/>
          <p:cNvSpPr/>
          <p:nvPr/>
        </p:nvSpPr>
        <p:spPr>
          <a:xfrm>
            <a:off x="7896225" y="4629150"/>
            <a:ext cx="76200" cy="152400"/>
          </a:xfrm>
          <a:custGeom>
            <a:avLst/>
            <a:gdLst/>
            <a:ahLst/>
            <a:cxnLst/>
            <a:rect l="l" t="t" r="r" b="b"/>
            <a:pathLst>
              <a:path w="8" h="16">
                <a:moveTo>
                  <a:pt x="0" y="8"/>
                </a:moveTo>
                <a:lnTo>
                  <a:pt x="0" y="0"/>
                </a:lnTo>
                <a:lnTo>
                  <a:pt x="1" y="0"/>
                </a:lnTo>
                <a:lnTo>
                  <a:pt x="3" y="0"/>
                </a:lnTo>
                <a:lnTo>
                  <a:pt x="4" y="1"/>
                </a:lnTo>
                <a:lnTo>
                  <a:pt x="5" y="2"/>
                </a:lnTo>
                <a:lnTo>
                  <a:pt x="6" y="3"/>
                </a:lnTo>
                <a:lnTo>
                  <a:pt x="7" y="4"/>
                </a:lnTo>
                <a:lnTo>
                  <a:pt x="8" y="5"/>
                </a:lnTo>
                <a:lnTo>
                  <a:pt x="8" y="7"/>
                </a:lnTo>
                <a:lnTo>
                  <a:pt x="8" y="8"/>
                </a:lnTo>
                <a:lnTo>
                  <a:pt x="8" y="9"/>
                </a:lnTo>
                <a:lnTo>
                  <a:pt x="8" y="11"/>
                </a:lnTo>
                <a:lnTo>
                  <a:pt x="7" y="12"/>
                </a:lnTo>
                <a:lnTo>
                  <a:pt x="6" y="13"/>
                </a:lnTo>
                <a:lnTo>
                  <a:pt x="5" y="14"/>
                </a:lnTo>
                <a:lnTo>
                  <a:pt x="4" y="15"/>
                </a:lnTo>
                <a:lnTo>
                  <a:pt x="3" y="16"/>
                </a:lnTo>
                <a:lnTo>
                  <a:pt x="1" y="16"/>
                </a:lnTo>
                <a:lnTo>
                  <a:pt x="0" y="16"/>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Oval 150"/>
          <p:cNvSpPr/>
          <p:nvPr/>
        </p:nvSpPr>
        <p:spPr>
          <a:xfrm>
            <a:off x="9477375" y="4629150"/>
            <a:ext cx="152400" cy="15240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Rectangle 151"/>
          <p:cNvSpPr/>
          <p:nvPr/>
        </p:nvSpPr>
        <p:spPr>
          <a:xfrm>
            <a:off x="10420350" y="4638675"/>
            <a:ext cx="552450" cy="13335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11010900" y="4552950"/>
            <a:ext cx="419100" cy="304800"/>
          </a:xfrm>
          <a:prstGeom prst="rect">
            <a:avLst/>
          </a:prstGeom>
          <a:noFill/>
        </p:spPr>
        <p:txBody>
          <a:bodyPr wrap="none" lIns="0" rIns="0" tIns="0" bIns="0" anchor="ctr">
            <a:spAutoFit/>
          </a:bodyPr>
          <a:lstStyle/>
          <a:p>
            <a:pPr algn="l"/>
            <a:r>
              <a:rPr sz="1100" b="1">
                <a:solidFill>
                  <a:srgbClr val="1F2933"/>
                </a:solidFill>
                <a:latin typeface="Calibri"/>
              </a:rPr>
              <a:t> </a:t>
            </a:r>
          </a:p>
        </p:txBody>
      </p:sp>
      <p:cxnSp>
        <p:nvCxnSpPr>
          <p:cNvPr id="154" name="Connector 153"/>
          <p:cNvCxnSpPr/>
          <p:nvPr/>
        </p:nvCxnSpPr>
        <p:spPr>
          <a:xfrm>
            <a:off x="190500" y="485775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55" name="Oval 154"/>
          <p:cNvSpPr/>
          <p:nvPr/>
        </p:nvSpPr>
        <p:spPr>
          <a:xfrm>
            <a:off x="200025" y="4933950"/>
            <a:ext cx="133350" cy="133350"/>
          </a:xfrm>
          <a:prstGeom prst="ellipse">
            <a:avLst/>
          </a:prstGeom>
          <a:solidFill>
            <a:srgbClr val="0F2D52"/>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38100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Strong, direct evidence</a:t>
            </a:r>
          </a:p>
        </p:txBody>
      </p:sp>
      <p:sp>
        <p:nvSpPr>
          <p:cNvPr id="157" name="Oval 156"/>
          <p:cNvSpPr/>
          <p:nvPr/>
        </p:nvSpPr>
        <p:spPr>
          <a:xfrm>
            <a:off x="2065020"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Freeform 157"/>
          <p:cNvSpPr/>
          <p:nvPr/>
        </p:nvSpPr>
        <p:spPr>
          <a:xfrm>
            <a:off x="2133600" y="4933950"/>
            <a:ext cx="66675" cy="133350"/>
          </a:xfrm>
          <a:custGeom>
            <a:avLst/>
            <a:gdLst/>
            <a:ahLst/>
            <a:cxnLst/>
            <a:rect l="l" t="t" r="r" b="b"/>
            <a:pathLst>
              <a:path w="7" h="14">
                <a:moveTo>
                  <a:pt x="0" y="7"/>
                </a:moveTo>
                <a:lnTo>
                  <a:pt x="0" y="0"/>
                </a:lnTo>
                <a:lnTo>
                  <a:pt x="1" y="0"/>
                </a:lnTo>
                <a:lnTo>
                  <a:pt x="2" y="0"/>
                </a:lnTo>
                <a:lnTo>
                  <a:pt x="3" y="1"/>
                </a:lnTo>
                <a:lnTo>
                  <a:pt x="4" y="2"/>
                </a:lnTo>
                <a:lnTo>
                  <a:pt x="5" y="3"/>
                </a:lnTo>
                <a:lnTo>
                  <a:pt x="6" y="4"/>
                </a:lnTo>
                <a:lnTo>
                  <a:pt x="6" y="5"/>
                </a:lnTo>
                <a:lnTo>
                  <a:pt x="7" y="6"/>
                </a:lnTo>
                <a:lnTo>
                  <a:pt x="7" y="7"/>
                </a:lnTo>
                <a:lnTo>
                  <a:pt x="7" y="8"/>
                </a:lnTo>
                <a:lnTo>
                  <a:pt x="6" y="9"/>
                </a:lnTo>
                <a:lnTo>
                  <a:pt x="6" y="10"/>
                </a:lnTo>
                <a:lnTo>
                  <a:pt x="5" y="11"/>
                </a:lnTo>
                <a:lnTo>
                  <a:pt x="4" y="12"/>
                </a:lnTo>
                <a:lnTo>
                  <a:pt x="3" y="13"/>
                </a:lnTo>
                <a:lnTo>
                  <a:pt x="2" y="14"/>
                </a:lnTo>
                <a:lnTo>
                  <a:pt x="1" y="14"/>
                </a:lnTo>
                <a:lnTo>
                  <a:pt x="0" y="14"/>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2245995"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Moderate or partial</a:t>
            </a:r>
          </a:p>
        </p:txBody>
      </p:sp>
      <p:sp>
        <p:nvSpPr>
          <p:cNvPr id="160" name="Oval 159"/>
          <p:cNvSpPr/>
          <p:nvPr/>
        </p:nvSpPr>
        <p:spPr>
          <a:xfrm>
            <a:off x="367855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Freeform 160"/>
          <p:cNvSpPr/>
          <p:nvPr/>
        </p:nvSpPr>
        <p:spPr>
          <a:xfrm>
            <a:off x="3743325" y="4933950"/>
            <a:ext cx="66675" cy="66675"/>
          </a:xfrm>
          <a:custGeom>
            <a:avLst/>
            <a:gdLst/>
            <a:ahLst/>
            <a:cxnLst/>
            <a:rect l="l" t="t" r="r" b="b"/>
            <a:pathLst>
              <a:path w="7" h="7">
                <a:moveTo>
                  <a:pt x="0" y="7"/>
                </a:moveTo>
                <a:lnTo>
                  <a:pt x="0" y="0"/>
                </a:lnTo>
                <a:lnTo>
                  <a:pt x="1" y="0"/>
                </a:lnTo>
                <a:lnTo>
                  <a:pt x="3" y="0"/>
                </a:lnTo>
                <a:lnTo>
                  <a:pt x="4" y="1"/>
                </a:lnTo>
                <a:lnTo>
                  <a:pt x="5" y="2"/>
                </a:lnTo>
                <a:lnTo>
                  <a:pt x="6" y="3"/>
                </a:lnTo>
                <a:lnTo>
                  <a:pt x="6" y="4"/>
                </a:lnTo>
                <a:lnTo>
                  <a:pt x="7" y="5"/>
                </a:lnTo>
                <a:lnTo>
                  <a:pt x="7" y="6"/>
                </a:lnTo>
                <a:lnTo>
                  <a:pt x="7" y="7"/>
                </a:lnTo>
                <a:close/>
              </a:path>
            </a:pathLst>
          </a:custGeom>
          <a:solidFill>
            <a:srgbClr val="0F2D52"/>
          </a:solidFill>
          <a:ln w="635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385953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Weak or indirect</a:t>
            </a:r>
          </a:p>
        </p:txBody>
      </p:sp>
      <p:sp>
        <p:nvSpPr>
          <p:cNvPr id="163" name="Oval 162"/>
          <p:cNvSpPr/>
          <p:nvPr/>
        </p:nvSpPr>
        <p:spPr>
          <a:xfrm>
            <a:off x="5103495" y="4933950"/>
            <a:ext cx="133350" cy="133350"/>
          </a:xfrm>
          <a:prstGeom prst="ellipse">
            <a:avLst/>
          </a:prstGeom>
          <a:solidFill>
            <a:srgbClr val="FFFFFF"/>
          </a:solidFill>
          <a:ln w="12700">
            <a:solidFill>
              <a:srgbClr val="0F2D5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5284470" y="4914900"/>
            <a:ext cx="1619250" cy="171450"/>
          </a:xfrm>
          <a:prstGeom prst="rect">
            <a:avLst/>
          </a:prstGeom>
          <a:noFill/>
        </p:spPr>
        <p:txBody>
          <a:bodyPr wrap="square" lIns="28575" rIns="28575" tIns="9525" bIns="9525" anchor="ctr">
            <a:spAutoFit/>
          </a:bodyPr>
          <a:lstStyle/>
          <a:p>
            <a:pPr algn="l"/>
            <a:r>
              <a:rPr sz="1100" b="0">
                <a:solidFill>
                  <a:srgbClr val="1F2933"/>
                </a:solidFill>
                <a:latin typeface="Calibri"/>
              </a:rPr>
              <a:t>None found</a:t>
            </a:r>
          </a:p>
        </p:txBody>
      </p:sp>
      <p:sp>
        <p:nvSpPr>
          <p:cNvPr id="165" name="TextBox 164"/>
          <p:cNvSpPr txBox="1"/>
          <p:nvPr/>
        </p:nvSpPr>
        <p:spPr>
          <a:xfrm>
            <a:off x="190500" y="5143500"/>
            <a:ext cx="2857500" cy="152400"/>
          </a:xfrm>
          <a:prstGeom prst="rect">
            <a:avLst/>
          </a:prstGeom>
          <a:noFill/>
        </p:spPr>
        <p:txBody>
          <a:bodyPr wrap="square" lIns="28575" rIns="28575" tIns="9525" bIns="9525" anchor="t">
            <a:spAutoFit/>
          </a:bodyPr>
          <a:lstStyle/>
          <a:p>
            <a:pPr algn="l"/>
            <a:r>
              <a:rPr sz="1100" b="1">
                <a:solidFill>
                  <a:srgbClr val="0F2D52"/>
                </a:solidFill>
                <a:latin typeface="Calibri"/>
              </a:rPr>
              <a:t>STRATEGIC GROUPS</a:t>
            </a:r>
          </a:p>
        </p:txBody>
      </p:sp>
      <p:sp>
        <p:nvSpPr>
          <p:cNvPr id="166" name="Rectangle 165"/>
          <p:cNvSpPr/>
          <p:nvPr/>
        </p:nvSpPr>
        <p:spPr>
          <a:xfrm>
            <a:off x="190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7" name="TextBox 166"/>
          <p:cNvSpPr txBox="1"/>
          <p:nvPr/>
        </p:nvSpPr>
        <p:spPr>
          <a:xfrm>
            <a:off x="190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1</a:t>
            </a:r>
          </a:p>
        </p:txBody>
      </p:sp>
      <p:sp>
        <p:nvSpPr>
          <p:cNvPr id="168" name="TextBox 167"/>
          <p:cNvSpPr txBox="1"/>
          <p:nvPr/>
        </p:nvSpPr>
        <p:spPr>
          <a:xfrm>
            <a:off x="190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DoMatcha, Jade Leaf Matcha, Encha, Rishi Tea and Botanicals</a:t>
            </a:r>
          </a:p>
        </p:txBody>
      </p:sp>
      <p:sp>
        <p:nvSpPr>
          <p:cNvPr id="169" name="TextBox 168"/>
          <p:cNvSpPr txBox="1"/>
          <p:nvPr/>
        </p:nvSpPr>
        <p:spPr>
          <a:xfrm>
            <a:off x="190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scale and share; weakest on segment breadth.</a:t>
            </a:r>
          </a:p>
        </p:txBody>
      </p:sp>
      <p:sp>
        <p:nvSpPr>
          <p:cNvPr id="170" name="Rectangle 169"/>
          <p:cNvSpPr/>
          <p:nvPr/>
        </p:nvSpPr>
        <p:spPr>
          <a:xfrm>
            <a:off x="41910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41910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2</a:t>
            </a:r>
          </a:p>
        </p:txBody>
      </p:sp>
      <p:sp>
        <p:nvSpPr>
          <p:cNvPr id="172" name="TextBox 171"/>
          <p:cNvSpPr txBox="1"/>
          <p:nvPr/>
        </p:nvSpPr>
        <p:spPr>
          <a:xfrm>
            <a:off x="41910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Matchaful, Tenzo</a:t>
            </a:r>
          </a:p>
        </p:txBody>
      </p:sp>
      <p:sp>
        <p:nvSpPr>
          <p:cNvPr id="173" name="TextBox 172"/>
          <p:cNvSpPr txBox="1"/>
          <p:nvPr/>
        </p:nvSpPr>
        <p:spPr>
          <a:xfrm>
            <a:off x="41910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segment breadth.</a:t>
            </a:r>
          </a:p>
        </p:txBody>
      </p:sp>
      <p:sp>
        <p:nvSpPr>
          <p:cNvPr id="174" name="Rectangle 173"/>
          <p:cNvSpPr/>
          <p:nvPr/>
        </p:nvSpPr>
        <p:spPr>
          <a:xfrm>
            <a:off x="8191500" y="5334000"/>
            <a:ext cx="3810000" cy="28575"/>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8191500" y="5391150"/>
            <a:ext cx="3810000" cy="171450"/>
          </a:xfrm>
          <a:prstGeom prst="rect">
            <a:avLst/>
          </a:prstGeom>
          <a:noFill/>
        </p:spPr>
        <p:txBody>
          <a:bodyPr wrap="square" lIns="28575" rIns="28575" tIns="9525" bIns="9525" anchor="t">
            <a:spAutoFit/>
          </a:bodyPr>
          <a:lstStyle/>
          <a:p>
            <a:pPr algn="l"/>
            <a:r>
              <a:rPr sz="1100" b="1">
                <a:solidFill>
                  <a:srgbClr val="1F2933"/>
                </a:solidFill>
                <a:latin typeface="Calibri"/>
              </a:rPr>
              <a:t>Tier 3</a:t>
            </a:r>
          </a:p>
        </p:txBody>
      </p:sp>
      <p:sp>
        <p:nvSpPr>
          <p:cNvPr id="176" name="TextBox 175"/>
          <p:cNvSpPr txBox="1"/>
          <p:nvPr/>
        </p:nvSpPr>
        <p:spPr>
          <a:xfrm>
            <a:off x="8191500" y="5562600"/>
            <a:ext cx="3810000" cy="3238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Aoi Matcha, Sencha Naturals, Harney and Sons, Kettl</a:t>
            </a:r>
          </a:p>
        </p:txBody>
      </p:sp>
      <p:sp>
        <p:nvSpPr>
          <p:cNvPr id="177" name="TextBox 176"/>
          <p:cNvSpPr txBox="1"/>
          <p:nvPr/>
        </p:nvSpPr>
        <p:spPr>
          <a:xfrm>
            <a:off x="8191500" y="5924550"/>
            <a:ext cx="3810000" cy="34290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Wins on strategic momentum; weakest on scale and share.</a:t>
            </a:r>
          </a:p>
        </p:txBody>
      </p:sp>
      <p:sp>
        <p:nvSpPr>
          <p:cNvPr id="178" name="TextBox 17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79" name="Picture 178" descr="lock.png"/>
          <p:cNvPicPr>
            <a:picLocks noChangeAspect="1"/>
          </p:cNvPicPr>
          <p:nvPr/>
        </p:nvPicPr>
        <p:blipFill>
          <a:blip r:embed="rId4"/>
          <a:stretch>
            <a:fillRect/>
          </a:stretch>
        </p:blipFill>
        <p:spPr>
          <a:xfrm>
            <a:off x="11632350" y="1868551"/>
            <a:ext cx="128699" cy="187198"/>
          </a:xfrm>
          <a:prstGeom prst="rect">
            <a:avLst/>
          </a:prstGeom>
        </p:spPr>
      </p:pic>
      <p:pic>
        <p:nvPicPr>
          <p:cNvPr id="180" name="Picture 179" descr="lock.png"/>
          <p:cNvPicPr>
            <a:picLocks noChangeAspect="1"/>
          </p:cNvPicPr>
          <p:nvPr/>
        </p:nvPicPr>
        <p:blipFill>
          <a:blip r:embed="rId4"/>
          <a:stretch>
            <a:fillRect/>
          </a:stretch>
        </p:blipFill>
        <p:spPr>
          <a:xfrm>
            <a:off x="11575200" y="2173351"/>
            <a:ext cx="128699" cy="187198"/>
          </a:xfrm>
          <a:prstGeom prst="rect">
            <a:avLst/>
          </a:prstGeom>
        </p:spPr>
      </p:pic>
      <p:pic>
        <p:nvPicPr>
          <p:cNvPr id="181" name="Picture 180" descr="lock.png"/>
          <p:cNvPicPr>
            <a:picLocks noChangeAspect="1"/>
          </p:cNvPicPr>
          <p:nvPr/>
        </p:nvPicPr>
        <p:blipFill>
          <a:blip r:embed="rId4"/>
          <a:stretch>
            <a:fillRect/>
          </a:stretch>
        </p:blipFill>
        <p:spPr>
          <a:xfrm>
            <a:off x="11575200" y="2478151"/>
            <a:ext cx="128699" cy="187198"/>
          </a:xfrm>
          <a:prstGeom prst="rect">
            <a:avLst/>
          </a:prstGeom>
        </p:spPr>
      </p:pic>
      <p:pic>
        <p:nvPicPr>
          <p:cNvPr id="182" name="Picture 181" descr="lock.png"/>
          <p:cNvPicPr>
            <a:picLocks noChangeAspect="1"/>
          </p:cNvPicPr>
          <p:nvPr/>
        </p:nvPicPr>
        <p:blipFill>
          <a:blip r:embed="rId4"/>
          <a:stretch>
            <a:fillRect/>
          </a:stretch>
        </p:blipFill>
        <p:spPr>
          <a:xfrm>
            <a:off x="11518050" y="2782951"/>
            <a:ext cx="128699" cy="187198"/>
          </a:xfrm>
          <a:prstGeom prst="rect">
            <a:avLst/>
          </a:prstGeom>
        </p:spPr>
      </p:pic>
      <p:pic>
        <p:nvPicPr>
          <p:cNvPr id="183" name="Picture 182" descr="lock.png"/>
          <p:cNvPicPr>
            <a:picLocks noChangeAspect="1"/>
          </p:cNvPicPr>
          <p:nvPr/>
        </p:nvPicPr>
        <p:blipFill>
          <a:blip r:embed="rId4"/>
          <a:stretch>
            <a:fillRect/>
          </a:stretch>
        </p:blipFill>
        <p:spPr>
          <a:xfrm>
            <a:off x="11479950" y="3087751"/>
            <a:ext cx="128699" cy="187198"/>
          </a:xfrm>
          <a:prstGeom prst="rect">
            <a:avLst/>
          </a:prstGeom>
        </p:spPr>
      </p:pic>
      <p:pic>
        <p:nvPicPr>
          <p:cNvPr id="184" name="Picture 183" descr="lock.png"/>
          <p:cNvPicPr>
            <a:picLocks noChangeAspect="1"/>
          </p:cNvPicPr>
          <p:nvPr/>
        </p:nvPicPr>
        <p:blipFill>
          <a:blip r:embed="rId4"/>
          <a:stretch>
            <a:fillRect/>
          </a:stretch>
        </p:blipFill>
        <p:spPr>
          <a:xfrm>
            <a:off x="11422800" y="3392551"/>
            <a:ext cx="128699" cy="187198"/>
          </a:xfrm>
          <a:prstGeom prst="rect">
            <a:avLst/>
          </a:prstGeom>
        </p:spPr>
      </p:pic>
      <p:pic>
        <p:nvPicPr>
          <p:cNvPr id="185" name="Picture 184" descr="lock.png"/>
          <p:cNvPicPr>
            <a:picLocks noChangeAspect="1"/>
          </p:cNvPicPr>
          <p:nvPr/>
        </p:nvPicPr>
        <p:blipFill>
          <a:blip r:embed="rId4"/>
          <a:stretch>
            <a:fillRect/>
          </a:stretch>
        </p:blipFill>
        <p:spPr>
          <a:xfrm>
            <a:off x="11327550" y="3697351"/>
            <a:ext cx="128699" cy="187198"/>
          </a:xfrm>
          <a:prstGeom prst="rect">
            <a:avLst/>
          </a:prstGeom>
        </p:spPr>
      </p:pic>
      <p:pic>
        <p:nvPicPr>
          <p:cNvPr id="186" name="Picture 185" descr="lock.png"/>
          <p:cNvPicPr>
            <a:picLocks noChangeAspect="1"/>
          </p:cNvPicPr>
          <p:nvPr/>
        </p:nvPicPr>
        <p:blipFill>
          <a:blip r:embed="rId4"/>
          <a:stretch>
            <a:fillRect/>
          </a:stretch>
        </p:blipFill>
        <p:spPr>
          <a:xfrm>
            <a:off x="11270400" y="4002151"/>
            <a:ext cx="128699" cy="187198"/>
          </a:xfrm>
          <a:prstGeom prst="rect">
            <a:avLst/>
          </a:prstGeom>
        </p:spPr>
      </p:pic>
      <p:pic>
        <p:nvPicPr>
          <p:cNvPr id="187" name="Picture 186" descr="lock.png"/>
          <p:cNvPicPr>
            <a:picLocks noChangeAspect="1"/>
          </p:cNvPicPr>
          <p:nvPr/>
        </p:nvPicPr>
        <p:blipFill>
          <a:blip r:embed="rId4"/>
          <a:stretch>
            <a:fillRect/>
          </a:stretch>
        </p:blipFill>
        <p:spPr>
          <a:xfrm>
            <a:off x="11213250" y="4306951"/>
            <a:ext cx="128699" cy="187198"/>
          </a:xfrm>
          <a:prstGeom prst="rect">
            <a:avLst/>
          </a:prstGeom>
        </p:spPr>
      </p:pic>
      <p:pic>
        <p:nvPicPr>
          <p:cNvPr id="188" name="Picture 187" descr="lock.png"/>
          <p:cNvPicPr>
            <a:picLocks noChangeAspect="1"/>
          </p:cNvPicPr>
          <p:nvPr/>
        </p:nvPicPr>
        <p:blipFill>
          <a:blip r:embed="rId4"/>
          <a:stretch>
            <a:fillRect/>
          </a:stretch>
        </p:blipFill>
        <p:spPr>
          <a:xfrm>
            <a:off x="11156100" y="4611751"/>
            <a:ext cx="128699" cy="187198"/>
          </a:xfrm>
          <a:prstGeom prst="rect">
            <a:avLst/>
          </a:prstGeom>
        </p:spPr>
      </p:pic>
      <p:sp>
        <p:nvSpPr>
          <p:cNvPr id="189" name="TextBox 188"/>
          <p:cNvSpPr txBox="1"/>
          <p:nvPr/>
        </p:nvSpPr>
        <p:spPr>
          <a:xfrm>
            <a:off x="21621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0" name="Picture 189" descr="lock.png"/>
          <p:cNvPicPr>
            <a:picLocks noChangeAspect="1"/>
          </p:cNvPicPr>
          <p:nvPr/>
        </p:nvPicPr>
        <p:blipFill>
          <a:blip r:embed="rId4"/>
          <a:stretch>
            <a:fillRect/>
          </a:stretch>
        </p:blipFill>
        <p:spPr>
          <a:xfrm>
            <a:off x="2482959" y="1212159"/>
            <a:ext cx="92663" cy="134782"/>
          </a:xfrm>
          <a:prstGeom prst="rect">
            <a:avLst/>
          </a:prstGeom>
        </p:spPr>
      </p:pic>
      <p:sp>
        <p:nvSpPr>
          <p:cNvPr id="191" name="TextBox 190"/>
          <p:cNvSpPr txBox="1"/>
          <p:nvPr/>
        </p:nvSpPr>
        <p:spPr>
          <a:xfrm>
            <a:off x="38195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2" name="Picture 191" descr="lock.png"/>
          <p:cNvPicPr>
            <a:picLocks noChangeAspect="1"/>
          </p:cNvPicPr>
          <p:nvPr/>
        </p:nvPicPr>
        <p:blipFill>
          <a:blip r:embed="rId4"/>
          <a:stretch>
            <a:fillRect/>
          </a:stretch>
        </p:blipFill>
        <p:spPr>
          <a:xfrm>
            <a:off x="4140309" y="1212159"/>
            <a:ext cx="92663" cy="134782"/>
          </a:xfrm>
          <a:prstGeom prst="rect">
            <a:avLst/>
          </a:prstGeom>
        </p:spPr>
      </p:pic>
      <p:sp>
        <p:nvSpPr>
          <p:cNvPr id="193" name="TextBox 192"/>
          <p:cNvSpPr txBox="1"/>
          <p:nvPr/>
        </p:nvSpPr>
        <p:spPr>
          <a:xfrm>
            <a:off x="54768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4" name="Picture 193" descr="lock.png"/>
          <p:cNvPicPr>
            <a:picLocks noChangeAspect="1"/>
          </p:cNvPicPr>
          <p:nvPr/>
        </p:nvPicPr>
        <p:blipFill>
          <a:blip r:embed="rId4"/>
          <a:stretch>
            <a:fillRect/>
          </a:stretch>
        </p:blipFill>
        <p:spPr>
          <a:xfrm>
            <a:off x="5797659" y="1212159"/>
            <a:ext cx="92663" cy="134782"/>
          </a:xfrm>
          <a:prstGeom prst="rect">
            <a:avLst/>
          </a:prstGeom>
        </p:spPr>
      </p:pic>
      <p:sp>
        <p:nvSpPr>
          <p:cNvPr id="195" name="TextBox 194"/>
          <p:cNvSpPr txBox="1"/>
          <p:nvPr/>
        </p:nvSpPr>
        <p:spPr>
          <a:xfrm>
            <a:off x="713422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6" name="Picture 195" descr="lock.png"/>
          <p:cNvPicPr>
            <a:picLocks noChangeAspect="1"/>
          </p:cNvPicPr>
          <p:nvPr/>
        </p:nvPicPr>
        <p:blipFill>
          <a:blip r:embed="rId4"/>
          <a:stretch>
            <a:fillRect/>
          </a:stretch>
        </p:blipFill>
        <p:spPr>
          <a:xfrm>
            <a:off x="7455009" y="1212159"/>
            <a:ext cx="92663" cy="134782"/>
          </a:xfrm>
          <a:prstGeom prst="rect">
            <a:avLst/>
          </a:prstGeom>
        </p:spPr>
      </p:pic>
      <p:sp>
        <p:nvSpPr>
          <p:cNvPr id="197" name="TextBox 196"/>
          <p:cNvSpPr txBox="1"/>
          <p:nvPr/>
        </p:nvSpPr>
        <p:spPr>
          <a:xfrm>
            <a:off x="8791575" y="1219200"/>
            <a:ext cx="379523" cy="139750"/>
          </a:xfrm>
          <a:prstGeom prst="rect">
            <a:avLst/>
          </a:prstGeom>
          <a:noFill/>
        </p:spPr>
        <p:txBody>
          <a:bodyPr wrap="none" lIns="0" rIns="0" tIns="0" bIns="0">
            <a:spAutoFit/>
          </a:bodyPr>
          <a:lstStyle/>
          <a:p>
            <a:r>
              <a:rPr sz="791" b="1">
                <a:solidFill>
                  <a:srgbClr val="1F2933"/>
                </a:solidFill>
                <a:latin typeface="Calibri"/>
              </a:rPr>
              <a:t>Weight</a:t>
            </a:r>
          </a:p>
        </p:txBody>
      </p:sp>
      <p:pic>
        <p:nvPicPr>
          <p:cNvPr id="198" name="Picture 197" descr="lock.png"/>
          <p:cNvPicPr>
            <a:picLocks noChangeAspect="1"/>
          </p:cNvPicPr>
          <p:nvPr/>
        </p:nvPicPr>
        <p:blipFill>
          <a:blip r:embed="rId4"/>
          <a:stretch>
            <a:fillRect/>
          </a:stretch>
        </p:blipFill>
        <p:spPr>
          <a:xfrm>
            <a:off x="9112359" y="1212159"/>
            <a:ext cx="92663" cy="134782"/>
          </a:xfrm>
          <a:prstGeom prst="rect">
            <a:avLst/>
          </a:prstGeom>
        </p:spPr>
      </p:pic>
    </p:spTree>
  </p:cSld>
  <p:clrMapOvr>
    <a:masterClrMapping/>
  </p:clrMapOvr>
</p:sld>
</file>

<file path=ppt/slides/slide300.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Strategic Activity Tracker</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Each player's active strategic moves: what, type, source department, signal and who should act</a:t>
            </a:r>
          </a:p>
        </p:txBody>
      </p:sp>
      <p:sp>
        <p:nvSpPr>
          <p:cNvPr id="10" name="TextBox 9"/>
          <p:cNvSpPr txBox="1"/>
          <p:nvPr/>
        </p:nvSpPr>
        <p:spPr>
          <a:xfrm>
            <a:off x="209550" y="1047750"/>
            <a:ext cx="1295400" cy="171450"/>
          </a:xfrm>
          <a:prstGeom prst="rect">
            <a:avLst/>
          </a:prstGeom>
          <a:noFill/>
        </p:spPr>
        <p:txBody>
          <a:bodyPr wrap="square" lIns="28575" rIns="28575" tIns="9525" bIns="9525" anchor="t">
            <a:spAutoFit/>
          </a:bodyPr>
          <a:lstStyle/>
          <a:p>
            <a:pPr algn="l"/>
            <a:r>
              <a:rPr sz="1100" b="1">
                <a:solidFill>
                  <a:srgbClr val="0F2D52"/>
                </a:solidFill>
                <a:latin typeface="Calibri"/>
              </a:rPr>
              <a:t>COMPANY</a:t>
            </a:r>
          </a:p>
        </p:txBody>
      </p:sp>
      <p:sp>
        <p:nvSpPr>
          <p:cNvPr id="11" name="TextBox 10"/>
          <p:cNvSpPr txBox="1"/>
          <p:nvPr/>
        </p:nvSpPr>
        <p:spPr>
          <a:xfrm>
            <a:off x="1543050" y="1047750"/>
            <a:ext cx="2343150" cy="171450"/>
          </a:xfrm>
          <a:prstGeom prst="rect">
            <a:avLst/>
          </a:prstGeom>
          <a:noFill/>
        </p:spPr>
        <p:txBody>
          <a:bodyPr wrap="square" lIns="28575" rIns="28575" tIns="9525" bIns="9525" anchor="t">
            <a:spAutoFit/>
          </a:bodyPr>
          <a:lstStyle/>
          <a:p>
            <a:pPr algn="l"/>
            <a:r>
              <a:rPr sz="1100" b="1">
                <a:solidFill>
                  <a:srgbClr val="0F2D52"/>
                </a:solidFill>
                <a:latin typeface="Calibri"/>
              </a:rPr>
              <a:t>DEVELOPMENT (WHAT IS HAPPENING)</a:t>
            </a:r>
          </a:p>
        </p:txBody>
      </p:sp>
      <p:sp>
        <p:nvSpPr>
          <p:cNvPr id="12" name="TextBox 11"/>
          <p:cNvSpPr txBox="1"/>
          <p:nvPr/>
        </p:nvSpPr>
        <p:spPr>
          <a:xfrm>
            <a:off x="3924300" y="1047750"/>
            <a:ext cx="533400" cy="171450"/>
          </a:xfrm>
          <a:prstGeom prst="rect">
            <a:avLst/>
          </a:prstGeom>
          <a:noFill/>
        </p:spPr>
        <p:txBody>
          <a:bodyPr wrap="none" lIns="0" rIns="0" tIns="0" bIns="0" anchor="t">
            <a:spAutoFit/>
          </a:bodyPr>
          <a:lstStyle/>
          <a:p>
            <a:pPr algn="l"/>
            <a:r>
              <a:rPr sz="1100" b="1">
                <a:solidFill>
                  <a:srgbClr val="0F2D52"/>
                </a:solidFill>
                <a:latin typeface="Calibri"/>
              </a:rPr>
              <a:t>DATE</a:t>
            </a:r>
          </a:p>
        </p:txBody>
      </p:sp>
      <p:sp>
        <p:nvSpPr>
          <p:cNvPr id="13" name="TextBox 12"/>
          <p:cNvSpPr txBox="1"/>
          <p:nvPr/>
        </p:nvSpPr>
        <p:spPr>
          <a:xfrm>
            <a:off x="4495800" y="1047750"/>
            <a:ext cx="438150" cy="171450"/>
          </a:xfrm>
          <a:prstGeom prst="rect">
            <a:avLst/>
          </a:prstGeom>
          <a:noFill/>
        </p:spPr>
        <p:txBody>
          <a:bodyPr wrap="none" lIns="0" rIns="0" tIns="0" bIns="0" anchor="t">
            <a:spAutoFit/>
          </a:bodyPr>
          <a:lstStyle/>
          <a:p>
            <a:pPr algn="l"/>
            <a:r>
              <a:rPr sz="1100" b="1">
                <a:solidFill>
                  <a:srgbClr val="0F2D52"/>
                </a:solidFill>
                <a:latin typeface="Calibri"/>
              </a:rPr>
              <a:t>TYPE</a:t>
            </a:r>
          </a:p>
        </p:txBody>
      </p:sp>
      <p:sp>
        <p:nvSpPr>
          <p:cNvPr id="14" name="TextBox 13"/>
          <p:cNvSpPr txBox="1"/>
          <p:nvPr/>
        </p:nvSpPr>
        <p:spPr>
          <a:xfrm>
            <a:off x="4972050" y="1047750"/>
            <a:ext cx="1200150" cy="171450"/>
          </a:xfrm>
          <a:prstGeom prst="rect">
            <a:avLst/>
          </a:prstGeom>
          <a:noFill/>
        </p:spPr>
        <p:txBody>
          <a:bodyPr wrap="square" lIns="28575" rIns="28575" tIns="9525" bIns="9525" anchor="t">
            <a:spAutoFit/>
          </a:bodyPr>
          <a:lstStyle/>
          <a:p>
            <a:pPr algn="l"/>
            <a:r>
              <a:rPr sz="1100" b="1">
                <a:solidFill>
                  <a:srgbClr val="0F2D52"/>
                </a:solidFill>
                <a:latin typeface="Calibri"/>
              </a:rPr>
              <a:t>SOURCE DEPT</a:t>
            </a:r>
          </a:p>
        </p:txBody>
      </p:sp>
      <p:sp>
        <p:nvSpPr>
          <p:cNvPr id="15" name="TextBox 14"/>
          <p:cNvSpPr txBox="1"/>
          <p:nvPr/>
        </p:nvSpPr>
        <p:spPr>
          <a:xfrm>
            <a:off x="6210300" y="1047750"/>
            <a:ext cx="914400" cy="171450"/>
          </a:xfrm>
          <a:prstGeom prst="rect">
            <a:avLst/>
          </a:prstGeom>
          <a:noFill/>
        </p:spPr>
        <p:txBody>
          <a:bodyPr wrap="square" lIns="28575" rIns="28575" tIns="9525" bIns="9525" anchor="t">
            <a:spAutoFit/>
          </a:bodyPr>
          <a:lstStyle/>
          <a:p>
            <a:pPr algn="l"/>
            <a:r>
              <a:rPr sz="1100" b="1">
                <a:solidFill>
                  <a:srgbClr val="0F2D52"/>
                </a:solidFill>
                <a:latin typeface="Calibri"/>
              </a:rPr>
              <a:t>EVIDENCE</a:t>
            </a:r>
          </a:p>
        </p:txBody>
      </p:sp>
      <p:sp>
        <p:nvSpPr>
          <p:cNvPr id="16" name="TextBox 15"/>
          <p:cNvSpPr txBox="1"/>
          <p:nvPr/>
        </p:nvSpPr>
        <p:spPr>
          <a:xfrm>
            <a:off x="7162800" y="1047750"/>
            <a:ext cx="2152650" cy="171450"/>
          </a:xfrm>
          <a:prstGeom prst="rect">
            <a:avLst/>
          </a:prstGeom>
          <a:noFill/>
        </p:spPr>
        <p:txBody>
          <a:bodyPr wrap="square" lIns="28575" rIns="28575" tIns="9525" bIns="9525" anchor="t">
            <a:spAutoFit/>
          </a:bodyPr>
          <a:lstStyle/>
          <a:p>
            <a:pPr algn="l"/>
            <a:r>
              <a:rPr sz="1100" b="1">
                <a:solidFill>
                  <a:srgbClr val="0F2D52"/>
                </a:solidFill>
                <a:latin typeface="Calibri"/>
              </a:rPr>
              <a:t>SIGNAL (WHAT IT INDICATES)</a:t>
            </a:r>
          </a:p>
        </p:txBody>
      </p:sp>
      <p:sp>
        <p:nvSpPr>
          <p:cNvPr id="17" name="TextBox 16"/>
          <p:cNvSpPr txBox="1"/>
          <p:nvPr/>
        </p:nvSpPr>
        <p:spPr>
          <a:xfrm>
            <a:off x="9353550" y="1047750"/>
            <a:ext cx="2628900" cy="171450"/>
          </a:xfrm>
          <a:prstGeom prst="rect">
            <a:avLst/>
          </a:prstGeom>
          <a:noFill/>
        </p:spPr>
        <p:txBody>
          <a:bodyPr wrap="square" lIns="28575" rIns="28575" tIns="9525" bIns="9525" anchor="t">
            <a:spAutoFit/>
          </a:bodyPr>
          <a:lstStyle/>
          <a:p>
            <a:pPr algn="l"/>
            <a:r>
              <a:rPr sz="1100" b="1">
                <a:solidFill>
                  <a:srgbClr val="0F2D52"/>
                </a:solidFill>
                <a:latin typeface="Calibri"/>
              </a:rPr>
              <a:t>WHO SHOULD ACT</a:t>
            </a:r>
          </a:p>
        </p:txBody>
      </p:sp>
      <p:cxnSp>
        <p:nvCxnSpPr>
          <p:cNvPr id="18" name="Connector 17"/>
          <p:cNvCxnSpPr/>
          <p:nvPr/>
        </p:nvCxnSpPr>
        <p:spPr>
          <a:xfrm>
            <a:off x="190500" y="12382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19" name="Rectangle 18"/>
          <p:cNvSpPr/>
          <p:nvPr/>
        </p:nvSpPr>
        <p:spPr>
          <a:xfrm>
            <a:off x="190500" y="12954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 name="TextBox 19"/>
          <p:cNvSpPr txBox="1"/>
          <p:nvPr/>
        </p:nvSpPr>
        <p:spPr>
          <a:xfrm>
            <a:off x="266700" y="12858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Jade Leaf Matcha</a:t>
            </a:r>
          </a:p>
        </p:txBody>
      </p:sp>
      <p:sp>
        <p:nvSpPr>
          <p:cNvPr id="21" name="TextBox 20"/>
          <p:cNvSpPr txBox="1"/>
          <p:nvPr/>
        </p:nvSpPr>
        <p:spPr>
          <a:xfrm>
            <a:off x="1543050" y="12858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22" name="TextBox 21"/>
          <p:cNvSpPr txBox="1"/>
          <p:nvPr/>
        </p:nvSpPr>
        <p:spPr>
          <a:xfrm>
            <a:off x="3924300" y="12858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23" name="Rectangle 22"/>
          <p:cNvSpPr/>
          <p:nvPr/>
        </p:nvSpPr>
        <p:spPr>
          <a:xfrm>
            <a:off x="4514850" y="13144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 name="TextBox 23"/>
          <p:cNvSpPr txBox="1"/>
          <p:nvPr/>
        </p:nvSpPr>
        <p:spPr>
          <a:xfrm>
            <a:off x="4514850" y="13144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25" name="TextBox 24"/>
          <p:cNvSpPr txBox="1"/>
          <p:nvPr/>
        </p:nvSpPr>
        <p:spPr>
          <a:xfrm>
            <a:off x="4972050" y="12858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26" name="TextBox 25"/>
          <p:cNvSpPr txBox="1"/>
          <p:nvPr/>
        </p:nvSpPr>
        <p:spPr>
          <a:xfrm>
            <a:off x="6210300" y="12858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27" name="TextBox 26"/>
          <p:cNvSpPr txBox="1"/>
          <p:nvPr/>
        </p:nvSpPr>
        <p:spPr>
          <a:xfrm>
            <a:off x="7162800" y="12858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28" name="TextBox 27"/>
          <p:cNvSpPr txBox="1"/>
          <p:nvPr/>
        </p:nvSpPr>
        <p:spPr>
          <a:xfrm>
            <a:off x="9353550" y="12858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29" name="Connector 28"/>
          <p:cNvCxnSpPr/>
          <p:nvPr/>
        </p:nvCxnSpPr>
        <p:spPr>
          <a:xfrm>
            <a:off x="190500" y="17526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190500" y="17907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266700" y="17811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DoMatcha</a:t>
            </a:r>
          </a:p>
        </p:txBody>
      </p:sp>
      <p:sp>
        <p:nvSpPr>
          <p:cNvPr id="32" name="TextBox 31"/>
          <p:cNvSpPr txBox="1"/>
          <p:nvPr/>
        </p:nvSpPr>
        <p:spPr>
          <a:xfrm>
            <a:off x="1543050" y="17811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Organic</a:t>
            </a:r>
          </a:p>
        </p:txBody>
      </p:sp>
      <p:sp>
        <p:nvSpPr>
          <p:cNvPr id="33" name="TextBox 32"/>
          <p:cNvSpPr txBox="1"/>
          <p:nvPr/>
        </p:nvSpPr>
        <p:spPr>
          <a:xfrm>
            <a:off x="3924300" y="17811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34" name="Rectangle 33"/>
          <p:cNvSpPr/>
          <p:nvPr/>
        </p:nvSpPr>
        <p:spPr>
          <a:xfrm>
            <a:off x="4514850" y="18097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 name="TextBox 34"/>
          <p:cNvSpPr txBox="1"/>
          <p:nvPr/>
        </p:nvSpPr>
        <p:spPr>
          <a:xfrm>
            <a:off x="4514850" y="18097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36" name="TextBox 35"/>
          <p:cNvSpPr txBox="1"/>
          <p:nvPr/>
        </p:nvSpPr>
        <p:spPr>
          <a:xfrm>
            <a:off x="4972050" y="17811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37" name="TextBox 36"/>
          <p:cNvSpPr txBox="1"/>
          <p:nvPr/>
        </p:nvSpPr>
        <p:spPr>
          <a:xfrm>
            <a:off x="6210300" y="17811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38" name="TextBox 37"/>
          <p:cNvSpPr txBox="1"/>
          <p:nvPr/>
        </p:nvSpPr>
        <p:spPr>
          <a:xfrm>
            <a:off x="7162800" y="17811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39" name="TextBox 38"/>
          <p:cNvSpPr txBox="1"/>
          <p:nvPr/>
        </p:nvSpPr>
        <p:spPr>
          <a:xfrm>
            <a:off x="9353550" y="17811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40" name="Connector 39"/>
          <p:cNvCxnSpPr/>
          <p:nvPr/>
        </p:nvCxnSpPr>
        <p:spPr>
          <a:xfrm>
            <a:off x="190500" y="22479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190500" y="22860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66700" y="22764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Encha</a:t>
            </a:r>
          </a:p>
        </p:txBody>
      </p:sp>
      <p:sp>
        <p:nvSpPr>
          <p:cNvPr id="43" name="TextBox 42"/>
          <p:cNvSpPr txBox="1"/>
          <p:nvPr/>
        </p:nvSpPr>
        <p:spPr>
          <a:xfrm>
            <a:off x="1543050" y="22764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44" name="TextBox 43"/>
          <p:cNvSpPr txBox="1"/>
          <p:nvPr/>
        </p:nvSpPr>
        <p:spPr>
          <a:xfrm>
            <a:off x="3924300" y="22764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45" name="Rectangle 44"/>
          <p:cNvSpPr/>
          <p:nvPr/>
        </p:nvSpPr>
        <p:spPr>
          <a:xfrm>
            <a:off x="4514850" y="23050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6" name="TextBox 45"/>
          <p:cNvSpPr txBox="1"/>
          <p:nvPr/>
        </p:nvSpPr>
        <p:spPr>
          <a:xfrm>
            <a:off x="4514850" y="23050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47" name="TextBox 46"/>
          <p:cNvSpPr txBox="1"/>
          <p:nvPr/>
        </p:nvSpPr>
        <p:spPr>
          <a:xfrm>
            <a:off x="4972050" y="22764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48" name="TextBox 47"/>
          <p:cNvSpPr txBox="1"/>
          <p:nvPr/>
        </p:nvSpPr>
        <p:spPr>
          <a:xfrm>
            <a:off x="6210300" y="22764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49" name="TextBox 48"/>
          <p:cNvSpPr txBox="1"/>
          <p:nvPr/>
        </p:nvSpPr>
        <p:spPr>
          <a:xfrm>
            <a:off x="7162800" y="22764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50" name="TextBox 49"/>
          <p:cNvSpPr txBox="1"/>
          <p:nvPr/>
        </p:nvSpPr>
        <p:spPr>
          <a:xfrm>
            <a:off x="9353550" y="22764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51" name="Connector 50"/>
          <p:cNvCxnSpPr/>
          <p:nvPr/>
        </p:nvCxnSpPr>
        <p:spPr>
          <a:xfrm>
            <a:off x="190500" y="27432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190500" y="2781300"/>
            <a:ext cx="38100" cy="4191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266700" y="27717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Rishi Tea and Botanicals</a:t>
            </a:r>
          </a:p>
        </p:txBody>
      </p:sp>
      <p:sp>
        <p:nvSpPr>
          <p:cNvPr id="54" name="TextBox 53"/>
          <p:cNvSpPr txBox="1"/>
          <p:nvPr/>
        </p:nvSpPr>
        <p:spPr>
          <a:xfrm>
            <a:off x="1543050" y="27717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Conventional</a:t>
            </a:r>
          </a:p>
        </p:txBody>
      </p:sp>
      <p:sp>
        <p:nvSpPr>
          <p:cNvPr id="55" name="TextBox 54"/>
          <p:cNvSpPr txBox="1"/>
          <p:nvPr/>
        </p:nvSpPr>
        <p:spPr>
          <a:xfrm>
            <a:off x="3924300" y="27717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56" name="Rectangle 55"/>
          <p:cNvSpPr/>
          <p:nvPr/>
        </p:nvSpPr>
        <p:spPr>
          <a:xfrm>
            <a:off x="4514850" y="28003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514850" y="28003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58" name="TextBox 57"/>
          <p:cNvSpPr txBox="1"/>
          <p:nvPr/>
        </p:nvSpPr>
        <p:spPr>
          <a:xfrm>
            <a:off x="4972050" y="27717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59" name="TextBox 58"/>
          <p:cNvSpPr txBox="1"/>
          <p:nvPr/>
        </p:nvSpPr>
        <p:spPr>
          <a:xfrm>
            <a:off x="6210300" y="27717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60" name="TextBox 59"/>
          <p:cNvSpPr txBox="1"/>
          <p:nvPr/>
        </p:nvSpPr>
        <p:spPr>
          <a:xfrm>
            <a:off x="7162800" y="27717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61" name="TextBox 60"/>
          <p:cNvSpPr txBox="1"/>
          <p:nvPr/>
        </p:nvSpPr>
        <p:spPr>
          <a:xfrm>
            <a:off x="9353550" y="27717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62" name="Connector 61"/>
          <p:cNvCxnSpPr/>
          <p:nvPr/>
        </p:nvCxnSpPr>
        <p:spPr>
          <a:xfrm>
            <a:off x="190500" y="32385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63" name="Rectangle 62"/>
          <p:cNvSpPr/>
          <p:nvPr/>
        </p:nvSpPr>
        <p:spPr>
          <a:xfrm>
            <a:off x="190500" y="32766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66700" y="32670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Tenzo</a:t>
            </a:r>
          </a:p>
        </p:txBody>
      </p:sp>
      <p:sp>
        <p:nvSpPr>
          <p:cNvPr id="65" name="TextBox 64"/>
          <p:cNvSpPr txBox="1"/>
          <p:nvPr/>
        </p:nvSpPr>
        <p:spPr>
          <a:xfrm>
            <a:off x="1543050" y="32670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Latin America</a:t>
            </a:r>
          </a:p>
        </p:txBody>
      </p:sp>
      <p:sp>
        <p:nvSpPr>
          <p:cNvPr id="66" name="TextBox 65"/>
          <p:cNvSpPr txBox="1"/>
          <p:nvPr/>
        </p:nvSpPr>
        <p:spPr>
          <a:xfrm>
            <a:off x="3924300" y="32670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67" name="Rectangle 66"/>
          <p:cNvSpPr/>
          <p:nvPr/>
        </p:nvSpPr>
        <p:spPr>
          <a:xfrm>
            <a:off x="4514850" y="32956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514850" y="32956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69" name="TextBox 68"/>
          <p:cNvSpPr txBox="1"/>
          <p:nvPr/>
        </p:nvSpPr>
        <p:spPr>
          <a:xfrm>
            <a:off x="4972050" y="32670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70" name="TextBox 69"/>
          <p:cNvSpPr txBox="1"/>
          <p:nvPr/>
        </p:nvSpPr>
        <p:spPr>
          <a:xfrm>
            <a:off x="6210300" y="32670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71" name="TextBox 70"/>
          <p:cNvSpPr txBox="1"/>
          <p:nvPr/>
        </p:nvSpPr>
        <p:spPr>
          <a:xfrm>
            <a:off x="7162800" y="32670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72" name="TextBox 71"/>
          <p:cNvSpPr txBox="1"/>
          <p:nvPr/>
        </p:nvSpPr>
        <p:spPr>
          <a:xfrm>
            <a:off x="9353550" y="32670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73" name="Connector 72"/>
          <p:cNvCxnSpPr/>
          <p:nvPr/>
        </p:nvCxnSpPr>
        <p:spPr>
          <a:xfrm>
            <a:off x="190500" y="37338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74" name="Rectangle 73"/>
          <p:cNvSpPr/>
          <p:nvPr/>
        </p:nvSpPr>
        <p:spPr>
          <a:xfrm>
            <a:off x="190500" y="3771900"/>
            <a:ext cx="38100" cy="41910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266700" y="37623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Matchaful</a:t>
            </a:r>
          </a:p>
        </p:txBody>
      </p:sp>
      <p:sp>
        <p:nvSpPr>
          <p:cNvPr id="76" name="TextBox 75"/>
          <p:cNvSpPr txBox="1"/>
          <p:nvPr/>
        </p:nvSpPr>
        <p:spPr>
          <a:xfrm>
            <a:off x="1543050" y="37623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Organic</a:t>
            </a:r>
          </a:p>
        </p:txBody>
      </p:sp>
      <p:sp>
        <p:nvSpPr>
          <p:cNvPr id="77" name="TextBox 76"/>
          <p:cNvSpPr txBox="1"/>
          <p:nvPr/>
        </p:nvSpPr>
        <p:spPr>
          <a:xfrm>
            <a:off x="3924300" y="37623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78" name="Rectangle 77"/>
          <p:cNvSpPr/>
          <p:nvPr/>
        </p:nvSpPr>
        <p:spPr>
          <a:xfrm>
            <a:off x="4514850" y="37909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514850" y="37909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80" name="TextBox 79"/>
          <p:cNvSpPr txBox="1"/>
          <p:nvPr/>
        </p:nvSpPr>
        <p:spPr>
          <a:xfrm>
            <a:off x="4972050" y="37623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81" name="TextBox 80"/>
          <p:cNvSpPr txBox="1"/>
          <p:nvPr/>
        </p:nvSpPr>
        <p:spPr>
          <a:xfrm>
            <a:off x="6210300" y="37623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82" name="TextBox 81"/>
          <p:cNvSpPr txBox="1"/>
          <p:nvPr/>
        </p:nvSpPr>
        <p:spPr>
          <a:xfrm>
            <a:off x="7162800" y="37623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83" name="TextBox 82"/>
          <p:cNvSpPr txBox="1"/>
          <p:nvPr/>
        </p:nvSpPr>
        <p:spPr>
          <a:xfrm>
            <a:off x="9353550" y="37623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84" name="Connector 83"/>
          <p:cNvCxnSpPr/>
          <p:nvPr/>
        </p:nvCxnSpPr>
        <p:spPr>
          <a:xfrm>
            <a:off x="190500" y="42291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85" name="Rectangle 84"/>
          <p:cNvSpPr/>
          <p:nvPr/>
        </p:nvSpPr>
        <p:spPr>
          <a:xfrm>
            <a:off x="190500" y="42672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6" name="TextBox 85"/>
          <p:cNvSpPr txBox="1"/>
          <p:nvPr/>
        </p:nvSpPr>
        <p:spPr>
          <a:xfrm>
            <a:off x="266700" y="42576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Kettl</a:t>
            </a:r>
          </a:p>
        </p:txBody>
      </p:sp>
      <p:sp>
        <p:nvSpPr>
          <p:cNvPr id="87" name="TextBox 86"/>
          <p:cNvSpPr txBox="1"/>
          <p:nvPr/>
        </p:nvSpPr>
        <p:spPr>
          <a:xfrm>
            <a:off x="1543050" y="42576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North America</a:t>
            </a:r>
          </a:p>
        </p:txBody>
      </p:sp>
      <p:sp>
        <p:nvSpPr>
          <p:cNvPr id="88" name="TextBox 87"/>
          <p:cNvSpPr txBox="1"/>
          <p:nvPr/>
        </p:nvSpPr>
        <p:spPr>
          <a:xfrm>
            <a:off x="3924300" y="42576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89" name="Rectangle 88"/>
          <p:cNvSpPr/>
          <p:nvPr/>
        </p:nvSpPr>
        <p:spPr>
          <a:xfrm>
            <a:off x="4514850" y="42862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0" name="TextBox 89"/>
          <p:cNvSpPr txBox="1"/>
          <p:nvPr/>
        </p:nvSpPr>
        <p:spPr>
          <a:xfrm>
            <a:off x="4514850" y="42862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91" name="TextBox 90"/>
          <p:cNvSpPr txBox="1"/>
          <p:nvPr/>
        </p:nvSpPr>
        <p:spPr>
          <a:xfrm>
            <a:off x="4972050" y="42576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92" name="TextBox 91"/>
          <p:cNvSpPr txBox="1"/>
          <p:nvPr/>
        </p:nvSpPr>
        <p:spPr>
          <a:xfrm>
            <a:off x="6210300" y="42576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93" name="TextBox 92"/>
          <p:cNvSpPr txBox="1"/>
          <p:nvPr/>
        </p:nvSpPr>
        <p:spPr>
          <a:xfrm>
            <a:off x="7162800" y="42576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94" name="TextBox 93"/>
          <p:cNvSpPr txBox="1"/>
          <p:nvPr/>
        </p:nvSpPr>
        <p:spPr>
          <a:xfrm>
            <a:off x="9353550" y="42576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95" name="Connector 94"/>
          <p:cNvCxnSpPr/>
          <p:nvPr/>
        </p:nvCxnSpPr>
        <p:spPr>
          <a:xfrm>
            <a:off x="190500" y="47244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190500" y="47625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66700" y="47529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Harney and Sons</a:t>
            </a:r>
          </a:p>
        </p:txBody>
      </p:sp>
      <p:sp>
        <p:nvSpPr>
          <p:cNvPr id="98" name="TextBox 97"/>
          <p:cNvSpPr txBox="1"/>
          <p:nvPr/>
        </p:nvSpPr>
        <p:spPr>
          <a:xfrm>
            <a:off x="1543050" y="47529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Conventional</a:t>
            </a:r>
          </a:p>
        </p:txBody>
      </p:sp>
      <p:sp>
        <p:nvSpPr>
          <p:cNvPr id="99" name="TextBox 98"/>
          <p:cNvSpPr txBox="1"/>
          <p:nvPr/>
        </p:nvSpPr>
        <p:spPr>
          <a:xfrm>
            <a:off x="3924300" y="47529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00" name="Rectangle 99"/>
          <p:cNvSpPr/>
          <p:nvPr/>
        </p:nvSpPr>
        <p:spPr>
          <a:xfrm>
            <a:off x="4514850" y="47815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514850" y="47815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02" name="TextBox 101"/>
          <p:cNvSpPr txBox="1"/>
          <p:nvPr/>
        </p:nvSpPr>
        <p:spPr>
          <a:xfrm>
            <a:off x="4972050" y="47529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03" name="TextBox 102"/>
          <p:cNvSpPr txBox="1"/>
          <p:nvPr/>
        </p:nvSpPr>
        <p:spPr>
          <a:xfrm>
            <a:off x="6210300" y="47529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04" name="TextBox 103"/>
          <p:cNvSpPr txBox="1"/>
          <p:nvPr/>
        </p:nvSpPr>
        <p:spPr>
          <a:xfrm>
            <a:off x="7162800" y="47529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05" name="TextBox 104"/>
          <p:cNvSpPr txBox="1"/>
          <p:nvPr/>
        </p:nvSpPr>
        <p:spPr>
          <a:xfrm>
            <a:off x="9353550" y="47529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06" name="Connector 105"/>
          <p:cNvCxnSpPr/>
          <p:nvPr/>
        </p:nvCxnSpPr>
        <p:spPr>
          <a:xfrm>
            <a:off x="190500" y="52197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07" name="Rectangle 106"/>
          <p:cNvSpPr/>
          <p:nvPr/>
        </p:nvSpPr>
        <p:spPr>
          <a:xfrm>
            <a:off x="190500" y="52578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266700" y="52482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Sencha Naturals</a:t>
            </a:r>
          </a:p>
        </p:txBody>
      </p:sp>
      <p:sp>
        <p:nvSpPr>
          <p:cNvPr id="109" name="TextBox 108"/>
          <p:cNvSpPr txBox="1"/>
          <p:nvPr/>
        </p:nvSpPr>
        <p:spPr>
          <a:xfrm>
            <a:off x="1543050" y="52482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Acquisition to add scale or capability in South Asia &amp; Pacific</a:t>
            </a:r>
          </a:p>
        </p:txBody>
      </p:sp>
      <p:sp>
        <p:nvSpPr>
          <p:cNvPr id="110" name="TextBox 109"/>
          <p:cNvSpPr txBox="1"/>
          <p:nvPr/>
        </p:nvSpPr>
        <p:spPr>
          <a:xfrm>
            <a:off x="3924300" y="52482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11" name="Rectangle 110"/>
          <p:cNvSpPr/>
          <p:nvPr/>
        </p:nvSpPr>
        <p:spPr>
          <a:xfrm>
            <a:off x="4514850" y="5276850"/>
            <a:ext cx="285750" cy="17145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TextBox 111"/>
          <p:cNvSpPr txBox="1"/>
          <p:nvPr/>
        </p:nvSpPr>
        <p:spPr>
          <a:xfrm>
            <a:off x="4514850" y="5276850"/>
            <a:ext cx="285750" cy="17145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13" name="TextBox 112"/>
          <p:cNvSpPr txBox="1"/>
          <p:nvPr/>
        </p:nvSpPr>
        <p:spPr>
          <a:xfrm>
            <a:off x="4972050" y="52482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a:t>
            </a:r>
          </a:p>
        </p:txBody>
      </p:sp>
      <p:sp>
        <p:nvSpPr>
          <p:cNvPr id="114" name="TextBox 113"/>
          <p:cNvSpPr txBox="1"/>
          <p:nvPr/>
        </p:nvSpPr>
        <p:spPr>
          <a:xfrm>
            <a:off x="6210300" y="52482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15" name="TextBox 114"/>
          <p:cNvSpPr txBox="1"/>
          <p:nvPr/>
        </p:nvSpPr>
        <p:spPr>
          <a:xfrm>
            <a:off x="7162800" y="52482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Consolidation: capability is being bought, not built</a:t>
            </a:r>
          </a:p>
        </p:txBody>
      </p:sp>
      <p:sp>
        <p:nvSpPr>
          <p:cNvPr id="116" name="TextBox 115"/>
          <p:cNvSpPr txBox="1"/>
          <p:nvPr/>
        </p:nvSpPr>
        <p:spPr>
          <a:xfrm>
            <a:off x="9353550" y="52482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Corporate development: track targets and deal multiples</a:t>
            </a:r>
          </a:p>
        </p:txBody>
      </p:sp>
      <p:cxnSp>
        <p:nvCxnSpPr>
          <p:cNvPr id="117" name="Connector 116"/>
          <p:cNvCxnSpPr/>
          <p:nvPr/>
        </p:nvCxnSpPr>
        <p:spPr>
          <a:xfrm>
            <a:off x="190500" y="57150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18" name="Rectangle 117"/>
          <p:cNvSpPr/>
          <p:nvPr/>
        </p:nvSpPr>
        <p:spPr>
          <a:xfrm>
            <a:off x="190500" y="5753100"/>
            <a:ext cx="38100" cy="41910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266700" y="5743575"/>
            <a:ext cx="1238250" cy="438150"/>
          </a:xfrm>
          <a:prstGeom prst="rect">
            <a:avLst/>
          </a:prstGeom>
          <a:noFill/>
        </p:spPr>
        <p:txBody>
          <a:bodyPr wrap="square" lIns="28575" rIns="28575" tIns="9525" bIns="9525" anchor="t">
            <a:spAutoFit/>
          </a:bodyPr>
          <a:lstStyle/>
          <a:p>
            <a:pPr algn="l">
              <a:lnSpc>
                <a:spcPct val="115000"/>
              </a:lnSpc>
            </a:pPr>
            <a:r>
              <a:rPr sz="1100" b="1">
                <a:solidFill>
                  <a:srgbClr val="1F2933"/>
                </a:solidFill>
                <a:latin typeface="Calibri"/>
              </a:rPr>
              <a:t>Aoi Matcha</a:t>
            </a:r>
          </a:p>
        </p:txBody>
      </p:sp>
      <p:sp>
        <p:nvSpPr>
          <p:cNvPr id="120" name="TextBox 119"/>
          <p:cNvSpPr txBox="1"/>
          <p:nvPr/>
        </p:nvSpPr>
        <p:spPr>
          <a:xfrm>
            <a:off x="1543050" y="5743575"/>
            <a:ext cx="2324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development programme in Organic</a:t>
            </a:r>
          </a:p>
        </p:txBody>
      </p:sp>
      <p:sp>
        <p:nvSpPr>
          <p:cNvPr id="121" name="TextBox 120"/>
          <p:cNvSpPr txBox="1"/>
          <p:nvPr/>
        </p:nvSpPr>
        <p:spPr>
          <a:xfrm>
            <a:off x="3924300" y="5743575"/>
            <a:ext cx="533400" cy="171450"/>
          </a:xfrm>
          <a:prstGeom prst="rect">
            <a:avLst/>
          </a:prstGeom>
          <a:noFill/>
        </p:spPr>
        <p:txBody>
          <a:bodyPr wrap="none" lIns="0" rIns="0" tIns="0" bIns="0" anchor="t">
            <a:spAutoFit/>
          </a:bodyPr>
          <a:lstStyle/>
          <a:p>
            <a:pPr algn="l"/>
            <a:r>
              <a:rPr sz="1100" b="0">
                <a:solidFill>
                  <a:srgbClr val="5F6B7A"/>
                </a:solidFill>
                <a:latin typeface="Calibri"/>
              </a:rPr>
              <a:t/>
            </a:r>
          </a:p>
        </p:txBody>
      </p:sp>
      <p:sp>
        <p:nvSpPr>
          <p:cNvPr id="122" name="Rectangle 121"/>
          <p:cNvSpPr/>
          <p:nvPr/>
        </p:nvSpPr>
        <p:spPr>
          <a:xfrm>
            <a:off x="4514850" y="5772150"/>
            <a:ext cx="28575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3" name="TextBox 122"/>
          <p:cNvSpPr txBox="1"/>
          <p:nvPr/>
        </p:nvSpPr>
        <p:spPr>
          <a:xfrm>
            <a:off x="4514850" y="5772150"/>
            <a:ext cx="285750" cy="17145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24" name="TextBox 123"/>
          <p:cNvSpPr txBox="1"/>
          <p:nvPr/>
        </p:nvSpPr>
        <p:spPr>
          <a:xfrm>
            <a:off x="4972050" y="5743575"/>
            <a:ext cx="11811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and R&amp;D</a:t>
            </a:r>
          </a:p>
        </p:txBody>
      </p:sp>
      <p:sp>
        <p:nvSpPr>
          <p:cNvPr id="125" name="TextBox 124"/>
          <p:cNvSpPr txBox="1"/>
          <p:nvPr/>
        </p:nvSpPr>
        <p:spPr>
          <a:xfrm>
            <a:off x="6210300" y="5743575"/>
            <a:ext cx="895350" cy="438150"/>
          </a:xfrm>
          <a:prstGeom prst="rect">
            <a:avLst/>
          </a:prstGeom>
          <a:noFill/>
        </p:spPr>
        <p:txBody>
          <a:bodyPr wrap="square" lIns="28575" rIns="28575" tIns="9525" bIns="9525" anchor="t">
            <a:spAutoFit/>
          </a:bodyPr>
          <a:lstStyle/>
          <a:p>
            <a:pPr algn="l">
              <a:lnSpc>
                <a:spcPct val="115000"/>
              </a:lnSpc>
            </a:pPr>
            <a:r>
              <a:rPr sz="1100" b="0">
                <a:solidFill>
                  <a:srgbClr val="5F6B7A"/>
                </a:solidFill>
                <a:latin typeface="Calibri"/>
              </a:rPr>
              <a:t>FMI company profiling</a:t>
            </a:r>
          </a:p>
        </p:txBody>
      </p:sp>
      <p:sp>
        <p:nvSpPr>
          <p:cNvPr id="126" name="TextBox 125"/>
          <p:cNvSpPr txBox="1"/>
          <p:nvPr/>
        </p:nvSpPr>
        <p:spPr>
          <a:xfrm>
            <a:off x="7162800" y="5743575"/>
            <a:ext cx="21336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Capability build ahead of demand</a:t>
            </a:r>
          </a:p>
        </p:txBody>
      </p:sp>
      <p:sp>
        <p:nvSpPr>
          <p:cNvPr id="127" name="TextBox 126"/>
          <p:cNvSpPr txBox="1"/>
          <p:nvPr/>
        </p:nvSpPr>
        <p:spPr>
          <a:xfrm>
            <a:off x="9353550" y="5743575"/>
            <a:ext cx="2628900" cy="4381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Product: watch the roadmap</a:t>
            </a:r>
          </a:p>
        </p:txBody>
      </p:sp>
      <p:cxnSp>
        <p:nvCxnSpPr>
          <p:cNvPr id="128" name="Connector 127"/>
          <p:cNvCxnSpPr/>
          <p:nvPr/>
        </p:nvCxnSpPr>
        <p:spPr>
          <a:xfrm>
            <a:off x="190500" y="6210300"/>
            <a:ext cx="11811000" cy="0"/>
          </a:xfrm>
          <a:prstGeom prst="line">
            <a:avLst/>
          </a:prstGeom>
          <a:ln w="9525">
            <a:solidFill>
              <a:srgbClr val="E3E8EE"/>
            </a:solidFill>
          </a:ln>
          <a:effectLst/>
        </p:spPr>
        <p:style>
          <a:lnRef idx="2">
            <a:schemeClr val="accent1"/>
          </a:lnRef>
          <a:fillRef idx="0">
            <a:schemeClr val="accent1"/>
          </a:fillRef>
          <a:effectRef idx="1">
            <a:schemeClr val="accent1"/>
          </a:effectRef>
          <a:fontRef idx="minor">
            <a:schemeClr val="tx1"/>
          </a:fontRef>
        </p:style>
      </p:cxnSp>
      <p:sp>
        <p:nvSpPr>
          <p:cNvPr id="129" name="Rectangle 128"/>
          <p:cNvSpPr/>
          <p:nvPr/>
        </p:nvSpPr>
        <p:spPr>
          <a:xfrm>
            <a:off x="190500" y="6276975"/>
            <a:ext cx="285750" cy="152400"/>
          </a:xfrm>
          <a:prstGeom prst="rect">
            <a:avLst/>
          </a:prstGeom>
          <a:solidFill>
            <a:srgbClr val="8E3A8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9050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MA</a:t>
            </a:r>
          </a:p>
        </p:txBody>
      </p:sp>
      <p:sp>
        <p:nvSpPr>
          <p:cNvPr id="131" name="TextBox 130"/>
          <p:cNvSpPr txBox="1"/>
          <p:nvPr/>
        </p:nvSpPr>
        <p:spPr>
          <a:xfrm>
            <a:off x="51435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M&amp;A</a:t>
            </a:r>
          </a:p>
        </p:txBody>
      </p:sp>
      <p:sp>
        <p:nvSpPr>
          <p:cNvPr id="132" name="Rectangle 131"/>
          <p:cNvSpPr/>
          <p:nvPr/>
        </p:nvSpPr>
        <p:spPr>
          <a:xfrm>
            <a:off x="923925" y="6276975"/>
            <a:ext cx="285750" cy="15240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9239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PR</a:t>
            </a:r>
          </a:p>
        </p:txBody>
      </p:sp>
      <p:sp>
        <p:nvSpPr>
          <p:cNvPr id="134" name="TextBox 133"/>
          <p:cNvSpPr txBox="1"/>
          <p:nvPr/>
        </p:nvSpPr>
        <p:spPr>
          <a:xfrm>
            <a:off x="12477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Product / portfolio</a:t>
            </a:r>
          </a:p>
        </p:txBody>
      </p:sp>
      <p:sp>
        <p:nvSpPr>
          <p:cNvPr id="135" name="Rectangle 134"/>
          <p:cNvSpPr/>
          <p:nvPr/>
        </p:nvSpPr>
        <p:spPr>
          <a:xfrm>
            <a:off x="2724150" y="6276975"/>
            <a:ext cx="285750" cy="152400"/>
          </a:xfrm>
          <a:prstGeom prst="rect">
            <a:avLst/>
          </a:prstGeom>
          <a:solidFill>
            <a:srgbClr val="6B72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7241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EX</a:t>
            </a:r>
          </a:p>
        </p:txBody>
      </p:sp>
      <p:sp>
        <p:nvSpPr>
          <p:cNvPr id="137" name="TextBox 136"/>
          <p:cNvSpPr txBox="1"/>
          <p:nvPr/>
        </p:nvSpPr>
        <p:spPr>
          <a:xfrm>
            <a:off x="30480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Expansion</a:t>
            </a:r>
          </a:p>
        </p:txBody>
      </p:sp>
      <p:sp>
        <p:nvSpPr>
          <p:cNvPr id="138" name="Rectangle 137"/>
          <p:cNvSpPr/>
          <p:nvPr/>
        </p:nvSpPr>
        <p:spPr>
          <a:xfrm>
            <a:off x="3857625" y="6276975"/>
            <a:ext cx="285750" cy="1524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9" name="TextBox 138"/>
          <p:cNvSpPr txBox="1"/>
          <p:nvPr/>
        </p:nvSpPr>
        <p:spPr>
          <a:xfrm>
            <a:off x="38576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RD</a:t>
            </a:r>
          </a:p>
        </p:txBody>
      </p:sp>
      <p:sp>
        <p:nvSpPr>
          <p:cNvPr id="140" name="TextBox 139"/>
          <p:cNvSpPr txBox="1"/>
          <p:nvPr/>
        </p:nvSpPr>
        <p:spPr>
          <a:xfrm>
            <a:off x="41814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R&amp;D / technology</a:t>
            </a:r>
          </a:p>
        </p:txBody>
      </p:sp>
      <p:sp>
        <p:nvSpPr>
          <p:cNvPr id="141" name="Rectangle 140"/>
          <p:cNvSpPr/>
          <p:nvPr/>
        </p:nvSpPr>
        <p:spPr>
          <a:xfrm>
            <a:off x="5457825" y="6276975"/>
            <a:ext cx="285750" cy="152400"/>
          </a:xfrm>
          <a:prstGeom prst="rect">
            <a:avLst/>
          </a:prstGeom>
          <a:solidFill>
            <a:srgbClr val="C0392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5457825"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RG</a:t>
            </a:r>
          </a:p>
        </p:txBody>
      </p:sp>
      <p:sp>
        <p:nvSpPr>
          <p:cNvPr id="143" name="TextBox 142"/>
          <p:cNvSpPr txBox="1"/>
          <p:nvPr/>
        </p:nvSpPr>
        <p:spPr>
          <a:xfrm>
            <a:off x="5781675"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Regulation / compliance</a:t>
            </a:r>
          </a:p>
        </p:txBody>
      </p:sp>
      <p:sp>
        <p:nvSpPr>
          <p:cNvPr id="144" name="Rectangle 143"/>
          <p:cNvSpPr/>
          <p:nvPr/>
        </p:nvSpPr>
        <p:spPr>
          <a:xfrm>
            <a:off x="7524750" y="6276975"/>
            <a:ext cx="285750" cy="152400"/>
          </a:xfrm>
          <a:prstGeom prst="rect">
            <a:avLst/>
          </a:prstGeom>
          <a:solidFill>
            <a:srgbClr val="17768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7524750" y="6276975"/>
            <a:ext cx="285750" cy="152400"/>
          </a:xfrm>
          <a:prstGeom prst="rect">
            <a:avLst/>
          </a:prstGeom>
          <a:noFill/>
        </p:spPr>
        <p:txBody>
          <a:bodyPr wrap="none" lIns="0" rIns="0" tIns="0" bIns="0" anchor="ctr">
            <a:spAutoFit/>
          </a:bodyPr>
          <a:lstStyle/>
          <a:p>
            <a:pPr algn="ctr"/>
            <a:r>
              <a:rPr sz="1100" b="1">
                <a:solidFill>
                  <a:srgbClr val="FFFFFF"/>
                </a:solidFill>
                <a:latin typeface="Calibri"/>
              </a:rPr>
              <a:t>CP</a:t>
            </a:r>
          </a:p>
        </p:txBody>
      </p:sp>
      <p:sp>
        <p:nvSpPr>
          <p:cNvPr id="146" name="TextBox 145"/>
          <p:cNvSpPr txBox="1"/>
          <p:nvPr/>
        </p:nvSpPr>
        <p:spPr>
          <a:xfrm>
            <a:off x="7848600" y="6257925"/>
            <a:ext cx="1619250" cy="190500"/>
          </a:xfrm>
          <a:prstGeom prst="rect">
            <a:avLst/>
          </a:prstGeom>
          <a:noFill/>
        </p:spPr>
        <p:txBody>
          <a:bodyPr wrap="square" lIns="28575" rIns="28575" tIns="9525" bIns="9525" anchor="t">
            <a:spAutoFit/>
          </a:bodyPr>
          <a:lstStyle/>
          <a:p>
            <a:pPr algn="l"/>
            <a:r>
              <a:rPr sz="1100" b="0">
                <a:solidFill>
                  <a:srgbClr val="1F2933"/>
                </a:solidFill>
                <a:latin typeface="Calibri"/>
              </a:rPr>
              <a:t>Capital / funding</a:t>
            </a:r>
          </a:p>
        </p:txBody>
      </p:sp>
      <p:sp>
        <p:nvSpPr>
          <p:cNvPr id="147" name="TextBox 146"/>
          <p:cNvSpPr txBox="1"/>
          <p:nvPr/>
        </p:nvSpPr>
        <p:spPr>
          <a:xfrm>
            <a:off x="190500" y="6457950"/>
            <a:ext cx="11811000" cy="171450"/>
          </a:xfrm>
          <a:prstGeom prst="rect">
            <a:avLst/>
          </a:prstGeom>
          <a:noFill/>
        </p:spPr>
        <p:txBody>
          <a:bodyPr wrap="square" lIns="28575" rIns="28575" tIns="9525" bIns="9525" anchor="t">
            <a:spAutoFit/>
          </a:bodyPr>
          <a:lstStyle/>
          <a:p>
            <a:pPr algn="l"/>
            <a:r>
              <a:rPr sz="1100" b="0">
                <a:solidFill>
                  <a:srgbClr val="5F6B7A"/>
                </a:solidFill>
                <a:latin typeface="Calibri"/>
              </a:rPr>
              <a:t>Dates, deal values and evidence sources populate from the research feed; until then each row reads the player's most telling active strategy.</a:t>
            </a:r>
          </a:p>
        </p:txBody>
      </p:sp>
      <p:sp>
        <p:nvSpPr>
          <p:cNvPr id="148" name="TextBox 147"/>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49" name="Picture 148" descr="lock.png"/>
          <p:cNvPicPr>
            <a:picLocks noChangeAspect="1"/>
          </p:cNvPicPr>
          <p:nvPr/>
        </p:nvPicPr>
        <p:blipFill>
          <a:blip r:embed="rId4"/>
          <a:stretch>
            <a:fillRect/>
          </a:stretch>
        </p:blipFill>
        <p:spPr>
          <a:xfrm>
            <a:off x="4126650" y="1278001"/>
            <a:ext cx="128699" cy="187198"/>
          </a:xfrm>
          <a:prstGeom prst="rect">
            <a:avLst/>
          </a:prstGeom>
        </p:spPr>
      </p:pic>
      <p:pic>
        <p:nvPicPr>
          <p:cNvPr id="150" name="Picture 149" descr="lock.png"/>
          <p:cNvPicPr>
            <a:picLocks noChangeAspect="1"/>
          </p:cNvPicPr>
          <p:nvPr/>
        </p:nvPicPr>
        <p:blipFill>
          <a:blip r:embed="rId4"/>
          <a:stretch>
            <a:fillRect/>
          </a:stretch>
        </p:blipFill>
        <p:spPr>
          <a:xfrm>
            <a:off x="4126650" y="1773301"/>
            <a:ext cx="128699" cy="187198"/>
          </a:xfrm>
          <a:prstGeom prst="rect">
            <a:avLst/>
          </a:prstGeom>
        </p:spPr>
      </p:pic>
      <p:pic>
        <p:nvPicPr>
          <p:cNvPr id="151" name="Picture 150" descr="lock.png"/>
          <p:cNvPicPr>
            <a:picLocks noChangeAspect="1"/>
          </p:cNvPicPr>
          <p:nvPr/>
        </p:nvPicPr>
        <p:blipFill>
          <a:blip r:embed="rId4"/>
          <a:stretch>
            <a:fillRect/>
          </a:stretch>
        </p:blipFill>
        <p:spPr>
          <a:xfrm>
            <a:off x="4126650" y="2268601"/>
            <a:ext cx="128699" cy="187198"/>
          </a:xfrm>
          <a:prstGeom prst="rect">
            <a:avLst/>
          </a:prstGeom>
        </p:spPr>
      </p:pic>
      <p:pic>
        <p:nvPicPr>
          <p:cNvPr id="152" name="Picture 151" descr="lock.png"/>
          <p:cNvPicPr>
            <a:picLocks noChangeAspect="1"/>
          </p:cNvPicPr>
          <p:nvPr/>
        </p:nvPicPr>
        <p:blipFill>
          <a:blip r:embed="rId4"/>
          <a:stretch>
            <a:fillRect/>
          </a:stretch>
        </p:blipFill>
        <p:spPr>
          <a:xfrm>
            <a:off x="4126650" y="2763901"/>
            <a:ext cx="128699" cy="187198"/>
          </a:xfrm>
          <a:prstGeom prst="rect">
            <a:avLst/>
          </a:prstGeom>
        </p:spPr>
      </p:pic>
      <p:pic>
        <p:nvPicPr>
          <p:cNvPr id="153" name="Picture 152" descr="lock.png"/>
          <p:cNvPicPr>
            <a:picLocks noChangeAspect="1"/>
          </p:cNvPicPr>
          <p:nvPr/>
        </p:nvPicPr>
        <p:blipFill>
          <a:blip r:embed="rId4"/>
          <a:stretch>
            <a:fillRect/>
          </a:stretch>
        </p:blipFill>
        <p:spPr>
          <a:xfrm>
            <a:off x="4126650" y="3259201"/>
            <a:ext cx="128699" cy="187198"/>
          </a:xfrm>
          <a:prstGeom prst="rect">
            <a:avLst/>
          </a:prstGeom>
        </p:spPr>
      </p:pic>
      <p:pic>
        <p:nvPicPr>
          <p:cNvPr id="154" name="Picture 153" descr="lock.png"/>
          <p:cNvPicPr>
            <a:picLocks noChangeAspect="1"/>
          </p:cNvPicPr>
          <p:nvPr/>
        </p:nvPicPr>
        <p:blipFill>
          <a:blip r:embed="rId4"/>
          <a:stretch>
            <a:fillRect/>
          </a:stretch>
        </p:blipFill>
        <p:spPr>
          <a:xfrm>
            <a:off x="4126650" y="3754501"/>
            <a:ext cx="128699" cy="187198"/>
          </a:xfrm>
          <a:prstGeom prst="rect">
            <a:avLst/>
          </a:prstGeom>
        </p:spPr>
      </p:pic>
      <p:pic>
        <p:nvPicPr>
          <p:cNvPr id="155" name="Picture 154" descr="lock.png"/>
          <p:cNvPicPr>
            <a:picLocks noChangeAspect="1"/>
          </p:cNvPicPr>
          <p:nvPr/>
        </p:nvPicPr>
        <p:blipFill>
          <a:blip r:embed="rId4"/>
          <a:stretch>
            <a:fillRect/>
          </a:stretch>
        </p:blipFill>
        <p:spPr>
          <a:xfrm>
            <a:off x="4126650" y="4249801"/>
            <a:ext cx="128699" cy="187198"/>
          </a:xfrm>
          <a:prstGeom prst="rect">
            <a:avLst/>
          </a:prstGeom>
        </p:spPr>
      </p:pic>
      <p:pic>
        <p:nvPicPr>
          <p:cNvPr id="156" name="Picture 155" descr="lock.png"/>
          <p:cNvPicPr>
            <a:picLocks noChangeAspect="1"/>
          </p:cNvPicPr>
          <p:nvPr/>
        </p:nvPicPr>
        <p:blipFill>
          <a:blip r:embed="rId4"/>
          <a:stretch>
            <a:fillRect/>
          </a:stretch>
        </p:blipFill>
        <p:spPr>
          <a:xfrm>
            <a:off x="4126650" y="4745101"/>
            <a:ext cx="128699" cy="187198"/>
          </a:xfrm>
          <a:prstGeom prst="rect">
            <a:avLst/>
          </a:prstGeom>
        </p:spPr>
      </p:pic>
      <p:pic>
        <p:nvPicPr>
          <p:cNvPr id="157" name="Picture 156" descr="lock.png"/>
          <p:cNvPicPr>
            <a:picLocks noChangeAspect="1"/>
          </p:cNvPicPr>
          <p:nvPr/>
        </p:nvPicPr>
        <p:blipFill>
          <a:blip r:embed="rId4"/>
          <a:stretch>
            <a:fillRect/>
          </a:stretch>
        </p:blipFill>
        <p:spPr>
          <a:xfrm>
            <a:off x="4126650" y="5240401"/>
            <a:ext cx="128699" cy="187198"/>
          </a:xfrm>
          <a:prstGeom prst="rect">
            <a:avLst/>
          </a:prstGeom>
        </p:spPr>
      </p:pic>
      <p:pic>
        <p:nvPicPr>
          <p:cNvPr id="158" name="Picture 157" descr="lock.png"/>
          <p:cNvPicPr>
            <a:picLocks noChangeAspect="1"/>
          </p:cNvPicPr>
          <p:nvPr/>
        </p:nvPicPr>
        <p:blipFill>
          <a:blip r:embed="rId4"/>
          <a:stretch>
            <a:fillRect/>
          </a:stretch>
        </p:blipFill>
        <p:spPr>
          <a:xfrm>
            <a:off x="4126650" y="5735701"/>
            <a:ext cx="128699" cy="187198"/>
          </a:xfrm>
          <a:prstGeom prst="rect">
            <a:avLst/>
          </a:prstGeom>
        </p:spPr>
      </p:pic>
    </p:spTree>
  </p:cSld>
  <p:clrMapOvr>
    <a:masterClrMapping/>
  </p:clrMapOvr>
</p:sld>
</file>

<file path=ppt/slides/slide301.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Strategic Activity by Function</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Where competitor activity concentrates by type and department, and what it means for each function</a:t>
            </a:r>
          </a:p>
        </p:txBody>
      </p:sp>
      <p:sp>
        <p:nvSpPr>
          <p:cNvPr id="10" name="Rectangle 9"/>
          <p:cNvSpPr/>
          <p:nvPr/>
        </p:nvSpPr>
        <p:spPr>
          <a:xfrm>
            <a:off x="190500" y="16383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85750" y="16002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Jade Leaf Matcha</a:t>
            </a:r>
          </a:p>
        </p:txBody>
      </p:sp>
      <p:sp>
        <p:nvSpPr>
          <p:cNvPr id="12" name="Rectangle 11"/>
          <p:cNvSpPr/>
          <p:nvPr/>
        </p:nvSpPr>
        <p:spPr>
          <a:xfrm>
            <a:off x="190500" y="18859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85750" y="18478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DoMatcha</a:t>
            </a:r>
          </a:p>
        </p:txBody>
      </p:sp>
      <p:sp>
        <p:nvSpPr>
          <p:cNvPr id="14" name="Rectangle 13"/>
          <p:cNvSpPr/>
          <p:nvPr/>
        </p:nvSpPr>
        <p:spPr>
          <a:xfrm>
            <a:off x="190500" y="213360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 name="TextBox 14"/>
          <p:cNvSpPr txBox="1"/>
          <p:nvPr/>
        </p:nvSpPr>
        <p:spPr>
          <a:xfrm>
            <a:off x="285750" y="20955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Encha</a:t>
            </a:r>
          </a:p>
        </p:txBody>
      </p:sp>
      <p:sp>
        <p:nvSpPr>
          <p:cNvPr id="16" name="Rectangle 15"/>
          <p:cNvSpPr/>
          <p:nvPr/>
        </p:nvSpPr>
        <p:spPr>
          <a:xfrm>
            <a:off x="190500" y="2381250"/>
            <a:ext cx="38100" cy="171450"/>
          </a:xfrm>
          <a:prstGeom prst="rect">
            <a:avLst/>
          </a:prstGeom>
          <a:solidFill>
            <a:srgbClr val="1F6F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 name="TextBox 16"/>
          <p:cNvSpPr txBox="1"/>
          <p:nvPr/>
        </p:nvSpPr>
        <p:spPr>
          <a:xfrm>
            <a:off x="285750" y="23431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Rishi Tea and Botanicals</a:t>
            </a:r>
          </a:p>
        </p:txBody>
      </p:sp>
      <p:sp>
        <p:nvSpPr>
          <p:cNvPr id="18" name="Rectangle 17"/>
          <p:cNvSpPr/>
          <p:nvPr/>
        </p:nvSpPr>
        <p:spPr>
          <a:xfrm>
            <a:off x="190500" y="262890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 name="TextBox 18"/>
          <p:cNvSpPr txBox="1"/>
          <p:nvPr/>
        </p:nvSpPr>
        <p:spPr>
          <a:xfrm>
            <a:off x="285750" y="25908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Tenzo</a:t>
            </a:r>
          </a:p>
        </p:txBody>
      </p:sp>
      <p:sp>
        <p:nvSpPr>
          <p:cNvPr id="20" name="Rectangle 19"/>
          <p:cNvSpPr/>
          <p:nvPr/>
        </p:nvSpPr>
        <p:spPr>
          <a:xfrm>
            <a:off x="190500" y="2876550"/>
            <a:ext cx="38100" cy="171450"/>
          </a:xfrm>
          <a:prstGeom prst="rect">
            <a:avLst/>
          </a:prstGeom>
          <a:solidFill>
            <a:srgbClr val="E07B2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85750" y="28384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Matchaful</a:t>
            </a:r>
          </a:p>
        </p:txBody>
      </p:sp>
      <p:sp>
        <p:nvSpPr>
          <p:cNvPr id="22" name="Rectangle 21"/>
          <p:cNvSpPr/>
          <p:nvPr/>
        </p:nvSpPr>
        <p:spPr>
          <a:xfrm>
            <a:off x="190500" y="31242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285750" y="30861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Kettl</a:t>
            </a:r>
          </a:p>
        </p:txBody>
      </p:sp>
      <p:sp>
        <p:nvSpPr>
          <p:cNvPr id="24" name="Rectangle 23"/>
          <p:cNvSpPr/>
          <p:nvPr/>
        </p:nvSpPr>
        <p:spPr>
          <a:xfrm>
            <a:off x="190500" y="33718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 name="TextBox 24"/>
          <p:cNvSpPr txBox="1"/>
          <p:nvPr/>
        </p:nvSpPr>
        <p:spPr>
          <a:xfrm>
            <a:off x="285750" y="33337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Harney and Sons</a:t>
            </a:r>
          </a:p>
        </p:txBody>
      </p:sp>
      <p:sp>
        <p:nvSpPr>
          <p:cNvPr id="26" name="Rectangle 25"/>
          <p:cNvSpPr/>
          <p:nvPr/>
        </p:nvSpPr>
        <p:spPr>
          <a:xfrm>
            <a:off x="190500" y="361950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 name="TextBox 26"/>
          <p:cNvSpPr txBox="1"/>
          <p:nvPr/>
        </p:nvSpPr>
        <p:spPr>
          <a:xfrm>
            <a:off x="285750" y="358140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Sencha Naturals</a:t>
            </a:r>
          </a:p>
        </p:txBody>
      </p:sp>
      <p:sp>
        <p:nvSpPr>
          <p:cNvPr id="28" name="Rectangle 27"/>
          <p:cNvSpPr/>
          <p:nvPr/>
        </p:nvSpPr>
        <p:spPr>
          <a:xfrm>
            <a:off x="190500" y="3867150"/>
            <a:ext cx="38100" cy="171450"/>
          </a:xfrm>
          <a:prstGeom prst="rect">
            <a:avLst/>
          </a:prstGeom>
          <a:solidFill>
            <a:srgbClr val="2E8B5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 name="TextBox 28"/>
          <p:cNvSpPr txBox="1"/>
          <p:nvPr/>
        </p:nvSpPr>
        <p:spPr>
          <a:xfrm>
            <a:off x="285750" y="3829050"/>
            <a:ext cx="1409700" cy="247650"/>
          </a:xfrm>
          <a:prstGeom prst="rect">
            <a:avLst/>
          </a:prstGeom>
          <a:noFill/>
        </p:spPr>
        <p:txBody>
          <a:bodyPr wrap="square" lIns="28575" rIns="28575" tIns="9525" bIns="9525" anchor="ctr">
            <a:spAutoFit/>
          </a:bodyPr>
          <a:lstStyle/>
          <a:p>
            <a:pPr algn="l"/>
            <a:r>
              <a:rPr sz="1100" b="1">
                <a:solidFill>
                  <a:srgbClr val="1F2933"/>
                </a:solidFill>
                <a:latin typeface="Calibri"/>
              </a:rPr>
              <a:t>Aoi Matcha</a:t>
            </a:r>
          </a:p>
        </p:txBody>
      </p:sp>
      <p:sp>
        <p:nvSpPr>
          <p:cNvPr id="30" name="TextBox 29"/>
          <p:cNvSpPr txBox="1"/>
          <p:nvPr/>
        </p:nvSpPr>
        <p:spPr>
          <a:xfrm>
            <a:off x="1714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Moves by type (count)</a:t>
            </a:r>
          </a:p>
        </p:txBody>
      </p:sp>
      <p:sp>
        <p:nvSpPr>
          <p:cNvPr id="31" name="TextBox 30"/>
          <p:cNvSpPr txBox="1"/>
          <p:nvPr/>
        </p:nvSpPr>
        <p:spPr>
          <a:xfrm>
            <a:off x="1714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MA</a:t>
            </a:r>
          </a:p>
        </p:txBody>
      </p:sp>
      <p:sp>
        <p:nvSpPr>
          <p:cNvPr id="32" name="TextBox 31"/>
          <p:cNvSpPr txBox="1"/>
          <p:nvPr/>
        </p:nvSpPr>
        <p:spPr>
          <a:xfrm>
            <a:off x="2264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PR</a:t>
            </a:r>
          </a:p>
        </p:txBody>
      </p:sp>
      <p:sp>
        <p:nvSpPr>
          <p:cNvPr id="33" name="TextBox 32"/>
          <p:cNvSpPr txBox="1"/>
          <p:nvPr/>
        </p:nvSpPr>
        <p:spPr>
          <a:xfrm>
            <a:off x="2815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EX</a:t>
            </a:r>
          </a:p>
        </p:txBody>
      </p:sp>
      <p:sp>
        <p:nvSpPr>
          <p:cNvPr id="34" name="TextBox 33"/>
          <p:cNvSpPr txBox="1"/>
          <p:nvPr/>
        </p:nvSpPr>
        <p:spPr>
          <a:xfrm>
            <a:off x="3365500"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RD</a:t>
            </a:r>
          </a:p>
        </p:txBody>
      </p:sp>
      <p:sp>
        <p:nvSpPr>
          <p:cNvPr id="35" name="TextBox 34"/>
          <p:cNvSpPr txBox="1"/>
          <p:nvPr/>
        </p:nvSpPr>
        <p:spPr>
          <a:xfrm>
            <a:off x="3915833"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RG</a:t>
            </a:r>
          </a:p>
        </p:txBody>
      </p:sp>
      <p:sp>
        <p:nvSpPr>
          <p:cNvPr id="36" name="TextBox 35"/>
          <p:cNvSpPr txBox="1"/>
          <p:nvPr/>
        </p:nvSpPr>
        <p:spPr>
          <a:xfrm>
            <a:off x="4466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CP</a:t>
            </a:r>
          </a:p>
        </p:txBody>
      </p:sp>
      <p:sp>
        <p:nvSpPr>
          <p:cNvPr id="37" name="Rectangle 36"/>
          <p:cNvSpPr/>
          <p:nvPr/>
        </p:nvSpPr>
        <p:spPr>
          <a:xfrm>
            <a:off x="1724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1714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9" name="Rectangle 38"/>
          <p:cNvSpPr/>
          <p:nvPr/>
        </p:nvSpPr>
        <p:spPr>
          <a:xfrm>
            <a:off x="2274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Rectangle 39"/>
          <p:cNvSpPr/>
          <p:nvPr/>
        </p:nvSpPr>
        <p:spPr>
          <a:xfrm>
            <a:off x="2824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2815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2" name="Rectangle 41"/>
          <p:cNvSpPr/>
          <p:nvPr/>
        </p:nvSpPr>
        <p:spPr>
          <a:xfrm>
            <a:off x="3375025"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3365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4" name="Rectangle 43"/>
          <p:cNvSpPr/>
          <p:nvPr/>
        </p:nvSpPr>
        <p:spPr>
          <a:xfrm>
            <a:off x="3925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5" name="TextBox 44"/>
          <p:cNvSpPr txBox="1"/>
          <p:nvPr/>
        </p:nvSpPr>
        <p:spPr>
          <a:xfrm>
            <a:off x="3915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6" name="Rectangle 45"/>
          <p:cNvSpPr/>
          <p:nvPr/>
        </p:nvSpPr>
        <p:spPr>
          <a:xfrm>
            <a:off x="4475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TextBox 46"/>
          <p:cNvSpPr txBox="1"/>
          <p:nvPr/>
        </p:nvSpPr>
        <p:spPr>
          <a:xfrm>
            <a:off x="4466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48" name="Rectangle 47"/>
          <p:cNvSpPr/>
          <p:nvPr/>
        </p:nvSpPr>
        <p:spPr>
          <a:xfrm>
            <a:off x="1724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2274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2264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51" name="Rectangle 50"/>
          <p:cNvSpPr/>
          <p:nvPr/>
        </p:nvSpPr>
        <p:spPr>
          <a:xfrm>
            <a:off x="2824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2" name="TextBox 51"/>
          <p:cNvSpPr txBox="1"/>
          <p:nvPr/>
        </p:nvSpPr>
        <p:spPr>
          <a:xfrm>
            <a:off x="2815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3" name="Rectangle 52"/>
          <p:cNvSpPr/>
          <p:nvPr/>
        </p:nvSpPr>
        <p:spPr>
          <a:xfrm>
            <a:off x="3375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TextBox 53"/>
          <p:cNvSpPr txBox="1"/>
          <p:nvPr/>
        </p:nvSpPr>
        <p:spPr>
          <a:xfrm>
            <a:off x="3365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5" name="Rectangle 54"/>
          <p:cNvSpPr/>
          <p:nvPr/>
        </p:nvSpPr>
        <p:spPr>
          <a:xfrm>
            <a:off x="3925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6" name="Rectangle 55"/>
          <p:cNvSpPr/>
          <p:nvPr/>
        </p:nvSpPr>
        <p:spPr>
          <a:xfrm>
            <a:off x="4475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4466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58" name="Rectangle 57"/>
          <p:cNvSpPr/>
          <p:nvPr/>
        </p:nvSpPr>
        <p:spPr>
          <a:xfrm>
            <a:off x="1724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714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0" name="Rectangle 59"/>
          <p:cNvSpPr/>
          <p:nvPr/>
        </p:nvSpPr>
        <p:spPr>
          <a:xfrm>
            <a:off x="2274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Rectangle 60"/>
          <p:cNvSpPr/>
          <p:nvPr/>
        </p:nvSpPr>
        <p:spPr>
          <a:xfrm>
            <a:off x="2824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2815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3" name="Rectangle 62"/>
          <p:cNvSpPr/>
          <p:nvPr/>
        </p:nvSpPr>
        <p:spPr>
          <a:xfrm>
            <a:off x="3375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3365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5" name="Rectangle 64"/>
          <p:cNvSpPr/>
          <p:nvPr/>
        </p:nvSpPr>
        <p:spPr>
          <a:xfrm>
            <a:off x="3925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3915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7" name="Rectangle 66"/>
          <p:cNvSpPr/>
          <p:nvPr/>
        </p:nvSpPr>
        <p:spPr>
          <a:xfrm>
            <a:off x="4475692"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4466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69" name="Rectangle 68"/>
          <p:cNvSpPr/>
          <p:nvPr/>
        </p:nvSpPr>
        <p:spPr>
          <a:xfrm>
            <a:off x="1724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Rectangle 69"/>
          <p:cNvSpPr/>
          <p:nvPr/>
        </p:nvSpPr>
        <p:spPr>
          <a:xfrm>
            <a:off x="2274358"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2264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72" name="Rectangle 71"/>
          <p:cNvSpPr/>
          <p:nvPr/>
        </p:nvSpPr>
        <p:spPr>
          <a:xfrm>
            <a:off x="2824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815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4" name="Rectangle 73"/>
          <p:cNvSpPr/>
          <p:nvPr/>
        </p:nvSpPr>
        <p:spPr>
          <a:xfrm>
            <a:off x="3375025"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3365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6" name="Rectangle 75"/>
          <p:cNvSpPr/>
          <p:nvPr/>
        </p:nvSpPr>
        <p:spPr>
          <a:xfrm>
            <a:off x="3925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4475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TextBox 77"/>
          <p:cNvSpPr txBox="1"/>
          <p:nvPr/>
        </p:nvSpPr>
        <p:spPr>
          <a:xfrm>
            <a:off x="4466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79" name="Rectangle 78"/>
          <p:cNvSpPr/>
          <p:nvPr/>
        </p:nvSpPr>
        <p:spPr>
          <a:xfrm>
            <a:off x="1724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0" name="TextBox 79"/>
          <p:cNvSpPr txBox="1"/>
          <p:nvPr/>
        </p:nvSpPr>
        <p:spPr>
          <a:xfrm>
            <a:off x="1714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1" name="Rectangle 80"/>
          <p:cNvSpPr/>
          <p:nvPr/>
        </p:nvSpPr>
        <p:spPr>
          <a:xfrm>
            <a:off x="2274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Rectangle 81"/>
          <p:cNvSpPr/>
          <p:nvPr/>
        </p:nvSpPr>
        <p:spPr>
          <a:xfrm>
            <a:off x="2824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2815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4" name="Rectangle 83"/>
          <p:cNvSpPr/>
          <p:nvPr/>
        </p:nvSpPr>
        <p:spPr>
          <a:xfrm>
            <a:off x="3375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3365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6" name="Rectangle 85"/>
          <p:cNvSpPr/>
          <p:nvPr/>
        </p:nvSpPr>
        <p:spPr>
          <a:xfrm>
            <a:off x="3925358"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3915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88" name="Rectangle 87"/>
          <p:cNvSpPr/>
          <p:nvPr/>
        </p:nvSpPr>
        <p:spPr>
          <a:xfrm>
            <a:off x="4475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4466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0" name="Rectangle 89"/>
          <p:cNvSpPr/>
          <p:nvPr/>
        </p:nvSpPr>
        <p:spPr>
          <a:xfrm>
            <a:off x="1724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Rectangle 90"/>
          <p:cNvSpPr/>
          <p:nvPr/>
        </p:nvSpPr>
        <p:spPr>
          <a:xfrm>
            <a:off x="2274358"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2264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93" name="Rectangle 92"/>
          <p:cNvSpPr/>
          <p:nvPr/>
        </p:nvSpPr>
        <p:spPr>
          <a:xfrm>
            <a:off x="2824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4" name="TextBox 93"/>
          <p:cNvSpPr txBox="1"/>
          <p:nvPr/>
        </p:nvSpPr>
        <p:spPr>
          <a:xfrm>
            <a:off x="2815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5" name="Rectangle 94"/>
          <p:cNvSpPr/>
          <p:nvPr/>
        </p:nvSpPr>
        <p:spPr>
          <a:xfrm>
            <a:off x="3375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6" name="TextBox 95"/>
          <p:cNvSpPr txBox="1"/>
          <p:nvPr/>
        </p:nvSpPr>
        <p:spPr>
          <a:xfrm>
            <a:off x="3365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97" name="Rectangle 96"/>
          <p:cNvSpPr/>
          <p:nvPr/>
        </p:nvSpPr>
        <p:spPr>
          <a:xfrm>
            <a:off x="3925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Rectangle 97"/>
          <p:cNvSpPr/>
          <p:nvPr/>
        </p:nvSpPr>
        <p:spPr>
          <a:xfrm>
            <a:off x="4475692"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4466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0" name="Rectangle 99"/>
          <p:cNvSpPr/>
          <p:nvPr/>
        </p:nvSpPr>
        <p:spPr>
          <a:xfrm>
            <a:off x="1724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714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2" name="Rectangle 101"/>
          <p:cNvSpPr/>
          <p:nvPr/>
        </p:nvSpPr>
        <p:spPr>
          <a:xfrm>
            <a:off x="2274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Rectangle 102"/>
          <p:cNvSpPr/>
          <p:nvPr/>
        </p:nvSpPr>
        <p:spPr>
          <a:xfrm>
            <a:off x="2824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4" name="TextBox 103"/>
          <p:cNvSpPr txBox="1"/>
          <p:nvPr/>
        </p:nvSpPr>
        <p:spPr>
          <a:xfrm>
            <a:off x="2815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5" name="Rectangle 104"/>
          <p:cNvSpPr/>
          <p:nvPr/>
        </p:nvSpPr>
        <p:spPr>
          <a:xfrm>
            <a:off x="3375025"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TextBox 105"/>
          <p:cNvSpPr txBox="1"/>
          <p:nvPr/>
        </p:nvSpPr>
        <p:spPr>
          <a:xfrm>
            <a:off x="3365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7" name="Rectangle 106"/>
          <p:cNvSpPr/>
          <p:nvPr/>
        </p:nvSpPr>
        <p:spPr>
          <a:xfrm>
            <a:off x="3925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915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09" name="Rectangle 108"/>
          <p:cNvSpPr/>
          <p:nvPr/>
        </p:nvSpPr>
        <p:spPr>
          <a:xfrm>
            <a:off x="4475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0" name="TextBox 109"/>
          <p:cNvSpPr txBox="1"/>
          <p:nvPr/>
        </p:nvSpPr>
        <p:spPr>
          <a:xfrm>
            <a:off x="4466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1" name="Rectangle 110"/>
          <p:cNvSpPr/>
          <p:nvPr/>
        </p:nvSpPr>
        <p:spPr>
          <a:xfrm>
            <a:off x="1724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Rectangle 111"/>
          <p:cNvSpPr/>
          <p:nvPr/>
        </p:nvSpPr>
        <p:spPr>
          <a:xfrm>
            <a:off x="2274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264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14" name="Rectangle 113"/>
          <p:cNvSpPr/>
          <p:nvPr/>
        </p:nvSpPr>
        <p:spPr>
          <a:xfrm>
            <a:off x="2824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2815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6" name="Rectangle 115"/>
          <p:cNvSpPr/>
          <p:nvPr/>
        </p:nvSpPr>
        <p:spPr>
          <a:xfrm>
            <a:off x="3375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3365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18" name="Rectangle 117"/>
          <p:cNvSpPr/>
          <p:nvPr/>
        </p:nvSpPr>
        <p:spPr>
          <a:xfrm>
            <a:off x="3925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Rectangle 118"/>
          <p:cNvSpPr/>
          <p:nvPr/>
        </p:nvSpPr>
        <p:spPr>
          <a:xfrm>
            <a:off x="4475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466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1" name="Rectangle 120"/>
          <p:cNvSpPr/>
          <p:nvPr/>
        </p:nvSpPr>
        <p:spPr>
          <a:xfrm>
            <a:off x="1724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1714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3" name="Rectangle 122"/>
          <p:cNvSpPr/>
          <p:nvPr/>
        </p:nvSpPr>
        <p:spPr>
          <a:xfrm>
            <a:off x="2274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Rectangle 123"/>
          <p:cNvSpPr/>
          <p:nvPr/>
        </p:nvSpPr>
        <p:spPr>
          <a:xfrm>
            <a:off x="2824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5" name="TextBox 124"/>
          <p:cNvSpPr txBox="1"/>
          <p:nvPr/>
        </p:nvSpPr>
        <p:spPr>
          <a:xfrm>
            <a:off x="2815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6" name="Rectangle 125"/>
          <p:cNvSpPr/>
          <p:nvPr/>
        </p:nvSpPr>
        <p:spPr>
          <a:xfrm>
            <a:off x="3375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3365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28" name="Rectangle 127"/>
          <p:cNvSpPr/>
          <p:nvPr/>
        </p:nvSpPr>
        <p:spPr>
          <a:xfrm>
            <a:off x="3925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9" name="TextBox 128"/>
          <p:cNvSpPr txBox="1"/>
          <p:nvPr/>
        </p:nvSpPr>
        <p:spPr>
          <a:xfrm>
            <a:off x="3915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0" name="Rectangle 129"/>
          <p:cNvSpPr/>
          <p:nvPr/>
        </p:nvSpPr>
        <p:spPr>
          <a:xfrm>
            <a:off x="4475692"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1" name="TextBox 130"/>
          <p:cNvSpPr txBox="1"/>
          <p:nvPr/>
        </p:nvSpPr>
        <p:spPr>
          <a:xfrm>
            <a:off x="4466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2" name="Rectangle 131"/>
          <p:cNvSpPr/>
          <p:nvPr/>
        </p:nvSpPr>
        <p:spPr>
          <a:xfrm>
            <a:off x="1724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Rectangle 132"/>
          <p:cNvSpPr/>
          <p:nvPr/>
        </p:nvSpPr>
        <p:spPr>
          <a:xfrm>
            <a:off x="2274358"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4" name="TextBox 133"/>
          <p:cNvSpPr txBox="1"/>
          <p:nvPr/>
        </p:nvSpPr>
        <p:spPr>
          <a:xfrm>
            <a:off x="2264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135" name="Rectangle 134"/>
          <p:cNvSpPr/>
          <p:nvPr/>
        </p:nvSpPr>
        <p:spPr>
          <a:xfrm>
            <a:off x="2824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TextBox 135"/>
          <p:cNvSpPr txBox="1"/>
          <p:nvPr/>
        </p:nvSpPr>
        <p:spPr>
          <a:xfrm>
            <a:off x="2815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7" name="Rectangle 136"/>
          <p:cNvSpPr/>
          <p:nvPr/>
        </p:nvSpPr>
        <p:spPr>
          <a:xfrm>
            <a:off x="3375025"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8" name="TextBox 137"/>
          <p:cNvSpPr txBox="1"/>
          <p:nvPr/>
        </p:nvSpPr>
        <p:spPr>
          <a:xfrm>
            <a:off x="3365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39" name="Rectangle 138"/>
          <p:cNvSpPr/>
          <p:nvPr/>
        </p:nvSpPr>
        <p:spPr>
          <a:xfrm>
            <a:off x="3925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Rectangle 139"/>
          <p:cNvSpPr/>
          <p:nvPr/>
        </p:nvSpPr>
        <p:spPr>
          <a:xfrm>
            <a:off x="4475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TextBox 140"/>
          <p:cNvSpPr txBox="1"/>
          <p:nvPr/>
        </p:nvSpPr>
        <p:spPr>
          <a:xfrm>
            <a:off x="4466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142" name="TextBox 141"/>
          <p:cNvSpPr txBox="1"/>
          <p:nvPr/>
        </p:nvSpPr>
        <p:spPr>
          <a:xfrm>
            <a:off x="52070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department</a:t>
            </a:r>
          </a:p>
        </p:txBody>
      </p:sp>
      <p:sp>
        <p:nvSpPr>
          <p:cNvPr id="143" name="TextBox 142"/>
          <p:cNvSpPr txBox="1"/>
          <p:nvPr/>
        </p:nvSpPr>
        <p:spPr>
          <a:xfrm>
            <a:off x="5207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Product &amp; R&amp;D</a:t>
            </a:r>
          </a:p>
        </p:txBody>
      </p:sp>
      <p:sp>
        <p:nvSpPr>
          <p:cNvPr id="144" name="TextBox 143"/>
          <p:cNvSpPr txBox="1"/>
          <p:nvPr/>
        </p:nvSpPr>
        <p:spPr>
          <a:xfrm>
            <a:off x="6032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Corp. dev.</a:t>
            </a:r>
          </a:p>
        </p:txBody>
      </p:sp>
      <p:sp>
        <p:nvSpPr>
          <p:cNvPr id="145" name="TextBox 144"/>
          <p:cNvSpPr txBox="1"/>
          <p:nvPr/>
        </p:nvSpPr>
        <p:spPr>
          <a:xfrm>
            <a:off x="68580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Operations</a:t>
            </a:r>
          </a:p>
        </p:txBody>
      </p:sp>
      <p:sp>
        <p:nvSpPr>
          <p:cNvPr id="146" name="TextBox 145"/>
          <p:cNvSpPr txBox="1"/>
          <p:nvPr/>
        </p:nvSpPr>
        <p:spPr>
          <a:xfrm>
            <a:off x="7683500" y="1219200"/>
            <a:ext cx="825500"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Legal &amp; reg.</a:t>
            </a:r>
          </a:p>
        </p:txBody>
      </p:sp>
      <p:sp>
        <p:nvSpPr>
          <p:cNvPr id="147" name="Rectangle 146"/>
          <p:cNvSpPr/>
          <p:nvPr/>
        </p:nvSpPr>
        <p:spPr>
          <a:xfrm>
            <a:off x="5216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8" name="TextBox 147"/>
          <p:cNvSpPr txBox="1"/>
          <p:nvPr/>
        </p:nvSpPr>
        <p:spPr>
          <a:xfrm>
            <a:off x="5207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49" name="Rectangle 148"/>
          <p:cNvSpPr/>
          <p:nvPr/>
        </p:nvSpPr>
        <p:spPr>
          <a:xfrm>
            <a:off x="6042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0" name="TextBox 149"/>
          <p:cNvSpPr txBox="1"/>
          <p:nvPr/>
        </p:nvSpPr>
        <p:spPr>
          <a:xfrm>
            <a:off x="6032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1" name="Rectangle 150"/>
          <p:cNvSpPr/>
          <p:nvPr/>
        </p:nvSpPr>
        <p:spPr>
          <a:xfrm>
            <a:off x="68675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8580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3" name="Rectangle 152"/>
          <p:cNvSpPr/>
          <p:nvPr/>
        </p:nvSpPr>
        <p:spPr>
          <a:xfrm>
            <a:off x="7693025" y="16097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683500" y="16097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55" name="Rectangle 154"/>
          <p:cNvSpPr/>
          <p:nvPr/>
        </p:nvSpPr>
        <p:spPr>
          <a:xfrm>
            <a:off x="5216525" y="18573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5207000" y="18573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57" name="Rectangle 156"/>
          <p:cNvSpPr/>
          <p:nvPr/>
        </p:nvSpPr>
        <p:spPr>
          <a:xfrm>
            <a:off x="6042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Rectangle 157"/>
          <p:cNvSpPr/>
          <p:nvPr/>
        </p:nvSpPr>
        <p:spPr>
          <a:xfrm>
            <a:off x="6867525" y="18573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9" name="TextBox 158"/>
          <p:cNvSpPr txBox="1"/>
          <p:nvPr/>
        </p:nvSpPr>
        <p:spPr>
          <a:xfrm>
            <a:off x="6858000" y="18573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0" name="Rectangle 159"/>
          <p:cNvSpPr/>
          <p:nvPr/>
        </p:nvSpPr>
        <p:spPr>
          <a:xfrm>
            <a:off x="7693025" y="18573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1" name="Rectangle 160"/>
          <p:cNvSpPr/>
          <p:nvPr/>
        </p:nvSpPr>
        <p:spPr>
          <a:xfrm>
            <a:off x="5216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5207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3" name="Rectangle 162"/>
          <p:cNvSpPr/>
          <p:nvPr/>
        </p:nvSpPr>
        <p:spPr>
          <a:xfrm>
            <a:off x="6042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032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5" name="Rectangle 164"/>
          <p:cNvSpPr/>
          <p:nvPr/>
        </p:nvSpPr>
        <p:spPr>
          <a:xfrm>
            <a:off x="68675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68580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7" name="Rectangle 166"/>
          <p:cNvSpPr/>
          <p:nvPr/>
        </p:nvSpPr>
        <p:spPr>
          <a:xfrm>
            <a:off x="7693025" y="21050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8" name="TextBox 167"/>
          <p:cNvSpPr txBox="1"/>
          <p:nvPr/>
        </p:nvSpPr>
        <p:spPr>
          <a:xfrm>
            <a:off x="7683500" y="21050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69" name="Rectangle 168"/>
          <p:cNvSpPr/>
          <p:nvPr/>
        </p:nvSpPr>
        <p:spPr>
          <a:xfrm>
            <a:off x="5216525" y="23526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TextBox 169"/>
          <p:cNvSpPr txBox="1"/>
          <p:nvPr/>
        </p:nvSpPr>
        <p:spPr>
          <a:xfrm>
            <a:off x="5207000" y="23526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71" name="Rectangle 170"/>
          <p:cNvSpPr/>
          <p:nvPr/>
        </p:nvSpPr>
        <p:spPr>
          <a:xfrm>
            <a:off x="6042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Rectangle 171"/>
          <p:cNvSpPr/>
          <p:nvPr/>
        </p:nvSpPr>
        <p:spPr>
          <a:xfrm>
            <a:off x="6867525" y="23526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3" name="TextBox 172"/>
          <p:cNvSpPr txBox="1"/>
          <p:nvPr/>
        </p:nvSpPr>
        <p:spPr>
          <a:xfrm>
            <a:off x="6858000" y="23526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4" name="Rectangle 173"/>
          <p:cNvSpPr/>
          <p:nvPr/>
        </p:nvSpPr>
        <p:spPr>
          <a:xfrm>
            <a:off x="7693025" y="23526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Rectangle 174"/>
          <p:cNvSpPr/>
          <p:nvPr/>
        </p:nvSpPr>
        <p:spPr>
          <a:xfrm>
            <a:off x="5216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207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7" name="Rectangle 176"/>
          <p:cNvSpPr/>
          <p:nvPr/>
        </p:nvSpPr>
        <p:spPr>
          <a:xfrm>
            <a:off x="6042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032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79" name="Rectangle 178"/>
          <p:cNvSpPr/>
          <p:nvPr/>
        </p:nvSpPr>
        <p:spPr>
          <a:xfrm>
            <a:off x="68675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8580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1" name="Rectangle 180"/>
          <p:cNvSpPr/>
          <p:nvPr/>
        </p:nvSpPr>
        <p:spPr>
          <a:xfrm>
            <a:off x="7693025" y="26003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683500" y="26003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3" name="Rectangle 182"/>
          <p:cNvSpPr/>
          <p:nvPr/>
        </p:nvSpPr>
        <p:spPr>
          <a:xfrm>
            <a:off x="5216525" y="28479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5207000" y="28479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85" name="Rectangle 184"/>
          <p:cNvSpPr/>
          <p:nvPr/>
        </p:nvSpPr>
        <p:spPr>
          <a:xfrm>
            <a:off x="6042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Rectangle 185"/>
          <p:cNvSpPr/>
          <p:nvPr/>
        </p:nvSpPr>
        <p:spPr>
          <a:xfrm>
            <a:off x="6867525" y="28479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7" name="TextBox 186"/>
          <p:cNvSpPr txBox="1"/>
          <p:nvPr/>
        </p:nvSpPr>
        <p:spPr>
          <a:xfrm>
            <a:off x="6858000" y="28479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88" name="Rectangle 187"/>
          <p:cNvSpPr/>
          <p:nvPr/>
        </p:nvSpPr>
        <p:spPr>
          <a:xfrm>
            <a:off x="7693025" y="28479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9" name="Rectangle 188"/>
          <p:cNvSpPr/>
          <p:nvPr/>
        </p:nvSpPr>
        <p:spPr>
          <a:xfrm>
            <a:off x="5216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5207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1" name="Rectangle 190"/>
          <p:cNvSpPr/>
          <p:nvPr/>
        </p:nvSpPr>
        <p:spPr>
          <a:xfrm>
            <a:off x="6042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032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3" name="Rectangle 192"/>
          <p:cNvSpPr/>
          <p:nvPr/>
        </p:nvSpPr>
        <p:spPr>
          <a:xfrm>
            <a:off x="68675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68580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5" name="Rectangle 194"/>
          <p:cNvSpPr/>
          <p:nvPr/>
        </p:nvSpPr>
        <p:spPr>
          <a:xfrm>
            <a:off x="7693025" y="30956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7683500" y="30956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197" name="Rectangle 196"/>
          <p:cNvSpPr/>
          <p:nvPr/>
        </p:nvSpPr>
        <p:spPr>
          <a:xfrm>
            <a:off x="5216525" y="33432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5207000" y="33432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199" name="Rectangle 198"/>
          <p:cNvSpPr/>
          <p:nvPr/>
        </p:nvSpPr>
        <p:spPr>
          <a:xfrm>
            <a:off x="6042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Rectangle 199"/>
          <p:cNvSpPr/>
          <p:nvPr/>
        </p:nvSpPr>
        <p:spPr>
          <a:xfrm>
            <a:off x="6867525" y="33432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1" name="TextBox 200"/>
          <p:cNvSpPr txBox="1"/>
          <p:nvPr/>
        </p:nvSpPr>
        <p:spPr>
          <a:xfrm>
            <a:off x="6858000" y="33432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2" name="Rectangle 201"/>
          <p:cNvSpPr/>
          <p:nvPr/>
        </p:nvSpPr>
        <p:spPr>
          <a:xfrm>
            <a:off x="7693025" y="33432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Rectangle 202"/>
          <p:cNvSpPr/>
          <p:nvPr/>
        </p:nvSpPr>
        <p:spPr>
          <a:xfrm>
            <a:off x="5216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5207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5" name="Rectangle 204"/>
          <p:cNvSpPr/>
          <p:nvPr/>
        </p:nvSpPr>
        <p:spPr>
          <a:xfrm>
            <a:off x="6042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6032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7" name="Rectangle 206"/>
          <p:cNvSpPr/>
          <p:nvPr/>
        </p:nvSpPr>
        <p:spPr>
          <a:xfrm>
            <a:off x="68675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68580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09" name="Rectangle 208"/>
          <p:cNvSpPr/>
          <p:nvPr/>
        </p:nvSpPr>
        <p:spPr>
          <a:xfrm>
            <a:off x="7693025" y="359092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7683500" y="359092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1" name="Rectangle 210"/>
          <p:cNvSpPr/>
          <p:nvPr/>
        </p:nvSpPr>
        <p:spPr>
          <a:xfrm>
            <a:off x="5216525" y="3838575"/>
            <a:ext cx="806450" cy="228600"/>
          </a:xfrm>
          <a:prstGeom prst="rect">
            <a:avLst/>
          </a:prstGeom>
          <a:solidFill>
            <a:srgbClr val="3D73AE"/>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5207000" y="3838575"/>
            <a:ext cx="825500" cy="228600"/>
          </a:xfrm>
          <a:prstGeom prst="rect">
            <a:avLst/>
          </a:prstGeom>
          <a:noFill/>
        </p:spPr>
        <p:txBody>
          <a:bodyPr wrap="square" lIns="28575" rIns="28575" tIns="9525" bIns="9525" anchor="ctr">
            <a:spAutoFit/>
          </a:bodyPr>
          <a:lstStyle/>
          <a:p>
            <a:pPr algn="ctr"/>
            <a:r>
              <a:rPr sz="1100" b="1">
                <a:solidFill>
                  <a:srgbClr val="FFFFFF"/>
                </a:solidFill>
                <a:latin typeface="Calibri"/>
              </a:rPr>
              <a:t>3</a:t>
            </a:r>
          </a:p>
        </p:txBody>
      </p:sp>
      <p:sp>
        <p:nvSpPr>
          <p:cNvPr id="213" name="Rectangle 212"/>
          <p:cNvSpPr/>
          <p:nvPr/>
        </p:nvSpPr>
        <p:spPr>
          <a:xfrm>
            <a:off x="6042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Rectangle 213"/>
          <p:cNvSpPr/>
          <p:nvPr/>
        </p:nvSpPr>
        <p:spPr>
          <a:xfrm>
            <a:off x="6867525" y="3838575"/>
            <a:ext cx="806450"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6858000" y="3838575"/>
            <a:ext cx="825500" cy="228600"/>
          </a:xfrm>
          <a:prstGeom prst="rect">
            <a:avLst/>
          </a:prstGeom>
          <a:noFill/>
        </p:spPr>
        <p:txBody>
          <a:bodyPr wrap="square" lIns="28575" rIns="28575" tIns="9525" bIns="9525" anchor="ctr">
            <a:spAutoFit/>
          </a:bodyPr>
          <a:lstStyle/>
          <a:p>
            <a:pPr algn="ctr"/>
            <a:r>
              <a:rPr sz="1100" b="1">
                <a:solidFill>
                  <a:srgbClr val="0F2D52"/>
                </a:solidFill>
                <a:latin typeface="Calibri"/>
              </a:rPr>
              <a:t>1</a:t>
            </a:r>
          </a:p>
        </p:txBody>
      </p:sp>
      <p:sp>
        <p:nvSpPr>
          <p:cNvPr id="216" name="Rectangle 215"/>
          <p:cNvSpPr/>
          <p:nvPr/>
        </p:nvSpPr>
        <p:spPr>
          <a:xfrm>
            <a:off x="7693025" y="3838575"/>
            <a:ext cx="806450"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7" name="TextBox 216"/>
          <p:cNvSpPr txBox="1"/>
          <p:nvPr/>
        </p:nvSpPr>
        <p:spPr>
          <a:xfrm>
            <a:off x="8699500" y="1047750"/>
            <a:ext cx="3302000" cy="171450"/>
          </a:xfrm>
          <a:prstGeom prst="rect">
            <a:avLst/>
          </a:prstGeom>
          <a:noFill/>
        </p:spPr>
        <p:txBody>
          <a:bodyPr wrap="square" lIns="28575" rIns="28575" tIns="9525" bIns="9525" anchor="t">
            <a:spAutoFit/>
          </a:bodyPr>
          <a:lstStyle/>
          <a:p>
            <a:pPr algn="l"/>
            <a:r>
              <a:rPr sz="1100" b="1">
                <a:solidFill>
                  <a:srgbClr val="0F2D52"/>
                </a:solidFill>
                <a:latin typeface="Calibri"/>
              </a:rPr>
              <a:t>By region of activity</a:t>
            </a:r>
          </a:p>
        </p:txBody>
      </p:sp>
      <p:sp>
        <p:nvSpPr>
          <p:cNvPr id="218" name="TextBox 217"/>
          <p:cNvSpPr txBox="1"/>
          <p:nvPr/>
        </p:nvSpPr>
        <p:spPr>
          <a:xfrm>
            <a:off x="8699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N. America</a:t>
            </a:r>
          </a:p>
        </p:txBody>
      </p:sp>
      <p:sp>
        <p:nvSpPr>
          <p:cNvPr id="219" name="TextBox 218"/>
          <p:cNvSpPr txBox="1"/>
          <p:nvPr/>
        </p:nvSpPr>
        <p:spPr>
          <a:xfrm>
            <a:off x="9249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Europe</a:t>
            </a:r>
          </a:p>
        </p:txBody>
      </p:sp>
      <p:sp>
        <p:nvSpPr>
          <p:cNvPr id="220" name="TextBox 219"/>
          <p:cNvSpPr txBox="1"/>
          <p:nvPr/>
        </p:nvSpPr>
        <p:spPr>
          <a:xfrm>
            <a:off x="9800167"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S. Asia &amp; Pac.</a:t>
            </a:r>
          </a:p>
        </p:txBody>
      </p:sp>
      <p:sp>
        <p:nvSpPr>
          <p:cNvPr id="221" name="TextBox 220"/>
          <p:cNvSpPr txBox="1"/>
          <p:nvPr/>
        </p:nvSpPr>
        <p:spPr>
          <a:xfrm>
            <a:off x="10350500"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E. Asia</a:t>
            </a:r>
          </a:p>
        </p:txBody>
      </p:sp>
      <p:sp>
        <p:nvSpPr>
          <p:cNvPr id="222" name="TextBox 221"/>
          <p:cNvSpPr txBox="1"/>
          <p:nvPr/>
        </p:nvSpPr>
        <p:spPr>
          <a:xfrm>
            <a:off x="10900833" y="1219200"/>
            <a:ext cx="550333" cy="342900"/>
          </a:xfrm>
          <a:prstGeom prst="rect">
            <a:avLst/>
          </a:prstGeom>
          <a:noFill/>
        </p:spPr>
        <p:txBody>
          <a:bodyPr wrap="square" lIns="28575" rIns="28575" tIns="9525" bIns="9525" anchor="ctr">
            <a:spAutoFit/>
          </a:bodyPr>
          <a:lstStyle/>
          <a:p>
            <a:pPr algn="ctr">
              <a:lnSpc>
                <a:spcPct val="115000"/>
              </a:lnSpc>
            </a:pPr>
            <a:r>
              <a:rPr sz="1100" b="1">
                <a:solidFill>
                  <a:srgbClr val="1F2933"/>
                </a:solidFill>
                <a:latin typeface="Calibri"/>
              </a:rPr>
              <a:t>LATAM</a:t>
            </a:r>
          </a:p>
        </p:txBody>
      </p:sp>
      <p:sp>
        <p:nvSpPr>
          <p:cNvPr id="223" name="TextBox 222"/>
          <p:cNvSpPr txBox="1"/>
          <p:nvPr/>
        </p:nvSpPr>
        <p:spPr>
          <a:xfrm>
            <a:off x="11451167" y="1219200"/>
            <a:ext cx="550333" cy="342900"/>
          </a:xfrm>
          <a:prstGeom prst="rect">
            <a:avLst/>
          </a:prstGeom>
          <a:noFill/>
        </p:spPr>
        <p:txBody>
          <a:bodyPr wrap="none" lIns="0" rIns="0" tIns="0" bIns="0" anchor="ctr">
            <a:spAutoFit/>
          </a:bodyPr>
          <a:lstStyle/>
          <a:p>
            <a:pPr algn="ctr">
              <a:lnSpc>
                <a:spcPct val="115000"/>
              </a:lnSpc>
            </a:pPr>
            <a:r>
              <a:rPr sz="1100" b="1">
                <a:solidFill>
                  <a:srgbClr val="1F2933"/>
                </a:solidFill>
                <a:latin typeface="Calibri"/>
              </a:rPr>
              <a:t>MEA</a:t>
            </a:r>
          </a:p>
        </p:txBody>
      </p:sp>
      <p:sp>
        <p:nvSpPr>
          <p:cNvPr id="224" name="Rectangle 223"/>
          <p:cNvSpPr/>
          <p:nvPr/>
        </p:nvSpPr>
        <p:spPr>
          <a:xfrm>
            <a:off x="8709025" y="16097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5" name="TextBox 224"/>
          <p:cNvSpPr txBox="1"/>
          <p:nvPr/>
        </p:nvSpPr>
        <p:spPr>
          <a:xfrm>
            <a:off x="8699500"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26" name="Rectangle 225"/>
          <p:cNvSpPr/>
          <p:nvPr/>
        </p:nvSpPr>
        <p:spPr>
          <a:xfrm>
            <a:off x="9259358"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TextBox 226"/>
          <p:cNvSpPr txBox="1"/>
          <p:nvPr/>
        </p:nvSpPr>
        <p:spPr>
          <a:xfrm>
            <a:off x="9249833"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28" name="Rectangle 227"/>
          <p:cNvSpPr/>
          <p:nvPr/>
        </p:nvSpPr>
        <p:spPr>
          <a:xfrm>
            <a:off x="9809692" y="16097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9800167" y="16097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0" name="Rectangle 229"/>
          <p:cNvSpPr/>
          <p:nvPr/>
        </p:nvSpPr>
        <p:spPr>
          <a:xfrm>
            <a:off x="10360025"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1" name="Rectangle 230"/>
          <p:cNvSpPr/>
          <p:nvPr/>
        </p:nvSpPr>
        <p:spPr>
          <a:xfrm>
            <a:off x="10910358"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Rectangle 231"/>
          <p:cNvSpPr/>
          <p:nvPr/>
        </p:nvSpPr>
        <p:spPr>
          <a:xfrm>
            <a:off x="11460692" y="16097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3" name="Rectangle 232"/>
          <p:cNvSpPr/>
          <p:nvPr/>
        </p:nvSpPr>
        <p:spPr>
          <a:xfrm>
            <a:off x="8709025"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Rectangle 233"/>
          <p:cNvSpPr/>
          <p:nvPr/>
        </p:nvSpPr>
        <p:spPr>
          <a:xfrm>
            <a:off x="9259358" y="18573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5" name="TextBox 234"/>
          <p:cNvSpPr txBox="1"/>
          <p:nvPr/>
        </p:nvSpPr>
        <p:spPr>
          <a:xfrm>
            <a:off x="9249833"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36" name="Rectangle 235"/>
          <p:cNvSpPr/>
          <p:nvPr/>
        </p:nvSpPr>
        <p:spPr>
          <a:xfrm>
            <a:off x="9809692"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7" name="TextBox 236"/>
          <p:cNvSpPr txBox="1"/>
          <p:nvPr/>
        </p:nvSpPr>
        <p:spPr>
          <a:xfrm>
            <a:off x="9800167"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38" name="Rectangle 237"/>
          <p:cNvSpPr/>
          <p:nvPr/>
        </p:nvSpPr>
        <p:spPr>
          <a:xfrm>
            <a:off x="10360025" y="18573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9" name="TextBox 238"/>
          <p:cNvSpPr txBox="1"/>
          <p:nvPr/>
        </p:nvSpPr>
        <p:spPr>
          <a:xfrm>
            <a:off x="10350500" y="18573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0" name="Rectangle 239"/>
          <p:cNvSpPr/>
          <p:nvPr/>
        </p:nvSpPr>
        <p:spPr>
          <a:xfrm>
            <a:off x="10910358"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1" name="Rectangle 240"/>
          <p:cNvSpPr/>
          <p:nvPr/>
        </p:nvSpPr>
        <p:spPr>
          <a:xfrm>
            <a:off x="11460692" y="18573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Rectangle 241"/>
          <p:cNvSpPr/>
          <p:nvPr/>
        </p:nvSpPr>
        <p:spPr>
          <a:xfrm>
            <a:off x="8709025"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3" name="Rectangle 242"/>
          <p:cNvSpPr/>
          <p:nvPr/>
        </p:nvSpPr>
        <p:spPr>
          <a:xfrm>
            <a:off x="9259358"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Rectangle 243"/>
          <p:cNvSpPr/>
          <p:nvPr/>
        </p:nvSpPr>
        <p:spPr>
          <a:xfrm>
            <a:off x="9809692" y="21050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5" name="TextBox 244"/>
          <p:cNvSpPr txBox="1"/>
          <p:nvPr/>
        </p:nvSpPr>
        <p:spPr>
          <a:xfrm>
            <a:off x="9800167"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46" name="Rectangle 245"/>
          <p:cNvSpPr/>
          <p:nvPr/>
        </p:nvSpPr>
        <p:spPr>
          <a:xfrm>
            <a:off x="10360025"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7" name="TextBox 246"/>
          <p:cNvSpPr txBox="1"/>
          <p:nvPr/>
        </p:nvSpPr>
        <p:spPr>
          <a:xfrm>
            <a:off x="10350500"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48" name="Rectangle 247"/>
          <p:cNvSpPr/>
          <p:nvPr/>
        </p:nvSpPr>
        <p:spPr>
          <a:xfrm>
            <a:off x="10910358" y="21050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9" name="TextBox 248"/>
          <p:cNvSpPr txBox="1"/>
          <p:nvPr/>
        </p:nvSpPr>
        <p:spPr>
          <a:xfrm>
            <a:off x="10900833" y="21050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0" name="Rectangle 249"/>
          <p:cNvSpPr/>
          <p:nvPr/>
        </p:nvSpPr>
        <p:spPr>
          <a:xfrm>
            <a:off x="11460692" y="21050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8709025"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259358"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Rectangle 252"/>
          <p:cNvSpPr/>
          <p:nvPr/>
        </p:nvSpPr>
        <p:spPr>
          <a:xfrm>
            <a:off x="9809692" y="23526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4" name="Rectangle 253"/>
          <p:cNvSpPr/>
          <p:nvPr/>
        </p:nvSpPr>
        <p:spPr>
          <a:xfrm>
            <a:off x="10360025" y="23526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5" name="TextBox 254"/>
          <p:cNvSpPr txBox="1"/>
          <p:nvPr/>
        </p:nvSpPr>
        <p:spPr>
          <a:xfrm>
            <a:off x="10350500"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56" name="Rectangle 255"/>
          <p:cNvSpPr/>
          <p:nvPr/>
        </p:nvSpPr>
        <p:spPr>
          <a:xfrm>
            <a:off x="10910358"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TextBox 256"/>
          <p:cNvSpPr txBox="1"/>
          <p:nvPr/>
        </p:nvSpPr>
        <p:spPr>
          <a:xfrm>
            <a:off x="10900833"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58" name="Rectangle 257"/>
          <p:cNvSpPr/>
          <p:nvPr/>
        </p:nvSpPr>
        <p:spPr>
          <a:xfrm>
            <a:off x="11460692" y="23526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9" name="TextBox 258"/>
          <p:cNvSpPr txBox="1"/>
          <p:nvPr/>
        </p:nvSpPr>
        <p:spPr>
          <a:xfrm>
            <a:off x="11451167" y="23526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0" name="Rectangle 259"/>
          <p:cNvSpPr/>
          <p:nvPr/>
        </p:nvSpPr>
        <p:spPr>
          <a:xfrm>
            <a:off x="8709025"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699500"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2" name="Rectangle 261"/>
          <p:cNvSpPr/>
          <p:nvPr/>
        </p:nvSpPr>
        <p:spPr>
          <a:xfrm>
            <a:off x="9259358"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Rectangle 262"/>
          <p:cNvSpPr/>
          <p:nvPr/>
        </p:nvSpPr>
        <p:spPr>
          <a:xfrm>
            <a:off x="9809692"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4" name="Rectangle 263"/>
          <p:cNvSpPr/>
          <p:nvPr/>
        </p:nvSpPr>
        <p:spPr>
          <a:xfrm>
            <a:off x="10360025" y="26003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Rectangle 264"/>
          <p:cNvSpPr/>
          <p:nvPr/>
        </p:nvSpPr>
        <p:spPr>
          <a:xfrm>
            <a:off x="10910358" y="26003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6" name="TextBox 265"/>
          <p:cNvSpPr txBox="1"/>
          <p:nvPr/>
        </p:nvSpPr>
        <p:spPr>
          <a:xfrm>
            <a:off x="10900833"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67" name="Rectangle 266"/>
          <p:cNvSpPr/>
          <p:nvPr/>
        </p:nvSpPr>
        <p:spPr>
          <a:xfrm>
            <a:off x="11460692" y="26003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8" name="TextBox 267"/>
          <p:cNvSpPr txBox="1"/>
          <p:nvPr/>
        </p:nvSpPr>
        <p:spPr>
          <a:xfrm>
            <a:off x="11451167" y="26003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69" name="Rectangle 268"/>
          <p:cNvSpPr/>
          <p:nvPr/>
        </p:nvSpPr>
        <p:spPr>
          <a:xfrm>
            <a:off x="8709025"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0" name="TextBox 269"/>
          <p:cNvSpPr txBox="1"/>
          <p:nvPr/>
        </p:nvSpPr>
        <p:spPr>
          <a:xfrm>
            <a:off x="8699500"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1" name="Rectangle 270"/>
          <p:cNvSpPr/>
          <p:nvPr/>
        </p:nvSpPr>
        <p:spPr>
          <a:xfrm>
            <a:off x="9259358" y="28479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2" name="TextBox 271"/>
          <p:cNvSpPr txBox="1"/>
          <p:nvPr/>
        </p:nvSpPr>
        <p:spPr>
          <a:xfrm>
            <a:off x="9249833"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73" name="Rectangle 272"/>
          <p:cNvSpPr/>
          <p:nvPr/>
        </p:nvSpPr>
        <p:spPr>
          <a:xfrm>
            <a:off x="9809692"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4" name="Rectangle 273"/>
          <p:cNvSpPr/>
          <p:nvPr/>
        </p:nvSpPr>
        <p:spPr>
          <a:xfrm>
            <a:off x="10360025"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5" name="Rectangle 274"/>
          <p:cNvSpPr/>
          <p:nvPr/>
        </p:nvSpPr>
        <p:spPr>
          <a:xfrm>
            <a:off x="10910358" y="28479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6" name="Rectangle 275"/>
          <p:cNvSpPr/>
          <p:nvPr/>
        </p:nvSpPr>
        <p:spPr>
          <a:xfrm>
            <a:off x="11460692" y="28479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7" name="TextBox 276"/>
          <p:cNvSpPr txBox="1"/>
          <p:nvPr/>
        </p:nvSpPr>
        <p:spPr>
          <a:xfrm>
            <a:off x="11451167" y="28479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78" name="Rectangle 277"/>
          <p:cNvSpPr/>
          <p:nvPr/>
        </p:nvSpPr>
        <p:spPr>
          <a:xfrm>
            <a:off x="8709025" y="30956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9" name="TextBox 278"/>
          <p:cNvSpPr txBox="1"/>
          <p:nvPr/>
        </p:nvSpPr>
        <p:spPr>
          <a:xfrm>
            <a:off x="8699500"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80" name="Rectangle 279"/>
          <p:cNvSpPr/>
          <p:nvPr/>
        </p:nvSpPr>
        <p:spPr>
          <a:xfrm>
            <a:off x="9259358"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TextBox 280"/>
          <p:cNvSpPr txBox="1"/>
          <p:nvPr/>
        </p:nvSpPr>
        <p:spPr>
          <a:xfrm>
            <a:off x="9249833"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2" name="Rectangle 281"/>
          <p:cNvSpPr/>
          <p:nvPr/>
        </p:nvSpPr>
        <p:spPr>
          <a:xfrm>
            <a:off x="9809692" y="30956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3" name="TextBox 282"/>
          <p:cNvSpPr txBox="1"/>
          <p:nvPr/>
        </p:nvSpPr>
        <p:spPr>
          <a:xfrm>
            <a:off x="9800167" y="30956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84" name="Rectangle 283"/>
          <p:cNvSpPr/>
          <p:nvPr/>
        </p:nvSpPr>
        <p:spPr>
          <a:xfrm>
            <a:off x="10360025"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Rectangle 284"/>
          <p:cNvSpPr/>
          <p:nvPr/>
        </p:nvSpPr>
        <p:spPr>
          <a:xfrm>
            <a:off x="10910358"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Rectangle 285"/>
          <p:cNvSpPr/>
          <p:nvPr/>
        </p:nvSpPr>
        <p:spPr>
          <a:xfrm>
            <a:off x="11460692" y="30956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Rectangle 286"/>
          <p:cNvSpPr/>
          <p:nvPr/>
        </p:nvSpPr>
        <p:spPr>
          <a:xfrm>
            <a:off x="8709025"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8" name="Rectangle 287"/>
          <p:cNvSpPr/>
          <p:nvPr/>
        </p:nvSpPr>
        <p:spPr>
          <a:xfrm>
            <a:off x="9259358" y="33432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9" name="TextBox 288"/>
          <p:cNvSpPr txBox="1"/>
          <p:nvPr/>
        </p:nvSpPr>
        <p:spPr>
          <a:xfrm>
            <a:off x="9249833"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290" name="Rectangle 289"/>
          <p:cNvSpPr/>
          <p:nvPr/>
        </p:nvSpPr>
        <p:spPr>
          <a:xfrm>
            <a:off x="9809692"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1" name="TextBox 290"/>
          <p:cNvSpPr txBox="1"/>
          <p:nvPr/>
        </p:nvSpPr>
        <p:spPr>
          <a:xfrm>
            <a:off x="9800167"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2" name="Rectangle 291"/>
          <p:cNvSpPr/>
          <p:nvPr/>
        </p:nvSpPr>
        <p:spPr>
          <a:xfrm>
            <a:off x="10360025" y="33432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3" name="TextBox 292"/>
          <p:cNvSpPr txBox="1"/>
          <p:nvPr/>
        </p:nvSpPr>
        <p:spPr>
          <a:xfrm>
            <a:off x="10350500" y="33432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294" name="Rectangle 293"/>
          <p:cNvSpPr/>
          <p:nvPr/>
        </p:nvSpPr>
        <p:spPr>
          <a:xfrm>
            <a:off x="10910358"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5" name="Rectangle 294"/>
          <p:cNvSpPr/>
          <p:nvPr/>
        </p:nvSpPr>
        <p:spPr>
          <a:xfrm>
            <a:off x="11460692" y="33432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Rectangle 295"/>
          <p:cNvSpPr/>
          <p:nvPr/>
        </p:nvSpPr>
        <p:spPr>
          <a:xfrm>
            <a:off x="8709025"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7" name="Rectangle 296"/>
          <p:cNvSpPr/>
          <p:nvPr/>
        </p:nvSpPr>
        <p:spPr>
          <a:xfrm>
            <a:off x="9259358"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Rectangle 297"/>
          <p:cNvSpPr/>
          <p:nvPr/>
        </p:nvSpPr>
        <p:spPr>
          <a:xfrm>
            <a:off x="9809692" y="359092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9" name="TextBox 298"/>
          <p:cNvSpPr txBox="1"/>
          <p:nvPr/>
        </p:nvSpPr>
        <p:spPr>
          <a:xfrm>
            <a:off x="9800167"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00" name="Rectangle 299"/>
          <p:cNvSpPr/>
          <p:nvPr/>
        </p:nvSpPr>
        <p:spPr>
          <a:xfrm>
            <a:off x="10360025"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1" name="TextBox 300"/>
          <p:cNvSpPr txBox="1"/>
          <p:nvPr/>
        </p:nvSpPr>
        <p:spPr>
          <a:xfrm>
            <a:off x="10350500"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2" name="Rectangle 301"/>
          <p:cNvSpPr/>
          <p:nvPr/>
        </p:nvSpPr>
        <p:spPr>
          <a:xfrm>
            <a:off x="10910358" y="359092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3" name="TextBox 302"/>
          <p:cNvSpPr txBox="1"/>
          <p:nvPr/>
        </p:nvSpPr>
        <p:spPr>
          <a:xfrm>
            <a:off x="10900833" y="359092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04" name="Rectangle 303"/>
          <p:cNvSpPr/>
          <p:nvPr/>
        </p:nvSpPr>
        <p:spPr>
          <a:xfrm>
            <a:off x="11460692" y="359092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5" name="Rectangle 304"/>
          <p:cNvSpPr/>
          <p:nvPr/>
        </p:nvSpPr>
        <p:spPr>
          <a:xfrm>
            <a:off x="8709025"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6" name="Rectangle 305"/>
          <p:cNvSpPr/>
          <p:nvPr/>
        </p:nvSpPr>
        <p:spPr>
          <a:xfrm>
            <a:off x="9259358"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7" name="Rectangle 306"/>
          <p:cNvSpPr/>
          <p:nvPr/>
        </p:nvSpPr>
        <p:spPr>
          <a:xfrm>
            <a:off x="9809692" y="3838575"/>
            <a:ext cx="531283" cy="228600"/>
          </a:xfrm>
          <a:prstGeom prst="rect">
            <a:avLst/>
          </a:prstGeom>
          <a:solidFill>
            <a:srgbClr val="FFFFFF"/>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8" name="Rectangle 307"/>
          <p:cNvSpPr/>
          <p:nvPr/>
        </p:nvSpPr>
        <p:spPr>
          <a:xfrm>
            <a:off x="10360025" y="3838575"/>
            <a:ext cx="531283" cy="228600"/>
          </a:xfrm>
          <a:prstGeom prst="rect">
            <a:avLst/>
          </a:prstGeom>
          <a:solidFill>
            <a:srgbClr val="8FB4DC"/>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TextBox 308"/>
          <p:cNvSpPr txBox="1"/>
          <p:nvPr/>
        </p:nvSpPr>
        <p:spPr>
          <a:xfrm>
            <a:off x="10350500"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2</a:t>
            </a:r>
          </a:p>
        </p:txBody>
      </p:sp>
      <p:sp>
        <p:nvSpPr>
          <p:cNvPr id="310" name="Rectangle 309"/>
          <p:cNvSpPr/>
          <p:nvPr/>
        </p:nvSpPr>
        <p:spPr>
          <a:xfrm>
            <a:off x="10910358"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0900833"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2" name="Rectangle 311"/>
          <p:cNvSpPr/>
          <p:nvPr/>
        </p:nvSpPr>
        <p:spPr>
          <a:xfrm>
            <a:off x="11460692" y="3838575"/>
            <a:ext cx="531283" cy="228600"/>
          </a:xfrm>
          <a:prstGeom prst="rect">
            <a:avLst/>
          </a:prstGeom>
          <a:solidFill>
            <a:srgbClr val="CFE0F1"/>
          </a:solidFill>
          <a:ln w="6350">
            <a:solidFill>
              <a:srgbClr val="D5DDE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3" name="TextBox 312"/>
          <p:cNvSpPr txBox="1"/>
          <p:nvPr/>
        </p:nvSpPr>
        <p:spPr>
          <a:xfrm>
            <a:off x="11451167" y="3838575"/>
            <a:ext cx="550333" cy="228600"/>
          </a:xfrm>
          <a:prstGeom prst="rect">
            <a:avLst/>
          </a:prstGeom>
          <a:noFill/>
        </p:spPr>
        <p:txBody>
          <a:bodyPr wrap="none" lIns="0" rIns="0" tIns="0" bIns="0" anchor="ctr">
            <a:spAutoFit/>
          </a:bodyPr>
          <a:lstStyle/>
          <a:p>
            <a:pPr algn="ctr"/>
            <a:r>
              <a:rPr sz="1100" b="1">
                <a:solidFill>
                  <a:srgbClr val="0F2D52"/>
                </a:solidFill>
                <a:latin typeface="Calibri"/>
              </a:rPr>
              <a:t>1</a:t>
            </a:r>
          </a:p>
        </p:txBody>
      </p:sp>
      <p:sp>
        <p:nvSpPr>
          <p:cNvPr id="314" name="Rectangle 313"/>
          <p:cNvSpPr/>
          <p:nvPr/>
        </p:nvSpPr>
        <p:spPr>
          <a:xfrm>
            <a:off x="190500" y="4171950"/>
            <a:ext cx="209550" cy="123825"/>
          </a:xfrm>
          <a:prstGeom prst="rect">
            <a:avLst/>
          </a:prstGeom>
          <a:solidFill>
            <a:srgbClr val="CFE0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TextBox 314"/>
          <p:cNvSpPr txBox="1"/>
          <p:nvPr/>
        </p:nvSpPr>
        <p:spPr>
          <a:xfrm>
            <a:off x="4381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1 move</a:t>
            </a:r>
          </a:p>
        </p:txBody>
      </p:sp>
      <p:sp>
        <p:nvSpPr>
          <p:cNvPr id="316" name="Rectangle 315"/>
          <p:cNvSpPr/>
          <p:nvPr/>
        </p:nvSpPr>
        <p:spPr>
          <a:xfrm>
            <a:off x="1238250" y="4171950"/>
            <a:ext cx="209550" cy="123825"/>
          </a:xfrm>
          <a:prstGeom prst="rect">
            <a:avLst/>
          </a:prstGeom>
          <a:solidFill>
            <a:srgbClr val="8FB4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7" name="TextBox 316"/>
          <p:cNvSpPr txBox="1"/>
          <p:nvPr/>
        </p:nvSpPr>
        <p:spPr>
          <a:xfrm>
            <a:off x="148590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2 moves</a:t>
            </a:r>
          </a:p>
        </p:txBody>
      </p:sp>
      <p:sp>
        <p:nvSpPr>
          <p:cNvPr id="318" name="Rectangle 317"/>
          <p:cNvSpPr/>
          <p:nvPr/>
        </p:nvSpPr>
        <p:spPr>
          <a:xfrm>
            <a:off x="2286000" y="4171950"/>
            <a:ext cx="209550" cy="123825"/>
          </a:xfrm>
          <a:prstGeom prst="rect">
            <a:avLst/>
          </a:prstGeom>
          <a:solidFill>
            <a:srgbClr val="3D73A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2533650" y="4133850"/>
            <a:ext cx="1047750" cy="190500"/>
          </a:xfrm>
          <a:prstGeom prst="rect">
            <a:avLst/>
          </a:prstGeom>
          <a:noFill/>
        </p:spPr>
        <p:txBody>
          <a:bodyPr wrap="square" lIns="28575" rIns="28575" tIns="9525" bIns="9525" anchor="ctr">
            <a:spAutoFit/>
          </a:bodyPr>
          <a:lstStyle/>
          <a:p>
            <a:pPr algn="l"/>
            <a:r>
              <a:rPr sz="1100" b="0">
                <a:solidFill>
                  <a:srgbClr val="1F2933"/>
                </a:solidFill>
                <a:latin typeface="Calibri"/>
              </a:rPr>
              <a:t>3+ moves</a:t>
            </a:r>
          </a:p>
        </p:txBody>
      </p:sp>
      <p:sp>
        <p:nvSpPr>
          <p:cNvPr id="320" name="TextBox 319"/>
          <p:cNvSpPr txBox="1"/>
          <p:nvPr/>
        </p:nvSpPr>
        <p:spPr>
          <a:xfrm>
            <a:off x="3524250" y="4133850"/>
            <a:ext cx="8477250" cy="190500"/>
          </a:xfrm>
          <a:prstGeom prst="rect">
            <a:avLst/>
          </a:prstGeom>
          <a:noFill/>
        </p:spPr>
        <p:txBody>
          <a:bodyPr wrap="square" lIns="28575" rIns="28575" tIns="9525" bIns="9525" anchor="ctr">
            <a:spAutoFit/>
          </a:bodyPr>
          <a:lstStyle/>
          <a:p>
            <a:pPr algn="l"/>
            <a:r>
              <a:rPr sz="1100" b="0">
                <a:solidFill>
                  <a:srgbClr val="5F6B7A"/>
                </a:solidFill>
                <a:latin typeface="Calibri"/>
              </a:rPr>
              <a:t>Type codes: MA M&amp;A, PR Product / portfolio, EX Expansion, RD R&amp;D / technology, RG Regulation / compliance, CP Capital / funding</a:t>
            </a:r>
          </a:p>
        </p:txBody>
      </p:sp>
      <p:cxnSp>
        <p:nvCxnSpPr>
          <p:cNvPr id="321" name="Connector 320"/>
          <p:cNvCxnSpPr/>
          <p:nvPr/>
        </p:nvCxnSpPr>
        <p:spPr>
          <a:xfrm>
            <a:off x="190500" y="4400550"/>
            <a:ext cx="11811000" cy="0"/>
          </a:xfrm>
          <a:prstGeom prst="line">
            <a:avLst/>
          </a:prstGeom>
          <a:ln w="19050">
            <a:solidFill>
              <a:srgbClr val="0F2D52"/>
            </a:solidFill>
          </a:ln>
          <a:effectLst/>
        </p:spPr>
        <p:style>
          <a:lnRef idx="2">
            <a:schemeClr val="accent1"/>
          </a:lnRef>
          <a:fillRef idx="0">
            <a:schemeClr val="accent1"/>
          </a:fillRef>
          <a:effectRef idx="1">
            <a:schemeClr val="accent1"/>
          </a:effectRef>
          <a:fontRef idx="minor">
            <a:schemeClr val="tx1"/>
          </a:fontRef>
        </p:style>
      </p:cxnSp>
      <p:sp>
        <p:nvSpPr>
          <p:cNvPr id="322" name="TextBox 321"/>
          <p:cNvSpPr txBox="1"/>
          <p:nvPr/>
        </p:nvSpPr>
        <p:spPr>
          <a:xfrm>
            <a:off x="190500" y="4457700"/>
            <a:ext cx="5715000" cy="171450"/>
          </a:xfrm>
          <a:prstGeom prst="rect">
            <a:avLst/>
          </a:prstGeom>
          <a:noFill/>
        </p:spPr>
        <p:txBody>
          <a:bodyPr wrap="square" lIns="28575" rIns="28575" tIns="9525" bIns="9525" anchor="t">
            <a:spAutoFit/>
          </a:bodyPr>
          <a:lstStyle/>
          <a:p>
            <a:pPr algn="l"/>
            <a:r>
              <a:rPr sz="1100" b="1">
                <a:solidFill>
                  <a:srgbClr val="0F2D52"/>
                </a:solidFill>
                <a:latin typeface="Calibri"/>
              </a:rPr>
              <a:t>WHAT IT MEANS FOR EACH OF YOUR DEPARTMENTS</a:t>
            </a:r>
          </a:p>
        </p:txBody>
      </p:sp>
      <p:sp>
        <p:nvSpPr>
          <p:cNvPr id="323" name="Rectangle 322"/>
          <p:cNvSpPr/>
          <p:nvPr/>
        </p:nvSpPr>
        <p:spPr>
          <a:xfrm>
            <a:off x="1905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4" name="TextBox 323"/>
          <p:cNvSpPr txBox="1"/>
          <p:nvPr/>
        </p:nvSpPr>
        <p:spPr>
          <a:xfrm>
            <a:off x="2667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Sales</a:t>
            </a:r>
          </a:p>
        </p:txBody>
      </p:sp>
      <p:sp>
        <p:nvSpPr>
          <p:cNvPr id="325" name="TextBox 324"/>
          <p:cNvSpPr txBox="1"/>
          <p:nvPr/>
        </p:nvSpPr>
        <p:spPr>
          <a:xfrm>
            <a:off x="1905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10 expansion moves target new regions and volume tiers: defend key accounts where rivals expand.</a:t>
            </a:r>
          </a:p>
        </p:txBody>
      </p:sp>
      <p:sp>
        <p:nvSpPr>
          <p:cNvPr id="326" name="Rectangle 325"/>
          <p:cNvSpPr/>
          <p:nvPr/>
        </p:nvSpPr>
        <p:spPr>
          <a:xfrm>
            <a:off x="21780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22542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Marketing</a:t>
            </a:r>
          </a:p>
        </p:txBody>
      </p:sp>
      <p:sp>
        <p:nvSpPr>
          <p:cNvPr id="328" name="TextBox 327"/>
          <p:cNvSpPr txBox="1"/>
          <p:nvPr/>
        </p:nvSpPr>
        <p:spPr>
          <a:xfrm>
            <a:off x="21780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Certification and compliance are being used as trust signals; make your own credentials visible.</a:t>
            </a:r>
          </a:p>
        </p:txBody>
      </p:sp>
      <p:sp>
        <p:nvSpPr>
          <p:cNvPr id="329" name="Rectangle 328"/>
          <p:cNvSpPr/>
          <p:nvPr/>
        </p:nvSpPr>
        <p:spPr>
          <a:xfrm>
            <a:off x="41656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0" name="TextBox 329"/>
          <p:cNvSpPr txBox="1"/>
          <p:nvPr/>
        </p:nvSpPr>
        <p:spPr>
          <a:xfrm>
            <a:off x="42418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Product and R&amp;D</a:t>
            </a:r>
          </a:p>
        </p:txBody>
      </p:sp>
      <p:sp>
        <p:nvSpPr>
          <p:cNvPr id="331" name="TextBox 330"/>
          <p:cNvSpPr txBox="1"/>
          <p:nvPr/>
        </p:nvSpPr>
        <p:spPr>
          <a:xfrm>
            <a:off x="41656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20 product and R&amp;D moves: benchmark launches and the technology roadmap.</a:t>
            </a:r>
          </a:p>
        </p:txBody>
      </p:sp>
      <p:sp>
        <p:nvSpPr>
          <p:cNvPr id="332" name="Rectangle 331"/>
          <p:cNvSpPr/>
          <p:nvPr/>
        </p:nvSpPr>
        <p:spPr>
          <a:xfrm>
            <a:off x="61531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3" name="TextBox 332"/>
          <p:cNvSpPr txBox="1"/>
          <p:nvPr/>
        </p:nvSpPr>
        <p:spPr>
          <a:xfrm>
            <a:off x="62293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Corporate development</a:t>
            </a:r>
          </a:p>
        </p:txBody>
      </p:sp>
      <p:sp>
        <p:nvSpPr>
          <p:cNvPr id="334" name="TextBox 333"/>
          <p:cNvSpPr txBox="1"/>
          <p:nvPr/>
        </p:nvSpPr>
        <p:spPr>
          <a:xfrm>
            <a:off x="61531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are acquiring; the independent target list is shrinking.</a:t>
            </a:r>
          </a:p>
        </p:txBody>
      </p:sp>
      <p:sp>
        <p:nvSpPr>
          <p:cNvPr id="335" name="Rectangle 334"/>
          <p:cNvSpPr/>
          <p:nvPr/>
        </p:nvSpPr>
        <p:spPr>
          <a:xfrm>
            <a:off x="814070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821690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Operations</a:t>
            </a:r>
          </a:p>
        </p:txBody>
      </p:sp>
      <p:sp>
        <p:nvSpPr>
          <p:cNvPr id="337" name="TextBox 336"/>
          <p:cNvSpPr txBox="1"/>
          <p:nvPr/>
        </p:nvSpPr>
        <p:spPr>
          <a:xfrm>
            <a:off x="814070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Expansion moves add capacity in rivals' home regions; review supply and lead times.</a:t>
            </a:r>
          </a:p>
        </p:txBody>
      </p:sp>
      <p:sp>
        <p:nvSpPr>
          <p:cNvPr id="338" name="Rectangle 337"/>
          <p:cNvSpPr/>
          <p:nvPr/>
        </p:nvSpPr>
        <p:spPr>
          <a:xfrm>
            <a:off x="10128250" y="4686300"/>
            <a:ext cx="1873250" cy="228600"/>
          </a:xfrm>
          <a:prstGeom prst="rect">
            <a:avLst/>
          </a:prstGeom>
          <a:solidFill>
            <a:srgbClr val="0F2D5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9" name="TextBox 338"/>
          <p:cNvSpPr txBox="1"/>
          <p:nvPr/>
        </p:nvSpPr>
        <p:spPr>
          <a:xfrm>
            <a:off x="10204450" y="4686300"/>
            <a:ext cx="1758950" cy="228600"/>
          </a:xfrm>
          <a:prstGeom prst="rect">
            <a:avLst/>
          </a:prstGeom>
          <a:noFill/>
        </p:spPr>
        <p:txBody>
          <a:bodyPr wrap="square" lIns="28575" rIns="28575" tIns="9525" bIns="9525" anchor="ctr">
            <a:spAutoFit/>
          </a:bodyPr>
          <a:lstStyle/>
          <a:p>
            <a:pPr algn="l"/>
            <a:r>
              <a:rPr sz="1100" b="1">
                <a:solidFill>
                  <a:srgbClr val="FFFFFF"/>
                </a:solidFill>
                <a:latin typeface="Calibri"/>
              </a:rPr>
              <a:t>Legal and regulatory</a:t>
            </a:r>
          </a:p>
        </p:txBody>
      </p:sp>
      <p:sp>
        <p:nvSpPr>
          <p:cNvPr id="340" name="TextBox 339"/>
          <p:cNvSpPr txBox="1"/>
          <p:nvPr/>
        </p:nvSpPr>
        <p:spPr>
          <a:xfrm>
            <a:off x="10128250" y="4953000"/>
            <a:ext cx="1873250" cy="857250"/>
          </a:xfrm>
          <a:prstGeom prst="rect">
            <a:avLst/>
          </a:prstGeom>
          <a:noFill/>
        </p:spPr>
        <p:txBody>
          <a:bodyPr wrap="square" lIns="28575" rIns="28575" tIns="9525" bIns="9525" anchor="t">
            <a:spAutoFit/>
          </a:bodyPr>
          <a:lstStyle/>
          <a:p>
            <a:pPr algn="l">
              <a:lnSpc>
                <a:spcPct val="115000"/>
              </a:lnSpc>
            </a:pPr>
            <a:r>
              <a:rPr sz="1100" b="0">
                <a:solidFill>
                  <a:srgbClr val="1F2933"/>
                </a:solidFill>
                <a:latin typeface="Calibri"/>
              </a:rPr>
              <a:t>5 players lean on certification; audit your own compliance position.</a:t>
            </a:r>
          </a:p>
        </p:txBody>
      </p:sp>
      <p:sp>
        <p:nvSpPr>
          <p:cNvPr id="341" name="TextBox 340"/>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spTree>
  </p:cSld>
  <p:clrMapOvr>
    <a:masterClrMapping/>
  </p:clrMapOvr>
</p:sld>
</file>

<file path=ppt/slides/slide302.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Matcha Market, Global 2026 (1/2)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5810250" cy="400050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Tier Ladder – Share of Market Value, 2026</a:t>
            </a:r>
          </a:p>
        </p:txBody>
      </p:sp>
      <p:sp>
        <p:nvSpPr>
          <p:cNvPr id="12" name="TextBox 11"/>
          <p:cNvSpPr txBox="1"/>
          <p:nvPr/>
        </p:nvSpPr>
        <p:spPr>
          <a:xfrm>
            <a:off x="238125" y="1304925"/>
            <a:ext cx="5619750" cy="247650"/>
          </a:xfrm>
          <a:prstGeom prst="rect">
            <a:avLst/>
          </a:prstGeom>
          <a:noFill/>
        </p:spPr>
        <p:txBody>
          <a:bodyPr wrap="square" lIns="28575" rIns="28575" tIns="9525" bIns="9525" anchor="ctr">
            <a:spAutoFit/>
          </a:bodyPr>
          <a:lstStyle/>
          <a:p>
            <a:pPr algn="l"/>
            <a:r>
              <a:rPr sz="1100" b="0">
                <a:solidFill>
                  <a:srgbClr val="6B7280"/>
                </a:solidFill>
                <a:latin typeface="Calibri"/>
              </a:rPr>
              <a:t/>
            </a:r>
          </a:p>
        </p:txBody>
      </p:sp>
      <p:sp>
        <p:nvSpPr>
          <p:cNvPr id="13" name="TextBox 12"/>
          <p:cNvSpPr txBox="1"/>
          <p:nvPr/>
        </p:nvSpPr>
        <p:spPr>
          <a:xfrm>
            <a:off x="257175" y="16002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1</a:t>
            </a:r>
          </a:p>
        </p:txBody>
      </p:sp>
      <p:sp>
        <p:nvSpPr>
          <p:cNvPr id="14" name="TextBox 13"/>
          <p:cNvSpPr txBox="1"/>
          <p:nvPr/>
        </p:nvSpPr>
        <p:spPr>
          <a:xfrm>
            <a:off x="257175" y="18097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Top / global players</a:t>
            </a:r>
          </a:p>
        </p:txBody>
      </p:sp>
      <p:sp>
        <p:nvSpPr>
          <p:cNvPr id="15" name="Rectangle 14"/>
          <p:cNvSpPr/>
          <p:nvPr/>
        </p:nvSpPr>
        <p:spPr>
          <a:xfrm>
            <a:off x="1266825" y="1581150"/>
            <a:ext cx="4533900" cy="476250"/>
          </a:xfrm>
          <a:prstGeom prst="rect">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 name="TextBox 15"/>
          <p:cNvSpPr txBox="1"/>
          <p:nvPr/>
        </p:nvSpPr>
        <p:spPr>
          <a:xfrm>
            <a:off x="1362075" y="16097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17" name="TextBox 16"/>
          <p:cNvSpPr txBox="1"/>
          <p:nvPr/>
        </p:nvSpPr>
        <p:spPr>
          <a:xfrm>
            <a:off x="1362075" y="1809750"/>
            <a:ext cx="4381500"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18" name="TextBox 17"/>
          <p:cNvSpPr txBox="1"/>
          <p:nvPr/>
        </p:nvSpPr>
        <p:spPr>
          <a:xfrm>
            <a:off x="1266825" y="20669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Jade Leaf Matcha · DoMatcha · Encha · Rishi Tea and Botanicals</a:t>
            </a:r>
          </a:p>
        </p:txBody>
      </p:sp>
      <p:sp>
        <p:nvSpPr>
          <p:cNvPr id="19" name="TextBox 18"/>
          <p:cNvSpPr txBox="1"/>
          <p:nvPr/>
        </p:nvSpPr>
        <p:spPr>
          <a:xfrm>
            <a:off x="257175" y="24574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2</a:t>
            </a:r>
          </a:p>
        </p:txBody>
      </p:sp>
      <p:sp>
        <p:nvSpPr>
          <p:cNvPr id="20" name="TextBox 19"/>
          <p:cNvSpPr txBox="1"/>
          <p:nvPr/>
        </p:nvSpPr>
        <p:spPr>
          <a:xfrm>
            <a:off x="257175" y="26670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Mid-sized players</a:t>
            </a:r>
          </a:p>
        </p:txBody>
      </p:sp>
      <p:sp>
        <p:nvSpPr>
          <p:cNvPr id="21" name="Rectangle 20"/>
          <p:cNvSpPr/>
          <p:nvPr/>
        </p:nvSpPr>
        <p:spPr>
          <a:xfrm>
            <a:off x="1266825" y="2438400"/>
            <a:ext cx="3786554" cy="476250"/>
          </a:xfrm>
          <a:prstGeom prst="rect">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 name="TextBox 21"/>
          <p:cNvSpPr txBox="1"/>
          <p:nvPr/>
        </p:nvSpPr>
        <p:spPr>
          <a:xfrm>
            <a:off x="1362075" y="246697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3" name="TextBox 22"/>
          <p:cNvSpPr txBox="1"/>
          <p:nvPr/>
        </p:nvSpPr>
        <p:spPr>
          <a:xfrm>
            <a:off x="1362075" y="2667000"/>
            <a:ext cx="3634154"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24" name="TextBox 23"/>
          <p:cNvSpPr txBox="1"/>
          <p:nvPr/>
        </p:nvSpPr>
        <p:spPr>
          <a:xfrm>
            <a:off x="1266825" y="29241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Tenzo · Matchaful</a:t>
            </a:r>
          </a:p>
        </p:txBody>
      </p:sp>
      <p:sp>
        <p:nvSpPr>
          <p:cNvPr id="25" name="TextBox 24"/>
          <p:cNvSpPr txBox="1"/>
          <p:nvPr/>
        </p:nvSpPr>
        <p:spPr>
          <a:xfrm>
            <a:off x="257175" y="331470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Tier 3</a:t>
            </a:r>
          </a:p>
        </p:txBody>
      </p:sp>
      <p:sp>
        <p:nvSpPr>
          <p:cNvPr id="26" name="TextBox 25"/>
          <p:cNvSpPr txBox="1"/>
          <p:nvPr/>
        </p:nvSpPr>
        <p:spPr>
          <a:xfrm>
            <a:off x="257175" y="352425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Emerging / local players</a:t>
            </a:r>
          </a:p>
        </p:txBody>
      </p:sp>
      <p:sp>
        <p:nvSpPr>
          <p:cNvPr id="27" name="Rectangle 26"/>
          <p:cNvSpPr/>
          <p:nvPr/>
        </p:nvSpPr>
        <p:spPr>
          <a:xfrm>
            <a:off x="1266825" y="3295650"/>
            <a:ext cx="3487615" cy="476250"/>
          </a:xfrm>
          <a:prstGeom prst="rect">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 name="TextBox 27"/>
          <p:cNvSpPr txBox="1"/>
          <p:nvPr/>
        </p:nvSpPr>
        <p:spPr>
          <a:xfrm>
            <a:off x="1362075" y="3324225"/>
            <a:ext cx="666750" cy="209550"/>
          </a:xfrm>
          <a:prstGeom prst="rect">
            <a:avLst/>
          </a:prstGeom>
          <a:noFill/>
        </p:spPr>
        <p:txBody>
          <a:bodyPr wrap="square" lIns="28575" rIns="28575" tIns="9525" bIns="9525" anchor="ctr">
            <a:spAutoFit/>
          </a:bodyPr>
          <a:lstStyle/>
          <a:p>
            <a:pPr algn="l"/>
            <a:r>
              <a:rPr sz="1100" b="1">
                <a:solidFill>
                  <a:srgbClr val="FFFFFF"/>
                </a:solidFill>
                <a:latin typeface="Calibri"/>
              </a:rPr>
              <a:t> </a:t>
            </a:r>
          </a:p>
        </p:txBody>
      </p:sp>
      <p:sp>
        <p:nvSpPr>
          <p:cNvPr id="29" name="TextBox 28"/>
          <p:cNvSpPr txBox="1"/>
          <p:nvPr/>
        </p:nvSpPr>
        <p:spPr>
          <a:xfrm>
            <a:off x="1362075" y="3524250"/>
            <a:ext cx="3335215" cy="247650"/>
          </a:xfrm>
          <a:prstGeom prst="rect">
            <a:avLst/>
          </a:prstGeom>
          <a:noFill/>
        </p:spPr>
        <p:txBody>
          <a:bodyPr wrap="square" lIns="28575" rIns="28575" tIns="9525" bIns="9525" anchor="ctr">
            <a:spAutoFit/>
          </a:bodyPr>
          <a:lstStyle/>
          <a:p>
            <a:pPr algn="l"/>
            <a:r>
              <a:rPr sz="1100" b="0">
                <a:solidFill>
                  <a:srgbClr val="FFFFFF"/>
                </a:solidFill>
                <a:latin typeface="Calibri"/>
              </a:rPr>
              <a:t/>
            </a:r>
          </a:p>
        </p:txBody>
      </p:sp>
      <p:sp>
        <p:nvSpPr>
          <p:cNvPr id="30" name="TextBox 29"/>
          <p:cNvSpPr txBox="1"/>
          <p:nvPr/>
        </p:nvSpPr>
        <p:spPr>
          <a:xfrm>
            <a:off x="1266825" y="378142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Kettl · Harney and Sons · Sencha Naturals · Aoi Matcha</a:t>
            </a:r>
          </a:p>
        </p:txBody>
      </p:sp>
      <p:sp>
        <p:nvSpPr>
          <p:cNvPr id="31" name="TextBox 30"/>
          <p:cNvSpPr txBox="1"/>
          <p:nvPr/>
        </p:nvSpPr>
        <p:spPr>
          <a:xfrm>
            <a:off x="257175" y="4171950"/>
            <a:ext cx="990600" cy="209550"/>
          </a:xfrm>
          <a:prstGeom prst="rect">
            <a:avLst/>
          </a:prstGeom>
          <a:noFill/>
        </p:spPr>
        <p:txBody>
          <a:bodyPr wrap="square" lIns="28575" rIns="28575" tIns="9525" bIns="9525" anchor="ctr">
            <a:spAutoFit/>
          </a:bodyPr>
          <a:lstStyle/>
          <a:p>
            <a:pPr algn="l"/>
            <a:r>
              <a:rPr sz="1100" b="1">
                <a:solidFill>
                  <a:srgbClr val="14213D"/>
                </a:solidFill>
                <a:latin typeface="Calibri"/>
              </a:rPr>
              <a:t>Others</a:t>
            </a:r>
          </a:p>
        </p:txBody>
      </p:sp>
      <p:sp>
        <p:nvSpPr>
          <p:cNvPr id="32" name="TextBox 31"/>
          <p:cNvSpPr txBox="1"/>
          <p:nvPr/>
        </p:nvSpPr>
        <p:spPr>
          <a:xfrm>
            <a:off x="257175" y="4381500"/>
            <a:ext cx="990600" cy="32385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Long tail</a:t>
            </a:r>
          </a:p>
        </p:txBody>
      </p:sp>
      <p:sp>
        <p:nvSpPr>
          <p:cNvPr id="33" name="Rectangle 32"/>
          <p:cNvSpPr/>
          <p:nvPr/>
        </p:nvSpPr>
        <p:spPr>
          <a:xfrm>
            <a:off x="1266825" y="4152900"/>
            <a:ext cx="3637085" cy="476250"/>
          </a:xfrm>
          <a:prstGeom prst="rect">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4" name="TextBox 33"/>
          <p:cNvSpPr txBox="1"/>
          <p:nvPr/>
        </p:nvSpPr>
        <p:spPr>
          <a:xfrm>
            <a:off x="1362075" y="4181475"/>
            <a:ext cx="666750" cy="209550"/>
          </a:xfrm>
          <a:prstGeom prst="rect">
            <a:avLst/>
          </a:prstGeom>
          <a:noFill/>
        </p:spPr>
        <p:txBody>
          <a:bodyPr wrap="square" lIns="28575" rIns="28575" tIns="9525" bIns="9525" anchor="ctr">
            <a:spAutoFit/>
          </a:bodyPr>
          <a:lstStyle/>
          <a:p>
            <a:pPr algn="l"/>
            <a:r>
              <a:rPr sz="1100" b="1">
                <a:solidFill>
                  <a:srgbClr val="14213D"/>
                </a:solidFill>
                <a:latin typeface="Calibri"/>
              </a:rPr>
              <a:t> </a:t>
            </a:r>
          </a:p>
        </p:txBody>
      </p:sp>
      <p:sp>
        <p:nvSpPr>
          <p:cNvPr id="35" name="TextBox 34"/>
          <p:cNvSpPr txBox="1"/>
          <p:nvPr/>
        </p:nvSpPr>
        <p:spPr>
          <a:xfrm>
            <a:off x="1362075" y="4381500"/>
            <a:ext cx="3484685" cy="247650"/>
          </a:xfrm>
          <a:prstGeom prst="rect">
            <a:avLst/>
          </a:prstGeom>
          <a:noFill/>
        </p:spPr>
        <p:txBody>
          <a:bodyPr wrap="square" lIns="28575" rIns="28575" tIns="9525" bIns="9525" anchor="ctr">
            <a:spAutoFit/>
          </a:bodyPr>
          <a:lstStyle/>
          <a:p>
            <a:pPr algn="l"/>
            <a:r>
              <a:rPr sz="1100" b="0">
                <a:solidFill>
                  <a:srgbClr val="14213D"/>
                </a:solidFill>
                <a:latin typeface="Calibri"/>
              </a:rPr>
              <a:t/>
            </a:r>
          </a:p>
        </p:txBody>
      </p:sp>
      <p:sp>
        <p:nvSpPr>
          <p:cNvPr id="36" name="TextBox 35"/>
          <p:cNvSpPr txBox="1"/>
          <p:nvPr/>
        </p:nvSpPr>
        <p:spPr>
          <a:xfrm>
            <a:off x="1266825" y="4638675"/>
            <a:ext cx="4533900" cy="3429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Regional &amp; niche suppliers</a:t>
            </a:r>
          </a:p>
        </p:txBody>
      </p:sp>
      <p:sp>
        <p:nvSpPr>
          <p:cNvPr id="37" name="Rounded Rectangle 36"/>
          <p:cNvSpPr/>
          <p:nvPr/>
        </p:nvSpPr>
        <p:spPr>
          <a:xfrm>
            <a:off x="142875" y="5162550"/>
            <a:ext cx="5810250" cy="1466850"/>
          </a:xfrm>
          <a:prstGeom prst="roundRect">
            <a:avLst>
              <a:gd name="adj" fmla="val 1311"/>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8" name="TextBox 37"/>
          <p:cNvSpPr txBox="1"/>
          <p:nvPr/>
        </p:nvSpPr>
        <p:spPr>
          <a:xfrm>
            <a:off x="238125" y="5219700"/>
            <a:ext cx="5619750" cy="209550"/>
          </a:xfrm>
          <a:prstGeom prst="rect">
            <a:avLst/>
          </a:prstGeom>
          <a:noFill/>
        </p:spPr>
        <p:txBody>
          <a:bodyPr wrap="square" lIns="28575" rIns="28575" tIns="9525" bIns="9525" anchor="ctr">
            <a:spAutoFit/>
          </a:bodyPr>
          <a:lstStyle/>
          <a:p>
            <a:pPr algn="l"/>
            <a:r>
              <a:rPr sz="1200" b="1">
                <a:solidFill>
                  <a:srgbClr val="2E2E2E"/>
                </a:solidFill>
                <a:latin typeface="Calibri"/>
              </a:rPr>
              <a:t>Concentration Read-out</a:t>
            </a:r>
          </a:p>
        </p:txBody>
      </p:sp>
      <p:sp>
        <p:nvSpPr>
          <p:cNvPr id="39" name="Rectangle 38"/>
          <p:cNvSpPr/>
          <p:nvPr/>
        </p:nvSpPr>
        <p:spPr>
          <a:xfrm>
            <a:off x="276225" y="5505450"/>
            <a:ext cx="1847850" cy="247650"/>
          </a:xfrm>
          <a:prstGeom prst="rect">
            <a:avLst/>
          </a:prstGeom>
          <a:solidFill>
            <a:srgbClr val="C9DAF0"/>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0" name="TextBox 39"/>
          <p:cNvSpPr txBox="1"/>
          <p:nvPr/>
        </p:nvSpPr>
        <p:spPr>
          <a:xfrm>
            <a:off x="276225" y="5505450"/>
            <a:ext cx="1847850" cy="247650"/>
          </a:xfrm>
          <a:prstGeom prst="rect">
            <a:avLst/>
          </a:prstGeom>
          <a:noFill/>
        </p:spPr>
        <p:txBody>
          <a:bodyPr wrap="square" lIns="28575" rIns="28575" tIns="9525" bIns="9525" anchor="ctr">
            <a:spAutoFit/>
          </a:bodyPr>
          <a:lstStyle/>
          <a:p>
            <a:pPr algn="ctr"/>
            <a:r>
              <a:rPr sz="1100" b="1">
                <a:solidFill>
                  <a:srgbClr val="14213D"/>
                </a:solidFill>
                <a:latin typeface="Calibri"/>
              </a:rPr>
              <a:t>Fragmented HHI &lt; 1,500</a:t>
            </a:r>
          </a:p>
        </p:txBody>
      </p:sp>
      <p:sp>
        <p:nvSpPr>
          <p:cNvPr id="41" name="Rectangle 40"/>
          <p:cNvSpPr/>
          <p:nvPr/>
        </p:nvSpPr>
        <p:spPr>
          <a:xfrm>
            <a:off x="2124075" y="5505450"/>
            <a:ext cx="1847850"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2" name="TextBox 41"/>
          <p:cNvSpPr txBox="1"/>
          <p:nvPr/>
        </p:nvSpPr>
        <p:spPr>
          <a:xfrm>
            <a:off x="212407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Moderate 1,500–2,500</a:t>
            </a:r>
          </a:p>
        </p:txBody>
      </p:sp>
      <p:sp>
        <p:nvSpPr>
          <p:cNvPr id="43" name="Rectangle 42"/>
          <p:cNvSpPr/>
          <p:nvPr/>
        </p:nvSpPr>
        <p:spPr>
          <a:xfrm>
            <a:off x="3971925" y="5505450"/>
            <a:ext cx="18478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4" name="TextBox 43"/>
          <p:cNvSpPr txBox="1"/>
          <p:nvPr/>
        </p:nvSpPr>
        <p:spPr>
          <a:xfrm>
            <a:off x="3971925" y="5505450"/>
            <a:ext cx="1847850" cy="247650"/>
          </a:xfrm>
          <a:prstGeom prst="rect">
            <a:avLst/>
          </a:prstGeom>
          <a:noFill/>
        </p:spPr>
        <p:txBody>
          <a:bodyPr wrap="square" lIns="28575" rIns="28575" tIns="9525" bIns="9525" anchor="ctr">
            <a:spAutoFit/>
          </a:bodyPr>
          <a:lstStyle/>
          <a:p>
            <a:pPr algn="ctr"/>
            <a:r>
              <a:rPr sz="1100" b="1">
                <a:solidFill>
                  <a:srgbClr val="FFFFFF"/>
                </a:solidFill>
                <a:latin typeface="Calibri"/>
              </a:rPr>
              <a:t>Concentrated &gt; 2,500</a:t>
            </a:r>
          </a:p>
        </p:txBody>
      </p:sp>
      <p:sp>
        <p:nvSpPr>
          <p:cNvPr id="45" name="TextBox 44"/>
          <p:cNvSpPr txBox="1"/>
          <p:nvPr/>
        </p:nvSpPr>
        <p:spPr>
          <a:xfrm>
            <a:off x="669665" y="5762625"/>
            <a:ext cx="1714500" cy="24765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6" name="TextBox 45"/>
          <p:cNvSpPr txBox="1"/>
          <p:nvPr/>
        </p:nvSpPr>
        <p:spPr>
          <a:xfrm>
            <a:off x="238125" y="5981700"/>
            <a:ext cx="5619750" cy="419100"/>
          </a:xfrm>
          <a:prstGeom prst="rect">
            <a:avLst/>
          </a:prstGeom>
          <a:noFill/>
        </p:spPr>
        <p:txBody>
          <a:bodyPr wrap="square" lIns="28575" rIns="28575" tIns="9525" bIns="9525" anchor="ctr">
            <a:spAutoFit/>
          </a:bodyPr>
          <a:lstStyle/>
          <a:p>
            <a:pPr algn="ctr"/>
            <a:r>
              <a:rPr sz="1100" b="1">
                <a:solidFill>
                  <a:srgbClr val="14213D"/>
                </a:solidFill>
                <a:latin typeface="Calibri"/>
              </a:rPr>
              <a:t/>
            </a:r>
          </a:p>
        </p:txBody>
      </p:sp>
      <p:sp>
        <p:nvSpPr>
          <p:cNvPr id="47" name="Rounded Rectangle 46"/>
          <p:cNvSpPr/>
          <p:nvPr/>
        </p:nvSpPr>
        <p:spPr>
          <a:xfrm>
            <a:off x="6096000" y="1047750"/>
            <a:ext cx="5953125" cy="400050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TextBox 47"/>
          <p:cNvSpPr txBox="1"/>
          <p:nvPr/>
        </p:nvSpPr>
        <p:spPr>
          <a:xfrm>
            <a:off x="6191250" y="11049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Tier Profile Matrix</a:t>
            </a:r>
          </a:p>
        </p:txBody>
      </p:sp>
      <p:sp>
        <p:nvSpPr>
          <p:cNvPr id="49" name="TextBox 48"/>
          <p:cNvSpPr txBox="1"/>
          <p:nvPr/>
        </p:nvSpPr>
        <p:spPr>
          <a:xfrm>
            <a:off x="6191250" y="1304925"/>
            <a:ext cx="5762625" cy="247650"/>
          </a:xfrm>
          <a:prstGeom prst="rect">
            <a:avLst/>
          </a:prstGeom>
          <a:noFill/>
        </p:spPr>
        <p:txBody>
          <a:bodyPr wrap="square" lIns="28575" rIns="28575" tIns="9525" bIns="9525" anchor="ctr">
            <a:spAutoFit/>
          </a:bodyPr>
          <a:lstStyle/>
          <a:p>
            <a:pPr algn="l"/>
            <a:r>
              <a:rPr sz="1100" b="0">
                <a:solidFill>
                  <a:srgbClr val="6B7280"/>
                </a:solidFill>
                <a:latin typeface="Calibri"/>
              </a:rPr>
              <a:t>Size, growth and competitive characteristics of each tier</a:t>
            </a:r>
          </a:p>
        </p:txBody>
      </p:sp>
      <p:sp>
        <p:nvSpPr>
          <p:cNvPr id="50" name="Rectangle 49"/>
          <p:cNvSpPr/>
          <p:nvPr/>
        </p:nvSpPr>
        <p:spPr>
          <a:xfrm>
            <a:off x="6191250" y="1562100"/>
            <a:ext cx="16192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TextBox 50"/>
          <p:cNvSpPr txBox="1"/>
          <p:nvPr/>
        </p:nvSpPr>
        <p:spPr>
          <a:xfrm>
            <a:off x="6248400" y="1562100"/>
            <a:ext cx="1543050" cy="247650"/>
          </a:xfrm>
          <a:prstGeom prst="rect">
            <a:avLst/>
          </a:prstGeom>
          <a:noFill/>
        </p:spPr>
        <p:txBody>
          <a:bodyPr wrap="square" lIns="28575" rIns="28575" tIns="9525" bIns="9525" anchor="ctr">
            <a:spAutoFit/>
          </a:bodyPr>
          <a:lstStyle/>
          <a:p>
            <a:pPr algn="l"/>
            <a:r>
              <a:rPr sz="1100" b="1">
                <a:solidFill>
                  <a:srgbClr val="FFFFFF"/>
                </a:solidFill>
                <a:latin typeface="Calibri"/>
              </a:rPr>
              <a:t>Metric</a:t>
            </a:r>
          </a:p>
        </p:txBody>
      </p:sp>
      <p:sp>
        <p:nvSpPr>
          <p:cNvPr id="52" name="Rectangle 51"/>
          <p:cNvSpPr/>
          <p:nvPr/>
        </p:nvSpPr>
        <p:spPr>
          <a:xfrm>
            <a:off x="7810500" y="1562100"/>
            <a:ext cx="82867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TextBox 52"/>
          <p:cNvSpPr txBox="1"/>
          <p:nvPr/>
        </p:nvSpPr>
        <p:spPr>
          <a:xfrm>
            <a:off x="78105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54" name="Rectangle 53"/>
          <p:cNvSpPr/>
          <p:nvPr/>
        </p:nvSpPr>
        <p:spPr>
          <a:xfrm>
            <a:off x="8639175" y="1562100"/>
            <a:ext cx="828675" cy="247650"/>
          </a:xfrm>
          <a:prstGeom prst="rect">
            <a:avLst/>
          </a:prstGeom>
          <a:solidFill>
            <a:srgbClr val="2E6DB4"/>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8639175"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56" name="Rectangle 55"/>
          <p:cNvSpPr/>
          <p:nvPr/>
        </p:nvSpPr>
        <p:spPr>
          <a:xfrm>
            <a:off x="9467850" y="1562100"/>
            <a:ext cx="828675" cy="247650"/>
          </a:xfrm>
          <a:prstGeom prst="rect">
            <a:avLst/>
          </a:prstGeom>
          <a:solidFill>
            <a:srgbClr val="6FA8D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7" name="TextBox 56"/>
          <p:cNvSpPr txBox="1"/>
          <p:nvPr/>
        </p:nvSpPr>
        <p:spPr>
          <a:xfrm>
            <a:off x="946785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58" name="Rectangle 57"/>
          <p:cNvSpPr/>
          <p:nvPr/>
        </p:nvSpPr>
        <p:spPr>
          <a:xfrm>
            <a:off x="10296525" y="1562100"/>
            <a:ext cx="828675" cy="247650"/>
          </a:xfrm>
          <a:prstGeom prst="rect">
            <a:avLst/>
          </a:prstGeom>
          <a:solidFill>
            <a:srgbClr val="9FC5E8"/>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TextBox 58"/>
          <p:cNvSpPr txBox="1"/>
          <p:nvPr/>
        </p:nvSpPr>
        <p:spPr>
          <a:xfrm>
            <a:off x="10296525" y="1562100"/>
            <a:ext cx="828675" cy="2476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60" name="Rectangle 59"/>
          <p:cNvSpPr/>
          <p:nvPr/>
        </p:nvSpPr>
        <p:spPr>
          <a:xfrm>
            <a:off x="11125200" y="1562100"/>
            <a:ext cx="828675" cy="247650"/>
          </a:xfrm>
          <a:prstGeom prst="rect">
            <a:avLst/>
          </a:prstGeom>
          <a:solidFill>
            <a:srgbClr val="102447"/>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1" name="TextBox 60"/>
          <p:cNvSpPr txBox="1"/>
          <p:nvPr/>
        </p:nvSpPr>
        <p:spPr>
          <a:xfrm>
            <a:off x="11125200" y="1562100"/>
            <a:ext cx="828675" cy="247650"/>
          </a:xfrm>
          <a:prstGeom prst="rect">
            <a:avLst/>
          </a:prstGeom>
          <a:noFill/>
        </p:spPr>
        <p:txBody>
          <a:bodyPr wrap="square" lIns="28575" rIns="28575" tIns="9525" bIns="9525" anchor="ctr">
            <a:spAutoFit/>
          </a:bodyPr>
          <a:lstStyle/>
          <a:p>
            <a:pPr algn="ctr"/>
            <a:r>
              <a:rPr sz="1100" b="1">
                <a:solidFill>
                  <a:srgbClr val="FFFFFF"/>
                </a:solidFill>
                <a:latin typeface="Calibri"/>
              </a:rPr>
              <a:t>Total</a:t>
            </a:r>
          </a:p>
        </p:txBody>
      </p:sp>
      <p:sp>
        <p:nvSpPr>
          <p:cNvPr id="62" name="Rectangle 61"/>
          <p:cNvSpPr/>
          <p:nvPr/>
        </p:nvSpPr>
        <p:spPr>
          <a:xfrm>
            <a:off x="6191250" y="1809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6248400" y="1809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Players</a:t>
            </a:r>
          </a:p>
        </p:txBody>
      </p:sp>
      <p:sp>
        <p:nvSpPr>
          <p:cNvPr id="64" name="Rectangle 63"/>
          <p:cNvSpPr/>
          <p:nvPr/>
        </p:nvSpPr>
        <p:spPr>
          <a:xfrm>
            <a:off x="78105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782955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66" name="Rectangle 65"/>
          <p:cNvSpPr/>
          <p:nvPr/>
        </p:nvSpPr>
        <p:spPr>
          <a:xfrm>
            <a:off x="863917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865822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2</a:t>
            </a:r>
          </a:p>
        </p:txBody>
      </p:sp>
      <p:sp>
        <p:nvSpPr>
          <p:cNvPr id="68" name="Rectangle 67"/>
          <p:cNvSpPr/>
          <p:nvPr/>
        </p:nvSpPr>
        <p:spPr>
          <a:xfrm>
            <a:off x="946785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9486900"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4</a:t>
            </a:r>
          </a:p>
        </p:txBody>
      </p:sp>
      <p:sp>
        <p:nvSpPr>
          <p:cNvPr id="70" name="Rectangle 69"/>
          <p:cNvSpPr/>
          <p:nvPr/>
        </p:nvSpPr>
        <p:spPr>
          <a:xfrm>
            <a:off x="10296525"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10315575" y="18097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72" name="Rectangle 71"/>
          <p:cNvSpPr/>
          <p:nvPr/>
        </p:nvSpPr>
        <p:spPr>
          <a:xfrm>
            <a:off x="11125200" y="1809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11144250" y="18097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 </a:t>
            </a:r>
          </a:p>
        </p:txBody>
      </p:sp>
      <p:sp>
        <p:nvSpPr>
          <p:cNvPr id="74" name="Rectangle 73"/>
          <p:cNvSpPr/>
          <p:nvPr/>
        </p:nvSpPr>
        <p:spPr>
          <a:xfrm>
            <a:off x="6191250" y="2038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6248400" y="2038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Value 2026 (US$ Mn)</a:t>
            </a:r>
          </a:p>
        </p:txBody>
      </p:sp>
      <p:sp>
        <p:nvSpPr>
          <p:cNvPr id="76" name="Rectangle 75"/>
          <p:cNvSpPr/>
          <p:nvPr/>
        </p:nvSpPr>
        <p:spPr>
          <a:xfrm>
            <a:off x="78105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782955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78" name="Rectangle 77"/>
          <p:cNvSpPr/>
          <p:nvPr/>
        </p:nvSpPr>
        <p:spPr>
          <a:xfrm>
            <a:off x="863917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865822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0" name="Rectangle 79"/>
          <p:cNvSpPr/>
          <p:nvPr/>
        </p:nvSpPr>
        <p:spPr>
          <a:xfrm>
            <a:off x="946785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9486900"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2" name="Rectangle 81"/>
          <p:cNvSpPr/>
          <p:nvPr/>
        </p:nvSpPr>
        <p:spPr>
          <a:xfrm>
            <a:off x="10296525"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0315575" y="2038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84" name="Rectangle 83"/>
          <p:cNvSpPr/>
          <p:nvPr/>
        </p:nvSpPr>
        <p:spPr>
          <a:xfrm>
            <a:off x="11125200" y="2038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11144250" y="2038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3,374</a:t>
            </a:r>
          </a:p>
        </p:txBody>
      </p:sp>
      <p:sp>
        <p:nvSpPr>
          <p:cNvPr id="86" name="Rectangle 85"/>
          <p:cNvSpPr/>
          <p:nvPr/>
        </p:nvSpPr>
        <p:spPr>
          <a:xfrm>
            <a:off x="6191250" y="22669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6248400" y="22669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2026</a:t>
            </a:r>
          </a:p>
        </p:txBody>
      </p:sp>
      <p:sp>
        <p:nvSpPr>
          <p:cNvPr id="88" name="Rectangle 87"/>
          <p:cNvSpPr/>
          <p:nvPr/>
        </p:nvSpPr>
        <p:spPr>
          <a:xfrm>
            <a:off x="78105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807624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0" name="TextBox 89"/>
          <p:cNvSpPr txBox="1"/>
          <p:nvPr/>
        </p:nvSpPr>
        <p:spPr>
          <a:xfrm>
            <a:off x="836390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1" name="Rectangle 90"/>
          <p:cNvSpPr/>
          <p:nvPr/>
        </p:nvSpPr>
        <p:spPr>
          <a:xfrm>
            <a:off x="863917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2" name="TextBox 91"/>
          <p:cNvSpPr txBox="1"/>
          <p:nvPr/>
        </p:nvSpPr>
        <p:spPr>
          <a:xfrm>
            <a:off x="890492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3" name="TextBox 92"/>
          <p:cNvSpPr txBox="1"/>
          <p:nvPr/>
        </p:nvSpPr>
        <p:spPr>
          <a:xfrm>
            <a:off x="919257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4" name="Rectangle 93"/>
          <p:cNvSpPr/>
          <p:nvPr/>
        </p:nvSpPr>
        <p:spPr>
          <a:xfrm>
            <a:off x="946785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9733598"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6" name="TextBox 95"/>
          <p:cNvSpPr txBox="1"/>
          <p:nvPr/>
        </p:nvSpPr>
        <p:spPr>
          <a:xfrm>
            <a:off x="10021252"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97" name="Rectangle 96"/>
          <p:cNvSpPr/>
          <p:nvPr/>
        </p:nvSpPr>
        <p:spPr>
          <a:xfrm>
            <a:off x="10296525"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8" name="TextBox 97"/>
          <p:cNvSpPr txBox="1"/>
          <p:nvPr/>
        </p:nvSpPr>
        <p:spPr>
          <a:xfrm>
            <a:off x="10562272" y="22669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99" name="TextBox 98"/>
          <p:cNvSpPr txBox="1"/>
          <p:nvPr/>
        </p:nvSpPr>
        <p:spPr>
          <a:xfrm>
            <a:off x="10849928" y="22669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0" name="Rectangle 99"/>
          <p:cNvSpPr/>
          <p:nvPr/>
        </p:nvSpPr>
        <p:spPr>
          <a:xfrm>
            <a:off x="11125200" y="22669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11144250" y="22669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02" name="Rectangle 101"/>
          <p:cNvSpPr/>
          <p:nvPr/>
        </p:nvSpPr>
        <p:spPr>
          <a:xfrm>
            <a:off x="6191250" y="24955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6248400" y="24955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of value 2036</a:t>
            </a:r>
          </a:p>
        </p:txBody>
      </p:sp>
      <p:sp>
        <p:nvSpPr>
          <p:cNvPr id="104" name="Rectangle 103"/>
          <p:cNvSpPr/>
          <p:nvPr/>
        </p:nvSpPr>
        <p:spPr>
          <a:xfrm>
            <a:off x="78105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807624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6" name="TextBox 105"/>
          <p:cNvSpPr txBox="1"/>
          <p:nvPr/>
        </p:nvSpPr>
        <p:spPr>
          <a:xfrm>
            <a:off x="836390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07" name="Rectangle 106"/>
          <p:cNvSpPr/>
          <p:nvPr/>
        </p:nvSpPr>
        <p:spPr>
          <a:xfrm>
            <a:off x="863917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890492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09" name="TextBox 108"/>
          <p:cNvSpPr txBox="1"/>
          <p:nvPr/>
        </p:nvSpPr>
        <p:spPr>
          <a:xfrm>
            <a:off x="919257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0" name="Rectangle 109"/>
          <p:cNvSpPr/>
          <p:nvPr/>
        </p:nvSpPr>
        <p:spPr>
          <a:xfrm>
            <a:off x="946785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9733598"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2" name="TextBox 111"/>
          <p:cNvSpPr txBox="1"/>
          <p:nvPr/>
        </p:nvSpPr>
        <p:spPr>
          <a:xfrm>
            <a:off x="10021252"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3" name="Rectangle 112"/>
          <p:cNvSpPr/>
          <p:nvPr/>
        </p:nvSpPr>
        <p:spPr>
          <a:xfrm>
            <a:off x="10296525"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4" name="TextBox 113"/>
          <p:cNvSpPr txBox="1"/>
          <p:nvPr/>
        </p:nvSpPr>
        <p:spPr>
          <a:xfrm>
            <a:off x="10562272" y="2495550"/>
            <a:ext cx="29718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15" name="TextBox 114"/>
          <p:cNvSpPr txBox="1"/>
          <p:nvPr/>
        </p:nvSpPr>
        <p:spPr>
          <a:xfrm>
            <a:off x="10849928" y="24955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16" name="Rectangle 115"/>
          <p:cNvSpPr/>
          <p:nvPr/>
        </p:nvSpPr>
        <p:spPr>
          <a:xfrm>
            <a:off x="11125200" y="24955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11144250" y="24955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18" name="Rectangle 117"/>
          <p:cNvSpPr/>
          <p:nvPr/>
        </p:nvSpPr>
        <p:spPr>
          <a:xfrm>
            <a:off x="6191250" y="27241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6248400" y="27241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Share change (pp)</a:t>
            </a:r>
          </a:p>
        </p:txBody>
      </p:sp>
      <p:sp>
        <p:nvSpPr>
          <p:cNvPr id="120" name="Rectangle 119"/>
          <p:cNvSpPr/>
          <p:nvPr/>
        </p:nvSpPr>
        <p:spPr>
          <a:xfrm>
            <a:off x="78105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97528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2" name="TextBox 121"/>
          <p:cNvSpPr txBox="1"/>
          <p:nvPr/>
        </p:nvSpPr>
        <p:spPr>
          <a:xfrm>
            <a:off x="810863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3" name="Rectangle 122"/>
          <p:cNvSpPr/>
          <p:nvPr/>
        </p:nvSpPr>
        <p:spPr>
          <a:xfrm>
            <a:off x="863917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880395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5" name="TextBox 124"/>
          <p:cNvSpPr txBox="1"/>
          <p:nvPr/>
        </p:nvSpPr>
        <p:spPr>
          <a:xfrm>
            <a:off x="893730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6" name="Rectangle 125"/>
          <p:cNvSpPr/>
          <p:nvPr/>
        </p:nvSpPr>
        <p:spPr>
          <a:xfrm>
            <a:off x="946785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7" name="TextBox 126"/>
          <p:cNvSpPr txBox="1"/>
          <p:nvPr/>
        </p:nvSpPr>
        <p:spPr>
          <a:xfrm>
            <a:off x="9632632"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28" name="TextBox 127"/>
          <p:cNvSpPr txBox="1"/>
          <p:nvPr/>
        </p:nvSpPr>
        <p:spPr>
          <a:xfrm>
            <a:off x="9765982"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29" name="Rectangle 128"/>
          <p:cNvSpPr/>
          <p:nvPr/>
        </p:nvSpPr>
        <p:spPr>
          <a:xfrm>
            <a:off x="10296525"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0" name="TextBox 129"/>
          <p:cNvSpPr txBox="1"/>
          <p:nvPr/>
        </p:nvSpPr>
        <p:spPr>
          <a:xfrm>
            <a:off x="10461308" y="2724150"/>
            <a:ext cx="133350" cy="228600"/>
          </a:xfrm>
          <a:prstGeom prst="rect">
            <a:avLst/>
          </a:prstGeom>
          <a:noFill/>
        </p:spPr>
        <p:txBody>
          <a:bodyPr wrap="none" lIns="0" rIns="0" tIns="0" bIns="0" anchor="ctr">
            <a:spAutoFit/>
          </a:bodyPr>
          <a:lstStyle/>
          <a:p>
            <a:pPr algn="r"/>
            <a:r>
              <a:rPr sz="1100" b="0">
                <a:solidFill>
                  <a:srgbClr val="14213D"/>
                </a:solidFill>
                <a:latin typeface="Calibri"/>
              </a:rPr>
              <a:t>−</a:t>
            </a:r>
          </a:p>
        </p:txBody>
      </p:sp>
      <p:sp>
        <p:nvSpPr>
          <p:cNvPr id="131" name="TextBox 130"/>
          <p:cNvSpPr txBox="1"/>
          <p:nvPr/>
        </p:nvSpPr>
        <p:spPr>
          <a:xfrm>
            <a:off x="10594658" y="27241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2" name="Rectangle 131"/>
          <p:cNvSpPr/>
          <p:nvPr/>
        </p:nvSpPr>
        <p:spPr>
          <a:xfrm>
            <a:off x="11125200" y="27241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3" name="TextBox 132"/>
          <p:cNvSpPr txBox="1"/>
          <p:nvPr/>
        </p:nvSpPr>
        <p:spPr>
          <a:xfrm>
            <a:off x="11144250" y="27241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34" name="Rectangle 133"/>
          <p:cNvSpPr/>
          <p:nvPr/>
        </p:nvSpPr>
        <p:spPr>
          <a:xfrm>
            <a:off x="6191250" y="29527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TextBox 134"/>
          <p:cNvSpPr txBox="1"/>
          <p:nvPr/>
        </p:nvSpPr>
        <p:spPr>
          <a:xfrm>
            <a:off x="6248400" y="29527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CAGR 2026–2036</a:t>
            </a:r>
          </a:p>
        </p:txBody>
      </p:sp>
      <p:sp>
        <p:nvSpPr>
          <p:cNvPr id="136" name="Rectangle 135"/>
          <p:cNvSpPr/>
          <p:nvPr/>
        </p:nvSpPr>
        <p:spPr>
          <a:xfrm>
            <a:off x="78105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810863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38" name="TextBox 137"/>
          <p:cNvSpPr txBox="1"/>
          <p:nvPr/>
        </p:nvSpPr>
        <p:spPr>
          <a:xfrm>
            <a:off x="833151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39" name="Rectangle 138"/>
          <p:cNvSpPr/>
          <p:nvPr/>
        </p:nvSpPr>
        <p:spPr>
          <a:xfrm>
            <a:off x="863917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TextBox 139"/>
          <p:cNvSpPr txBox="1"/>
          <p:nvPr/>
        </p:nvSpPr>
        <p:spPr>
          <a:xfrm>
            <a:off x="893730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1" name="TextBox 140"/>
          <p:cNvSpPr txBox="1"/>
          <p:nvPr/>
        </p:nvSpPr>
        <p:spPr>
          <a:xfrm>
            <a:off x="916019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2" name="Rectangle 141"/>
          <p:cNvSpPr/>
          <p:nvPr/>
        </p:nvSpPr>
        <p:spPr>
          <a:xfrm>
            <a:off x="946785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3" name="TextBox 142"/>
          <p:cNvSpPr txBox="1"/>
          <p:nvPr/>
        </p:nvSpPr>
        <p:spPr>
          <a:xfrm>
            <a:off x="9765982"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4" name="TextBox 143"/>
          <p:cNvSpPr txBox="1"/>
          <p:nvPr/>
        </p:nvSpPr>
        <p:spPr>
          <a:xfrm>
            <a:off x="9988868"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5" name="Rectangle 144"/>
          <p:cNvSpPr/>
          <p:nvPr/>
        </p:nvSpPr>
        <p:spPr>
          <a:xfrm>
            <a:off x="10296525"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6" name="TextBox 145"/>
          <p:cNvSpPr txBox="1"/>
          <p:nvPr/>
        </p:nvSpPr>
        <p:spPr>
          <a:xfrm>
            <a:off x="10594658" y="2952750"/>
            <a:ext cx="232410" cy="22860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47" name="TextBox 146"/>
          <p:cNvSpPr txBox="1"/>
          <p:nvPr/>
        </p:nvSpPr>
        <p:spPr>
          <a:xfrm>
            <a:off x="10817542" y="2952750"/>
            <a:ext cx="133350" cy="22860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48" name="Rectangle 147"/>
          <p:cNvSpPr/>
          <p:nvPr/>
        </p:nvSpPr>
        <p:spPr>
          <a:xfrm>
            <a:off x="11125200" y="29527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11423332" y="2952750"/>
            <a:ext cx="232410" cy="228600"/>
          </a:xfrm>
          <a:prstGeom prst="rect">
            <a:avLst/>
          </a:prstGeom>
          <a:noFill/>
        </p:spPr>
        <p:txBody>
          <a:bodyPr wrap="none" lIns="0" rIns="0" tIns="0" bIns="0" anchor="ctr">
            <a:spAutoFit/>
          </a:bodyPr>
          <a:lstStyle/>
          <a:p>
            <a:pPr algn="ctr"/>
            <a:r>
              <a:rPr sz="1100" b="1">
                <a:solidFill>
                  <a:srgbClr val="14213D"/>
                </a:solidFill>
                <a:latin typeface="Calibri"/>
              </a:rPr>
              <a:t> </a:t>
            </a:r>
          </a:p>
        </p:txBody>
      </p:sp>
      <p:sp>
        <p:nvSpPr>
          <p:cNvPr id="150" name="TextBox 149"/>
          <p:cNvSpPr txBox="1"/>
          <p:nvPr/>
        </p:nvSpPr>
        <p:spPr>
          <a:xfrm>
            <a:off x="11646218" y="2952750"/>
            <a:ext cx="133350" cy="228600"/>
          </a:xfrm>
          <a:prstGeom prst="rect">
            <a:avLst/>
          </a:prstGeom>
          <a:noFill/>
        </p:spPr>
        <p:txBody>
          <a:bodyPr wrap="none" lIns="0" rIns="0" tIns="0" bIns="0" anchor="ctr">
            <a:spAutoFit/>
          </a:bodyPr>
          <a:lstStyle/>
          <a:p>
            <a:pPr algn="l"/>
            <a:r>
              <a:rPr sz="1100" b="1">
                <a:solidFill>
                  <a:srgbClr val="14213D"/>
                </a:solidFill>
                <a:latin typeface="Calibri"/>
              </a:rPr>
              <a:t>%</a:t>
            </a:r>
          </a:p>
        </p:txBody>
      </p:sp>
      <p:sp>
        <p:nvSpPr>
          <p:cNvPr id="151" name="Rectangle 150"/>
          <p:cNvSpPr/>
          <p:nvPr/>
        </p:nvSpPr>
        <p:spPr>
          <a:xfrm>
            <a:off x="6191250" y="3181350"/>
            <a:ext cx="1619250" cy="22860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2" name="TextBox 151"/>
          <p:cNvSpPr txBox="1"/>
          <p:nvPr/>
        </p:nvSpPr>
        <p:spPr>
          <a:xfrm>
            <a:off x="6248400" y="3181350"/>
            <a:ext cx="1543050" cy="22860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Avg / player (US$ Mn)</a:t>
            </a:r>
          </a:p>
        </p:txBody>
      </p:sp>
      <p:sp>
        <p:nvSpPr>
          <p:cNvPr id="153" name="Rectangle 152"/>
          <p:cNvSpPr/>
          <p:nvPr/>
        </p:nvSpPr>
        <p:spPr>
          <a:xfrm>
            <a:off x="78105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4" name="TextBox 153"/>
          <p:cNvSpPr txBox="1"/>
          <p:nvPr/>
        </p:nvSpPr>
        <p:spPr>
          <a:xfrm>
            <a:off x="782955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5" name="Rectangle 154"/>
          <p:cNvSpPr/>
          <p:nvPr/>
        </p:nvSpPr>
        <p:spPr>
          <a:xfrm>
            <a:off x="863917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6" name="TextBox 155"/>
          <p:cNvSpPr txBox="1"/>
          <p:nvPr/>
        </p:nvSpPr>
        <p:spPr>
          <a:xfrm>
            <a:off x="865822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7" name="Rectangle 156"/>
          <p:cNvSpPr/>
          <p:nvPr/>
        </p:nvSpPr>
        <p:spPr>
          <a:xfrm>
            <a:off x="946785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8" name="TextBox 157"/>
          <p:cNvSpPr txBox="1"/>
          <p:nvPr/>
        </p:nvSpPr>
        <p:spPr>
          <a:xfrm>
            <a:off x="9486900"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 </a:t>
            </a:r>
          </a:p>
        </p:txBody>
      </p:sp>
      <p:sp>
        <p:nvSpPr>
          <p:cNvPr id="159" name="Rectangle 158"/>
          <p:cNvSpPr/>
          <p:nvPr/>
        </p:nvSpPr>
        <p:spPr>
          <a:xfrm>
            <a:off x="10296525"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0" name="TextBox 159"/>
          <p:cNvSpPr txBox="1"/>
          <p:nvPr/>
        </p:nvSpPr>
        <p:spPr>
          <a:xfrm>
            <a:off x="10315575" y="3181350"/>
            <a:ext cx="790575" cy="228600"/>
          </a:xfrm>
          <a:prstGeom prst="rect">
            <a:avLst/>
          </a:prstGeom>
          <a:noFill/>
        </p:spPr>
        <p:txBody>
          <a:bodyPr wrap="square" lIns="28575" rIns="28575" tIns="9525" bIns="9525" anchor="ctr">
            <a:spAutoFit/>
          </a:bodyPr>
          <a:lstStyle/>
          <a:p>
            <a:pPr algn="ctr"/>
            <a:r>
              <a:rPr sz="1100" b="0">
                <a:solidFill>
                  <a:srgbClr val="14213D"/>
                </a:solidFill>
                <a:latin typeface="Calibri"/>
              </a:rPr>
              <a:t>–</a:t>
            </a:r>
          </a:p>
        </p:txBody>
      </p:sp>
      <p:sp>
        <p:nvSpPr>
          <p:cNvPr id="161" name="Rectangle 160"/>
          <p:cNvSpPr/>
          <p:nvPr/>
        </p:nvSpPr>
        <p:spPr>
          <a:xfrm>
            <a:off x="11125200" y="3181350"/>
            <a:ext cx="828675" cy="22860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2" name="TextBox 161"/>
          <p:cNvSpPr txBox="1"/>
          <p:nvPr/>
        </p:nvSpPr>
        <p:spPr>
          <a:xfrm>
            <a:off x="11144250" y="3181350"/>
            <a:ext cx="790575" cy="228600"/>
          </a:xfrm>
          <a:prstGeom prst="rect">
            <a:avLst/>
          </a:prstGeom>
          <a:noFill/>
        </p:spPr>
        <p:txBody>
          <a:bodyPr wrap="square" lIns="28575" rIns="28575" tIns="9525" bIns="9525" anchor="ctr">
            <a:spAutoFit/>
          </a:bodyPr>
          <a:lstStyle/>
          <a:p>
            <a:pPr algn="ctr"/>
            <a:r>
              <a:rPr sz="1100" b="1">
                <a:solidFill>
                  <a:srgbClr val="14213D"/>
                </a:solidFill>
                <a:latin typeface="Calibri"/>
              </a:rPr>
              <a:t>–</a:t>
            </a:r>
          </a:p>
        </p:txBody>
      </p:sp>
      <p:sp>
        <p:nvSpPr>
          <p:cNvPr id="163" name="Rectangle 162"/>
          <p:cNvSpPr/>
          <p:nvPr/>
        </p:nvSpPr>
        <p:spPr>
          <a:xfrm>
            <a:off x="6191250" y="34099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TextBox 163"/>
          <p:cNvSpPr txBox="1"/>
          <p:nvPr/>
        </p:nvSpPr>
        <p:spPr>
          <a:xfrm>
            <a:off x="6248400" y="34099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Installed base share (units)</a:t>
            </a:r>
          </a:p>
        </p:txBody>
      </p:sp>
      <p:sp>
        <p:nvSpPr>
          <p:cNvPr id="165" name="Rectangle 164"/>
          <p:cNvSpPr/>
          <p:nvPr/>
        </p:nvSpPr>
        <p:spPr>
          <a:xfrm>
            <a:off x="78105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807624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67" name="TextBox 166"/>
          <p:cNvSpPr txBox="1"/>
          <p:nvPr/>
        </p:nvSpPr>
        <p:spPr>
          <a:xfrm>
            <a:off x="836390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68" name="Rectangle 167"/>
          <p:cNvSpPr/>
          <p:nvPr/>
        </p:nvSpPr>
        <p:spPr>
          <a:xfrm>
            <a:off x="863917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TextBox 168"/>
          <p:cNvSpPr txBox="1"/>
          <p:nvPr/>
        </p:nvSpPr>
        <p:spPr>
          <a:xfrm>
            <a:off x="890492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0" name="TextBox 169"/>
          <p:cNvSpPr txBox="1"/>
          <p:nvPr/>
        </p:nvSpPr>
        <p:spPr>
          <a:xfrm>
            <a:off x="919257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1" name="Rectangle 170"/>
          <p:cNvSpPr/>
          <p:nvPr/>
        </p:nvSpPr>
        <p:spPr>
          <a:xfrm>
            <a:off x="946785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2" name="TextBox 171"/>
          <p:cNvSpPr txBox="1"/>
          <p:nvPr/>
        </p:nvSpPr>
        <p:spPr>
          <a:xfrm>
            <a:off x="9733598"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3" name="TextBox 172"/>
          <p:cNvSpPr txBox="1"/>
          <p:nvPr/>
        </p:nvSpPr>
        <p:spPr>
          <a:xfrm>
            <a:off x="10021252"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4" name="Rectangle 173"/>
          <p:cNvSpPr/>
          <p:nvPr/>
        </p:nvSpPr>
        <p:spPr>
          <a:xfrm>
            <a:off x="10296525"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5" name="TextBox 174"/>
          <p:cNvSpPr txBox="1"/>
          <p:nvPr/>
        </p:nvSpPr>
        <p:spPr>
          <a:xfrm>
            <a:off x="10562272" y="3409950"/>
            <a:ext cx="297180" cy="323850"/>
          </a:xfrm>
          <a:prstGeom prst="rect">
            <a:avLst/>
          </a:prstGeom>
          <a:noFill/>
        </p:spPr>
        <p:txBody>
          <a:bodyPr wrap="none" lIns="0" rIns="0" tIns="0" bIns="0" anchor="ctr">
            <a:spAutoFit/>
          </a:bodyPr>
          <a:lstStyle/>
          <a:p>
            <a:pPr algn="ctr"/>
            <a:r>
              <a:rPr sz="1100" b="0">
                <a:solidFill>
                  <a:srgbClr val="14213D"/>
                </a:solidFill>
                <a:latin typeface="Calibri"/>
              </a:rPr>
              <a:t> </a:t>
            </a:r>
          </a:p>
        </p:txBody>
      </p:sp>
      <p:sp>
        <p:nvSpPr>
          <p:cNvPr id="176" name="TextBox 175"/>
          <p:cNvSpPr txBox="1"/>
          <p:nvPr/>
        </p:nvSpPr>
        <p:spPr>
          <a:xfrm>
            <a:off x="10849928" y="3409950"/>
            <a:ext cx="133350" cy="323850"/>
          </a:xfrm>
          <a:prstGeom prst="rect">
            <a:avLst/>
          </a:prstGeom>
          <a:noFill/>
        </p:spPr>
        <p:txBody>
          <a:bodyPr wrap="none" lIns="0" rIns="0" tIns="0" bIns="0" anchor="ctr">
            <a:spAutoFit/>
          </a:bodyPr>
          <a:lstStyle/>
          <a:p>
            <a:pPr algn="l"/>
            <a:r>
              <a:rPr sz="1100" b="0">
                <a:solidFill>
                  <a:srgbClr val="14213D"/>
                </a:solidFill>
                <a:latin typeface="Calibri"/>
              </a:rPr>
              <a:t>%</a:t>
            </a:r>
          </a:p>
        </p:txBody>
      </p:sp>
      <p:sp>
        <p:nvSpPr>
          <p:cNvPr id="177" name="Rectangle 176"/>
          <p:cNvSpPr/>
          <p:nvPr/>
        </p:nvSpPr>
        <p:spPr>
          <a:xfrm>
            <a:off x="11125200" y="34099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11144250" y="3409950"/>
            <a:ext cx="790575" cy="323850"/>
          </a:xfrm>
          <a:prstGeom prst="rect">
            <a:avLst/>
          </a:prstGeom>
          <a:noFill/>
        </p:spPr>
        <p:txBody>
          <a:bodyPr wrap="square" lIns="28575" rIns="28575" tIns="9525" bIns="9525" anchor="ctr">
            <a:spAutoFit/>
          </a:bodyPr>
          <a:lstStyle/>
          <a:p>
            <a:pPr algn="ctr"/>
            <a:r>
              <a:rPr sz="1100" b="1">
                <a:solidFill>
                  <a:srgbClr val="14213D"/>
                </a:solidFill>
                <a:latin typeface="Calibri"/>
              </a:rPr>
              <a:t>100%</a:t>
            </a:r>
          </a:p>
        </p:txBody>
      </p:sp>
      <p:sp>
        <p:nvSpPr>
          <p:cNvPr id="179" name="Rectangle 178"/>
          <p:cNvSpPr/>
          <p:nvPr/>
        </p:nvSpPr>
        <p:spPr>
          <a:xfrm>
            <a:off x="6191250" y="37338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248400" y="37338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Price positioning</a:t>
            </a:r>
          </a:p>
        </p:txBody>
      </p:sp>
      <p:sp>
        <p:nvSpPr>
          <p:cNvPr id="181" name="Rectangle 180"/>
          <p:cNvSpPr/>
          <p:nvPr/>
        </p:nvSpPr>
        <p:spPr>
          <a:xfrm>
            <a:off x="78105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782955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Premium</a:t>
            </a:r>
          </a:p>
        </p:txBody>
      </p:sp>
      <p:sp>
        <p:nvSpPr>
          <p:cNvPr id="183" name="Rectangle 182"/>
          <p:cNvSpPr/>
          <p:nvPr/>
        </p:nvSpPr>
        <p:spPr>
          <a:xfrm>
            <a:off x="863917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865822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Mid / value</a:t>
            </a:r>
          </a:p>
        </p:txBody>
      </p:sp>
      <p:sp>
        <p:nvSpPr>
          <p:cNvPr id="185" name="Rectangle 184"/>
          <p:cNvSpPr/>
          <p:nvPr/>
        </p:nvSpPr>
        <p:spPr>
          <a:xfrm>
            <a:off x="946785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9486900"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Value / entry</a:t>
            </a:r>
          </a:p>
        </p:txBody>
      </p:sp>
      <p:sp>
        <p:nvSpPr>
          <p:cNvPr id="187" name="Rectangle 186"/>
          <p:cNvSpPr/>
          <p:nvPr/>
        </p:nvSpPr>
        <p:spPr>
          <a:xfrm>
            <a:off x="10296525"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8" name="TextBox 187"/>
          <p:cNvSpPr txBox="1"/>
          <p:nvPr/>
        </p:nvSpPr>
        <p:spPr>
          <a:xfrm>
            <a:off x="10315575" y="37338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Mixed</a:t>
            </a:r>
          </a:p>
        </p:txBody>
      </p:sp>
      <p:sp>
        <p:nvSpPr>
          <p:cNvPr id="189" name="Rectangle 188"/>
          <p:cNvSpPr/>
          <p:nvPr/>
        </p:nvSpPr>
        <p:spPr>
          <a:xfrm>
            <a:off x="11125200" y="37338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0" name="TextBox 189"/>
          <p:cNvSpPr txBox="1"/>
          <p:nvPr/>
        </p:nvSpPr>
        <p:spPr>
          <a:xfrm>
            <a:off x="11144250" y="37338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191" name="Rectangle 190"/>
          <p:cNvSpPr/>
          <p:nvPr/>
        </p:nvSpPr>
        <p:spPr>
          <a:xfrm>
            <a:off x="6191250" y="40576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2" name="TextBox 191"/>
          <p:cNvSpPr txBox="1"/>
          <p:nvPr/>
        </p:nvSpPr>
        <p:spPr>
          <a:xfrm>
            <a:off x="6248400" y="40576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Route-to-market</a:t>
            </a:r>
          </a:p>
        </p:txBody>
      </p:sp>
      <p:sp>
        <p:nvSpPr>
          <p:cNvPr id="193" name="Rectangle 192"/>
          <p:cNvSpPr/>
          <p:nvPr/>
        </p:nvSpPr>
        <p:spPr>
          <a:xfrm>
            <a:off x="78105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TextBox 193"/>
          <p:cNvSpPr txBox="1"/>
          <p:nvPr/>
        </p:nvSpPr>
        <p:spPr>
          <a:xfrm>
            <a:off x="782955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Direct / key accounts</a:t>
            </a:r>
          </a:p>
        </p:txBody>
      </p:sp>
      <p:sp>
        <p:nvSpPr>
          <p:cNvPr id="195" name="Rectangle 194"/>
          <p:cNvSpPr/>
          <p:nvPr/>
        </p:nvSpPr>
        <p:spPr>
          <a:xfrm>
            <a:off x="863917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6" name="TextBox 195"/>
          <p:cNvSpPr txBox="1"/>
          <p:nvPr/>
        </p:nvSpPr>
        <p:spPr>
          <a:xfrm>
            <a:off x="865822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Distributors</a:t>
            </a:r>
          </a:p>
        </p:txBody>
      </p:sp>
      <p:sp>
        <p:nvSpPr>
          <p:cNvPr id="197" name="Rectangle 196"/>
          <p:cNvSpPr/>
          <p:nvPr/>
        </p:nvSpPr>
        <p:spPr>
          <a:xfrm>
            <a:off x="946785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TextBox 197"/>
          <p:cNvSpPr txBox="1"/>
          <p:nvPr/>
        </p:nvSpPr>
        <p:spPr>
          <a:xfrm>
            <a:off x="9486900"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Regional partners</a:t>
            </a:r>
          </a:p>
        </p:txBody>
      </p:sp>
      <p:sp>
        <p:nvSpPr>
          <p:cNvPr id="199" name="Rectangle 198"/>
          <p:cNvSpPr/>
          <p:nvPr/>
        </p:nvSpPr>
        <p:spPr>
          <a:xfrm>
            <a:off x="10296525"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10315575" y="405765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Local / online</a:t>
            </a:r>
          </a:p>
        </p:txBody>
      </p:sp>
      <p:sp>
        <p:nvSpPr>
          <p:cNvPr id="201" name="Rectangle 200"/>
          <p:cNvSpPr/>
          <p:nvPr/>
        </p:nvSpPr>
        <p:spPr>
          <a:xfrm>
            <a:off x="11125200" y="40576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2" name="TextBox 201"/>
          <p:cNvSpPr txBox="1"/>
          <p:nvPr/>
        </p:nvSpPr>
        <p:spPr>
          <a:xfrm>
            <a:off x="11144250" y="40576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03" name="Rectangle 202"/>
          <p:cNvSpPr/>
          <p:nvPr/>
        </p:nvSpPr>
        <p:spPr>
          <a:xfrm>
            <a:off x="6191250" y="438150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4" name="TextBox 203"/>
          <p:cNvSpPr txBox="1"/>
          <p:nvPr/>
        </p:nvSpPr>
        <p:spPr>
          <a:xfrm>
            <a:off x="6248400" y="438150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Portfolio breadth</a:t>
            </a:r>
          </a:p>
        </p:txBody>
      </p:sp>
      <p:sp>
        <p:nvSpPr>
          <p:cNvPr id="205" name="Rectangle 204"/>
          <p:cNvSpPr/>
          <p:nvPr/>
        </p:nvSpPr>
        <p:spPr>
          <a:xfrm>
            <a:off x="78105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6" name="TextBox 205"/>
          <p:cNvSpPr txBox="1"/>
          <p:nvPr/>
        </p:nvSpPr>
        <p:spPr>
          <a:xfrm>
            <a:off x="782955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Full portfolio</a:t>
            </a:r>
          </a:p>
        </p:txBody>
      </p:sp>
      <p:sp>
        <p:nvSpPr>
          <p:cNvPr id="207" name="Rectangle 206"/>
          <p:cNvSpPr/>
          <p:nvPr/>
        </p:nvSpPr>
        <p:spPr>
          <a:xfrm>
            <a:off x="863917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8" name="TextBox 207"/>
          <p:cNvSpPr txBox="1"/>
          <p:nvPr/>
        </p:nvSpPr>
        <p:spPr>
          <a:xfrm>
            <a:off x="865822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2–3 core lines</a:t>
            </a:r>
          </a:p>
        </p:txBody>
      </p:sp>
      <p:sp>
        <p:nvSpPr>
          <p:cNvPr id="209" name="Rectangle 208"/>
          <p:cNvSpPr/>
          <p:nvPr/>
        </p:nvSpPr>
        <p:spPr>
          <a:xfrm>
            <a:off x="946785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0" name="TextBox 209"/>
          <p:cNvSpPr txBox="1"/>
          <p:nvPr/>
        </p:nvSpPr>
        <p:spPr>
          <a:xfrm>
            <a:off x="9486900"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Single line</a:t>
            </a:r>
          </a:p>
        </p:txBody>
      </p:sp>
      <p:sp>
        <p:nvSpPr>
          <p:cNvPr id="211" name="Rectangle 210"/>
          <p:cNvSpPr/>
          <p:nvPr/>
        </p:nvSpPr>
        <p:spPr>
          <a:xfrm>
            <a:off x="10296525"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2" name="TextBox 211"/>
          <p:cNvSpPr txBox="1"/>
          <p:nvPr/>
        </p:nvSpPr>
        <p:spPr>
          <a:xfrm>
            <a:off x="10315575" y="4381500"/>
            <a:ext cx="790575" cy="323850"/>
          </a:xfrm>
          <a:prstGeom prst="rect">
            <a:avLst/>
          </a:prstGeom>
          <a:noFill/>
        </p:spPr>
        <p:txBody>
          <a:bodyPr wrap="square" lIns="28575" rIns="28575" tIns="9525" bIns="9525" anchor="ctr">
            <a:spAutoFit/>
          </a:bodyPr>
          <a:lstStyle/>
          <a:p>
            <a:pPr algn="ctr">
              <a:lnSpc>
                <a:spcPct val="115000"/>
              </a:lnSpc>
            </a:pPr>
            <a:r>
              <a:rPr sz="1100" b="0">
                <a:solidFill>
                  <a:srgbClr val="14213D"/>
                </a:solidFill>
                <a:latin typeface="Calibri"/>
              </a:rPr>
              <a:t>Niche</a:t>
            </a:r>
          </a:p>
        </p:txBody>
      </p:sp>
      <p:sp>
        <p:nvSpPr>
          <p:cNvPr id="213" name="Rectangle 212"/>
          <p:cNvSpPr/>
          <p:nvPr/>
        </p:nvSpPr>
        <p:spPr>
          <a:xfrm>
            <a:off x="11125200" y="438150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4" name="TextBox 213"/>
          <p:cNvSpPr txBox="1"/>
          <p:nvPr/>
        </p:nvSpPr>
        <p:spPr>
          <a:xfrm>
            <a:off x="11144250" y="438150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15" name="Rectangle 214"/>
          <p:cNvSpPr/>
          <p:nvPr/>
        </p:nvSpPr>
        <p:spPr>
          <a:xfrm>
            <a:off x="6191250" y="4705350"/>
            <a:ext cx="1619250" cy="323850"/>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6" name="TextBox 215"/>
          <p:cNvSpPr txBox="1"/>
          <p:nvPr/>
        </p:nvSpPr>
        <p:spPr>
          <a:xfrm>
            <a:off x="6248400" y="4705350"/>
            <a:ext cx="1543050" cy="323850"/>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Strategic posture</a:t>
            </a:r>
          </a:p>
        </p:txBody>
      </p:sp>
      <p:sp>
        <p:nvSpPr>
          <p:cNvPr id="217" name="Rectangle 216"/>
          <p:cNvSpPr/>
          <p:nvPr/>
        </p:nvSpPr>
        <p:spPr>
          <a:xfrm>
            <a:off x="781050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8" name="TextBox 217"/>
          <p:cNvSpPr txBox="1"/>
          <p:nvPr/>
        </p:nvSpPr>
        <p:spPr>
          <a:xfrm>
            <a:off x="78295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Defend &amp; bundle</a:t>
            </a:r>
          </a:p>
        </p:txBody>
      </p:sp>
      <p:sp>
        <p:nvSpPr>
          <p:cNvPr id="219" name="Rectangle 218"/>
          <p:cNvSpPr/>
          <p:nvPr/>
        </p:nvSpPr>
        <p:spPr>
          <a:xfrm>
            <a:off x="863917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0" name="TextBox 219"/>
          <p:cNvSpPr txBox="1"/>
          <p:nvPr/>
        </p:nvSpPr>
        <p:spPr>
          <a:xfrm>
            <a:off x="865822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Niche deepening</a:t>
            </a:r>
          </a:p>
        </p:txBody>
      </p:sp>
      <p:sp>
        <p:nvSpPr>
          <p:cNvPr id="221" name="Rectangle 220"/>
          <p:cNvSpPr/>
          <p:nvPr/>
        </p:nvSpPr>
        <p:spPr>
          <a:xfrm>
            <a:off x="9467850"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TextBox 221"/>
          <p:cNvSpPr txBox="1"/>
          <p:nvPr/>
        </p:nvSpPr>
        <p:spPr>
          <a:xfrm>
            <a:off x="948690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Scale-up or exit</a:t>
            </a:r>
          </a:p>
        </p:txBody>
      </p:sp>
      <p:sp>
        <p:nvSpPr>
          <p:cNvPr id="223" name="Rectangle 222"/>
          <p:cNvSpPr/>
          <p:nvPr/>
        </p:nvSpPr>
        <p:spPr>
          <a:xfrm>
            <a:off x="10296525" y="4705350"/>
            <a:ext cx="828675" cy="323850"/>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10315575"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Long-tail</a:t>
            </a:r>
          </a:p>
        </p:txBody>
      </p:sp>
      <p:sp>
        <p:nvSpPr>
          <p:cNvPr id="225" name="Rectangle 224"/>
          <p:cNvSpPr/>
          <p:nvPr/>
        </p:nvSpPr>
        <p:spPr>
          <a:xfrm>
            <a:off x="11125200" y="4705350"/>
            <a:ext cx="828675" cy="323850"/>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6" name="TextBox 225"/>
          <p:cNvSpPr txBox="1"/>
          <p:nvPr/>
        </p:nvSpPr>
        <p:spPr>
          <a:xfrm>
            <a:off x="11144250" y="4705350"/>
            <a:ext cx="790575" cy="32385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a:t>
            </a:r>
          </a:p>
        </p:txBody>
      </p:sp>
      <p:sp>
        <p:nvSpPr>
          <p:cNvPr id="227" name="Rounded Rectangle 226"/>
          <p:cNvSpPr/>
          <p:nvPr/>
        </p:nvSpPr>
        <p:spPr>
          <a:xfrm>
            <a:off x="6096000" y="5162550"/>
            <a:ext cx="5953125" cy="1466850"/>
          </a:xfrm>
          <a:prstGeom prst="roundRect">
            <a:avLst>
              <a:gd name="adj" fmla="val 128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TextBox 227"/>
          <p:cNvSpPr txBox="1"/>
          <p:nvPr/>
        </p:nvSpPr>
        <p:spPr>
          <a:xfrm>
            <a:off x="6191250" y="5219700"/>
            <a:ext cx="5762625"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229" name="TextBox 228"/>
          <p:cNvSpPr txBox="1"/>
          <p:nvPr/>
        </p:nvSpPr>
        <p:spPr>
          <a:xfrm>
            <a:off x="6210300" y="5467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0" name="TextBox 229"/>
          <p:cNvSpPr txBox="1"/>
          <p:nvPr/>
        </p:nvSpPr>
        <p:spPr>
          <a:xfrm>
            <a:off x="6343650" y="5467350"/>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1" name="TextBox 230"/>
          <p:cNvSpPr txBox="1"/>
          <p:nvPr/>
        </p:nvSpPr>
        <p:spPr>
          <a:xfrm>
            <a:off x="6210300" y="58483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2" name="TextBox 231"/>
          <p:cNvSpPr txBox="1"/>
          <p:nvPr/>
        </p:nvSpPr>
        <p:spPr>
          <a:xfrm>
            <a:off x="6343650" y="5848350"/>
            <a:ext cx="5591175" cy="37147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3" name="TextBox 232"/>
          <p:cNvSpPr txBox="1"/>
          <p:nvPr/>
        </p:nvSpPr>
        <p:spPr>
          <a:xfrm>
            <a:off x="6210300" y="60674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234" name="TextBox 233"/>
          <p:cNvSpPr txBox="1"/>
          <p:nvPr/>
        </p:nvSpPr>
        <p:spPr>
          <a:xfrm>
            <a:off x="6343650" y="6067425"/>
            <a:ext cx="5591175"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235" name="TextBox 234"/>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236" name="Picture 235" descr="lock.png"/>
          <p:cNvPicPr>
            <a:picLocks noChangeAspect="1"/>
          </p:cNvPicPr>
          <p:nvPr/>
        </p:nvPicPr>
        <p:blipFill>
          <a:blip r:embed="rId4"/>
          <a:stretch>
            <a:fillRect/>
          </a:stretch>
        </p:blipFill>
        <p:spPr>
          <a:xfrm>
            <a:off x="1631100" y="1620901"/>
            <a:ext cx="128699" cy="187198"/>
          </a:xfrm>
          <a:prstGeom prst="rect">
            <a:avLst/>
          </a:prstGeom>
        </p:spPr>
      </p:pic>
      <p:pic>
        <p:nvPicPr>
          <p:cNvPr id="237" name="Picture 236" descr="lock.png"/>
          <p:cNvPicPr>
            <a:picLocks noChangeAspect="1"/>
          </p:cNvPicPr>
          <p:nvPr/>
        </p:nvPicPr>
        <p:blipFill>
          <a:blip r:embed="rId4"/>
          <a:stretch>
            <a:fillRect/>
          </a:stretch>
        </p:blipFill>
        <p:spPr>
          <a:xfrm>
            <a:off x="1631100" y="2478151"/>
            <a:ext cx="128699" cy="187198"/>
          </a:xfrm>
          <a:prstGeom prst="rect">
            <a:avLst/>
          </a:prstGeom>
        </p:spPr>
      </p:pic>
      <p:pic>
        <p:nvPicPr>
          <p:cNvPr id="238" name="Picture 237" descr="lock.png"/>
          <p:cNvPicPr>
            <a:picLocks noChangeAspect="1"/>
          </p:cNvPicPr>
          <p:nvPr/>
        </p:nvPicPr>
        <p:blipFill>
          <a:blip r:embed="rId4"/>
          <a:stretch>
            <a:fillRect/>
          </a:stretch>
        </p:blipFill>
        <p:spPr>
          <a:xfrm>
            <a:off x="1631100" y="3335401"/>
            <a:ext cx="128699" cy="187198"/>
          </a:xfrm>
          <a:prstGeom prst="rect">
            <a:avLst/>
          </a:prstGeom>
        </p:spPr>
      </p:pic>
      <p:pic>
        <p:nvPicPr>
          <p:cNvPr id="239" name="Picture 238" descr="lock.png"/>
          <p:cNvPicPr>
            <a:picLocks noChangeAspect="1"/>
          </p:cNvPicPr>
          <p:nvPr/>
        </p:nvPicPr>
        <p:blipFill>
          <a:blip r:embed="rId4"/>
          <a:stretch>
            <a:fillRect/>
          </a:stretch>
        </p:blipFill>
        <p:spPr>
          <a:xfrm>
            <a:off x="1631100" y="4192651"/>
            <a:ext cx="128699" cy="187198"/>
          </a:xfrm>
          <a:prstGeom prst="rect">
            <a:avLst/>
          </a:prstGeom>
        </p:spPr>
      </p:pic>
      <p:pic>
        <p:nvPicPr>
          <p:cNvPr id="240" name="Picture 239" descr="lock.png"/>
          <p:cNvPicPr>
            <a:picLocks noChangeAspect="1"/>
          </p:cNvPicPr>
          <p:nvPr/>
        </p:nvPicPr>
        <p:blipFill>
          <a:blip r:embed="rId4"/>
          <a:stretch>
            <a:fillRect/>
          </a:stretch>
        </p:blipFill>
        <p:spPr>
          <a:xfrm>
            <a:off x="11475188" y="1830451"/>
            <a:ext cx="128699" cy="187198"/>
          </a:xfrm>
          <a:prstGeom prst="rect">
            <a:avLst/>
          </a:prstGeom>
        </p:spPr>
      </p:pic>
      <p:pic>
        <p:nvPicPr>
          <p:cNvPr id="241" name="Picture 240" descr="lock.png"/>
          <p:cNvPicPr>
            <a:picLocks noChangeAspect="1"/>
          </p:cNvPicPr>
          <p:nvPr/>
        </p:nvPicPr>
        <p:blipFill>
          <a:blip r:embed="rId4"/>
          <a:stretch>
            <a:fillRect/>
          </a:stretch>
        </p:blipFill>
        <p:spPr>
          <a:xfrm>
            <a:off x="8160488" y="2059051"/>
            <a:ext cx="128699" cy="187198"/>
          </a:xfrm>
          <a:prstGeom prst="rect">
            <a:avLst/>
          </a:prstGeom>
        </p:spPr>
      </p:pic>
      <p:pic>
        <p:nvPicPr>
          <p:cNvPr id="242" name="Picture 241" descr="lock.png"/>
          <p:cNvPicPr>
            <a:picLocks noChangeAspect="1"/>
          </p:cNvPicPr>
          <p:nvPr/>
        </p:nvPicPr>
        <p:blipFill>
          <a:blip r:embed="rId4"/>
          <a:stretch>
            <a:fillRect/>
          </a:stretch>
        </p:blipFill>
        <p:spPr>
          <a:xfrm>
            <a:off x="8989163" y="2059051"/>
            <a:ext cx="128699" cy="187198"/>
          </a:xfrm>
          <a:prstGeom prst="rect">
            <a:avLst/>
          </a:prstGeom>
        </p:spPr>
      </p:pic>
      <p:pic>
        <p:nvPicPr>
          <p:cNvPr id="243" name="Picture 242" descr="lock.png"/>
          <p:cNvPicPr>
            <a:picLocks noChangeAspect="1"/>
          </p:cNvPicPr>
          <p:nvPr/>
        </p:nvPicPr>
        <p:blipFill>
          <a:blip r:embed="rId4"/>
          <a:stretch>
            <a:fillRect/>
          </a:stretch>
        </p:blipFill>
        <p:spPr>
          <a:xfrm>
            <a:off x="9817838" y="2059051"/>
            <a:ext cx="128699" cy="187198"/>
          </a:xfrm>
          <a:prstGeom prst="rect">
            <a:avLst/>
          </a:prstGeom>
        </p:spPr>
      </p:pic>
      <p:pic>
        <p:nvPicPr>
          <p:cNvPr id="244" name="Picture 243" descr="lock.png"/>
          <p:cNvPicPr>
            <a:picLocks noChangeAspect="1"/>
          </p:cNvPicPr>
          <p:nvPr/>
        </p:nvPicPr>
        <p:blipFill>
          <a:blip r:embed="rId4"/>
          <a:stretch>
            <a:fillRect/>
          </a:stretch>
        </p:blipFill>
        <p:spPr>
          <a:xfrm>
            <a:off x="10646513" y="2059051"/>
            <a:ext cx="128699" cy="187198"/>
          </a:xfrm>
          <a:prstGeom prst="rect">
            <a:avLst/>
          </a:prstGeom>
        </p:spPr>
      </p:pic>
      <p:pic>
        <p:nvPicPr>
          <p:cNvPr id="245" name="Picture 244" descr="lock.png"/>
          <p:cNvPicPr>
            <a:picLocks noChangeAspect="1"/>
          </p:cNvPicPr>
          <p:nvPr/>
        </p:nvPicPr>
        <p:blipFill>
          <a:blip r:embed="rId4"/>
          <a:stretch>
            <a:fillRect/>
          </a:stretch>
        </p:blipFill>
        <p:spPr>
          <a:xfrm>
            <a:off x="8160488" y="2287651"/>
            <a:ext cx="128699" cy="187198"/>
          </a:xfrm>
          <a:prstGeom prst="rect">
            <a:avLst/>
          </a:prstGeom>
        </p:spPr>
      </p:pic>
      <p:pic>
        <p:nvPicPr>
          <p:cNvPr id="246" name="Picture 245" descr="lock.png"/>
          <p:cNvPicPr>
            <a:picLocks noChangeAspect="1"/>
          </p:cNvPicPr>
          <p:nvPr/>
        </p:nvPicPr>
        <p:blipFill>
          <a:blip r:embed="rId4"/>
          <a:stretch>
            <a:fillRect/>
          </a:stretch>
        </p:blipFill>
        <p:spPr>
          <a:xfrm>
            <a:off x="8989162" y="2287651"/>
            <a:ext cx="128699" cy="187198"/>
          </a:xfrm>
          <a:prstGeom prst="rect">
            <a:avLst/>
          </a:prstGeom>
        </p:spPr>
      </p:pic>
      <p:pic>
        <p:nvPicPr>
          <p:cNvPr id="247" name="Picture 246" descr="lock.png"/>
          <p:cNvPicPr>
            <a:picLocks noChangeAspect="1"/>
          </p:cNvPicPr>
          <p:nvPr/>
        </p:nvPicPr>
        <p:blipFill>
          <a:blip r:embed="rId4"/>
          <a:stretch>
            <a:fillRect/>
          </a:stretch>
        </p:blipFill>
        <p:spPr>
          <a:xfrm>
            <a:off x="9817838" y="2287651"/>
            <a:ext cx="128699" cy="187198"/>
          </a:xfrm>
          <a:prstGeom prst="rect">
            <a:avLst/>
          </a:prstGeom>
        </p:spPr>
      </p:pic>
      <p:pic>
        <p:nvPicPr>
          <p:cNvPr id="248" name="Picture 247" descr="lock.png"/>
          <p:cNvPicPr>
            <a:picLocks noChangeAspect="1"/>
          </p:cNvPicPr>
          <p:nvPr/>
        </p:nvPicPr>
        <p:blipFill>
          <a:blip r:embed="rId4"/>
          <a:stretch>
            <a:fillRect/>
          </a:stretch>
        </p:blipFill>
        <p:spPr>
          <a:xfrm>
            <a:off x="10646512" y="2287651"/>
            <a:ext cx="128699" cy="187198"/>
          </a:xfrm>
          <a:prstGeom prst="rect">
            <a:avLst/>
          </a:prstGeom>
        </p:spPr>
      </p:pic>
      <p:pic>
        <p:nvPicPr>
          <p:cNvPr id="249" name="Picture 248" descr="lock.png"/>
          <p:cNvPicPr>
            <a:picLocks noChangeAspect="1"/>
          </p:cNvPicPr>
          <p:nvPr/>
        </p:nvPicPr>
        <p:blipFill>
          <a:blip r:embed="rId4"/>
          <a:stretch>
            <a:fillRect/>
          </a:stretch>
        </p:blipFill>
        <p:spPr>
          <a:xfrm>
            <a:off x="8160488" y="2516251"/>
            <a:ext cx="128699" cy="187198"/>
          </a:xfrm>
          <a:prstGeom prst="rect">
            <a:avLst/>
          </a:prstGeom>
        </p:spPr>
      </p:pic>
      <p:pic>
        <p:nvPicPr>
          <p:cNvPr id="250" name="Picture 249" descr="lock.png"/>
          <p:cNvPicPr>
            <a:picLocks noChangeAspect="1"/>
          </p:cNvPicPr>
          <p:nvPr/>
        </p:nvPicPr>
        <p:blipFill>
          <a:blip r:embed="rId4"/>
          <a:stretch>
            <a:fillRect/>
          </a:stretch>
        </p:blipFill>
        <p:spPr>
          <a:xfrm>
            <a:off x="8989162" y="2516251"/>
            <a:ext cx="128699" cy="187198"/>
          </a:xfrm>
          <a:prstGeom prst="rect">
            <a:avLst/>
          </a:prstGeom>
        </p:spPr>
      </p:pic>
      <p:pic>
        <p:nvPicPr>
          <p:cNvPr id="251" name="Picture 250" descr="lock.png"/>
          <p:cNvPicPr>
            <a:picLocks noChangeAspect="1"/>
          </p:cNvPicPr>
          <p:nvPr/>
        </p:nvPicPr>
        <p:blipFill>
          <a:blip r:embed="rId4"/>
          <a:stretch>
            <a:fillRect/>
          </a:stretch>
        </p:blipFill>
        <p:spPr>
          <a:xfrm>
            <a:off x="9817838" y="2516251"/>
            <a:ext cx="128699" cy="187198"/>
          </a:xfrm>
          <a:prstGeom prst="rect">
            <a:avLst/>
          </a:prstGeom>
        </p:spPr>
      </p:pic>
      <p:pic>
        <p:nvPicPr>
          <p:cNvPr id="252" name="Picture 251" descr="lock.png"/>
          <p:cNvPicPr>
            <a:picLocks noChangeAspect="1"/>
          </p:cNvPicPr>
          <p:nvPr/>
        </p:nvPicPr>
        <p:blipFill>
          <a:blip r:embed="rId4"/>
          <a:stretch>
            <a:fillRect/>
          </a:stretch>
        </p:blipFill>
        <p:spPr>
          <a:xfrm>
            <a:off x="10646512" y="2516251"/>
            <a:ext cx="128699" cy="187198"/>
          </a:xfrm>
          <a:prstGeom prst="rect">
            <a:avLst/>
          </a:prstGeom>
        </p:spPr>
      </p:pic>
      <p:pic>
        <p:nvPicPr>
          <p:cNvPr id="253" name="Picture 252" descr="lock.png"/>
          <p:cNvPicPr>
            <a:picLocks noChangeAspect="1"/>
          </p:cNvPicPr>
          <p:nvPr/>
        </p:nvPicPr>
        <p:blipFill>
          <a:blip r:embed="rId4"/>
          <a:stretch>
            <a:fillRect/>
          </a:stretch>
        </p:blipFill>
        <p:spPr>
          <a:xfrm>
            <a:off x="8160487" y="2744851"/>
            <a:ext cx="128699" cy="187198"/>
          </a:xfrm>
          <a:prstGeom prst="rect">
            <a:avLst/>
          </a:prstGeom>
        </p:spPr>
      </p:pic>
      <p:pic>
        <p:nvPicPr>
          <p:cNvPr id="254" name="Picture 253" descr="lock.png"/>
          <p:cNvPicPr>
            <a:picLocks noChangeAspect="1"/>
          </p:cNvPicPr>
          <p:nvPr/>
        </p:nvPicPr>
        <p:blipFill>
          <a:blip r:embed="rId4"/>
          <a:stretch>
            <a:fillRect/>
          </a:stretch>
        </p:blipFill>
        <p:spPr>
          <a:xfrm>
            <a:off x="8989163" y="2744851"/>
            <a:ext cx="128699" cy="187198"/>
          </a:xfrm>
          <a:prstGeom prst="rect">
            <a:avLst/>
          </a:prstGeom>
        </p:spPr>
      </p:pic>
      <p:pic>
        <p:nvPicPr>
          <p:cNvPr id="255" name="Picture 254" descr="lock.png"/>
          <p:cNvPicPr>
            <a:picLocks noChangeAspect="1"/>
          </p:cNvPicPr>
          <p:nvPr/>
        </p:nvPicPr>
        <p:blipFill>
          <a:blip r:embed="rId4"/>
          <a:stretch>
            <a:fillRect/>
          </a:stretch>
        </p:blipFill>
        <p:spPr>
          <a:xfrm>
            <a:off x="9817837" y="2744851"/>
            <a:ext cx="128699" cy="187198"/>
          </a:xfrm>
          <a:prstGeom prst="rect">
            <a:avLst/>
          </a:prstGeom>
        </p:spPr>
      </p:pic>
      <p:pic>
        <p:nvPicPr>
          <p:cNvPr id="256" name="Picture 255" descr="lock.png"/>
          <p:cNvPicPr>
            <a:picLocks noChangeAspect="1"/>
          </p:cNvPicPr>
          <p:nvPr/>
        </p:nvPicPr>
        <p:blipFill>
          <a:blip r:embed="rId4"/>
          <a:stretch>
            <a:fillRect/>
          </a:stretch>
        </p:blipFill>
        <p:spPr>
          <a:xfrm>
            <a:off x="10646513" y="2744851"/>
            <a:ext cx="128699" cy="187198"/>
          </a:xfrm>
          <a:prstGeom prst="rect">
            <a:avLst/>
          </a:prstGeom>
        </p:spPr>
      </p:pic>
      <p:pic>
        <p:nvPicPr>
          <p:cNvPr id="257" name="Picture 256" descr="lock.png"/>
          <p:cNvPicPr>
            <a:picLocks noChangeAspect="1"/>
          </p:cNvPicPr>
          <p:nvPr/>
        </p:nvPicPr>
        <p:blipFill>
          <a:blip r:embed="rId4"/>
          <a:stretch>
            <a:fillRect/>
          </a:stretch>
        </p:blipFill>
        <p:spPr>
          <a:xfrm>
            <a:off x="8160487" y="2973451"/>
            <a:ext cx="128699" cy="187198"/>
          </a:xfrm>
          <a:prstGeom prst="rect">
            <a:avLst/>
          </a:prstGeom>
        </p:spPr>
      </p:pic>
      <p:pic>
        <p:nvPicPr>
          <p:cNvPr id="258" name="Picture 257" descr="lock.png"/>
          <p:cNvPicPr>
            <a:picLocks noChangeAspect="1"/>
          </p:cNvPicPr>
          <p:nvPr/>
        </p:nvPicPr>
        <p:blipFill>
          <a:blip r:embed="rId4"/>
          <a:stretch>
            <a:fillRect/>
          </a:stretch>
        </p:blipFill>
        <p:spPr>
          <a:xfrm>
            <a:off x="8989163" y="2973451"/>
            <a:ext cx="128699" cy="187198"/>
          </a:xfrm>
          <a:prstGeom prst="rect">
            <a:avLst/>
          </a:prstGeom>
        </p:spPr>
      </p:pic>
      <p:pic>
        <p:nvPicPr>
          <p:cNvPr id="259" name="Picture 258" descr="lock.png"/>
          <p:cNvPicPr>
            <a:picLocks noChangeAspect="1"/>
          </p:cNvPicPr>
          <p:nvPr/>
        </p:nvPicPr>
        <p:blipFill>
          <a:blip r:embed="rId4"/>
          <a:stretch>
            <a:fillRect/>
          </a:stretch>
        </p:blipFill>
        <p:spPr>
          <a:xfrm>
            <a:off x="9817837" y="2973451"/>
            <a:ext cx="128699" cy="187198"/>
          </a:xfrm>
          <a:prstGeom prst="rect">
            <a:avLst/>
          </a:prstGeom>
        </p:spPr>
      </p:pic>
      <p:pic>
        <p:nvPicPr>
          <p:cNvPr id="260" name="Picture 259" descr="lock.png"/>
          <p:cNvPicPr>
            <a:picLocks noChangeAspect="1"/>
          </p:cNvPicPr>
          <p:nvPr/>
        </p:nvPicPr>
        <p:blipFill>
          <a:blip r:embed="rId4"/>
          <a:stretch>
            <a:fillRect/>
          </a:stretch>
        </p:blipFill>
        <p:spPr>
          <a:xfrm>
            <a:off x="10646513" y="2973451"/>
            <a:ext cx="128699" cy="187198"/>
          </a:xfrm>
          <a:prstGeom prst="rect">
            <a:avLst/>
          </a:prstGeom>
        </p:spPr>
      </p:pic>
      <p:pic>
        <p:nvPicPr>
          <p:cNvPr id="261" name="Picture 260" descr="lock.png"/>
          <p:cNvPicPr>
            <a:picLocks noChangeAspect="1"/>
          </p:cNvPicPr>
          <p:nvPr/>
        </p:nvPicPr>
        <p:blipFill>
          <a:blip r:embed="rId4"/>
          <a:stretch>
            <a:fillRect/>
          </a:stretch>
        </p:blipFill>
        <p:spPr>
          <a:xfrm>
            <a:off x="11475187" y="2973451"/>
            <a:ext cx="128699" cy="187198"/>
          </a:xfrm>
          <a:prstGeom prst="rect">
            <a:avLst/>
          </a:prstGeom>
        </p:spPr>
      </p:pic>
      <p:pic>
        <p:nvPicPr>
          <p:cNvPr id="262" name="Picture 261" descr="lock.png"/>
          <p:cNvPicPr>
            <a:picLocks noChangeAspect="1"/>
          </p:cNvPicPr>
          <p:nvPr/>
        </p:nvPicPr>
        <p:blipFill>
          <a:blip r:embed="rId4"/>
          <a:stretch>
            <a:fillRect/>
          </a:stretch>
        </p:blipFill>
        <p:spPr>
          <a:xfrm>
            <a:off x="8160488" y="3202051"/>
            <a:ext cx="128699" cy="187198"/>
          </a:xfrm>
          <a:prstGeom prst="rect">
            <a:avLst/>
          </a:prstGeom>
        </p:spPr>
      </p:pic>
      <p:pic>
        <p:nvPicPr>
          <p:cNvPr id="263" name="Picture 262" descr="lock.png"/>
          <p:cNvPicPr>
            <a:picLocks noChangeAspect="1"/>
          </p:cNvPicPr>
          <p:nvPr/>
        </p:nvPicPr>
        <p:blipFill>
          <a:blip r:embed="rId4"/>
          <a:stretch>
            <a:fillRect/>
          </a:stretch>
        </p:blipFill>
        <p:spPr>
          <a:xfrm>
            <a:off x="8989163" y="3202051"/>
            <a:ext cx="128699" cy="187198"/>
          </a:xfrm>
          <a:prstGeom prst="rect">
            <a:avLst/>
          </a:prstGeom>
        </p:spPr>
      </p:pic>
      <p:pic>
        <p:nvPicPr>
          <p:cNvPr id="264" name="Picture 263" descr="lock.png"/>
          <p:cNvPicPr>
            <a:picLocks noChangeAspect="1"/>
          </p:cNvPicPr>
          <p:nvPr/>
        </p:nvPicPr>
        <p:blipFill>
          <a:blip r:embed="rId4"/>
          <a:stretch>
            <a:fillRect/>
          </a:stretch>
        </p:blipFill>
        <p:spPr>
          <a:xfrm>
            <a:off x="9817838" y="3202051"/>
            <a:ext cx="128699" cy="187198"/>
          </a:xfrm>
          <a:prstGeom prst="rect">
            <a:avLst/>
          </a:prstGeom>
        </p:spPr>
      </p:pic>
      <p:pic>
        <p:nvPicPr>
          <p:cNvPr id="265" name="Picture 264" descr="lock.png"/>
          <p:cNvPicPr>
            <a:picLocks noChangeAspect="1"/>
          </p:cNvPicPr>
          <p:nvPr/>
        </p:nvPicPr>
        <p:blipFill>
          <a:blip r:embed="rId4"/>
          <a:stretch>
            <a:fillRect/>
          </a:stretch>
        </p:blipFill>
        <p:spPr>
          <a:xfrm>
            <a:off x="8160488" y="3478276"/>
            <a:ext cx="128699" cy="187198"/>
          </a:xfrm>
          <a:prstGeom prst="rect">
            <a:avLst/>
          </a:prstGeom>
        </p:spPr>
      </p:pic>
      <p:pic>
        <p:nvPicPr>
          <p:cNvPr id="266" name="Picture 265" descr="lock.png"/>
          <p:cNvPicPr>
            <a:picLocks noChangeAspect="1"/>
          </p:cNvPicPr>
          <p:nvPr/>
        </p:nvPicPr>
        <p:blipFill>
          <a:blip r:embed="rId4"/>
          <a:stretch>
            <a:fillRect/>
          </a:stretch>
        </p:blipFill>
        <p:spPr>
          <a:xfrm>
            <a:off x="8989162" y="3478276"/>
            <a:ext cx="128699" cy="187198"/>
          </a:xfrm>
          <a:prstGeom prst="rect">
            <a:avLst/>
          </a:prstGeom>
        </p:spPr>
      </p:pic>
      <p:pic>
        <p:nvPicPr>
          <p:cNvPr id="267" name="Picture 266" descr="lock.png"/>
          <p:cNvPicPr>
            <a:picLocks noChangeAspect="1"/>
          </p:cNvPicPr>
          <p:nvPr/>
        </p:nvPicPr>
        <p:blipFill>
          <a:blip r:embed="rId4"/>
          <a:stretch>
            <a:fillRect/>
          </a:stretch>
        </p:blipFill>
        <p:spPr>
          <a:xfrm>
            <a:off x="9817838" y="3478276"/>
            <a:ext cx="128699" cy="187198"/>
          </a:xfrm>
          <a:prstGeom prst="rect">
            <a:avLst/>
          </a:prstGeom>
        </p:spPr>
      </p:pic>
      <p:pic>
        <p:nvPicPr>
          <p:cNvPr id="268" name="Picture 267" descr="lock.png"/>
          <p:cNvPicPr>
            <a:picLocks noChangeAspect="1"/>
          </p:cNvPicPr>
          <p:nvPr/>
        </p:nvPicPr>
        <p:blipFill>
          <a:blip r:embed="rId4"/>
          <a:stretch>
            <a:fillRect/>
          </a:stretch>
        </p:blipFill>
        <p:spPr>
          <a:xfrm>
            <a:off x="10646512" y="3478276"/>
            <a:ext cx="128699" cy="187198"/>
          </a:xfrm>
          <a:prstGeom prst="rect">
            <a:avLst/>
          </a:prstGeom>
        </p:spPr>
      </p:pic>
      <p:sp>
        <p:nvSpPr>
          <p:cNvPr id="269" name="TextBox 268"/>
          <p:cNvSpPr txBox="1"/>
          <p:nvPr/>
        </p:nvSpPr>
        <p:spPr>
          <a:xfrm>
            <a:off x="266700" y="1344930"/>
            <a:ext cx="2087661" cy="186689"/>
          </a:xfrm>
          <a:prstGeom prst="rect">
            <a:avLst/>
          </a:prstGeom>
          <a:noFill/>
        </p:spPr>
        <p:txBody>
          <a:bodyPr wrap="none" lIns="0" rIns="0" tIns="0" bIns="0">
            <a:spAutoFit/>
          </a:bodyPr>
          <a:lstStyle/>
          <a:p>
            <a:r>
              <a:rPr sz="1100" b="0">
                <a:solidFill>
                  <a:srgbClr val="6B7280"/>
                </a:solidFill>
                <a:latin typeface="Calibri"/>
              </a:rPr>
              <a:t>Market 3,374 US$ Mn · Tier 1 share</a:t>
            </a:r>
          </a:p>
        </p:txBody>
      </p:sp>
      <p:pic>
        <p:nvPicPr>
          <p:cNvPr id="270" name="Picture 269" descr="lock.png"/>
          <p:cNvPicPr>
            <a:picLocks noChangeAspect="1"/>
          </p:cNvPicPr>
          <p:nvPr/>
        </p:nvPicPr>
        <p:blipFill>
          <a:blip r:embed="rId4"/>
          <a:stretch>
            <a:fillRect/>
          </a:stretch>
        </p:blipFill>
        <p:spPr>
          <a:xfrm>
            <a:off x="2302413" y="1335151"/>
            <a:ext cx="128699" cy="187198"/>
          </a:xfrm>
          <a:prstGeom prst="rect">
            <a:avLst/>
          </a:prstGeom>
        </p:spPr>
      </p:pic>
      <p:sp>
        <p:nvSpPr>
          <p:cNvPr id="271" name="TextBox 270"/>
          <p:cNvSpPr txBox="1"/>
          <p:nvPr/>
        </p:nvSpPr>
        <p:spPr>
          <a:xfrm>
            <a:off x="2469909" y="1344930"/>
            <a:ext cx="202803" cy="186689"/>
          </a:xfrm>
          <a:prstGeom prst="rect">
            <a:avLst/>
          </a:prstGeom>
          <a:noFill/>
        </p:spPr>
        <p:txBody>
          <a:bodyPr wrap="none" lIns="0" rIns="0" tIns="0" bIns="0">
            <a:spAutoFit/>
          </a:bodyPr>
          <a:lstStyle/>
          <a:p>
            <a:r>
              <a:rPr sz="1100" b="0">
                <a:solidFill>
                  <a:srgbClr val="6B7280"/>
                </a:solidFill>
                <a:latin typeface="Calibri"/>
              </a:rPr>
              <a:t>→</a:t>
            </a:r>
          </a:p>
        </p:txBody>
      </p:sp>
      <p:pic>
        <p:nvPicPr>
          <p:cNvPr id="272" name="Picture 271" descr="lock.png"/>
          <p:cNvPicPr>
            <a:picLocks noChangeAspect="1"/>
          </p:cNvPicPr>
          <p:nvPr/>
        </p:nvPicPr>
        <p:blipFill>
          <a:blip r:embed="rId4"/>
          <a:stretch>
            <a:fillRect/>
          </a:stretch>
        </p:blipFill>
        <p:spPr>
          <a:xfrm>
            <a:off x="2620763" y="1335151"/>
            <a:ext cx="128699" cy="187198"/>
          </a:xfrm>
          <a:prstGeom prst="rect">
            <a:avLst/>
          </a:prstGeom>
        </p:spPr>
      </p:pic>
      <p:sp>
        <p:nvSpPr>
          <p:cNvPr id="273" name="TextBox 272"/>
          <p:cNvSpPr txBox="1"/>
          <p:nvPr/>
        </p:nvSpPr>
        <p:spPr>
          <a:xfrm>
            <a:off x="2788259" y="1344930"/>
            <a:ext cx="528315" cy="186689"/>
          </a:xfrm>
          <a:prstGeom prst="rect">
            <a:avLst/>
          </a:prstGeom>
          <a:noFill/>
        </p:spPr>
        <p:txBody>
          <a:bodyPr wrap="none" lIns="0" rIns="0" tIns="0" bIns="0">
            <a:spAutoFit/>
          </a:bodyPr>
          <a:lstStyle/>
          <a:p>
            <a:r>
              <a:rPr sz="1100" b="0">
                <a:solidFill>
                  <a:srgbClr val="6B7280"/>
                </a:solidFill>
                <a:latin typeface="Calibri"/>
              </a:rPr>
              <a:t>by 2036</a:t>
            </a:r>
          </a:p>
        </p:txBody>
      </p:sp>
      <p:pic>
        <p:nvPicPr>
          <p:cNvPr id="274" name="Picture 273" descr="lock.png"/>
          <p:cNvPicPr>
            <a:picLocks noChangeAspect="1"/>
          </p:cNvPicPr>
          <p:nvPr/>
        </p:nvPicPr>
        <p:blipFill>
          <a:blip r:embed="rId4"/>
          <a:stretch>
            <a:fillRect/>
          </a:stretch>
        </p:blipFill>
        <p:spPr>
          <a:xfrm>
            <a:off x="1377182" y="1839976"/>
            <a:ext cx="128699" cy="187198"/>
          </a:xfrm>
          <a:prstGeom prst="rect">
            <a:avLst/>
          </a:prstGeom>
        </p:spPr>
      </p:pic>
      <p:sp>
        <p:nvSpPr>
          <p:cNvPr id="275" name="TextBox 274"/>
          <p:cNvSpPr txBox="1"/>
          <p:nvPr/>
        </p:nvSpPr>
        <p:spPr>
          <a:xfrm>
            <a:off x="1544678" y="18497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76" name="Picture 275" descr="lock.png"/>
          <p:cNvPicPr>
            <a:picLocks noChangeAspect="1"/>
          </p:cNvPicPr>
          <p:nvPr/>
        </p:nvPicPr>
        <p:blipFill>
          <a:blip r:embed="rId4"/>
          <a:stretch>
            <a:fillRect/>
          </a:stretch>
        </p:blipFill>
        <p:spPr>
          <a:xfrm>
            <a:off x="2922273" y="1839976"/>
            <a:ext cx="128699" cy="187198"/>
          </a:xfrm>
          <a:prstGeom prst="rect">
            <a:avLst/>
          </a:prstGeom>
        </p:spPr>
      </p:pic>
      <p:sp>
        <p:nvSpPr>
          <p:cNvPr id="277" name="TextBox 276"/>
          <p:cNvSpPr txBox="1"/>
          <p:nvPr/>
        </p:nvSpPr>
        <p:spPr>
          <a:xfrm>
            <a:off x="3089769" y="18497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78" name="Picture 277" descr="lock.png"/>
          <p:cNvPicPr>
            <a:picLocks noChangeAspect="1"/>
          </p:cNvPicPr>
          <p:nvPr/>
        </p:nvPicPr>
        <p:blipFill>
          <a:blip r:embed="rId4"/>
          <a:stretch>
            <a:fillRect/>
          </a:stretch>
        </p:blipFill>
        <p:spPr>
          <a:xfrm>
            <a:off x="1377182" y="2697226"/>
            <a:ext cx="128699" cy="187198"/>
          </a:xfrm>
          <a:prstGeom prst="rect">
            <a:avLst/>
          </a:prstGeom>
        </p:spPr>
      </p:pic>
      <p:sp>
        <p:nvSpPr>
          <p:cNvPr id="279" name="TextBox 278"/>
          <p:cNvSpPr txBox="1"/>
          <p:nvPr/>
        </p:nvSpPr>
        <p:spPr>
          <a:xfrm>
            <a:off x="1544678" y="2707005"/>
            <a:ext cx="1429543" cy="186689"/>
          </a:xfrm>
          <a:prstGeom prst="rect">
            <a:avLst/>
          </a:prstGeom>
          <a:noFill/>
        </p:spPr>
        <p:txBody>
          <a:bodyPr wrap="none" lIns="0" rIns="0" tIns="0" bIns="0">
            <a:spAutoFit/>
          </a:bodyPr>
          <a:lstStyle/>
          <a:p>
            <a:r>
              <a:rPr sz="1100" b="0">
                <a:solidFill>
                  <a:srgbClr val="FFFFFF"/>
                </a:solidFill>
                <a:latin typeface="Calibri"/>
              </a:rPr>
              <a:t>US$ Mn · 2 players · avg</a:t>
            </a:r>
          </a:p>
        </p:txBody>
      </p:sp>
      <p:pic>
        <p:nvPicPr>
          <p:cNvPr id="280" name="Picture 279" descr="lock.png"/>
          <p:cNvPicPr>
            <a:picLocks noChangeAspect="1"/>
          </p:cNvPicPr>
          <p:nvPr/>
        </p:nvPicPr>
        <p:blipFill>
          <a:blip r:embed="rId4"/>
          <a:stretch>
            <a:fillRect/>
          </a:stretch>
        </p:blipFill>
        <p:spPr>
          <a:xfrm>
            <a:off x="2922273" y="2697226"/>
            <a:ext cx="128699" cy="187198"/>
          </a:xfrm>
          <a:prstGeom prst="rect">
            <a:avLst/>
          </a:prstGeom>
        </p:spPr>
      </p:pic>
      <p:sp>
        <p:nvSpPr>
          <p:cNvPr id="281" name="TextBox 280"/>
          <p:cNvSpPr txBox="1"/>
          <p:nvPr/>
        </p:nvSpPr>
        <p:spPr>
          <a:xfrm>
            <a:off x="3089769" y="270700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2" name="Picture 281" descr="lock.png"/>
          <p:cNvPicPr>
            <a:picLocks noChangeAspect="1"/>
          </p:cNvPicPr>
          <p:nvPr/>
        </p:nvPicPr>
        <p:blipFill>
          <a:blip r:embed="rId4"/>
          <a:stretch>
            <a:fillRect/>
          </a:stretch>
        </p:blipFill>
        <p:spPr>
          <a:xfrm>
            <a:off x="1377182" y="3554476"/>
            <a:ext cx="128699" cy="187198"/>
          </a:xfrm>
          <a:prstGeom prst="rect">
            <a:avLst/>
          </a:prstGeom>
        </p:spPr>
      </p:pic>
      <p:sp>
        <p:nvSpPr>
          <p:cNvPr id="283" name="TextBox 282"/>
          <p:cNvSpPr txBox="1"/>
          <p:nvPr/>
        </p:nvSpPr>
        <p:spPr>
          <a:xfrm>
            <a:off x="1544678" y="3564255"/>
            <a:ext cx="1429543" cy="186689"/>
          </a:xfrm>
          <a:prstGeom prst="rect">
            <a:avLst/>
          </a:prstGeom>
          <a:noFill/>
        </p:spPr>
        <p:txBody>
          <a:bodyPr wrap="none" lIns="0" rIns="0" tIns="0" bIns="0">
            <a:spAutoFit/>
          </a:bodyPr>
          <a:lstStyle/>
          <a:p>
            <a:r>
              <a:rPr sz="1100" b="0">
                <a:solidFill>
                  <a:srgbClr val="FFFFFF"/>
                </a:solidFill>
                <a:latin typeface="Calibri"/>
              </a:rPr>
              <a:t>US$ Mn · 4 players · avg</a:t>
            </a:r>
          </a:p>
        </p:txBody>
      </p:sp>
      <p:pic>
        <p:nvPicPr>
          <p:cNvPr id="284" name="Picture 283" descr="lock.png"/>
          <p:cNvPicPr>
            <a:picLocks noChangeAspect="1"/>
          </p:cNvPicPr>
          <p:nvPr/>
        </p:nvPicPr>
        <p:blipFill>
          <a:blip r:embed="rId4"/>
          <a:stretch>
            <a:fillRect/>
          </a:stretch>
        </p:blipFill>
        <p:spPr>
          <a:xfrm>
            <a:off x="2922273" y="3554476"/>
            <a:ext cx="128699" cy="187198"/>
          </a:xfrm>
          <a:prstGeom prst="rect">
            <a:avLst/>
          </a:prstGeom>
        </p:spPr>
      </p:pic>
      <p:sp>
        <p:nvSpPr>
          <p:cNvPr id="285" name="TextBox 284"/>
          <p:cNvSpPr txBox="1"/>
          <p:nvPr/>
        </p:nvSpPr>
        <p:spPr>
          <a:xfrm>
            <a:off x="3089769" y="3564255"/>
            <a:ext cx="997074" cy="186689"/>
          </a:xfrm>
          <a:prstGeom prst="rect">
            <a:avLst/>
          </a:prstGeom>
          <a:noFill/>
        </p:spPr>
        <p:txBody>
          <a:bodyPr wrap="none" lIns="0" rIns="0" tIns="0" bIns="0">
            <a:spAutoFit/>
          </a:bodyPr>
          <a:lstStyle/>
          <a:p>
            <a:r>
              <a:rPr sz="1100" b="0">
                <a:solidFill>
                  <a:srgbClr val="FFFFFF"/>
                </a:solidFill>
                <a:latin typeface="Calibri"/>
              </a:rPr>
              <a:t>US$ Mn / player</a:t>
            </a:r>
          </a:p>
        </p:txBody>
      </p:sp>
      <p:pic>
        <p:nvPicPr>
          <p:cNvPr id="286" name="Picture 285" descr="lock.png"/>
          <p:cNvPicPr>
            <a:picLocks noChangeAspect="1"/>
          </p:cNvPicPr>
          <p:nvPr/>
        </p:nvPicPr>
        <p:blipFill>
          <a:blip r:embed="rId4"/>
          <a:stretch>
            <a:fillRect/>
          </a:stretch>
        </p:blipFill>
        <p:spPr>
          <a:xfrm>
            <a:off x="1377182" y="4411726"/>
            <a:ext cx="128699" cy="187198"/>
          </a:xfrm>
          <a:prstGeom prst="rect">
            <a:avLst/>
          </a:prstGeom>
        </p:spPr>
      </p:pic>
      <p:sp>
        <p:nvSpPr>
          <p:cNvPr id="287" name="TextBox 286"/>
          <p:cNvSpPr txBox="1"/>
          <p:nvPr/>
        </p:nvSpPr>
        <p:spPr>
          <a:xfrm>
            <a:off x="1544678" y="4421505"/>
            <a:ext cx="1247006" cy="186689"/>
          </a:xfrm>
          <a:prstGeom prst="rect">
            <a:avLst/>
          </a:prstGeom>
          <a:noFill/>
        </p:spPr>
        <p:txBody>
          <a:bodyPr wrap="none" lIns="0" rIns="0" tIns="0" bIns="0">
            <a:spAutoFit/>
          </a:bodyPr>
          <a:lstStyle/>
          <a:p>
            <a:r>
              <a:rPr sz="1100" b="0">
                <a:solidFill>
                  <a:srgbClr val="14213D"/>
                </a:solidFill>
                <a:latin typeface="Calibri"/>
              </a:rPr>
              <a:t>US$ Mn · – · long tail</a:t>
            </a:r>
          </a:p>
        </p:txBody>
      </p:sp>
      <p:sp>
        <p:nvSpPr>
          <p:cNvPr id="288" name="TextBox 287"/>
          <p:cNvSpPr txBox="1"/>
          <p:nvPr/>
        </p:nvSpPr>
        <p:spPr>
          <a:xfrm>
            <a:off x="1241169" y="5802630"/>
            <a:ext cx="493662" cy="186689"/>
          </a:xfrm>
          <a:prstGeom prst="rect">
            <a:avLst/>
          </a:prstGeom>
          <a:noFill/>
        </p:spPr>
        <p:txBody>
          <a:bodyPr wrap="none" lIns="0" rIns="0" tIns="0" bIns="0">
            <a:spAutoFit/>
          </a:bodyPr>
          <a:lstStyle/>
          <a:p>
            <a:r>
              <a:rPr sz="1100" b="1">
                <a:solidFill>
                  <a:srgbClr val="2E7D32"/>
                </a:solidFill>
                <a:latin typeface="Calibri"/>
              </a:rPr>
              <a:t>▲</a:t>
            </a:r>
            <a:r>
              <a:rPr sz="1100" b="1">
                <a:solidFill>
                  <a:srgbClr val="14213D"/>
                </a:solidFill>
                <a:latin typeface="Calibri"/>
              </a:rPr>
              <a:t> HHI =</a:t>
            </a:r>
          </a:p>
        </p:txBody>
      </p:sp>
      <p:pic>
        <p:nvPicPr>
          <p:cNvPr id="289" name="Picture 288" descr="lock.png"/>
          <p:cNvPicPr>
            <a:picLocks noChangeAspect="1"/>
          </p:cNvPicPr>
          <p:nvPr/>
        </p:nvPicPr>
        <p:blipFill>
          <a:blip r:embed="rId4"/>
          <a:stretch>
            <a:fillRect/>
          </a:stretch>
        </p:blipFill>
        <p:spPr>
          <a:xfrm>
            <a:off x="1682883" y="5792851"/>
            <a:ext cx="128699" cy="187198"/>
          </a:xfrm>
          <a:prstGeom prst="rect">
            <a:avLst/>
          </a:prstGeom>
        </p:spPr>
      </p:pic>
      <p:sp>
        <p:nvSpPr>
          <p:cNvPr id="290" name="TextBox 289"/>
          <p:cNvSpPr txBox="1"/>
          <p:nvPr/>
        </p:nvSpPr>
        <p:spPr>
          <a:xfrm>
            <a:off x="876202" y="6107430"/>
            <a:ext cx="400893" cy="186689"/>
          </a:xfrm>
          <a:prstGeom prst="rect">
            <a:avLst/>
          </a:prstGeom>
          <a:noFill/>
        </p:spPr>
        <p:txBody>
          <a:bodyPr wrap="none" lIns="0" rIns="0" tIns="0" bIns="0">
            <a:spAutoFit/>
          </a:bodyPr>
          <a:lstStyle/>
          <a:p>
            <a:r>
              <a:rPr sz="1100" b="1">
                <a:solidFill>
                  <a:srgbClr val="14213D"/>
                </a:solidFill>
                <a:latin typeface="Calibri"/>
              </a:rPr>
              <a:t>CR4 =</a:t>
            </a:r>
          </a:p>
        </p:txBody>
      </p:sp>
      <p:pic>
        <p:nvPicPr>
          <p:cNvPr id="291" name="Picture 290" descr="lock.png"/>
          <p:cNvPicPr>
            <a:picLocks noChangeAspect="1"/>
          </p:cNvPicPr>
          <p:nvPr/>
        </p:nvPicPr>
        <p:blipFill>
          <a:blip r:embed="rId4"/>
          <a:stretch>
            <a:fillRect/>
          </a:stretch>
        </p:blipFill>
        <p:spPr>
          <a:xfrm>
            <a:off x="1225147" y="6097651"/>
            <a:ext cx="128699" cy="187198"/>
          </a:xfrm>
          <a:prstGeom prst="rect">
            <a:avLst/>
          </a:prstGeom>
        </p:spPr>
      </p:pic>
      <p:sp>
        <p:nvSpPr>
          <p:cNvPr id="292" name="TextBox 291"/>
          <p:cNvSpPr txBox="1"/>
          <p:nvPr/>
        </p:nvSpPr>
        <p:spPr>
          <a:xfrm>
            <a:off x="1392643" y="6107430"/>
            <a:ext cx="1068288" cy="186689"/>
          </a:xfrm>
          <a:prstGeom prst="rect">
            <a:avLst/>
          </a:prstGeom>
          <a:noFill/>
        </p:spPr>
        <p:txBody>
          <a:bodyPr wrap="none" lIns="0" rIns="0" tIns="0" bIns="0">
            <a:spAutoFit/>
          </a:bodyPr>
          <a:lstStyle/>
          <a:p>
            <a:r>
              <a:rPr sz="1100" b="1">
                <a:solidFill>
                  <a:srgbClr val="14213D"/>
                </a:solidFill>
                <a:latin typeface="Calibri"/>
              </a:rPr>
              <a:t>· Tier 1 : Others =</a:t>
            </a:r>
          </a:p>
        </p:txBody>
      </p:sp>
      <p:pic>
        <p:nvPicPr>
          <p:cNvPr id="293" name="Picture 292" descr="lock.png"/>
          <p:cNvPicPr>
            <a:picLocks noChangeAspect="1"/>
          </p:cNvPicPr>
          <p:nvPr/>
        </p:nvPicPr>
        <p:blipFill>
          <a:blip r:embed="rId4"/>
          <a:stretch>
            <a:fillRect/>
          </a:stretch>
        </p:blipFill>
        <p:spPr>
          <a:xfrm>
            <a:off x="2408983" y="6097651"/>
            <a:ext cx="128699" cy="187198"/>
          </a:xfrm>
          <a:prstGeom prst="rect">
            <a:avLst/>
          </a:prstGeom>
        </p:spPr>
      </p:pic>
      <p:sp>
        <p:nvSpPr>
          <p:cNvPr id="294" name="TextBox 293"/>
          <p:cNvSpPr txBox="1"/>
          <p:nvPr/>
        </p:nvSpPr>
        <p:spPr>
          <a:xfrm>
            <a:off x="2576478" y="6107430"/>
            <a:ext cx="1397620" cy="186689"/>
          </a:xfrm>
          <a:prstGeom prst="rect">
            <a:avLst/>
          </a:prstGeom>
          <a:noFill/>
        </p:spPr>
        <p:txBody>
          <a:bodyPr wrap="none" lIns="0" rIns="0" tIns="0" bIns="0">
            <a:spAutoFit/>
          </a:bodyPr>
          <a:lstStyle/>
          <a:p>
            <a:r>
              <a:rPr sz="1100" b="1">
                <a:solidFill>
                  <a:srgbClr val="14213D"/>
                </a:solidFill>
                <a:latin typeface="Calibri"/>
              </a:rPr>
              <a:t>: 1 · Top-player share =</a:t>
            </a:r>
          </a:p>
        </p:txBody>
      </p:sp>
      <p:pic>
        <p:nvPicPr>
          <p:cNvPr id="295" name="Picture 294" descr="lock.png"/>
          <p:cNvPicPr>
            <a:picLocks noChangeAspect="1"/>
          </p:cNvPicPr>
          <p:nvPr/>
        </p:nvPicPr>
        <p:blipFill>
          <a:blip r:embed="rId4"/>
          <a:stretch>
            <a:fillRect/>
          </a:stretch>
        </p:blipFill>
        <p:spPr>
          <a:xfrm>
            <a:off x="3922150" y="6097651"/>
            <a:ext cx="128699" cy="187198"/>
          </a:xfrm>
          <a:prstGeom prst="rect">
            <a:avLst/>
          </a:prstGeom>
        </p:spPr>
      </p:pic>
      <p:sp>
        <p:nvSpPr>
          <p:cNvPr id="296" name="TextBox 295"/>
          <p:cNvSpPr txBox="1"/>
          <p:nvPr/>
        </p:nvSpPr>
        <p:spPr>
          <a:xfrm>
            <a:off x="4089646" y="6107430"/>
            <a:ext cx="1206351" cy="186689"/>
          </a:xfrm>
          <a:prstGeom prst="rect">
            <a:avLst/>
          </a:prstGeom>
          <a:noFill/>
        </p:spPr>
        <p:txBody>
          <a:bodyPr wrap="none" lIns="0" rIns="0" tIns="0" bIns="0">
            <a:spAutoFit/>
          </a:bodyPr>
          <a:lstStyle/>
          <a:p>
            <a:r>
              <a:rPr sz="1100" b="1">
                <a:solidFill>
                  <a:srgbClr val="14213D"/>
                </a:solidFill>
                <a:latin typeface="Calibri"/>
              </a:rPr>
              <a:t>· Class: Fragmented</a:t>
            </a:r>
          </a:p>
        </p:txBody>
      </p:sp>
      <p:sp>
        <p:nvSpPr>
          <p:cNvPr id="297" name="TextBox 296"/>
          <p:cNvSpPr txBox="1"/>
          <p:nvPr/>
        </p:nvSpPr>
        <p:spPr>
          <a:xfrm>
            <a:off x="6372225" y="5476875"/>
            <a:ext cx="471561" cy="186689"/>
          </a:xfrm>
          <a:prstGeom prst="rect">
            <a:avLst/>
          </a:prstGeom>
          <a:noFill/>
        </p:spPr>
        <p:txBody>
          <a:bodyPr wrap="none" lIns="0" rIns="0" tIns="0" bIns="0">
            <a:spAutoFit/>
          </a:bodyPr>
          <a:lstStyle/>
          <a:p>
            <a:r>
              <a:rPr sz="1100" b="0">
                <a:solidFill>
                  <a:srgbClr val="14213D"/>
                </a:solidFill>
                <a:latin typeface="Calibri"/>
              </a:rPr>
              <a:t>Tier 1 (</a:t>
            </a:r>
          </a:p>
        </p:txBody>
      </p:sp>
      <p:pic>
        <p:nvPicPr>
          <p:cNvPr id="298" name="Picture 297" descr="lock.png"/>
          <p:cNvPicPr>
            <a:picLocks noChangeAspect="1"/>
          </p:cNvPicPr>
          <p:nvPr/>
        </p:nvPicPr>
        <p:blipFill>
          <a:blip r:embed="rId4"/>
          <a:stretch>
            <a:fillRect/>
          </a:stretch>
        </p:blipFill>
        <p:spPr>
          <a:xfrm>
            <a:off x="6791838" y="5467095"/>
            <a:ext cx="128699" cy="187198"/>
          </a:xfrm>
          <a:prstGeom prst="rect">
            <a:avLst/>
          </a:prstGeom>
        </p:spPr>
      </p:pic>
      <p:sp>
        <p:nvSpPr>
          <p:cNvPr id="299" name="TextBox 298"/>
          <p:cNvSpPr txBox="1"/>
          <p:nvPr/>
        </p:nvSpPr>
        <p:spPr>
          <a:xfrm>
            <a:off x="6959334" y="5476875"/>
            <a:ext cx="4115767" cy="186689"/>
          </a:xfrm>
          <a:prstGeom prst="rect">
            <a:avLst/>
          </a:prstGeom>
          <a:noFill/>
        </p:spPr>
        <p:txBody>
          <a:bodyPr wrap="none" lIns="0" rIns="0" tIns="0" bIns="0">
            <a:spAutoFit/>
          </a:bodyPr>
          <a:lstStyle/>
          <a:p>
            <a:r>
              <a:rPr sz="1100" b="0">
                <a:solidFill>
                  <a:srgbClr val="14213D"/>
                </a:solidFill>
                <a:latin typeface="Calibri"/>
              </a:rPr>
              <a:t>) holds the largest single block of value on a 3,374 US$ Mn base; CR4 of</a:t>
            </a:r>
          </a:p>
        </p:txBody>
      </p:sp>
      <p:pic>
        <p:nvPicPr>
          <p:cNvPr id="300" name="Picture 299" descr="lock.png"/>
          <p:cNvPicPr>
            <a:picLocks noChangeAspect="1"/>
          </p:cNvPicPr>
          <p:nvPr/>
        </p:nvPicPr>
        <p:blipFill>
          <a:blip r:embed="rId4"/>
          <a:stretch>
            <a:fillRect/>
          </a:stretch>
        </p:blipFill>
        <p:spPr>
          <a:xfrm>
            <a:off x="11023153" y="5467095"/>
            <a:ext cx="128699" cy="187198"/>
          </a:xfrm>
          <a:prstGeom prst="rect">
            <a:avLst/>
          </a:prstGeom>
        </p:spPr>
      </p:pic>
      <p:sp>
        <p:nvSpPr>
          <p:cNvPr id="301" name="TextBox 300"/>
          <p:cNvSpPr txBox="1"/>
          <p:nvPr/>
        </p:nvSpPr>
        <p:spPr>
          <a:xfrm>
            <a:off x="11190649" y="5476875"/>
            <a:ext cx="530770" cy="186689"/>
          </a:xfrm>
          <a:prstGeom prst="rect">
            <a:avLst/>
          </a:prstGeom>
          <a:noFill/>
        </p:spPr>
        <p:txBody>
          <a:bodyPr wrap="none" lIns="0" rIns="0" tIns="0" bIns="0">
            <a:spAutoFit/>
          </a:bodyPr>
          <a:lstStyle/>
          <a:p>
            <a:r>
              <a:rPr sz="1100" b="0">
                <a:solidFill>
                  <a:srgbClr val="14213D"/>
                </a:solidFill>
                <a:latin typeface="Calibri"/>
              </a:rPr>
              <a:t>and HHI</a:t>
            </a:r>
          </a:p>
        </p:txBody>
      </p:sp>
      <p:sp>
        <p:nvSpPr>
          <p:cNvPr id="302" name="TextBox 301"/>
          <p:cNvSpPr txBox="1"/>
          <p:nvPr/>
        </p:nvSpPr>
        <p:spPr>
          <a:xfrm>
            <a:off x="6372225" y="5644515"/>
            <a:ext cx="192434" cy="186689"/>
          </a:xfrm>
          <a:prstGeom prst="rect">
            <a:avLst/>
          </a:prstGeom>
          <a:noFill/>
        </p:spPr>
        <p:txBody>
          <a:bodyPr wrap="none" lIns="0" rIns="0" tIns="0" bIns="0">
            <a:spAutoFit/>
          </a:bodyPr>
          <a:lstStyle/>
          <a:p>
            <a:r>
              <a:rPr sz="1100" b="0">
                <a:solidFill>
                  <a:srgbClr val="14213D"/>
                </a:solidFill>
                <a:latin typeface="Calibri"/>
              </a:rPr>
              <a:t>of</a:t>
            </a:r>
          </a:p>
        </p:txBody>
      </p:sp>
      <p:pic>
        <p:nvPicPr>
          <p:cNvPr id="303" name="Picture 302" descr="lock.png"/>
          <p:cNvPicPr>
            <a:picLocks noChangeAspect="1"/>
          </p:cNvPicPr>
          <p:nvPr/>
        </p:nvPicPr>
        <p:blipFill>
          <a:blip r:embed="rId4"/>
          <a:stretch>
            <a:fillRect/>
          </a:stretch>
        </p:blipFill>
        <p:spPr>
          <a:xfrm>
            <a:off x="6512711" y="5634735"/>
            <a:ext cx="128699" cy="187198"/>
          </a:xfrm>
          <a:prstGeom prst="rect">
            <a:avLst/>
          </a:prstGeom>
        </p:spPr>
      </p:pic>
      <p:sp>
        <p:nvSpPr>
          <p:cNvPr id="304" name="TextBox 303"/>
          <p:cNvSpPr txBox="1"/>
          <p:nvPr/>
        </p:nvSpPr>
        <p:spPr>
          <a:xfrm>
            <a:off x="6680207" y="5644515"/>
            <a:ext cx="2030635" cy="186689"/>
          </a:xfrm>
          <a:prstGeom prst="rect">
            <a:avLst/>
          </a:prstGeom>
          <a:noFill/>
        </p:spPr>
        <p:txBody>
          <a:bodyPr wrap="none" lIns="0" rIns="0" tIns="0" bIns="0">
            <a:spAutoFit/>
          </a:bodyPr>
          <a:lstStyle/>
          <a:p>
            <a:r>
              <a:rPr sz="1100" b="0">
                <a:solidFill>
                  <a:srgbClr val="14213D"/>
                </a:solidFill>
                <a:latin typeface="Calibri"/>
              </a:rPr>
              <a:t>classify the market as fragmented.</a:t>
            </a:r>
          </a:p>
        </p:txBody>
      </p:sp>
      <p:sp>
        <p:nvSpPr>
          <p:cNvPr id="305" name="TextBox 304"/>
          <p:cNvSpPr txBox="1"/>
          <p:nvPr/>
        </p:nvSpPr>
        <p:spPr>
          <a:xfrm>
            <a:off x="6372225" y="5857875"/>
            <a:ext cx="1331044" cy="186689"/>
          </a:xfrm>
          <a:prstGeom prst="rect">
            <a:avLst/>
          </a:prstGeom>
          <a:noFill/>
        </p:spPr>
        <p:txBody>
          <a:bodyPr wrap="none" lIns="0" rIns="0" tIns="0" bIns="0">
            <a:spAutoFit/>
          </a:bodyPr>
          <a:lstStyle/>
          <a:p>
            <a:r>
              <a:rPr sz="1100" b="0">
                <a:solidFill>
                  <a:srgbClr val="14213D"/>
                </a:solidFill>
                <a:latin typeface="Calibri"/>
              </a:rPr>
              <a:t>Tier 2 grows fastest at</a:t>
            </a:r>
          </a:p>
        </p:txBody>
      </p:sp>
      <p:pic>
        <p:nvPicPr>
          <p:cNvPr id="306" name="Picture 305" descr="lock.png"/>
          <p:cNvPicPr>
            <a:picLocks noChangeAspect="1"/>
          </p:cNvPicPr>
          <p:nvPr/>
        </p:nvPicPr>
        <p:blipFill>
          <a:blip r:embed="rId4"/>
          <a:stretch>
            <a:fillRect/>
          </a:stretch>
        </p:blipFill>
        <p:spPr>
          <a:xfrm>
            <a:off x="7651320" y="5848095"/>
            <a:ext cx="128699" cy="187198"/>
          </a:xfrm>
          <a:prstGeom prst="rect">
            <a:avLst/>
          </a:prstGeom>
        </p:spPr>
      </p:pic>
      <p:sp>
        <p:nvSpPr>
          <p:cNvPr id="307" name="TextBox 306"/>
          <p:cNvSpPr txBox="1"/>
          <p:nvPr/>
        </p:nvSpPr>
        <p:spPr>
          <a:xfrm>
            <a:off x="7818816" y="5857875"/>
            <a:ext cx="982868" cy="186689"/>
          </a:xfrm>
          <a:prstGeom prst="rect">
            <a:avLst/>
          </a:prstGeom>
          <a:noFill/>
        </p:spPr>
        <p:txBody>
          <a:bodyPr wrap="none" lIns="0" rIns="0" tIns="0" bIns="0">
            <a:spAutoFit/>
          </a:bodyPr>
          <a:lstStyle/>
          <a:p>
            <a:r>
              <a:rPr sz="1100" b="0">
                <a:solidFill>
                  <a:srgbClr val="14213D"/>
                </a:solidFill>
                <a:latin typeface="Calibri"/>
              </a:rPr>
              <a:t>CAGR, moving +</a:t>
            </a:r>
          </a:p>
        </p:txBody>
      </p:sp>
      <p:pic>
        <p:nvPicPr>
          <p:cNvPr id="308" name="Picture 307" descr="lock.png"/>
          <p:cNvPicPr>
            <a:picLocks noChangeAspect="1"/>
          </p:cNvPicPr>
          <p:nvPr/>
        </p:nvPicPr>
        <p:blipFill>
          <a:blip r:embed="rId4"/>
          <a:stretch>
            <a:fillRect/>
          </a:stretch>
        </p:blipFill>
        <p:spPr>
          <a:xfrm>
            <a:off x="8749737" y="5848095"/>
            <a:ext cx="128699" cy="187198"/>
          </a:xfrm>
          <a:prstGeom prst="rect">
            <a:avLst/>
          </a:prstGeom>
        </p:spPr>
      </p:pic>
      <p:sp>
        <p:nvSpPr>
          <p:cNvPr id="309" name="TextBox 308"/>
          <p:cNvSpPr txBox="1"/>
          <p:nvPr/>
        </p:nvSpPr>
        <p:spPr>
          <a:xfrm>
            <a:off x="8917232" y="5857875"/>
            <a:ext cx="1234727" cy="186689"/>
          </a:xfrm>
          <a:prstGeom prst="rect">
            <a:avLst/>
          </a:prstGeom>
          <a:noFill/>
        </p:spPr>
        <p:txBody>
          <a:bodyPr wrap="none" lIns="0" rIns="0" tIns="0" bIns="0">
            <a:spAutoFit/>
          </a:bodyPr>
          <a:lstStyle/>
          <a:p>
            <a:r>
              <a:rPr sz="1100" b="0">
                <a:solidFill>
                  <a:srgbClr val="14213D"/>
                </a:solidFill>
                <a:latin typeface="Calibri"/>
              </a:rPr>
              <a:t>pp of share by 2036.</a:t>
            </a:r>
          </a:p>
        </p:txBody>
      </p:sp>
      <p:sp>
        <p:nvSpPr>
          <p:cNvPr id="310" name="TextBox 309"/>
          <p:cNvSpPr txBox="1"/>
          <p:nvPr/>
        </p:nvSpPr>
        <p:spPr>
          <a:xfrm>
            <a:off x="6372225" y="6076950"/>
            <a:ext cx="2161604" cy="186689"/>
          </a:xfrm>
          <a:prstGeom prst="rect">
            <a:avLst/>
          </a:prstGeom>
          <a:noFill/>
        </p:spPr>
        <p:txBody>
          <a:bodyPr wrap="none" lIns="0" rIns="0" tIns="0" bIns="0">
            <a:spAutoFit/>
          </a:bodyPr>
          <a:lstStyle/>
          <a:p>
            <a:r>
              <a:rPr sz="1100" b="0">
                <a:solidFill>
                  <a:srgbClr val="14213D"/>
                </a:solidFill>
                <a:latin typeface="Calibri"/>
              </a:rPr>
              <a:t>Tier 3 and the long tail together hold</a:t>
            </a:r>
          </a:p>
        </p:txBody>
      </p:sp>
      <p:pic>
        <p:nvPicPr>
          <p:cNvPr id="311" name="Picture 310" descr="lock.png"/>
          <p:cNvPicPr>
            <a:picLocks noChangeAspect="1"/>
          </p:cNvPicPr>
          <p:nvPr/>
        </p:nvPicPr>
        <p:blipFill>
          <a:blip r:embed="rId4"/>
          <a:stretch>
            <a:fillRect/>
          </a:stretch>
        </p:blipFill>
        <p:spPr>
          <a:xfrm>
            <a:off x="8481881" y="6067170"/>
            <a:ext cx="128699" cy="187198"/>
          </a:xfrm>
          <a:prstGeom prst="rect">
            <a:avLst/>
          </a:prstGeom>
        </p:spPr>
      </p:pic>
      <p:sp>
        <p:nvSpPr>
          <p:cNvPr id="312" name="TextBox 311"/>
          <p:cNvSpPr txBox="1"/>
          <p:nvPr/>
        </p:nvSpPr>
        <p:spPr>
          <a:xfrm>
            <a:off x="8649376" y="6076950"/>
            <a:ext cx="2127498" cy="186689"/>
          </a:xfrm>
          <a:prstGeom prst="rect">
            <a:avLst/>
          </a:prstGeom>
          <a:noFill/>
        </p:spPr>
        <p:txBody>
          <a:bodyPr wrap="none" lIns="0" rIns="0" tIns="0" bIns="0">
            <a:spAutoFit/>
          </a:bodyPr>
          <a:lstStyle/>
          <a:p>
            <a:r>
              <a:rPr sz="1100" b="0">
                <a:solidFill>
                  <a:srgbClr val="14213D"/>
                </a:solidFill>
                <a:latin typeface="Calibri"/>
              </a:rPr>
              <a:t>of value; the average Tier 3 player is</a:t>
            </a:r>
          </a:p>
        </p:txBody>
      </p:sp>
      <p:pic>
        <p:nvPicPr>
          <p:cNvPr id="313" name="Picture 312" descr="lock.png"/>
          <p:cNvPicPr>
            <a:picLocks noChangeAspect="1"/>
          </p:cNvPicPr>
          <p:nvPr/>
        </p:nvPicPr>
        <p:blipFill>
          <a:blip r:embed="rId4"/>
          <a:stretch>
            <a:fillRect/>
          </a:stretch>
        </p:blipFill>
        <p:spPr>
          <a:xfrm>
            <a:off x="10724926" y="6067170"/>
            <a:ext cx="128699" cy="187198"/>
          </a:xfrm>
          <a:prstGeom prst="rect">
            <a:avLst/>
          </a:prstGeom>
        </p:spPr>
      </p:pic>
      <p:sp>
        <p:nvSpPr>
          <p:cNvPr id="314" name="TextBox 313"/>
          <p:cNvSpPr txBox="1"/>
          <p:nvPr/>
        </p:nvSpPr>
        <p:spPr>
          <a:xfrm>
            <a:off x="10892422" y="6076950"/>
            <a:ext cx="876473" cy="186689"/>
          </a:xfrm>
          <a:prstGeom prst="rect">
            <a:avLst/>
          </a:prstGeom>
          <a:noFill/>
        </p:spPr>
        <p:txBody>
          <a:bodyPr wrap="none" lIns="0" rIns="0" tIns="0" bIns="0">
            <a:spAutoFit/>
          </a:bodyPr>
          <a:lstStyle/>
          <a:p>
            <a:r>
              <a:rPr sz="1100" b="0">
                <a:solidFill>
                  <a:srgbClr val="14213D"/>
                </a:solidFill>
                <a:latin typeface="Calibri"/>
              </a:rPr>
              <a:t>x smaller than</a:t>
            </a:r>
          </a:p>
        </p:txBody>
      </p:sp>
      <p:sp>
        <p:nvSpPr>
          <p:cNvPr id="315" name="TextBox 314"/>
          <p:cNvSpPr txBox="1"/>
          <p:nvPr/>
        </p:nvSpPr>
        <p:spPr>
          <a:xfrm>
            <a:off x="6372225" y="6244590"/>
            <a:ext cx="1020539" cy="186689"/>
          </a:xfrm>
          <a:prstGeom prst="rect">
            <a:avLst/>
          </a:prstGeom>
          <a:noFill/>
        </p:spPr>
        <p:txBody>
          <a:bodyPr wrap="none" lIns="0" rIns="0" tIns="0" bIns="0">
            <a:spAutoFit/>
          </a:bodyPr>
          <a:lstStyle/>
          <a:p>
            <a:r>
              <a:rPr sz="1100" b="0">
                <a:solidFill>
                  <a:srgbClr val="14213D"/>
                </a:solidFill>
                <a:latin typeface="Calibri"/>
              </a:rPr>
              <a:t>a Tier 1 supplier.</a:t>
            </a:r>
          </a:p>
        </p:txBody>
      </p:sp>
    </p:spTree>
  </p:cSld>
  <p:clrMapOvr>
    <a:masterClrMapping/>
  </p:clrMapOvr>
</p:sld>
</file>

<file path=ppt/slides/slide303.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Industry Structure Landscape – Matcha Market, Global 2026 (2/2)</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Tier ladder, market concentration and tier profile, and the structural shift 2026→2036 shaping the tier structure</a:t>
            </a:r>
          </a:p>
        </p:txBody>
      </p:sp>
      <p:sp>
        <p:nvSpPr>
          <p:cNvPr id="10" name="Rounded Rectangle 9"/>
          <p:cNvSpPr/>
          <p:nvPr/>
        </p:nvSpPr>
        <p:spPr>
          <a:xfrm>
            <a:off x="142875" y="1047750"/>
            <a:ext cx="11906250" cy="2381250"/>
          </a:xfrm>
          <a:prstGeom prst="roundRect">
            <a:avLst>
              <a:gd name="adj" fmla="val 64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 name="TextBox 10"/>
          <p:cNvSpPr txBox="1"/>
          <p:nvPr/>
        </p:nvSpPr>
        <p:spPr>
          <a:xfrm>
            <a:off x="238125" y="1104900"/>
            <a:ext cx="11715750"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Shift, 2026 → 2036 – Tier Migration and Entry / Exit</a:t>
            </a:r>
          </a:p>
        </p:txBody>
      </p:sp>
      <p:sp>
        <p:nvSpPr>
          <p:cNvPr id="12" name="Rounded Rectangle 11"/>
          <p:cNvSpPr/>
          <p:nvPr/>
        </p:nvSpPr>
        <p:spPr>
          <a:xfrm>
            <a:off x="257175" y="1390650"/>
            <a:ext cx="1905000" cy="876300"/>
          </a:xfrm>
          <a:prstGeom prst="roundRect">
            <a:avLst>
              <a:gd name="adj" fmla="val 4000"/>
            </a:avLst>
          </a:prstGeom>
          <a:solidFill>
            <a:srgbClr val="1F3A6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TextBox 12"/>
          <p:cNvSpPr txBox="1"/>
          <p:nvPr/>
        </p:nvSpPr>
        <p:spPr>
          <a:xfrm>
            <a:off x="2571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1</a:t>
            </a:r>
          </a:p>
        </p:txBody>
      </p:sp>
      <p:sp>
        <p:nvSpPr>
          <p:cNvPr id="14" name="TextBox 13"/>
          <p:cNvSpPr txBox="1"/>
          <p:nvPr/>
        </p:nvSpPr>
        <p:spPr>
          <a:xfrm>
            <a:off x="2571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Top / global players</a:t>
            </a:r>
          </a:p>
        </p:txBody>
      </p:sp>
      <p:sp>
        <p:nvSpPr>
          <p:cNvPr id="15" name="TextBox 14"/>
          <p:cNvSpPr txBox="1"/>
          <p:nvPr/>
        </p:nvSpPr>
        <p:spPr>
          <a:xfrm>
            <a:off x="2952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16" name="TextBox 15"/>
          <p:cNvSpPr txBox="1"/>
          <p:nvPr/>
        </p:nvSpPr>
        <p:spPr>
          <a:xfrm>
            <a:off x="22383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17" name="Connector 16"/>
          <p:cNvCxnSpPr/>
          <p:nvPr/>
        </p:nvCxnSpPr>
        <p:spPr>
          <a:xfrm>
            <a:off x="23145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18" name="Freeform 17"/>
          <p:cNvSpPr/>
          <p:nvPr/>
        </p:nvSpPr>
        <p:spPr>
          <a:xfrm>
            <a:off x="22383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9" name="Connector 18"/>
          <p:cNvCxnSpPr/>
          <p:nvPr/>
        </p:nvCxnSpPr>
        <p:spPr>
          <a:xfrm>
            <a:off x="22383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20" name="Freeform 19"/>
          <p:cNvSpPr/>
          <p:nvPr/>
        </p:nvSpPr>
        <p:spPr>
          <a:xfrm>
            <a:off x="33432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 name="TextBox 20"/>
          <p:cNvSpPr txBox="1"/>
          <p:nvPr/>
        </p:nvSpPr>
        <p:spPr>
          <a:xfrm>
            <a:off x="22383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22" name="Rounded Rectangle 21"/>
          <p:cNvSpPr/>
          <p:nvPr/>
        </p:nvSpPr>
        <p:spPr>
          <a:xfrm>
            <a:off x="3514725" y="1390650"/>
            <a:ext cx="1905000" cy="876300"/>
          </a:xfrm>
          <a:prstGeom prst="roundRect">
            <a:avLst>
              <a:gd name="adj" fmla="val 4000"/>
            </a:avLst>
          </a:prstGeom>
          <a:solidFill>
            <a:srgbClr val="2E6DB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 name="TextBox 22"/>
          <p:cNvSpPr txBox="1"/>
          <p:nvPr/>
        </p:nvSpPr>
        <p:spPr>
          <a:xfrm>
            <a:off x="351472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2</a:t>
            </a:r>
          </a:p>
        </p:txBody>
      </p:sp>
      <p:sp>
        <p:nvSpPr>
          <p:cNvPr id="24" name="TextBox 23"/>
          <p:cNvSpPr txBox="1"/>
          <p:nvPr/>
        </p:nvSpPr>
        <p:spPr>
          <a:xfrm>
            <a:off x="351472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Mid-sized players</a:t>
            </a:r>
          </a:p>
        </p:txBody>
      </p:sp>
      <p:sp>
        <p:nvSpPr>
          <p:cNvPr id="25" name="TextBox 24"/>
          <p:cNvSpPr txBox="1"/>
          <p:nvPr/>
        </p:nvSpPr>
        <p:spPr>
          <a:xfrm>
            <a:off x="35528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26" name="TextBox 25"/>
          <p:cNvSpPr txBox="1"/>
          <p:nvPr/>
        </p:nvSpPr>
        <p:spPr>
          <a:xfrm>
            <a:off x="549592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1 up-tier (M&amp;A)</a:t>
            </a:r>
          </a:p>
        </p:txBody>
      </p:sp>
      <p:cxnSp>
        <p:nvCxnSpPr>
          <p:cNvPr id="27" name="Connector 26"/>
          <p:cNvCxnSpPr/>
          <p:nvPr/>
        </p:nvCxnSpPr>
        <p:spPr>
          <a:xfrm>
            <a:off x="557212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28" name="Freeform 27"/>
          <p:cNvSpPr/>
          <p:nvPr/>
        </p:nvSpPr>
        <p:spPr>
          <a:xfrm>
            <a:off x="549592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29" name="Connector 28"/>
          <p:cNvCxnSpPr/>
          <p:nvPr/>
        </p:nvCxnSpPr>
        <p:spPr>
          <a:xfrm>
            <a:off x="549592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30" name="Freeform 29"/>
          <p:cNvSpPr/>
          <p:nvPr/>
        </p:nvSpPr>
        <p:spPr>
          <a:xfrm>
            <a:off x="660082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 name="TextBox 30"/>
          <p:cNvSpPr txBox="1"/>
          <p:nvPr/>
        </p:nvSpPr>
        <p:spPr>
          <a:xfrm>
            <a:off x="549592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0 down / exit</a:t>
            </a:r>
          </a:p>
        </p:txBody>
      </p:sp>
      <p:sp>
        <p:nvSpPr>
          <p:cNvPr id="32" name="Rounded Rectangle 31"/>
          <p:cNvSpPr/>
          <p:nvPr/>
        </p:nvSpPr>
        <p:spPr>
          <a:xfrm>
            <a:off x="6772275" y="1390650"/>
            <a:ext cx="1905000" cy="876300"/>
          </a:xfrm>
          <a:prstGeom prst="roundRect">
            <a:avLst>
              <a:gd name="adj" fmla="val 4000"/>
            </a:avLst>
          </a:prstGeom>
          <a:solidFill>
            <a:srgbClr val="6FA8D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 name="TextBox 32"/>
          <p:cNvSpPr txBox="1"/>
          <p:nvPr/>
        </p:nvSpPr>
        <p:spPr>
          <a:xfrm>
            <a:off x="6772275" y="1447800"/>
            <a:ext cx="1905000" cy="209550"/>
          </a:xfrm>
          <a:prstGeom prst="rect">
            <a:avLst/>
          </a:prstGeom>
          <a:noFill/>
        </p:spPr>
        <p:txBody>
          <a:bodyPr wrap="square" lIns="28575" rIns="28575" tIns="9525" bIns="9525" anchor="ctr">
            <a:spAutoFit/>
          </a:bodyPr>
          <a:lstStyle/>
          <a:p>
            <a:pPr algn="ctr"/>
            <a:r>
              <a:rPr sz="1100" b="1">
                <a:solidFill>
                  <a:srgbClr val="FFFFFF"/>
                </a:solidFill>
                <a:latin typeface="Calibri"/>
              </a:rPr>
              <a:t>Tier 3</a:t>
            </a:r>
          </a:p>
        </p:txBody>
      </p:sp>
      <p:sp>
        <p:nvSpPr>
          <p:cNvPr id="34" name="TextBox 33"/>
          <p:cNvSpPr txBox="1"/>
          <p:nvPr/>
        </p:nvSpPr>
        <p:spPr>
          <a:xfrm>
            <a:off x="6772275" y="1676400"/>
            <a:ext cx="1905000" cy="171450"/>
          </a:xfrm>
          <a:prstGeom prst="rect">
            <a:avLst/>
          </a:prstGeom>
          <a:noFill/>
        </p:spPr>
        <p:txBody>
          <a:bodyPr wrap="square" lIns="28575" rIns="28575" tIns="9525" bIns="9525" anchor="ctr">
            <a:spAutoFit/>
          </a:bodyPr>
          <a:lstStyle/>
          <a:p>
            <a:pPr algn="ctr"/>
            <a:r>
              <a:rPr sz="1100" b="0">
                <a:solidFill>
                  <a:srgbClr val="FFFFFF"/>
                </a:solidFill>
                <a:latin typeface="Calibri"/>
              </a:rPr>
              <a:t>Emerging / local players</a:t>
            </a:r>
          </a:p>
        </p:txBody>
      </p:sp>
      <p:sp>
        <p:nvSpPr>
          <p:cNvPr id="35" name="TextBox 34"/>
          <p:cNvSpPr txBox="1"/>
          <p:nvPr/>
        </p:nvSpPr>
        <p:spPr>
          <a:xfrm>
            <a:off x="681037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FFFFFF"/>
                </a:solidFill>
                <a:latin typeface="Calibri"/>
              </a:rPr>
              <a:t/>
            </a:r>
          </a:p>
        </p:txBody>
      </p:sp>
      <p:sp>
        <p:nvSpPr>
          <p:cNvPr id="36" name="TextBox 35"/>
          <p:cNvSpPr txBox="1"/>
          <p:nvPr/>
        </p:nvSpPr>
        <p:spPr>
          <a:xfrm>
            <a:off x="8753475" y="1466850"/>
            <a:ext cx="1200150" cy="171450"/>
          </a:xfrm>
          <a:prstGeom prst="rect">
            <a:avLst/>
          </a:prstGeom>
          <a:noFill/>
        </p:spPr>
        <p:txBody>
          <a:bodyPr wrap="square" lIns="28575" rIns="28575" tIns="9525" bIns="9525" anchor="ctr">
            <a:spAutoFit/>
          </a:bodyPr>
          <a:lstStyle/>
          <a:p>
            <a:pPr algn="ctr"/>
            <a:r>
              <a:rPr sz="1100" b="1">
                <a:solidFill>
                  <a:srgbClr val="0E8C8C"/>
                </a:solidFill>
                <a:latin typeface="Calibri"/>
              </a:rPr>
              <a:t>2 up-tier (M&amp;A)</a:t>
            </a:r>
          </a:p>
        </p:txBody>
      </p:sp>
      <p:cxnSp>
        <p:nvCxnSpPr>
          <p:cNvPr id="37" name="Connector 36"/>
          <p:cNvCxnSpPr/>
          <p:nvPr/>
        </p:nvCxnSpPr>
        <p:spPr>
          <a:xfrm>
            <a:off x="8829675" y="1695450"/>
            <a:ext cx="1123950" cy="0"/>
          </a:xfrm>
          <a:prstGeom prst="line">
            <a:avLst/>
          </a:prstGeom>
          <a:ln w="25400">
            <a:solidFill>
              <a:srgbClr val="0E8C8C"/>
            </a:solidFill>
          </a:ln>
          <a:effectLst/>
        </p:spPr>
        <p:style>
          <a:lnRef idx="2">
            <a:schemeClr val="accent1"/>
          </a:lnRef>
          <a:fillRef idx="0">
            <a:schemeClr val="accent1"/>
          </a:fillRef>
          <a:effectRef idx="1">
            <a:schemeClr val="accent1"/>
          </a:effectRef>
          <a:fontRef idx="minor">
            <a:schemeClr val="tx1"/>
          </a:fontRef>
        </p:style>
      </p:cxnSp>
      <p:sp>
        <p:nvSpPr>
          <p:cNvPr id="38" name="Freeform 37"/>
          <p:cNvSpPr/>
          <p:nvPr/>
        </p:nvSpPr>
        <p:spPr>
          <a:xfrm>
            <a:off x="8753475" y="1647825"/>
            <a:ext cx="95250" cy="95250"/>
          </a:xfrm>
          <a:custGeom>
            <a:avLst/>
            <a:gdLst/>
            <a:ahLst/>
            <a:cxnLst/>
            <a:rect l="l" t="t" r="r" b="b"/>
            <a:pathLst>
              <a:path w="10" h="10">
                <a:moveTo>
                  <a:pt x="0" y="5"/>
                </a:moveTo>
                <a:lnTo>
                  <a:pt x="10" y="0"/>
                </a:lnTo>
                <a:lnTo>
                  <a:pt x="10" y="10"/>
                </a:lnTo>
                <a:close/>
              </a:path>
            </a:pathLst>
          </a:custGeom>
          <a:solidFill>
            <a:srgbClr val="0E8C8C"/>
          </a:solidFill>
          <a:ln w="9525">
            <a:solidFill>
              <a:srgbClr val="0E8C8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39" name="Connector 38"/>
          <p:cNvCxnSpPr/>
          <p:nvPr/>
        </p:nvCxnSpPr>
        <p:spPr>
          <a:xfrm>
            <a:off x="8753475" y="1962150"/>
            <a:ext cx="1123950" cy="0"/>
          </a:xfrm>
          <a:prstGeom prst="line">
            <a:avLst/>
          </a:prstGeom>
          <a:ln w="25400">
            <a:solidFill>
              <a:srgbClr val="D08C2A"/>
            </a:solidFill>
          </a:ln>
          <a:effectLst/>
        </p:spPr>
        <p:style>
          <a:lnRef idx="2">
            <a:schemeClr val="accent1"/>
          </a:lnRef>
          <a:fillRef idx="0">
            <a:schemeClr val="accent1"/>
          </a:fillRef>
          <a:effectRef idx="1">
            <a:schemeClr val="accent1"/>
          </a:effectRef>
          <a:fontRef idx="minor">
            <a:schemeClr val="tx1"/>
          </a:fontRef>
        </p:style>
      </p:cxnSp>
      <p:sp>
        <p:nvSpPr>
          <p:cNvPr id="40" name="Freeform 39"/>
          <p:cNvSpPr/>
          <p:nvPr/>
        </p:nvSpPr>
        <p:spPr>
          <a:xfrm>
            <a:off x="9858375" y="1914525"/>
            <a:ext cx="95250" cy="95250"/>
          </a:xfrm>
          <a:custGeom>
            <a:avLst/>
            <a:gdLst/>
            <a:ahLst/>
            <a:cxnLst/>
            <a:rect l="l" t="t" r="r" b="b"/>
            <a:pathLst>
              <a:path w="10" h="10">
                <a:moveTo>
                  <a:pt x="10" y="5"/>
                </a:moveTo>
                <a:lnTo>
                  <a:pt x="0" y="0"/>
                </a:lnTo>
                <a:lnTo>
                  <a:pt x="0" y="10"/>
                </a:lnTo>
                <a:close/>
              </a:path>
            </a:pathLst>
          </a:custGeom>
          <a:solidFill>
            <a:srgbClr val="D08C2A"/>
          </a:solidFill>
          <a:ln w="9525">
            <a:solidFill>
              <a:srgbClr val="D08C2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1" name="TextBox 40"/>
          <p:cNvSpPr txBox="1"/>
          <p:nvPr/>
        </p:nvSpPr>
        <p:spPr>
          <a:xfrm>
            <a:off x="8753475" y="2019300"/>
            <a:ext cx="1200150" cy="171450"/>
          </a:xfrm>
          <a:prstGeom prst="rect">
            <a:avLst/>
          </a:prstGeom>
          <a:noFill/>
        </p:spPr>
        <p:txBody>
          <a:bodyPr wrap="square" lIns="28575" rIns="28575" tIns="9525" bIns="9525" anchor="ctr">
            <a:spAutoFit/>
          </a:bodyPr>
          <a:lstStyle/>
          <a:p>
            <a:pPr algn="ctr"/>
            <a:r>
              <a:rPr sz="1100" b="1">
                <a:solidFill>
                  <a:srgbClr val="D08C2A"/>
                </a:solidFill>
                <a:latin typeface="Calibri"/>
              </a:rPr>
              <a:t>1 down / exit</a:t>
            </a:r>
          </a:p>
        </p:txBody>
      </p:sp>
      <p:sp>
        <p:nvSpPr>
          <p:cNvPr id="42" name="Rounded Rectangle 41"/>
          <p:cNvSpPr/>
          <p:nvPr/>
        </p:nvSpPr>
        <p:spPr>
          <a:xfrm>
            <a:off x="10029825" y="1390650"/>
            <a:ext cx="1905000" cy="876300"/>
          </a:xfrm>
          <a:prstGeom prst="roundRect">
            <a:avLst>
              <a:gd name="adj" fmla="val 4000"/>
            </a:avLst>
          </a:prstGeom>
          <a:solidFill>
            <a:srgbClr val="9FC5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3" name="TextBox 42"/>
          <p:cNvSpPr txBox="1"/>
          <p:nvPr/>
        </p:nvSpPr>
        <p:spPr>
          <a:xfrm>
            <a:off x="10029825" y="1447800"/>
            <a:ext cx="1905000" cy="209550"/>
          </a:xfrm>
          <a:prstGeom prst="rect">
            <a:avLst/>
          </a:prstGeom>
          <a:noFill/>
        </p:spPr>
        <p:txBody>
          <a:bodyPr wrap="square" lIns="28575" rIns="28575" tIns="9525" bIns="9525" anchor="ctr">
            <a:spAutoFit/>
          </a:bodyPr>
          <a:lstStyle/>
          <a:p>
            <a:pPr algn="ctr"/>
            <a:r>
              <a:rPr sz="1100" b="1">
                <a:solidFill>
                  <a:srgbClr val="14213D"/>
                </a:solidFill>
                <a:latin typeface="Calibri"/>
              </a:rPr>
              <a:t>Others</a:t>
            </a:r>
          </a:p>
        </p:txBody>
      </p:sp>
      <p:sp>
        <p:nvSpPr>
          <p:cNvPr id="44" name="TextBox 43"/>
          <p:cNvSpPr txBox="1"/>
          <p:nvPr/>
        </p:nvSpPr>
        <p:spPr>
          <a:xfrm>
            <a:off x="10029825" y="1676400"/>
            <a:ext cx="1905000" cy="171450"/>
          </a:xfrm>
          <a:prstGeom prst="rect">
            <a:avLst/>
          </a:prstGeom>
          <a:noFill/>
        </p:spPr>
        <p:txBody>
          <a:bodyPr wrap="square" lIns="28575" rIns="28575" tIns="9525" bIns="9525" anchor="ctr">
            <a:spAutoFit/>
          </a:bodyPr>
          <a:lstStyle/>
          <a:p>
            <a:pPr algn="ctr"/>
            <a:r>
              <a:rPr sz="1100" b="0">
                <a:solidFill>
                  <a:srgbClr val="14213D"/>
                </a:solidFill>
                <a:latin typeface="Calibri"/>
              </a:rPr>
              <a:t>Long tail</a:t>
            </a:r>
          </a:p>
        </p:txBody>
      </p:sp>
      <p:sp>
        <p:nvSpPr>
          <p:cNvPr id="45" name="TextBox 44"/>
          <p:cNvSpPr txBox="1"/>
          <p:nvPr/>
        </p:nvSpPr>
        <p:spPr>
          <a:xfrm>
            <a:off x="10067925" y="1828800"/>
            <a:ext cx="1828800" cy="419100"/>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
            </a:r>
          </a:p>
        </p:txBody>
      </p:sp>
      <p:sp>
        <p:nvSpPr>
          <p:cNvPr id="46" name="Rounded Rectangle 45"/>
          <p:cNvSpPr/>
          <p:nvPr/>
        </p:nvSpPr>
        <p:spPr>
          <a:xfrm>
            <a:off x="2571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7" name="FMI KPI Value"/>
          <p:cNvSpPr txBox="1"/>
          <p:nvPr/>
        </p:nvSpPr>
        <p:spPr>
          <a:xfrm>
            <a:off x="3524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48" name="TextBox 47"/>
          <p:cNvSpPr txBox="1"/>
          <p:nvPr/>
        </p:nvSpPr>
        <p:spPr>
          <a:xfrm>
            <a:off x="11906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New entrants 2026–2036</a:t>
            </a:r>
          </a:p>
        </p:txBody>
      </p:sp>
      <p:sp>
        <p:nvSpPr>
          <p:cNvPr id="49" name="TextBox 48"/>
          <p:cNvSpPr txBox="1"/>
          <p:nvPr/>
        </p:nvSpPr>
        <p:spPr>
          <a:xfrm>
            <a:off x="11906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scaling up from the long tail</a:t>
            </a:r>
          </a:p>
        </p:txBody>
      </p:sp>
      <p:sp>
        <p:nvSpPr>
          <p:cNvPr id="50" name="Rounded Rectangle 49"/>
          <p:cNvSpPr/>
          <p:nvPr/>
        </p:nvSpPr>
        <p:spPr>
          <a:xfrm>
            <a:off x="32099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1" name="FMI KPI Value"/>
          <p:cNvSpPr txBox="1"/>
          <p:nvPr/>
        </p:nvSpPr>
        <p:spPr>
          <a:xfrm>
            <a:off x="33051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2" name="TextBox 51"/>
          <p:cNvSpPr txBox="1"/>
          <p:nvPr/>
        </p:nvSpPr>
        <p:spPr>
          <a:xfrm>
            <a:off x="41433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Exits / acquisitions</a:t>
            </a:r>
          </a:p>
        </p:txBody>
      </p:sp>
      <p:sp>
        <p:nvSpPr>
          <p:cNvPr id="53" name="TextBox 52"/>
          <p:cNvSpPr txBox="1"/>
          <p:nvPr/>
        </p:nvSpPr>
        <p:spPr>
          <a:xfrm>
            <a:off x="41433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absorbed mainly by Tier 1–2 acquirers</a:t>
            </a:r>
          </a:p>
        </p:txBody>
      </p:sp>
      <p:sp>
        <p:nvSpPr>
          <p:cNvPr id="54" name="Rounded Rectangle 53"/>
          <p:cNvSpPr/>
          <p:nvPr/>
        </p:nvSpPr>
        <p:spPr>
          <a:xfrm>
            <a:off x="616267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FMI KPI Value"/>
          <p:cNvSpPr txBox="1"/>
          <p:nvPr/>
        </p:nvSpPr>
        <p:spPr>
          <a:xfrm>
            <a:off x="625792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56" name="TextBox 55"/>
          <p:cNvSpPr txBox="1"/>
          <p:nvPr/>
        </p:nvSpPr>
        <p:spPr>
          <a:xfrm>
            <a:off x="709612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Net change in player count</a:t>
            </a:r>
          </a:p>
        </p:txBody>
      </p:sp>
      <p:sp>
        <p:nvSpPr>
          <p:cNvPr id="57" name="TextBox 56"/>
          <p:cNvSpPr txBox="1"/>
          <p:nvPr/>
        </p:nvSpPr>
        <p:spPr>
          <a:xfrm>
            <a:off x="709612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Between 2026 and 2036</a:t>
            </a:r>
          </a:p>
        </p:txBody>
      </p:sp>
      <p:sp>
        <p:nvSpPr>
          <p:cNvPr id="58" name="Rounded Rectangle 57"/>
          <p:cNvSpPr/>
          <p:nvPr/>
        </p:nvSpPr>
        <p:spPr>
          <a:xfrm>
            <a:off x="9115425" y="2400300"/>
            <a:ext cx="2819400" cy="914400"/>
          </a:xfrm>
          <a:prstGeom prst="roundRect">
            <a:avLst>
              <a:gd name="adj" fmla="val 2702"/>
            </a:avLst>
          </a:prstGeom>
          <a:solidFill>
            <a:srgbClr val="EAF1F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9" name="FMI KPI Value"/>
          <p:cNvSpPr txBox="1"/>
          <p:nvPr/>
        </p:nvSpPr>
        <p:spPr>
          <a:xfrm>
            <a:off x="9210675" y="2457450"/>
            <a:ext cx="762000" cy="342900"/>
          </a:xfrm>
          <a:prstGeom prst="rect">
            <a:avLst/>
          </a:prstGeom>
          <a:noFill/>
        </p:spPr>
        <p:txBody>
          <a:bodyPr wrap="square" lIns="28575" rIns="28575" tIns="9525" bIns="9525" anchor="ctr">
            <a:spAutoFit/>
          </a:bodyPr>
          <a:lstStyle/>
          <a:p>
            <a:pPr algn="ctr"/>
            <a:r>
              <a:rPr sz="1100" b="1">
                <a:solidFill>
                  <a:srgbClr val="1F3A6E"/>
                </a:solidFill>
                <a:latin typeface="Calibri"/>
              </a:rPr>
              <a:t> </a:t>
            </a:r>
          </a:p>
        </p:txBody>
      </p:sp>
      <p:sp>
        <p:nvSpPr>
          <p:cNvPr id="60" name="TextBox 59"/>
          <p:cNvSpPr txBox="1"/>
          <p:nvPr/>
        </p:nvSpPr>
        <p:spPr>
          <a:xfrm>
            <a:off x="10048875" y="2457450"/>
            <a:ext cx="1809750" cy="342900"/>
          </a:xfrm>
          <a:prstGeom prst="rect">
            <a:avLst/>
          </a:prstGeom>
          <a:noFill/>
        </p:spPr>
        <p:txBody>
          <a:bodyPr wrap="square" lIns="28575" rIns="28575" tIns="9525" bIns="9525" anchor="t">
            <a:spAutoFit/>
          </a:bodyPr>
          <a:lstStyle/>
          <a:p>
            <a:pPr algn="l">
              <a:lnSpc>
                <a:spcPct val="115000"/>
              </a:lnSpc>
            </a:pPr>
            <a:r>
              <a:rPr sz="1100" b="1">
                <a:solidFill>
                  <a:srgbClr val="14213D"/>
                </a:solidFill>
                <a:latin typeface="Calibri"/>
              </a:rPr>
              <a:t>Share moving between tiers</a:t>
            </a:r>
          </a:p>
        </p:txBody>
      </p:sp>
      <p:sp>
        <p:nvSpPr>
          <p:cNvPr id="61" name="TextBox 60"/>
          <p:cNvSpPr txBox="1"/>
          <p:nvPr/>
        </p:nvSpPr>
        <p:spPr>
          <a:xfrm>
            <a:off x="10048875" y="2800350"/>
            <a:ext cx="1809750" cy="381000"/>
          </a:xfrm>
          <a:prstGeom prst="rect">
            <a:avLst/>
          </a:prstGeom>
          <a:noFill/>
        </p:spPr>
        <p:txBody>
          <a:bodyPr wrap="square" lIns="28575" rIns="28575" tIns="9525" bIns="9525" anchor="t">
            <a:spAutoFit/>
          </a:bodyPr>
          <a:lstStyle/>
          <a:p>
            <a:pPr algn="l">
              <a:lnSpc>
                <a:spcPct val="115000"/>
              </a:lnSpc>
            </a:pPr>
            <a:r>
              <a:rPr sz="1100" b="0">
                <a:solidFill>
                  <a:srgbClr val="6B7280"/>
                </a:solidFill>
                <a:latin typeface="Calibri"/>
              </a:rPr>
              <a:t>largest transfer: Others → Tier 2</a:t>
            </a:r>
          </a:p>
        </p:txBody>
      </p:sp>
      <p:sp>
        <p:nvSpPr>
          <p:cNvPr id="62" name="Rounded Rectangle 61"/>
          <p:cNvSpPr/>
          <p:nvPr/>
        </p:nvSpPr>
        <p:spPr>
          <a:xfrm>
            <a:off x="142875" y="3543300"/>
            <a:ext cx="7096125" cy="3086100"/>
          </a:xfrm>
          <a:prstGeom prst="roundRect">
            <a:avLst>
              <a:gd name="adj" fmla="val 1073"/>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3" name="TextBox 62"/>
          <p:cNvSpPr txBox="1"/>
          <p:nvPr/>
        </p:nvSpPr>
        <p:spPr>
          <a:xfrm>
            <a:off x="238125" y="3600450"/>
            <a:ext cx="6905625" cy="209550"/>
          </a:xfrm>
          <a:prstGeom prst="rect">
            <a:avLst/>
          </a:prstGeom>
          <a:noFill/>
        </p:spPr>
        <p:txBody>
          <a:bodyPr wrap="square" lIns="28575" rIns="28575" tIns="9525" bIns="9525" anchor="ctr">
            <a:spAutoFit/>
          </a:bodyPr>
          <a:lstStyle/>
          <a:p>
            <a:pPr algn="l"/>
            <a:r>
              <a:rPr sz="1200" b="1">
                <a:solidFill>
                  <a:srgbClr val="2E2E2E"/>
                </a:solidFill>
                <a:latin typeface="Calibri"/>
              </a:rPr>
              <a:t>Structural Forces Shaping the Tier Structure (1 = weak, 5 = strong)</a:t>
            </a:r>
          </a:p>
        </p:txBody>
      </p:sp>
      <p:sp>
        <p:nvSpPr>
          <p:cNvPr id="64" name="Rectangle 63"/>
          <p:cNvSpPr/>
          <p:nvPr/>
        </p:nvSpPr>
        <p:spPr>
          <a:xfrm>
            <a:off x="238125" y="3867150"/>
            <a:ext cx="1428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5" name="TextBox 64"/>
          <p:cNvSpPr txBox="1"/>
          <p:nvPr/>
        </p:nvSpPr>
        <p:spPr>
          <a:xfrm>
            <a:off x="295275" y="3867150"/>
            <a:ext cx="1352550" cy="247650"/>
          </a:xfrm>
          <a:prstGeom prst="rect">
            <a:avLst/>
          </a:prstGeom>
          <a:noFill/>
        </p:spPr>
        <p:txBody>
          <a:bodyPr wrap="square" lIns="28575" rIns="28575" tIns="9525" bIns="9525" anchor="ctr">
            <a:spAutoFit/>
          </a:bodyPr>
          <a:lstStyle/>
          <a:p>
            <a:pPr algn="l"/>
            <a:r>
              <a:rPr sz="1100" b="1">
                <a:solidFill>
                  <a:srgbClr val="FFFFFF"/>
                </a:solidFill>
                <a:latin typeface="Calibri"/>
              </a:rPr>
              <a:t>Force</a:t>
            </a:r>
          </a:p>
        </p:txBody>
      </p:sp>
      <p:sp>
        <p:nvSpPr>
          <p:cNvPr id="66" name="Rectangle 65"/>
          <p:cNvSpPr/>
          <p:nvPr/>
        </p:nvSpPr>
        <p:spPr>
          <a:xfrm>
            <a:off x="1666875" y="3867150"/>
            <a:ext cx="2333625"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7" name="TextBox 66"/>
          <p:cNvSpPr txBox="1"/>
          <p:nvPr/>
        </p:nvSpPr>
        <p:spPr>
          <a:xfrm>
            <a:off x="1724025" y="3867150"/>
            <a:ext cx="2257425" cy="247650"/>
          </a:xfrm>
          <a:prstGeom prst="rect">
            <a:avLst/>
          </a:prstGeom>
          <a:noFill/>
        </p:spPr>
        <p:txBody>
          <a:bodyPr wrap="square" lIns="28575" rIns="28575" tIns="9525" bIns="9525" anchor="ctr">
            <a:spAutoFit/>
          </a:bodyPr>
          <a:lstStyle/>
          <a:p>
            <a:pPr algn="l"/>
            <a:r>
              <a:rPr sz="1100" b="1">
                <a:solidFill>
                  <a:srgbClr val="FFFFFF"/>
                </a:solidFill>
                <a:latin typeface="Calibri"/>
              </a:rPr>
              <a:t>Drivers in the market</a:t>
            </a:r>
          </a:p>
        </p:txBody>
      </p:sp>
      <p:sp>
        <p:nvSpPr>
          <p:cNvPr id="68" name="Rectangle 67"/>
          <p:cNvSpPr/>
          <p:nvPr/>
        </p:nvSpPr>
        <p:spPr>
          <a:xfrm>
            <a:off x="4000500" y="3867150"/>
            <a:ext cx="666750" cy="247650"/>
          </a:xfrm>
          <a:prstGeom prst="rect">
            <a:avLst/>
          </a:prstGeom>
          <a:solidFill>
            <a:srgbClr val="1F3A6E"/>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9" name="TextBox 68"/>
          <p:cNvSpPr txBox="1"/>
          <p:nvPr/>
        </p:nvSpPr>
        <p:spPr>
          <a:xfrm>
            <a:off x="4057650" y="3867150"/>
            <a:ext cx="590550" cy="247650"/>
          </a:xfrm>
          <a:prstGeom prst="rect">
            <a:avLst/>
          </a:prstGeom>
          <a:noFill/>
        </p:spPr>
        <p:txBody>
          <a:bodyPr wrap="square" lIns="28575" rIns="28575" tIns="9525" bIns="9525" anchor="ctr">
            <a:spAutoFit/>
          </a:bodyPr>
          <a:lstStyle/>
          <a:p>
            <a:pPr algn="l"/>
            <a:r>
              <a:rPr sz="1100" b="1">
                <a:solidFill>
                  <a:srgbClr val="FFFFFF"/>
                </a:solidFill>
                <a:latin typeface="Calibri"/>
              </a:rPr>
              <a:t>Score</a:t>
            </a:r>
          </a:p>
        </p:txBody>
      </p:sp>
      <p:sp>
        <p:nvSpPr>
          <p:cNvPr id="70" name="Rectangle 69"/>
          <p:cNvSpPr/>
          <p:nvPr/>
        </p:nvSpPr>
        <p:spPr>
          <a:xfrm>
            <a:off x="4667250" y="3867150"/>
            <a:ext cx="2476500" cy="247650"/>
          </a:xfrm>
          <a:prstGeom prst="rect">
            <a:avLst/>
          </a:prstGeom>
          <a:solidFill>
            <a:srgbClr val="0E8C8C"/>
          </a:solidFill>
          <a:ln w="9525">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1" name="TextBox 70"/>
          <p:cNvSpPr txBox="1"/>
          <p:nvPr/>
        </p:nvSpPr>
        <p:spPr>
          <a:xfrm>
            <a:off x="4724400" y="3867150"/>
            <a:ext cx="2400300" cy="247650"/>
          </a:xfrm>
          <a:prstGeom prst="rect">
            <a:avLst/>
          </a:prstGeom>
          <a:noFill/>
        </p:spPr>
        <p:txBody>
          <a:bodyPr wrap="square" lIns="28575" rIns="28575" tIns="9525" bIns="9525" anchor="ctr">
            <a:spAutoFit/>
          </a:bodyPr>
          <a:lstStyle/>
          <a:p>
            <a:pPr algn="l"/>
            <a:r>
              <a:rPr sz="1100" b="1">
                <a:solidFill>
                  <a:srgbClr val="FFFFFF"/>
                </a:solidFill>
                <a:latin typeface="Calibri"/>
              </a:rPr>
              <a:t>Effect on tier structure</a:t>
            </a:r>
          </a:p>
        </p:txBody>
      </p:sp>
      <p:sp>
        <p:nvSpPr>
          <p:cNvPr id="72" name="Rectangle 71"/>
          <p:cNvSpPr/>
          <p:nvPr/>
        </p:nvSpPr>
        <p:spPr>
          <a:xfrm>
            <a:off x="238125" y="41148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3" name="TextBox 72"/>
          <p:cNvSpPr txBox="1"/>
          <p:nvPr/>
        </p:nvSpPr>
        <p:spPr>
          <a:xfrm>
            <a:off x="295275" y="41148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Entry barriers</a:t>
            </a:r>
          </a:p>
        </p:txBody>
      </p:sp>
      <p:sp>
        <p:nvSpPr>
          <p:cNvPr id="74" name="Rectangle 73"/>
          <p:cNvSpPr/>
          <p:nvPr/>
        </p:nvSpPr>
        <p:spPr>
          <a:xfrm>
            <a:off x="1666875" y="41148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5" name="TextBox 74"/>
          <p:cNvSpPr txBox="1"/>
          <p:nvPr/>
        </p:nvSpPr>
        <p:spPr>
          <a:xfrm>
            <a:off x="1724025" y="41148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Certification, qualification, scale economics</a:t>
            </a:r>
          </a:p>
        </p:txBody>
      </p:sp>
      <p:sp>
        <p:nvSpPr>
          <p:cNvPr id="76" name="Rectangle 75"/>
          <p:cNvSpPr/>
          <p:nvPr/>
        </p:nvSpPr>
        <p:spPr>
          <a:xfrm>
            <a:off x="4000500" y="41148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TextBox 76"/>
          <p:cNvSpPr txBox="1"/>
          <p:nvPr/>
        </p:nvSpPr>
        <p:spPr>
          <a:xfrm>
            <a:off x="4057650" y="41148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2 / 5</a:t>
            </a:r>
          </a:p>
        </p:txBody>
      </p:sp>
      <p:sp>
        <p:nvSpPr>
          <p:cNvPr id="78" name="Rectangle 77"/>
          <p:cNvSpPr/>
          <p:nvPr/>
        </p:nvSpPr>
        <p:spPr>
          <a:xfrm>
            <a:off x="4667250" y="41148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4724400" y="41148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Protects Tier 1–2; slows new entry</a:t>
            </a:r>
          </a:p>
        </p:txBody>
      </p:sp>
      <p:sp>
        <p:nvSpPr>
          <p:cNvPr id="80" name="Rectangle 79"/>
          <p:cNvSpPr/>
          <p:nvPr/>
        </p:nvSpPr>
        <p:spPr>
          <a:xfrm>
            <a:off x="238125" y="45243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1" name="TextBox 80"/>
          <p:cNvSpPr txBox="1"/>
          <p:nvPr/>
        </p:nvSpPr>
        <p:spPr>
          <a:xfrm>
            <a:off x="295275" y="45243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Buyer power</a:t>
            </a:r>
          </a:p>
        </p:txBody>
      </p:sp>
      <p:sp>
        <p:nvSpPr>
          <p:cNvPr id="82" name="Rectangle 81"/>
          <p:cNvSpPr/>
          <p:nvPr/>
        </p:nvSpPr>
        <p:spPr>
          <a:xfrm>
            <a:off x="1666875" y="45243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TextBox 82"/>
          <p:cNvSpPr txBox="1"/>
          <p:nvPr/>
        </p:nvSpPr>
        <p:spPr>
          <a:xfrm>
            <a:off x="1724025" y="452437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Key-account purchasing, multi-year supply contracts</a:t>
            </a:r>
          </a:p>
        </p:txBody>
      </p:sp>
      <p:sp>
        <p:nvSpPr>
          <p:cNvPr id="84" name="Rectangle 83"/>
          <p:cNvSpPr/>
          <p:nvPr/>
        </p:nvSpPr>
        <p:spPr>
          <a:xfrm>
            <a:off x="4000500" y="45243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5" name="TextBox 84"/>
          <p:cNvSpPr txBox="1"/>
          <p:nvPr/>
        </p:nvSpPr>
        <p:spPr>
          <a:xfrm>
            <a:off x="4057650" y="45243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4 / 5</a:t>
            </a:r>
          </a:p>
        </p:txBody>
      </p:sp>
      <p:sp>
        <p:nvSpPr>
          <p:cNvPr id="86" name="Rectangle 85"/>
          <p:cNvSpPr/>
          <p:nvPr/>
        </p:nvSpPr>
        <p:spPr>
          <a:xfrm>
            <a:off x="4667250" y="45243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4724400" y="452437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Compresses Tier 3 pricing</a:t>
            </a:r>
          </a:p>
        </p:txBody>
      </p:sp>
      <p:sp>
        <p:nvSpPr>
          <p:cNvPr id="88" name="Rectangle 87"/>
          <p:cNvSpPr/>
          <p:nvPr/>
        </p:nvSpPr>
        <p:spPr>
          <a:xfrm>
            <a:off x="238125" y="493395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95275" y="493395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Switching costs</a:t>
            </a:r>
          </a:p>
        </p:txBody>
      </p:sp>
      <p:sp>
        <p:nvSpPr>
          <p:cNvPr id="90" name="Rectangle 89"/>
          <p:cNvSpPr/>
          <p:nvPr/>
        </p:nvSpPr>
        <p:spPr>
          <a:xfrm>
            <a:off x="1666875" y="493395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1724025" y="493395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Requalification, integration and retraining</a:t>
            </a:r>
          </a:p>
        </p:txBody>
      </p:sp>
      <p:sp>
        <p:nvSpPr>
          <p:cNvPr id="92" name="Rectangle 91"/>
          <p:cNvSpPr/>
          <p:nvPr/>
        </p:nvSpPr>
        <p:spPr>
          <a:xfrm>
            <a:off x="4000500" y="493395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4057650" y="493395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5 / 5</a:t>
            </a:r>
          </a:p>
        </p:txBody>
      </p:sp>
      <p:sp>
        <p:nvSpPr>
          <p:cNvPr id="94" name="Rectangle 93"/>
          <p:cNvSpPr/>
          <p:nvPr/>
        </p:nvSpPr>
        <p:spPr>
          <a:xfrm>
            <a:off x="4667250" y="493395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4724400" y="493395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Locks in the installed base</a:t>
            </a:r>
          </a:p>
        </p:txBody>
      </p:sp>
      <p:sp>
        <p:nvSpPr>
          <p:cNvPr id="96" name="Rectangle 95"/>
          <p:cNvSpPr/>
          <p:nvPr/>
        </p:nvSpPr>
        <p:spPr>
          <a:xfrm>
            <a:off x="238125" y="534352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95275" y="534352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Technology substitution</a:t>
            </a:r>
          </a:p>
        </p:txBody>
      </p:sp>
      <p:sp>
        <p:nvSpPr>
          <p:cNvPr id="98" name="Rectangle 97"/>
          <p:cNvSpPr/>
          <p:nvPr/>
        </p:nvSpPr>
        <p:spPr>
          <a:xfrm>
            <a:off x="1666875" y="534352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1724025" y="5343525"/>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Alternative materials and next-generation formats</a:t>
            </a:r>
          </a:p>
        </p:txBody>
      </p:sp>
      <p:sp>
        <p:nvSpPr>
          <p:cNvPr id="100" name="Rectangle 99"/>
          <p:cNvSpPr/>
          <p:nvPr/>
        </p:nvSpPr>
        <p:spPr>
          <a:xfrm>
            <a:off x="4000500" y="534352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1" name="TextBox 100"/>
          <p:cNvSpPr txBox="1"/>
          <p:nvPr/>
        </p:nvSpPr>
        <p:spPr>
          <a:xfrm>
            <a:off x="4057650" y="534352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1 / 5</a:t>
            </a:r>
          </a:p>
        </p:txBody>
      </p:sp>
      <p:sp>
        <p:nvSpPr>
          <p:cNvPr id="102" name="Rectangle 101"/>
          <p:cNvSpPr/>
          <p:nvPr/>
        </p:nvSpPr>
        <p:spPr>
          <a:xfrm>
            <a:off x="4667250" y="534352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3" name="TextBox 102"/>
          <p:cNvSpPr txBox="1"/>
          <p:nvPr/>
        </p:nvSpPr>
        <p:spPr>
          <a:xfrm>
            <a:off x="4724400" y="5343525"/>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Opens demand to Tier 2–3 innovators</a:t>
            </a:r>
          </a:p>
        </p:txBody>
      </p:sp>
      <p:sp>
        <p:nvSpPr>
          <p:cNvPr id="104" name="Rectangle 103"/>
          <p:cNvSpPr/>
          <p:nvPr/>
        </p:nvSpPr>
        <p:spPr>
          <a:xfrm>
            <a:off x="238125" y="5753100"/>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5" name="TextBox 104"/>
          <p:cNvSpPr txBox="1"/>
          <p:nvPr/>
        </p:nvSpPr>
        <p:spPr>
          <a:xfrm>
            <a:off x="295275" y="5753100"/>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Supplier power</a:t>
            </a:r>
          </a:p>
        </p:txBody>
      </p:sp>
      <p:sp>
        <p:nvSpPr>
          <p:cNvPr id="106" name="Rectangle 105"/>
          <p:cNvSpPr/>
          <p:nvPr/>
        </p:nvSpPr>
        <p:spPr>
          <a:xfrm>
            <a:off x="1666875" y="5753100"/>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TextBox 106"/>
          <p:cNvSpPr txBox="1"/>
          <p:nvPr/>
        </p:nvSpPr>
        <p:spPr>
          <a:xfrm>
            <a:off x="1724025" y="5753100"/>
            <a:ext cx="2238375"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Few qualified input and component suppliers</a:t>
            </a:r>
          </a:p>
        </p:txBody>
      </p:sp>
      <p:sp>
        <p:nvSpPr>
          <p:cNvPr id="108" name="Rectangle 107"/>
          <p:cNvSpPr/>
          <p:nvPr/>
        </p:nvSpPr>
        <p:spPr>
          <a:xfrm>
            <a:off x="4000500" y="5753100"/>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9" name="TextBox 108"/>
          <p:cNvSpPr txBox="1"/>
          <p:nvPr/>
        </p:nvSpPr>
        <p:spPr>
          <a:xfrm>
            <a:off x="4057650" y="5753100"/>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 / 5</a:t>
            </a:r>
          </a:p>
        </p:txBody>
      </p:sp>
      <p:sp>
        <p:nvSpPr>
          <p:cNvPr id="110" name="Rectangle 109"/>
          <p:cNvSpPr/>
          <p:nvPr/>
        </p:nvSpPr>
        <p:spPr>
          <a:xfrm>
            <a:off x="4667250" y="5753100"/>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TextBox 110"/>
          <p:cNvSpPr txBox="1"/>
          <p:nvPr/>
        </p:nvSpPr>
        <p:spPr>
          <a:xfrm>
            <a:off x="4724400" y="5753100"/>
            <a:ext cx="2381250" cy="409575"/>
          </a:xfrm>
          <a:prstGeom prst="rect">
            <a:avLst/>
          </a:prstGeom>
          <a:noFill/>
        </p:spPr>
        <p:txBody>
          <a:bodyPr wrap="square" lIns="28575" rIns="28575" tIns="9525" bIns="9525" anchor="ctr">
            <a:spAutoFit/>
          </a:bodyPr>
          <a:lstStyle/>
          <a:p>
            <a:pPr algn="l">
              <a:lnSpc>
                <a:spcPct val="115000"/>
              </a:lnSpc>
            </a:pPr>
            <a:r>
              <a:rPr sz="1100" b="0">
                <a:solidFill>
                  <a:srgbClr val="14213D"/>
                </a:solidFill>
                <a:latin typeface="Calibri"/>
              </a:rPr>
              <a:t>Raises input cost for sub-scale players</a:t>
            </a:r>
          </a:p>
        </p:txBody>
      </p:sp>
      <p:sp>
        <p:nvSpPr>
          <p:cNvPr id="112" name="Rectangle 111"/>
          <p:cNvSpPr/>
          <p:nvPr/>
        </p:nvSpPr>
        <p:spPr>
          <a:xfrm>
            <a:off x="238125" y="6162675"/>
            <a:ext cx="1428750" cy="409575"/>
          </a:xfrm>
          <a:prstGeom prst="rect">
            <a:avLst/>
          </a:prstGeom>
          <a:solidFill>
            <a:srgbClr val="EAF1FA"/>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295275" y="6162675"/>
            <a:ext cx="133350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Overall structural pressure</a:t>
            </a:r>
          </a:p>
        </p:txBody>
      </p:sp>
      <p:sp>
        <p:nvSpPr>
          <p:cNvPr id="114" name="Rectangle 113"/>
          <p:cNvSpPr/>
          <p:nvPr/>
        </p:nvSpPr>
        <p:spPr>
          <a:xfrm>
            <a:off x="1666875" y="6162675"/>
            <a:ext cx="2333625"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5" name="TextBox 114"/>
          <p:cNvSpPr txBox="1"/>
          <p:nvPr/>
        </p:nvSpPr>
        <p:spPr>
          <a:xfrm>
            <a:off x="1724025" y="6162675"/>
            <a:ext cx="2238375"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Average of the five forces</a:t>
            </a:r>
          </a:p>
        </p:txBody>
      </p:sp>
      <p:sp>
        <p:nvSpPr>
          <p:cNvPr id="116" name="Rectangle 115"/>
          <p:cNvSpPr/>
          <p:nvPr/>
        </p:nvSpPr>
        <p:spPr>
          <a:xfrm>
            <a:off x="4000500" y="6162675"/>
            <a:ext cx="666750" cy="409575"/>
          </a:xfrm>
          <a:prstGeom prst="rect">
            <a:avLst/>
          </a:prstGeom>
          <a:solidFill>
            <a:srgbClr val="E0F3F3"/>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7" name="TextBox 116"/>
          <p:cNvSpPr txBox="1"/>
          <p:nvPr/>
        </p:nvSpPr>
        <p:spPr>
          <a:xfrm>
            <a:off x="4057650" y="6162675"/>
            <a:ext cx="571500" cy="409575"/>
          </a:xfrm>
          <a:prstGeom prst="rect">
            <a:avLst/>
          </a:prstGeom>
          <a:noFill/>
        </p:spPr>
        <p:txBody>
          <a:bodyPr wrap="square" lIns="28575" rIns="28575" tIns="9525" bIns="9525" anchor="ctr">
            <a:spAutoFit/>
          </a:bodyPr>
          <a:lstStyle/>
          <a:p>
            <a:pPr algn="ctr">
              <a:lnSpc>
                <a:spcPct val="115000"/>
              </a:lnSpc>
            </a:pPr>
            <a:r>
              <a:rPr sz="1100" b="1">
                <a:solidFill>
                  <a:srgbClr val="14213D"/>
                </a:solidFill>
                <a:latin typeface="Calibri"/>
              </a:rPr>
              <a:t>3.0 / 5</a:t>
            </a:r>
          </a:p>
        </p:txBody>
      </p:sp>
      <p:sp>
        <p:nvSpPr>
          <p:cNvPr id="118" name="Rectangle 117"/>
          <p:cNvSpPr/>
          <p:nvPr/>
        </p:nvSpPr>
        <p:spPr>
          <a:xfrm>
            <a:off x="4667250" y="6162675"/>
            <a:ext cx="2476500" cy="409575"/>
          </a:xfrm>
          <a:prstGeom prst="rect">
            <a:avLst/>
          </a:prstGeom>
          <a:solidFill>
            <a:srgbClr val="FFFFFF"/>
          </a:solidFill>
          <a:ln w="6350">
            <a:solidFill>
              <a:srgbClr val="C9D2D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9" name="TextBox 118"/>
          <p:cNvSpPr txBox="1"/>
          <p:nvPr/>
        </p:nvSpPr>
        <p:spPr>
          <a:xfrm>
            <a:off x="4724400" y="6162675"/>
            <a:ext cx="2381250" cy="409575"/>
          </a:xfrm>
          <a:prstGeom prst="rect">
            <a:avLst/>
          </a:prstGeom>
          <a:noFill/>
        </p:spPr>
        <p:txBody>
          <a:bodyPr wrap="square" lIns="28575" rIns="28575" tIns="9525" bIns="9525" anchor="ctr">
            <a:spAutoFit/>
          </a:bodyPr>
          <a:lstStyle/>
          <a:p>
            <a:pPr algn="l">
              <a:lnSpc>
                <a:spcPct val="115000"/>
              </a:lnSpc>
            </a:pPr>
            <a:r>
              <a:rPr sz="1100" b="1">
                <a:solidFill>
                  <a:srgbClr val="14213D"/>
                </a:solidFill>
                <a:latin typeface="Calibri"/>
              </a:rPr>
              <a:t>Consolidation towards Tier 1–2</a:t>
            </a:r>
          </a:p>
        </p:txBody>
      </p:sp>
      <p:sp>
        <p:nvSpPr>
          <p:cNvPr id="120" name="Rounded Rectangle 119"/>
          <p:cNvSpPr/>
          <p:nvPr/>
        </p:nvSpPr>
        <p:spPr>
          <a:xfrm>
            <a:off x="7381875" y="3543300"/>
            <a:ext cx="4667250" cy="3086100"/>
          </a:xfrm>
          <a:prstGeom prst="roundRect">
            <a:avLst>
              <a:gd name="adj" fmla="val 1632"/>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1" name="TextBox 120"/>
          <p:cNvSpPr txBox="1"/>
          <p:nvPr/>
        </p:nvSpPr>
        <p:spPr>
          <a:xfrm>
            <a:off x="7477125" y="3600450"/>
            <a:ext cx="4476750" cy="209550"/>
          </a:xfrm>
          <a:prstGeom prst="rect">
            <a:avLst/>
          </a:prstGeom>
          <a:noFill/>
        </p:spPr>
        <p:txBody>
          <a:bodyPr wrap="square" lIns="28575" rIns="28575" tIns="9525" bIns="9525" anchor="ctr">
            <a:spAutoFit/>
          </a:bodyPr>
          <a:lstStyle/>
          <a:p>
            <a:pPr algn="l"/>
            <a:r>
              <a:rPr sz="1200" b="1">
                <a:solidFill>
                  <a:srgbClr val="2E2E2E"/>
                </a:solidFill>
                <a:latin typeface="Calibri"/>
              </a:rPr>
              <a:t>Key Takeaways</a:t>
            </a:r>
          </a:p>
        </p:txBody>
      </p:sp>
      <p:sp>
        <p:nvSpPr>
          <p:cNvPr id="122" name="TextBox 121"/>
          <p:cNvSpPr txBox="1"/>
          <p:nvPr/>
        </p:nvSpPr>
        <p:spPr>
          <a:xfrm>
            <a:off x="7496175" y="384810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3" name="TextBox 122"/>
          <p:cNvSpPr txBox="1"/>
          <p:nvPr/>
        </p:nvSpPr>
        <p:spPr>
          <a:xfrm>
            <a:off x="7629525" y="3848100"/>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4" name="TextBox 123"/>
          <p:cNvSpPr txBox="1"/>
          <p:nvPr/>
        </p:nvSpPr>
        <p:spPr>
          <a:xfrm>
            <a:off x="7496175" y="4429125"/>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5" name="TextBox 124"/>
          <p:cNvSpPr txBox="1"/>
          <p:nvPr/>
        </p:nvSpPr>
        <p:spPr>
          <a:xfrm>
            <a:off x="7629525" y="4429125"/>
            <a:ext cx="4305300" cy="695325"/>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1 Tier 2 player is positioned to move up-tier by 2036 through M&amp;A and key-account wins – the main structural change of the decade.</a:t>
            </a:r>
          </a:p>
        </p:txBody>
      </p:sp>
      <p:sp>
        <p:nvSpPr>
          <p:cNvPr id="126" name="TextBox 125"/>
          <p:cNvSpPr txBox="1"/>
          <p:nvPr/>
        </p:nvSpPr>
        <p:spPr>
          <a:xfrm>
            <a:off x="7496175" y="50101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7" name="TextBox 126"/>
          <p:cNvSpPr txBox="1"/>
          <p:nvPr/>
        </p:nvSpPr>
        <p:spPr>
          <a:xfrm>
            <a:off x="7629525" y="50101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
            </a:r>
          </a:p>
        </p:txBody>
      </p:sp>
      <p:sp>
        <p:nvSpPr>
          <p:cNvPr id="128" name="TextBox 127"/>
          <p:cNvSpPr txBox="1"/>
          <p:nvPr/>
        </p:nvSpPr>
        <p:spPr>
          <a:xfrm>
            <a:off x="7496175" y="5429250"/>
            <a:ext cx="114300" cy="161925"/>
          </a:xfrm>
          <a:prstGeom prst="rect">
            <a:avLst/>
          </a:prstGeom>
          <a:noFill/>
        </p:spPr>
        <p:txBody>
          <a:bodyPr wrap="none" lIns="0" rIns="0" tIns="0" bIns="0" anchor="t">
            <a:spAutoFit/>
          </a:bodyPr>
          <a:lstStyle/>
          <a:p>
            <a:pPr algn="l"/>
            <a:r>
              <a:rPr sz="1100" b="1">
                <a:solidFill>
                  <a:srgbClr val="0E72AE"/>
                </a:solidFill>
                <a:latin typeface="Calibri"/>
              </a:rPr>
              <a:t>•</a:t>
            </a:r>
          </a:p>
        </p:txBody>
      </p:sp>
      <p:sp>
        <p:nvSpPr>
          <p:cNvPr id="129" name="TextBox 128"/>
          <p:cNvSpPr txBox="1"/>
          <p:nvPr/>
        </p:nvSpPr>
        <p:spPr>
          <a:xfrm>
            <a:off x="7629525" y="5429250"/>
            <a:ext cx="4305300" cy="533400"/>
          </a:xfrm>
          <a:prstGeom prst="rect">
            <a:avLst/>
          </a:prstGeom>
          <a:noFill/>
        </p:spPr>
        <p:txBody>
          <a:bodyPr wrap="square" lIns="28575" rIns="28575" tIns="9525" bIns="9525" anchor="t">
            <a:spAutoFit/>
          </a:bodyPr>
          <a:lstStyle/>
          <a:p>
            <a:pPr algn="l">
              <a:lnSpc>
                <a:spcPct val="115000"/>
              </a:lnSpc>
            </a:pPr>
            <a:r>
              <a:rPr sz="1100" b="0">
                <a:solidFill>
                  <a:srgbClr val="14213D"/>
                </a:solidFill>
                <a:latin typeface="Calibri"/>
              </a:rPr>
              <a:t>Switching costs (5 / 5) and buyer power (4 / 5) are the dominant forces shaping the tier structure.</a:t>
            </a:r>
          </a:p>
        </p:txBody>
      </p:sp>
      <p:sp>
        <p:nvSpPr>
          <p:cNvPr id="130" name="TextBox 129"/>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131" name="Picture 130" descr="lock.png"/>
          <p:cNvPicPr>
            <a:picLocks noChangeAspect="1"/>
          </p:cNvPicPr>
          <p:nvPr/>
        </p:nvPicPr>
        <p:blipFill>
          <a:blip r:embed="rId4"/>
          <a:stretch>
            <a:fillRect/>
          </a:stretch>
        </p:blipFill>
        <p:spPr>
          <a:xfrm>
            <a:off x="604726" y="2545080"/>
            <a:ext cx="257397" cy="374396"/>
          </a:xfrm>
          <a:prstGeom prst="rect">
            <a:avLst/>
          </a:prstGeom>
        </p:spPr>
      </p:pic>
      <p:pic>
        <p:nvPicPr>
          <p:cNvPr id="132" name="Picture 131" descr="lock.png"/>
          <p:cNvPicPr>
            <a:picLocks noChangeAspect="1"/>
          </p:cNvPicPr>
          <p:nvPr/>
        </p:nvPicPr>
        <p:blipFill>
          <a:blip r:embed="rId4"/>
          <a:stretch>
            <a:fillRect/>
          </a:stretch>
        </p:blipFill>
        <p:spPr>
          <a:xfrm>
            <a:off x="3557476" y="2545080"/>
            <a:ext cx="257397" cy="374396"/>
          </a:xfrm>
          <a:prstGeom prst="rect">
            <a:avLst/>
          </a:prstGeom>
        </p:spPr>
      </p:pic>
      <p:pic>
        <p:nvPicPr>
          <p:cNvPr id="133" name="Picture 132" descr="lock.png"/>
          <p:cNvPicPr>
            <a:picLocks noChangeAspect="1"/>
          </p:cNvPicPr>
          <p:nvPr/>
        </p:nvPicPr>
        <p:blipFill>
          <a:blip r:embed="rId4"/>
          <a:stretch>
            <a:fillRect/>
          </a:stretch>
        </p:blipFill>
        <p:spPr>
          <a:xfrm>
            <a:off x="6510226" y="2545080"/>
            <a:ext cx="257397" cy="374396"/>
          </a:xfrm>
          <a:prstGeom prst="rect">
            <a:avLst/>
          </a:prstGeom>
        </p:spPr>
      </p:pic>
      <p:pic>
        <p:nvPicPr>
          <p:cNvPr id="134" name="Picture 133" descr="lock.png"/>
          <p:cNvPicPr>
            <a:picLocks noChangeAspect="1"/>
          </p:cNvPicPr>
          <p:nvPr/>
        </p:nvPicPr>
        <p:blipFill>
          <a:blip r:embed="rId4"/>
          <a:stretch>
            <a:fillRect/>
          </a:stretch>
        </p:blipFill>
        <p:spPr>
          <a:xfrm>
            <a:off x="9462976" y="2545080"/>
            <a:ext cx="257397" cy="374396"/>
          </a:xfrm>
          <a:prstGeom prst="rect">
            <a:avLst/>
          </a:prstGeom>
        </p:spPr>
      </p:pic>
      <p:sp>
        <p:nvSpPr>
          <p:cNvPr id="135" name="TextBox 134"/>
          <p:cNvSpPr txBox="1"/>
          <p:nvPr/>
        </p:nvSpPr>
        <p:spPr>
          <a:xfrm>
            <a:off x="547018" y="1870710"/>
            <a:ext cx="929133" cy="186689"/>
          </a:xfrm>
          <a:prstGeom prst="rect">
            <a:avLst/>
          </a:prstGeom>
          <a:noFill/>
        </p:spPr>
        <p:txBody>
          <a:bodyPr wrap="none" lIns="0" rIns="0" tIns="0" bIns="0">
            <a:spAutoFit/>
          </a:bodyPr>
          <a:lstStyle/>
          <a:p>
            <a:r>
              <a:rPr sz="1100" b="1">
                <a:solidFill>
                  <a:srgbClr val="FFFFFF"/>
                </a:solidFill>
                <a:latin typeface="Calibri"/>
              </a:rPr>
              <a:t>4 → 5 players ·</a:t>
            </a:r>
          </a:p>
        </p:txBody>
      </p:sp>
      <p:pic>
        <p:nvPicPr>
          <p:cNvPr id="136" name="Picture 135" descr="lock.png"/>
          <p:cNvPicPr>
            <a:picLocks noChangeAspect="1"/>
          </p:cNvPicPr>
          <p:nvPr/>
        </p:nvPicPr>
        <p:blipFill>
          <a:blip r:embed="rId4"/>
          <a:stretch>
            <a:fillRect/>
          </a:stretch>
        </p:blipFill>
        <p:spPr>
          <a:xfrm>
            <a:off x="1424204" y="1860931"/>
            <a:ext cx="128699" cy="187198"/>
          </a:xfrm>
          <a:prstGeom prst="rect">
            <a:avLst/>
          </a:prstGeom>
        </p:spPr>
      </p:pic>
      <p:sp>
        <p:nvSpPr>
          <p:cNvPr id="137" name="TextBox 136"/>
          <p:cNvSpPr txBox="1"/>
          <p:nvPr/>
        </p:nvSpPr>
        <p:spPr>
          <a:xfrm>
            <a:off x="15916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38" name="Picture 137" descr="lock.png"/>
          <p:cNvPicPr>
            <a:picLocks noChangeAspect="1"/>
          </p:cNvPicPr>
          <p:nvPr/>
        </p:nvPicPr>
        <p:blipFill>
          <a:blip r:embed="rId4"/>
          <a:stretch>
            <a:fillRect/>
          </a:stretch>
        </p:blipFill>
        <p:spPr>
          <a:xfrm>
            <a:off x="1742554" y="1860931"/>
            <a:ext cx="128699" cy="187198"/>
          </a:xfrm>
          <a:prstGeom prst="rect">
            <a:avLst/>
          </a:prstGeom>
        </p:spPr>
      </p:pic>
      <p:sp>
        <p:nvSpPr>
          <p:cNvPr id="139" name="TextBox 138"/>
          <p:cNvSpPr txBox="1"/>
          <p:nvPr/>
        </p:nvSpPr>
        <p:spPr>
          <a:xfrm>
            <a:off x="10497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0" name="TextBox 139"/>
          <p:cNvSpPr txBox="1"/>
          <p:nvPr/>
        </p:nvSpPr>
        <p:spPr>
          <a:xfrm>
            <a:off x="3804568" y="1870710"/>
            <a:ext cx="929133" cy="186689"/>
          </a:xfrm>
          <a:prstGeom prst="rect">
            <a:avLst/>
          </a:prstGeom>
          <a:noFill/>
        </p:spPr>
        <p:txBody>
          <a:bodyPr wrap="none" lIns="0" rIns="0" tIns="0" bIns="0">
            <a:spAutoFit/>
          </a:bodyPr>
          <a:lstStyle/>
          <a:p>
            <a:r>
              <a:rPr sz="1100" b="1">
                <a:solidFill>
                  <a:srgbClr val="FFFFFF"/>
                </a:solidFill>
                <a:latin typeface="Calibri"/>
              </a:rPr>
              <a:t>2 → 2 players ·</a:t>
            </a:r>
          </a:p>
        </p:txBody>
      </p:sp>
      <p:pic>
        <p:nvPicPr>
          <p:cNvPr id="141" name="Picture 140" descr="lock.png"/>
          <p:cNvPicPr>
            <a:picLocks noChangeAspect="1"/>
          </p:cNvPicPr>
          <p:nvPr/>
        </p:nvPicPr>
        <p:blipFill>
          <a:blip r:embed="rId4"/>
          <a:stretch>
            <a:fillRect/>
          </a:stretch>
        </p:blipFill>
        <p:spPr>
          <a:xfrm>
            <a:off x="4681754" y="1860931"/>
            <a:ext cx="128699" cy="187198"/>
          </a:xfrm>
          <a:prstGeom prst="rect">
            <a:avLst/>
          </a:prstGeom>
        </p:spPr>
      </p:pic>
      <p:sp>
        <p:nvSpPr>
          <p:cNvPr id="142" name="TextBox 141"/>
          <p:cNvSpPr txBox="1"/>
          <p:nvPr/>
        </p:nvSpPr>
        <p:spPr>
          <a:xfrm>
            <a:off x="484924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3" name="Picture 142" descr="lock.png"/>
          <p:cNvPicPr>
            <a:picLocks noChangeAspect="1"/>
          </p:cNvPicPr>
          <p:nvPr/>
        </p:nvPicPr>
        <p:blipFill>
          <a:blip r:embed="rId4"/>
          <a:stretch>
            <a:fillRect/>
          </a:stretch>
        </p:blipFill>
        <p:spPr>
          <a:xfrm>
            <a:off x="5000104" y="1860931"/>
            <a:ext cx="128699" cy="187198"/>
          </a:xfrm>
          <a:prstGeom prst="rect">
            <a:avLst/>
          </a:prstGeom>
        </p:spPr>
      </p:pic>
      <p:sp>
        <p:nvSpPr>
          <p:cNvPr id="144" name="TextBox 143"/>
          <p:cNvSpPr txBox="1"/>
          <p:nvPr/>
        </p:nvSpPr>
        <p:spPr>
          <a:xfrm>
            <a:off x="430733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45" name="TextBox 144"/>
          <p:cNvSpPr txBox="1"/>
          <p:nvPr/>
        </p:nvSpPr>
        <p:spPr>
          <a:xfrm>
            <a:off x="7062118" y="1870710"/>
            <a:ext cx="929133" cy="186689"/>
          </a:xfrm>
          <a:prstGeom prst="rect">
            <a:avLst/>
          </a:prstGeom>
          <a:noFill/>
        </p:spPr>
        <p:txBody>
          <a:bodyPr wrap="none" lIns="0" rIns="0" tIns="0" bIns="0">
            <a:spAutoFit/>
          </a:bodyPr>
          <a:lstStyle/>
          <a:p>
            <a:r>
              <a:rPr sz="1100" b="1">
                <a:solidFill>
                  <a:srgbClr val="FFFFFF"/>
                </a:solidFill>
                <a:latin typeface="Calibri"/>
              </a:rPr>
              <a:t>4 → 4 players ·</a:t>
            </a:r>
          </a:p>
        </p:txBody>
      </p:sp>
      <p:pic>
        <p:nvPicPr>
          <p:cNvPr id="146" name="Picture 145" descr="lock.png"/>
          <p:cNvPicPr>
            <a:picLocks noChangeAspect="1"/>
          </p:cNvPicPr>
          <p:nvPr/>
        </p:nvPicPr>
        <p:blipFill>
          <a:blip r:embed="rId4"/>
          <a:stretch>
            <a:fillRect/>
          </a:stretch>
        </p:blipFill>
        <p:spPr>
          <a:xfrm>
            <a:off x="7939304" y="1860931"/>
            <a:ext cx="128699" cy="187198"/>
          </a:xfrm>
          <a:prstGeom prst="rect">
            <a:avLst/>
          </a:prstGeom>
        </p:spPr>
      </p:pic>
      <p:sp>
        <p:nvSpPr>
          <p:cNvPr id="147" name="TextBox 146"/>
          <p:cNvSpPr txBox="1"/>
          <p:nvPr/>
        </p:nvSpPr>
        <p:spPr>
          <a:xfrm>
            <a:off x="8106799" y="1870710"/>
            <a:ext cx="202803" cy="186689"/>
          </a:xfrm>
          <a:prstGeom prst="rect">
            <a:avLst/>
          </a:prstGeom>
          <a:noFill/>
        </p:spPr>
        <p:txBody>
          <a:bodyPr wrap="none" lIns="0" rIns="0" tIns="0" bIns="0">
            <a:spAutoFit/>
          </a:bodyPr>
          <a:lstStyle/>
          <a:p>
            <a:r>
              <a:rPr sz="1100" b="1">
                <a:solidFill>
                  <a:srgbClr val="FFFFFF"/>
                </a:solidFill>
                <a:latin typeface="Calibri"/>
              </a:rPr>
              <a:t>→</a:t>
            </a:r>
          </a:p>
        </p:txBody>
      </p:sp>
      <p:pic>
        <p:nvPicPr>
          <p:cNvPr id="148" name="Picture 147" descr="lock.png"/>
          <p:cNvPicPr>
            <a:picLocks noChangeAspect="1"/>
          </p:cNvPicPr>
          <p:nvPr/>
        </p:nvPicPr>
        <p:blipFill>
          <a:blip r:embed="rId4"/>
          <a:stretch>
            <a:fillRect/>
          </a:stretch>
        </p:blipFill>
        <p:spPr>
          <a:xfrm>
            <a:off x="8257654" y="1860931"/>
            <a:ext cx="128699" cy="187198"/>
          </a:xfrm>
          <a:prstGeom prst="rect">
            <a:avLst/>
          </a:prstGeom>
        </p:spPr>
      </p:pic>
      <p:sp>
        <p:nvSpPr>
          <p:cNvPr id="149" name="TextBox 148"/>
          <p:cNvSpPr txBox="1"/>
          <p:nvPr/>
        </p:nvSpPr>
        <p:spPr>
          <a:xfrm>
            <a:off x="7564883" y="2038350"/>
            <a:ext cx="395982" cy="186689"/>
          </a:xfrm>
          <a:prstGeom prst="rect">
            <a:avLst/>
          </a:prstGeom>
          <a:noFill/>
        </p:spPr>
        <p:txBody>
          <a:bodyPr wrap="none" lIns="0" rIns="0" tIns="0" bIns="0">
            <a:spAutoFit/>
          </a:bodyPr>
          <a:lstStyle/>
          <a:p>
            <a:r>
              <a:rPr sz="1100" b="1">
                <a:solidFill>
                  <a:srgbClr val="FFFFFF"/>
                </a:solidFill>
                <a:latin typeface="Calibri"/>
              </a:rPr>
              <a:t>share</a:t>
            </a:r>
          </a:p>
        </p:txBody>
      </p:sp>
      <p:sp>
        <p:nvSpPr>
          <p:cNvPr id="150" name="TextBox 149"/>
          <p:cNvSpPr txBox="1"/>
          <p:nvPr/>
        </p:nvSpPr>
        <p:spPr>
          <a:xfrm>
            <a:off x="10286075" y="1954530"/>
            <a:ext cx="638819" cy="186689"/>
          </a:xfrm>
          <a:prstGeom prst="rect">
            <a:avLst/>
          </a:prstGeom>
          <a:noFill/>
        </p:spPr>
        <p:txBody>
          <a:bodyPr wrap="none" lIns="0" rIns="0" tIns="0" bIns="0">
            <a:spAutoFit/>
          </a:bodyPr>
          <a:lstStyle/>
          <a:p>
            <a:r>
              <a:rPr sz="1100" b="1">
                <a:solidFill>
                  <a:srgbClr val="14213D"/>
                </a:solidFill>
                <a:latin typeface="Calibri"/>
              </a:rPr>
              <a:t>Long tail ·</a:t>
            </a:r>
          </a:p>
        </p:txBody>
      </p:sp>
      <p:pic>
        <p:nvPicPr>
          <p:cNvPr id="151" name="Picture 150" descr="lock.png"/>
          <p:cNvPicPr>
            <a:picLocks noChangeAspect="1"/>
          </p:cNvPicPr>
          <p:nvPr/>
        </p:nvPicPr>
        <p:blipFill>
          <a:blip r:embed="rId4"/>
          <a:stretch>
            <a:fillRect/>
          </a:stretch>
        </p:blipFill>
        <p:spPr>
          <a:xfrm>
            <a:off x="10872946" y="1944751"/>
            <a:ext cx="128699" cy="187198"/>
          </a:xfrm>
          <a:prstGeom prst="rect">
            <a:avLst/>
          </a:prstGeom>
        </p:spPr>
      </p:pic>
      <p:sp>
        <p:nvSpPr>
          <p:cNvPr id="152" name="TextBox 151"/>
          <p:cNvSpPr txBox="1"/>
          <p:nvPr/>
        </p:nvSpPr>
        <p:spPr>
          <a:xfrm>
            <a:off x="11040442" y="1954530"/>
            <a:ext cx="202803" cy="186689"/>
          </a:xfrm>
          <a:prstGeom prst="rect">
            <a:avLst/>
          </a:prstGeom>
          <a:noFill/>
        </p:spPr>
        <p:txBody>
          <a:bodyPr wrap="none" lIns="0" rIns="0" tIns="0" bIns="0">
            <a:spAutoFit/>
          </a:bodyPr>
          <a:lstStyle/>
          <a:p>
            <a:r>
              <a:rPr sz="1100" b="1">
                <a:solidFill>
                  <a:srgbClr val="14213D"/>
                </a:solidFill>
                <a:latin typeface="Calibri"/>
              </a:rPr>
              <a:t>→</a:t>
            </a:r>
          </a:p>
        </p:txBody>
      </p:sp>
      <p:pic>
        <p:nvPicPr>
          <p:cNvPr id="153" name="Picture 152" descr="lock.png"/>
          <p:cNvPicPr>
            <a:picLocks noChangeAspect="1"/>
          </p:cNvPicPr>
          <p:nvPr/>
        </p:nvPicPr>
        <p:blipFill>
          <a:blip r:embed="rId4"/>
          <a:stretch>
            <a:fillRect/>
          </a:stretch>
        </p:blipFill>
        <p:spPr>
          <a:xfrm>
            <a:off x="11191297" y="1944751"/>
            <a:ext cx="128699" cy="187198"/>
          </a:xfrm>
          <a:prstGeom prst="rect">
            <a:avLst/>
          </a:prstGeom>
        </p:spPr>
      </p:pic>
      <p:sp>
        <p:nvSpPr>
          <p:cNvPr id="154" name="TextBox 153"/>
          <p:cNvSpPr txBox="1"/>
          <p:nvPr/>
        </p:nvSpPr>
        <p:spPr>
          <a:xfrm>
            <a:off x="11358792" y="1954530"/>
            <a:ext cx="395982" cy="186689"/>
          </a:xfrm>
          <a:prstGeom prst="rect">
            <a:avLst/>
          </a:prstGeom>
          <a:noFill/>
        </p:spPr>
        <p:txBody>
          <a:bodyPr wrap="none" lIns="0" rIns="0" tIns="0" bIns="0">
            <a:spAutoFit/>
          </a:bodyPr>
          <a:lstStyle/>
          <a:p>
            <a:r>
              <a:rPr sz="1100" b="1">
                <a:solidFill>
                  <a:srgbClr val="14213D"/>
                </a:solidFill>
                <a:latin typeface="Calibri"/>
              </a:rPr>
              <a:t>share</a:t>
            </a:r>
          </a:p>
        </p:txBody>
      </p:sp>
      <p:sp>
        <p:nvSpPr>
          <p:cNvPr id="155" name="TextBox 154"/>
          <p:cNvSpPr txBox="1"/>
          <p:nvPr/>
        </p:nvSpPr>
        <p:spPr>
          <a:xfrm>
            <a:off x="7658100" y="3857625"/>
            <a:ext cx="1828179" cy="186689"/>
          </a:xfrm>
          <a:prstGeom prst="rect">
            <a:avLst/>
          </a:prstGeom>
          <a:noFill/>
        </p:spPr>
        <p:txBody>
          <a:bodyPr wrap="none" lIns="0" rIns="0" tIns="0" bIns="0">
            <a:spAutoFit/>
          </a:bodyPr>
          <a:lstStyle/>
          <a:p>
            <a:r>
              <a:rPr sz="1100" b="0">
                <a:solidFill>
                  <a:srgbClr val="14213D"/>
                </a:solidFill>
                <a:latin typeface="Calibri"/>
              </a:rPr>
              <a:t>The market is fragmented (HHI</a:t>
            </a:r>
          </a:p>
        </p:txBody>
      </p:sp>
      <p:pic>
        <p:nvPicPr>
          <p:cNvPr id="156" name="Picture 155" descr="lock.png"/>
          <p:cNvPicPr>
            <a:picLocks noChangeAspect="1"/>
          </p:cNvPicPr>
          <p:nvPr/>
        </p:nvPicPr>
        <p:blipFill>
          <a:blip r:embed="rId4"/>
          <a:stretch>
            <a:fillRect/>
          </a:stretch>
        </p:blipFill>
        <p:spPr>
          <a:xfrm>
            <a:off x="9434331" y="3847846"/>
            <a:ext cx="128699" cy="187198"/>
          </a:xfrm>
          <a:prstGeom prst="rect">
            <a:avLst/>
          </a:prstGeom>
        </p:spPr>
      </p:pic>
      <p:sp>
        <p:nvSpPr>
          <p:cNvPr id="157" name="TextBox 156"/>
          <p:cNvSpPr txBox="1"/>
          <p:nvPr/>
        </p:nvSpPr>
        <p:spPr>
          <a:xfrm>
            <a:off x="9601827" y="3857625"/>
            <a:ext cx="2068562" cy="186689"/>
          </a:xfrm>
          <a:prstGeom prst="rect">
            <a:avLst/>
          </a:prstGeom>
          <a:noFill/>
        </p:spPr>
        <p:txBody>
          <a:bodyPr wrap="none" lIns="0" rIns="0" tIns="0" bIns="0">
            <a:spAutoFit/>
          </a:bodyPr>
          <a:lstStyle/>
          <a:p>
            <a:r>
              <a:rPr sz="1100" b="0">
                <a:solidFill>
                  <a:srgbClr val="14213D"/>
                </a:solidFill>
                <a:latin typeface="Calibri"/>
              </a:rPr>
              <a:t>); Tier 1 sets pricing and innovation</a:t>
            </a:r>
          </a:p>
        </p:txBody>
      </p:sp>
      <p:sp>
        <p:nvSpPr>
          <p:cNvPr id="158" name="TextBox 157"/>
          <p:cNvSpPr txBox="1"/>
          <p:nvPr/>
        </p:nvSpPr>
        <p:spPr>
          <a:xfrm>
            <a:off x="7658100" y="4025265"/>
            <a:ext cx="2124769" cy="186689"/>
          </a:xfrm>
          <a:prstGeom prst="rect">
            <a:avLst/>
          </a:prstGeom>
          <a:noFill/>
        </p:spPr>
        <p:txBody>
          <a:bodyPr wrap="none" lIns="0" rIns="0" tIns="0" bIns="0">
            <a:spAutoFit/>
          </a:bodyPr>
          <a:lstStyle/>
          <a:p>
            <a:r>
              <a:rPr sz="1100" b="0">
                <a:solidFill>
                  <a:srgbClr val="14213D"/>
                </a:solidFill>
                <a:latin typeface="Calibri"/>
              </a:rPr>
              <a:t>benchmarks and is expected to hold</a:t>
            </a:r>
          </a:p>
        </p:txBody>
      </p:sp>
      <p:pic>
        <p:nvPicPr>
          <p:cNvPr id="159" name="Picture 158" descr="lock.png"/>
          <p:cNvPicPr>
            <a:picLocks noChangeAspect="1"/>
          </p:cNvPicPr>
          <p:nvPr/>
        </p:nvPicPr>
        <p:blipFill>
          <a:blip r:embed="rId4"/>
          <a:stretch>
            <a:fillRect/>
          </a:stretch>
        </p:blipFill>
        <p:spPr>
          <a:xfrm>
            <a:off x="9730921" y="4015486"/>
            <a:ext cx="128699" cy="187198"/>
          </a:xfrm>
          <a:prstGeom prst="rect">
            <a:avLst/>
          </a:prstGeom>
        </p:spPr>
      </p:pic>
      <p:sp>
        <p:nvSpPr>
          <p:cNvPr id="160" name="TextBox 159"/>
          <p:cNvSpPr txBox="1"/>
          <p:nvPr/>
        </p:nvSpPr>
        <p:spPr>
          <a:xfrm>
            <a:off x="9898416" y="4025265"/>
            <a:ext cx="1016992" cy="186689"/>
          </a:xfrm>
          <a:prstGeom prst="rect">
            <a:avLst/>
          </a:prstGeom>
          <a:noFill/>
        </p:spPr>
        <p:txBody>
          <a:bodyPr wrap="none" lIns="0" rIns="0" tIns="0" bIns="0">
            <a:spAutoFit/>
          </a:bodyPr>
          <a:lstStyle/>
          <a:p>
            <a:r>
              <a:rPr sz="1100" b="0">
                <a:solidFill>
                  <a:srgbClr val="14213D"/>
                </a:solidFill>
                <a:latin typeface="Calibri"/>
              </a:rPr>
              <a:t>of value in 2036.</a:t>
            </a:r>
          </a:p>
        </p:txBody>
      </p:sp>
      <p:sp>
        <p:nvSpPr>
          <p:cNvPr id="161" name="TextBox 160"/>
          <p:cNvSpPr txBox="1"/>
          <p:nvPr/>
        </p:nvSpPr>
        <p:spPr>
          <a:xfrm>
            <a:off x="7658100" y="5019675"/>
            <a:ext cx="3471019" cy="186689"/>
          </a:xfrm>
          <a:prstGeom prst="rect">
            <a:avLst/>
          </a:prstGeom>
          <a:noFill/>
        </p:spPr>
        <p:txBody>
          <a:bodyPr wrap="none" lIns="0" rIns="0" tIns="0" bIns="0">
            <a:spAutoFit/>
          </a:bodyPr>
          <a:lstStyle/>
          <a:p>
            <a:r>
              <a:rPr sz="1100" b="0">
                <a:solidFill>
                  <a:srgbClr val="14213D"/>
                </a:solidFill>
                <a:latin typeface="Calibri"/>
              </a:rPr>
              <a:t>Tier 3 and the long tail face the highest structural pressure (</a:t>
            </a:r>
          </a:p>
        </p:txBody>
      </p:sp>
      <p:pic>
        <p:nvPicPr>
          <p:cNvPr id="162" name="Picture 161" descr="lock.png"/>
          <p:cNvPicPr>
            <a:picLocks noChangeAspect="1"/>
          </p:cNvPicPr>
          <p:nvPr/>
        </p:nvPicPr>
        <p:blipFill>
          <a:blip r:embed="rId4"/>
          <a:stretch>
            <a:fillRect/>
          </a:stretch>
        </p:blipFill>
        <p:spPr>
          <a:xfrm>
            <a:off x="11077170" y="5009895"/>
            <a:ext cx="128699" cy="187198"/>
          </a:xfrm>
          <a:prstGeom prst="rect">
            <a:avLst/>
          </a:prstGeom>
        </p:spPr>
      </p:pic>
      <p:sp>
        <p:nvSpPr>
          <p:cNvPr id="163" name="TextBox 162"/>
          <p:cNvSpPr txBox="1"/>
          <p:nvPr/>
        </p:nvSpPr>
        <p:spPr>
          <a:xfrm>
            <a:off x="11244666" y="5019675"/>
            <a:ext cx="415081" cy="186689"/>
          </a:xfrm>
          <a:prstGeom prst="rect">
            <a:avLst/>
          </a:prstGeom>
          <a:noFill/>
        </p:spPr>
        <p:txBody>
          <a:bodyPr wrap="none" lIns="0" rIns="0" tIns="0" bIns="0">
            <a:spAutoFit/>
          </a:bodyPr>
          <a:lstStyle/>
          <a:p>
            <a:r>
              <a:rPr sz="1100" b="0">
                <a:solidFill>
                  <a:srgbClr val="14213D"/>
                </a:solidFill>
                <a:latin typeface="Calibri"/>
              </a:rPr>
              <a:t>/ 5); 2</a:t>
            </a:r>
          </a:p>
        </p:txBody>
      </p:sp>
      <p:sp>
        <p:nvSpPr>
          <p:cNvPr id="164" name="TextBox 163"/>
          <p:cNvSpPr txBox="1"/>
          <p:nvPr/>
        </p:nvSpPr>
        <p:spPr>
          <a:xfrm>
            <a:off x="7658100" y="5187315"/>
            <a:ext cx="2541413" cy="186689"/>
          </a:xfrm>
          <a:prstGeom prst="rect">
            <a:avLst/>
          </a:prstGeom>
          <a:noFill/>
        </p:spPr>
        <p:txBody>
          <a:bodyPr wrap="none" lIns="0" rIns="0" tIns="0" bIns="0">
            <a:spAutoFit/>
          </a:bodyPr>
          <a:lstStyle/>
          <a:p>
            <a:r>
              <a:rPr sz="1100" b="0">
                <a:solidFill>
                  <a:srgbClr val="14213D"/>
                </a:solidFill>
                <a:latin typeface="Calibri"/>
              </a:rPr>
              <a:t>players are expected to exit or be acquired.</a:t>
            </a:r>
          </a:p>
        </p:txBody>
      </p:sp>
    </p:spTree>
  </p:cSld>
  <p:clrMapOvr>
    <a:masterClrMapping/>
  </p:clrMapOvr>
</p:sld>
</file>

<file path=ppt/slides/slide304.xml><?xml version="1.0" encoding="utf-8"?>
<p:sld xmlns:a="http://schemas.openxmlformats.org/drawingml/2006/main" xmlns:p="http://schemas.openxmlformats.org/presentationml/2006/main" xmlns:r="http://schemas.openxmlformats.org/officeDocument/2006/relationships">
  <p:cSld>
    <p:spTree>
      <p:nvGrpSpPr>
        <p:cNvPr id="1" name=""/>
        <p:cNvGrpSpPr/>
        <p:nvPr/>
      </p:nvGrpSpPr>
      <p:grpSpPr/>
      <p:sp>
        <p:nvSpPr>
          <p:cNvPr id="2" name="Rectangle 1"/>
          <p:cNvSpPr/>
          <p:nvPr/>
        </p:nvSpPr>
        <p:spPr>
          <a:xfrm>
            <a:off x="0" y="0"/>
            <a:ext cx="12192000" cy="68580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 name="Rectangle 2"/>
          <p:cNvSpPr/>
          <p:nvPr/>
        </p:nvSpPr>
        <p:spPr>
          <a:xfrm>
            <a:off x="123825" y="85725"/>
            <a:ext cx="11944350" cy="828675"/>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 name="Rectangle 3"/>
          <p:cNvSpPr/>
          <p:nvPr/>
        </p:nvSpPr>
        <p:spPr>
          <a:xfrm>
            <a:off x="123825" y="914400"/>
            <a:ext cx="3943350" cy="28575"/>
          </a:xfrm>
          <a:prstGeom prst="rect">
            <a:avLst/>
          </a:pr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 name="Rectangle 4"/>
          <p:cNvSpPr/>
          <p:nvPr/>
        </p:nvSpPr>
        <p:spPr>
          <a:xfrm>
            <a:off x="4124325" y="914400"/>
            <a:ext cx="3943350" cy="28575"/>
          </a:xfrm>
          <a:prstGeom prst="rect">
            <a:avLst/>
          </a:prstGeom>
          <a:solidFill>
            <a:srgbClr val="9E7E0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 name="Rectangle 5"/>
          <p:cNvSpPr/>
          <p:nvPr/>
        </p:nvSpPr>
        <p:spPr>
          <a:xfrm>
            <a:off x="8124825" y="914400"/>
            <a:ext cx="3943350" cy="28575"/>
          </a:xfrm>
          <a:prstGeom prst="rect">
            <a:avLst/>
          </a:prstGeom>
          <a:solidFill>
            <a:srgbClr val="40315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pic>
        <p:nvPicPr>
          <p:cNvPr id="7" name="Picture 6" descr="fmi_logo_template.png"/>
          <p:cNvPicPr>
            <a:picLocks noChangeAspect="1"/>
          </p:cNvPicPr>
          <p:nvPr/>
        </p:nvPicPr>
        <p:blipFill>
          <a:blip r:embed="rId2"/>
          <a:stretch>
            <a:fillRect/>
          </a:stretch>
        </p:blipFill>
        <p:spPr>
          <a:xfrm>
            <a:off x="161925" y="-205740"/>
            <a:ext cx="1307592" cy="1325880"/>
          </a:xfrm>
          <a:prstGeom prst="rect">
            <a:avLst/>
          </a:prstGeom>
        </p:spPr>
      </p:pic>
      <p:sp>
        <p:nvSpPr>
          <p:cNvPr id="8" name="TextBox 7"/>
          <p:cNvSpPr txBox="1"/>
          <p:nvPr/>
        </p:nvSpPr>
        <p:spPr>
          <a:xfrm>
            <a:off x="1543050" y="19050"/>
            <a:ext cx="10506075" cy="628650"/>
          </a:xfrm>
          <a:prstGeom prst="rect">
            <a:avLst/>
          </a:prstGeom>
          <a:noFill/>
        </p:spPr>
        <p:txBody>
          <a:bodyPr wrap="square" lIns="28575" rIns="28575" tIns="0" bIns="0" anchor="b">
            <a:spAutoFit/>
          </a:bodyPr>
          <a:lstStyle/>
          <a:p>
            <a:pPr algn="l">
              <a:lnSpc>
                <a:spcPct val="90000"/>
              </a:lnSpc>
            </a:pPr>
            <a:r>
              <a:rPr sz="2100" b="1">
                <a:solidFill>
                  <a:srgbClr val="000000"/>
                </a:solidFill>
                <a:latin typeface="Calibri"/>
              </a:rPr>
              <a:t>Matcha Market Competitive Dashboard View (2026)</a:t>
            </a:r>
          </a:p>
        </p:txBody>
      </p:sp>
      <p:sp>
        <p:nvSpPr>
          <p:cNvPr id="9" name="TextBox 8"/>
          <p:cNvSpPr txBox="1"/>
          <p:nvPr/>
        </p:nvSpPr>
        <p:spPr>
          <a:xfrm>
            <a:off x="1543050" y="647700"/>
            <a:ext cx="10506075" cy="247650"/>
          </a:xfrm>
          <a:prstGeom prst="rect">
            <a:avLst/>
          </a:prstGeom>
          <a:noFill/>
        </p:spPr>
        <p:txBody>
          <a:bodyPr wrap="square" lIns="28575" rIns="28575" tIns="0" bIns="0" anchor="t">
            <a:spAutoFit/>
          </a:bodyPr>
          <a:lstStyle/>
          <a:p>
            <a:pPr algn="l"/>
            <a:r>
              <a:rPr sz="1400" b="0" i="1">
                <a:solidFill>
                  <a:srgbClr val="252423"/>
                </a:solidFill>
                <a:latin typeface="Calibri"/>
              </a:rPr>
              <a:t>Benchmarking of companies on portfolio, coverage, revenue, share, regional presence and strategy</a:t>
            </a:r>
          </a:p>
        </p:txBody>
      </p:sp>
      <p:sp>
        <p:nvSpPr>
          <p:cNvPr id="10" name="TextBox 9"/>
          <p:cNvSpPr txBox="1"/>
          <p:nvPr/>
        </p:nvSpPr>
        <p:spPr>
          <a:xfrm>
            <a:off x="285750" y="970754"/>
            <a:ext cx="10477500" cy="164283"/>
          </a:xfrm>
          <a:prstGeom prst="rect">
            <a:avLst/>
          </a:prstGeom>
          <a:noFill/>
        </p:spPr>
        <p:txBody>
          <a:bodyPr wrap="square" lIns="0" rIns="19050" tIns="0" bIns="0">
            <a:spAutoFit/>
          </a:bodyPr>
          <a:lstStyle/>
          <a:p>
            <a:pPr algn="l"/>
            <a:r>
              <a:rPr sz="1100" b="0">
                <a:solidFill>
                  <a:srgbClr val="6C7A89"/>
                </a:solidFill>
                <a:latin typeface="Calibri"/>
              </a:rPr>
              <a:t>Intensified competition across the leading players portfolio, revenue, share, regional presence and strategy.  All figures 2026.</a:t>
            </a:r>
          </a:p>
        </p:txBody>
      </p:sp>
      <p:sp>
        <p:nvSpPr>
          <p:cNvPr id="11" name="Rounded Rectangle 10"/>
          <p:cNvSpPr/>
          <p:nvPr/>
        </p:nvSpPr>
        <p:spPr>
          <a:xfrm>
            <a:off x="133350" y="1153291"/>
            <a:ext cx="11925300" cy="4563424"/>
          </a:xfrm>
          <a:prstGeom prst="roundRect">
            <a:avLst>
              <a:gd name="adj" fmla="val 1600"/>
            </a:avLst>
          </a:prstGeom>
          <a:solidFill>
            <a:srgbClr val="FFFFFF"/>
          </a:solidFill>
          <a:ln w="9525">
            <a:solidFill>
              <a:srgbClr val="C6D5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 name="Rectangle 11"/>
          <p:cNvSpPr/>
          <p:nvPr/>
        </p:nvSpPr>
        <p:spPr>
          <a:xfrm>
            <a:off x="133350" y="1171544"/>
            <a:ext cx="11925300" cy="365074"/>
          </a:xfrm>
          <a:prstGeom prst="rect">
            <a:avLst/>
          </a:prstGeom>
          <a:solidFill>
            <a:srgbClr val="F1F7F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 name="Rectangle 12"/>
          <p:cNvSpPr/>
          <p:nvPr/>
        </p:nvSpPr>
        <p:spPr>
          <a:xfrm>
            <a:off x="133350" y="1171544"/>
            <a:ext cx="1143000" cy="4526917"/>
          </a:xfrm>
          <a:prstGeom prst="rect">
            <a:avLst/>
          </a:prstGeom>
          <a:solidFill>
            <a:srgbClr val="F7FAF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cxnSp>
        <p:nvCxnSpPr>
          <p:cNvPr id="14" name="Connector 13"/>
          <p:cNvCxnSpPr/>
          <p:nvPr/>
        </p:nvCxnSpPr>
        <p:spPr>
          <a:xfrm>
            <a:off x="133350" y="153661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5" name="Connector 14"/>
          <p:cNvCxnSpPr/>
          <p:nvPr/>
        </p:nvCxnSpPr>
        <p:spPr>
          <a:xfrm>
            <a:off x="133350" y="179217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6" name="Connector 15"/>
          <p:cNvCxnSpPr/>
          <p:nvPr/>
        </p:nvCxnSpPr>
        <p:spPr>
          <a:xfrm>
            <a:off x="133350" y="2631840"/>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7" name="Connector 16"/>
          <p:cNvCxnSpPr/>
          <p:nvPr/>
        </p:nvCxnSpPr>
        <p:spPr>
          <a:xfrm>
            <a:off x="133350" y="2960407"/>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8" name="Connector 17"/>
          <p:cNvCxnSpPr/>
          <p:nvPr/>
        </p:nvCxnSpPr>
        <p:spPr>
          <a:xfrm>
            <a:off x="133350" y="3288973"/>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19" name="Connector 18"/>
          <p:cNvCxnSpPr/>
          <p:nvPr/>
        </p:nvCxnSpPr>
        <p:spPr>
          <a:xfrm>
            <a:off x="133350" y="4055629"/>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0" name="Connector 19"/>
          <p:cNvCxnSpPr/>
          <p:nvPr/>
        </p:nvCxnSpPr>
        <p:spPr>
          <a:xfrm>
            <a:off x="133350" y="5041328"/>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1" name="Connector 20"/>
          <p:cNvCxnSpPr/>
          <p:nvPr/>
        </p:nvCxnSpPr>
        <p:spPr>
          <a:xfrm>
            <a:off x="13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2" name="Connector 21"/>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3" name="Connector 22"/>
          <p:cNvCxnSpPr/>
          <p:nvPr/>
        </p:nvCxnSpPr>
        <p:spPr>
          <a:xfrm>
            <a:off x="12954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4" name="Connector 23"/>
          <p:cNvCxnSpPr/>
          <p:nvPr/>
        </p:nvCxnSpPr>
        <p:spPr>
          <a:xfrm>
            <a:off x="23717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5" name="Connector 24"/>
          <p:cNvCxnSpPr/>
          <p:nvPr/>
        </p:nvCxnSpPr>
        <p:spPr>
          <a:xfrm>
            <a:off x="34480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6" name="Connector 25"/>
          <p:cNvCxnSpPr/>
          <p:nvPr/>
        </p:nvCxnSpPr>
        <p:spPr>
          <a:xfrm>
            <a:off x="45243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7" name="Connector 26"/>
          <p:cNvCxnSpPr/>
          <p:nvPr/>
        </p:nvCxnSpPr>
        <p:spPr>
          <a:xfrm>
            <a:off x="56007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8" name="Connector 27"/>
          <p:cNvCxnSpPr/>
          <p:nvPr/>
        </p:nvCxnSpPr>
        <p:spPr>
          <a:xfrm>
            <a:off x="66770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29" name="Connector 28"/>
          <p:cNvCxnSpPr/>
          <p:nvPr/>
        </p:nvCxnSpPr>
        <p:spPr>
          <a:xfrm>
            <a:off x="77533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0" name="Connector 29"/>
          <p:cNvCxnSpPr/>
          <p:nvPr/>
        </p:nvCxnSpPr>
        <p:spPr>
          <a:xfrm>
            <a:off x="882967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1" name="Connector 30"/>
          <p:cNvCxnSpPr/>
          <p:nvPr/>
        </p:nvCxnSpPr>
        <p:spPr>
          <a:xfrm>
            <a:off x="990600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2" name="Connector 31"/>
          <p:cNvCxnSpPr/>
          <p:nvPr/>
        </p:nvCxnSpPr>
        <p:spPr>
          <a:xfrm>
            <a:off x="10982325"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3" name="Connector 32"/>
          <p:cNvCxnSpPr/>
          <p:nvPr/>
        </p:nvCxnSpPr>
        <p:spPr>
          <a:xfrm>
            <a:off x="12058650" y="1171544"/>
            <a:ext cx="0" cy="4526917"/>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cxnSp>
        <p:nvCxnSpPr>
          <p:cNvPr id="34" name="Connector 33"/>
          <p:cNvCxnSpPr/>
          <p:nvPr/>
        </p:nvCxnSpPr>
        <p:spPr>
          <a:xfrm>
            <a:off x="133350" y="5698461"/>
            <a:ext cx="11925300" cy="0"/>
          </a:xfrm>
          <a:prstGeom prst="line">
            <a:avLst/>
          </a:prstGeom>
          <a:ln w="9525">
            <a:solidFill>
              <a:srgbClr val="D7E0EA"/>
            </a:solidFill>
          </a:ln>
          <a:effectLst/>
        </p:spPr>
        <p:style>
          <a:lnRef idx="2">
            <a:schemeClr val="accent1"/>
          </a:lnRef>
          <a:fillRef idx="0">
            <a:schemeClr val="accent1"/>
          </a:fillRef>
          <a:effectRef idx="1">
            <a:schemeClr val="accent1"/>
          </a:effectRef>
          <a:fontRef idx="minor">
            <a:schemeClr val="tx1"/>
          </a:fontRef>
        </p:style>
      </p:cxnSp>
      <p:sp>
        <p:nvSpPr>
          <p:cNvPr id="35" name="TextBox 34"/>
          <p:cNvSpPr txBox="1"/>
          <p:nvPr/>
        </p:nvSpPr>
        <p:spPr>
          <a:xfrm>
            <a:off x="171450" y="1536618"/>
            <a:ext cx="1085850" cy="255552"/>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Company / Brand</a:t>
            </a:r>
          </a:p>
        </p:txBody>
      </p:sp>
      <p:sp>
        <p:nvSpPr>
          <p:cNvPr id="36" name="TextBox 35"/>
          <p:cNvSpPr txBox="1"/>
          <p:nvPr/>
        </p:nvSpPr>
        <p:spPr>
          <a:xfrm>
            <a:off x="171450" y="1792170"/>
            <a:ext cx="1085850" cy="83967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Product Portfolio</a:t>
            </a:r>
          </a:p>
        </p:txBody>
      </p:sp>
      <p:sp>
        <p:nvSpPr>
          <p:cNvPr id="37" name="TextBox 36"/>
          <p:cNvSpPr txBox="1"/>
          <p:nvPr/>
        </p:nvSpPr>
        <p:spPr>
          <a:xfrm>
            <a:off x="171450" y="2631840"/>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Overall Rev (US$ Mn)</a:t>
            </a:r>
          </a:p>
        </p:txBody>
      </p:sp>
      <p:sp>
        <p:nvSpPr>
          <p:cNvPr id="38" name="TextBox 37"/>
          <p:cNvSpPr txBox="1"/>
          <p:nvPr/>
        </p:nvSpPr>
        <p:spPr>
          <a:xfrm>
            <a:off x="171450" y="2960407"/>
            <a:ext cx="1085850" cy="328567"/>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Target Rev (US$ Mn)</a:t>
            </a:r>
          </a:p>
        </p:txBody>
      </p:sp>
      <p:sp>
        <p:nvSpPr>
          <p:cNvPr id="39" name="TextBox 38"/>
          <p:cNvSpPr txBox="1"/>
          <p:nvPr/>
        </p:nvSpPr>
        <p:spPr>
          <a:xfrm>
            <a:off x="171450" y="3288973"/>
            <a:ext cx="1085850" cy="766655"/>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Market Share (%)</a:t>
            </a:r>
          </a:p>
        </p:txBody>
      </p:sp>
      <p:sp>
        <p:nvSpPr>
          <p:cNvPr id="40" name="TextBox 39"/>
          <p:cNvSpPr txBox="1"/>
          <p:nvPr/>
        </p:nvSpPr>
        <p:spPr>
          <a:xfrm>
            <a:off x="171450" y="4055629"/>
            <a:ext cx="1085850" cy="985700"/>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Regional Presence</a:t>
            </a:r>
          </a:p>
        </p:txBody>
      </p:sp>
      <p:sp>
        <p:nvSpPr>
          <p:cNvPr id="41" name="TextBox 40"/>
          <p:cNvSpPr txBox="1"/>
          <p:nvPr/>
        </p:nvSpPr>
        <p:spPr>
          <a:xfrm>
            <a:off x="171450" y="5041328"/>
            <a:ext cx="1085850" cy="657133"/>
          </a:xfrm>
          <a:prstGeom prst="rect">
            <a:avLst/>
          </a:prstGeom>
          <a:noFill/>
        </p:spPr>
        <p:txBody>
          <a:bodyPr wrap="square" lIns="19050" rIns="19050" tIns="9525" bIns="9525" anchor="ctr">
            <a:spAutoFit/>
          </a:bodyPr>
          <a:lstStyle/>
          <a:p>
            <a:pPr algn="l">
              <a:lnSpc>
                <a:spcPct val="100000"/>
              </a:lnSpc>
            </a:pPr>
            <a:r>
              <a:rPr sz="1100" b="1">
                <a:solidFill>
                  <a:srgbClr val="0B2E4A"/>
                </a:solidFill>
                <a:latin typeface="Calibri"/>
              </a:rPr>
              <a:t>Strategies</a:t>
            </a:r>
          </a:p>
        </p:txBody>
      </p:sp>
      <p:sp>
        <p:nvSpPr>
          <p:cNvPr id="42" name="TextBox 41"/>
          <p:cNvSpPr txBox="1"/>
          <p:nvPr/>
        </p:nvSpPr>
        <p:spPr>
          <a:xfrm>
            <a:off x="13239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Jade Leaf Matcha</a:t>
            </a:r>
          </a:p>
        </p:txBody>
      </p:sp>
      <p:cxnSp>
        <p:nvCxnSpPr>
          <p:cNvPr id="43" name="Connector 42"/>
          <p:cNvCxnSpPr/>
          <p:nvPr/>
        </p:nvCxnSpPr>
        <p:spPr>
          <a:xfrm>
            <a:off x="16049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13239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A</a:t>
            </a:r>
          </a:p>
        </p:txBody>
      </p:sp>
      <p:sp>
        <p:nvSpPr>
          <p:cNvPr id="45" name="TextBox 44"/>
          <p:cNvSpPr txBox="1"/>
          <p:nvPr/>
        </p:nvSpPr>
        <p:spPr>
          <a:xfrm>
            <a:off x="13144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46" name="TextBox 45"/>
          <p:cNvSpPr txBox="1"/>
          <p:nvPr/>
        </p:nvSpPr>
        <p:spPr>
          <a:xfrm>
            <a:off x="13144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47" name="Rectangle 46"/>
          <p:cNvSpPr/>
          <p:nvPr/>
        </p:nvSpPr>
        <p:spPr>
          <a:xfrm>
            <a:off x="16049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8" name="Rectangle 47"/>
          <p:cNvSpPr/>
          <p:nvPr/>
        </p:nvSpPr>
        <p:spPr>
          <a:xfrm>
            <a:off x="17764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49" name="Rectangle 48"/>
          <p:cNvSpPr/>
          <p:nvPr/>
        </p:nvSpPr>
        <p:spPr>
          <a:xfrm>
            <a:off x="19478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0" name="TextBox 49"/>
          <p:cNvSpPr txBox="1"/>
          <p:nvPr/>
        </p:nvSpPr>
        <p:spPr>
          <a:xfrm>
            <a:off x="13239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1" name="TextBox 50"/>
          <p:cNvSpPr txBox="1"/>
          <p:nvPr/>
        </p:nvSpPr>
        <p:spPr>
          <a:xfrm>
            <a:off x="13239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52" name="Oval 51"/>
          <p:cNvSpPr/>
          <p:nvPr/>
        </p:nvSpPr>
        <p:spPr>
          <a:xfrm>
            <a:off x="15859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3" name="Freeform 52"/>
          <p:cNvSpPr/>
          <p:nvPr/>
        </p:nvSpPr>
        <p:spPr>
          <a:xfrm>
            <a:off x="1828800" y="3416749"/>
            <a:ext cx="209550" cy="237298"/>
          </a:xfrm>
          <a:custGeom>
            <a:avLst/>
            <a:gdLst/>
            <a:ahLst/>
            <a:cxnLst/>
            <a:rect l="l" t="t" r="r" b="b"/>
            <a:pathLst>
              <a:path w="22" h="26">
                <a:moveTo>
                  <a:pt x="0" y="26"/>
                </a:moveTo>
                <a:lnTo>
                  <a:pt x="0" y="0"/>
                </a:lnTo>
                <a:lnTo>
                  <a:pt x="4" y="0"/>
                </a:lnTo>
                <a:lnTo>
                  <a:pt x="8" y="1"/>
                </a:lnTo>
                <a:lnTo>
                  <a:pt x="11" y="2"/>
                </a:lnTo>
                <a:lnTo>
                  <a:pt x="14" y="4"/>
                </a:lnTo>
                <a:lnTo>
                  <a:pt x="17" y="6"/>
                </a:lnTo>
                <a:lnTo>
                  <a:pt x="20" y="8"/>
                </a:lnTo>
                <a:lnTo>
                  <a:pt x="22" y="1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4" name="Oval 53"/>
          <p:cNvSpPr/>
          <p:nvPr/>
        </p:nvSpPr>
        <p:spPr>
          <a:xfrm>
            <a:off x="16948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5" name="TextBox 54"/>
          <p:cNvSpPr txBox="1"/>
          <p:nvPr/>
        </p:nvSpPr>
        <p:spPr>
          <a:xfrm>
            <a:off x="1585912"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56" name="TextBox 55"/>
          <p:cNvSpPr txBox="1"/>
          <p:nvPr/>
        </p:nvSpPr>
        <p:spPr>
          <a:xfrm>
            <a:off x="13430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57" name="Oval 56"/>
          <p:cNvSpPr/>
          <p:nvPr/>
        </p:nvSpPr>
        <p:spPr>
          <a:xfrm>
            <a:off x="14287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58" name="TextBox 57"/>
          <p:cNvSpPr txBox="1"/>
          <p:nvPr/>
        </p:nvSpPr>
        <p:spPr>
          <a:xfrm>
            <a:off x="14287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59" name="Oval 58"/>
          <p:cNvSpPr/>
          <p:nvPr/>
        </p:nvSpPr>
        <p:spPr>
          <a:xfrm>
            <a:off x="16383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0" name="TextBox 59"/>
          <p:cNvSpPr txBox="1"/>
          <p:nvPr/>
        </p:nvSpPr>
        <p:spPr>
          <a:xfrm>
            <a:off x="16383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61" name="Oval 60"/>
          <p:cNvSpPr/>
          <p:nvPr/>
        </p:nvSpPr>
        <p:spPr>
          <a:xfrm>
            <a:off x="18478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2" name="TextBox 61"/>
          <p:cNvSpPr txBox="1"/>
          <p:nvPr/>
        </p:nvSpPr>
        <p:spPr>
          <a:xfrm>
            <a:off x="18478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63" name="Oval 62"/>
          <p:cNvSpPr/>
          <p:nvPr/>
        </p:nvSpPr>
        <p:spPr>
          <a:xfrm>
            <a:off x="20574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4" name="TextBox 63"/>
          <p:cNvSpPr txBox="1"/>
          <p:nvPr/>
        </p:nvSpPr>
        <p:spPr>
          <a:xfrm>
            <a:off x="2057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65" name="Oval 64"/>
          <p:cNvSpPr/>
          <p:nvPr/>
        </p:nvSpPr>
        <p:spPr>
          <a:xfrm>
            <a:off x="15335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6" name="TextBox 65"/>
          <p:cNvSpPr txBox="1"/>
          <p:nvPr/>
        </p:nvSpPr>
        <p:spPr>
          <a:xfrm>
            <a:off x="15335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67" name="Oval 66"/>
          <p:cNvSpPr/>
          <p:nvPr/>
        </p:nvSpPr>
        <p:spPr>
          <a:xfrm>
            <a:off x="17430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68" name="TextBox 67"/>
          <p:cNvSpPr txBox="1"/>
          <p:nvPr/>
        </p:nvSpPr>
        <p:spPr>
          <a:xfrm>
            <a:off x="17430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69" name="Oval 68"/>
          <p:cNvSpPr/>
          <p:nvPr/>
        </p:nvSpPr>
        <p:spPr>
          <a:xfrm>
            <a:off x="19526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0" name="TextBox 69"/>
          <p:cNvSpPr txBox="1"/>
          <p:nvPr/>
        </p:nvSpPr>
        <p:spPr>
          <a:xfrm>
            <a:off x="19526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71" name="TextBox 70"/>
          <p:cNvSpPr txBox="1"/>
          <p:nvPr/>
        </p:nvSpPr>
        <p:spPr>
          <a:xfrm>
            <a:off x="24003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DoMatcha</a:t>
            </a:r>
          </a:p>
        </p:txBody>
      </p:sp>
      <p:cxnSp>
        <p:nvCxnSpPr>
          <p:cNvPr id="72" name="Connector 71"/>
          <p:cNvCxnSpPr/>
          <p:nvPr/>
        </p:nvCxnSpPr>
        <p:spPr>
          <a:xfrm>
            <a:off x="26812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73" name="TextBox 72"/>
          <p:cNvSpPr txBox="1"/>
          <p:nvPr/>
        </p:nvSpPr>
        <p:spPr>
          <a:xfrm>
            <a:off x="24003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B</a:t>
            </a:r>
          </a:p>
        </p:txBody>
      </p:sp>
      <p:sp>
        <p:nvSpPr>
          <p:cNvPr id="74" name="TextBox 73"/>
          <p:cNvSpPr txBox="1"/>
          <p:nvPr/>
        </p:nvSpPr>
        <p:spPr>
          <a:xfrm>
            <a:off x="23907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75" name="TextBox 74"/>
          <p:cNvSpPr txBox="1"/>
          <p:nvPr/>
        </p:nvSpPr>
        <p:spPr>
          <a:xfrm>
            <a:off x="23907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76" name="Rectangle 75"/>
          <p:cNvSpPr/>
          <p:nvPr/>
        </p:nvSpPr>
        <p:spPr>
          <a:xfrm>
            <a:off x="26812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7" name="Rectangle 76"/>
          <p:cNvSpPr/>
          <p:nvPr/>
        </p:nvSpPr>
        <p:spPr>
          <a:xfrm>
            <a:off x="28527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8" name="Rectangle 77"/>
          <p:cNvSpPr/>
          <p:nvPr/>
        </p:nvSpPr>
        <p:spPr>
          <a:xfrm>
            <a:off x="30241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79" name="TextBox 78"/>
          <p:cNvSpPr txBox="1"/>
          <p:nvPr/>
        </p:nvSpPr>
        <p:spPr>
          <a:xfrm>
            <a:off x="24003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0" name="TextBox 79"/>
          <p:cNvSpPr txBox="1"/>
          <p:nvPr/>
        </p:nvSpPr>
        <p:spPr>
          <a:xfrm>
            <a:off x="24003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81" name="Oval 80"/>
          <p:cNvSpPr/>
          <p:nvPr/>
        </p:nvSpPr>
        <p:spPr>
          <a:xfrm>
            <a:off x="26622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2" name="Freeform 81"/>
          <p:cNvSpPr/>
          <p:nvPr/>
        </p:nvSpPr>
        <p:spPr>
          <a:xfrm>
            <a:off x="2914650" y="3416749"/>
            <a:ext cx="180975" cy="237298"/>
          </a:xfrm>
          <a:custGeom>
            <a:avLst/>
            <a:gdLst/>
            <a:ahLst/>
            <a:cxnLst/>
            <a:rect l="l" t="t" r="r" b="b"/>
            <a:pathLst>
              <a:path w="19" h="26">
                <a:moveTo>
                  <a:pt x="0" y="26"/>
                </a:moveTo>
                <a:lnTo>
                  <a:pt x="0" y="0"/>
                </a:lnTo>
                <a:lnTo>
                  <a:pt x="3" y="0"/>
                </a:lnTo>
                <a:lnTo>
                  <a:pt x="7" y="1"/>
                </a:lnTo>
                <a:lnTo>
                  <a:pt x="10" y="2"/>
                </a:lnTo>
                <a:lnTo>
                  <a:pt x="13" y="4"/>
                </a:lnTo>
                <a:lnTo>
                  <a:pt x="16" y="6"/>
                </a:lnTo>
                <a:lnTo>
                  <a:pt x="19" y="9"/>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3" name="Oval 82"/>
          <p:cNvSpPr/>
          <p:nvPr/>
        </p:nvSpPr>
        <p:spPr>
          <a:xfrm>
            <a:off x="27712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4" name="TextBox 83"/>
          <p:cNvSpPr txBox="1"/>
          <p:nvPr/>
        </p:nvSpPr>
        <p:spPr>
          <a:xfrm>
            <a:off x="2662238" y="3590159"/>
            <a:ext cx="495300" cy="127776"/>
          </a:xfrm>
          <a:prstGeom prst="rect">
            <a:avLst/>
          </a:prstGeom>
          <a:noFill/>
        </p:spPr>
        <p:txBody>
          <a:bodyPr wrap="square" lIns="28575" rIns="28575" tIns="9525" bIns="9525" anchor="ctr">
            <a:spAutoFit/>
          </a:bodyPr>
          <a:lstStyle/>
          <a:p>
            <a:pPr algn="ctr"/>
            <a:r>
              <a:rPr sz="1100" b="1">
                <a:solidFill>
                  <a:srgbClr val="0B2E4A"/>
                </a:solidFill>
                <a:latin typeface="Calibri"/>
              </a:rPr>
              <a:t> </a:t>
            </a:r>
          </a:p>
        </p:txBody>
      </p:sp>
      <p:sp>
        <p:nvSpPr>
          <p:cNvPr id="85" name="TextBox 84"/>
          <p:cNvSpPr txBox="1"/>
          <p:nvPr/>
        </p:nvSpPr>
        <p:spPr>
          <a:xfrm>
            <a:off x="24193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86" name="Oval 85"/>
          <p:cNvSpPr/>
          <p:nvPr/>
        </p:nvSpPr>
        <p:spPr>
          <a:xfrm>
            <a:off x="25050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7" name="TextBox 86"/>
          <p:cNvSpPr txBox="1"/>
          <p:nvPr/>
        </p:nvSpPr>
        <p:spPr>
          <a:xfrm>
            <a:off x="25050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88" name="Oval 87"/>
          <p:cNvSpPr/>
          <p:nvPr/>
        </p:nvSpPr>
        <p:spPr>
          <a:xfrm>
            <a:off x="27146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89" name="TextBox 88"/>
          <p:cNvSpPr txBox="1"/>
          <p:nvPr/>
        </p:nvSpPr>
        <p:spPr>
          <a:xfrm>
            <a:off x="27146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90" name="Oval 89"/>
          <p:cNvSpPr/>
          <p:nvPr/>
        </p:nvSpPr>
        <p:spPr>
          <a:xfrm>
            <a:off x="29241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1" name="TextBox 90"/>
          <p:cNvSpPr txBox="1"/>
          <p:nvPr/>
        </p:nvSpPr>
        <p:spPr>
          <a:xfrm>
            <a:off x="29241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92" name="Oval 91"/>
          <p:cNvSpPr/>
          <p:nvPr/>
        </p:nvSpPr>
        <p:spPr>
          <a:xfrm>
            <a:off x="3133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3" name="TextBox 92"/>
          <p:cNvSpPr txBox="1"/>
          <p:nvPr/>
        </p:nvSpPr>
        <p:spPr>
          <a:xfrm>
            <a:off x="3133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94" name="Oval 93"/>
          <p:cNvSpPr/>
          <p:nvPr/>
        </p:nvSpPr>
        <p:spPr>
          <a:xfrm>
            <a:off x="26098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5" name="TextBox 94"/>
          <p:cNvSpPr txBox="1"/>
          <p:nvPr/>
        </p:nvSpPr>
        <p:spPr>
          <a:xfrm>
            <a:off x="26098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96" name="Oval 95"/>
          <p:cNvSpPr/>
          <p:nvPr/>
        </p:nvSpPr>
        <p:spPr>
          <a:xfrm>
            <a:off x="28194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7" name="TextBox 96"/>
          <p:cNvSpPr txBox="1"/>
          <p:nvPr/>
        </p:nvSpPr>
        <p:spPr>
          <a:xfrm>
            <a:off x="28194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98" name="Oval 97"/>
          <p:cNvSpPr/>
          <p:nvPr/>
        </p:nvSpPr>
        <p:spPr>
          <a:xfrm>
            <a:off x="30289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99" name="TextBox 98"/>
          <p:cNvSpPr txBox="1"/>
          <p:nvPr/>
        </p:nvSpPr>
        <p:spPr>
          <a:xfrm>
            <a:off x="30289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00" name="TextBox 99"/>
          <p:cNvSpPr txBox="1"/>
          <p:nvPr/>
        </p:nvSpPr>
        <p:spPr>
          <a:xfrm>
            <a:off x="34766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Encha</a:t>
            </a:r>
          </a:p>
        </p:txBody>
      </p:sp>
      <p:cxnSp>
        <p:nvCxnSpPr>
          <p:cNvPr id="101" name="Connector 100"/>
          <p:cNvCxnSpPr/>
          <p:nvPr/>
        </p:nvCxnSpPr>
        <p:spPr>
          <a:xfrm>
            <a:off x="37576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34766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C</a:t>
            </a:r>
          </a:p>
        </p:txBody>
      </p:sp>
      <p:sp>
        <p:nvSpPr>
          <p:cNvPr id="103" name="TextBox 102"/>
          <p:cNvSpPr txBox="1"/>
          <p:nvPr/>
        </p:nvSpPr>
        <p:spPr>
          <a:xfrm>
            <a:off x="34671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04" name="TextBox 103"/>
          <p:cNvSpPr txBox="1"/>
          <p:nvPr/>
        </p:nvSpPr>
        <p:spPr>
          <a:xfrm>
            <a:off x="346710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05" name="Rectangle 104"/>
          <p:cNvSpPr/>
          <p:nvPr/>
        </p:nvSpPr>
        <p:spPr>
          <a:xfrm>
            <a:off x="37576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6" name="Rectangle 105"/>
          <p:cNvSpPr/>
          <p:nvPr/>
        </p:nvSpPr>
        <p:spPr>
          <a:xfrm>
            <a:off x="39290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7" name="Rectangle 106"/>
          <p:cNvSpPr/>
          <p:nvPr/>
        </p:nvSpPr>
        <p:spPr>
          <a:xfrm>
            <a:off x="41005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08" name="TextBox 107"/>
          <p:cNvSpPr txBox="1"/>
          <p:nvPr/>
        </p:nvSpPr>
        <p:spPr>
          <a:xfrm>
            <a:off x="34766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09" name="TextBox 108"/>
          <p:cNvSpPr txBox="1"/>
          <p:nvPr/>
        </p:nvSpPr>
        <p:spPr>
          <a:xfrm>
            <a:off x="34766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10" name="Oval 109"/>
          <p:cNvSpPr/>
          <p:nvPr/>
        </p:nvSpPr>
        <p:spPr>
          <a:xfrm>
            <a:off x="37385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1" name="Freeform 110"/>
          <p:cNvSpPr/>
          <p:nvPr/>
        </p:nvSpPr>
        <p:spPr>
          <a:xfrm>
            <a:off x="3981450" y="3416749"/>
            <a:ext cx="142875" cy="237298"/>
          </a:xfrm>
          <a:custGeom>
            <a:avLst/>
            <a:gdLst/>
            <a:ahLst/>
            <a:cxnLst/>
            <a:rect l="l" t="t" r="r" b="b"/>
            <a:pathLst>
              <a:path w="15" h="26">
                <a:moveTo>
                  <a:pt x="0" y="26"/>
                </a:moveTo>
                <a:lnTo>
                  <a:pt x="0" y="0"/>
                </a:lnTo>
                <a:lnTo>
                  <a:pt x="4" y="0"/>
                </a:lnTo>
                <a:lnTo>
                  <a:pt x="8" y="1"/>
                </a:lnTo>
                <a:lnTo>
                  <a:pt x="12" y="2"/>
                </a:lnTo>
                <a:lnTo>
                  <a:pt x="15" y="4"/>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2" name="Oval 111"/>
          <p:cNvSpPr/>
          <p:nvPr/>
        </p:nvSpPr>
        <p:spPr>
          <a:xfrm>
            <a:off x="384752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3" name="TextBox 112"/>
          <p:cNvSpPr txBox="1"/>
          <p:nvPr/>
        </p:nvSpPr>
        <p:spPr>
          <a:xfrm>
            <a:off x="37385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14" name="TextBox 113"/>
          <p:cNvSpPr txBox="1"/>
          <p:nvPr/>
        </p:nvSpPr>
        <p:spPr>
          <a:xfrm>
            <a:off x="34956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115" name="Oval 114"/>
          <p:cNvSpPr/>
          <p:nvPr/>
        </p:nvSpPr>
        <p:spPr>
          <a:xfrm>
            <a:off x="35814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6" name="TextBox 115"/>
          <p:cNvSpPr txBox="1"/>
          <p:nvPr/>
        </p:nvSpPr>
        <p:spPr>
          <a:xfrm>
            <a:off x="35814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17" name="Oval 116"/>
          <p:cNvSpPr/>
          <p:nvPr/>
        </p:nvSpPr>
        <p:spPr>
          <a:xfrm>
            <a:off x="37909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18" name="TextBox 117"/>
          <p:cNvSpPr txBox="1"/>
          <p:nvPr/>
        </p:nvSpPr>
        <p:spPr>
          <a:xfrm>
            <a:off x="37909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19" name="Oval 118"/>
          <p:cNvSpPr/>
          <p:nvPr/>
        </p:nvSpPr>
        <p:spPr>
          <a:xfrm>
            <a:off x="40005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0" name="TextBox 119"/>
          <p:cNvSpPr txBox="1"/>
          <p:nvPr/>
        </p:nvSpPr>
        <p:spPr>
          <a:xfrm>
            <a:off x="40005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21" name="Oval 120"/>
          <p:cNvSpPr/>
          <p:nvPr/>
        </p:nvSpPr>
        <p:spPr>
          <a:xfrm>
            <a:off x="42100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2" name="TextBox 121"/>
          <p:cNvSpPr txBox="1"/>
          <p:nvPr/>
        </p:nvSpPr>
        <p:spPr>
          <a:xfrm>
            <a:off x="4210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23" name="Oval 122"/>
          <p:cNvSpPr/>
          <p:nvPr/>
        </p:nvSpPr>
        <p:spPr>
          <a:xfrm>
            <a:off x="36861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4" name="TextBox 123"/>
          <p:cNvSpPr txBox="1"/>
          <p:nvPr/>
        </p:nvSpPr>
        <p:spPr>
          <a:xfrm>
            <a:off x="36861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25" name="Oval 124"/>
          <p:cNvSpPr/>
          <p:nvPr/>
        </p:nvSpPr>
        <p:spPr>
          <a:xfrm>
            <a:off x="38957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6" name="TextBox 125"/>
          <p:cNvSpPr txBox="1"/>
          <p:nvPr/>
        </p:nvSpPr>
        <p:spPr>
          <a:xfrm>
            <a:off x="38957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27" name="Oval 126"/>
          <p:cNvSpPr/>
          <p:nvPr/>
        </p:nvSpPr>
        <p:spPr>
          <a:xfrm>
            <a:off x="41052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28" name="TextBox 127"/>
          <p:cNvSpPr txBox="1"/>
          <p:nvPr/>
        </p:nvSpPr>
        <p:spPr>
          <a:xfrm>
            <a:off x="41052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29" name="TextBox 128"/>
          <p:cNvSpPr txBox="1"/>
          <p:nvPr/>
        </p:nvSpPr>
        <p:spPr>
          <a:xfrm>
            <a:off x="45529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Rishi Tea and Botanicals</a:t>
            </a:r>
          </a:p>
        </p:txBody>
      </p:sp>
      <p:cxnSp>
        <p:nvCxnSpPr>
          <p:cNvPr id="130" name="Connector 129"/>
          <p:cNvCxnSpPr/>
          <p:nvPr/>
        </p:nvCxnSpPr>
        <p:spPr>
          <a:xfrm>
            <a:off x="48339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45529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D</a:t>
            </a:r>
          </a:p>
        </p:txBody>
      </p:sp>
      <p:sp>
        <p:nvSpPr>
          <p:cNvPr id="132" name="TextBox 131"/>
          <p:cNvSpPr txBox="1"/>
          <p:nvPr/>
        </p:nvSpPr>
        <p:spPr>
          <a:xfrm>
            <a:off x="45434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133" name="TextBox 132"/>
          <p:cNvSpPr txBox="1"/>
          <p:nvPr/>
        </p:nvSpPr>
        <p:spPr>
          <a:xfrm>
            <a:off x="45434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134" name="Rectangle 133"/>
          <p:cNvSpPr/>
          <p:nvPr/>
        </p:nvSpPr>
        <p:spPr>
          <a:xfrm>
            <a:off x="48339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5" name="Rectangle 134"/>
          <p:cNvSpPr/>
          <p:nvPr/>
        </p:nvSpPr>
        <p:spPr>
          <a:xfrm>
            <a:off x="50053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6" name="Rectangle 135"/>
          <p:cNvSpPr/>
          <p:nvPr/>
        </p:nvSpPr>
        <p:spPr>
          <a:xfrm>
            <a:off x="51768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37" name="TextBox 136"/>
          <p:cNvSpPr txBox="1"/>
          <p:nvPr/>
        </p:nvSpPr>
        <p:spPr>
          <a:xfrm>
            <a:off x="45529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8" name="TextBox 137"/>
          <p:cNvSpPr txBox="1"/>
          <p:nvPr/>
        </p:nvSpPr>
        <p:spPr>
          <a:xfrm>
            <a:off x="45529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39" name="Oval 138"/>
          <p:cNvSpPr/>
          <p:nvPr/>
        </p:nvSpPr>
        <p:spPr>
          <a:xfrm>
            <a:off x="48148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0" name="Freeform 139"/>
          <p:cNvSpPr/>
          <p:nvPr/>
        </p:nvSpPr>
        <p:spPr>
          <a:xfrm>
            <a:off x="5067300" y="3416749"/>
            <a:ext cx="95250" cy="237298"/>
          </a:xfrm>
          <a:custGeom>
            <a:avLst/>
            <a:gdLst/>
            <a:ahLst/>
            <a:cxnLst/>
            <a:rect l="l" t="t" r="r" b="b"/>
            <a:pathLst>
              <a:path w="10" h="26">
                <a:moveTo>
                  <a:pt x="0" y="26"/>
                </a:moveTo>
                <a:lnTo>
                  <a:pt x="0" y="0"/>
                </a:lnTo>
                <a:lnTo>
                  <a:pt x="3" y="0"/>
                </a:lnTo>
                <a:lnTo>
                  <a:pt x="7"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1" name="Oval 140"/>
          <p:cNvSpPr/>
          <p:nvPr/>
        </p:nvSpPr>
        <p:spPr>
          <a:xfrm>
            <a:off x="49238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2" name="TextBox 141"/>
          <p:cNvSpPr txBox="1"/>
          <p:nvPr/>
        </p:nvSpPr>
        <p:spPr>
          <a:xfrm>
            <a:off x="48148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43" name="TextBox 142"/>
          <p:cNvSpPr txBox="1"/>
          <p:nvPr/>
        </p:nvSpPr>
        <p:spPr>
          <a:xfrm>
            <a:off x="45720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144" name="Oval 143"/>
          <p:cNvSpPr/>
          <p:nvPr/>
        </p:nvSpPr>
        <p:spPr>
          <a:xfrm>
            <a:off x="46577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5" name="TextBox 144"/>
          <p:cNvSpPr txBox="1"/>
          <p:nvPr/>
        </p:nvSpPr>
        <p:spPr>
          <a:xfrm>
            <a:off x="46577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46" name="Oval 145"/>
          <p:cNvSpPr/>
          <p:nvPr/>
        </p:nvSpPr>
        <p:spPr>
          <a:xfrm>
            <a:off x="48672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7" name="TextBox 146"/>
          <p:cNvSpPr txBox="1"/>
          <p:nvPr/>
        </p:nvSpPr>
        <p:spPr>
          <a:xfrm>
            <a:off x="48672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48" name="Oval 147"/>
          <p:cNvSpPr/>
          <p:nvPr/>
        </p:nvSpPr>
        <p:spPr>
          <a:xfrm>
            <a:off x="50768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49" name="TextBox 148"/>
          <p:cNvSpPr txBox="1"/>
          <p:nvPr/>
        </p:nvSpPr>
        <p:spPr>
          <a:xfrm>
            <a:off x="50768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50" name="Oval 149"/>
          <p:cNvSpPr/>
          <p:nvPr/>
        </p:nvSpPr>
        <p:spPr>
          <a:xfrm>
            <a:off x="5286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1" name="TextBox 150"/>
          <p:cNvSpPr txBox="1"/>
          <p:nvPr/>
        </p:nvSpPr>
        <p:spPr>
          <a:xfrm>
            <a:off x="5286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52" name="Oval 151"/>
          <p:cNvSpPr/>
          <p:nvPr/>
        </p:nvSpPr>
        <p:spPr>
          <a:xfrm>
            <a:off x="47625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3" name="TextBox 152"/>
          <p:cNvSpPr txBox="1"/>
          <p:nvPr/>
        </p:nvSpPr>
        <p:spPr>
          <a:xfrm>
            <a:off x="47625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54" name="Oval 153"/>
          <p:cNvSpPr/>
          <p:nvPr/>
        </p:nvSpPr>
        <p:spPr>
          <a:xfrm>
            <a:off x="49720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5" name="TextBox 154"/>
          <p:cNvSpPr txBox="1"/>
          <p:nvPr/>
        </p:nvSpPr>
        <p:spPr>
          <a:xfrm>
            <a:off x="49720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56" name="Oval 155"/>
          <p:cNvSpPr/>
          <p:nvPr/>
        </p:nvSpPr>
        <p:spPr>
          <a:xfrm>
            <a:off x="51816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57" name="TextBox 156"/>
          <p:cNvSpPr txBox="1"/>
          <p:nvPr/>
        </p:nvSpPr>
        <p:spPr>
          <a:xfrm>
            <a:off x="51816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58" name="TextBox 157"/>
          <p:cNvSpPr txBox="1"/>
          <p:nvPr/>
        </p:nvSpPr>
        <p:spPr>
          <a:xfrm>
            <a:off x="56292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Tenzo</a:t>
            </a:r>
          </a:p>
        </p:txBody>
      </p:sp>
      <p:cxnSp>
        <p:nvCxnSpPr>
          <p:cNvPr id="159" name="Connector 158"/>
          <p:cNvCxnSpPr/>
          <p:nvPr/>
        </p:nvCxnSpPr>
        <p:spPr>
          <a:xfrm>
            <a:off x="59102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60" name="TextBox 159"/>
          <p:cNvSpPr txBox="1"/>
          <p:nvPr/>
        </p:nvSpPr>
        <p:spPr>
          <a:xfrm>
            <a:off x="56292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E</a:t>
            </a:r>
          </a:p>
        </p:txBody>
      </p:sp>
      <p:sp>
        <p:nvSpPr>
          <p:cNvPr id="161" name="TextBox 160"/>
          <p:cNvSpPr txBox="1"/>
          <p:nvPr/>
        </p:nvSpPr>
        <p:spPr>
          <a:xfrm>
            <a:off x="56197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162" name="TextBox 161"/>
          <p:cNvSpPr txBox="1"/>
          <p:nvPr/>
        </p:nvSpPr>
        <p:spPr>
          <a:xfrm>
            <a:off x="561975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163" name="Rectangle 162"/>
          <p:cNvSpPr/>
          <p:nvPr/>
        </p:nvSpPr>
        <p:spPr>
          <a:xfrm>
            <a:off x="59102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4" name="Rectangle 163"/>
          <p:cNvSpPr/>
          <p:nvPr/>
        </p:nvSpPr>
        <p:spPr>
          <a:xfrm>
            <a:off x="60817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5" name="Rectangle 164"/>
          <p:cNvSpPr/>
          <p:nvPr/>
        </p:nvSpPr>
        <p:spPr>
          <a:xfrm>
            <a:off x="62531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6" name="TextBox 165"/>
          <p:cNvSpPr txBox="1"/>
          <p:nvPr/>
        </p:nvSpPr>
        <p:spPr>
          <a:xfrm>
            <a:off x="56292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7" name="TextBox 166"/>
          <p:cNvSpPr txBox="1"/>
          <p:nvPr/>
        </p:nvSpPr>
        <p:spPr>
          <a:xfrm>
            <a:off x="56292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68" name="Oval 167"/>
          <p:cNvSpPr/>
          <p:nvPr/>
        </p:nvSpPr>
        <p:spPr>
          <a:xfrm>
            <a:off x="58912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69" name="Freeform 168"/>
          <p:cNvSpPr/>
          <p:nvPr/>
        </p:nvSpPr>
        <p:spPr>
          <a:xfrm>
            <a:off x="6134100" y="3416749"/>
            <a:ext cx="104775" cy="237298"/>
          </a:xfrm>
          <a:custGeom>
            <a:avLst/>
            <a:gdLst/>
            <a:ahLst/>
            <a:cxnLst/>
            <a:rect l="l" t="t" r="r" b="b"/>
            <a:pathLst>
              <a:path w="11" h="26">
                <a:moveTo>
                  <a:pt x="0" y="26"/>
                </a:moveTo>
                <a:lnTo>
                  <a:pt x="0" y="0"/>
                </a:lnTo>
                <a:lnTo>
                  <a:pt x="4" y="0"/>
                </a:lnTo>
                <a:lnTo>
                  <a:pt x="7" y="1"/>
                </a:lnTo>
                <a:lnTo>
                  <a:pt x="11"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0" name="Oval 169"/>
          <p:cNvSpPr/>
          <p:nvPr/>
        </p:nvSpPr>
        <p:spPr>
          <a:xfrm>
            <a:off x="600017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1" name="TextBox 170"/>
          <p:cNvSpPr txBox="1"/>
          <p:nvPr/>
        </p:nvSpPr>
        <p:spPr>
          <a:xfrm>
            <a:off x="58912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172" name="TextBox 171"/>
          <p:cNvSpPr txBox="1"/>
          <p:nvPr/>
        </p:nvSpPr>
        <p:spPr>
          <a:xfrm>
            <a:off x="56483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Latin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9AA3A8"/>
                </a:solidFill>
                <a:latin typeface="Calibri"/>
              </a:rPr>
              <a:t>▲</a:t>
            </a:r>
          </a:p>
        </p:txBody>
      </p:sp>
      <p:sp>
        <p:nvSpPr>
          <p:cNvPr id="173" name="Oval 172"/>
          <p:cNvSpPr/>
          <p:nvPr/>
        </p:nvSpPr>
        <p:spPr>
          <a:xfrm>
            <a:off x="57340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4" name="TextBox 173"/>
          <p:cNvSpPr txBox="1"/>
          <p:nvPr/>
        </p:nvSpPr>
        <p:spPr>
          <a:xfrm>
            <a:off x="57340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175" name="Oval 174"/>
          <p:cNvSpPr/>
          <p:nvPr/>
        </p:nvSpPr>
        <p:spPr>
          <a:xfrm>
            <a:off x="59436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6" name="TextBox 175"/>
          <p:cNvSpPr txBox="1"/>
          <p:nvPr/>
        </p:nvSpPr>
        <p:spPr>
          <a:xfrm>
            <a:off x="59436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177" name="Oval 176"/>
          <p:cNvSpPr/>
          <p:nvPr/>
        </p:nvSpPr>
        <p:spPr>
          <a:xfrm>
            <a:off x="61531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78" name="TextBox 177"/>
          <p:cNvSpPr txBox="1"/>
          <p:nvPr/>
        </p:nvSpPr>
        <p:spPr>
          <a:xfrm>
            <a:off x="61531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179" name="Oval 178"/>
          <p:cNvSpPr/>
          <p:nvPr/>
        </p:nvSpPr>
        <p:spPr>
          <a:xfrm>
            <a:off x="63627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0" name="TextBox 179"/>
          <p:cNvSpPr txBox="1"/>
          <p:nvPr/>
        </p:nvSpPr>
        <p:spPr>
          <a:xfrm>
            <a:off x="6362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181" name="Oval 180"/>
          <p:cNvSpPr/>
          <p:nvPr/>
        </p:nvSpPr>
        <p:spPr>
          <a:xfrm>
            <a:off x="58388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2" name="TextBox 181"/>
          <p:cNvSpPr txBox="1"/>
          <p:nvPr/>
        </p:nvSpPr>
        <p:spPr>
          <a:xfrm>
            <a:off x="58388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183" name="Oval 182"/>
          <p:cNvSpPr/>
          <p:nvPr/>
        </p:nvSpPr>
        <p:spPr>
          <a:xfrm>
            <a:off x="60483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4" name="TextBox 183"/>
          <p:cNvSpPr txBox="1"/>
          <p:nvPr/>
        </p:nvSpPr>
        <p:spPr>
          <a:xfrm>
            <a:off x="60483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185" name="Oval 184"/>
          <p:cNvSpPr/>
          <p:nvPr/>
        </p:nvSpPr>
        <p:spPr>
          <a:xfrm>
            <a:off x="62579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86" name="TextBox 185"/>
          <p:cNvSpPr txBox="1"/>
          <p:nvPr/>
        </p:nvSpPr>
        <p:spPr>
          <a:xfrm>
            <a:off x="62579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187" name="TextBox 186"/>
          <p:cNvSpPr txBox="1"/>
          <p:nvPr/>
        </p:nvSpPr>
        <p:spPr>
          <a:xfrm>
            <a:off x="67056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Matchaful</a:t>
            </a:r>
          </a:p>
        </p:txBody>
      </p:sp>
      <p:cxnSp>
        <p:nvCxnSpPr>
          <p:cNvPr id="188" name="Connector 187"/>
          <p:cNvCxnSpPr/>
          <p:nvPr/>
        </p:nvCxnSpPr>
        <p:spPr>
          <a:xfrm>
            <a:off x="69865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056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F</a:t>
            </a:r>
          </a:p>
        </p:txBody>
      </p:sp>
      <p:sp>
        <p:nvSpPr>
          <p:cNvPr id="190" name="TextBox 189"/>
          <p:cNvSpPr txBox="1"/>
          <p:nvPr/>
        </p:nvSpPr>
        <p:spPr>
          <a:xfrm>
            <a:off x="66960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191" name="TextBox 190"/>
          <p:cNvSpPr txBox="1"/>
          <p:nvPr/>
        </p:nvSpPr>
        <p:spPr>
          <a:xfrm>
            <a:off x="6696075"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192" name="Rectangle 191"/>
          <p:cNvSpPr/>
          <p:nvPr/>
        </p:nvSpPr>
        <p:spPr>
          <a:xfrm>
            <a:off x="69865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3" name="Rectangle 192"/>
          <p:cNvSpPr/>
          <p:nvPr/>
        </p:nvSpPr>
        <p:spPr>
          <a:xfrm>
            <a:off x="71580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4" name="Rectangle 193"/>
          <p:cNvSpPr/>
          <p:nvPr/>
        </p:nvSpPr>
        <p:spPr>
          <a:xfrm>
            <a:off x="73294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5" name="TextBox 194"/>
          <p:cNvSpPr txBox="1"/>
          <p:nvPr/>
        </p:nvSpPr>
        <p:spPr>
          <a:xfrm>
            <a:off x="67056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6" name="TextBox 195"/>
          <p:cNvSpPr txBox="1"/>
          <p:nvPr/>
        </p:nvSpPr>
        <p:spPr>
          <a:xfrm>
            <a:off x="67056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197" name="Oval 196"/>
          <p:cNvSpPr/>
          <p:nvPr/>
        </p:nvSpPr>
        <p:spPr>
          <a:xfrm>
            <a:off x="69675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8" name="Freeform 197"/>
          <p:cNvSpPr/>
          <p:nvPr/>
        </p:nvSpPr>
        <p:spPr>
          <a:xfrm>
            <a:off x="7219950" y="3416749"/>
            <a:ext cx="95250" cy="237298"/>
          </a:xfrm>
          <a:custGeom>
            <a:avLst/>
            <a:gdLst/>
            <a:ahLst/>
            <a:cxnLst/>
            <a:rect l="l" t="t" r="r" b="b"/>
            <a:pathLst>
              <a:path w="10" h="26">
                <a:moveTo>
                  <a:pt x="0" y="26"/>
                </a:moveTo>
                <a:lnTo>
                  <a:pt x="0" y="0"/>
                </a:lnTo>
                <a:lnTo>
                  <a:pt x="3" y="0"/>
                </a:lnTo>
                <a:lnTo>
                  <a:pt x="6" y="1"/>
                </a:lnTo>
                <a:lnTo>
                  <a:pt x="10" y="2"/>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199" name="Oval 198"/>
          <p:cNvSpPr/>
          <p:nvPr/>
        </p:nvSpPr>
        <p:spPr>
          <a:xfrm>
            <a:off x="70765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0" name="TextBox 199"/>
          <p:cNvSpPr txBox="1"/>
          <p:nvPr/>
        </p:nvSpPr>
        <p:spPr>
          <a:xfrm>
            <a:off x="69675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01" name="TextBox 200"/>
          <p:cNvSpPr txBox="1"/>
          <p:nvPr/>
        </p:nvSpPr>
        <p:spPr>
          <a:xfrm>
            <a:off x="67246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Middle East &amp; Africa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North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9AA3A8"/>
                </a:solidFill>
                <a:latin typeface="Calibri"/>
              </a:rPr>
              <a:t>▲</a:t>
            </a:r>
          </a:p>
        </p:txBody>
      </p:sp>
      <p:sp>
        <p:nvSpPr>
          <p:cNvPr id="202" name="Oval 201"/>
          <p:cNvSpPr/>
          <p:nvPr/>
        </p:nvSpPr>
        <p:spPr>
          <a:xfrm>
            <a:off x="68103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3" name="TextBox 202"/>
          <p:cNvSpPr txBox="1"/>
          <p:nvPr/>
        </p:nvSpPr>
        <p:spPr>
          <a:xfrm>
            <a:off x="68103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04" name="Oval 203"/>
          <p:cNvSpPr/>
          <p:nvPr/>
        </p:nvSpPr>
        <p:spPr>
          <a:xfrm>
            <a:off x="70199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5" name="TextBox 204"/>
          <p:cNvSpPr txBox="1"/>
          <p:nvPr/>
        </p:nvSpPr>
        <p:spPr>
          <a:xfrm>
            <a:off x="70199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06" name="Oval 205"/>
          <p:cNvSpPr/>
          <p:nvPr/>
        </p:nvSpPr>
        <p:spPr>
          <a:xfrm>
            <a:off x="72294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7" name="TextBox 206"/>
          <p:cNvSpPr txBox="1"/>
          <p:nvPr/>
        </p:nvSpPr>
        <p:spPr>
          <a:xfrm>
            <a:off x="72294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08" name="Oval 207"/>
          <p:cNvSpPr/>
          <p:nvPr/>
        </p:nvSpPr>
        <p:spPr>
          <a:xfrm>
            <a:off x="7439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09" name="TextBox 208"/>
          <p:cNvSpPr txBox="1"/>
          <p:nvPr/>
        </p:nvSpPr>
        <p:spPr>
          <a:xfrm>
            <a:off x="7439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10" name="Oval 209"/>
          <p:cNvSpPr/>
          <p:nvPr/>
        </p:nvSpPr>
        <p:spPr>
          <a:xfrm>
            <a:off x="69151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1" name="TextBox 210"/>
          <p:cNvSpPr txBox="1"/>
          <p:nvPr/>
        </p:nvSpPr>
        <p:spPr>
          <a:xfrm>
            <a:off x="69151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12" name="Oval 211"/>
          <p:cNvSpPr/>
          <p:nvPr/>
        </p:nvSpPr>
        <p:spPr>
          <a:xfrm>
            <a:off x="71247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3" name="TextBox 212"/>
          <p:cNvSpPr txBox="1"/>
          <p:nvPr/>
        </p:nvSpPr>
        <p:spPr>
          <a:xfrm>
            <a:off x="71247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14" name="Oval 213"/>
          <p:cNvSpPr/>
          <p:nvPr/>
        </p:nvSpPr>
        <p:spPr>
          <a:xfrm>
            <a:off x="73342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15" name="TextBox 214"/>
          <p:cNvSpPr txBox="1"/>
          <p:nvPr/>
        </p:nvSpPr>
        <p:spPr>
          <a:xfrm>
            <a:off x="73342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16" name="TextBox 215"/>
          <p:cNvSpPr txBox="1"/>
          <p:nvPr/>
        </p:nvSpPr>
        <p:spPr>
          <a:xfrm>
            <a:off x="778192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Kettl</a:t>
            </a:r>
          </a:p>
        </p:txBody>
      </p:sp>
      <p:cxnSp>
        <p:nvCxnSpPr>
          <p:cNvPr id="217" name="Connector 216"/>
          <p:cNvCxnSpPr/>
          <p:nvPr/>
        </p:nvCxnSpPr>
        <p:spPr>
          <a:xfrm>
            <a:off x="806291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18" name="TextBox 217"/>
          <p:cNvSpPr txBox="1"/>
          <p:nvPr/>
        </p:nvSpPr>
        <p:spPr>
          <a:xfrm>
            <a:off x="778192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G</a:t>
            </a:r>
          </a:p>
        </p:txBody>
      </p:sp>
      <p:sp>
        <p:nvSpPr>
          <p:cNvPr id="219" name="TextBox 218"/>
          <p:cNvSpPr txBox="1"/>
          <p:nvPr/>
        </p:nvSpPr>
        <p:spPr>
          <a:xfrm>
            <a:off x="777240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220" name="TextBox 219"/>
          <p:cNvSpPr txBox="1"/>
          <p:nvPr/>
        </p:nvSpPr>
        <p:spPr>
          <a:xfrm>
            <a:off x="7772400"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221" name="Rectangle 220"/>
          <p:cNvSpPr/>
          <p:nvPr/>
        </p:nvSpPr>
        <p:spPr>
          <a:xfrm>
            <a:off x="806291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2" name="Rectangle 221"/>
          <p:cNvSpPr/>
          <p:nvPr/>
        </p:nvSpPr>
        <p:spPr>
          <a:xfrm>
            <a:off x="8234362" y="2303274"/>
            <a:ext cx="114300" cy="109522"/>
          </a:xfrm>
          <a:prstGeom prst="rect">
            <a:avLst/>
          </a:prstGeom>
          <a:solidFill>
            <a:srgbClr val="FFFFFF"/>
          </a:solidFill>
          <a:ln w="12700">
            <a:solidFill>
              <a:srgbClr val="79C3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3" name="Rectangle 222"/>
          <p:cNvSpPr/>
          <p:nvPr/>
        </p:nvSpPr>
        <p:spPr>
          <a:xfrm>
            <a:off x="840581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4" name="TextBox 223"/>
          <p:cNvSpPr txBox="1"/>
          <p:nvPr/>
        </p:nvSpPr>
        <p:spPr>
          <a:xfrm>
            <a:off x="778192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5" name="TextBox 224"/>
          <p:cNvSpPr txBox="1"/>
          <p:nvPr/>
        </p:nvSpPr>
        <p:spPr>
          <a:xfrm>
            <a:off x="778192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26" name="Oval 225"/>
          <p:cNvSpPr/>
          <p:nvPr/>
        </p:nvSpPr>
        <p:spPr>
          <a:xfrm>
            <a:off x="804386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7" name="Freeform 226"/>
          <p:cNvSpPr/>
          <p:nvPr/>
        </p:nvSpPr>
        <p:spPr>
          <a:xfrm>
            <a:off x="8286750" y="3416749"/>
            <a:ext cx="85725" cy="237298"/>
          </a:xfrm>
          <a:custGeom>
            <a:avLst/>
            <a:gdLst/>
            <a:ahLst/>
            <a:cxnLst/>
            <a:rect l="l" t="t" r="r" b="b"/>
            <a:pathLst>
              <a:path w="9" h="26">
                <a:moveTo>
                  <a:pt x="0" y="26"/>
                </a:moveTo>
                <a:lnTo>
                  <a:pt x="0" y="0"/>
                </a:lnTo>
                <a:lnTo>
                  <a:pt x="5" y="0"/>
                </a:lnTo>
                <a:lnTo>
                  <a:pt x="9" y="1"/>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8" name="Oval 227"/>
          <p:cNvSpPr/>
          <p:nvPr/>
        </p:nvSpPr>
        <p:spPr>
          <a:xfrm>
            <a:off x="8152829"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29" name="TextBox 228"/>
          <p:cNvSpPr txBox="1"/>
          <p:nvPr/>
        </p:nvSpPr>
        <p:spPr>
          <a:xfrm>
            <a:off x="804386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30" name="TextBox 229"/>
          <p:cNvSpPr txBox="1"/>
          <p:nvPr/>
        </p:nvSpPr>
        <p:spPr>
          <a:xfrm>
            <a:off x="780097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North America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Europe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9AA3A8"/>
                </a:solidFill>
                <a:latin typeface="Calibri"/>
              </a:rPr>
              <a:t>▲</a:t>
            </a:r>
          </a:p>
        </p:txBody>
      </p:sp>
      <p:sp>
        <p:nvSpPr>
          <p:cNvPr id="231" name="Oval 230"/>
          <p:cNvSpPr/>
          <p:nvPr/>
        </p:nvSpPr>
        <p:spPr>
          <a:xfrm>
            <a:off x="78867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2" name="TextBox 231"/>
          <p:cNvSpPr txBox="1"/>
          <p:nvPr/>
        </p:nvSpPr>
        <p:spPr>
          <a:xfrm>
            <a:off x="78867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33" name="Oval 232"/>
          <p:cNvSpPr/>
          <p:nvPr/>
        </p:nvSpPr>
        <p:spPr>
          <a:xfrm>
            <a:off x="80962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4" name="TextBox 233"/>
          <p:cNvSpPr txBox="1"/>
          <p:nvPr/>
        </p:nvSpPr>
        <p:spPr>
          <a:xfrm>
            <a:off x="80962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35" name="Oval 234"/>
          <p:cNvSpPr/>
          <p:nvPr/>
        </p:nvSpPr>
        <p:spPr>
          <a:xfrm>
            <a:off x="83058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6" name="TextBox 235"/>
          <p:cNvSpPr txBox="1"/>
          <p:nvPr/>
        </p:nvSpPr>
        <p:spPr>
          <a:xfrm>
            <a:off x="83058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37" name="Oval 236"/>
          <p:cNvSpPr/>
          <p:nvPr/>
        </p:nvSpPr>
        <p:spPr>
          <a:xfrm>
            <a:off x="851535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38" name="TextBox 237"/>
          <p:cNvSpPr txBox="1"/>
          <p:nvPr/>
        </p:nvSpPr>
        <p:spPr>
          <a:xfrm>
            <a:off x="8515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39" name="Oval 238"/>
          <p:cNvSpPr/>
          <p:nvPr/>
        </p:nvSpPr>
        <p:spPr>
          <a:xfrm>
            <a:off x="79914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0" name="TextBox 239"/>
          <p:cNvSpPr txBox="1"/>
          <p:nvPr/>
        </p:nvSpPr>
        <p:spPr>
          <a:xfrm>
            <a:off x="79914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41" name="Oval 240"/>
          <p:cNvSpPr/>
          <p:nvPr/>
        </p:nvSpPr>
        <p:spPr>
          <a:xfrm>
            <a:off x="820102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2" name="TextBox 241"/>
          <p:cNvSpPr txBox="1"/>
          <p:nvPr/>
        </p:nvSpPr>
        <p:spPr>
          <a:xfrm>
            <a:off x="82010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43" name="Oval 242"/>
          <p:cNvSpPr/>
          <p:nvPr/>
        </p:nvSpPr>
        <p:spPr>
          <a:xfrm>
            <a:off x="841057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44" name="TextBox 243"/>
          <p:cNvSpPr txBox="1"/>
          <p:nvPr/>
        </p:nvSpPr>
        <p:spPr>
          <a:xfrm>
            <a:off x="84105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45" name="TextBox 244"/>
          <p:cNvSpPr txBox="1"/>
          <p:nvPr/>
        </p:nvSpPr>
        <p:spPr>
          <a:xfrm>
            <a:off x="885825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Harney and Sons</a:t>
            </a:r>
          </a:p>
        </p:txBody>
      </p:sp>
      <p:cxnSp>
        <p:nvCxnSpPr>
          <p:cNvPr id="246" name="Connector 245"/>
          <p:cNvCxnSpPr/>
          <p:nvPr/>
        </p:nvCxnSpPr>
        <p:spPr>
          <a:xfrm>
            <a:off x="913923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47" name="TextBox 246"/>
          <p:cNvSpPr txBox="1"/>
          <p:nvPr/>
        </p:nvSpPr>
        <p:spPr>
          <a:xfrm>
            <a:off x="885825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H</a:t>
            </a:r>
          </a:p>
        </p:txBody>
      </p:sp>
      <p:sp>
        <p:nvSpPr>
          <p:cNvPr id="248" name="TextBox 247"/>
          <p:cNvSpPr txBox="1"/>
          <p:nvPr/>
        </p:nvSpPr>
        <p:spPr>
          <a:xfrm>
            <a:off x="884872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D4D7DA"/>
                </a:solidFill>
                <a:latin typeface="Calibri"/>
              </a:rPr>
              <a:t>✦ </a:t>
            </a:r>
          </a:p>
        </p:txBody>
      </p:sp>
      <p:sp>
        <p:nvSpPr>
          <p:cNvPr id="249" name="TextBox 248"/>
          <p:cNvSpPr txBox="1"/>
          <p:nvPr/>
        </p:nvSpPr>
        <p:spPr>
          <a:xfrm>
            <a:off x="884872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E44D3A"/>
                </a:solidFill>
                <a:latin typeface="Calibri"/>
              </a:rPr>
              <a:t>✘ </a:t>
            </a:r>
            <a:r>
              <a:rPr sz="1100" b="1">
                <a:solidFill>
                  <a:srgbClr val="008189"/>
                </a:solidFill>
                <a:latin typeface="Calibri"/>
              </a:rPr>
              <a:t>✔ </a:t>
            </a:r>
          </a:p>
        </p:txBody>
      </p:sp>
      <p:sp>
        <p:nvSpPr>
          <p:cNvPr id="250" name="Rectangle 249"/>
          <p:cNvSpPr/>
          <p:nvPr/>
        </p:nvSpPr>
        <p:spPr>
          <a:xfrm>
            <a:off x="9139238" y="2303274"/>
            <a:ext cx="114300" cy="109522"/>
          </a:xfrm>
          <a:prstGeom prst="rect">
            <a:avLst/>
          </a:prstGeom>
          <a:solidFill>
            <a:srgbClr val="FFFFFF"/>
          </a:solidFill>
          <a:ln w="12700">
            <a:solidFill>
              <a:srgbClr val="A86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1" name="Rectangle 250"/>
          <p:cNvSpPr/>
          <p:nvPr/>
        </p:nvSpPr>
        <p:spPr>
          <a:xfrm>
            <a:off x="931068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2" name="Rectangle 251"/>
          <p:cNvSpPr/>
          <p:nvPr/>
        </p:nvSpPr>
        <p:spPr>
          <a:xfrm>
            <a:off x="9482138"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3" name="TextBox 252"/>
          <p:cNvSpPr txBox="1"/>
          <p:nvPr/>
        </p:nvSpPr>
        <p:spPr>
          <a:xfrm>
            <a:off x="885825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4" name="TextBox 253"/>
          <p:cNvSpPr txBox="1"/>
          <p:nvPr/>
        </p:nvSpPr>
        <p:spPr>
          <a:xfrm>
            <a:off x="885825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55" name="Oval 254"/>
          <p:cNvSpPr/>
          <p:nvPr/>
        </p:nvSpPr>
        <p:spPr>
          <a:xfrm>
            <a:off x="912018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6" name="Freeform 255"/>
          <p:cNvSpPr/>
          <p:nvPr/>
        </p:nvSpPr>
        <p:spPr>
          <a:xfrm>
            <a:off x="9372600" y="3416749"/>
            <a:ext cx="47625" cy="237298"/>
          </a:xfrm>
          <a:custGeom>
            <a:avLst/>
            <a:gdLst/>
            <a:ahLst/>
            <a:cxnLst/>
            <a:rect l="l" t="t" r="r" b="b"/>
            <a:pathLst>
              <a:path w="5" h="26">
                <a:moveTo>
                  <a:pt x="0" y="26"/>
                </a:moveTo>
                <a:lnTo>
                  <a:pt x="0" y="0"/>
                </a:lnTo>
                <a:lnTo>
                  <a:pt x="2" y="0"/>
                </a:lnTo>
                <a:lnTo>
                  <a:pt x="5"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7" name="Oval 256"/>
          <p:cNvSpPr/>
          <p:nvPr/>
        </p:nvSpPr>
        <p:spPr>
          <a:xfrm>
            <a:off x="922915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58" name="TextBox 257"/>
          <p:cNvSpPr txBox="1"/>
          <p:nvPr/>
        </p:nvSpPr>
        <p:spPr>
          <a:xfrm>
            <a:off x="912018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59" name="TextBox 258"/>
          <p:cNvSpPr txBox="1"/>
          <p:nvPr/>
        </p:nvSpPr>
        <p:spPr>
          <a:xfrm>
            <a:off x="887730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Europe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South Asia &amp; Pacific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9AA3A8"/>
                </a:solidFill>
                <a:latin typeface="Calibri"/>
              </a:rPr>
              <a:t>▲</a:t>
            </a:r>
          </a:p>
        </p:txBody>
      </p:sp>
      <p:sp>
        <p:nvSpPr>
          <p:cNvPr id="260" name="Oval 259"/>
          <p:cNvSpPr/>
          <p:nvPr/>
        </p:nvSpPr>
        <p:spPr>
          <a:xfrm>
            <a:off x="89630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1" name="TextBox 260"/>
          <p:cNvSpPr txBox="1"/>
          <p:nvPr/>
        </p:nvSpPr>
        <p:spPr>
          <a:xfrm>
            <a:off x="89630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62" name="Oval 261"/>
          <p:cNvSpPr/>
          <p:nvPr/>
        </p:nvSpPr>
        <p:spPr>
          <a:xfrm>
            <a:off x="91725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3" name="TextBox 262"/>
          <p:cNvSpPr txBox="1"/>
          <p:nvPr/>
        </p:nvSpPr>
        <p:spPr>
          <a:xfrm>
            <a:off x="91725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64" name="Oval 263"/>
          <p:cNvSpPr/>
          <p:nvPr/>
        </p:nvSpPr>
        <p:spPr>
          <a:xfrm>
            <a:off x="93821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5" name="TextBox 264"/>
          <p:cNvSpPr txBox="1"/>
          <p:nvPr/>
        </p:nvSpPr>
        <p:spPr>
          <a:xfrm>
            <a:off x="93821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66" name="Oval 265"/>
          <p:cNvSpPr/>
          <p:nvPr/>
        </p:nvSpPr>
        <p:spPr>
          <a:xfrm>
            <a:off x="9591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7" name="TextBox 266"/>
          <p:cNvSpPr txBox="1"/>
          <p:nvPr/>
        </p:nvSpPr>
        <p:spPr>
          <a:xfrm>
            <a:off x="9591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68" name="Oval 267"/>
          <p:cNvSpPr/>
          <p:nvPr/>
        </p:nvSpPr>
        <p:spPr>
          <a:xfrm>
            <a:off x="90678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69" name="TextBox 268"/>
          <p:cNvSpPr txBox="1"/>
          <p:nvPr/>
        </p:nvSpPr>
        <p:spPr>
          <a:xfrm>
            <a:off x="90678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70" name="Oval 269"/>
          <p:cNvSpPr/>
          <p:nvPr/>
        </p:nvSpPr>
        <p:spPr>
          <a:xfrm>
            <a:off x="927735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1" name="TextBox 270"/>
          <p:cNvSpPr txBox="1"/>
          <p:nvPr/>
        </p:nvSpPr>
        <p:spPr>
          <a:xfrm>
            <a:off x="92773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272" name="Oval 271"/>
          <p:cNvSpPr/>
          <p:nvPr/>
        </p:nvSpPr>
        <p:spPr>
          <a:xfrm>
            <a:off x="948690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73" name="TextBox 272"/>
          <p:cNvSpPr txBox="1"/>
          <p:nvPr/>
        </p:nvSpPr>
        <p:spPr>
          <a:xfrm>
            <a:off x="94869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274" name="TextBox 273"/>
          <p:cNvSpPr txBox="1"/>
          <p:nvPr/>
        </p:nvSpPr>
        <p:spPr>
          <a:xfrm>
            <a:off x="9934575"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Sencha Naturals</a:t>
            </a:r>
          </a:p>
        </p:txBody>
      </p:sp>
      <p:cxnSp>
        <p:nvCxnSpPr>
          <p:cNvPr id="275" name="Connector 274"/>
          <p:cNvCxnSpPr/>
          <p:nvPr/>
        </p:nvCxnSpPr>
        <p:spPr>
          <a:xfrm>
            <a:off x="10215562"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276" name="TextBox 275"/>
          <p:cNvSpPr txBox="1"/>
          <p:nvPr/>
        </p:nvSpPr>
        <p:spPr>
          <a:xfrm>
            <a:off x="9934575"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I</a:t>
            </a:r>
          </a:p>
        </p:txBody>
      </p:sp>
      <p:sp>
        <p:nvSpPr>
          <p:cNvPr id="277" name="TextBox 276"/>
          <p:cNvSpPr txBox="1"/>
          <p:nvPr/>
        </p:nvSpPr>
        <p:spPr>
          <a:xfrm>
            <a:off x="9925050"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A86F00"/>
                </a:solidFill>
                <a:latin typeface="Calibri"/>
              </a:rPr>
              <a:t>✦ </a:t>
            </a:r>
            <a:r>
              <a:rPr sz="1300" b="0">
                <a:solidFill>
                  <a:srgbClr val="79C3EC"/>
                </a:solidFill>
                <a:latin typeface="Calibri"/>
              </a:rPr>
              <a:t>✦ </a:t>
            </a:r>
          </a:p>
        </p:txBody>
      </p:sp>
      <p:sp>
        <p:nvSpPr>
          <p:cNvPr id="278" name="TextBox 277"/>
          <p:cNvSpPr txBox="1"/>
          <p:nvPr/>
        </p:nvSpPr>
        <p:spPr>
          <a:xfrm>
            <a:off x="9925050" y="2047722"/>
            <a:ext cx="1038225" cy="182537"/>
          </a:xfrm>
          <a:prstGeom prst="rect">
            <a:avLst/>
          </a:prstGeom>
          <a:noFill/>
        </p:spPr>
        <p:txBody>
          <a:bodyPr wrap="square" lIns="28575" rIns="28575" tIns="9525" bIns="9525" anchor="ctr">
            <a:spAutoFit/>
          </a:bodyPr>
          <a:lstStyle/>
          <a:p>
            <a:pPr algn="ctr"/>
            <a:r>
              <a:rPr sz="1100" b="1">
                <a:solidFill>
                  <a:srgbClr val="E44D3A"/>
                </a:solidFill>
                <a:latin typeface="Calibri"/>
              </a:rPr>
              <a:t>✘ </a:t>
            </a:r>
            <a:r>
              <a:rPr sz="1100" b="1">
                <a:solidFill>
                  <a:srgbClr val="008189"/>
                </a:solidFill>
                <a:latin typeface="Calibri"/>
              </a:rPr>
              <a:t>✔ </a:t>
            </a:r>
            <a:r>
              <a:rPr sz="1100" b="1">
                <a:solidFill>
                  <a:srgbClr val="008189"/>
                </a:solidFill>
                <a:latin typeface="Calibri"/>
              </a:rPr>
              <a:t>✔ </a:t>
            </a:r>
          </a:p>
        </p:txBody>
      </p:sp>
      <p:sp>
        <p:nvSpPr>
          <p:cNvPr id="279" name="Rectangle 278"/>
          <p:cNvSpPr/>
          <p:nvPr/>
        </p:nvSpPr>
        <p:spPr>
          <a:xfrm>
            <a:off x="10215562"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0" name="Rectangle 279"/>
          <p:cNvSpPr/>
          <p:nvPr/>
        </p:nvSpPr>
        <p:spPr>
          <a:xfrm>
            <a:off x="10387012"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1" name="Rectangle 280"/>
          <p:cNvSpPr/>
          <p:nvPr/>
        </p:nvSpPr>
        <p:spPr>
          <a:xfrm>
            <a:off x="10558462" y="2303274"/>
            <a:ext cx="114300" cy="109522"/>
          </a:xfrm>
          <a:prstGeom prst="rect">
            <a:avLst/>
          </a:prstGeom>
          <a:solidFill>
            <a:srgbClr val="0B2E4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2" name="TextBox 281"/>
          <p:cNvSpPr txBox="1"/>
          <p:nvPr/>
        </p:nvSpPr>
        <p:spPr>
          <a:xfrm>
            <a:off x="9934575"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3" name="TextBox 282"/>
          <p:cNvSpPr txBox="1"/>
          <p:nvPr/>
        </p:nvSpPr>
        <p:spPr>
          <a:xfrm>
            <a:off x="9934575"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284" name="Oval 283"/>
          <p:cNvSpPr/>
          <p:nvPr/>
        </p:nvSpPr>
        <p:spPr>
          <a:xfrm>
            <a:off x="10196512"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5" name="Freeform 284"/>
          <p:cNvSpPr/>
          <p:nvPr/>
        </p:nvSpPr>
        <p:spPr>
          <a:xfrm>
            <a:off x="10439400" y="3416749"/>
            <a:ext cx="38100" cy="237298"/>
          </a:xfrm>
          <a:custGeom>
            <a:avLst/>
            <a:gdLst/>
            <a:ahLst/>
            <a:cxnLst/>
            <a:rect l="l" t="t" r="r" b="b"/>
            <a:pathLst>
              <a:path w="4" h="26">
                <a:moveTo>
                  <a:pt x="0" y="26"/>
                </a:moveTo>
                <a:lnTo>
                  <a:pt x="0" y="0"/>
                </a:lnTo>
                <a:lnTo>
                  <a:pt x="2" y="0"/>
                </a:lnTo>
                <a:lnTo>
                  <a:pt x="4"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6" name="Oval 285"/>
          <p:cNvSpPr/>
          <p:nvPr/>
        </p:nvSpPr>
        <p:spPr>
          <a:xfrm>
            <a:off x="10305478"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87" name="TextBox 286"/>
          <p:cNvSpPr txBox="1"/>
          <p:nvPr/>
        </p:nvSpPr>
        <p:spPr>
          <a:xfrm>
            <a:off x="10196512"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288" name="TextBox 287"/>
          <p:cNvSpPr txBox="1"/>
          <p:nvPr/>
        </p:nvSpPr>
        <p:spPr>
          <a:xfrm>
            <a:off x="9953625"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South Asia &amp; Pacific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East Asia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9AA3A8"/>
                </a:solidFill>
                <a:latin typeface="Calibri"/>
              </a:rPr>
              <a:t>▲</a:t>
            </a:r>
          </a:p>
        </p:txBody>
      </p:sp>
      <p:sp>
        <p:nvSpPr>
          <p:cNvPr id="289" name="Oval 288"/>
          <p:cNvSpPr/>
          <p:nvPr/>
        </p:nvSpPr>
        <p:spPr>
          <a:xfrm>
            <a:off x="100393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0" name="TextBox 289"/>
          <p:cNvSpPr txBox="1"/>
          <p:nvPr/>
        </p:nvSpPr>
        <p:spPr>
          <a:xfrm>
            <a:off x="100393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291" name="Oval 290"/>
          <p:cNvSpPr/>
          <p:nvPr/>
        </p:nvSpPr>
        <p:spPr>
          <a:xfrm>
            <a:off x="1024890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2" name="TextBox 291"/>
          <p:cNvSpPr txBox="1"/>
          <p:nvPr/>
        </p:nvSpPr>
        <p:spPr>
          <a:xfrm>
            <a:off x="102489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293" name="Oval 292"/>
          <p:cNvSpPr/>
          <p:nvPr/>
        </p:nvSpPr>
        <p:spPr>
          <a:xfrm>
            <a:off x="10458450"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4" name="TextBox 293"/>
          <p:cNvSpPr txBox="1"/>
          <p:nvPr/>
        </p:nvSpPr>
        <p:spPr>
          <a:xfrm>
            <a:off x="1045845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295" name="Oval 294"/>
          <p:cNvSpPr/>
          <p:nvPr/>
        </p:nvSpPr>
        <p:spPr>
          <a:xfrm>
            <a:off x="10668000" y="5173667"/>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6" name="TextBox 295"/>
          <p:cNvSpPr txBox="1"/>
          <p:nvPr/>
        </p:nvSpPr>
        <p:spPr>
          <a:xfrm>
            <a:off x="10668000"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297" name="Oval 296"/>
          <p:cNvSpPr/>
          <p:nvPr/>
        </p:nvSpPr>
        <p:spPr>
          <a:xfrm>
            <a:off x="101441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298" name="TextBox 297"/>
          <p:cNvSpPr txBox="1"/>
          <p:nvPr/>
        </p:nvSpPr>
        <p:spPr>
          <a:xfrm>
            <a:off x="101441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299" name="Oval 298"/>
          <p:cNvSpPr/>
          <p:nvPr/>
        </p:nvSpPr>
        <p:spPr>
          <a:xfrm>
            <a:off x="10353675"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0" name="TextBox 299"/>
          <p:cNvSpPr txBox="1"/>
          <p:nvPr/>
        </p:nvSpPr>
        <p:spPr>
          <a:xfrm>
            <a:off x="1035367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01" name="Oval 300"/>
          <p:cNvSpPr/>
          <p:nvPr/>
        </p:nvSpPr>
        <p:spPr>
          <a:xfrm>
            <a:off x="10563225"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2" name="TextBox 301"/>
          <p:cNvSpPr txBox="1"/>
          <p:nvPr/>
        </p:nvSpPr>
        <p:spPr>
          <a:xfrm>
            <a:off x="10563225"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03" name="TextBox 302"/>
          <p:cNvSpPr txBox="1"/>
          <p:nvPr/>
        </p:nvSpPr>
        <p:spPr>
          <a:xfrm>
            <a:off x="11010900" y="1189798"/>
            <a:ext cx="1019175" cy="328567"/>
          </a:xfrm>
          <a:prstGeom prst="rect">
            <a:avLst/>
          </a:prstGeom>
          <a:noFill/>
        </p:spPr>
        <p:txBody>
          <a:bodyPr wrap="square" lIns="9525" rIns="9525" tIns="9525" bIns="9525" anchor="ctr">
            <a:spAutoFit/>
          </a:bodyPr>
          <a:lstStyle/>
          <a:p>
            <a:pPr algn="ctr">
              <a:lnSpc>
                <a:spcPct val="95000"/>
              </a:lnSpc>
            </a:pPr>
            <a:r>
              <a:rPr sz="1100" b="1">
                <a:solidFill>
                  <a:srgbClr val="2E2E2E"/>
                </a:solidFill>
                <a:latin typeface="Calibri"/>
              </a:rPr>
              <a:t>Aoi Matcha</a:t>
            </a:r>
          </a:p>
        </p:txBody>
      </p:sp>
      <p:cxnSp>
        <p:nvCxnSpPr>
          <p:cNvPr id="304" name="Connector 303"/>
          <p:cNvCxnSpPr/>
          <p:nvPr/>
        </p:nvCxnSpPr>
        <p:spPr>
          <a:xfrm>
            <a:off x="11291888" y="1509238"/>
            <a:ext cx="457200" cy="0"/>
          </a:xfrm>
          <a:prstGeom prst="line">
            <a:avLst/>
          </a:prstGeom>
          <a:ln w="19050">
            <a:solidFill>
              <a:srgbClr val="0E72AE"/>
            </a:solidFill>
          </a:ln>
          <a:effectLst/>
        </p:spPr>
        <p:style>
          <a:lnRef idx="2">
            <a:schemeClr val="accent1"/>
          </a:lnRef>
          <a:fillRef idx="0">
            <a:schemeClr val="accent1"/>
          </a:fillRef>
          <a:effectRef idx="1">
            <a:schemeClr val="accent1"/>
          </a:effectRef>
          <a:fontRef idx="minor">
            <a:schemeClr val="tx1"/>
          </a:fontRef>
        </p:style>
      </p:cxnSp>
      <p:sp>
        <p:nvSpPr>
          <p:cNvPr id="305" name="TextBox 304"/>
          <p:cNvSpPr txBox="1"/>
          <p:nvPr/>
        </p:nvSpPr>
        <p:spPr>
          <a:xfrm>
            <a:off x="11010900" y="1536618"/>
            <a:ext cx="1019175" cy="255552"/>
          </a:xfrm>
          <a:prstGeom prst="rect">
            <a:avLst/>
          </a:prstGeom>
          <a:noFill/>
        </p:spPr>
        <p:txBody>
          <a:bodyPr wrap="square" lIns="28575" rIns="28575" tIns="9525" bIns="9525" anchor="ctr">
            <a:spAutoFit/>
          </a:bodyPr>
          <a:lstStyle/>
          <a:p>
            <a:pPr algn="ctr"/>
            <a:r>
              <a:rPr sz="1100" b="0">
                <a:solidFill>
                  <a:srgbClr val="AFB4B9"/>
                </a:solidFill>
                <a:latin typeface="Calibri"/>
              </a:rPr>
              <a:t>Brand J</a:t>
            </a:r>
          </a:p>
        </p:txBody>
      </p:sp>
      <p:sp>
        <p:nvSpPr>
          <p:cNvPr id="306" name="TextBox 305"/>
          <p:cNvSpPr txBox="1"/>
          <p:nvPr/>
        </p:nvSpPr>
        <p:spPr>
          <a:xfrm>
            <a:off x="11001375" y="1828677"/>
            <a:ext cx="1038225" cy="200791"/>
          </a:xfrm>
          <a:prstGeom prst="rect">
            <a:avLst/>
          </a:prstGeom>
          <a:noFill/>
        </p:spPr>
        <p:txBody>
          <a:bodyPr wrap="square" lIns="0" rIns="0" tIns="0" bIns="0" anchor="ctr">
            <a:spAutoFit/>
          </a:bodyPr>
          <a:lstStyle/>
          <a:p>
            <a:pPr algn="ctr"/>
            <a:r>
              <a:rPr sz="1300" b="0">
                <a:solidFill>
                  <a:srgbClr val="0B2E4A"/>
                </a:solidFill>
                <a:latin typeface="Calibri"/>
              </a:rPr>
              <a:t>✦ </a:t>
            </a:r>
            <a:r>
              <a:rPr sz="1300" b="0">
                <a:solidFill>
                  <a:srgbClr val="69B1E0"/>
                </a:solidFill>
                <a:latin typeface="Calibri"/>
              </a:rPr>
              <a:t>✦ </a:t>
            </a:r>
            <a:r>
              <a:rPr sz="1300" b="0">
                <a:solidFill>
                  <a:srgbClr val="D4D7DA"/>
                </a:solidFill>
                <a:latin typeface="Calibri"/>
              </a:rPr>
              <a:t>✦ </a:t>
            </a:r>
            <a:r>
              <a:rPr sz="1300" b="0">
                <a:solidFill>
                  <a:srgbClr val="D4D7DA"/>
                </a:solidFill>
                <a:latin typeface="Calibri"/>
              </a:rPr>
              <a:t>✦ </a:t>
            </a:r>
          </a:p>
        </p:txBody>
      </p:sp>
      <p:sp>
        <p:nvSpPr>
          <p:cNvPr id="307" name="TextBox 306"/>
          <p:cNvSpPr txBox="1"/>
          <p:nvPr/>
        </p:nvSpPr>
        <p:spPr>
          <a:xfrm>
            <a:off x="11001375" y="2047722"/>
            <a:ext cx="1038225" cy="182537"/>
          </a:xfrm>
          <a:prstGeom prst="rect">
            <a:avLst/>
          </a:prstGeom>
          <a:noFill/>
        </p:spPr>
        <p:txBody>
          <a:bodyPr wrap="square" lIns="28575" rIns="28575" tIns="9525" bIns="9525" anchor="ctr">
            <a:spAutoFit/>
          </a:bodyPr>
          <a:lstStyle/>
          <a:p>
            <a:pPr algn="ctr"/>
            <a:r>
              <a:rPr sz="1100" b="1">
                <a:solidFill>
                  <a:srgbClr val="008189"/>
                </a:solidFill>
                <a:latin typeface="Calibri"/>
              </a:rPr>
              <a:t>✔ </a:t>
            </a:r>
            <a:r>
              <a:rPr sz="1100" b="1">
                <a:solidFill>
                  <a:srgbClr val="008189"/>
                </a:solidFill>
                <a:latin typeface="Calibri"/>
              </a:rPr>
              <a:t>✔ </a:t>
            </a:r>
            <a:r>
              <a:rPr sz="1100" b="1">
                <a:solidFill>
                  <a:srgbClr val="E44D3A"/>
                </a:solidFill>
                <a:latin typeface="Calibri"/>
              </a:rPr>
              <a:t>✘ </a:t>
            </a:r>
          </a:p>
        </p:txBody>
      </p:sp>
      <p:sp>
        <p:nvSpPr>
          <p:cNvPr id="308" name="Rectangle 307"/>
          <p:cNvSpPr/>
          <p:nvPr/>
        </p:nvSpPr>
        <p:spPr>
          <a:xfrm>
            <a:off x="11291888" y="2303274"/>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09" name="Rectangle 308"/>
          <p:cNvSpPr/>
          <p:nvPr/>
        </p:nvSpPr>
        <p:spPr>
          <a:xfrm>
            <a:off x="11463338" y="2303274"/>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0" name="Rectangle 309"/>
          <p:cNvSpPr/>
          <p:nvPr/>
        </p:nvSpPr>
        <p:spPr>
          <a:xfrm>
            <a:off x="11634788" y="2303274"/>
            <a:ext cx="114300" cy="109522"/>
          </a:xfrm>
          <a:prstGeom prst="rect">
            <a:avLst/>
          </a:prstGeom>
          <a:solidFill>
            <a:srgbClr val="FFFFFF"/>
          </a:solidFill>
          <a:ln w="12700">
            <a:solidFill>
              <a:srgbClr val="0B2E4A"/>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1" name="TextBox 310"/>
          <p:cNvSpPr txBox="1"/>
          <p:nvPr/>
        </p:nvSpPr>
        <p:spPr>
          <a:xfrm>
            <a:off x="11010900" y="2631840"/>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2" name="TextBox 311"/>
          <p:cNvSpPr txBox="1"/>
          <p:nvPr/>
        </p:nvSpPr>
        <p:spPr>
          <a:xfrm>
            <a:off x="11010900" y="2960407"/>
            <a:ext cx="1019175" cy="328567"/>
          </a:xfrm>
          <a:prstGeom prst="rect">
            <a:avLst/>
          </a:prstGeom>
          <a:noFill/>
        </p:spPr>
        <p:txBody>
          <a:bodyPr wrap="square" lIns="28575" rIns="28575" tIns="9525" bIns="9525" anchor="ctr">
            <a:spAutoFit/>
          </a:bodyPr>
          <a:lstStyle/>
          <a:p>
            <a:pPr algn="ctr"/>
            <a:r>
              <a:rPr sz="1100" b="0">
                <a:solidFill>
                  <a:srgbClr val="2E2E2E"/>
                </a:solidFill>
                <a:latin typeface="Calibri"/>
              </a:rPr>
              <a:t> </a:t>
            </a:r>
          </a:p>
        </p:txBody>
      </p:sp>
      <p:sp>
        <p:nvSpPr>
          <p:cNvPr id="313" name="Oval 312"/>
          <p:cNvSpPr/>
          <p:nvPr/>
        </p:nvSpPr>
        <p:spPr>
          <a:xfrm>
            <a:off x="11272838" y="3416749"/>
            <a:ext cx="495300" cy="474596"/>
          </a:xfrm>
          <a:prstGeom prst="ellipse">
            <a:avLst/>
          </a:prstGeom>
          <a:solidFill>
            <a:srgbClr val="E4E9E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4" name="Freeform 313"/>
          <p:cNvSpPr/>
          <p:nvPr/>
        </p:nvSpPr>
        <p:spPr>
          <a:xfrm>
            <a:off x="11525250" y="3416749"/>
            <a:ext cx="28575" cy="237298"/>
          </a:xfrm>
          <a:custGeom>
            <a:avLst/>
            <a:gdLst/>
            <a:ahLst/>
            <a:cxnLst/>
            <a:rect l="l" t="t" r="r" b="b"/>
            <a:pathLst>
              <a:path w="3" h="26">
                <a:moveTo>
                  <a:pt x="0" y="26"/>
                </a:moveTo>
                <a:lnTo>
                  <a:pt x="0" y="0"/>
                </a:lnTo>
                <a:lnTo>
                  <a:pt x="1" y="0"/>
                </a:lnTo>
                <a:lnTo>
                  <a:pt x="3" y="0"/>
                </a:lnTo>
                <a:close/>
              </a:path>
            </a:pathLst>
          </a:custGeom>
          <a:solidFill>
            <a:srgbClr val="008189"/>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5" name="Oval 314"/>
          <p:cNvSpPr/>
          <p:nvPr/>
        </p:nvSpPr>
        <p:spPr>
          <a:xfrm>
            <a:off x="11381804" y="3521160"/>
            <a:ext cx="277368" cy="265774"/>
          </a:xfrm>
          <a:prstGeom prst="ellipse">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6" name="TextBox 315"/>
          <p:cNvSpPr txBox="1"/>
          <p:nvPr/>
        </p:nvSpPr>
        <p:spPr>
          <a:xfrm>
            <a:off x="11272838" y="3590159"/>
            <a:ext cx="495300" cy="127776"/>
          </a:xfrm>
          <a:prstGeom prst="rect">
            <a:avLst/>
          </a:prstGeom>
          <a:noFill/>
        </p:spPr>
        <p:txBody>
          <a:bodyPr wrap="none" lIns="0" rIns="0" tIns="0" bIns="0" anchor="ctr">
            <a:spAutoFit/>
          </a:bodyPr>
          <a:lstStyle/>
          <a:p>
            <a:pPr algn="ctr"/>
            <a:r>
              <a:rPr sz="1100" b="1">
                <a:solidFill>
                  <a:srgbClr val="0B2E4A"/>
                </a:solidFill>
                <a:latin typeface="Calibri"/>
              </a:rPr>
              <a:t> </a:t>
            </a:r>
          </a:p>
        </p:txBody>
      </p:sp>
      <p:sp>
        <p:nvSpPr>
          <p:cNvPr id="317" name="TextBox 316"/>
          <p:cNvSpPr txBox="1"/>
          <p:nvPr/>
        </p:nvSpPr>
        <p:spPr>
          <a:xfrm>
            <a:off x="11029950" y="4092136"/>
            <a:ext cx="990600" cy="912685"/>
          </a:xfrm>
          <a:prstGeom prst="rect">
            <a:avLst/>
          </a:prstGeom>
          <a:noFill/>
        </p:spPr>
        <p:txBody>
          <a:bodyPr wrap="square" lIns="28575" rIns="28575" tIns="9525" bIns="9525" anchor="ctr">
            <a:spAutoFit/>
          </a:bodyPr>
          <a:lstStyle/>
          <a:p>
            <a:pPr algn="l">
              <a:lnSpc>
                <a:spcPct val="100000"/>
              </a:lnSpc>
              <a:spcBef>
                <a:spcPts val="0"/>
              </a:spcBef>
              <a:spcAft>
                <a:spcPts val="300"/>
              </a:spcAft>
            </a:pPr>
            <a:r>
              <a:rPr sz="1100" b="0">
                <a:solidFill>
                  <a:srgbClr val="2E2E2E"/>
                </a:solidFill>
                <a:latin typeface="Calibri"/>
              </a:rPr>
              <a:t>East Asia  </a:t>
            </a:r>
            <a:r>
              <a:rPr sz="1100" b="1">
                <a:solidFill>
                  <a:srgbClr val="0E72AE"/>
                </a:solidFill>
                <a:latin typeface="Calibri"/>
              </a:rPr>
              <a:t>▲</a:t>
            </a:r>
          </a:p>
          <a:p>
            <a:pPr algn="l">
              <a:lnSpc>
                <a:spcPct val="100000"/>
              </a:lnSpc>
              <a:spcBef>
                <a:spcPts val="0"/>
              </a:spcBef>
              <a:spcAft>
                <a:spcPts val="300"/>
              </a:spcAft>
            </a:pPr>
            <a:r>
              <a:rPr sz="1100" b="0">
                <a:solidFill>
                  <a:srgbClr val="2E2E2E"/>
                </a:solidFill>
                <a:latin typeface="Calibri"/>
              </a:rPr>
              <a:t>Latin America  </a:t>
            </a:r>
            <a:r>
              <a:rPr sz="1100" b="1">
                <a:solidFill>
                  <a:srgbClr val="A86F00"/>
                </a:solidFill>
                <a:latin typeface="Calibri"/>
              </a:rPr>
              <a:t>▲</a:t>
            </a:r>
          </a:p>
          <a:p>
            <a:pPr algn="l">
              <a:lnSpc>
                <a:spcPct val="100000"/>
              </a:lnSpc>
              <a:spcBef>
                <a:spcPts val="0"/>
              </a:spcBef>
              <a:spcAft>
                <a:spcPts val="300"/>
              </a:spcAft>
            </a:pPr>
            <a:r>
              <a:rPr sz="1100" b="0">
                <a:solidFill>
                  <a:srgbClr val="2E2E2E"/>
                </a:solidFill>
                <a:latin typeface="Calibri"/>
              </a:rPr>
              <a:t>Middle East &amp; Africa  </a:t>
            </a:r>
            <a:r>
              <a:rPr sz="1100" b="1">
                <a:solidFill>
                  <a:srgbClr val="9AA3A8"/>
                </a:solidFill>
                <a:latin typeface="Calibri"/>
              </a:rPr>
              <a:t>▲</a:t>
            </a:r>
          </a:p>
        </p:txBody>
      </p:sp>
      <p:sp>
        <p:nvSpPr>
          <p:cNvPr id="318" name="Oval 317"/>
          <p:cNvSpPr/>
          <p:nvPr/>
        </p:nvSpPr>
        <p:spPr>
          <a:xfrm>
            <a:off x="111156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19" name="TextBox 318"/>
          <p:cNvSpPr txBox="1"/>
          <p:nvPr/>
        </p:nvSpPr>
        <p:spPr>
          <a:xfrm>
            <a:off x="111156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20" name="Oval 319"/>
          <p:cNvSpPr/>
          <p:nvPr/>
        </p:nvSpPr>
        <p:spPr>
          <a:xfrm>
            <a:off x="113252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1" name="TextBox 320"/>
          <p:cNvSpPr txBox="1"/>
          <p:nvPr/>
        </p:nvSpPr>
        <p:spPr>
          <a:xfrm>
            <a:off x="113252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22" name="Oval 321"/>
          <p:cNvSpPr/>
          <p:nvPr/>
        </p:nvSpPr>
        <p:spPr>
          <a:xfrm>
            <a:off x="1153477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3" name="TextBox 322"/>
          <p:cNvSpPr txBox="1"/>
          <p:nvPr/>
        </p:nvSpPr>
        <p:spPr>
          <a:xfrm>
            <a:off x="1153477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24" name="Oval 323"/>
          <p:cNvSpPr/>
          <p:nvPr/>
        </p:nvSpPr>
        <p:spPr>
          <a:xfrm>
            <a:off x="11744325" y="5173667"/>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5" name="TextBox 324"/>
          <p:cNvSpPr txBox="1"/>
          <p:nvPr/>
        </p:nvSpPr>
        <p:spPr>
          <a:xfrm>
            <a:off x="11744325" y="5173667"/>
            <a:ext cx="180975" cy="173410"/>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26" name="Oval 325"/>
          <p:cNvSpPr/>
          <p:nvPr/>
        </p:nvSpPr>
        <p:spPr>
          <a:xfrm>
            <a:off x="112204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7" name="TextBox 326"/>
          <p:cNvSpPr txBox="1"/>
          <p:nvPr/>
        </p:nvSpPr>
        <p:spPr>
          <a:xfrm>
            <a:off x="112204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28" name="Oval 327"/>
          <p:cNvSpPr/>
          <p:nvPr/>
        </p:nvSpPr>
        <p:spPr>
          <a:xfrm>
            <a:off x="11430000" y="5392711"/>
            <a:ext cx="180975" cy="173410"/>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29" name="TextBox 328"/>
          <p:cNvSpPr txBox="1"/>
          <p:nvPr/>
        </p:nvSpPr>
        <p:spPr>
          <a:xfrm>
            <a:off x="1143000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30" name="Oval 329"/>
          <p:cNvSpPr/>
          <p:nvPr/>
        </p:nvSpPr>
        <p:spPr>
          <a:xfrm>
            <a:off x="11639550" y="5392711"/>
            <a:ext cx="180975" cy="173410"/>
          </a:xfrm>
          <a:prstGeom prst="ellipse">
            <a:avLst/>
          </a:prstGeom>
          <a:solidFill>
            <a:srgbClr val="C9CDD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1" name="TextBox 330"/>
          <p:cNvSpPr txBox="1"/>
          <p:nvPr/>
        </p:nvSpPr>
        <p:spPr>
          <a:xfrm>
            <a:off x="11639550" y="5392711"/>
            <a:ext cx="180975" cy="173410"/>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32" name="TextBox 331"/>
          <p:cNvSpPr txBox="1"/>
          <p:nvPr/>
        </p:nvSpPr>
        <p:spPr>
          <a:xfrm>
            <a:off x="285750" y="5716715"/>
            <a:ext cx="1116806" cy="164283"/>
          </a:xfrm>
          <a:prstGeom prst="rect">
            <a:avLst/>
          </a:prstGeom>
          <a:noFill/>
        </p:spPr>
        <p:txBody>
          <a:bodyPr wrap="square" lIns="0" rIns="0" tIns="0" bIns="0" anchor="ctr">
            <a:spAutoFit/>
          </a:bodyPr>
          <a:lstStyle/>
          <a:p>
            <a:pPr algn="l"/>
            <a:r>
              <a:rPr sz="1100" b="1">
                <a:solidFill>
                  <a:srgbClr val="2E2E2E"/>
                </a:solidFill>
                <a:latin typeface="Calibri"/>
              </a:rPr>
              <a:t>Product Portfolio:</a:t>
            </a:r>
          </a:p>
        </p:txBody>
      </p:sp>
      <p:sp>
        <p:nvSpPr>
          <p:cNvPr id="333" name="Rectangle 332"/>
          <p:cNvSpPr/>
          <p:nvPr/>
        </p:nvSpPr>
        <p:spPr>
          <a:xfrm>
            <a:off x="1383506" y="5744096"/>
            <a:ext cx="114300" cy="109522"/>
          </a:xfrm>
          <a:prstGeom prst="rect">
            <a:avLst/>
          </a:prstGeom>
          <a:solidFill>
            <a:srgbClr val="A86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4" name="TextBox 333"/>
          <p:cNvSpPr txBox="1"/>
          <p:nvPr/>
        </p:nvSpPr>
        <p:spPr>
          <a:xfrm>
            <a:off x="1535906" y="5716715"/>
            <a:ext cx="538162" cy="164283"/>
          </a:xfrm>
          <a:prstGeom prst="rect">
            <a:avLst/>
          </a:prstGeom>
          <a:noFill/>
        </p:spPr>
        <p:txBody>
          <a:bodyPr wrap="square" lIns="0" rIns="0" tIns="0" bIns="0" anchor="ctr">
            <a:spAutoFit/>
          </a:bodyPr>
          <a:lstStyle/>
          <a:p>
            <a:pPr algn="l"/>
            <a:r>
              <a:rPr sz="1100" b="0">
                <a:solidFill>
                  <a:srgbClr val="2E2E2E"/>
                </a:solidFill>
                <a:latin typeface="Calibri"/>
              </a:rPr>
              <a:t>Organic</a:t>
            </a:r>
          </a:p>
        </p:txBody>
      </p:sp>
      <p:sp>
        <p:nvSpPr>
          <p:cNvPr id="335" name="Rectangle 334"/>
          <p:cNvSpPr/>
          <p:nvPr/>
        </p:nvSpPr>
        <p:spPr>
          <a:xfrm>
            <a:off x="2112169" y="5744096"/>
            <a:ext cx="114300" cy="109522"/>
          </a:xfrm>
          <a:prstGeom prst="rect">
            <a:avLst/>
          </a:prstGeom>
          <a:solidFill>
            <a:srgbClr val="79C3E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6" name="TextBox 335"/>
          <p:cNvSpPr txBox="1"/>
          <p:nvPr/>
        </p:nvSpPr>
        <p:spPr>
          <a:xfrm>
            <a:off x="2264569" y="5716715"/>
            <a:ext cx="833438" cy="164283"/>
          </a:xfrm>
          <a:prstGeom prst="rect">
            <a:avLst/>
          </a:prstGeom>
          <a:noFill/>
        </p:spPr>
        <p:txBody>
          <a:bodyPr wrap="square" lIns="0" rIns="0" tIns="0" bIns="0" anchor="ctr">
            <a:spAutoFit/>
          </a:bodyPr>
          <a:lstStyle/>
          <a:p>
            <a:pPr algn="l"/>
            <a:r>
              <a:rPr sz="1100" b="0">
                <a:solidFill>
                  <a:srgbClr val="2E2E2E"/>
                </a:solidFill>
                <a:latin typeface="Calibri"/>
              </a:rPr>
              <a:t>Conventional</a:t>
            </a:r>
          </a:p>
        </p:txBody>
      </p:sp>
      <p:sp>
        <p:nvSpPr>
          <p:cNvPr id="337" name="Rectangle 336"/>
          <p:cNvSpPr/>
          <p:nvPr/>
        </p:nvSpPr>
        <p:spPr>
          <a:xfrm>
            <a:off x="3155156" y="5744096"/>
            <a:ext cx="114300" cy="109522"/>
          </a:xfrm>
          <a:prstGeom prst="rect">
            <a:avLst/>
          </a:prstGeom>
          <a:solidFill>
            <a:srgbClr val="FFFFFF"/>
          </a:solidFill>
          <a:ln w="12700">
            <a:solidFill>
              <a:srgbClr val="6C7A89"/>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38" name="TextBox 337"/>
          <p:cNvSpPr txBox="1"/>
          <p:nvPr/>
        </p:nvSpPr>
        <p:spPr>
          <a:xfrm>
            <a:off x="3307556" y="5716715"/>
            <a:ext cx="740569" cy="164283"/>
          </a:xfrm>
          <a:prstGeom prst="rect">
            <a:avLst/>
          </a:prstGeom>
          <a:noFill/>
        </p:spPr>
        <p:txBody>
          <a:bodyPr wrap="square" lIns="0" rIns="0" tIns="0" bIns="0" anchor="ctr">
            <a:spAutoFit/>
          </a:bodyPr>
          <a:lstStyle/>
          <a:p>
            <a:pPr algn="l"/>
            <a:r>
              <a:rPr sz="1100" b="0">
                <a:solidFill>
                  <a:srgbClr val="2E2E2E"/>
                </a:solidFill>
                <a:latin typeface="Calibri"/>
              </a:rPr>
              <a:t>Not offered</a:t>
            </a:r>
          </a:p>
        </p:txBody>
      </p:sp>
      <p:sp>
        <p:nvSpPr>
          <p:cNvPr id="339" name="TextBox 338"/>
          <p:cNvSpPr txBox="1"/>
          <p:nvPr/>
        </p:nvSpPr>
        <p:spPr>
          <a:xfrm>
            <a:off x="285750" y="5890125"/>
            <a:ext cx="208915" cy="164283"/>
          </a:xfrm>
          <a:prstGeom prst="rect">
            <a:avLst/>
          </a:prstGeom>
          <a:noFill/>
        </p:spPr>
        <p:txBody>
          <a:bodyPr wrap="none" lIns="0" rIns="0" tIns="0" bIns="0" anchor="ctr">
            <a:spAutoFit/>
          </a:bodyPr>
          <a:lstStyle/>
          <a:p>
            <a:pPr algn="l"/>
            <a:r>
              <a:rPr sz="1100" b="1">
                <a:solidFill>
                  <a:srgbClr val="008189"/>
                </a:solidFill>
                <a:latin typeface="Calibri"/>
              </a:rPr>
              <a:t>✔</a:t>
            </a:r>
          </a:p>
        </p:txBody>
      </p:sp>
      <p:sp>
        <p:nvSpPr>
          <p:cNvPr id="340" name="TextBox 339"/>
          <p:cNvSpPr txBox="1"/>
          <p:nvPr/>
        </p:nvSpPr>
        <p:spPr>
          <a:xfrm>
            <a:off x="475615" y="5890125"/>
            <a:ext cx="457200" cy="164283"/>
          </a:xfrm>
          <a:prstGeom prst="rect">
            <a:avLst/>
          </a:prstGeom>
          <a:noFill/>
        </p:spPr>
        <p:txBody>
          <a:bodyPr wrap="square" lIns="0" rIns="0" tIns="0" bIns="0" anchor="ctr">
            <a:spAutoFit/>
          </a:bodyPr>
          <a:lstStyle/>
          <a:p>
            <a:pPr algn="l"/>
            <a:r>
              <a:rPr sz="1100" b="0">
                <a:solidFill>
                  <a:srgbClr val="2E2E2E"/>
                </a:solidFill>
                <a:latin typeface="Calibri"/>
              </a:rPr>
              <a:t>served</a:t>
            </a:r>
          </a:p>
        </p:txBody>
      </p:sp>
      <p:sp>
        <p:nvSpPr>
          <p:cNvPr id="341" name="TextBox 340"/>
          <p:cNvSpPr txBox="1"/>
          <p:nvPr/>
        </p:nvSpPr>
        <p:spPr>
          <a:xfrm>
            <a:off x="913765" y="5890125"/>
            <a:ext cx="208915" cy="164283"/>
          </a:xfrm>
          <a:prstGeom prst="rect">
            <a:avLst/>
          </a:prstGeom>
          <a:noFill/>
        </p:spPr>
        <p:txBody>
          <a:bodyPr wrap="none" lIns="0" rIns="0" tIns="0" bIns="0" anchor="ctr">
            <a:spAutoFit/>
          </a:bodyPr>
          <a:lstStyle/>
          <a:p>
            <a:pPr algn="l"/>
            <a:r>
              <a:rPr sz="1100" b="1">
                <a:solidFill>
                  <a:srgbClr val="E44D3A"/>
                </a:solidFill>
                <a:latin typeface="Calibri"/>
              </a:rPr>
              <a:t>✘</a:t>
            </a:r>
          </a:p>
        </p:txBody>
      </p:sp>
      <p:sp>
        <p:nvSpPr>
          <p:cNvPr id="342" name="TextBox 341"/>
          <p:cNvSpPr txBox="1"/>
          <p:nvPr/>
        </p:nvSpPr>
        <p:spPr>
          <a:xfrm>
            <a:off x="1103630" y="5890125"/>
            <a:ext cx="683419" cy="164283"/>
          </a:xfrm>
          <a:prstGeom prst="rect">
            <a:avLst/>
          </a:prstGeom>
          <a:noFill/>
        </p:spPr>
        <p:txBody>
          <a:bodyPr wrap="square" lIns="0" rIns="0" tIns="0" bIns="0" anchor="ctr">
            <a:spAutoFit/>
          </a:bodyPr>
          <a:lstStyle/>
          <a:p>
            <a:pPr algn="l"/>
            <a:r>
              <a:rPr sz="1100" b="0">
                <a:solidFill>
                  <a:srgbClr val="2E2E2E"/>
                </a:solidFill>
                <a:latin typeface="Calibri"/>
              </a:rPr>
              <a:t>not served</a:t>
            </a:r>
          </a:p>
        </p:txBody>
      </p:sp>
      <p:sp>
        <p:nvSpPr>
          <p:cNvPr id="343" name="TextBox 342"/>
          <p:cNvSpPr txBox="1"/>
          <p:nvPr/>
        </p:nvSpPr>
        <p:spPr>
          <a:xfrm>
            <a:off x="1939449" y="5890125"/>
            <a:ext cx="1183481" cy="164283"/>
          </a:xfrm>
          <a:prstGeom prst="rect">
            <a:avLst/>
          </a:prstGeom>
          <a:noFill/>
        </p:spPr>
        <p:txBody>
          <a:bodyPr wrap="square" lIns="0" rIns="0" tIns="0" bIns="0" anchor="ctr">
            <a:spAutoFit/>
          </a:bodyPr>
          <a:lstStyle/>
          <a:p>
            <a:pPr algn="l"/>
            <a:r>
              <a:rPr sz="1100" b="1">
                <a:solidFill>
                  <a:srgbClr val="2E2E2E"/>
                </a:solidFill>
                <a:latin typeface="Calibri"/>
              </a:rPr>
              <a:t>Regional presence:</a:t>
            </a:r>
          </a:p>
        </p:txBody>
      </p:sp>
      <p:sp>
        <p:nvSpPr>
          <p:cNvPr id="344" name="TextBox 343"/>
          <p:cNvSpPr txBox="1"/>
          <p:nvPr/>
        </p:nvSpPr>
        <p:spPr>
          <a:xfrm>
            <a:off x="3103880" y="5890125"/>
            <a:ext cx="208915" cy="164283"/>
          </a:xfrm>
          <a:prstGeom prst="rect">
            <a:avLst/>
          </a:prstGeom>
          <a:noFill/>
        </p:spPr>
        <p:txBody>
          <a:bodyPr wrap="none" lIns="0" rIns="0" tIns="0" bIns="0" anchor="ctr">
            <a:spAutoFit/>
          </a:bodyPr>
          <a:lstStyle/>
          <a:p>
            <a:pPr algn="l"/>
            <a:r>
              <a:rPr sz="1100" b="1">
                <a:solidFill>
                  <a:srgbClr val="0E72AE"/>
                </a:solidFill>
                <a:latin typeface="Calibri"/>
              </a:rPr>
              <a:t>▲</a:t>
            </a:r>
          </a:p>
        </p:txBody>
      </p:sp>
      <p:sp>
        <p:nvSpPr>
          <p:cNvPr id="345" name="TextBox 344"/>
          <p:cNvSpPr txBox="1"/>
          <p:nvPr/>
        </p:nvSpPr>
        <p:spPr>
          <a:xfrm>
            <a:off x="3293745" y="5890125"/>
            <a:ext cx="338138" cy="164283"/>
          </a:xfrm>
          <a:prstGeom prst="rect">
            <a:avLst/>
          </a:prstGeom>
          <a:noFill/>
        </p:spPr>
        <p:txBody>
          <a:bodyPr wrap="none" lIns="0" rIns="0" tIns="0" bIns="0" anchor="ctr">
            <a:spAutoFit/>
          </a:bodyPr>
          <a:lstStyle/>
          <a:p>
            <a:pPr algn="l"/>
            <a:r>
              <a:rPr sz="1100" b="0">
                <a:solidFill>
                  <a:srgbClr val="2E2E2E"/>
                </a:solidFill>
                <a:latin typeface="Calibri"/>
              </a:rPr>
              <a:t>High</a:t>
            </a:r>
          </a:p>
        </p:txBody>
      </p:sp>
      <p:sp>
        <p:nvSpPr>
          <p:cNvPr id="346" name="TextBox 345"/>
          <p:cNvSpPr txBox="1"/>
          <p:nvPr/>
        </p:nvSpPr>
        <p:spPr>
          <a:xfrm>
            <a:off x="3612832" y="5890125"/>
            <a:ext cx="208915" cy="164283"/>
          </a:xfrm>
          <a:prstGeom prst="rect">
            <a:avLst/>
          </a:prstGeom>
          <a:noFill/>
        </p:spPr>
        <p:txBody>
          <a:bodyPr wrap="none" lIns="0" rIns="0" tIns="0" bIns="0" anchor="ctr">
            <a:spAutoFit/>
          </a:bodyPr>
          <a:lstStyle/>
          <a:p>
            <a:pPr algn="l"/>
            <a:r>
              <a:rPr sz="1100" b="1">
                <a:solidFill>
                  <a:srgbClr val="A86F00"/>
                </a:solidFill>
                <a:latin typeface="Calibri"/>
              </a:rPr>
              <a:t>▲</a:t>
            </a:r>
          </a:p>
        </p:txBody>
      </p:sp>
      <p:sp>
        <p:nvSpPr>
          <p:cNvPr id="347" name="TextBox 346"/>
          <p:cNvSpPr txBox="1"/>
          <p:nvPr/>
        </p:nvSpPr>
        <p:spPr>
          <a:xfrm>
            <a:off x="3802698" y="5890125"/>
            <a:ext cx="576262" cy="164283"/>
          </a:xfrm>
          <a:prstGeom prst="rect">
            <a:avLst/>
          </a:prstGeom>
          <a:noFill/>
        </p:spPr>
        <p:txBody>
          <a:bodyPr wrap="square" lIns="0" rIns="0" tIns="0" bIns="0" anchor="ctr">
            <a:spAutoFit/>
          </a:bodyPr>
          <a:lstStyle/>
          <a:p>
            <a:pPr algn="l"/>
            <a:r>
              <a:rPr sz="1100" b="0">
                <a:solidFill>
                  <a:srgbClr val="2E2E2E"/>
                </a:solidFill>
                <a:latin typeface="Calibri"/>
              </a:rPr>
              <a:t>Medium</a:t>
            </a:r>
          </a:p>
        </p:txBody>
      </p:sp>
      <p:sp>
        <p:nvSpPr>
          <p:cNvPr id="348" name="TextBox 347"/>
          <p:cNvSpPr txBox="1"/>
          <p:nvPr/>
        </p:nvSpPr>
        <p:spPr>
          <a:xfrm>
            <a:off x="4340860" y="5890125"/>
            <a:ext cx="208915" cy="164283"/>
          </a:xfrm>
          <a:prstGeom prst="rect">
            <a:avLst/>
          </a:prstGeom>
          <a:noFill/>
        </p:spPr>
        <p:txBody>
          <a:bodyPr wrap="none" lIns="0" rIns="0" tIns="0" bIns="0" anchor="ctr">
            <a:spAutoFit/>
          </a:bodyPr>
          <a:lstStyle/>
          <a:p>
            <a:pPr algn="l"/>
            <a:r>
              <a:rPr sz="1100" b="1">
                <a:solidFill>
                  <a:srgbClr val="9AA3A8"/>
                </a:solidFill>
                <a:latin typeface="Calibri"/>
              </a:rPr>
              <a:t>▲</a:t>
            </a:r>
          </a:p>
        </p:txBody>
      </p:sp>
      <p:sp>
        <p:nvSpPr>
          <p:cNvPr id="349" name="TextBox 348"/>
          <p:cNvSpPr txBox="1"/>
          <p:nvPr/>
        </p:nvSpPr>
        <p:spPr>
          <a:xfrm>
            <a:off x="4530725" y="5890125"/>
            <a:ext cx="309562" cy="164283"/>
          </a:xfrm>
          <a:prstGeom prst="rect">
            <a:avLst/>
          </a:prstGeom>
          <a:noFill/>
        </p:spPr>
        <p:txBody>
          <a:bodyPr wrap="none" lIns="0" rIns="0" tIns="0" bIns="0" anchor="ctr">
            <a:spAutoFit/>
          </a:bodyPr>
          <a:lstStyle/>
          <a:p>
            <a:pPr algn="l"/>
            <a:r>
              <a:rPr sz="1100" b="0">
                <a:solidFill>
                  <a:srgbClr val="2E2E2E"/>
                </a:solidFill>
                <a:latin typeface="Calibri"/>
              </a:rPr>
              <a:t>Low</a:t>
            </a:r>
          </a:p>
        </p:txBody>
      </p:sp>
      <p:sp>
        <p:nvSpPr>
          <p:cNvPr id="350" name="Oval 349"/>
          <p:cNvSpPr/>
          <p:nvPr/>
        </p:nvSpPr>
        <p:spPr>
          <a:xfrm>
            <a:off x="285750"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1" name="TextBox 350"/>
          <p:cNvSpPr txBox="1"/>
          <p:nvPr/>
        </p:nvSpPr>
        <p:spPr>
          <a:xfrm>
            <a:off x="285750"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E</a:t>
            </a:r>
          </a:p>
        </p:txBody>
      </p:sp>
      <p:sp>
        <p:nvSpPr>
          <p:cNvPr id="352" name="TextBox 351"/>
          <p:cNvSpPr txBox="1"/>
          <p:nvPr/>
        </p:nvSpPr>
        <p:spPr>
          <a:xfrm>
            <a:off x="495300" y="6072662"/>
            <a:ext cx="657225" cy="182537"/>
          </a:xfrm>
          <a:prstGeom prst="rect">
            <a:avLst/>
          </a:prstGeom>
          <a:noFill/>
        </p:spPr>
        <p:txBody>
          <a:bodyPr wrap="square" lIns="0" rIns="0" tIns="0" bIns="0" anchor="ctr">
            <a:spAutoFit/>
          </a:bodyPr>
          <a:lstStyle/>
          <a:p>
            <a:pPr algn="l"/>
            <a:r>
              <a:rPr sz="1100" b="0">
                <a:solidFill>
                  <a:srgbClr val="2E2E2E"/>
                </a:solidFill>
                <a:latin typeface="Calibri"/>
              </a:rPr>
              <a:t>Expansion</a:t>
            </a:r>
          </a:p>
        </p:txBody>
      </p:sp>
      <p:sp>
        <p:nvSpPr>
          <p:cNvPr id="353" name="Oval 352"/>
          <p:cNvSpPr/>
          <p:nvPr/>
        </p:nvSpPr>
        <p:spPr>
          <a:xfrm>
            <a:off x="124777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4" name="TextBox 353"/>
          <p:cNvSpPr txBox="1"/>
          <p:nvPr/>
        </p:nvSpPr>
        <p:spPr>
          <a:xfrm>
            <a:off x="124777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I</a:t>
            </a:r>
          </a:p>
        </p:txBody>
      </p:sp>
      <p:sp>
        <p:nvSpPr>
          <p:cNvPr id="355" name="TextBox 354"/>
          <p:cNvSpPr txBox="1"/>
          <p:nvPr/>
        </p:nvSpPr>
        <p:spPr>
          <a:xfrm>
            <a:off x="1457325" y="6072662"/>
            <a:ext cx="1012031" cy="182537"/>
          </a:xfrm>
          <a:prstGeom prst="rect">
            <a:avLst/>
          </a:prstGeom>
          <a:noFill/>
        </p:spPr>
        <p:txBody>
          <a:bodyPr wrap="square" lIns="0" rIns="0" tIns="0" bIns="0" anchor="ctr">
            <a:spAutoFit/>
          </a:bodyPr>
          <a:lstStyle/>
          <a:p>
            <a:pPr algn="l"/>
            <a:r>
              <a:rPr sz="1100" b="0">
                <a:solidFill>
                  <a:srgbClr val="2E2E2E"/>
                </a:solidFill>
                <a:latin typeface="Calibri"/>
              </a:rPr>
              <a:t>R&amp;D Investment</a:t>
            </a:r>
          </a:p>
        </p:txBody>
      </p:sp>
      <p:sp>
        <p:nvSpPr>
          <p:cNvPr id="356" name="Oval 355"/>
          <p:cNvSpPr/>
          <p:nvPr/>
        </p:nvSpPr>
        <p:spPr>
          <a:xfrm>
            <a:off x="25646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57" name="TextBox 356"/>
          <p:cNvSpPr txBox="1"/>
          <p:nvPr/>
        </p:nvSpPr>
        <p:spPr>
          <a:xfrm>
            <a:off x="25646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F</a:t>
            </a:r>
          </a:p>
        </p:txBody>
      </p:sp>
      <p:sp>
        <p:nvSpPr>
          <p:cNvPr id="358" name="TextBox 357"/>
          <p:cNvSpPr txBox="1"/>
          <p:nvPr/>
        </p:nvSpPr>
        <p:spPr>
          <a:xfrm>
            <a:off x="2774156" y="6072662"/>
            <a:ext cx="800100" cy="182537"/>
          </a:xfrm>
          <a:prstGeom prst="rect">
            <a:avLst/>
          </a:prstGeom>
          <a:noFill/>
        </p:spPr>
        <p:txBody>
          <a:bodyPr wrap="square" lIns="0" rIns="0" tIns="0" bIns="0" anchor="ctr">
            <a:spAutoFit/>
          </a:bodyPr>
          <a:lstStyle/>
          <a:p>
            <a:pPr algn="l"/>
            <a:r>
              <a:rPr sz="1100" b="0">
                <a:solidFill>
                  <a:srgbClr val="2E2E2E"/>
                </a:solidFill>
                <a:latin typeface="Calibri"/>
              </a:rPr>
              <a:t>Financial Aid</a:t>
            </a:r>
          </a:p>
        </p:txBody>
      </p:sp>
      <p:sp>
        <p:nvSpPr>
          <p:cNvPr id="359" name="Oval 358"/>
          <p:cNvSpPr/>
          <p:nvPr/>
        </p:nvSpPr>
        <p:spPr>
          <a:xfrm>
            <a:off x="3669506"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0" name="TextBox 359"/>
          <p:cNvSpPr txBox="1"/>
          <p:nvPr/>
        </p:nvSpPr>
        <p:spPr>
          <a:xfrm>
            <a:off x="3669506"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P</a:t>
            </a:r>
          </a:p>
        </p:txBody>
      </p:sp>
      <p:sp>
        <p:nvSpPr>
          <p:cNvPr id="361" name="TextBox 360"/>
          <p:cNvSpPr txBox="1"/>
          <p:nvPr/>
        </p:nvSpPr>
        <p:spPr>
          <a:xfrm>
            <a:off x="3879056" y="6072662"/>
            <a:ext cx="1328738" cy="182537"/>
          </a:xfrm>
          <a:prstGeom prst="rect">
            <a:avLst/>
          </a:prstGeom>
          <a:noFill/>
        </p:spPr>
        <p:txBody>
          <a:bodyPr wrap="square" lIns="0" rIns="0" tIns="0" bIns="0" anchor="ctr">
            <a:spAutoFit/>
          </a:bodyPr>
          <a:lstStyle/>
          <a:p>
            <a:pPr algn="l"/>
            <a:r>
              <a:rPr sz="1100" b="0">
                <a:solidFill>
                  <a:srgbClr val="2E2E2E"/>
                </a:solidFill>
                <a:latin typeface="Calibri"/>
              </a:rPr>
              <a:t>Product Development</a:t>
            </a:r>
          </a:p>
        </p:txBody>
      </p:sp>
      <p:sp>
        <p:nvSpPr>
          <p:cNvPr id="362" name="Oval 361"/>
          <p:cNvSpPr/>
          <p:nvPr/>
        </p:nvSpPr>
        <p:spPr>
          <a:xfrm>
            <a:off x="5303044"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3" name="TextBox 362"/>
          <p:cNvSpPr txBox="1"/>
          <p:nvPr/>
        </p:nvSpPr>
        <p:spPr>
          <a:xfrm>
            <a:off x="5303044"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A</a:t>
            </a:r>
          </a:p>
        </p:txBody>
      </p:sp>
      <p:sp>
        <p:nvSpPr>
          <p:cNvPr id="364" name="TextBox 363"/>
          <p:cNvSpPr txBox="1"/>
          <p:nvPr/>
        </p:nvSpPr>
        <p:spPr>
          <a:xfrm>
            <a:off x="5512594" y="6072662"/>
            <a:ext cx="714375" cy="182537"/>
          </a:xfrm>
          <a:prstGeom prst="rect">
            <a:avLst/>
          </a:prstGeom>
          <a:noFill/>
        </p:spPr>
        <p:txBody>
          <a:bodyPr wrap="square" lIns="0" rIns="0" tIns="0" bIns="0" anchor="ctr">
            <a:spAutoFit/>
          </a:bodyPr>
          <a:lstStyle/>
          <a:p>
            <a:pPr algn="l"/>
            <a:r>
              <a:rPr sz="1100" b="0">
                <a:solidFill>
                  <a:srgbClr val="2E2E2E"/>
                </a:solidFill>
                <a:latin typeface="Calibri"/>
              </a:rPr>
              <a:t>Acquisition</a:t>
            </a:r>
          </a:p>
        </p:txBody>
      </p:sp>
      <p:sp>
        <p:nvSpPr>
          <p:cNvPr id="365" name="Oval 364"/>
          <p:cNvSpPr/>
          <p:nvPr/>
        </p:nvSpPr>
        <p:spPr>
          <a:xfrm>
            <a:off x="6322219"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6" name="TextBox 365"/>
          <p:cNvSpPr txBox="1"/>
          <p:nvPr/>
        </p:nvSpPr>
        <p:spPr>
          <a:xfrm>
            <a:off x="6322219"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L</a:t>
            </a:r>
          </a:p>
        </p:txBody>
      </p:sp>
      <p:sp>
        <p:nvSpPr>
          <p:cNvPr id="367" name="TextBox 366"/>
          <p:cNvSpPr txBox="1"/>
          <p:nvPr/>
        </p:nvSpPr>
        <p:spPr>
          <a:xfrm>
            <a:off x="6531769" y="6072662"/>
            <a:ext cx="964406" cy="182537"/>
          </a:xfrm>
          <a:prstGeom prst="rect">
            <a:avLst/>
          </a:prstGeom>
          <a:noFill/>
        </p:spPr>
        <p:txBody>
          <a:bodyPr wrap="square" lIns="0" rIns="0" tIns="0" bIns="0" anchor="ctr">
            <a:spAutoFit/>
          </a:bodyPr>
          <a:lstStyle/>
          <a:p>
            <a:pPr algn="l"/>
            <a:r>
              <a:rPr sz="1100" b="0">
                <a:solidFill>
                  <a:srgbClr val="2E2E2E"/>
                </a:solidFill>
                <a:latin typeface="Calibri"/>
              </a:rPr>
              <a:t>Product Launch</a:t>
            </a:r>
          </a:p>
        </p:txBody>
      </p:sp>
      <p:sp>
        <p:nvSpPr>
          <p:cNvPr id="368" name="Oval 367"/>
          <p:cNvSpPr/>
          <p:nvPr/>
        </p:nvSpPr>
        <p:spPr>
          <a:xfrm>
            <a:off x="7591425" y="6081789"/>
            <a:ext cx="171450" cy="164283"/>
          </a:xfrm>
          <a:prstGeom prst="ellipse">
            <a:avLst/>
          </a:prstGeom>
          <a:solidFill>
            <a:srgbClr val="08223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p>
        </p:txBody>
      </p:sp>
      <p:sp>
        <p:nvSpPr>
          <p:cNvPr id="369" name="TextBox 368"/>
          <p:cNvSpPr txBox="1"/>
          <p:nvPr/>
        </p:nvSpPr>
        <p:spPr>
          <a:xfrm>
            <a:off x="7591425" y="6081789"/>
            <a:ext cx="171450" cy="164283"/>
          </a:xfrm>
          <a:prstGeom prst="rect">
            <a:avLst/>
          </a:prstGeom>
          <a:noFill/>
        </p:spPr>
        <p:txBody>
          <a:bodyPr wrap="none" lIns="0" rIns="0" tIns="0" bIns="0" anchor="ctr">
            <a:spAutoFit/>
          </a:bodyPr>
          <a:lstStyle/>
          <a:p>
            <a:pPr algn="ctr"/>
            <a:r>
              <a:rPr sz="1100" b="1">
                <a:solidFill>
                  <a:srgbClr val="FFFFFF"/>
                </a:solidFill>
                <a:latin typeface="Calibri"/>
              </a:rPr>
              <a:t>C</a:t>
            </a:r>
          </a:p>
        </p:txBody>
      </p:sp>
      <p:sp>
        <p:nvSpPr>
          <p:cNvPr id="370" name="TextBox 369"/>
          <p:cNvSpPr txBox="1"/>
          <p:nvPr/>
        </p:nvSpPr>
        <p:spPr>
          <a:xfrm>
            <a:off x="7800975" y="6072662"/>
            <a:ext cx="781050" cy="182537"/>
          </a:xfrm>
          <a:prstGeom prst="rect">
            <a:avLst/>
          </a:prstGeom>
          <a:noFill/>
        </p:spPr>
        <p:txBody>
          <a:bodyPr wrap="square" lIns="0" rIns="0" tIns="0" bIns="0" anchor="ctr">
            <a:spAutoFit/>
          </a:bodyPr>
          <a:lstStyle/>
          <a:p>
            <a:pPr algn="l"/>
            <a:r>
              <a:rPr sz="1100" b="0">
                <a:solidFill>
                  <a:srgbClr val="2E2E2E"/>
                </a:solidFill>
                <a:latin typeface="Calibri"/>
              </a:rPr>
              <a:t>Certification</a:t>
            </a:r>
          </a:p>
        </p:txBody>
      </p:sp>
      <p:sp>
        <p:nvSpPr>
          <p:cNvPr id="371" name="TextBox 370"/>
          <p:cNvSpPr txBox="1"/>
          <p:nvPr/>
        </p:nvSpPr>
        <p:spPr>
          <a:xfrm>
            <a:off x="285750" y="6273453"/>
            <a:ext cx="11620500" cy="155156"/>
          </a:xfrm>
          <a:prstGeom prst="rect">
            <a:avLst/>
          </a:prstGeom>
          <a:noFill/>
        </p:spPr>
        <p:txBody>
          <a:bodyPr wrap="square" lIns="0" rIns="0" tIns="0" bIns="0">
            <a:spAutoFit/>
          </a:bodyPr>
          <a:lstStyle/>
          <a:p>
            <a:pPr algn="l"/>
            <a:r>
              <a:rPr sz="1100" b="1">
                <a:solidFill>
                  <a:srgbClr val="A35313"/>
                </a:solidFill>
                <a:latin typeface="Calibri"/>
              </a:rPr>
              <a:t>Note: Market Share indicates the contribution of target revenue in Market</a:t>
            </a:r>
          </a:p>
        </p:txBody>
      </p:sp>
      <p:sp>
        <p:nvSpPr>
          <p:cNvPr id="372" name="TextBox 371"/>
          <p:cNvSpPr txBox="1"/>
          <p:nvPr/>
        </p:nvSpPr>
        <p:spPr>
          <a:xfrm>
            <a:off x="285750" y="6428609"/>
            <a:ext cx="11620500" cy="155156"/>
          </a:xfrm>
          <a:prstGeom prst="rect">
            <a:avLst/>
          </a:prstGeom>
          <a:noFill/>
        </p:spPr>
        <p:txBody>
          <a:bodyPr wrap="square" lIns="0" rIns="0" tIns="0" bIns="0">
            <a:spAutoFit/>
          </a:bodyPr>
          <a:lstStyle/>
          <a:p>
            <a:pPr algn="l"/>
            <a:r>
              <a:rPr sz="1100" b="1">
                <a:solidFill>
                  <a:srgbClr val="A35313"/>
                </a:solidFill>
                <a:latin typeface="Calibri"/>
              </a:rPr>
              <a:t>Revenue represents sales of the company from target market</a:t>
            </a:r>
          </a:p>
        </p:txBody>
      </p:sp>
      <p:sp>
        <p:nvSpPr>
          <p:cNvPr id="373" name="TextBox 372"/>
          <p:cNvSpPr txBox="1"/>
          <p:nvPr/>
        </p:nvSpPr>
        <p:spPr>
          <a:xfrm>
            <a:off x="152400" y="6686550"/>
            <a:ext cx="11887200" cy="152400"/>
          </a:xfrm>
          <a:prstGeom prst="rect">
            <a:avLst/>
          </a:prstGeom>
          <a:noFill/>
        </p:spPr>
        <p:txBody>
          <a:bodyPr wrap="square" lIns="28575" rIns="28575" tIns="0" bIns="0" anchor="ctr">
            <a:spAutoFit/>
          </a:bodyPr>
          <a:lstStyle/>
          <a:p>
            <a:pPr algn="l"/>
            <a:r>
              <a:rPr sz="900" b="0">
                <a:solidFill>
                  <a:srgbClr val="58595B"/>
                </a:solidFill>
                <a:latin typeface="Calibri"/>
              </a:rPr>
              <a:t>©2026 Future Market Insights, All Rights Reserved</a:t>
            </a:r>
          </a:p>
        </p:txBody>
      </p:sp>
      <p:pic>
        <p:nvPicPr>
          <p:cNvPr id="374" name="Picture 373" descr="lock.png"/>
          <p:cNvPicPr>
            <a:picLocks noChangeAspect="1"/>
          </p:cNvPicPr>
          <p:nvPr/>
        </p:nvPicPr>
        <p:blipFill>
          <a:blip r:embed="rId4"/>
          <a:stretch>
            <a:fillRect/>
          </a:stretch>
        </p:blipFill>
        <p:spPr>
          <a:xfrm>
            <a:off x="1769213" y="2702524"/>
            <a:ext cx="128699" cy="187198"/>
          </a:xfrm>
          <a:prstGeom prst="rect">
            <a:avLst/>
          </a:prstGeom>
        </p:spPr>
      </p:pic>
      <p:pic>
        <p:nvPicPr>
          <p:cNvPr id="375" name="Picture 374" descr="lock.png"/>
          <p:cNvPicPr>
            <a:picLocks noChangeAspect="1"/>
          </p:cNvPicPr>
          <p:nvPr/>
        </p:nvPicPr>
        <p:blipFill>
          <a:blip r:embed="rId4"/>
          <a:stretch>
            <a:fillRect/>
          </a:stretch>
        </p:blipFill>
        <p:spPr>
          <a:xfrm>
            <a:off x="1769213" y="3031091"/>
            <a:ext cx="128699" cy="187198"/>
          </a:xfrm>
          <a:prstGeom prst="rect">
            <a:avLst/>
          </a:prstGeom>
        </p:spPr>
      </p:pic>
      <p:pic>
        <p:nvPicPr>
          <p:cNvPr id="376" name="Picture 375" descr="lock.png"/>
          <p:cNvPicPr>
            <a:picLocks noChangeAspect="1"/>
          </p:cNvPicPr>
          <p:nvPr/>
        </p:nvPicPr>
        <p:blipFill>
          <a:blip r:embed="rId4"/>
          <a:stretch>
            <a:fillRect/>
          </a:stretch>
        </p:blipFill>
        <p:spPr>
          <a:xfrm>
            <a:off x="1769212" y="3560448"/>
            <a:ext cx="128699" cy="187198"/>
          </a:xfrm>
          <a:prstGeom prst="rect">
            <a:avLst/>
          </a:prstGeom>
        </p:spPr>
      </p:pic>
      <p:pic>
        <p:nvPicPr>
          <p:cNvPr id="377" name="Picture 376" descr="lock.png"/>
          <p:cNvPicPr>
            <a:picLocks noChangeAspect="1"/>
          </p:cNvPicPr>
          <p:nvPr/>
        </p:nvPicPr>
        <p:blipFill>
          <a:blip r:embed="rId4"/>
          <a:stretch>
            <a:fillRect/>
          </a:stretch>
        </p:blipFill>
        <p:spPr>
          <a:xfrm>
            <a:off x="2845538" y="2702524"/>
            <a:ext cx="128699" cy="187198"/>
          </a:xfrm>
          <a:prstGeom prst="rect">
            <a:avLst/>
          </a:prstGeom>
        </p:spPr>
      </p:pic>
      <p:pic>
        <p:nvPicPr>
          <p:cNvPr id="378" name="Picture 377" descr="lock.png"/>
          <p:cNvPicPr>
            <a:picLocks noChangeAspect="1"/>
          </p:cNvPicPr>
          <p:nvPr/>
        </p:nvPicPr>
        <p:blipFill>
          <a:blip r:embed="rId4"/>
          <a:stretch>
            <a:fillRect/>
          </a:stretch>
        </p:blipFill>
        <p:spPr>
          <a:xfrm>
            <a:off x="2845538" y="3031091"/>
            <a:ext cx="128699" cy="187198"/>
          </a:xfrm>
          <a:prstGeom prst="rect">
            <a:avLst/>
          </a:prstGeom>
        </p:spPr>
      </p:pic>
      <p:pic>
        <p:nvPicPr>
          <p:cNvPr id="379" name="Picture 378" descr="lock.png"/>
          <p:cNvPicPr>
            <a:picLocks noChangeAspect="1"/>
          </p:cNvPicPr>
          <p:nvPr/>
        </p:nvPicPr>
        <p:blipFill>
          <a:blip r:embed="rId4"/>
          <a:stretch>
            <a:fillRect/>
          </a:stretch>
        </p:blipFill>
        <p:spPr>
          <a:xfrm>
            <a:off x="2845538" y="3560448"/>
            <a:ext cx="128699" cy="187198"/>
          </a:xfrm>
          <a:prstGeom prst="rect">
            <a:avLst/>
          </a:prstGeom>
        </p:spPr>
      </p:pic>
      <p:pic>
        <p:nvPicPr>
          <p:cNvPr id="380" name="Picture 379" descr="lock.png"/>
          <p:cNvPicPr>
            <a:picLocks noChangeAspect="1"/>
          </p:cNvPicPr>
          <p:nvPr/>
        </p:nvPicPr>
        <p:blipFill>
          <a:blip r:embed="rId4"/>
          <a:stretch>
            <a:fillRect/>
          </a:stretch>
        </p:blipFill>
        <p:spPr>
          <a:xfrm>
            <a:off x="3921863" y="2702524"/>
            <a:ext cx="128699" cy="187198"/>
          </a:xfrm>
          <a:prstGeom prst="rect">
            <a:avLst/>
          </a:prstGeom>
        </p:spPr>
      </p:pic>
      <p:pic>
        <p:nvPicPr>
          <p:cNvPr id="381" name="Picture 380" descr="lock.png"/>
          <p:cNvPicPr>
            <a:picLocks noChangeAspect="1"/>
          </p:cNvPicPr>
          <p:nvPr/>
        </p:nvPicPr>
        <p:blipFill>
          <a:blip r:embed="rId4"/>
          <a:stretch>
            <a:fillRect/>
          </a:stretch>
        </p:blipFill>
        <p:spPr>
          <a:xfrm>
            <a:off x="3921863" y="3031091"/>
            <a:ext cx="128699" cy="187198"/>
          </a:xfrm>
          <a:prstGeom prst="rect">
            <a:avLst/>
          </a:prstGeom>
        </p:spPr>
      </p:pic>
      <p:pic>
        <p:nvPicPr>
          <p:cNvPr id="382" name="Picture 381" descr="lock.png"/>
          <p:cNvPicPr>
            <a:picLocks noChangeAspect="1"/>
          </p:cNvPicPr>
          <p:nvPr/>
        </p:nvPicPr>
        <p:blipFill>
          <a:blip r:embed="rId4"/>
          <a:stretch>
            <a:fillRect/>
          </a:stretch>
        </p:blipFill>
        <p:spPr>
          <a:xfrm>
            <a:off x="3921862" y="3560448"/>
            <a:ext cx="128699" cy="187198"/>
          </a:xfrm>
          <a:prstGeom prst="rect">
            <a:avLst/>
          </a:prstGeom>
        </p:spPr>
      </p:pic>
      <p:pic>
        <p:nvPicPr>
          <p:cNvPr id="383" name="Picture 382" descr="lock.png"/>
          <p:cNvPicPr>
            <a:picLocks noChangeAspect="1"/>
          </p:cNvPicPr>
          <p:nvPr/>
        </p:nvPicPr>
        <p:blipFill>
          <a:blip r:embed="rId4"/>
          <a:stretch>
            <a:fillRect/>
          </a:stretch>
        </p:blipFill>
        <p:spPr>
          <a:xfrm>
            <a:off x="4998188" y="2702524"/>
            <a:ext cx="128699" cy="187198"/>
          </a:xfrm>
          <a:prstGeom prst="rect">
            <a:avLst/>
          </a:prstGeom>
        </p:spPr>
      </p:pic>
      <p:pic>
        <p:nvPicPr>
          <p:cNvPr id="384" name="Picture 383" descr="lock.png"/>
          <p:cNvPicPr>
            <a:picLocks noChangeAspect="1"/>
          </p:cNvPicPr>
          <p:nvPr/>
        </p:nvPicPr>
        <p:blipFill>
          <a:blip r:embed="rId4"/>
          <a:stretch>
            <a:fillRect/>
          </a:stretch>
        </p:blipFill>
        <p:spPr>
          <a:xfrm>
            <a:off x="4998188" y="3031091"/>
            <a:ext cx="128699" cy="187198"/>
          </a:xfrm>
          <a:prstGeom prst="rect">
            <a:avLst/>
          </a:prstGeom>
        </p:spPr>
      </p:pic>
      <p:pic>
        <p:nvPicPr>
          <p:cNvPr id="385" name="Picture 384" descr="lock.png"/>
          <p:cNvPicPr>
            <a:picLocks noChangeAspect="1"/>
          </p:cNvPicPr>
          <p:nvPr/>
        </p:nvPicPr>
        <p:blipFill>
          <a:blip r:embed="rId4"/>
          <a:stretch>
            <a:fillRect/>
          </a:stretch>
        </p:blipFill>
        <p:spPr>
          <a:xfrm>
            <a:off x="4998188" y="3560448"/>
            <a:ext cx="128699" cy="187198"/>
          </a:xfrm>
          <a:prstGeom prst="rect">
            <a:avLst/>
          </a:prstGeom>
        </p:spPr>
      </p:pic>
      <p:pic>
        <p:nvPicPr>
          <p:cNvPr id="386" name="Picture 385" descr="lock.png"/>
          <p:cNvPicPr>
            <a:picLocks noChangeAspect="1"/>
          </p:cNvPicPr>
          <p:nvPr/>
        </p:nvPicPr>
        <p:blipFill>
          <a:blip r:embed="rId4"/>
          <a:stretch>
            <a:fillRect/>
          </a:stretch>
        </p:blipFill>
        <p:spPr>
          <a:xfrm>
            <a:off x="6074513" y="2702524"/>
            <a:ext cx="128699" cy="187198"/>
          </a:xfrm>
          <a:prstGeom prst="rect">
            <a:avLst/>
          </a:prstGeom>
        </p:spPr>
      </p:pic>
      <p:pic>
        <p:nvPicPr>
          <p:cNvPr id="387" name="Picture 386" descr="lock.png"/>
          <p:cNvPicPr>
            <a:picLocks noChangeAspect="1"/>
          </p:cNvPicPr>
          <p:nvPr/>
        </p:nvPicPr>
        <p:blipFill>
          <a:blip r:embed="rId4"/>
          <a:stretch>
            <a:fillRect/>
          </a:stretch>
        </p:blipFill>
        <p:spPr>
          <a:xfrm>
            <a:off x="6074513" y="3031091"/>
            <a:ext cx="128699" cy="187198"/>
          </a:xfrm>
          <a:prstGeom prst="rect">
            <a:avLst/>
          </a:prstGeom>
        </p:spPr>
      </p:pic>
      <p:pic>
        <p:nvPicPr>
          <p:cNvPr id="388" name="Picture 387" descr="lock.png"/>
          <p:cNvPicPr>
            <a:picLocks noChangeAspect="1"/>
          </p:cNvPicPr>
          <p:nvPr/>
        </p:nvPicPr>
        <p:blipFill>
          <a:blip r:embed="rId4"/>
          <a:stretch>
            <a:fillRect/>
          </a:stretch>
        </p:blipFill>
        <p:spPr>
          <a:xfrm>
            <a:off x="6074512" y="3560448"/>
            <a:ext cx="128699" cy="187198"/>
          </a:xfrm>
          <a:prstGeom prst="rect">
            <a:avLst/>
          </a:prstGeom>
        </p:spPr>
      </p:pic>
      <p:pic>
        <p:nvPicPr>
          <p:cNvPr id="389" name="Picture 388" descr="lock.png"/>
          <p:cNvPicPr>
            <a:picLocks noChangeAspect="1"/>
          </p:cNvPicPr>
          <p:nvPr/>
        </p:nvPicPr>
        <p:blipFill>
          <a:blip r:embed="rId4"/>
          <a:stretch>
            <a:fillRect/>
          </a:stretch>
        </p:blipFill>
        <p:spPr>
          <a:xfrm>
            <a:off x="7150838" y="2702524"/>
            <a:ext cx="128699" cy="187198"/>
          </a:xfrm>
          <a:prstGeom prst="rect">
            <a:avLst/>
          </a:prstGeom>
        </p:spPr>
      </p:pic>
      <p:pic>
        <p:nvPicPr>
          <p:cNvPr id="390" name="Picture 389" descr="lock.png"/>
          <p:cNvPicPr>
            <a:picLocks noChangeAspect="1"/>
          </p:cNvPicPr>
          <p:nvPr/>
        </p:nvPicPr>
        <p:blipFill>
          <a:blip r:embed="rId4"/>
          <a:stretch>
            <a:fillRect/>
          </a:stretch>
        </p:blipFill>
        <p:spPr>
          <a:xfrm>
            <a:off x="7150838" y="3031091"/>
            <a:ext cx="128699" cy="187198"/>
          </a:xfrm>
          <a:prstGeom prst="rect">
            <a:avLst/>
          </a:prstGeom>
        </p:spPr>
      </p:pic>
      <p:pic>
        <p:nvPicPr>
          <p:cNvPr id="391" name="Picture 390" descr="lock.png"/>
          <p:cNvPicPr>
            <a:picLocks noChangeAspect="1"/>
          </p:cNvPicPr>
          <p:nvPr/>
        </p:nvPicPr>
        <p:blipFill>
          <a:blip r:embed="rId4"/>
          <a:stretch>
            <a:fillRect/>
          </a:stretch>
        </p:blipFill>
        <p:spPr>
          <a:xfrm>
            <a:off x="7150838" y="3560448"/>
            <a:ext cx="128699" cy="187198"/>
          </a:xfrm>
          <a:prstGeom prst="rect">
            <a:avLst/>
          </a:prstGeom>
        </p:spPr>
      </p:pic>
      <p:pic>
        <p:nvPicPr>
          <p:cNvPr id="392" name="Picture 391" descr="lock.png"/>
          <p:cNvPicPr>
            <a:picLocks noChangeAspect="1"/>
          </p:cNvPicPr>
          <p:nvPr/>
        </p:nvPicPr>
        <p:blipFill>
          <a:blip r:embed="rId4"/>
          <a:stretch>
            <a:fillRect/>
          </a:stretch>
        </p:blipFill>
        <p:spPr>
          <a:xfrm>
            <a:off x="8227163" y="2702524"/>
            <a:ext cx="128699" cy="187198"/>
          </a:xfrm>
          <a:prstGeom prst="rect">
            <a:avLst/>
          </a:prstGeom>
        </p:spPr>
      </p:pic>
      <p:pic>
        <p:nvPicPr>
          <p:cNvPr id="393" name="Picture 392" descr="lock.png"/>
          <p:cNvPicPr>
            <a:picLocks noChangeAspect="1"/>
          </p:cNvPicPr>
          <p:nvPr/>
        </p:nvPicPr>
        <p:blipFill>
          <a:blip r:embed="rId4"/>
          <a:stretch>
            <a:fillRect/>
          </a:stretch>
        </p:blipFill>
        <p:spPr>
          <a:xfrm>
            <a:off x="8227163" y="3031091"/>
            <a:ext cx="128699" cy="187198"/>
          </a:xfrm>
          <a:prstGeom prst="rect">
            <a:avLst/>
          </a:prstGeom>
        </p:spPr>
      </p:pic>
      <p:pic>
        <p:nvPicPr>
          <p:cNvPr id="394" name="Picture 393" descr="lock.png"/>
          <p:cNvPicPr>
            <a:picLocks noChangeAspect="1"/>
          </p:cNvPicPr>
          <p:nvPr/>
        </p:nvPicPr>
        <p:blipFill>
          <a:blip r:embed="rId4"/>
          <a:stretch>
            <a:fillRect/>
          </a:stretch>
        </p:blipFill>
        <p:spPr>
          <a:xfrm>
            <a:off x="8227162" y="3560448"/>
            <a:ext cx="128699" cy="187198"/>
          </a:xfrm>
          <a:prstGeom prst="rect">
            <a:avLst/>
          </a:prstGeom>
        </p:spPr>
      </p:pic>
      <p:pic>
        <p:nvPicPr>
          <p:cNvPr id="395" name="Picture 394" descr="lock.png"/>
          <p:cNvPicPr>
            <a:picLocks noChangeAspect="1"/>
          </p:cNvPicPr>
          <p:nvPr/>
        </p:nvPicPr>
        <p:blipFill>
          <a:blip r:embed="rId4"/>
          <a:stretch>
            <a:fillRect/>
          </a:stretch>
        </p:blipFill>
        <p:spPr>
          <a:xfrm>
            <a:off x="9303488" y="2702524"/>
            <a:ext cx="128699" cy="187198"/>
          </a:xfrm>
          <a:prstGeom prst="rect">
            <a:avLst/>
          </a:prstGeom>
        </p:spPr>
      </p:pic>
      <p:pic>
        <p:nvPicPr>
          <p:cNvPr id="396" name="Picture 395" descr="lock.png"/>
          <p:cNvPicPr>
            <a:picLocks noChangeAspect="1"/>
          </p:cNvPicPr>
          <p:nvPr/>
        </p:nvPicPr>
        <p:blipFill>
          <a:blip r:embed="rId4"/>
          <a:stretch>
            <a:fillRect/>
          </a:stretch>
        </p:blipFill>
        <p:spPr>
          <a:xfrm>
            <a:off x="9303488" y="3031091"/>
            <a:ext cx="128699" cy="187198"/>
          </a:xfrm>
          <a:prstGeom prst="rect">
            <a:avLst/>
          </a:prstGeom>
        </p:spPr>
      </p:pic>
      <p:pic>
        <p:nvPicPr>
          <p:cNvPr id="397" name="Picture 396" descr="lock.png"/>
          <p:cNvPicPr>
            <a:picLocks noChangeAspect="1"/>
          </p:cNvPicPr>
          <p:nvPr/>
        </p:nvPicPr>
        <p:blipFill>
          <a:blip r:embed="rId4"/>
          <a:stretch>
            <a:fillRect/>
          </a:stretch>
        </p:blipFill>
        <p:spPr>
          <a:xfrm>
            <a:off x="9303488" y="3560448"/>
            <a:ext cx="128699" cy="187198"/>
          </a:xfrm>
          <a:prstGeom prst="rect">
            <a:avLst/>
          </a:prstGeom>
        </p:spPr>
      </p:pic>
      <p:pic>
        <p:nvPicPr>
          <p:cNvPr id="398" name="Picture 397" descr="lock.png"/>
          <p:cNvPicPr>
            <a:picLocks noChangeAspect="1"/>
          </p:cNvPicPr>
          <p:nvPr/>
        </p:nvPicPr>
        <p:blipFill>
          <a:blip r:embed="rId4"/>
          <a:stretch>
            <a:fillRect/>
          </a:stretch>
        </p:blipFill>
        <p:spPr>
          <a:xfrm>
            <a:off x="10379813" y="2702524"/>
            <a:ext cx="128699" cy="187198"/>
          </a:xfrm>
          <a:prstGeom prst="rect">
            <a:avLst/>
          </a:prstGeom>
        </p:spPr>
      </p:pic>
      <p:pic>
        <p:nvPicPr>
          <p:cNvPr id="399" name="Picture 398" descr="lock.png"/>
          <p:cNvPicPr>
            <a:picLocks noChangeAspect="1"/>
          </p:cNvPicPr>
          <p:nvPr/>
        </p:nvPicPr>
        <p:blipFill>
          <a:blip r:embed="rId4"/>
          <a:stretch>
            <a:fillRect/>
          </a:stretch>
        </p:blipFill>
        <p:spPr>
          <a:xfrm>
            <a:off x="10379813" y="3031091"/>
            <a:ext cx="128699" cy="187198"/>
          </a:xfrm>
          <a:prstGeom prst="rect">
            <a:avLst/>
          </a:prstGeom>
        </p:spPr>
      </p:pic>
      <p:pic>
        <p:nvPicPr>
          <p:cNvPr id="400" name="Picture 399" descr="lock.png"/>
          <p:cNvPicPr>
            <a:picLocks noChangeAspect="1"/>
          </p:cNvPicPr>
          <p:nvPr/>
        </p:nvPicPr>
        <p:blipFill>
          <a:blip r:embed="rId4"/>
          <a:stretch>
            <a:fillRect/>
          </a:stretch>
        </p:blipFill>
        <p:spPr>
          <a:xfrm>
            <a:off x="10379812" y="3560448"/>
            <a:ext cx="128699" cy="187198"/>
          </a:xfrm>
          <a:prstGeom prst="rect">
            <a:avLst/>
          </a:prstGeom>
        </p:spPr>
      </p:pic>
      <p:pic>
        <p:nvPicPr>
          <p:cNvPr id="401" name="Picture 400" descr="lock.png"/>
          <p:cNvPicPr>
            <a:picLocks noChangeAspect="1"/>
          </p:cNvPicPr>
          <p:nvPr/>
        </p:nvPicPr>
        <p:blipFill>
          <a:blip r:embed="rId4"/>
          <a:stretch>
            <a:fillRect/>
          </a:stretch>
        </p:blipFill>
        <p:spPr>
          <a:xfrm>
            <a:off x="11456138" y="2702524"/>
            <a:ext cx="128699" cy="187198"/>
          </a:xfrm>
          <a:prstGeom prst="rect">
            <a:avLst/>
          </a:prstGeom>
        </p:spPr>
      </p:pic>
      <p:pic>
        <p:nvPicPr>
          <p:cNvPr id="402" name="Picture 401" descr="lock.png"/>
          <p:cNvPicPr>
            <a:picLocks noChangeAspect="1"/>
          </p:cNvPicPr>
          <p:nvPr/>
        </p:nvPicPr>
        <p:blipFill>
          <a:blip r:embed="rId4"/>
          <a:stretch>
            <a:fillRect/>
          </a:stretch>
        </p:blipFill>
        <p:spPr>
          <a:xfrm>
            <a:off x="11456138" y="3031091"/>
            <a:ext cx="128699" cy="187198"/>
          </a:xfrm>
          <a:prstGeom prst="rect">
            <a:avLst/>
          </a:prstGeom>
        </p:spPr>
      </p:pic>
      <p:pic>
        <p:nvPicPr>
          <p:cNvPr id="403" name="Picture 402" descr="lock.png"/>
          <p:cNvPicPr>
            <a:picLocks noChangeAspect="1"/>
          </p:cNvPicPr>
          <p:nvPr/>
        </p:nvPicPr>
        <p:blipFill>
          <a:blip r:embed="rId4"/>
          <a:stretch>
            <a:fillRect/>
          </a:stretch>
        </p:blipFill>
        <p:spPr>
          <a:xfrm>
            <a:off x="11456138" y="3560448"/>
            <a:ext cx="128699" cy="187198"/>
          </a:xfrm>
          <a:prstGeom prst="rect">
            <a:avLst/>
          </a:prstGeom>
        </p:spPr>
      </p:pic>
    </p:spTree>
  </p:cSld>
  <p:clrMapOvr>
    <a:masterClrMapping/>
  </p:clrMapOvr>
</p:sld>
</file>

<file path=ppt/slides/slide305.xml><?xml version="1.0" encoding="utf-8"?>
<p:sld xmlns:a="http://schemas.openxmlformats.org/drawingml/2006/main" xmlns:p="http://schemas.openxmlformats.org/presentationml/2006/main" xmlns:r="http://schemas.openxmlformats.org/officeDocument/2006/relationships">
  <p:cSld>
    <p:spTree>
      <p:nvGrpSpPr>
        <p:cNvPr id="2" name=""/>
        <p:cNvGrpSpPr/>
        <p:nvPr/>
      </p:nvGrpSpPr>
      <p:grpSpPr/>
      <p:sp>
        <p:nvSpPr>
          <p:cNvPr id="3" name="Rectangle 2">
            <a:extLst>
              <a:ext uri="{FF2B5EF4-FFF2-40B4-BE49-F238E27FC236}">
                <a16:creationId xmlns:a16="http://schemas.microsoft.com/office/drawing/2014/main" id="{CCC9DC92-CC39-269D-F4F6-1BCD7363F9A2}"/>
              </a:ext>
            </a:extLst>
          </p:cNvPr>
          <p:cNvSpPr/>
          <p:nvPr/>
        </p:nvSpPr>
        <p:spPr>
          <a:xfrm>
            <a:off x="0" y="0"/>
            <a:ext cx="12192000" cy="6858000"/>
          </a:xfrm>
          <a:prstGeom prst="rect">
            <a:avLst/>
          </a:prstGeom>
          <a:solidFill>
            <a:srgbClr val="FFFFFF"/>
          </a:solidFill>
          <a:ln>
            <a:solidFill>
              <a:srgbClr val="FFFFFF"/>
            </a:solidFill>
          </a:ln>
        </p:spPr>
        <p:style>
          <a:lnRef idx="2">
            <a:srgbClr val="2A5F8F">
              <a:shade val="15000"/>
            </a:srgbClr>
          </a:lnRef>
          <a:fillRef idx="1">
            <a:srgbClr val="2A5F8F"/>
          </a:fillRef>
          <a:effectRef idx="0">
            <a:srgbClr val="2A5F8F"/>
          </a:effectRef>
          <a:fontRef idx="minor">
            <a:srgbClr val="FFFFFF"/>
          </a:fontRef>
        </p:style>
        <p:txBody>
          <a:bodyPr rtlCol="0" anchor="ctr"/>
          <a:lstStyle/>
          <a:p>
            <a:pPr algn="ctr"/>
            <a:endParaRPr lang="en-US"/>
          </a:p>
        </p:txBody>
      </p:sp>
      <p:grpSp>
        <p:nvGrpSpPr>
          <p:cNvPr id="4" name="Group 23">
            <a:extLst>
              <a:ext uri="{FF2B5EF4-FFF2-40B4-BE49-F238E27FC236}">
                <a16:creationId xmlns:a16="http://schemas.microsoft.com/office/drawing/2014/main" id="{85B8B5CB-8306-A876-1A56-F5D391EBE3A2}"/>
              </a:ext>
            </a:extLst>
          </p:cNvPr>
          <p:cNvGrpSpPr>
            <a:grpSpLocks/>
          </p:cNvGrpSpPr>
          <p:nvPr/>
        </p:nvGrpSpPr>
        <p:grpSpPr bwMode="auto">
          <a:xfrm>
            <a:off x="152400" y="164419"/>
            <a:ext cx="12039600" cy="6021387"/>
            <a:chOff x="76010" y="229820"/>
            <a:chExt cx="12039981" cy="6021526"/>
          </a:xfrm>
        </p:grpSpPr>
        <p:sp>
          <p:nvSpPr>
            <p:cNvPr id="5" name="Rectangle 22">
              <a:extLst>
                <a:ext uri="{FF2B5EF4-FFF2-40B4-BE49-F238E27FC236}">
                  <a16:creationId xmlns:a16="http://schemas.microsoft.com/office/drawing/2014/main" id="{899C401F-7B85-B769-45BD-852117B2EFA8}"/>
                </a:ext>
              </a:extLst>
            </p:cNvPr>
            <p:cNvSpPr>
              <a:spLocks noChangeArrowheads="1"/>
            </p:cNvSpPr>
            <p:nvPr/>
          </p:nvSpPr>
          <p:spPr bwMode="auto">
            <a:xfrm>
              <a:off x="4523037" y="5943569"/>
              <a:ext cx="31459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930275" algn="l"/>
                </a:tabLst>
                <a:defRPr>
                  <a:solidFill>
                    <a:srgbClr val="000000"/>
                  </a:solidFill>
                  <a:latin typeface="Arial" panose="020B0604020202020204" pitchFamily="34" charset="0"/>
                  <a:cs typeface="Arial" panose="020B0604020202020204" pitchFamily="34" charset="0"/>
                </a:defRPr>
              </a:lvl1pPr>
              <a:lvl2pPr marL="742950" indent="-285750">
                <a:tabLst>
                  <a:tab pos="930275" algn="l"/>
                </a:tabLst>
                <a:defRPr>
                  <a:solidFill>
                    <a:srgbClr val="000000"/>
                  </a:solidFill>
                  <a:latin typeface="Arial" panose="020B0604020202020204" pitchFamily="34" charset="0"/>
                  <a:cs typeface="Arial" panose="020B0604020202020204" pitchFamily="34" charset="0"/>
                </a:defRPr>
              </a:lvl2pPr>
              <a:lvl3pPr marL="1143000" indent="-228600">
                <a:tabLst>
                  <a:tab pos="930275" algn="l"/>
                </a:tabLst>
                <a:defRPr>
                  <a:solidFill>
                    <a:srgbClr val="000000"/>
                  </a:solidFill>
                  <a:latin typeface="Arial" panose="020B0604020202020204" pitchFamily="34" charset="0"/>
                  <a:cs typeface="Arial" panose="020B0604020202020204" pitchFamily="34" charset="0"/>
                </a:defRPr>
              </a:lvl3pPr>
              <a:lvl4pPr marL="1600200" indent="-228600">
                <a:tabLst>
                  <a:tab pos="930275" algn="l"/>
                </a:tabLst>
                <a:defRPr>
                  <a:solidFill>
                    <a:srgbClr val="000000"/>
                  </a:solidFill>
                  <a:latin typeface="Arial" panose="020B0604020202020204" pitchFamily="34" charset="0"/>
                  <a:cs typeface="Arial" panose="020B0604020202020204" pitchFamily="34" charset="0"/>
                </a:defRPr>
              </a:lvl4pPr>
              <a:lvl5pPr marL="2057400" indent="-228600">
                <a:tabLst>
                  <a:tab pos="930275" algn="l"/>
                </a:tabLst>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tabLst>
                  <a:tab pos="930275" algn="l"/>
                </a:tabLs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tabLst>
                  <a:tab pos="930275" algn="l"/>
                </a:tabLs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tabLst>
                  <a:tab pos="930275" algn="l"/>
                </a:tabLs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tabLst>
                  <a:tab pos="930275" algn="l"/>
                </a:tabLst>
                <a:defRPr>
                  <a:solidFill>
                    <a:srgbClr val="000000"/>
                  </a:solidFill>
                  <a:latin typeface="Arial" panose="020B0604020202020204" pitchFamily="34" charset="0"/>
                  <a:cs typeface="Arial" panose="020B0604020202020204" pitchFamily="34" charset="0"/>
                </a:defRPr>
              </a:lvl9pPr>
            </a:lstStyle>
            <a:p>
              <a:pPr algn="ctr">
                <a:spcBef>
                  <a:spcPts val="200"/>
                </a:spcBef>
                <a:spcAft>
                  <a:spcPts val="200"/>
                </a:spcAft>
              </a:pPr>
              <a:r>
                <a:rPr lang="en-GB" altLang="en-US" sz="1400" b="1">
                  <a:ea typeface="MS PGothic" panose="020B0600070205080204" pitchFamily="34" charset="-128"/>
                </a:rPr>
                <a:t>Email: sales@futuremarketinsights.com</a:t>
              </a:r>
            </a:p>
          </p:txBody>
        </p:sp>
        <p:grpSp>
          <p:nvGrpSpPr>
            <p:cNvPr id="6" name="Group 21">
              <a:extLst>
                <a:ext uri="{FF2B5EF4-FFF2-40B4-BE49-F238E27FC236}">
                  <a16:creationId xmlns:a16="http://schemas.microsoft.com/office/drawing/2014/main" id="{5FBB3E24-8D41-905A-6BA3-11149D7E0A50}"/>
                </a:ext>
              </a:extLst>
            </p:cNvPr>
            <p:cNvGrpSpPr>
              <a:grpSpLocks/>
            </p:cNvGrpSpPr>
            <p:nvPr/>
          </p:nvGrpSpPr>
          <p:grpSpPr bwMode="auto">
            <a:xfrm>
              <a:off x="76010" y="229820"/>
              <a:ext cx="12039981" cy="5526596"/>
              <a:chOff x="76010" y="229820"/>
              <a:chExt cx="12039981" cy="5526596"/>
            </a:xfrm>
          </p:grpSpPr>
          <p:grpSp>
            <p:nvGrpSpPr>
              <p:cNvPr id="7" name="Group 24">
                <a:extLst>
                  <a:ext uri="{FF2B5EF4-FFF2-40B4-BE49-F238E27FC236}">
                    <a16:creationId xmlns:a16="http://schemas.microsoft.com/office/drawing/2014/main" id="{34C0848D-58FD-B698-603B-B8D2C7863B12}"/>
                  </a:ext>
                </a:extLst>
              </p:cNvPr>
              <p:cNvGrpSpPr>
                <a:grpSpLocks/>
              </p:cNvGrpSpPr>
              <p:nvPr/>
            </p:nvGrpSpPr>
            <p:grpSpPr bwMode="auto">
              <a:xfrm>
                <a:off x="76010" y="3513022"/>
                <a:ext cx="12039981" cy="54864"/>
                <a:chOff x="980685" y="3697699"/>
                <a:chExt cx="9950397" cy="54864"/>
              </a:xfrm>
            </p:grpSpPr>
            <p:sp>
              <p:nvSpPr>
                <p:cNvPr id="8" name="Rectangle 44">
                  <a:extLst>
                    <a:ext uri="{FF2B5EF4-FFF2-40B4-BE49-F238E27FC236}">
                      <a16:creationId xmlns:a16="http://schemas.microsoft.com/office/drawing/2014/main" id="{4C55A7B5-34B4-8F78-1AE4-63BEB5D835CF}"/>
                    </a:ext>
                  </a:extLst>
                </p:cNvPr>
                <p:cNvSpPr/>
                <p:nvPr/>
              </p:nvSpPr>
              <p:spPr>
                <a:xfrm>
                  <a:off x="980685" y="3697523"/>
                  <a:ext cx="3109499" cy="55563"/>
                </a:xfrm>
                <a:prstGeom prst="rect">
                  <a:avLst/>
                </a:prstGeom>
                <a:solidFill>
                  <a:srgbClr val="92C73E"/>
                </a:solidFill>
                <a:ln>
                  <a:noFill/>
                </a:ln>
              </p:spPr>
              <p:style>
                <a:lnRef idx="2">
                  <a:srgbClr val="2A5F8F">
                    <a:shade val="50000"/>
                  </a:srgbClr>
                </a:lnRef>
                <a:fillRef idx="1">
                  <a:srgbClr val="2A5F8F"/>
                </a:fillRef>
                <a:effectRef idx="0">
                  <a:srgbClr val="2A5F8F"/>
                </a:effectRef>
                <a:fontRef idx="minor">
                  <a:srgbClr val="FFFFFF"/>
                </a:fontRef>
              </p:style>
              <p:txBody>
                <a:bodyPr anchor="ctr"/>
                <a:lstStyle/>
                <a:p>
                  <a:pPr algn="ctr">
                    <a:defRPr/>
                  </a:pPr>
                  <a:endParaRPr lang="en-IN"/>
                </a:p>
              </p:txBody>
            </p:sp>
            <p:sp>
              <p:nvSpPr>
                <p:cNvPr id="9" name="Rectangle 45">
                  <a:extLst>
                    <a:ext uri="{FF2B5EF4-FFF2-40B4-BE49-F238E27FC236}">
                      <a16:creationId xmlns:a16="http://schemas.microsoft.com/office/drawing/2014/main" id="{F34EF18C-34C1-6B37-6F48-1B3AC01098EE}"/>
                    </a:ext>
                  </a:extLst>
                </p:cNvPr>
                <p:cNvSpPr/>
                <p:nvPr/>
              </p:nvSpPr>
              <p:spPr>
                <a:xfrm>
                  <a:off x="4401134" y="3697523"/>
                  <a:ext cx="3109499" cy="55563"/>
                </a:xfrm>
                <a:prstGeom prst="rect">
                  <a:avLst/>
                </a:prstGeom>
                <a:solidFill>
                  <a:srgbClr val="EF5123"/>
                </a:solidFill>
                <a:ln>
                  <a:noFill/>
                </a:ln>
              </p:spPr>
              <p:style>
                <a:lnRef idx="2">
                  <a:srgbClr val="2A5F8F">
                    <a:shade val="50000"/>
                  </a:srgbClr>
                </a:lnRef>
                <a:fillRef idx="1">
                  <a:srgbClr val="2A5F8F"/>
                </a:fillRef>
                <a:effectRef idx="0">
                  <a:srgbClr val="2A5F8F"/>
                </a:effectRef>
                <a:fontRef idx="minor">
                  <a:srgbClr val="FFFFFF"/>
                </a:fontRef>
              </p:style>
              <p:txBody>
                <a:bodyPr anchor="ctr"/>
                <a:lstStyle/>
                <a:p>
                  <a:pPr algn="ctr">
                    <a:defRPr/>
                  </a:pPr>
                  <a:endParaRPr lang="en-IN"/>
                </a:p>
              </p:txBody>
            </p:sp>
            <p:sp>
              <p:nvSpPr>
                <p:cNvPr id="10" name="Rectangle 46">
                  <a:extLst>
                    <a:ext uri="{FF2B5EF4-FFF2-40B4-BE49-F238E27FC236}">
                      <a16:creationId xmlns:a16="http://schemas.microsoft.com/office/drawing/2014/main" id="{1DC20229-C001-A2E1-EEF4-879BB49DF54C}"/>
                    </a:ext>
                  </a:extLst>
                </p:cNvPr>
                <p:cNvSpPr/>
                <p:nvPr/>
              </p:nvSpPr>
              <p:spPr>
                <a:xfrm>
                  <a:off x="7821583" y="3697523"/>
                  <a:ext cx="3109499" cy="55563"/>
                </a:xfrm>
                <a:prstGeom prst="rect">
                  <a:avLst/>
                </a:prstGeom>
                <a:solidFill>
                  <a:srgbClr val="8F288C"/>
                </a:solidFill>
                <a:ln>
                  <a:noFill/>
                </a:ln>
              </p:spPr>
              <p:style>
                <a:lnRef idx="2">
                  <a:srgbClr val="2A5F8F">
                    <a:shade val="50000"/>
                  </a:srgbClr>
                </a:lnRef>
                <a:fillRef idx="1">
                  <a:srgbClr val="2A5F8F"/>
                </a:fillRef>
                <a:effectRef idx="0">
                  <a:srgbClr val="2A5F8F"/>
                </a:effectRef>
                <a:fontRef idx="minor">
                  <a:srgbClr val="FFFFFF"/>
                </a:fontRef>
              </p:style>
              <p:txBody>
                <a:bodyPr anchor="ctr"/>
                <a:lstStyle/>
                <a:p>
                  <a:pPr algn="ctr">
                    <a:defRPr/>
                  </a:pPr>
                  <a:endParaRPr lang="en-IN"/>
                </a:p>
              </p:txBody>
            </p:sp>
          </p:grpSp>
          <p:grpSp>
            <p:nvGrpSpPr>
              <p:cNvPr id="11" name="Group 7">
                <a:extLst>
                  <a:ext uri="{FF2B5EF4-FFF2-40B4-BE49-F238E27FC236}">
                    <a16:creationId xmlns:a16="http://schemas.microsoft.com/office/drawing/2014/main" id="{F5B19A97-FB1F-FD32-44EF-0C72BC8DD69D}"/>
                  </a:ext>
                </a:extLst>
              </p:cNvPr>
              <p:cNvGrpSpPr>
                <a:grpSpLocks/>
              </p:cNvGrpSpPr>
              <p:nvPr/>
            </p:nvGrpSpPr>
            <p:grpSpPr bwMode="auto">
              <a:xfrm>
                <a:off x="249774" y="3716063"/>
                <a:ext cx="11668690" cy="2040353"/>
                <a:chOff x="249774" y="3716063"/>
                <a:chExt cx="11668690" cy="2040353"/>
              </a:xfrm>
            </p:grpSpPr>
            <p:cxnSp>
              <p:nvCxnSpPr>
                <p:cNvPr id="12" name="Straight Connector 13">
                  <a:extLst>
                    <a:ext uri="{FF2B5EF4-FFF2-40B4-BE49-F238E27FC236}">
                      <a16:creationId xmlns:a16="http://schemas.microsoft.com/office/drawing/2014/main" id="{6212A6C9-95CF-65EB-6160-29A1FA8799D8}"/>
                    </a:ext>
                  </a:extLst>
                </p:cNvPr>
                <p:cNvCxnSpPr/>
                <p:nvPr/>
              </p:nvCxnSpPr>
              <p:spPr>
                <a:xfrm>
                  <a:off x="2973289" y="3736688"/>
                  <a:ext cx="0" cy="2011409"/>
                </a:xfrm>
                <a:prstGeom prst="line">
                  <a:avLst/>
                </a:prstGeom>
                <a:ln w="12700" cap="rnd">
                  <a:solidFill>
                    <a:srgbClr val="00B0F0"/>
                  </a:solidFill>
                  <a:prstDash val="sysDash"/>
                  <a:round/>
                </a:ln>
              </p:spPr>
              <p:style>
                <a:lnRef idx="1">
                  <a:srgbClr val="2A5F8F"/>
                </a:lnRef>
                <a:fillRef idx="0">
                  <a:srgbClr val="2A5F8F"/>
                </a:fillRef>
                <a:effectRef idx="0">
                  <a:srgbClr val="2A5F8F"/>
                </a:effectRef>
                <a:fontRef idx="minor">
                  <a:srgbClr val="000000"/>
                </a:fontRef>
              </p:style>
            </p:cxnSp>
            <p:cxnSp>
              <p:nvCxnSpPr>
                <p:cNvPr id="13" name="Straight Connector 14">
                  <a:extLst>
                    <a:ext uri="{FF2B5EF4-FFF2-40B4-BE49-F238E27FC236}">
                      <a16:creationId xmlns:a16="http://schemas.microsoft.com/office/drawing/2014/main" id="{5569CE85-C66C-AE72-E1E5-D22A37A01501}"/>
                    </a:ext>
                  </a:extLst>
                </p:cNvPr>
                <p:cNvCxnSpPr/>
                <p:nvPr/>
              </p:nvCxnSpPr>
              <p:spPr>
                <a:xfrm>
                  <a:off x="6226179" y="3736688"/>
                  <a:ext cx="0" cy="2011409"/>
                </a:xfrm>
                <a:prstGeom prst="line">
                  <a:avLst/>
                </a:prstGeom>
                <a:ln w="12700" cap="rnd">
                  <a:solidFill>
                    <a:srgbClr val="00B0F0"/>
                  </a:solidFill>
                  <a:prstDash val="sysDash"/>
                  <a:round/>
                </a:ln>
              </p:spPr>
              <p:style>
                <a:lnRef idx="1">
                  <a:srgbClr val="2A5F8F"/>
                </a:lnRef>
                <a:fillRef idx="0">
                  <a:srgbClr val="2A5F8F"/>
                </a:fillRef>
                <a:effectRef idx="0">
                  <a:srgbClr val="2A5F8F"/>
                </a:effectRef>
                <a:fontRef idx="minor">
                  <a:srgbClr val="000000"/>
                </a:fontRef>
              </p:style>
            </p:cxnSp>
            <p:cxnSp>
              <p:nvCxnSpPr>
                <p:cNvPr id="14" name="Straight Connector 15">
                  <a:extLst>
                    <a:ext uri="{FF2B5EF4-FFF2-40B4-BE49-F238E27FC236}">
                      <a16:creationId xmlns:a16="http://schemas.microsoft.com/office/drawing/2014/main" id="{7FFA3833-E6A1-2A12-9739-19E5C6B0D04D}"/>
                    </a:ext>
                  </a:extLst>
                </p:cNvPr>
                <p:cNvCxnSpPr/>
                <p:nvPr/>
              </p:nvCxnSpPr>
              <p:spPr>
                <a:xfrm>
                  <a:off x="9426680" y="3736688"/>
                  <a:ext cx="0" cy="2011409"/>
                </a:xfrm>
                <a:prstGeom prst="line">
                  <a:avLst/>
                </a:prstGeom>
                <a:ln w="12700" cap="rnd">
                  <a:solidFill>
                    <a:srgbClr val="00B0F0"/>
                  </a:solidFill>
                  <a:prstDash val="sysDash"/>
                  <a:round/>
                </a:ln>
              </p:spPr>
              <p:style>
                <a:lnRef idx="1">
                  <a:srgbClr val="2A5F8F"/>
                </a:lnRef>
                <a:fillRef idx="0">
                  <a:srgbClr val="2A5F8F"/>
                </a:fillRef>
                <a:effectRef idx="0">
                  <a:srgbClr val="2A5F8F"/>
                </a:effectRef>
                <a:fontRef idx="minor">
                  <a:srgbClr val="000000"/>
                </a:fontRef>
              </p:style>
            </p:cxnSp>
            <p:grpSp>
              <p:nvGrpSpPr>
                <p:cNvPr id="15" name="Group 3">
                  <a:extLst>
                    <a:ext uri="{FF2B5EF4-FFF2-40B4-BE49-F238E27FC236}">
                      <a16:creationId xmlns:a16="http://schemas.microsoft.com/office/drawing/2014/main" id="{D6026827-3752-097F-C4B9-B5B0A33C1EE7}"/>
                    </a:ext>
                  </a:extLst>
                </p:cNvPr>
                <p:cNvGrpSpPr>
                  <a:grpSpLocks/>
                </p:cNvGrpSpPr>
                <p:nvPr/>
              </p:nvGrpSpPr>
              <p:grpSpPr bwMode="auto">
                <a:xfrm>
                  <a:off x="6746181" y="3731157"/>
                  <a:ext cx="2280186" cy="1706483"/>
                  <a:chOff x="6498583" y="3532655"/>
                  <a:chExt cx="2280186" cy="1706483"/>
                </a:xfrm>
              </p:grpSpPr>
              <p:grpSp>
                <p:nvGrpSpPr>
                  <p:cNvPr id="16" name="Group 28">
                    <a:extLst>
                      <a:ext uri="{FF2B5EF4-FFF2-40B4-BE49-F238E27FC236}">
                        <a16:creationId xmlns:a16="http://schemas.microsoft.com/office/drawing/2014/main" id="{F6A97133-09A9-4882-223C-0670F6DFD7E0}"/>
                      </a:ext>
                    </a:extLst>
                  </p:cNvPr>
                  <p:cNvGrpSpPr>
                    <a:grpSpLocks/>
                  </p:cNvGrpSpPr>
                  <p:nvPr/>
                </p:nvGrpSpPr>
                <p:grpSpPr bwMode="auto">
                  <a:xfrm>
                    <a:off x="6498583" y="3653110"/>
                    <a:ext cx="2280186" cy="1586028"/>
                    <a:chOff x="6373418" y="3837787"/>
                    <a:chExt cx="2280186" cy="1586028"/>
                  </a:xfrm>
                </p:grpSpPr>
                <p:sp>
                  <p:nvSpPr>
                    <p:cNvPr id="17" name="TextBox 39">
                      <a:extLst>
                        <a:ext uri="{FF2B5EF4-FFF2-40B4-BE49-F238E27FC236}">
                          <a16:creationId xmlns:a16="http://schemas.microsoft.com/office/drawing/2014/main" id="{46D75380-0311-71C0-CC91-426529CAAF89}"/>
                        </a:ext>
                      </a:extLst>
                    </p:cNvPr>
                    <p:cNvSpPr txBox="1">
                      <a:spLocks noChangeArrowheads="1"/>
                    </p:cNvSpPr>
                    <p:nvPr/>
                  </p:nvSpPr>
                  <p:spPr bwMode="auto">
                    <a:xfrm>
                      <a:off x="6734296" y="3837787"/>
                      <a:ext cx="19193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IN" altLang="en-US" sz="1600" b="1">
                          <a:solidFill>
                            <a:srgbClr val="FF4500"/>
                          </a:solidFill>
                        </a:rPr>
                        <a:t>Middle East &amp; Africa</a:t>
                      </a:r>
                    </a:p>
                  </p:txBody>
                </p:sp>
                <p:sp>
                  <p:nvSpPr>
                    <p:cNvPr id="18" name="TextBox 42">
                      <a:extLst>
                        <a:ext uri="{FF2B5EF4-FFF2-40B4-BE49-F238E27FC236}">
                          <a16:creationId xmlns:a16="http://schemas.microsoft.com/office/drawing/2014/main" id="{5809E9B9-E741-68AD-D217-E199E00794EE}"/>
                        </a:ext>
                      </a:extLst>
                    </p:cNvPr>
                    <p:cNvSpPr txBox="1"/>
                    <p:nvPr/>
                  </p:nvSpPr>
                  <p:spPr>
                    <a:xfrm>
                      <a:off x="6374132" y="4322952"/>
                      <a:ext cx="1760594" cy="306395"/>
                    </a:xfrm>
                    <a:prstGeom prst="rect">
                      <a:avLst/>
                    </a:prstGeom>
                    <a:noFill/>
                  </p:spPr>
                  <p:txBody>
                    <a:bodyPr wrap="none">
                      <a:spAutoFit/>
                    </a:bodyPr>
                    <a:lstStyle/>
                    <a:p>
                      <a:pPr>
                        <a:defRPr/>
                      </a:pPr>
                      <a:r>
                        <a:rPr lang="en-IN" sz="1400" b="1" dirty="0">
                          <a:solidFill>
                            <a:srgbClr val="F8F8F8">
                              <a:lumMod val="25000"/>
                            </a:srgbClr>
                          </a:solidFill>
                        </a:rPr>
                        <a:t>Market Access DMCC</a:t>
                      </a:r>
                    </a:p>
                  </p:txBody>
                </p:sp>
                <p:sp>
                  <p:nvSpPr>
                    <p:cNvPr id="19" name="TextBox 41">
                      <a:extLst>
                        <a:ext uri="{FF2B5EF4-FFF2-40B4-BE49-F238E27FC236}">
                          <a16:creationId xmlns:a16="http://schemas.microsoft.com/office/drawing/2014/main" id="{9B546961-C861-56A8-7E65-8596A932CE67}"/>
                        </a:ext>
                      </a:extLst>
                    </p:cNvPr>
                    <p:cNvSpPr txBox="1">
                      <a:spLocks noChangeArrowheads="1"/>
                    </p:cNvSpPr>
                    <p:nvPr/>
                  </p:nvSpPr>
                  <p:spPr bwMode="auto">
                    <a:xfrm>
                      <a:off x="6373418" y="4592818"/>
                      <a:ext cx="212314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1602-6 Jumeirah Bay X2 Tower,</a:t>
                      </a:r>
                    </a:p>
                    <a:p>
                      <a:r>
                        <a:rPr lang="en-US" altLang="en-US" sz="1200"/>
                        <a:t>Plot No: JLT-PH2-X2A,</a:t>
                      </a:r>
                    </a:p>
                    <a:p>
                      <a:r>
                        <a:rPr lang="en-US" altLang="en-US" sz="1200"/>
                        <a:t>Jumeirah Lakes Towers, Dubai,</a:t>
                      </a:r>
                    </a:p>
                    <a:p>
                      <a:r>
                        <a:rPr lang="en-US" altLang="en-US" sz="1200"/>
                        <a:t>United Arab Emirates</a:t>
                      </a:r>
                      <a:endParaRPr lang="en-IN" altLang="en-US" sz="1200"/>
                    </a:p>
                  </p:txBody>
                </p:sp>
              </p:grpSp>
              <p:pic>
                <p:nvPicPr>
                  <p:cNvPr id="20" name="Picture 40">
                    <a:extLst>
                      <a:ext uri="{FF2B5EF4-FFF2-40B4-BE49-F238E27FC236}">
                        <a16:creationId xmlns:a16="http://schemas.microsoft.com/office/drawing/2014/main" id="{5156A16E-B887-4177-3106-696D2F06FC26}"/>
                      </a:ext>
                    </a:extLst>
                  </p:cNvPr>
                  <p:cNvPicPr>
                    <a:picLocks noChangeAspect="1"/>
                  </p:cNvPicPr>
                  <p:nvPr/>
                </p:nvPicPr>
                <p:blipFill>
                  <a:blip r:embed="rId2">
                    <a:duotone>
                      <a:srgbClr val="A35313">
                        <a:shade val="45000"/>
                        <a:satMod val="135000"/>
                      </a:srgbClr>
                      <a:prstClr val="white"/>
                    </a:duotone>
                  </a:blip>
                  <a:stretch>
                    <a:fillRect/>
                  </a:stretch>
                </p:blipFill>
                <p:spPr>
                  <a:xfrm>
                    <a:off x="6553299" y="3532655"/>
                    <a:ext cx="314753" cy="579465"/>
                  </a:xfrm>
                  <a:prstGeom prst="rect">
                    <a:avLst/>
                  </a:prstGeom>
                </p:spPr>
              </p:pic>
            </p:grpSp>
            <p:grpSp>
              <p:nvGrpSpPr>
                <p:cNvPr id="21" name="Group 5">
                  <a:extLst>
                    <a:ext uri="{FF2B5EF4-FFF2-40B4-BE49-F238E27FC236}">
                      <a16:creationId xmlns:a16="http://schemas.microsoft.com/office/drawing/2014/main" id="{2A4B2992-1262-B6DC-A65D-C0A800D496DF}"/>
                    </a:ext>
                  </a:extLst>
                </p:cNvPr>
                <p:cNvGrpSpPr>
                  <a:grpSpLocks/>
                </p:cNvGrpSpPr>
                <p:nvPr/>
              </p:nvGrpSpPr>
              <p:grpSpPr bwMode="auto">
                <a:xfrm>
                  <a:off x="3461337" y="3716063"/>
                  <a:ext cx="2276777" cy="2040353"/>
                  <a:chOff x="3837718" y="3645035"/>
                  <a:chExt cx="2276777" cy="2040353"/>
                </a:xfrm>
              </p:grpSpPr>
              <p:grpSp>
                <p:nvGrpSpPr>
                  <p:cNvPr id="22" name="Group 27">
                    <a:extLst>
                      <a:ext uri="{FF2B5EF4-FFF2-40B4-BE49-F238E27FC236}">
                        <a16:creationId xmlns:a16="http://schemas.microsoft.com/office/drawing/2014/main" id="{6828E551-2150-B3BA-D2CA-97B824FA8924}"/>
                      </a:ext>
                    </a:extLst>
                  </p:cNvPr>
                  <p:cNvGrpSpPr>
                    <a:grpSpLocks/>
                  </p:cNvGrpSpPr>
                  <p:nvPr/>
                </p:nvGrpSpPr>
                <p:grpSpPr bwMode="auto">
                  <a:xfrm>
                    <a:off x="3837718" y="3780584"/>
                    <a:ext cx="2276777" cy="1904804"/>
                    <a:chOff x="3358345" y="3965261"/>
                    <a:chExt cx="2276777" cy="1904804"/>
                  </a:xfrm>
                </p:grpSpPr>
                <p:sp>
                  <p:nvSpPr>
                    <p:cNvPr id="23" name="TextBox 42">
                      <a:extLst>
                        <a:ext uri="{FF2B5EF4-FFF2-40B4-BE49-F238E27FC236}">
                          <a16:creationId xmlns:a16="http://schemas.microsoft.com/office/drawing/2014/main" id="{A41A6F39-951D-AE17-5A44-85C21DFFF8C3}"/>
                        </a:ext>
                      </a:extLst>
                    </p:cNvPr>
                    <p:cNvSpPr txBox="1">
                      <a:spLocks noChangeArrowheads="1"/>
                    </p:cNvSpPr>
                    <p:nvPr/>
                  </p:nvSpPr>
                  <p:spPr bwMode="auto">
                    <a:xfrm>
                      <a:off x="3744196" y="3965261"/>
                      <a:ext cx="97052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IN" altLang="en-US" sz="1600" b="1">
                          <a:solidFill>
                            <a:srgbClr val="048B42"/>
                          </a:solidFill>
                        </a:rPr>
                        <a:t>Americas</a:t>
                      </a:r>
                    </a:p>
                  </p:txBody>
                </p:sp>
                <p:sp>
                  <p:nvSpPr>
                    <p:cNvPr id="24" name="TextBox 36">
                      <a:extLst>
                        <a:ext uri="{FF2B5EF4-FFF2-40B4-BE49-F238E27FC236}">
                          <a16:creationId xmlns:a16="http://schemas.microsoft.com/office/drawing/2014/main" id="{40F1E73B-005C-8069-CCAA-3318246B265D}"/>
                        </a:ext>
                      </a:extLst>
                    </p:cNvPr>
                    <p:cNvSpPr txBox="1"/>
                    <p:nvPr/>
                  </p:nvSpPr>
                  <p:spPr>
                    <a:xfrm>
                      <a:off x="3357675" y="4448839"/>
                      <a:ext cx="1871722" cy="307982"/>
                    </a:xfrm>
                    <a:prstGeom prst="rect">
                      <a:avLst/>
                    </a:prstGeom>
                    <a:noFill/>
                  </p:spPr>
                  <p:txBody>
                    <a:bodyPr wrap="none">
                      <a:spAutoFit/>
                    </a:bodyPr>
                    <a:lstStyle/>
                    <a:p>
                      <a:pPr>
                        <a:defRPr/>
                      </a:pPr>
                      <a:r>
                        <a:rPr lang="en-IN" sz="1400" b="1" dirty="0">
                          <a:solidFill>
                            <a:srgbClr val="F8F8F8">
                              <a:lumMod val="25000"/>
                            </a:srgbClr>
                          </a:solidFill>
                        </a:rPr>
                        <a:t>Future Market Insights</a:t>
                      </a:r>
                    </a:p>
                  </p:txBody>
                </p:sp>
                <p:sp>
                  <p:nvSpPr>
                    <p:cNvPr id="25" name="TextBox 44">
                      <a:extLst>
                        <a:ext uri="{FF2B5EF4-FFF2-40B4-BE49-F238E27FC236}">
                          <a16:creationId xmlns:a16="http://schemas.microsoft.com/office/drawing/2014/main" id="{4ACA2C08-410D-CEED-63E0-EB4A1E0D76C3}"/>
                        </a:ext>
                      </a:extLst>
                    </p:cNvPr>
                    <p:cNvSpPr txBox="1">
                      <a:spLocks noChangeArrowheads="1"/>
                    </p:cNvSpPr>
                    <p:nvPr/>
                  </p:nvSpPr>
                  <p:spPr bwMode="auto">
                    <a:xfrm>
                      <a:off x="3358345" y="4720292"/>
                      <a:ext cx="227677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616 Corporate Way, Suite 2-9018,</a:t>
                      </a:r>
                    </a:p>
                    <a:p>
                      <a:r>
                        <a:rPr lang="en-US" altLang="en-US" sz="1200"/>
                        <a:t>Valley Cottage, NY 10989,</a:t>
                      </a:r>
                    </a:p>
                    <a:p>
                      <a:r>
                        <a:rPr lang="en-US" altLang="en-US" sz="1200"/>
                        <a:t>United States</a:t>
                      </a:r>
                      <a:endParaRPr lang="en-IN" altLang="en-US" sz="1200"/>
                    </a:p>
                  </p:txBody>
                </p:sp>
                <p:sp>
                  <p:nvSpPr>
                    <p:cNvPr id="26" name="TextBox 45">
                      <a:extLst>
                        <a:ext uri="{FF2B5EF4-FFF2-40B4-BE49-F238E27FC236}">
                          <a16:creationId xmlns:a16="http://schemas.microsoft.com/office/drawing/2014/main" id="{FE65EAAC-CE25-57B8-E88C-905CD3E8F924}"/>
                        </a:ext>
                      </a:extLst>
                    </p:cNvPr>
                    <p:cNvSpPr txBox="1">
                      <a:spLocks noChangeArrowheads="1"/>
                    </p:cNvSpPr>
                    <p:nvPr/>
                  </p:nvSpPr>
                  <p:spPr bwMode="auto">
                    <a:xfrm>
                      <a:off x="3358345" y="5593066"/>
                      <a:ext cx="1407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T: +1-347-918-3531</a:t>
                      </a:r>
                      <a:endParaRPr lang="en-IN" altLang="en-US" sz="1200"/>
                    </a:p>
                  </p:txBody>
                </p:sp>
              </p:grpSp>
              <p:pic>
                <p:nvPicPr>
                  <p:cNvPr id="27" name="Picture 34">
                    <a:extLst>
                      <a:ext uri="{FF2B5EF4-FFF2-40B4-BE49-F238E27FC236}">
                        <a16:creationId xmlns:a16="http://schemas.microsoft.com/office/drawing/2014/main" id="{AE4DE93F-AF7B-7477-A367-DD4AF96A40A2}"/>
                      </a:ext>
                    </a:extLst>
                  </p:cNvPr>
                  <p:cNvPicPr>
                    <a:picLocks noChangeAspect="1"/>
                  </p:cNvPicPr>
                  <p:nvPr/>
                </p:nvPicPr>
                <p:blipFill>
                  <a:blip r:embed="rId3">
                    <a:duotone>
                      <a:srgbClr val="008189">
                        <a:shade val="45000"/>
                        <a:satMod val="135000"/>
                      </a:srgbClr>
                      <a:prstClr val="white"/>
                    </a:duotone>
                  </a:blip>
                  <a:stretch>
                    <a:fillRect/>
                  </a:stretch>
                </p:blipFill>
                <p:spPr>
                  <a:xfrm>
                    <a:off x="3941302" y="3645035"/>
                    <a:ext cx="304826" cy="609653"/>
                  </a:xfrm>
                  <a:prstGeom prst="rect">
                    <a:avLst/>
                  </a:prstGeom>
                </p:spPr>
              </p:pic>
            </p:grpSp>
            <p:grpSp>
              <p:nvGrpSpPr>
                <p:cNvPr id="28" name="Group 6">
                  <a:extLst>
                    <a:ext uri="{FF2B5EF4-FFF2-40B4-BE49-F238E27FC236}">
                      <a16:creationId xmlns:a16="http://schemas.microsoft.com/office/drawing/2014/main" id="{190EABA1-B31E-3B09-B1F2-A13884B8AD17}"/>
                    </a:ext>
                  </a:extLst>
                </p:cNvPr>
                <p:cNvGrpSpPr>
                  <a:grpSpLocks/>
                </p:cNvGrpSpPr>
                <p:nvPr/>
              </p:nvGrpSpPr>
              <p:grpSpPr bwMode="auto">
                <a:xfrm>
                  <a:off x="249774" y="3783125"/>
                  <a:ext cx="2236703" cy="1973291"/>
                  <a:chOff x="1216927" y="3772923"/>
                  <a:chExt cx="2236703" cy="1973291"/>
                </a:xfrm>
              </p:grpSpPr>
              <p:grpSp>
                <p:nvGrpSpPr>
                  <p:cNvPr id="29" name="Group 25">
                    <a:extLst>
                      <a:ext uri="{FF2B5EF4-FFF2-40B4-BE49-F238E27FC236}">
                        <a16:creationId xmlns:a16="http://schemas.microsoft.com/office/drawing/2014/main" id="{A1A8DC19-AF5B-6C89-F2CD-2778F01B419C}"/>
                      </a:ext>
                    </a:extLst>
                  </p:cNvPr>
                  <p:cNvGrpSpPr>
                    <a:grpSpLocks/>
                  </p:cNvGrpSpPr>
                  <p:nvPr/>
                </p:nvGrpSpPr>
                <p:grpSpPr bwMode="auto">
                  <a:xfrm>
                    <a:off x="1216927" y="3841410"/>
                    <a:ext cx="2236703" cy="1904804"/>
                    <a:chOff x="343272" y="4026087"/>
                    <a:chExt cx="2236703" cy="1904804"/>
                  </a:xfrm>
                </p:grpSpPr>
                <p:sp>
                  <p:nvSpPr>
                    <p:cNvPr id="30" name="TextBox 29">
                      <a:extLst>
                        <a:ext uri="{FF2B5EF4-FFF2-40B4-BE49-F238E27FC236}">
                          <a16:creationId xmlns:a16="http://schemas.microsoft.com/office/drawing/2014/main" id="{C78C136C-FF65-10A5-69D0-6976A498591E}"/>
                        </a:ext>
                      </a:extLst>
                    </p:cNvPr>
                    <p:cNvSpPr txBox="1"/>
                    <p:nvPr/>
                  </p:nvSpPr>
                  <p:spPr>
                    <a:xfrm>
                      <a:off x="963283" y="4025467"/>
                      <a:ext cx="1347831" cy="338146"/>
                    </a:xfrm>
                    <a:prstGeom prst="rect">
                      <a:avLst/>
                    </a:prstGeom>
                    <a:noFill/>
                  </p:spPr>
                  <p:txBody>
                    <a:bodyPr wrap="none">
                      <a:spAutoFit/>
                    </a:bodyPr>
                    <a:lstStyle/>
                    <a:p>
                      <a:pPr>
                        <a:defRPr/>
                      </a:pPr>
                      <a:r>
                        <a:rPr lang="en-IN" sz="1600" b="1" dirty="0">
                          <a:solidFill>
                            <a:srgbClr val="2A5F8F">
                              <a:lumMod val="50000"/>
                            </a:srgbClr>
                          </a:solidFill>
                        </a:rPr>
                        <a:t>Headquarters</a:t>
                      </a:r>
                    </a:p>
                  </p:txBody>
                </p:sp>
                <p:sp>
                  <p:nvSpPr>
                    <p:cNvPr id="31" name="TextBox 30">
                      <a:extLst>
                        <a:ext uri="{FF2B5EF4-FFF2-40B4-BE49-F238E27FC236}">
                          <a16:creationId xmlns:a16="http://schemas.microsoft.com/office/drawing/2014/main" id="{5CFB6527-6D97-69B5-C71C-CC03EB68BBF7}"/>
                        </a:ext>
                      </a:extLst>
                    </p:cNvPr>
                    <p:cNvSpPr txBox="1"/>
                    <p:nvPr/>
                  </p:nvSpPr>
                  <p:spPr>
                    <a:xfrm>
                      <a:off x="342551" y="4509666"/>
                      <a:ext cx="2225746" cy="307982"/>
                    </a:xfrm>
                    <a:prstGeom prst="rect">
                      <a:avLst/>
                    </a:prstGeom>
                    <a:noFill/>
                  </p:spPr>
                  <p:txBody>
                    <a:bodyPr wrap="none">
                      <a:spAutoFit/>
                    </a:bodyPr>
                    <a:lstStyle/>
                    <a:p>
                      <a:pPr>
                        <a:defRPr/>
                      </a:pPr>
                      <a:r>
                        <a:rPr lang="en-IN" sz="1400" b="1" dirty="0">
                          <a:solidFill>
                            <a:srgbClr val="F8F8F8">
                              <a:lumMod val="25000"/>
                            </a:srgbClr>
                          </a:solidFill>
                        </a:rPr>
                        <a:t>Future Market Insights, Inc.</a:t>
                      </a:r>
                    </a:p>
                  </p:txBody>
                </p:sp>
                <p:sp>
                  <p:nvSpPr>
                    <p:cNvPr id="32" name="TextBox 48">
                      <a:extLst>
                        <a:ext uri="{FF2B5EF4-FFF2-40B4-BE49-F238E27FC236}">
                          <a16:creationId xmlns:a16="http://schemas.microsoft.com/office/drawing/2014/main" id="{5E42A1C6-BB29-D226-788C-C515B7D7F676}"/>
                        </a:ext>
                      </a:extLst>
                    </p:cNvPr>
                    <p:cNvSpPr txBox="1">
                      <a:spLocks noChangeArrowheads="1"/>
                    </p:cNvSpPr>
                    <p:nvPr/>
                  </p:nvSpPr>
                  <p:spPr bwMode="auto">
                    <a:xfrm>
                      <a:off x="343272" y="4781118"/>
                      <a:ext cx="223670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Christiana Corporate,</a:t>
                      </a:r>
                    </a:p>
                    <a:p>
                      <a:r>
                        <a:rPr lang="en-US" altLang="en-US" sz="1200"/>
                        <a:t>200 Continental Drive, Suite 401,</a:t>
                      </a:r>
                    </a:p>
                    <a:p>
                      <a:r>
                        <a:rPr lang="en-US" altLang="en-US" sz="1200"/>
                        <a:t>Newark, Delaware - 19713,</a:t>
                      </a:r>
                    </a:p>
                    <a:p>
                      <a:r>
                        <a:rPr lang="en-US" altLang="en-US" sz="1200"/>
                        <a:t>United States</a:t>
                      </a:r>
                      <a:endParaRPr lang="en-IN" altLang="en-US" sz="1200"/>
                    </a:p>
                  </p:txBody>
                </p:sp>
                <p:sp>
                  <p:nvSpPr>
                    <p:cNvPr id="33" name="TextBox 49">
                      <a:extLst>
                        <a:ext uri="{FF2B5EF4-FFF2-40B4-BE49-F238E27FC236}">
                          <a16:creationId xmlns:a16="http://schemas.microsoft.com/office/drawing/2014/main" id="{7B0EBAC2-0F15-2082-71DE-E18F4A36524D}"/>
                        </a:ext>
                      </a:extLst>
                    </p:cNvPr>
                    <p:cNvSpPr txBox="1">
                      <a:spLocks noChangeArrowheads="1"/>
                    </p:cNvSpPr>
                    <p:nvPr/>
                  </p:nvSpPr>
                  <p:spPr bwMode="auto">
                    <a:xfrm>
                      <a:off x="343272" y="5653892"/>
                      <a:ext cx="1407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T: +1-845-579-5705</a:t>
                      </a:r>
                      <a:endParaRPr lang="en-IN" altLang="en-US" sz="1200"/>
                    </a:p>
                  </p:txBody>
                </p:sp>
              </p:grpSp>
              <p:pic>
                <p:nvPicPr>
                  <p:cNvPr id="34" name="Picture 28">
                    <a:extLst>
                      <a:ext uri="{FF2B5EF4-FFF2-40B4-BE49-F238E27FC236}">
                        <a16:creationId xmlns:a16="http://schemas.microsoft.com/office/drawing/2014/main" id="{B598E670-72B9-922C-CBE9-A98B47FD87DC}"/>
                      </a:ext>
                    </a:extLst>
                  </p:cNvPr>
                  <p:cNvPicPr>
                    <a:picLocks noChangeAspect="1"/>
                  </p:cNvPicPr>
                  <p:nvPr/>
                </p:nvPicPr>
                <p:blipFill>
                  <a:blip r:embed="rId4">
                    <a:duotone>
                      <a:srgbClr val="2A5F8F">
                        <a:shade val="45000"/>
                        <a:satMod val="135000"/>
                      </a:srgbClr>
                      <a:prstClr val="white"/>
                    </a:duotone>
                  </a:blip>
                  <a:stretch>
                    <a:fillRect/>
                  </a:stretch>
                </p:blipFill>
                <p:spPr>
                  <a:xfrm>
                    <a:off x="1306513" y="3772923"/>
                    <a:ext cx="469433" cy="475529"/>
                  </a:xfrm>
                  <a:prstGeom prst="rect">
                    <a:avLst/>
                  </a:prstGeom>
                </p:spPr>
              </p:pic>
            </p:grpSp>
            <p:grpSp>
              <p:nvGrpSpPr>
                <p:cNvPr id="35" name="Group 2">
                  <a:extLst>
                    <a:ext uri="{FF2B5EF4-FFF2-40B4-BE49-F238E27FC236}">
                      <a16:creationId xmlns:a16="http://schemas.microsoft.com/office/drawing/2014/main" id="{4F9635CF-9D3F-75B0-5B7E-AEF9828266C3}"/>
                    </a:ext>
                  </a:extLst>
                </p:cNvPr>
                <p:cNvGrpSpPr>
                  <a:grpSpLocks/>
                </p:cNvGrpSpPr>
                <p:nvPr/>
              </p:nvGrpSpPr>
              <p:grpSpPr bwMode="auto">
                <a:xfrm>
                  <a:off x="9935559" y="3767762"/>
                  <a:ext cx="1982905" cy="1988654"/>
                  <a:chOff x="9005815" y="3745083"/>
                  <a:chExt cx="1982905" cy="1988654"/>
                </a:xfrm>
              </p:grpSpPr>
              <p:grpSp>
                <p:nvGrpSpPr>
                  <p:cNvPr id="36" name="Group 29">
                    <a:extLst>
                      <a:ext uri="{FF2B5EF4-FFF2-40B4-BE49-F238E27FC236}">
                        <a16:creationId xmlns:a16="http://schemas.microsoft.com/office/drawing/2014/main" id="{17F31F47-291F-4405-8AEA-EC1AAB6AA332}"/>
                      </a:ext>
                    </a:extLst>
                  </p:cNvPr>
                  <p:cNvGrpSpPr>
                    <a:grpSpLocks/>
                  </p:cNvGrpSpPr>
                  <p:nvPr/>
                </p:nvGrpSpPr>
                <p:grpSpPr bwMode="auto">
                  <a:xfrm>
                    <a:off x="9005815" y="3828933"/>
                    <a:ext cx="1982905" cy="1904804"/>
                    <a:chOff x="9388489" y="4013610"/>
                    <a:chExt cx="1982905" cy="1904804"/>
                  </a:xfrm>
                </p:grpSpPr>
                <p:sp>
                  <p:nvSpPr>
                    <p:cNvPr id="37" name="TextBox 32">
                      <a:extLst>
                        <a:ext uri="{FF2B5EF4-FFF2-40B4-BE49-F238E27FC236}">
                          <a16:creationId xmlns:a16="http://schemas.microsoft.com/office/drawing/2014/main" id="{C20F854C-8002-E239-0772-DDA0A057E702}"/>
                        </a:ext>
                      </a:extLst>
                    </p:cNvPr>
                    <p:cNvSpPr txBox="1">
                      <a:spLocks noChangeArrowheads="1"/>
                    </p:cNvSpPr>
                    <p:nvPr/>
                  </p:nvSpPr>
                  <p:spPr bwMode="auto">
                    <a:xfrm>
                      <a:off x="9829414" y="4013610"/>
                      <a:ext cx="7897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IN" altLang="en-US" sz="1600" b="1">
                          <a:solidFill>
                            <a:srgbClr val="8F288C"/>
                          </a:solidFill>
                        </a:rPr>
                        <a:t>Europe</a:t>
                      </a:r>
                    </a:p>
                  </p:txBody>
                </p:sp>
                <p:sp>
                  <p:nvSpPr>
                    <p:cNvPr id="38" name="TextBox 23">
                      <a:extLst>
                        <a:ext uri="{FF2B5EF4-FFF2-40B4-BE49-F238E27FC236}">
                          <a16:creationId xmlns:a16="http://schemas.microsoft.com/office/drawing/2014/main" id="{3322F8A5-D2B8-33CA-96AC-DF4EE7ACCB80}"/>
                        </a:ext>
                      </a:extLst>
                    </p:cNvPr>
                    <p:cNvSpPr txBox="1"/>
                    <p:nvPr/>
                  </p:nvSpPr>
                  <p:spPr>
                    <a:xfrm>
                      <a:off x="9389214" y="4498775"/>
                      <a:ext cx="1870134" cy="307982"/>
                    </a:xfrm>
                    <a:prstGeom prst="rect">
                      <a:avLst/>
                    </a:prstGeom>
                    <a:noFill/>
                  </p:spPr>
                  <p:txBody>
                    <a:bodyPr wrap="none">
                      <a:spAutoFit/>
                    </a:bodyPr>
                    <a:lstStyle/>
                    <a:p>
                      <a:pPr>
                        <a:defRPr/>
                      </a:pPr>
                      <a:r>
                        <a:rPr lang="en-IN" sz="1400" b="1" dirty="0">
                          <a:solidFill>
                            <a:srgbClr val="F8F8F8">
                              <a:lumMod val="25000"/>
                            </a:srgbClr>
                          </a:solidFill>
                        </a:rPr>
                        <a:t>Future Market Insights</a:t>
                      </a:r>
                    </a:p>
                  </p:txBody>
                </p:sp>
                <p:sp>
                  <p:nvSpPr>
                    <p:cNvPr id="39" name="TextBox 36">
                      <a:extLst>
                        <a:ext uri="{FF2B5EF4-FFF2-40B4-BE49-F238E27FC236}">
                          <a16:creationId xmlns:a16="http://schemas.microsoft.com/office/drawing/2014/main" id="{BF5AF88F-6B60-2785-4EAA-4D18C1EE2E10}"/>
                        </a:ext>
                      </a:extLst>
                    </p:cNvPr>
                    <p:cNvSpPr txBox="1">
                      <a:spLocks noChangeArrowheads="1"/>
                    </p:cNvSpPr>
                    <p:nvPr/>
                  </p:nvSpPr>
                  <p:spPr bwMode="auto">
                    <a:xfrm>
                      <a:off x="9402137" y="4768641"/>
                      <a:ext cx="196925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3rd Floor, 207 Regent Street,</a:t>
                      </a:r>
                    </a:p>
                    <a:p>
                      <a:r>
                        <a:rPr lang="en-US" altLang="en-US" sz="1200"/>
                        <a:t>London W1B 3HH</a:t>
                      </a:r>
                    </a:p>
                    <a:p>
                      <a:r>
                        <a:rPr lang="en-US" altLang="en-US" sz="1200"/>
                        <a:t>United Kingdom</a:t>
                      </a:r>
                      <a:endParaRPr lang="en-IN" altLang="en-US" sz="1200"/>
                    </a:p>
                  </p:txBody>
                </p:sp>
                <p:sp>
                  <p:nvSpPr>
                    <p:cNvPr id="40" name="TextBox 37">
                      <a:extLst>
                        <a:ext uri="{FF2B5EF4-FFF2-40B4-BE49-F238E27FC236}">
                          <a16:creationId xmlns:a16="http://schemas.microsoft.com/office/drawing/2014/main" id="{6C7DE665-66A8-41DE-5008-32252CDA85C7}"/>
                        </a:ext>
                      </a:extLst>
                    </p:cNvPr>
                    <p:cNvSpPr txBox="1">
                      <a:spLocks noChangeArrowheads="1"/>
                    </p:cNvSpPr>
                    <p:nvPr/>
                  </p:nvSpPr>
                  <p:spPr bwMode="auto">
                    <a:xfrm>
                      <a:off x="9388489" y="5641415"/>
                      <a:ext cx="168828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D: +44 (0) 20 3287 4268</a:t>
                      </a:r>
                      <a:endParaRPr lang="en-IN" altLang="en-US" sz="1200"/>
                    </a:p>
                  </p:txBody>
                </p:sp>
                <p:sp>
                  <p:nvSpPr>
                    <p:cNvPr id="41" name="TextBox 38">
                      <a:extLst>
                        <a:ext uri="{FF2B5EF4-FFF2-40B4-BE49-F238E27FC236}">
                          <a16:creationId xmlns:a16="http://schemas.microsoft.com/office/drawing/2014/main" id="{7192F681-8D30-360D-BE9D-3B3024A1F2DD}"/>
                        </a:ext>
                      </a:extLst>
                    </p:cNvPr>
                    <p:cNvSpPr txBox="1">
                      <a:spLocks noChangeArrowheads="1"/>
                    </p:cNvSpPr>
                    <p:nvPr/>
                  </p:nvSpPr>
                  <p:spPr bwMode="auto">
                    <a:xfrm>
                      <a:off x="9388489" y="5392439"/>
                      <a:ext cx="16942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r>
                        <a:rPr lang="en-US" altLang="en-US" sz="1200"/>
                        <a:t>T: + 44 (0) 20 8123 9659</a:t>
                      </a:r>
                      <a:endParaRPr lang="en-IN" altLang="en-US" sz="1200"/>
                    </a:p>
                  </p:txBody>
                </p:sp>
              </p:grpSp>
              <p:pic>
                <p:nvPicPr>
                  <p:cNvPr id="42" name="Picture 21">
                    <a:extLst>
                      <a:ext uri="{FF2B5EF4-FFF2-40B4-BE49-F238E27FC236}">
                        <a16:creationId xmlns:a16="http://schemas.microsoft.com/office/drawing/2014/main" id="{0DB190B5-E4D9-2234-7560-F46B079C348A}"/>
                      </a:ext>
                    </a:extLst>
                  </p:cNvPr>
                  <p:cNvPicPr>
                    <a:picLocks noChangeAspect="1"/>
                  </p:cNvPicPr>
                  <p:nvPr/>
                </p:nvPicPr>
                <p:blipFill>
                  <a:blip r:embed="rId5">
                    <a:duotone>
                      <a:srgbClr val="40315E">
                        <a:shade val="45000"/>
                        <a:satMod val="135000"/>
                      </a:srgbClr>
                      <a:prstClr val="white"/>
                    </a:duotone>
                  </a:blip>
                  <a:stretch>
                    <a:fillRect/>
                  </a:stretch>
                </p:blipFill>
                <p:spPr>
                  <a:xfrm>
                    <a:off x="9124235" y="3745083"/>
                    <a:ext cx="348835" cy="506254"/>
                  </a:xfrm>
                  <a:prstGeom prst="rect">
                    <a:avLst/>
                  </a:prstGeom>
                </p:spPr>
              </p:pic>
            </p:grpSp>
          </p:grpSp>
          <p:sp>
            <p:nvSpPr>
              <p:cNvPr id="43" name="TextBox 55">
                <a:extLst>
                  <a:ext uri="{FF2B5EF4-FFF2-40B4-BE49-F238E27FC236}">
                    <a16:creationId xmlns:a16="http://schemas.microsoft.com/office/drawing/2014/main" id="{143EC9E9-5458-9CB8-6ACE-446AFE79BB51}"/>
                  </a:ext>
                </a:extLst>
              </p:cNvPr>
              <p:cNvSpPr txBox="1">
                <a:spLocks noChangeArrowheads="1"/>
              </p:cNvSpPr>
              <p:nvPr/>
            </p:nvSpPr>
            <p:spPr bwMode="auto">
              <a:xfrm>
                <a:off x="274514" y="798871"/>
                <a:ext cx="1890261" cy="2041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rgbClr val="000000"/>
                    </a:solidFill>
                    <a:latin typeface="Arial" panose="020B0604020202020204" pitchFamily="34" charset="0"/>
                    <a:cs typeface="Arial" panose="020B0604020202020204" pitchFamily="34" charset="0"/>
                  </a:defRPr>
                </a:lvl1pPr>
                <a:lvl2pPr marL="742950" indent="-285750">
                  <a:defRPr>
                    <a:solidFill>
                      <a:srgbClr val="000000"/>
                    </a:solidFill>
                    <a:latin typeface="Arial" panose="020B0604020202020204" pitchFamily="34" charset="0"/>
                    <a:cs typeface="Arial" panose="020B0604020202020204" pitchFamily="34" charset="0"/>
                  </a:defRPr>
                </a:lvl2pPr>
                <a:lvl3pPr marL="1143000" indent="-228600">
                  <a:defRPr>
                    <a:solidFill>
                      <a:srgbClr val="000000"/>
                    </a:solidFill>
                    <a:latin typeface="Arial" panose="020B0604020202020204" pitchFamily="34" charset="0"/>
                    <a:cs typeface="Arial" panose="020B0604020202020204" pitchFamily="34" charset="0"/>
                  </a:defRPr>
                </a:lvl3pPr>
                <a:lvl4pPr marL="1600200" indent="-228600">
                  <a:defRPr>
                    <a:solidFill>
                      <a:srgbClr val="000000"/>
                    </a:solidFill>
                    <a:latin typeface="Arial" panose="020B0604020202020204" pitchFamily="34" charset="0"/>
                    <a:cs typeface="Arial" panose="020B0604020202020204" pitchFamily="34" charset="0"/>
                  </a:defRPr>
                </a:lvl4pPr>
                <a:lvl5pPr marL="2057400" indent="-228600">
                  <a:defRPr>
                    <a:solidFill>
                      <a:srgbClr val="000000"/>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rgbClr val="000000"/>
                    </a:solidFill>
                    <a:latin typeface="Arial" panose="020B0604020202020204" pitchFamily="34" charset="0"/>
                    <a:cs typeface="Arial" panose="020B0604020202020204" pitchFamily="34" charset="0"/>
                  </a:defRPr>
                </a:lvl9pPr>
              </a:lstStyle>
              <a:p>
                <a:pPr algn="ctr">
                  <a:lnSpc>
                    <a:spcPts val="7600"/>
                  </a:lnSpc>
                </a:pPr>
                <a:r>
                  <a:rPr lang="en-IN" altLang="en-US" sz="8000">
                    <a:solidFill>
                      <a:srgbClr val="00B0F0"/>
                    </a:solidFill>
                    <a:latin typeface="Juxtaposer"/>
                  </a:rPr>
                  <a:t>Thank</a:t>
                </a:r>
                <a:br>
                  <a:rPr lang="en-IN" altLang="en-US" sz="8000">
                    <a:solidFill>
                      <a:srgbClr val="00B0F0"/>
                    </a:solidFill>
                    <a:latin typeface="Juxtaposer"/>
                  </a:rPr>
                </a:br>
                <a:r>
                  <a:rPr lang="en-IN" altLang="en-US" sz="8000">
                    <a:solidFill>
                      <a:srgbClr val="00B0F0"/>
                    </a:solidFill>
                    <a:latin typeface="Juxtaposer"/>
                  </a:rPr>
                  <a:t>You</a:t>
                </a:r>
              </a:p>
            </p:txBody>
          </p:sp>
          <p:pic>
            <p:nvPicPr>
              <p:cNvPr id="44" name="Picture 10">
                <a:extLst>
                  <a:ext uri="{FF2B5EF4-FFF2-40B4-BE49-F238E27FC236}">
                    <a16:creationId xmlns:a16="http://schemas.microsoft.com/office/drawing/2014/main" id="{BB144989-CF53-8B1E-220B-C1AE23628EE7}"/>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492719" y="229820"/>
                <a:ext cx="3171090" cy="3179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5" name="Group 19">
                <a:extLst>
                  <a:ext uri="{FF2B5EF4-FFF2-40B4-BE49-F238E27FC236}">
                    <a16:creationId xmlns:a16="http://schemas.microsoft.com/office/drawing/2014/main" id="{31EE7083-91D9-EAE9-7B4A-61CD2CD28015}"/>
                  </a:ext>
                </a:extLst>
              </p:cNvPr>
              <p:cNvGrpSpPr>
                <a:grpSpLocks/>
              </p:cNvGrpSpPr>
              <p:nvPr/>
            </p:nvGrpSpPr>
            <p:grpSpPr bwMode="auto">
              <a:xfrm>
                <a:off x="6166925" y="272562"/>
                <a:ext cx="5750562" cy="3051976"/>
                <a:chOff x="6166925" y="272562"/>
                <a:chExt cx="5750562" cy="3051976"/>
              </a:xfrm>
            </p:grpSpPr>
            <p:pic>
              <p:nvPicPr>
                <p:cNvPr id="46" name="Picture 1">
                  <a:extLst>
                    <a:ext uri="{FF2B5EF4-FFF2-40B4-BE49-F238E27FC236}">
                      <a16:creationId xmlns:a16="http://schemas.microsoft.com/office/drawing/2014/main" id="{021C83A4-8483-5171-EA6C-FF76CE65A12D}"/>
                    </a:ext>
                  </a:extLst>
                </p:cNvPr>
                <p:cNvPicPr>
                  <a:picLocks noChangeAspect="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166925" y="2103900"/>
                  <a:ext cx="5750562" cy="12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58">
                  <a:extLst>
                    <a:ext uri="{FF2B5EF4-FFF2-40B4-BE49-F238E27FC236}">
                      <a16:creationId xmlns:a16="http://schemas.microsoft.com/office/drawing/2014/main" id="{38693FBE-DE43-1025-B0DC-2ADDCCB25AB1}"/>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7493725" y="272562"/>
                  <a:ext cx="3096962" cy="1740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Tree>
  </p:cSld>
  <p:clrMapOvr>
    <a:masterClrMapping/>
  </p:clrMapOvr>
</p:sld>
</file>

<file path=ppt/theme/theme1.xml><?xml version="1.0" encoding="utf-8"?>
<a:theme xmlns:a="http://schemas.openxmlformats.org/drawingml/2006/main" name="Office Theme">
  <a:themeElements>
    <a:clrScheme name="Custom 70">
      <a:dk1>
        <a:sysClr val="windowText" lastClr="000000"/>
      </a:dk1>
      <a:lt1>
        <a:sysClr val="window" lastClr="FFFFFF"/>
      </a:lt1>
      <a:dk2>
        <a:srgbClr val="000000"/>
      </a:dk2>
      <a:lt2>
        <a:srgbClr val="F8F8F8"/>
      </a:lt2>
      <a:accent1>
        <a:srgbClr val="3D85C6"/>
      </a:accent1>
      <a:accent2>
        <a:srgbClr val="9E7E0A"/>
      </a:accent2>
      <a:accent3>
        <a:srgbClr val="40315E"/>
      </a:accent3>
      <a:accent4>
        <a:srgbClr val="008189"/>
      </a:accent4>
      <a:accent5>
        <a:srgbClr val="A35313"/>
      </a:accent5>
      <a:accent6>
        <a:srgbClr val="5F5F5F"/>
      </a:accent6>
      <a:hlink>
        <a:srgbClr val="5F5F5F"/>
      </a:hlink>
      <a:folHlink>
        <a:srgbClr val="919191"/>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TotalTime>
  <Words>0</Words>
  <Application>Microsoft Macintosh PowerPoint</Application>
  <PresentationFormat>On-screen Show (4:3)</PresentationFormat>
  <Paragraphs>0</Paragraphs>
  <Slides>0</Slides>
  <Notes>0</Notes>
  <HiddenSlides>0</HiddenSlides>
  <MMClips>0</MMClips>
  <ScaleCrop>false</ScaleCrop>
  <HeadingPairs>
    <vt:vector size="4" baseType="variant">
      <vt:variant>
        <vt:lpstr>Theme</vt:lpstr>
      </vt:variant>
      <vt:variant>
        <vt:i4>1</vt:i4>
      </vt:variant>
      <vt:variant>
        <vt:lpstr>Slide Titles</vt:lpstr>
      </vt:variant>
      <vt:variant>
        <vt:i4>0</vt:i4>
      </vt:variant>
    </vt:vector>
  </HeadingPairs>
  <TitlesOfParts>
    <vt:vector size="1" baseType="lpstr">
      <vt:lpstr>Office Theme</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
  <cp:keywords/>
  <dc:description>generated using python-pptx</dc:description>
  <cp:lastModifiedBy>Steve Canny</cp:lastModifiedBy>
  <cp:revision>1</cp:revision>
  <dcterms:created xsi:type="dcterms:W3CDTF">2013-01-27T09:14:16Z</dcterms:created>
  <dcterms:modified xsi:type="dcterms:W3CDTF">2013-01-27T09:15:58Z</dcterms:modified>
  <cp:category/>
</cp:coreProperties>
</file>